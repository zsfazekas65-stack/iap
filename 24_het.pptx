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24.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704088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900" b="1">
                <a:solidFill>
                  <a:srgbClr val="E69130"/>
                </a:solidFill>
                <a:latin typeface="Aptos"/>
              </a:defRPr>
            </a:pPr>
            <a:r>
              <a:t>ELEKTRONIKUS ÁTTÉTELEK</a:t>
            </a:r>
            <a:br/>
            <a:r>
              <a:t>ÉS TENGELYSZINKRONIZÁLÁS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6675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Master-Slave • Electronic Gearing • Electronic Cam</a:t>
            </a:r>
          </a:p>
        </p:txBody>
      </p:sp>
      <p:sp>
        <p:nvSpPr>
          <p:cNvPr id="6" name="Oval 5"/>
          <p:cNvSpPr/>
          <p:nvPr/>
        </p:nvSpPr>
        <p:spPr>
          <a:xfrm>
            <a:off x="8229600" y="1691640"/>
            <a:ext cx="1554480" cy="1554480"/>
          </a:xfrm>
          <a:prstGeom prst="ellipse">
            <a:avLst/>
          </a:prstGeom>
          <a:solidFill>
            <a:srgbClr val="2369A0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126894"/>
            <a:ext cx="15544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8" name="Oval 7"/>
          <p:cNvSpPr/>
          <p:nvPr/>
        </p:nvSpPr>
        <p:spPr>
          <a:xfrm>
            <a:off x="9738360" y="2743200"/>
            <a:ext cx="1143000" cy="1143000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3063240"/>
            <a:ext cx="1143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0" y="2926080"/>
            <a:ext cx="640080" cy="320040"/>
          </a:xfrm>
          <a:prstGeom prst="line">
            <a:avLst/>
          </a:prstGeom>
          <a:ln w="508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0" y="4572000"/>
            <a:ext cx="3108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adatkapcsolat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Tengelyszinkronizálás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többtengelyes gép tengelyei pontosan összehangolt mozgást végeznek.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828800"/>
            <a:ext cx="1463040" cy="1463040"/>
          </a:xfrm>
          <a:prstGeom prst="ellipse">
            <a:avLst/>
          </a:prstGeom>
          <a:solidFill>
            <a:srgbClr val="2369A0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38451"/>
            <a:ext cx="1463040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TENGELY 1</a:t>
            </a:r>
          </a:p>
        </p:txBody>
      </p:sp>
      <p:sp>
        <p:nvSpPr>
          <p:cNvPr id="9" name="Oval 8"/>
          <p:cNvSpPr/>
          <p:nvPr/>
        </p:nvSpPr>
        <p:spPr>
          <a:xfrm>
            <a:off x="4617720" y="1828800"/>
            <a:ext cx="1463040" cy="1463040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238451"/>
            <a:ext cx="1463040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65760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TENGELY 2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0" y="1828800"/>
            <a:ext cx="1463040" cy="1463040"/>
          </a:xfrm>
          <a:prstGeom prst="ellipse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38451"/>
            <a:ext cx="1463040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65760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TENGELY 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2560320"/>
            <a:ext cx="2194560" cy="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2560320"/>
            <a:ext cx="2240280" cy="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2336"/>
                </a:solidFill>
                <a:latin typeface="Aptos"/>
              </a:defRPr>
            </a:pPr>
            <a:r>
              <a:t>SZINKRON MOZGÁS → MEGFELELŐ TERMÉKMINŐSÉG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Master-Slave kapcsolat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Master diktálja a mozgást, a Slave folyamatosan követi.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3749039" cy="3108960"/>
          </a:xfrm>
          <a:prstGeom prst="roundRect">
            <a:avLst/>
          </a:prstGeom>
          <a:solidFill>
            <a:srgbClr val="1C3449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3017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880360"/>
            <a:ext cx="2560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t>helyzet</a:t>
            </a:r>
            <a:br/>
            <a:r>
              <a:t>sebesség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743200"/>
            <a:ext cx="640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36ACC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645920"/>
            <a:ext cx="3749039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011680"/>
            <a:ext cx="3017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E69130"/>
                </a:solidFill>
                <a:latin typeface="Aptos"/>
              </a:defRPr>
            </a:pPr>
            <a:r>
              <a:t>SLAVE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880360"/>
            <a:ext cx="2560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25323D"/>
                </a:solidFill>
                <a:latin typeface="Aptos"/>
              </a:defRPr>
            </a:pPr>
            <a:r>
              <a:t>folyamatosan</a:t>
            </a:r>
            <a:br/>
            <a:r>
              <a:t>követi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166360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A kapcsolat elektronikus - nem mechanikus.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Electronic Gearing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mechanikus fogaskerék-áttétel funkcióját szoftveresen valósítjuk meg.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828800"/>
            <a:ext cx="1828800" cy="1828800"/>
          </a:xfrm>
          <a:prstGeom prst="ellipse">
            <a:avLst/>
          </a:prstGeom>
          <a:solidFill>
            <a:srgbClr val="2369A0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20116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1 fordulat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240280"/>
            <a:ext cx="1828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102336"/>
                </a:solidFill>
                <a:latin typeface="Aptos"/>
              </a:defRPr>
            </a:pPr>
            <a:r>
              <a:t>1 :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97180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687580"/>
                </a:solidFill>
                <a:latin typeface="Aptos"/>
              </a:defRPr>
            </a:pPr>
            <a:r>
              <a:t>áttétel programból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1508760"/>
            <a:ext cx="1325880" cy="1325880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880006"/>
            <a:ext cx="13258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3" name="Oval 12"/>
          <p:cNvSpPr/>
          <p:nvPr/>
        </p:nvSpPr>
        <p:spPr>
          <a:xfrm>
            <a:off x="8823960" y="2743200"/>
            <a:ext cx="1325880" cy="1325880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3114446"/>
            <a:ext cx="13258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43484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2 fordulat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166360"/>
            <a:ext cx="6675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3D9169"/>
                </a:solidFill>
                <a:latin typeface="Aptos"/>
              </a:defRPr>
            </a:pPr>
            <a:r>
              <a:t>Az áttételi arány egyszerűen módosítható.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Electronic Cam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követő tengely előre meghatározott mozgásgörbét követ.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4663440"/>
            <a:ext cx="9509760" cy="0"/>
          </a:xfrm>
          <a:prstGeom prst="line">
            <a:avLst/>
          </a:prstGeom>
          <a:ln w="25400">
            <a:solidFill>
              <a:srgbClr val="687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280160" y="1371600"/>
            <a:ext cx="0" cy="3291840"/>
          </a:xfrm>
          <a:prstGeom prst="line">
            <a:avLst/>
          </a:prstGeom>
          <a:ln w="25400">
            <a:solidFill>
              <a:srgbClr val="687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80160" y="4297680"/>
            <a:ext cx="1645920" cy="0"/>
          </a:xfrm>
          <a:prstGeom prst="line">
            <a:avLst/>
          </a:prstGeom>
          <a:ln w="508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926080" y="2011680"/>
            <a:ext cx="1188720" cy="2286000"/>
          </a:xfrm>
          <a:prstGeom prst="line">
            <a:avLst/>
          </a:prstGeom>
          <a:ln w="508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2011680"/>
            <a:ext cx="2286000" cy="0"/>
          </a:xfrm>
          <a:prstGeom prst="line">
            <a:avLst/>
          </a:prstGeom>
          <a:ln w="508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2011680"/>
            <a:ext cx="1371600" cy="914400"/>
          </a:xfrm>
          <a:prstGeom prst="line">
            <a:avLst/>
          </a:prstGeom>
          <a:ln w="508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0" y="2926080"/>
            <a:ext cx="1554480" cy="1371600"/>
          </a:xfrm>
          <a:prstGeom prst="line">
            <a:avLst/>
          </a:prstGeom>
          <a:ln w="508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80" y="4297680"/>
            <a:ext cx="1280160" cy="0"/>
          </a:xfrm>
          <a:prstGeom prst="line">
            <a:avLst/>
          </a:prstGeom>
          <a:ln w="508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40480" y="1234440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E69130"/>
                </a:solidFill>
                <a:latin typeface="Aptos"/>
              </a:defRPr>
            </a:pPr>
            <a:r>
              <a:t>előre definiált mozgásgörbe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46320"/>
            <a:ext cx="24688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687580"/>
                </a:solidFill>
                <a:latin typeface="Aptos"/>
              </a:defRPr>
            </a:pPr>
            <a:r>
              <a:t>MASTER HELYZET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011680"/>
            <a:ext cx="8229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687580"/>
                </a:solidFill>
                <a:latin typeface="Aptos"/>
              </a:defRPr>
            </a:pPr>
            <a:r>
              <a:t>SLAVE</a:t>
            </a:r>
            <a:br/>
            <a:r>
              <a:t>HELYZET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Valós idejű ipari kommunikáció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pontos szinkronizálást gyors, determinisztikus hálózatok támogatják.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3317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53312" y="2148840"/>
            <a:ext cx="914400" cy="914400"/>
          </a:xfrm>
          <a:prstGeom prst="ellipse">
            <a:avLst/>
          </a:prstGeom>
          <a:solidFill>
            <a:srgbClr val="2369A0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" y="242316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37560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EtherCAT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37360"/>
            <a:ext cx="23317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2148840"/>
            <a:ext cx="914400" cy="914400"/>
          </a:xfrm>
          <a:prstGeom prst="ellipse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2" y="242316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37560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PROFINET</a:t>
            </a:r>
            <a:br/>
            <a:r>
              <a:t>IRT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737360"/>
            <a:ext cx="23317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22592" y="2148840"/>
            <a:ext cx="914400" cy="914400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242316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37560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SERCOS III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737360"/>
            <a:ext cx="23317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57232" y="2148840"/>
            <a:ext cx="914400" cy="914400"/>
          </a:xfrm>
          <a:prstGeom prst="ellipse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7232" y="242316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337560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EtherNet/IP</a:t>
            </a:r>
            <a:br/>
            <a:r>
              <a:t>CIP 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892040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Cél: a tengelyek időben is együtt mozogjanak.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Ipari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többtengelyes szinkronizálás tipikus területei.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CSOMAGOLÓ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CÍMKÉZŐ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NYOMDAGÉP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6ACC4"/>
                </a:solidFill>
                <a:latin typeface="Aptos"/>
              </a:defRPr>
            </a:pPr>
            <a:r>
              <a:t>ROBOTCELLA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C44444"/>
                </a:solidFill>
                <a:latin typeface="Aptos"/>
              </a:defRPr>
            </a:pPr>
            <a:r>
              <a:t>PALETTÁZÓ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02336"/>
                </a:solidFill>
                <a:latin typeface="Aptos"/>
              </a:defRPr>
            </a:pPr>
            <a:r>
              <a:t>GYÓGYSZERIPAR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kihívás: palackozó gép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kupakfelhelyező tengely minden szállítószalag-fordulatra két fordulatot végez.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657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369A0"/>
                </a:solidFill>
                <a:latin typeface="Aptos"/>
              </a:defRPr>
            </a:pPr>
            <a:r>
              <a:t>SZÁLLÍTÓSZALAG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43200"/>
            <a:ext cx="24688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2336"/>
                </a:solidFill>
                <a:latin typeface="Aptos"/>
              </a:defRPr>
            </a:pPr>
            <a:r>
              <a:t>MASTER</a:t>
            </a:r>
            <a:br/>
            <a:r>
              <a:t>1 fordulat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514600"/>
            <a:ext cx="1828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E69130"/>
                </a:solidFill>
                <a:latin typeface="Aptos"/>
              </a:defRPr>
            </a:pPr>
            <a:r>
              <a:t>1 :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737360"/>
            <a:ext cx="3657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05740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E69130"/>
                </a:solidFill>
                <a:latin typeface="Aptos"/>
              </a:defRPr>
            </a:pPr>
            <a:r>
              <a:t>KUPAKFELHELYEZŐ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743200"/>
            <a:ext cx="24688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2336"/>
                </a:solidFill>
                <a:latin typeface="Aptos"/>
              </a:defRPr>
            </a:pPr>
            <a:r>
              <a:t>SLAVE</a:t>
            </a:r>
            <a:br/>
            <a:r>
              <a:t>2 fordulat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846320"/>
            <a:ext cx="8595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Határozd meg a Master/Slave szerepet és az áttételi arányt!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A TENGELYEKET ADATOK KAPCSOLJÁK ÖSSZE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49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69130"/>
                </a:solidFill>
                <a:latin typeface="Aptos"/>
              </a:defRPr>
            </a:pPr>
            <a:r>
              <a:t>Electronic Gearing • Electronic Cam • valós idejű hálózat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„A jövő gépeiben a tengelyeket már nem fogaskerekek, hanem adatok kapcsolják össze.”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24.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