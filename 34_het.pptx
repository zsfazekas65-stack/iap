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463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CDDAE5"/>
                </a:solidFill>
                <a:latin typeface="Aptos"/>
              </a:defRPr>
            </a:pPr>
            <a:r>
              <a:t>34. hét • Folyamatirányítás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30936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E69130"/>
                </a:solidFill>
                <a:latin typeface="Aptos"/>
              </a:defRPr>
            </a:pPr>
            <a:r>
              <a:t>PREDIKTÍV</a:t>
            </a:r>
            <a:br/>
            <a:r>
              <a:t>KARBANTARTÁS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Predictive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03320"/>
            <a:ext cx="6400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állapotfelügyelet • trendelemzés • IIoT •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508760"/>
            <a:ext cx="2926080" cy="2834640"/>
          </a:xfrm>
          <a:prstGeom prst="roundRect">
            <a:avLst/>
          </a:prstGeom>
          <a:solidFill>
            <a:srgbClr val="1C344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74519"/>
            <a:ext cx="2286000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MÉRÉS</a:t>
            </a:r>
            <a:br/>
            <a:r>
              <a:t>↓</a:t>
            </a:r>
            <a:br/>
            <a:r>
              <a:t>ELŐREJELZÉS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Karbantartási stratégiák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Nem mindegy, hogy a hiba után, idő alapján vagy állapot alapján avatkozunk 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0632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C44444"/>
                </a:solidFill>
                <a:latin typeface="Aptos"/>
              </a:defRPr>
            </a:pPr>
            <a:r>
              <a:t>HIBAJAVÍTÓ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46120"/>
            <a:ext cx="24231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25323D"/>
                </a:solidFill>
                <a:latin typeface="Aptos"/>
              </a:defRPr>
            </a:pPr>
            <a:r>
              <a:t>hiba után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0632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57400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E69130"/>
                </a:solidFill>
                <a:latin typeface="Aptos"/>
              </a:defRPr>
            </a:pPr>
            <a:r>
              <a:t>MEGELŐZŐ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246120"/>
            <a:ext cx="24231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25323D"/>
                </a:solidFill>
                <a:latin typeface="Aptos"/>
              </a:defRPr>
            </a:pPr>
            <a:r>
              <a:t>előre meghatározott időben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0632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057400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3D9169"/>
                </a:solidFill>
                <a:latin typeface="Aptos"/>
              </a:defRPr>
            </a:pPr>
            <a:r>
              <a:t>PREDIKTÍV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246120"/>
            <a:ext cx="24231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25323D"/>
                </a:solidFill>
                <a:latin typeface="Aptos"/>
              </a:defRPr>
            </a:pPr>
            <a:r>
              <a:t>mért állapot alapján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257800"/>
            <a:ext cx="93268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A cél: a szükséges beavatkozás megfelelő időpontjának felismerése.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Állapotfelügyelet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gép állapotát folyamatosan mérhető jellemzők alapján követjük.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REZGÉS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C44444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MOTORÁRAM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NYOMÁS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02336"/>
                </a:solidFill>
                <a:latin typeface="Aptos"/>
              </a:defRPr>
            </a:pPr>
            <a:r>
              <a:t>EGYÉB JELLEMZŐK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Alkalmazott érzékelők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megfelelő érzékelő a gép romló állapotának korai jeleit keresi.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91640"/>
            <a:ext cx="20116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822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2369A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3756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369A0"/>
                </a:solidFill>
                <a:latin typeface="Aptos"/>
              </a:defRPr>
            </a:pPr>
            <a:r>
              <a:t>REZGÉS-</a:t>
            </a:r>
            <a:br/>
            <a:r>
              <a:t>ÉRZÉKELŐ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691640"/>
            <a:ext cx="20116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39" y="2057400"/>
            <a:ext cx="822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C4444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333756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C44444"/>
                </a:solidFill>
                <a:latin typeface="Aptos"/>
              </a:defRPr>
            </a:pPr>
            <a:r>
              <a:t>HŐMÉRSÉKLET-</a:t>
            </a:r>
            <a:br/>
            <a:r>
              <a:t>ÉRZÉKELŐ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91640"/>
            <a:ext cx="20116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057400"/>
            <a:ext cx="822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3D916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33756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D9169"/>
                </a:solidFill>
                <a:latin typeface="Aptos"/>
              </a:defRPr>
            </a:pPr>
            <a:r>
              <a:t>NYOMÁS-</a:t>
            </a:r>
            <a:br/>
            <a:r>
              <a:t>ÉRZÉKELŐ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19" y="1691640"/>
            <a:ext cx="20116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057400"/>
            <a:ext cx="822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E6913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33756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E69130"/>
                </a:solidFill>
                <a:latin typeface="Aptos"/>
              </a:defRPr>
            </a:pPr>
            <a:r>
              <a:t>ÁRAMMÉRÉS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691640"/>
            <a:ext cx="20116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2057400"/>
            <a:ext cx="822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36ACC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333756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6ACC4"/>
                </a:solidFill>
                <a:latin typeface="Aptos"/>
              </a:defRPr>
            </a:pPr>
            <a:r>
              <a:t>OLAJMINŐSÉG-</a:t>
            </a:r>
            <a:br/>
            <a:r>
              <a:t>ÉRZÉKELŐ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Adatgyűjtés és trendelemzés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pillanatnyi érték helyett a változás iránya jelzi a közelgő problémát.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82880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6ACC4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2578608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182880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2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578608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23944" y="182880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15384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D9169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2578608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182880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E69130"/>
                </a:solidFill>
                <a:latin typeface="Aptos"/>
              </a:defRPr>
            </a:pPr>
            <a:r>
              <a:t>IIoT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2578608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0728" y="182880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102336"/>
                </a:solidFill>
                <a:latin typeface="Aptos"/>
              </a:defRPr>
            </a:pPr>
            <a:r>
              <a:t>TREND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3496" y="2578608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82880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2487168"/>
            <a:ext cx="1417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C44444"/>
                </a:solidFill>
                <a:latin typeface="Aptos"/>
              </a:defRPr>
            </a:pPr>
            <a:r>
              <a:t>ELŐREJELZÉS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09160"/>
            <a:ext cx="9418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A változás mintázata sokszor hamarabb jelez, mint maga a meghibásodás.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 trendből karbantartási döntés lesz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romló állapot időben felismerhető.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687580"/>
                </a:solidFill>
                <a:latin typeface="Aptos"/>
              </a:defRPr>
            </a:pPr>
            <a:r>
              <a:t>ÁLLAPOTJELLEMZŐ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685800" cy="914400"/>
          </a:xfrm>
          <a:prstGeom prst="rect">
            <a:avLst/>
          </a:prstGeom>
          <a:solidFill>
            <a:srgbClr val="D5E1EA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40280" y="3429000"/>
            <a:ext cx="685800" cy="1143000"/>
          </a:xfrm>
          <a:prstGeom prst="rect">
            <a:avLst/>
          </a:prstGeom>
          <a:solidFill>
            <a:srgbClr val="D5E1EA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3154680"/>
            <a:ext cx="685800" cy="1417320"/>
          </a:xfrm>
          <a:prstGeom prst="rect">
            <a:avLst/>
          </a:prstGeom>
          <a:solidFill>
            <a:srgbClr val="D5E1EA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2040" y="2743200"/>
            <a:ext cx="685800" cy="1828800"/>
          </a:xfrm>
          <a:prstGeom prst="rect">
            <a:avLst/>
          </a:prstGeom>
          <a:solidFill>
            <a:srgbClr val="D5E1EA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94560"/>
            <a:ext cx="685800" cy="2377440"/>
          </a:xfrm>
          <a:prstGeom prst="rect">
            <a:avLst/>
          </a:prstGeom>
          <a:solidFill>
            <a:srgbClr val="D5E1EA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1508760"/>
            <a:ext cx="685800" cy="3063240"/>
          </a:xfrm>
          <a:prstGeom prst="rect">
            <a:avLst/>
          </a:prstGeom>
          <a:solidFill>
            <a:srgbClr val="D5E1EA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4754880"/>
            <a:ext cx="1371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687580"/>
                </a:solidFill>
                <a:latin typeface="Aptos"/>
              </a:defRPr>
            </a:pPr>
            <a:r>
              <a:t>IDŐ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41732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64208"/>
            <a:ext cx="16459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C44444"/>
                </a:solidFill>
                <a:latin typeface="Aptos"/>
              </a:defRPr>
            </a:pPr>
            <a:r>
              <a:t>BEAVATKOZÁSI</a:t>
            </a:r>
            <a:br/>
            <a:r>
              <a:t>HATÁR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0">
                <a:solidFill>
                  <a:srgbClr val="3D9169"/>
                </a:solidFill>
                <a:latin typeface="Aptos"/>
              </a:defRPr>
            </a:pPr>
            <a:r>
              <a:t>normál állapot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166360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C44444"/>
                </a:solidFill>
                <a:latin typeface="Aptos"/>
              </a:defRPr>
            </a:pPr>
            <a:r>
              <a:t>romló trend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Mesterséges intelligencia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Az AI a sok mérési adatból anomáliákat és ismétlődő mintázatokat keres.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0632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C44444"/>
                </a:solidFill>
                <a:latin typeface="Aptos"/>
              </a:defRPr>
            </a:pPr>
            <a:r>
              <a:t>ANOMÁLIA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46120"/>
            <a:ext cx="24231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szokatlan működés felismerése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0632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03120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E69130"/>
                </a:solidFill>
                <a:latin typeface="Aptos"/>
              </a:defRPr>
            </a:pPr>
            <a:r>
              <a:t>JAVASLAT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246120"/>
            <a:ext cx="24231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karbantartási beavatkozás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0632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103120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3D9169"/>
                </a:solidFill>
                <a:latin typeface="Aptos"/>
              </a:defRPr>
            </a:pPr>
            <a:r>
              <a:t>MEGELŐZÉS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246120"/>
            <a:ext cx="24231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leállások csökkentése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Miért éri meg?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prediktív karbantartás célja a váratlan leállások és a felesleges beavatkozások csökkentése.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D9169"/>
                </a:solidFill>
                <a:latin typeface="Aptos"/>
              </a:defRPr>
            </a:pPr>
            <a:r>
              <a:t>KISEBB</a:t>
            </a:r>
            <a:br/>
            <a:r>
              <a:t>ÁLLÁSIDŐ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46888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369A0"/>
                </a:solidFill>
                <a:latin typeface="Aptos"/>
              </a:defRPr>
            </a:pPr>
            <a:r>
              <a:t>HOSSZABB</a:t>
            </a:r>
            <a:br/>
            <a:r>
              <a:t>GÉPÉLETTARTAM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E69130"/>
                </a:solidFill>
                <a:latin typeface="Aptos"/>
              </a:defRPr>
            </a:pPr>
            <a:r>
              <a:t>ALACSONYABB</a:t>
            </a:r>
            <a:br/>
            <a:r>
              <a:t>JAVÍTÁSI KÖLTSÉG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59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59" y="246888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6ACC4"/>
                </a:solidFill>
                <a:latin typeface="Aptos"/>
              </a:defRPr>
            </a:pPr>
            <a:r>
              <a:t>JOBB</a:t>
            </a:r>
            <a:br/>
            <a:r>
              <a:t>RENDELKEZÉSRE ÁLLÁS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Gyakorlati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Készíts állapotfelügyeleti tervet villanymotorhoz vagy szivattyúhoz!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423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2057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6ACC4"/>
                </a:solidFill>
                <a:latin typeface="Aptos"/>
              </a:defRPr>
            </a:pPr>
            <a:r>
              <a:t>ÉRZÉKELŐK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274320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737360"/>
            <a:ext cx="2423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2057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MÉRENDŐ</a:t>
            </a:r>
            <a:br/>
            <a:r>
              <a:t>ADATOK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9008" y="274320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2423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2057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ÉRTÉKELÉS</a:t>
            </a:r>
            <a:br/>
            <a:r>
              <a:t>GYAKORISÁGA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7" y="274320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737360"/>
            <a:ext cx="2423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468880"/>
            <a:ext cx="20574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C44444"/>
                </a:solidFill>
                <a:latin typeface="Aptos"/>
              </a:defRPr>
            </a:pPr>
            <a:r>
              <a:t>BEAVATKOZÁSI</a:t>
            </a:r>
            <a:br/>
            <a:r>
              <a:t>FELTÉTEL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74920"/>
            <a:ext cx="9784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A terv akkor jó, ha a mérésből egyértelmű karbantartási döntés születhet.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881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A LEGJOBB HIBA AZ, AMI NEM TÖRTÉNIK MEG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E69130"/>
                </a:solidFill>
                <a:latin typeface="Aptos"/>
              </a:defRPr>
            </a:pPr>
            <a:r>
              <a:t>állapotfelügyelet → trend → előrejelzés → időben végzett karbantartás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t>„A legolcsóbb meghibásodás az, amelyik meg sem történik, mert időben felismertük a jeleit.”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34.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