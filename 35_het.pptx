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4630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87552"/>
            <a:ext cx="438912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400" b="0">
                <a:solidFill>
                  <a:srgbClr val="CDDAE5"/>
                </a:solidFill>
                <a:latin typeface="Aptos"/>
              </a:defRPr>
            </a:pPr>
            <a:r>
              <a:t>35. hét • Folyamatirányítás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600200"/>
            <a:ext cx="621792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3600" b="1">
                <a:solidFill>
                  <a:srgbClr val="E69130"/>
                </a:solidFill>
                <a:latin typeface="Aptos"/>
              </a:defRPr>
            </a:pPr>
            <a:r>
              <a:t>DIGITÁLIS IKER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468880"/>
            <a:ext cx="61264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300" b="1">
                <a:solidFill>
                  <a:srgbClr val="FFFFFF"/>
                </a:solidFill>
                <a:latin typeface="Aptos"/>
              </a:defRPr>
            </a:pPr>
            <a:r>
              <a:t>Digital Twin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6583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valós rendszer • virtuális modell • IIoT • visszacsatolás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463040"/>
            <a:ext cx="1737360" cy="2926080"/>
          </a:xfrm>
          <a:prstGeom prst="roundRect">
            <a:avLst/>
          </a:prstGeom>
          <a:solidFill>
            <a:srgbClr val="1C3449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2331720"/>
            <a:ext cx="12801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VALÓS</a:t>
            </a:r>
            <a:br/>
            <a:r>
              <a:t>GÉP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89720" y="2514600"/>
            <a:ext cx="6400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600" b="1">
                <a:solidFill>
                  <a:srgbClr val="E69130"/>
                </a:solidFill>
                <a:latin typeface="Aptos"/>
              </a:defRPr>
            </a:pPr>
            <a:r>
              <a:t>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29800" y="1463040"/>
            <a:ext cx="1737360" cy="2926080"/>
          </a:xfrm>
          <a:prstGeom prst="roundRect">
            <a:avLst/>
          </a:prstGeom>
          <a:solidFill>
            <a:srgbClr val="1C3449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0" y="2331720"/>
            <a:ext cx="12801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DIGITÁLIS</a:t>
            </a:r>
            <a:br/>
            <a:r>
              <a:t>MÁS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Mi a Digital Twin?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fizikai gép vagy gyártórendszer valós idejű adatokkal frissülő virtuális modellje.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206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2369A0"/>
                </a:solidFill>
                <a:latin typeface="Aptos"/>
              </a:defRPr>
            </a:pPr>
            <a:r>
              <a:t>FIZIKAI RENDSZER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3246120"/>
            <a:ext cx="32918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gép • robotcella • gyártósor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743200"/>
            <a:ext cx="22402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E69130"/>
                </a:solidFill>
                <a:latin typeface="Aptos"/>
              </a:defRPr>
            </a:pPr>
            <a:r>
              <a:t>VALÓS IDEJŰ ADAT 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1645920"/>
            <a:ext cx="420624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2057400"/>
            <a:ext cx="33832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3D9169"/>
                </a:solidFill>
                <a:latin typeface="Aptos"/>
              </a:defRPr>
            </a:pPr>
            <a:r>
              <a:t>VIRTUÁLIS MODELL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154680"/>
            <a:ext cx="329184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folyamatosan frissülő digitális más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Működési elv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mérési adatból digitális állapotkép, elemzés és visszacsatolás lesz.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6ACC4"/>
                </a:solidFill>
                <a:latin typeface="Aptos"/>
              </a:defRPr>
            </a:pPr>
            <a:r>
              <a:t>SZENZOR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30552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23944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15384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E69130"/>
                </a:solidFill>
                <a:latin typeface="Aptos"/>
              </a:defRPr>
            </a:pPr>
            <a:r>
              <a:t>IIoT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96712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17336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3D9169"/>
                </a:solidFill>
                <a:latin typeface="Aptos"/>
              </a:defRPr>
            </a:pPr>
            <a:r>
              <a:t>DIGITÁLIS</a:t>
            </a:r>
            <a:br/>
            <a:r>
              <a:t>IKER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0728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2168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102336"/>
                </a:solidFill>
                <a:latin typeface="Aptos"/>
              </a:defRPr>
            </a:pPr>
            <a:r>
              <a:t>ELEMZÉS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2606040"/>
            <a:ext cx="41148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828800"/>
            <a:ext cx="160020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468880"/>
            <a:ext cx="1417320" cy="6858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200" b="1">
                <a:solidFill>
                  <a:srgbClr val="C44444"/>
                </a:solidFill>
                <a:latin typeface="Aptos"/>
              </a:defRPr>
            </a:pPr>
            <a:r>
              <a:t>VISSZA-</a:t>
            </a:r>
            <a:br/>
            <a:r>
              <a:t>CSATOLÁS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709160"/>
            <a:ext cx="96926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VALÓS RENDSZER ÉS VIRTUÁLIS MODELL FOLYAMATOS KAPCSOLATA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Szimuláció vagy Digital Twin?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lényegi különbség a valós rendszerrel fennálló folyamatos adatkapcsolat.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49834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4251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2369A0"/>
                </a:solidFill>
                <a:latin typeface="Aptos"/>
              </a:defRPr>
            </a:pPr>
            <a:r>
              <a:t>SZIMULÁCIÓ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788920"/>
            <a:ext cx="3977639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önálló modell</a:t>
            </a:r>
            <a:br/>
            <a:r>
              <a:t>nincs szükség folyamatos élő adatra</a:t>
            </a:r>
            <a:br/>
            <a:r>
              <a:t>„mi történne, ha...?”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508760"/>
            <a:ext cx="498348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1874519"/>
            <a:ext cx="42519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500" b="1">
                <a:solidFill>
                  <a:srgbClr val="3D9169"/>
                </a:solidFill>
                <a:latin typeface="Aptos"/>
              </a:defRPr>
            </a:pPr>
            <a:r>
              <a:t>DIGITAL TWIN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2788920"/>
            <a:ext cx="3977639" cy="14173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0">
                <a:solidFill>
                  <a:srgbClr val="25323D"/>
                </a:solidFill>
                <a:latin typeface="Aptos"/>
              </a:defRPr>
            </a:pPr>
            <a:r>
              <a:t>valós rendszerhez kapcsolódik</a:t>
            </a:r>
            <a:br/>
            <a:r>
              <a:t>folyamatosan frissül</a:t>
            </a:r>
            <a:br/>
            <a:r>
              <a:t>aktuális állapotot tükröz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Virtuális üzembe helyezés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PLC-program és a folyamat már a valódi gép elkészülte előtt tesztelhető.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82880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246888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  <a:br/>
            <a:r>
              <a:t>PROGRAM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269748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82880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46888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D9169"/>
                </a:solidFill>
                <a:latin typeface="Aptos"/>
              </a:defRPr>
            </a:pPr>
            <a:r>
              <a:t>VIRTUÁLIS</a:t>
            </a:r>
            <a:br/>
            <a:r>
              <a:t>GÉP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69748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6904" y="182880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246888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TESZT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69748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6056" y="182880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5783" y="246888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HIBAJAVÍTÁS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69748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65208" y="182880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74936" y="246888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02336"/>
                </a:solidFill>
                <a:latin typeface="Aptos"/>
              </a:defRPr>
            </a:pPr>
            <a:r>
              <a:t>VALÓDI</a:t>
            </a:r>
            <a:br/>
            <a:r>
              <a:t>ÜZEMBE HELYEZÉS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4892040"/>
            <a:ext cx="694944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102336"/>
                </a:solidFill>
                <a:latin typeface="Aptos"/>
              </a:defRPr>
            </a:pPr>
            <a:r>
              <a:t>KEVESEBB KOCKÁZAT • GYORSABB INDÍTÁS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Hol használjuk?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Digital Twin több ipari területen is összekapcsolja a mérést, elemzést és optimalizálást.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9164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69748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ROBOTCELLÁK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169164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269748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D9169"/>
                </a:solidFill>
                <a:latin typeface="Aptos"/>
              </a:defRPr>
            </a:pPr>
            <a:r>
              <a:t>GYÁRTÓSOROK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69164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66360" y="269748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ENERGIA-</a:t>
            </a:r>
            <a:br/>
            <a:r>
              <a:t>FELÜGYELET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19" y="169164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C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79" y="269748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C44444"/>
                </a:solidFill>
                <a:latin typeface="Aptos"/>
              </a:defRPr>
            </a:pPr>
            <a:r>
              <a:t>PREDIKTÍV</a:t>
            </a:r>
            <a:br/>
            <a:r>
              <a:t>KARBANTARTÁS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92640" y="1691640"/>
            <a:ext cx="2011680" cy="283464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29800" y="2697480"/>
            <a:ext cx="1737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FOLYAMAT-</a:t>
            </a:r>
            <a:br/>
            <a:r>
              <a:t>OPTIMALIZÁLÁS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Előnyök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virtuális modell már a fejlesztés és az üzemeltetés során is értéket teremt.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69A0"/>
                </a:solidFill>
                <a:latin typeface="Aptos"/>
              </a:defRPr>
            </a:pPr>
            <a:r>
              <a:t>GYORSABB</a:t>
            </a:r>
            <a:br/>
            <a:r>
              <a:t>FEJLESZTÉS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E69130"/>
                </a:solidFill>
                <a:latin typeface="Aptos"/>
              </a:defRPr>
            </a:pPr>
            <a:r>
              <a:t>KISEBB</a:t>
            </a:r>
            <a:br/>
            <a:r>
              <a:t>KÖLTSÉG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D9169"/>
                </a:solidFill>
                <a:latin typeface="Aptos"/>
              </a:defRPr>
            </a:pPr>
            <a:r>
              <a:t>BIZTONSÁGOS</a:t>
            </a:r>
            <a:br/>
            <a:r>
              <a:t>TESZTELÉS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52559" y="1645920"/>
            <a:ext cx="233172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81159" y="2468880"/>
            <a:ext cx="1874519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36ACC4"/>
                </a:solidFill>
                <a:latin typeface="Aptos"/>
              </a:defRPr>
            </a:pPr>
            <a:r>
              <a:t>HATÉKONYABB</a:t>
            </a:r>
            <a:br/>
            <a:r>
              <a:t>ÜZEMELTETÉS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Digital Twin rendszer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A valós rendszer állapotadatai a virtuális modellbe jutnak, az elemzés pedig visszahat a működésre.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21945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7373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500" b="1">
                <a:solidFill>
                  <a:srgbClr val="36ACC4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65176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46120" y="182880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560320"/>
            <a:ext cx="1280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265176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23560" y="1828800"/>
            <a:ext cx="182880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97880" y="2560320"/>
            <a:ext cx="128016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1">
                <a:solidFill>
                  <a:srgbClr val="E69130"/>
                </a:solidFill>
                <a:latin typeface="Aptos"/>
              </a:defRPr>
            </a:pPr>
            <a:r>
              <a:t>IIoT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651760"/>
            <a:ext cx="45720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1554480"/>
            <a:ext cx="356616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283464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100" b="1">
                <a:solidFill>
                  <a:srgbClr val="3D9169"/>
                </a:solidFill>
                <a:latin typeface="Aptos"/>
              </a:defRPr>
            </a:pPr>
            <a:r>
              <a:t>DIGITAL TWIN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971800"/>
            <a:ext cx="274320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0">
                <a:solidFill>
                  <a:srgbClr val="25323D"/>
                </a:solidFill>
                <a:latin typeface="Aptos"/>
              </a:defRPr>
            </a:pPr>
            <a:r>
              <a:t>elemzés • kezelői felület</a:t>
            </a:r>
            <a:br/>
            <a:r>
              <a:t>visszacsatolás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56032"/>
            <a:ext cx="108813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500" b="1">
                <a:solidFill>
                  <a:srgbClr val="102336"/>
                </a:solidFill>
                <a:latin typeface="Aptos"/>
              </a:defRPr>
            </a:pPr>
            <a:r>
              <a:t>Gyakorlati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768096"/>
            <a:ext cx="1060704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1100" b="0">
                <a:solidFill>
                  <a:srgbClr val="687580"/>
                </a:solidFill>
                <a:latin typeface="Aptos"/>
              </a:defRPr>
            </a:pPr>
            <a:r>
              <a:t>Készíts blokkvázlatot egy Digital Twin rendszerről!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6428232"/>
            <a:ext cx="41148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102336"/>
                </a:solidFill>
                <a:latin typeface="Aptos"/>
              </a:defRPr>
            </a:pPr>
            <a:r>
              <a:t>IAP • Folyamatirányítás • 35.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419088"/>
            <a:ext cx="45720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r">
              <a:defRPr sz="900" b="1">
                <a:solidFill>
                  <a:srgbClr val="687580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" y="173736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6A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8328" y="242316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6ACC4"/>
                </a:solidFill>
                <a:latin typeface="Aptos"/>
              </a:defRPr>
            </a:pPr>
            <a:r>
              <a:t>ÉRZÉKELŐK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84831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173736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236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242316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2369A0"/>
                </a:solidFill>
                <a:latin typeface="Aptos"/>
              </a:defRPr>
            </a:pPr>
            <a:r>
              <a:t>PLC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3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46904" y="173736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691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632" y="242316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E69130"/>
                </a:solidFill>
                <a:latin typeface="Aptos"/>
              </a:defRPr>
            </a:pPr>
            <a:r>
              <a:t>IIoT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3136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06056" y="173736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3D91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15783" y="242316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3D9169"/>
                </a:solidFill>
                <a:latin typeface="Aptos"/>
              </a:defRPr>
            </a:pPr>
            <a:r>
              <a:t>DIGITAL</a:t>
            </a:r>
            <a:br/>
            <a:r>
              <a:t>TWIN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651760"/>
            <a:ext cx="502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68758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65208" y="1737360"/>
            <a:ext cx="1874519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102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74936" y="2423160"/>
            <a:ext cx="1655064" cy="7772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300" b="1">
                <a:solidFill>
                  <a:srgbClr val="102336"/>
                </a:solidFill>
                <a:latin typeface="Aptos"/>
              </a:defRPr>
            </a:pPr>
            <a:r>
              <a:t>KEZELŐI</a:t>
            </a:r>
            <a:br/>
            <a:r>
              <a:t>FELÜLET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983480"/>
            <a:ext cx="905256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700" b="1">
                <a:solidFill>
                  <a:srgbClr val="102336"/>
                </a:solidFill>
                <a:latin typeface="Aptos"/>
              </a:defRPr>
            </a:pPr>
            <a:r>
              <a:t>Jelöld az adatáramlás irányát és a visszacsatolást is!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3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10881360" cy="7315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900" b="1">
                <a:solidFill>
                  <a:srgbClr val="FFFFFF"/>
                </a:solidFill>
                <a:latin typeface="Aptos"/>
              </a:defRPr>
            </a:pPr>
            <a:r>
              <a:t>A VALÓS GÉP DIGITÁLIS MÁSÁBÓL TANUL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331720"/>
            <a:ext cx="1069848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800" b="1">
                <a:solidFill>
                  <a:srgbClr val="E69130"/>
                </a:solidFill>
                <a:latin typeface="Aptos"/>
              </a:defRPr>
            </a:pPr>
            <a:r>
              <a:t>mérés → virtuális modell → elemzés → visszacsatolás → fejlődés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94760"/>
            <a:ext cx="10332720" cy="10515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ptos"/>
              </a:defRPr>
            </a:pPr>
            <a:r>
              <a:t>„A jövő gyára nemcsak működik, hanem saját digitális másán keresztül folyamatosan tanul és fejlődik.”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3840480" cy="1828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Aptos"/>
              </a:defRPr>
            </a:pPr>
            <a:r>
              <a:t>IAP • Folyamatirányítás • 35. hét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