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731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BCF1"/>
                </a:solidFill>
                <a:latin typeface="Aptos"/>
              </a:defRPr>
            </a:pPr>
            <a:r>
              <a:t>13. ÉVFOLYAM • VILLAMOS MŰVEK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749807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t>Szakaszolók és</a:t>
            </a:r>
            <a:br/>
            <a:r>
              <a:t>földelőkapcsolók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7889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0E2EF"/>
                </a:solidFill>
                <a:latin typeface="Aptos"/>
              </a:defRPr>
            </a:pPr>
            <a:r>
              <a:t>16. hét • leválasztás • földelés • reteszelés • kapcsolási sorrend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1828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BBCF1"/>
                </a:solidFill>
                <a:latin typeface="Aptos"/>
              </a:defRPr>
            </a:pPr>
            <a:r>
              <a:t>LEVÁLASZTÁS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680960" y="2743200"/>
            <a:ext cx="1143000" cy="0"/>
          </a:xfrm>
          <a:prstGeom prst="line">
            <a:avLst/>
          </a:prstGeom>
          <a:ln w="635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8823960" y="2148840"/>
            <a:ext cx="1051560" cy="594360"/>
          </a:xfrm>
          <a:prstGeom prst="line">
            <a:avLst/>
          </a:prstGeom>
          <a:ln w="63500">
            <a:solidFill>
              <a:srgbClr val="2BBC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195560" y="2743200"/>
            <a:ext cx="960120" cy="0"/>
          </a:xfrm>
          <a:prstGeom prst="line">
            <a:avLst/>
          </a:prstGeom>
          <a:ln w="635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315200" y="365760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Előbb leválasztunk.</a:t>
            </a:r>
            <a:br/>
            <a:r>
              <a:t>Utána földelünk.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5989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2BBCF1"/>
                </a:solidFill>
                <a:latin typeface="Aptos"/>
              </a:defRPr>
            </a:pPr>
            <a:r>
              <a:t>Feldolgozási idő: 2 tanóra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91F36"/>
                </a:solidFill>
                <a:latin typeface="Aptos Display"/>
              </a:defRPr>
            </a:pPr>
            <a:r>
              <a:t>Óraterv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65B91"/>
                </a:solidFill>
                <a:latin typeface="Aptos"/>
              </a:defRPr>
            </a:pPr>
            <a:r>
              <a:t>Két tanóra - leválasztás és biztonságos földelés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37485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37485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417320"/>
            <a:ext cx="73152" cy="4434840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8191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1. tanóra • Szakaszoló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075688"/>
            <a:ext cx="4754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feladat és működés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551176"/>
            <a:ext cx="4754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látható leválasztás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3026664"/>
            <a:ext cx="4754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szerkezeti részek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3502152"/>
            <a:ext cx="4754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hajtások és helyzetjelzés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1417320"/>
            <a:ext cx="52578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6208" y="1417320"/>
            <a:ext cx="73152" cy="4434840"/>
          </a:xfrm>
          <a:prstGeom prst="rect">
            <a:avLst/>
          </a:prstGeom>
          <a:solidFill>
            <a:srgbClr val="2B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4808" y="158191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2. tanóra • Földelőkapcsoló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075688"/>
            <a:ext cx="4754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földelési funkció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551176"/>
            <a:ext cx="4754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záróképesség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026664"/>
            <a:ext cx="4754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reteszelések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502152"/>
            <a:ext cx="4754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kapcsolási sorrend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91F36"/>
                </a:solidFill>
                <a:latin typeface="Aptos Display"/>
              </a:defRPr>
            </a:pPr>
            <a:r>
              <a:t>A szakaszoló feladata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65B91"/>
                </a:solidFill>
                <a:latin typeface="Aptos"/>
              </a:defRPr>
            </a:pPr>
            <a:r>
              <a:t>Nem megszakító - biztonságos leválasztó készülék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37485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37485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417320"/>
            <a:ext cx="73152" cy="4434840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8191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Mit biztosít?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075688"/>
            <a:ext cx="4754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nyitott állapotban leválasztási távolság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551176"/>
            <a:ext cx="4754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ellenőrizhető kapcsolóhelyzet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3026664"/>
            <a:ext cx="4754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munkaterület elhatárolása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1417320"/>
            <a:ext cx="52578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6208" y="1417320"/>
            <a:ext cx="73152" cy="4434840"/>
          </a:xfrm>
          <a:prstGeom prst="rect">
            <a:avLst/>
          </a:prstGeom>
          <a:solidFill>
            <a:srgbClr val="B9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158191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Mit nem csinál?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075688"/>
            <a:ext cx="4754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általában nem szakít terhelési áramot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551176"/>
            <a:ext cx="4754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nem zárlati megszakító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026664"/>
            <a:ext cx="4754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nem helyettesíti a megszakítót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91F36"/>
                </a:solidFill>
                <a:latin typeface="Aptos Display"/>
              </a:defRPr>
            </a:pPr>
            <a:r>
              <a:t>Fő szerkezeti részek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65B91"/>
                </a:solidFill>
                <a:latin typeface="Aptos"/>
              </a:defRPr>
            </a:pPr>
            <a:r>
              <a:t>A mechanika és a villamos szigetelés együtt dolgozik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37485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37485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52044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73152" cy="4434840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819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Érintkezőrendszer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075688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álló és mozgó érintkezők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551176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kis átmeneti ellenállás zárt helyzetben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4256" y="1417320"/>
            <a:ext cx="352044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34256" y="1417320"/>
            <a:ext cx="73152" cy="4434840"/>
          </a:xfrm>
          <a:prstGeom prst="rect">
            <a:avLst/>
          </a:prstGeom>
          <a:solidFill>
            <a:srgbClr val="2B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2856" y="15819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Szigetelés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075688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tartó- és forgószigetelők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2551176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szükséges leválasztási távolság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1" y="1417320"/>
            <a:ext cx="352044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28431" y="1417320"/>
            <a:ext cx="73152" cy="4434840"/>
          </a:xfrm>
          <a:prstGeom prst="rect">
            <a:avLst/>
          </a:prstGeom>
          <a:solidFill>
            <a:srgbClr val="DB7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57031" y="15819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Hajtás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4463" y="2075688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kézi vagy motoros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4463" y="2551176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rudazat és tengely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3" y="3026664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helyzetjelzés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91F36"/>
                </a:solidFill>
                <a:latin typeface="Aptos Display"/>
              </a:defRPr>
            </a:pPr>
            <a:r>
              <a:t>Szakaszolókialakítások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65B91"/>
                </a:solidFill>
                <a:latin typeface="Aptos"/>
              </a:defRPr>
            </a:pPr>
            <a:r>
              <a:t>A konstrukció a feszültségszinthez és elrendezéshez igazodik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37485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37485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52044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73152" cy="4434840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819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Késes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075688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egyszerű, jól áttekinthető mozgás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6" y="1417320"/>
            <a:ext cx="352044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34256" y="1417320"/>
            <a:ext cx="73152" cy="4434840"/>
          </a:xfrm>
          <a:prstGeom prst="rect">
            <a:avLst/>
          </a:prstGeom>
          <a:solidFill>
            <a:srgbClr val="2B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2856" y="15819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Forgó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075688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forgó szigetelő / érintkezőkar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8431" y="1417320"/>
            <a:ext cx="352044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28431" y="1417320"/>
            <a:ext cx="73152" cy="4434840"/>
          </a:xfrm>
          <a:prstGeom prst="rect">
            <a:avLst/>
          </a:prstGeom>
          <a:solidFill>
            <a:srgbClr val="5B5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57031" y="15819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Pantográf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3" y="2075688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függőleges kapcsolómozgás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3" y="2551176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nagyfeszültségű állomásokon jellemző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91F36"/>
                </a:solidFill>
                <a:latin typeface="Aptos Display"/>
              </a:defRPr>
            </a:pPr>
            <a:r>
              <a:t>A földelőkapcsoló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65B91"/>
                </a:solidFill>
                <a:latin typeface="Aptos"/>
              </a:defRPr>
            </a:pPr>
            <a:r>
              <a:t>A leválasztott hálózatrész földpotenciálra kapcsolása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37485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37485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417320"/>
            <a:ext cx="73152" cy="4434840"/>
          </a:xfrm>
          <a:prstGeom prst="rect">
            <a:avLst/>
          </a:prstGeom>
          <a:solidFill>
            <a:srgbClr val="2B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8191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Miért kell?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075688"/>
            <a:ext cx="4754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indukált feszültség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551176"/>
            <a:ext cx="4754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kapacitív töltés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3026664"/>
            <a:ext cx="4754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téves visszatáplálás kockázata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1417320"/>
            <a:ext cx="52578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6208" y="1417320"/>
            <a:ext cx="73152" cy="4434840"/>
          </a:xfrm>
          <a:prstGeom prst="rect">
            <a:avLst/>
          </a:prstGeom>
          <a:solidFill>
            <a:srgbClr val="DB7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158191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Fontos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075688"/>
            <a:ext cx="4754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nem üzemi terheléskapcsoló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551176"/>
            <a:ext cx="4754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egyes típusok zárlati záróképességűek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026664"/>
            <a:ext cx="4754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a földelő összeköttetés kritikus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91F36"/>
                </a:solidFill>
                <a:latin typeface="Aptos Display"/>
              </a:defRPr>
            </a:pPr>
            <a:r>
              <a:t>Reteszelések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65B91"/>
                </a:solidFill>
                <a:latin typeface="Aptos"/>
              </a:defRPr>
            </a:pPr>
            <a:r>
              <a:t>A hibás kapcsolási sorrendet már a rendszernek meg kell akadályoznia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37485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37485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52044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73152" cy="4434840"/>
          </a:xfrm>
          <a:prstGeom prst="rect">
            <a:avLst/>
          </a:prstGeom>
          <a:solidFill>
            <a:srgbClr val="B9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819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Tiltani kell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075688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szakaszoló nyitása terhelés alatt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551176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földelés feszültség alatt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4256" y="1417320"/>
            <a:ext cx="352044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34256" y="1417320"/>
            <a:ext cx="73152" cy="4434840"/>
          </a:xfrm>
          <a:prstGeom prst="rect">
            <a:avLst/>
          </a:prstGeom>
          <a:solidFill>
            <a:srgbClr val="DB7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2856" y="15819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Összefüggések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075688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földelő BE → megszakító zárás tiltva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2551176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zárt szakaszoló → földelő zárás tiltva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1" y="1417320"/>
            <a:ext cx="352044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28431" y="1417320"/>
            <a:ext cx="73152" cy="4434840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57031" y="15819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Megoldások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4463" y="2075688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mechanikus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4463" y="2551176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villamos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3" y="3026664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logikai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91F36"/>
                </a:solidFill>
                <a:latin typeface="Aptos Display"/>
              </a:defRPr>
            </a:pPr>
            <a:r>
              <a:t>Kikapcsolási sorrend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65B91"/>
                </a:solidFill>
                <a:latin typeface="Aptos"/>
              </a:defRPr>
            </a:pPr>
            <a:r>
              <a:t>Karbantartási állapot létrehozása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37485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37485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265176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73152" cy="4434840"/>
          </a:xfrm>
          <a:prstGeom prst="rect">
            <a:avLst/>
          </a:prstGeom>
          <a:solidFill>
            <a:srgbClr val="B9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81912"/>
            <a:ext cx="2240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075688"/>
            <a:ext cx="2148839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Megszakító KI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417320"/>
            <a:ext cx="265176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7560" y="1417320"/>
            <a:ext cx="73152" cy="4434840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1581912"/>
            <a:ext cx="2240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1" y="2075688"/>
            <a:ext cx="2148839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Szakaszoló(k) KI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417320"/>
            <a:ext cx="265176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417320"/>
            <a:ext cx="73152" cy="4434840"/>
          </a:xfrm>
          <a:prstGeom prst="rect">
            <a:avLst/>
          </a:prstGeom>
          <a:solidFill>
            <a:srgbClr val="5B5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581912"/>
            <a:ext cx="2240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2075688"/>
            <a:ext cx="2148839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Feszültségmentesség ellenőrzése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1417320"/>
            <a:ext cx="265176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06840" y="1417320"/>
            <a:ext cx="73152" cy="4434840"/>
          </a:xfrm>
          <a:prstGeom prst="rect">
            <a:avLst/>
          </a:prstGeom>
          <a:solidFill>
            <a:srgbClr val="2B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1581912"/>
            <a:ext cx="2240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62872" y="2075688"/>
            <a:ext cx="2148839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Földelőkapcsoló BE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91F36"/>
                </a:solidFill>
                <a:latin typeface="Aptos Display"/>
              </a:defRPr>
            </a:pPr>
            <a:r>
              <a:t>Visszakapcsolási sorrend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65B91"/>
                </a:solidFill>
                <a:latin typeface="Aptos"/>
              </a:defRPr>
            </a:pPr>
            <a:r>
              <a:t>A munkaterülettől vissza az üzemi állapotig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37485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37485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265176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73152" cy="4434840"/>
          </a:xfrm>
          <a:prstGeom prst="rect">
            <a:avLst/>
          </a:prstGeom>
          <a:solidFill>
            <a:srgbClr val="2B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81912"/>
            <a:ext cx="2240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075688"/>
            <a:ext cx="2148839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Földelőkapcsoló KI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417320"/>
            <a:ext cx="265176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7560" y="1417320"/>
            <a:ext cx="73152" cy="4434840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1581912"/>
            <a:ext cx="2240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1" y="2075688"/>
            <a:ext cx="2148839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Szakaszoló(k) BE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417320"/>
            <a:ext cx="265176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417320"/>
            <a:ext cx="73152" cy="4434840"/>
          </a:xfrm>
          <a:prstGeom prst="rect">
            <a:avLst/>
          </a:prstGeom>
          <a:solidFill>
            <a:srgbClr val="5B5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581912"/>
            <a:ext cx="2240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2075688"/>
            <a:ext cx="2148839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Feltételek ellenőrzése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1417320"/>
            <a:ext cx="265176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06840" y="1417320"/>
            <a:ext cx="73152" cy="4434840"/>
          </a:xfrm>
          <a:prstGeom prst="rect">
            <a:avLst/>
          </a:prstGeom>
          <a:solidFill>
            <a:srgbClr val="B9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1581912"/>
            <a:ext cx="2240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62872" y="2075688"/>
            <a:ext cx="2148839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Megszakító BE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91F36"/>
                </a:solidFill>
                <a:latin typeface="Aptos Display"/>
              </a:defRPr>
            </a:pPr>
            <a:r>
              <a:t>20 kV-os mező példája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65B91"/>
                </a:solidFill>
                <a:latin typeface="Aptos"/>
              </a:defRPr>
            </a:pPr>
            <a:r>
              <a:t>Miért számít a sorrend?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37485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37485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52044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73152" cy="4434840"/>
          </a:xfrm>
          <a:prstGeom prst="rect">
            <a:avLst/>
          </a:prstGeom>
          <a:solidFill>
            <a:srgbClr val="B9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819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Terhelés megszakítása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075688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a megszakító feladata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6" y="1417320"/>
            <a:ext cx="352044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34256" y="1417320"/>
            <a:ext cx="73152" cy="4434840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2856" y="15819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Leválasztás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075688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szakaszoló nyitása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551176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ellenőrizhető biztonsági határ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431" y="1417320"/>
            <a:ext cx="352044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28431" y="1417320"/>
            <a:ext cx="73152" cy="4434840"/>
          </a:xfrm>
          <a:prstGeom prst="rect">
            <a:avLst/>
          </a:prstGeom>
          <a:solidFill>
            <a:srgbClr val="2B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031" y="15819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Földelés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3" y="2075688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feszültségmentesség ellenőrzése után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4463" y="2551176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földelőkapcsoló zárása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91F36"/>
                </a:solidFill>
                <a:latin typeface="Aptos Display"/>
              </a:defRPr>
            </a:pPr>
            <a:r>
              <a:t>Üzemeltetési ellenőrzések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65B91"/>
                </a:solidFill>
                <a:latin typeface="Aptos"/>
              </a:defRPr>
            </a:pPr>
            <a:r>
              <a:t>Mit nézünk egy szakaszolón és földelőkapcsolón?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37485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37485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52044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73152" cy="4434840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819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Mechanika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075688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hajtás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551176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rudazat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026664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érintkezőhelyzet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4256" y="1417320"/>
            <a:ext cx="352044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34256" y="1417320"/>
            <a:ext cx="73152" cy="4434840"/>
          </a:xfrm>
          <a:prstGeom prst="rect">
            <a:avLst/>
          </a:prstGeom>
          <a:solidFill>
            <a:srgbClr val="2B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2856" y="15819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Villamos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2075688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segédérintkezők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2551176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helyzetjelzés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3026664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reteszelések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28431" y="1417320"/>
            <a:ext cx="352044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28431" y="1417320"/>
            <a:ext cx="73152" cy="4434840"/>
          </a:xfrm>
          <a:prstGeom prst="rect">
            <a:avLst/>
          </a:prstGeom>
          <a:solidFill>
            <a:srgbClr val="DB7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57031" y="15819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Szigetelés / földelés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3" y="2075688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szigetelők állapota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4463" y="2551176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földelő összeköttetés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91F36"/>
                </a:solidFill>
                <a:latin typeface="Aptos Display"/>
              </a:defRPr>
            </a:pPr>
            <a:r>
              <a:t>Összefoglalás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65B91"/>
                </a:solidFill>
                <a:latin typeface="Aptos"/>
              </a:defRPr>
            </a:pPr>
            <a:r>
              <a:t>A 16. hét négy kulcsmondata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37485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37485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265176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73152" cy="4434840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81912"/>
            <a:ext cx="2240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075688"/>
            <a:ext cx="2148839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A szakaszoló leválaszt - nem zárlati megszakító.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417320"/>
            <a:ext cx="265176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7560" y="1417320"/>
            <a:ext cx="73152" cy="4434840"/>
          </a:xfrm>
          <a:prstGeom prst="rect">
            <a:avLst/>
          </a:prstGeom>
          <a:solidFill>
            <a:srgbClr val="2B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1581912"/>
            <a:ext cx="2240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1" y="2075688"/>
            <a:ext cx="2148839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A földelőkapcsoló a leválasztott részt földeli.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417320"/>
            <a:ext cx="265176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417320"/>
            <a:ext cx="73152" cy="4434840"/>
          </a:xfrm>
          <a:prstGeom prst="rect">
            <a:avLst/>
          </a:prstGeom>
          <a:solidFill>
            <a:srgbClr val="B9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581912"/>
            <a:ext cx="2240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2075688"/>
            <a:ext cx="2148839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A reteszelés a veszélyes műveletet akadályozza meg.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1417320"/>
            <a:ext cx="265176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06840" y="1417320"/>
            <a:ext cx="73152" cy="4434840"/>
          </a:xfrm>
          <a:prstGeom prst="rect">
            <a:avLst/>
          </a:prstGeom>
          <a:solidFill>
            <a:srgbClr val="5B5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1581912"/>
            <a:ext cx="2240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62872" y="2075688"/>
            <a:ext cx="2148839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4"/>
                </a:solidFill>
                <a:latin typeface="Aptos"/>
              </a:defRPr>
            </a:pPr>
            <a:r>
              <a:t>• A kapcsolási sorrend biztonsági követelmény.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