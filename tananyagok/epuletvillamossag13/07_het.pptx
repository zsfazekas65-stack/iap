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2560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ptos"/>
              </a:defRPr>
            </a:pPr>
            <a:r>
              <a:t>KÖZCÉLÚ</a:t>
            </a:r>
            <a:br/>
            <a:r>
              <a:t>HÁLÓZATRA</a:t>
            </a:r>
            <a:br/>
            <a:r>
              <a:t>CSATLAKOZÁS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3794760"/>
            <a:ext cx="2331720" cy="393192"/>
          </a:xfrm>
          <a:prstGeom prst="roundRect">
            <a:avLst/>
          </a:prstGeom>
          <a:solidFill>
            <a:srgbClr val="3A8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858768"/>
            <a:ext cx="2331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20 órás egység • 1/7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960120"/>
            <a:ext cx="7132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A közcélú villamosenergia-</a:t>
            </a:r>
            <a:br/>
            <a:r>
              <a:t>elosztó hálózat felépítése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28346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7E2F3"/>
                </a:solidFill>
                <a:latin typeface="Aptos"/>
              </a:defRPr>
            </a:pPr>
            <a:r>
              <a:t>7. hét • 3 tanóra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4069080"/>
            <a:ext cx="6583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Aptos"/>
              </a:defRPr>
            </a:pPr>
            <a:r>
              <a:t>A konnektor 230 V-ja mögött egy teljes</a:t>
            </a:r>
            <a:br/>
            <a:r>
              <a:t>energiaellátó rendszer dolgozik.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9144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07384"/>
                </a:solidFill>
                <a:latin typeface="Aptos"/>
              </a:defRPr>
            </a:pPr>
            <a:r>
              <a:t>IAP • Épületvillamossági hálózatok • 13. évfolyam • 7. hét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07384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B78B8"/>
                </a:solidFill>
                <a:latin typeface="Aptos"/>
              </a:defRPr>
            </a:pPr>
            <a:r>
              <a:t>RENDSZERSZEMLÉLET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67512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Az erőműtől az épületig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0759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607384"/>
                </a:solidFill>
                <a:latin typeface="Aptos"/>
              </a:defRPr>
            </a:pPr>
            <a:r>
              <a:t>Termelés, átvitel, elosztás és felhasználás egyetlen energiaút részei.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2286000"/>
            <a:ext cx="13716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487168"/>
            <a:ext cx="914400" cy="393192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551176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" y="2971800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173A5E"/>
                </a:solidFill>
                <a:latin typeface="Aptos"/>
              </a:defRPr>
            </a:pPr>
            <a:r>
              <a:t>Termelés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68833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0738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84248" y="2286000"/>
            <a:ext cx="13716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6B4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212848" y="2487168"/>
            <a:ext cx="914400" cy="393192"/>
          </a:xfrm>
          <a:prstGeom prst="roundRect">
            <a:avLst/>
          </a:prstGeom>
          <a:solidFill>
            <a:srgbClr val="6B4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12848" y="2551176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2971800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173A5E"/>
                </a:solidFill>
                <a:latin typeface="Aptos"/>
              </a:defRPr>
            </a:pPr>
            <a:r>
              <a:t>Átvitel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55848" y="268833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0738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48456" y="2286000"/>
            <a:ext cx="13716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B91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877056" y="2487168"/>
            <a:ext cx="914400" cy="393192"/>
          </a:xfrm>
          <a:prstGeom prst="roundRect">
            <a:avLst/>
          </a:prstGeom>
          <a:solidFill>
            <a:srgbClr val="DB9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77056" y="2551176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21608" y="2971800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173A5E"/>
                </a:solidFill>
                <a:latin typeface="Aptos"/>
              </a:defRPr>
            </a:pPr>
            <a:r>
              <a:t>Transzformálás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0056" y="268833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0738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12664" y="2286000"/>
            <a:ext cx="13716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2B8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541264" y="2487168"/>
            <a:ext cx="914400" cy="393192"/>
          </a:xfrm>
          <a:prstGeom prst="roundRect">
            <a:avLst/>
          </a:prstGeom>
          <a:solidFill>
            <a:srgbClr val="2B8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41264" y="2551176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85816" y="2971800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173A5E"/>
                </a:solidFill>
                <a:latin typeface="Aptos"/>
              </a:defRPr>
            </a:pPr>
            <a:r>
              <a:t>KÖF elosztás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84264" y="268833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0738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76872" y="2286000"/>
            <a:ext cx="13716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BC4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205472" y="2487168"/>
            <a:ext cx="914400" cy="393192"/>
          </a:xfrm>
          <a:prstGeom prst="roundRect">
            <a:avLst/>
          </a:prstGeom>
          <a:solidFill>
            <a:srgbClr val="BC4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05472" y="2551176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0024" y="2971800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173A5E"/>
                </a:solidFill>
                <a:latin typeface="Aptos"/>
              </a:defRPr>
            </a:pPr>
            <a:r>
              <a:t>KÖF/KIF állomás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48471" y="268833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0738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41080" y="2286000"/>
            <a:ext cx="13716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869680" y="2487168"/>
            <a:ext cx="914400" cy="393192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0" y="2551176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14232" y="2971800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173A5E"/>
                </a:solidFill>
                <a:latin typeface="Aptos"/>
              </a:defRPr>
            </a:pPr>
            <a:r>
              <a:t>KIF hálózat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12680" y="268833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0738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305288" y="2286000"/>
            <a:ext cx="13716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173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533888" y="2487168"/>
            <a:ext cx="914400" cy="393192"/>
          </a:xfrm>
          <a:prstGeom prst="round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533888" y="2551176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78440" y="2971800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173A5E"/>
                </a:solidFill>
                <a:latin typeface="Aptos"/>
              </a:defRPr>
            </a:pPr>
            <a:r>
              <a:t>Csatlakozás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325880" y="4343400"/>
            <a:ext cx="9555480" cy="731520"/>
          </a:xfrm>
          <a:prstGeom prst="roundRect">
            <a:avLst/>
          </a:prstGeom>
          <a:solidFill>
            <a:srgbClr val="E8F3FA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554480" y="4553712"/>
            <a:ext cx="9098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73A5E"/>
                </a:solidFill>
                <a:latin typeface="Aptos"/>
              </a:defRPr>
            </a:pPr>
            <a:r>
              <a:t>Az épület mérőhelye nem a hálózat kezdete - egy nagyobb rendszerhez kapcsolódik.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6473952"/>
            <a:ext cx="9144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07384"/>
                </a:solidFill>
                <a:latin typeface="Aptos"/>
              </a:defRPr>
            </a:pPr>
            <a:r>
              <a:t>IAP • Épületvillamossági hálózatok • 13. évfolyam • 7. hét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0" y="644652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07384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B78B8"/>
                </a:solidFill>
                <a:latin typeface="Aptos"/>
              </a:defRPr>
            </a:pPr>
            <a:r>
              <a:t>ENERGIAÁTVITEL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67512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Miért használunk több feszültségszintet?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0759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607384"/>
                </a:solidFill>
                <a:latin typeface="Aptos"/>
              </a:defRPr>
            </a:pPr>
            <a:r>
              <a:t>Azonos teljesítményhez nagyobb feszültségen kisebb áram tartozhat.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484632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331720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900" b="1">
                <a:solidFill>
                  <a:srgbClr val="2B78B8"/>
                </a:solidFill>
                <a:latin typeface="Aptos"/>
              </a:defRPr>
            </a:pPr>
            <a:r>
              <a:t>P ≈ U × 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06324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73A5E"/>
                </a:solidFill>
                <a:latin typeface="Aptos"/>
              </a:defRPr>
            </a:pPr>
            <a:r>
              <a:t>nagyobb U  →  kisebb 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79476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B8463"/>
                </a:solidFill>
                <a:latin typeface="Aptos"/>
              </a:defRPr>
            </a:pPr>
            <a:r>
              <a:t>kisebb I  →  kisebb I²R veszteség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828800"/>
            <a:ext cx="4846320" cy="3200400"/>
          </a:xfrm>
          <a:prstGeom prst="roundRect">
            <a:avLst/>
          </a:prstGeom>
          <a:solidFill>
            <a:srgbClr val="E8F3FA"/>
          </a:solidFill>
          <a:ln>
            <a:solidFill>
              <a:srgbClr val="6B4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224028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73A5E"/>
                </a:solidFill>
                <a:latin typeface="Aptos"/>
              </a:defRPr>
            </a:pPr>
            <a:r>
              <a:t>Szemléltető példa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288036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BC423C"/>
                </a:solidFill>
                <a:latin typeface="Aptos"/>
              </a:defRPr>
            </a:pPr>
            <a:r>
              <a:t>100 kW / 400 V ≈ 250 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52044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B8463"/>
                </a:solidFill>
                <a:latin typeface="Aptos"/>
              </a:defRPr>
            </a:pPr>
            <a:r>
              <a:t>100 kW / 10 000 V = 10 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420624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07384"/>
                </a:solidFill>
                <a:latin typeface="Aptos"/>
              </a:defRPr>
            </a:pPr>
            <a:r>
              <a:t>egyszerű energetikai szemléltetés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73952"/>
            <a:ext cx="9144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07384"/>
                </a:solidFill>
                <a:latin typeface="Aptos"/>
              </a:defRPr>
            </a:pPr>
            <a:r>
              <a:t>IAP • Épületvillamossági hálózatok • 13. évfolyam • 7. hét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4652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07384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B78B8"/>
                </a:solidFill>
                <a:latin typeface="Aptos"/>
              </a:defRPr>
            </a:pPr>
            <a:r>
              <a:t>TRANSZFORMÁLÁS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67512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A transzformátor szerepe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0759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607384"/>
                </a:solidFill>
                <a:latin typeface="Aptos"/>
              </a:defRPr>
            </a:pPr>
            <a:r>
              <a:t>A váltakozó áramú rendszerben a feszültségszinteket a hálózat feladatához igazítjuk.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48840"/>
            <a:ext cx="2560320" cy="393192"/>
          </a:xfrm>
          <a:prstGeom prst="roundRect">
            <a:avLst/>
          </a:prstGeom>
          <a:solidFill>
            <a:srgbClr val="6B4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12848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magasabb feszültség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221284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0738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828800"/>
            <a:ext cx="38404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B91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23317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73A5E"/>
                </a:solidFill>
                <a:latin typeface="Aptos"/>
              </a:defRPr>
            </a:pPr>
            <a:r>
              <a:t>TRANSZFORMÁTOR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8346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07384"/>
                </a:solidFill>
                <a:latin typeface="Aptos"/>
              </a:defRPr>
            </a:pPr>
            <a:r>
              <a:t>feszültségszint illesztése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221284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0738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15400" y="2148840"/>
            <a:ext cx="2560320" cy="393192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5400" y="2212848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230/400 V közelében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28800" y="4343400"/>
            <a:ext cx="8549640" cy="685800"/>
          </a:xfrm>
          <a:prstGeom prst="roundRect">
            <a:avLst/>
          </a:prstGeom>
          <a:solidFill>
            <a:srgbClr val="E8F3FA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57400" y="4544568"/>
            <a:ext cx="8092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1">
                <a:solidFill>
                  <a:srgbClr val="173A5E"/>
                </a:solidFill>
                <a:latin typeface="Aptos"/>
              </a:defRPr>
            </a:pPr>
            <a:r>
              <a:t>A kisfeszültségű közcélú hálózatot jellemzően elosztótranszformátor táplálja.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73952"/>
            <a:ext cx="9144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07384"/>
                </a:solidFill>
                <a:latin typeface="Aptos"/>
              </a:defRPr>
            </a:pPr>
            <a:r>
              <a:t>IAP • Épületvillamossági hálózatok • 13. évfolyam • 7. hét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4652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07384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B78B8"/>
                </a:solidFill>
                <a:latin typeface="Aptos"/>
              </a:defRPr>
            </a:pPr>
            <a:r>
              <a:t>HÁLÓZATI SZINTEK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67512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Funkcionális felépítés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0759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607384"/>
                </a:solidFill>
                <a:latin typeface="Aptos"/>
              </a:defRPr>
            </a:pPr>
            <a:r>
              <a:t>A konkrét névleges feszültségek hálózatonként eltérhetnek; itt a szerepeket rögzítjük.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920240"/>
            <a:ext cx="251460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6B4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80160" y="2240280"/>
            <a:ext cx="1143000" cy="393192"/>
          </a:xfrm>
          <a:prstGeom prst="roundRect">
            <a:avLst/>
          </a:prstGeom>
          <a:solidFill>
            <a:srgbClr val="6B4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304288"/>
            <a:ext cx="1143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80360"/>
            <a:ext cx="2148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73A5E"/>
                </a:solidFill>
                <a:latin typeface="Aptos"/>
              </a:defRPr>
            </a:pPr>
            <a:r>
              <a:t>Nagyfeszültségű</a:t>
            </a:r>
            <a:br/>
            <a:r>
              <a:t>átviteli hálózat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84048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07384"/>
                </a:solidFill>
                <a:latin typeface="Aptos"/>
              </a:defRPr>
            </a:pPr>
            <a:r>
              <a:t>nagy távolság • nagy teljesítmény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920240"/>
            <a:ext cx="251460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2B8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160520" y="2240280"/>
            <a:ext cx="1143000" cy="393192"/>
          </a:xfrm>
          <a:prstGeom prst="roundRect">
            <a:avLst/>
          </a:prstGeom>
          <a:solidFill>
            <a:srgbClr val="2B8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60520" y="2304288"/>
            <a:ext cx="1143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880360"/>
            <a:ext cx="2148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73A5E"/>
                </a:solidFill>
                <a:latin typeface="Aptos"/>
              </a:defRPr>
            </a:pPr>
            <a:r>
              <a:t>Középfeszültségű</a:t>
            </a:r>
            <a:br/>
            <a:r>
              <a:t>elosztóhálózat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384048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07384"/>
                </a:solidFill>
                <a:latin typeface="Aptos"/>
              </a:defRPr>
            </a:pPr>
            <a:r>
              <a:t>területi elosztás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1920240"/>
            <a:ext cx="251460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040880" y="2240280"/>
            <a:ext cx="1143000" cy="393192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0" y="2304288"/>
            <a:ext cx="1143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880360"/>
            <a:ext cx="2148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73A5E"/>
                </a:solidFill>
                <a:latin typeface="Aptos"/>
              </a:defRPr>
            </a:pPr>
            <a:r>
              <a:t>Kisfeszültségű</a:t>
            </a:r>
            <a:br/>
            <a:r>
              <a:t>elosztóhálózat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84048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07384"/>
                </a:solidFill>
                <a:latin typeface="Aptos"/>
              </a:defRPr>
            </a:pPr>
            <a:r>
              <a:t>felhasználók közelében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35440" y="1920240"/>
            <a:ext cx="251460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173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921240" y="2240280"/>
            <a:ext cx="1143000" cy="393192"/>
          </a:xfrm>
          <a:prstGeom prst="round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21240" y="2304288"/>
            <a:ext cx="1143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19" y="2880360"/>
            <a:ext cx="2148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73A5E"/>
                </a:solidFill>
                <a:latin typeface="Aptos"/>
              </a:defRPr>
            </a:pPr>
            <a:r>
              <a:t>Felhasználási hely</a:t>
            </a:r>
            <a:br/>
            <a:r>
              <a:t>csatlakozása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64040" y="384048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07384"/>
                </a:solidFill>
                <a:latin typeface="Aptos"/>
              </a:defRPr>
            </a:pPr>
            <a:r>
              <a:t>kapcsolat az épülettel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73952"/>
            <a:ext cx="9144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07384"/>
                </a:solidFill>
                <a:latin typeface="Aptos"/>
              </a:defRPr>
            </a:pPr>
            <a:r>
              <a:t>IAP • Épületvillamossági hálózatok • 13. évfolyam • 7. hét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4652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07384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B78B8"/>
                </a:solidFill>
                <a:latin typeface="Aptos"/>
              </a:defRPr>
            </a:pPr>
            <a:r>
              <a:t>ELOSZTÁS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67512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A közép-/kisfeszültségű transzformátorállomás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0759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607384"/>
                </a:solidFill>
                <a:latin typeface="Aptos"/>
              </a:defRPr>
            </a:pPr>
            <a:r>
              <a:t>A helyi kisfeszültségű közcélú hálózat egyik meghatározó energiaforrása.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77639" y="1965960"/>
            <a:ext cx="425196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BC4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0" y="2331720"/>
            <a:ext cx="3611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73A5E"/>
                </a:solidFill>
                <a:latin typeface="Aptos"/>
              </a:defRPr>
            </a:pPr>
            <a:r>
              <a:t>TRANSZFORMÁTORÁLLOMÁS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965960"/>
            <a:ext cx="2743200" cy="960120"/>
          </a:xfrm>
          <a:prstGeom prst="roundRect">
            <a:avLst/>
          </a:prstGeom>
          <a:solidFill>
            <a:srgbClr val="E8F3FA"/>
          </a:solidFill>
          <a:ln>
            <a:solidFill>
              <a:srgbClr val="2B8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73A5E"/>
                </a:solidFill>
                <a:latin typeface="Aptos"/>
              </a:defRPr>
            </a:pPr>
            <a:r>
              <a:t>KÖF kapcsoló + védelem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28600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0738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383280"/>
            <a:ext cx="2743200" cy="960120"/>
          </a:xfrm>
          <a:prstGeom prst="roundRect">
            <a:avLst/>
          </a:prstGeom>
          <a:solidFill>
            <a:srgbClr val="E8F3FA"/>
          </a:solidFill>
          <a:ln>
            <a:solidFill>
              <a:srgbClr val="DB91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7033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73A5E"/>
                </a:solidFill>
                <a:latin typeface="Aptos"/>
              </a:defRPr>
            </a:pPr>
            <a:r>
              <a:t>transzformátor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370332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0738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32520" y="1965960"/>
            <a:ext cx="2743200" cy="960120"/>
          </a:xfrm>
          <a:prstGeom prst="roundRect">
            <a:avLst/>
          </a:prstGeom>
          <a:solidFill>
            <a:srgbClr val="E8F3FA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0" y="22860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73A5E"/>
                </a:solidFill>
                <a:latin typeface="Aptos"/>
              </a:defRPr>
            </a:pPr>
            <a:r>
              <a:t>KIF elosztás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28600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07384"/>
                </a:solidFill>
                <a:latin typeface="Aptos"/>
              </a:defRPr>
            </a:pPr>
            <a:r>
              <a:t>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32520" y="3383280"/>
            <a:ext cx="2743200" cy="960120"/>
          </a:xfrm>
          <a:prstGeom prst="roundRect">
            <a:avLst/>
          </a:prstGeom>
          <a:solidFill>
            <a:srgbClr val="E8F3FA"/>
          </a:solidFill>
          <a:ln>
            <a:solidFill>
              <a:srgbClr val="6B4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0" y="37033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73A5E"/>
                </a:solidFill>
                <a:latin typeface="Aptos"/>
              </a:defRPr>
            </a:pPr>
            <a:r>
              <a:t>földelési + védelmi rendszer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70332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07384"/>
                </a:solidFill>
                <a:latin typeface="Aptos"/>
              </a:defRPr>
            </a:pPr>
            <a:r>
              <a:t>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9144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07384"/>
                </a:solidFill>
                <a:latin typeface="Aptos"/>
              </a:defRPr>
            </a:pPr>
            <a:r>
              <a:t>IAP • Épületvillamossági hálózatok • 13. évfolyam • 7. hét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4652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07384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B78B8"/>
                </a:solidFill>
                <a:latin typeface="Aptos"/>
              </a:defRPr>
            </a:pPr>
            <a:r>
              <a:t>KISFESZÜLTSÉG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67512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A közcélú KIF elosztóhálózat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0759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607384"/>
                </a:solidFill>
                <a:latin typeface="Aptos"/>
              </a:defRPr>
            </a:pPr>
            <a:r>
              <a:t>Ehhez csatlakozik a lakó- és kisebb üzleti fogyasztási helyek jelentős része.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965960"/>
            <a:ext cx="2971800" cy="393192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29967"/>
            <a:ext cx="2971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230/400 V • 50 Hz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88036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B91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310128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73A5E"/>
                </a:solidFill>
                <a:latin typeface="Aptos"/>
              </a:defRPr>
            </a:pPr>
            <a:r>
              <a:t>Légvezetékes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88036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B8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3310128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73A5E"/>
                </a:solidFill>
                <a:latin typeface="Aptos"/>
              </a:defRPr>
            </a:pPr>
            <a:r>
              <a:t>Földkábeles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288036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6B4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49640" y="3310128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73A5E"/>
                </a:solidFill>
                <a:latin typeface="Aptos"/>
              </a:defRPr>
            </a:pPr>
            <a:r>
              <a:t>Vegyes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20240" y="4800600"/>
            <a:ext cx="8366760" cy="640080"/>
          </a:xfrm>
          <a:prstGeom prst="roundRect">
            <a:avLst/>
          </a:prstGeom>
          <a:solidFill>
            <a:srgbClr val="E8F3FA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48840" y="4983480"/>
            <a:ext cx="7909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1">
                <a:solidFill>
                  <a:srgbClr val="173A5E"/>
                </a:solidFill>
                <a:latin typeface="Aptos"/>
              </a:defRPr>
            </a:pPr>
            <a:r>
              <a:t>Egy hálózatról több felhasználási hely ellátása történik.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9144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07384"/>
                </a:solidFill>
                <a:latin typeface="Aptos"/>
              </a:defRPr>
            </a:pPr>
            <a:r>
              <a:t>IAP • Épületvillamossági hálózatok • 13. évfolyam • 7. hét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4652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07384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B78B8"/>
                </a:solidFill>
                <a:latin typeface="Aptos"/>
              </a:defRPr>
            </a:pPr>
            <a:r>
              <a:t>TOPOLÓGIA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67512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Sugaras vagy többirányú ellátás?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0759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607384"/>
                </a:solidFill>
                <a:latin typeface="Aptos"/>
              </a:defRPr>
            </a:pPr>
            <a:r>
              <a:t>A hálózati topológia hatással van az üzembiztonságra, üzemeltetésre és hibakezelésre.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521208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488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B78B8"/>
                </a:solidFill>
                <a:latin typeface="Aptos"/>
              </a:defRPr>
            </a:pPr>
            <a:r>
              <a:t>SUGARAS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88036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73A5E"/>
                </a:solidFill>
                <a:latin typeface="Aptos"/>
              </a:defRPr>
            </a:pPr>
            <a:r>
              <a:t>forrás → fogyasztók egy irányból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520440"/>
            <a:ext cx="4480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07384"/>
                </a:solidFill>
                <a:latin typeface="Aptos"/>
              </a:defRPr>
            </a:pPr>
            <a:r>
              <a:t>+ egyszerű, áttekinthető</a:t>
            </a:r>
            <a:br/>
            <a:r>
              <a:t>- felsőbb hiba több fogyasztót érinthet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828800"/>
            <a:ext cx="521208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6B4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1488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B4FA6"/>
                </a:solidFill>
                <a:latin typeface="Aptos"/>
              </a:defRPr>
            </a:pPr>
            <a:r>
              <a:t>HURKOLT / ÖSSZEKAPCSOLT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88036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73A5E"/>
                </a:solidFill>
                <a:latin typeface="Aptos"/>
              </a:defRPr>
            </a:pPr>
            <a:r>
              <a:t>alternatív energiaút / átkapcsolás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3520440"/>
            <a:ext cx="4480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07384"/>
                </a:solidFill>
                <a:latin typeface="Aptos"/>
              </a:defRPr>
            </a:pPr>
            <a:r>
              <a:t>+ nagyobb ellátásbiztonság</a:t>
            </a:r>
            <a:br/>
            <a:r>
              <a:t>- összetettebb védelem és kapcsolás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73952"/>
            <a:ext cx="9144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07384"/>
                </a:solidFill>
                <a:latin typeface="Aptos"/>
              </a:defRPr>
            </a:pPr>
            <a:r>
              <a:t>IAP • Épületvillamossági hálózatok • 13. évfolyam • 7. hét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4652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07384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B78B8"/>
                </a:solidFill>
                <a:latin typeface="Aptos"/>
              </a:defRPr>
            </a:pPr>
            <a:r>
              <a:t>KAPCSOLAT AZ ÉPÜLETTEL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67512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A csatlakozási pont helye a rendszerben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0759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607384"/>
                </a:solidFill>
                <a:latin typeface="Aptos"/>
              </a:defRPr>
            </a:pPr>
            <a:r>
              <a:t>A következő hetekben innen közelítünk tovább az épület felé.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20240"/>
            <a:ext cx="2743200" cy="2377440"/>
          </a:xfrm>
          <a:prstGeom prst="roundRect">
            <a:avLst/>
          </a:prstGeom>
          <a:solidFill>
            <a:srgbClr val="E8F3FA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3317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B78B8"/>
                </a:solidFill>
                <a:latin typeface="Aptos"/>
              </a:defRPr>
            </a:pPr>
            <a:r>
              <a:t>KÖZCÉLÚ</a:t>
            </a:r>
            <a:br/>
            <a:r>
              <a:t>HÁLÓZAT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440" y="27432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0738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920240"/>
            <a:ext cx="274320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BC4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23317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BC423C"/>
                </a:solidFill>
                <a:latin typeface="Aptos"/>
              </a:defRPr>
            </a:pPr>
            <a:r>
              <a:t>CSATLAKOZÁSI</a:t>
            </a:r>
            <a:br/>
            <a:r>
              <a:t>PONT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27432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0738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1920240"/>
            <a:ext cx="3611880" cy="2377440"/>
          </a:xfrm>
          <a:prstGeom prst="roundRect">
            <a:avLst/>
          </a:prstGeom>
          <a:solidFill>
            <a:srgbClr val="E8F3FA"/>
          </a:solidFill>
          <a:ln>
            <a:solidFill>
              <a:srgbClr val="173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2331720"/>
            <a:ext cx="2971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173A5E"/>
                </a:solidFill>
                <a:latin typeface="Aptos"/>
              </a:defRPr>
            </a:pPr>
            <a:r>
              <a:t>MÉRŐHELY +</a:t>
            </a:r>
            <a:br/>
            <a:r>
              <a:t>ÉPÜLETHÁLÓZAT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17320" y="4892040"/>
            <a:ext cx="1965960" cy="393192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17320" y="4956048"/>
            <a:ext cx="1965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teljesítmény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49039" y="4892040"/>
            <a:ext cx="1965960" cy="393192"/>
          </a:xfrm>
          <a:prstGeom prst="roundRect">
            <a:avLst/>
          </a:prstGeom>
          <a:solidFill>
            <a:srgbClr val="2B8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49039" y="4956048"/>
            <a:ext cx="1965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fázisszám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59" y="4892040"/>
            <a:ext cx="1965960" cy="393192"/>
          </a:xfrm>
          <a:prstGeom prst="roundRect">
            <a:avLst/>
          </a:prstGeom>
          <a:solidFill>
            <a:srgbClr val="DB9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80759" y="4956048"/>
            <a:ext cx="1965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helyi hálózat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0" y="4892040"/>
            <a:ext cx="1965960" cy="393192"/>
          </a:xfrm>
          <a:prstGeom prst="roundRect">
            <a:avLst/>
          </a:prstGeom>
          <a:solidFill>
            <a:srgbClr val="6B4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4956048"/>
            <a:ext cx="1965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műszaki feltételek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73952"/>
            <a:ext cx="9144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07384"/>
                </a:solidFill>
                <a:latin typeface="Aptos"/>
              </a:defRPr>
            </a:pPr>
            <a:r>
              <a:t>IAP • Épületvillamossági hálózatok • 13. évfolyam • 7. hét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4652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07384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B78B8"/>
                </a:solidFill>
                <a:latin typeface="Aptos"/>
              </a:defRPr>
            </a:pPr>
            <a:r>
              <a:t>MŰHELYFELADAT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67512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Rajzold fel az energia útját!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0759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607384"/>
                </a:solidFill>
                <a:latin typeface="Aptos"/>
              </a:defRPr>
            </a:pPr>
            <a:r>
              <a:t>Erőműtől egy családi ház főelosztójáig - blokkdiagram formában.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737360"/>
            <a:ext cx="34290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76072" y="1993391"/>
            <a:ext cx="502920" cy="393192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2057399"/>
            <a:ext cx="502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002536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173A5E"/>
                </a:solidFill>
                <a:latin typeface="Aptos"/>
              </a:defRPr>
            </a:pPr>
            <a:r>
              <a:t>termelés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737360"/>
            <a:ext cx="34290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6B4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62272" y="1993391"/>
            <a:ext cx="502920" cy="393192"/>
          </a:xfrm>
          <a:prstGeom prst="roundRect">
            <a:avLst/>
          </a:prstGeom>
          <a:solidFill>
            <a:srgbClr val="6B4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62272" y="2057399"/>
            <a:ext cx="502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2002536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173A5E"/>
                </a:solidFill>
                <a:latin typeface="Aptos"/>
              </a:defRPr>
            </a:pPr>
            <a:r>
              <a:t>átviteli hálózat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737360"/>
            <a:ext cx="34290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B91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348471" y="1993391"/>
            <a:ext cx="502920" cy="393192"/>
          </a:xfrm>
          <a:prstGeom prst="roundRect">
            <a:avLst/>
          </a:prstGeom>
          <a:solidFill>
            <a:srgbClr val="DB9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1" y="2057399"/>
            <a:ext cx="502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40" y="2002536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173A5E"/>
                </a:solidFill>
                <a:latin typeface="Aptos"/>
              </a:defRPr>
            </a:pPr>
            <a:r>
              <a:t>transzformálási pontok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2971800"/>
            <a:ext cx="34290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B8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76072" y="3227832"/>
            <a:ext cx="502920" cy="393192"/>
          </a:xfrm>
          <a:prstGeom prst="roundRect">
            <a:avLst/>
          </a:prstGeom>
          <a:solidFill>
            <a:srgbClr val="2B8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" y="3291840"/>
            <a:ext cx="502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3236976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173A5E"/>
                </a:solidFill>
                <a:latin typeface="Aptos"/>
              </a:defRPr>
            </a:pPr>
            <a:r>
              <a:t>KÖF elosztás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2971800"/>
            <a:ext cx="34290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BC4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462272" y="3227832"/>
            <a:ext cx="502920" cy="393192"/>
          </a:xfrm>
          <a:prstGeom prst="roundRect">
            <a:avLst/>
          </a:prstGeom>
          <a:solidFill>
            <a:srgbClr val="BC4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62272" y="3291840"/>
            <a:ext cx="502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3236976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173A5E"/>
                </a:solidFill>
                <a:latin typeface="Aptos"/>
              </a:defRPr>
            </a:pPr>
            <a:r>
              <a:t>KÖF/KIF állomás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83879" y="2971800"/>
            <a:ext cx="34290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348471" y="3227832"/>
            <a:ext cx="502920" cy="393192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48471" y="3291840"/>
            <a:ext cx="502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06840" y="3236976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173A5E"/>
                </a:solidFill>
                <a:latin typeface="Aptos"/>
              </a:defRPr>
            </a:pPr>
            <a:r>
              <a:t>KIF közcélú hálózat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1480" y="4206240"/>
            <a:ext cx="34290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173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76072" y="4462272"/>
            <a:ext cx="502920" cy="393192"/>
          </a:xfrm>
          <a:prstGeom prst="round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6072" y="4526280"/>
            <a:ext cx="502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4440" y="4471416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173A5E"/>
                </a:solidFill>
                <a:latin typeface="Aptos"/>
              </a:defRPr>
            </a:pPr>
            <a:r>
              <a:t>csatlakozás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97680" y="4206240"/>
            <a:ext cx="34290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B91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462272" y="4462272"/>
            <a:ext cx="502920" cy="393192"/>
          </a:xfrm>
          <a:prstGeom prst="roundRect">
            <a:avLst/>
          </a:prstGeom>
          <a:solidFill>
            <a:srgbClr val="DB9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62272" y="4526280"/>
            <a:ext cx="502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0640" y="4471416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173A5E"/>
                </a:solidFill>
                <a:latin typeface="Aptos"/>
              </a:defRPr>
            </a:pPr>
            <a:r>
              <a:t>mérőhely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83879" y="4206240"/>
            <a:ext cx="34290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B8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348471" y="4462272"/>
            <a:ext cx="502920" cy="393192"/>
          </a:xfrm>
          <a:prstGeom prst="roundRect">
            <a:avLst/>
          </a:prstGeom>
          <a:solidFill>
            <a:srgbClr val="2B8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48471" y="4526280"/>
            <a:ext cx="502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06840" y="4471416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173A5E"/>
                </a:solidFill>
                <a:latin typeface="Aptos"/>
              </a:defRPr>
            </a:pPr>
            <a:r>
              <a:t>főelosztó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6473952"/>
            <a:ext cx="9144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07384"/>
                </a:solidFill>
                <a:latin typeface="Aptos"/>
              </a:defRPr>
            </a:pPr>
            <a:r>
              <a:t>IAP • Épületvillamossági hálózatok • 13. évfolyam • 7. hét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0" y="644652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07384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B78B8"/>
                </a:solidFill>
                <a:latin typeface="Aptos"/>
              </a:defRPr>
            </a:pPr>
            <a:r>
              <a:t>ÖSSZEFOGLALÁS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67512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Mielőtt csatlakozást tervezünk...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0759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607384"/>
                </a:solidFill>
                <a:latin typeface="Aptos"/>
              </a:defRPr>
            </a:pPr>
            <a:r>
              <a:t>...tudnunk kell, milyen hálózathoz csatlakozunk.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2514600" cy="393192"/>
          </a:xfrm>
          <a:prstGeom prst="roundRect">
            <a:avLst/>
          </a:prstGeom>
          <a:solidFill>
            <a:srgbClr val="6B4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55648"/>
            <a:ext cx="2514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Termelés → átvitel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728216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173A5E"/>
                </a:solidFill>
                <a:latin typeface="Aptos"/>
              </a:defRPr>
            </a:pPr>
            <a:r>
              <a:t>az energia nagy távolságra jut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441448"/>
            <a:ext cx="2514600" cy="393192"/>
          </a:xfrm>
          <a:prstGeom prst="roundRect">
            <a:avLst/>
          </a:prstGeom>
          <a:solidFill>
            <a:srgbClr val="2B8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505456"/>
            <a:ext cx="2514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KÖF elosztás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478024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173A5E"/>
                </a:solidFill>
                <a:latin typeface="Aptos"/>
              </a:defRPr>
            </a:pPr>
            <a:r>
              <a:t>területi szétosztás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191256"/>
            <a:ext cx="2514600" cy="393192"/>
          </a:xfrm>
          <a:prstGeom prst="roundRect">
            <a:avLst/>
          </a:prstGeom>
          <a:solidFill>
            <a:srgbClr val="DB9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255264"/>
            <a:ext cx="2514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Transzformátorállomás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227832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173A5E"/>
                </a:solidFill>
                <a:latin typeface="Aptos"/>
              </a:defRPr>
            </a:pPr>
            <a:r>
              <a:t>KÖF → KIF kapcsolat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941064"/>
            <a:ext cx="2514600" cy="393192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005072"/>
            <a:ext cx="2514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KIF hálózat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977640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173A5E"/>
                </a:solidFill>
                <a:latin typeface="Aptos"/>
              </a:defRPr>
            </a:pPr>
            <a:r>
              <a:t>230/400 V felhasználói szint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690872"/>
            <a:ext cx="2514600" cy="393192"/>
          </a:xfrm>
          <a:prstGeom prst="round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754880"/>
            <a:ext cx="2514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Csatlakozás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4727448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173A5E"/>
                </a:solidFill>
                <a:latin typeface="Aptos"/>
              </a:defRPr>
            </a:pPr>
            <a:r>
              <a:t>kapcsolat az épület hálózatával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34440" y="5623560"/>
            <a:ext cx="9692640" cy="566928"/>
          </a:xfrm>
          <a:prstGeom prst="round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63040" y="5760720"/>
            <a:ext cx="9235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Aptos"/>
              </a:defRPr>
            </a:pPr>
            <a:r>
              <a:t>Következő hét: kisfeszültségű közcélú hálózatok és csatlakozási módok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73952"/>
            <a:ext cx="9144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07384"/>
                </a:solidFill>
                <a:latin typeface="Aptos"/>
              </a:defRPr>
            </a:pPr>
            <a:r>
              <a:t>IAP • Épületvillamossági hálózatok • 13. évfolyam • 7. hét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4652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07384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