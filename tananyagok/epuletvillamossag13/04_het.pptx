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73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22860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 Display"/>
              </a:defRPr>
            </a:pPr>
            <a:r>
              <a:t>IAP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17320"/>
            <a:ext cx="2468880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ÉPÜLET-</a:t>
            </a:r>
            <a:br/>
            <a:r>
              <a:t>VILLAMOSSÁGI</a:t>
            </a:r>
            <a:br/>
            <a:r>
              <a:t>HÁLÓZATOK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3703320"/>
            <a:ext cx="2286000" cy="384048"/>
          </a:xfrm>
          <a:prstGeom prst="roundRect">
            <a:avLst/>
          </a:prstGeom>
          <a:solidFill>
            <a:srgbClr val="3081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3721607"/>
            <a:ext cx="2286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13. évfolyam • 3 tanóra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251960" y="1051560"/>
            <a:ext cx="69494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Túláramvédelem,</a:t>
            </a:r>
            <a:br/>
            <a:r>
              <a:t>áram-védőkapcsoló,</a:t>
            </a:r>
            <a:br/>
            <a:r>
              <a:t>földelés és EPH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3794760"/>
            <a:ext cx="6400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B9DCF1"/>
                </a:solidFill>
                <a:latin typeface="Aptos"/>
              </a:defRPr>
            </a:pPr>
            <a:r>
              <a:t>4. hét • Villamos biztonság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4800600"/>
            <a:ext cx="64922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 Display"/>
              </a:defRPr>
            </a:pPr>
            <a:r>
              <a:t>A védelem nem egyetlen készülék,</a:t>
            </a:r>
            <a:br/>
            <a:r>
              <a:t>hanem egymásra épülő rendszer.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647395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D7C"/>
                </a:solidFill>
                <a:latin typeface="Aptos"/>
              </a:defRPr>
            </a:pPr>
            <a:r>
              <a:t>IAP • Épületvillamossági hálózatok • 13. évfolyam • 4. hét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D7C"/>
                </a:solidFill>
                <a:latin typeface="Aptos"/>
              </a:defRPr>
            </a:pPr>
            <a: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6FAE"/>
                </a:solidFill>
                <a:latin typeface="Aptos"/>
              </a:defRPr>
            </a:pPr>
            <a:r>
              <a:t>CÉL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0273F"/>
                </a:solidFill>
                <a:latin typeface="Aptos Display"/>
              </a:defRPr>
            </a:pPr>
            <a:r>
              <a:t>Mit kell a hét végére átlátni?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74519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" y="2103120"/>
            <a:ext cx="594360" cy="384048"/>
          </a:xfrm>
          <a:prstGeom prst="roundRect">
            <a:avLst/>
          </a:prstGeom>
          <a:solidFill>
            <a:srgbClr val="BE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121408"/>
            <a:ext cx="594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73352" y="2103120"/>
            <a:ext cx="3840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0273F"/>
                </a:solidFill>
                <a:latin typeface="Aptos Display"/>
              </a:defRPr>
            </a:pPr>
            <a:r>
              <a:t>Túláram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73352" y="2532887"/>
            <a:ext cx="3840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C6D7C"/>
                </a:solidFill>
                <a:latin typeface="Aptos"/>
              </a:defRPr>
            </a:pPr>
            <a:r>
              <a:t>Túlterhelés és zárlat megkülönböztetése.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874519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92240" y="2103120"/>
            <a:ext cx="594360" cy="384048"/>
          </a:xfrm>
          <a:prstGeom prst="roundRect">
            <a:avLst/>
          </a:prstGeom>
          <a:solidFill>
            <a:srgbClr val="DA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2121408"/>
            <a:ext cx="594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51192" y="2103120"/>
            <a:ext cx="3840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0273F"/>
                </a:solidFill>
                <a:latin typeface="Aptos Display"/>
              </a:defRPr>
            </a:pPr>
            <a:r>
              <a:t>Védelmi készülék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51192" y="2532887"/>
            <a:ext cx="3840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C6D7C"/>
                </a:solidFill>
                <a:latin typeface="Aptos"/>
              </a:defRPr>
            </a:pPr>
            <a:r>
              <a:t>Olvadóbiztosító és kismegszakító szerepe.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5800" y="3749039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914400" y="3977639"/>
            <a:ext cx="594360" cy="384048"/>
          </a:xfrm>
          <a:prstGeom prst="round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995927"/>
            <a:ext cx="594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73352" y="3977639"/>
            <a:ext cx="3840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0273F"/>
                </a:solidFill>
                <a:latin typeface="Aptos Display"/>
              </a:defRPr>
            </a:pPr>
            <a:r>
              <a:t>RCD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73352" y="4407407"/>
            <a:ext cx="3840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C6D7C"/>
                </a:solidFill>
                <a:latin typeface="Aptos"/>
              </a:defRPr>
            </a:pPr>
            <a:r>
              <a:t>A maradékáram érzékelésének alapelve.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49039"/>
            <a:ext cx="516636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492240" y="3977639"/>
            <a:ext cx="594360" cy="384048"/>
          </a:xfrm>
          <a:prstGeom prst="roundRect">
            <a:avLst/>
          </a:prstGeom>
          <a:solidFill>
            <a:srgbClr val="2A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2240" y="3995927"/>
            <a:ext cx="5943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51192" y="3977639"/>
            <a:ext cx="384048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0273F"/>
                </a:solidFill>
                <a:latin typeface="Aptos Display"/>
              </a:defRPr>
            </a:pPr>
            <a:r>
              <a:t>PE • földelés • EPH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51192" y="4407407"/>
            <a:ext cx="38404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C6D7C"/>
                </a:solidFill>
                <a:latin typeface="Aptos"/>
              </a:defRPr>
            </a:pPr>
            <a:r>
              <a:t>A hibavédelem egymásra épülő elemei.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647395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D7C"/>
                </a:solidFill>
                <a:latin typeface="Aptos"/>
              </a:defRPr>
            </a:pPr>
            <a:r>
              <a:t>IAP • Épületvillamossági hálózatok • 13. évfolyam • 4. hét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D7C"/>
                </a:solidFill>
                <a:latin typeface="Aptos"/>
              </a:defRPr>
            </a:pPr>
            <a: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6FAE"/>
                </a:solidFill>
                <a:latin typeface="Aptos"/>
              </a:defRPr>
            </a:pPr>
            <a:r>
              <a:t>TÚLÁRAM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0273F"/>
                </a:solidFill>
                <a:latin typeface="Aptos Display"/>
              </a:defRPr>
            </a:pPr>
            <a:r>
              <a:t>Túlterhelés vagy zárlat?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C6D7C"/>
                </a:solidFill>
                <a:latin typeface="Aptos"/>
              </a:defRPr>
            </a:pPr>
            <a:r>
              <a:t>Mindkettő túláram, de a kialakulásuk és időbeli lefolyásuk eltér.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74519"/>
            <a:ext cx="51663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336792" y="1874519"/>
            <a:ext cx="516636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CE2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60120" y="2148840"/>
            <a:ext cx="1234440" cy="384048"/>
          </a:xfrm>
          <a:prstGeom prst="roundRect">
            <a:avLst/>
          </a:prstGeom>
          <a:solidFill>
            <a:srgbClr val="DA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167128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TÚLTERHELÉS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11112" y="2148840"/>
            <a:ext cx="960120" cy="384048"/>
          </a:xfrm>
          <a:prstGeom prst="roundRect">
            <a:avLst/>
          </a:prstGeom>
          <a:solidFill>
            <a:srgbClr val="BE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11112" y="2167128"/>
            <a:ext cx="960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ZÁRLAT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743200"/>
            <a:ext cx="44805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0273F"/>
                </a:solidFill>
                <a:latin typeface="Aptos Display"/>
              </a:defRPr>
            </a:pPr>
            <a:r>
              <a:t>Rendeltetésszerű áramút,</a:t>
            </a:r>
            <a:br/>
            <a:r>
              <a:t>de túl nagy terhelés.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11112" y="2743200"/>
            <a:ext cx="4389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10273F"/>
                </a:solidFill>
                <a:latin typeface="Aptos Display"/>
              </a:defRPr>
            </a:pPr>
            <a:r>
              <a:t>Nem kívánt, nagyon kis</a:t>
            </a:r>
            <a:br/>
            <a:r>
              <a:t>impedanciájú áramút.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749039"/>
            <a:ext cx="4389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12C37"/>
                </a:solidFill>
                <a:latin typeface="Aptos"/>
              </a:defRPr>
            </a:pPr>
            <a:r>
              <a:t>• fokozatos hőhatás</a:t>
            </a:r>
            <a:br/>
            <a:r>
              <a:t>• túl sok / túl nagy fogyasztó</a:t>
            </a:r>
            <a:br/>
            <a:r>
              <a:t>• vezeték túlmelegedhet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11112" y="3749039"/>
            <a:ext cx="43891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0">
                <a:solidFill>
                  <a:srgbClr val="212C37"/>
                </a:solidFill>
                <a:latin typeface="Aptos"/>
              </a:defRPr>
            </a:pPr>
            <a:r>
              <a:t>• nagyon nagy áram</a:t>
            </a:r>
            <a:br/>
            <a:r>
              <a:t>• gyors megszakítás szükséges</a:t>
            </a:r>
            <a:br/>
            <a:r>
              <a:t>• megszakítóképesség is számít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647395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D7C"/>
                </a:solidFill>
                <a:latin typeface="Aptos"/>
              </a:defRPr>
            </a:pPr>
            <a:r>
              <a:t>IAP • Épületvillamossági hálózatok • 13. évfolyam • 4. hét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D7C"/>
                </a:solidFill>
                <a:latin typeface="Aptos"/>
              </a:defRPr>
            </a:pPr>
            <a: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6FAE"/>
                </a:solidFill>
                <a:latin typeface="Aptos"/>
              </a:defRPr>
            </a:pPr>
            <a:r>
              <a:t>TÚLÁRAMVÉDELEM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0273F"/>
                </a:solidFill>
                <a:latin typeface="Aptos Display"/>
              </a:defRPr>
            </a:pPr>
            <a:r>
              <a:t>Kismegszakító: kétféle kioldás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C6D7C"/>
                </a:solidFill>
                <a:latin typeface="Aptos"/>
              </a:defRPr>
            </a:pPr>
            <a:r>
              <a:t>A készülék a kialakításának megfelelően túlterhelés és zárlat ellen is véd.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68680" y="1965960"/>
            <a:ext cx="292608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BECCD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417320" y="2331720"/>
            <a:ext cx="1828800" cy="2606040"/>
          </a:xfrm>
          <a:prstGeom prst="roundRect">
            <a:avLst/>
          </a:prstGeom>
          <a:solidFill>
            <a:srgbClr val="F0F4F7"/>
          </a:solidFill>
          <a:ln>
            <a:solidFill>
              <a:srgbClr val="AAB9C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37360" y="2651760"/>
            <a:ext cx="1188720" cy="384048"/>
          </a:xfrm>
          <a:prstGeom prst="round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670048"/>
            <a:ext cx="1188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B16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828800" y="3337560"/>
            <a:ext cx="1005840" cy="411480"/>
          </a:xfrm>
          <a:prstGeom prst="roundRect">
            <a:avLst/>
          </a:prstGeom>
          <a:solidFill>
            <a:srgbClr val="212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47672" y="3401568"/>
            <a:ext cx="768096" cy="28346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4572000"/>
            <a:ext cx="2286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5C6D7C"/>
                </a:solidFill>
                <a:latin typeface="Aptos"/>
              </a:defRPr>
            </a:pPr>
            <a:r>
              <a:t>kismegszakító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2148840"/>
            <a:ext cx="3154680" cy="1325880"/>
          </a:xfrm>
          <a:prstGeom prst="roundRect">
            <a:avLst/>
          </a:prstGeom>
          <a:solidFill>
            <a:srgbClr val="FFF8EB"/>
          </a:solidFill>
          <a:ln>
            <a:solidFill>
              <a:srgbClr val="DA9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17720" y="2395728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DA912B"/>
                </a:solidFill>
                <a:latin typeface="Aptos Display"/>
              </a:defRPr>
            </a:pPr>
            <a:r>
              <a:t>HŐKIOLDÓ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17720" y="2788920"/>
            <a:ext cx="2560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12C37"/>
                </a:solidFill>
                <a:latin typeface="Aptos"/>
              </a:defRPr>
            </a:pPr>
            <a:r>
              <a:t>Túlterhelési tartomány</a:t>
            </a:r>
            <a:br/>
            <a:r>
              <a:t>- időfüggő működés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2148840"/>
            <a:ext cx="3154680" cy="1325880"/>
          </a:xfrm>
          <a:prstGeom prst="roundRect">
            <a:avLst/>
          </a:prstGeom>
          <a:solidFill>
            <a:srgbClr val="FDEEED"/>
          </a:solidFill>
          <a:ln>
            <a:solidFill>
              <a:srgbClr val="BE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2395728"/>
            <a:ext cx="26060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BE3C36"/>
                </a:solidFill>
                <a:latin typeface="Aptos Display"/>
              </a:defRPr>
            </a:pPr>
            <a:r>
              <a:t>MÁGNESES KIOLDÓ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92440" y="2788920"/>
            <a:ext cx="25603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12C37"/>
                </a:solidFill>
                <a:latin typeface="Aptos"/>
              </a:defRPr>
            </a:pPr>
            <a:r>
              <a:t>Nagy zárlati áram</a:t>
            </a:r>
            <a:br/>
            <a:r>
              <a:t>- gyors lekapcsolás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3977639"/>
            <a:ext cx="6629400" cy="1143000"/>
          </a:xfrm>
          <a:prstGeom prst="roundRect">
            <a:avLst/>
          </a:prstGeom>
          <a:solidFill>
            <a:srgbClr val="E5F2FA"/>
          </a:solidFill>
          <a:ln>
            <a:solidFill>
              <a:srgbClr val="1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17720" y="4224528"/>
            <a:ext cx="608076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0273F"/>
                </a:solidFill>
                <a:latin typeface="Aptos"/>
              </a:defRPr>
            </a:pPr>
            <a:r>
              <a:t>A névleges áramot és a karakterisztikát a vezetékhez és a terheléshez kell igazítani.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647395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D7C"/>
                </a:solidFill>
                <a:latin typeface="Aptos"/>
              </a:defRPr>
            </a:pPr>
            <a:r>
              <a:t>IAP • Épületvillamossági hálózatok • 13. évfolyam • 4. hét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D7C"/>
                </a:solidFill>
                <a:latin typeface="Aptos"/>
              </a:defRPr>
            </a:pPr>
            <a: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6FAE"/>
                </a:solidFill>
                <a:latin typeface="Aptos"/>
              </a:defRPr>
            </a:pPr>
            <a:r>
              <a:t>KIEGÉSZÍTŐ 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0273F"/>
                </a:solidFill>
                <a:latin typeface="Aptos Display"/>
              </a:defRPr>
            </a:pPr>
            <a:r>
              <a:t>Mit figyel az RCD?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C6D7C"/>
                </a:solidFill>
                <a:latin typeface="Aptos"/>
              </a:defRPr>
            </a:pPr>
            <a:r>
              <a:t>A rajta átvezetett aktív vezetők áramainak egyensúlyát.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874519"/>
            <a:ext cx="1508760" cy="384048"/>
          </a:xfrm>
          <a:prstGeom prst="roundRect">
            <a:avLst/>
          </a:prstGeom>
          <a:solidFill>
            <a:srgbClr val="2A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92807"/>
            <a:ext cx="1508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NORMÁL ÜZEM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48840" y="274320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48840" y="3054096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F6FAE"/>
                </a:solidFill>
                <a:latin typeface="Aptos Display"/>
              </a:defRPr>
            </a:pPr>
            <a:r>
              <a:t>RCD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48840" y="3456432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5C6D7C"/>
                </a:solidFill>
                <a:latin typeface="Aptos"/>
              </a:defRPr>
            </a:pPr>
            <a:r>
              <a:t>áramegyensúly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487168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10273F"/>
                </a:solidFill>
                <a:latin typeface="Aptos"/>
              </a:defRPr>
            </a:pPr>
            <a:r>
              <a:t>L  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224528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10273F"/>
                </a:solidFill>
                <a:latin typeface="Aptos"/>
              </a:defRPr>
            </a:pPr>
            <a:r>
              <a:t>N  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2487168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0273F"/>
                </a:solidFill>
                <a:latin typeface="Aptos"/>
              </a:defRPr>
            </a:pPr>
            <a:r>
              <a:t>8,00 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4224528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0273F"/>
                </a:solidFill>
                <a:latin typeface="Aptos"/>
              </a:defRPr>
            </a:pPr>
            <a:r>
              <a:t>8,00 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4800600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2A7D5F"/>
                </a:solidFill>
                <a:latin typeface="Aptos Display"/>
              </a:defRPr>
            </a:pPr>
            <a:r>
              <a:t>IΔ ≈ 0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0" y="1874519"/>
            <a:ext cx="1508760" cy="384048"/>
          </a:xfrm>
          <a:prstGeom prst="roundRect">
            <a:avLst/>
          </a:prstGeom>
          <a:solidFill>
            <a:srgbClr val="BE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892807"/>
            <a:ext cx="1508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HIBAÁLLAPOT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2743200"/>
            <a:ext cx="20574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1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5240" y="3054096"/>
            <a:ext cx="2057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F6FAE"/>
                </a:solidFill>
                <a:latin typeface="Aptos Display"/>
              </a:defRPr>
            </a:pPr>
            <a:r>
              <a:t>RCD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35240" y="3456432"/>
            <a:ext cx="20574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0">
                <a:solidFill>
                  <a:srgbClr val="5C6D7C"/>
                </a:solidFill>
                <a:latin typeface="Aptos"/>
              </a:defRPr>
            </a:pPr>
            <a:r>
              <a:t>áramegyensúly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2487168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10273F"/>
                </a:solidFill>
                <a:latin typeface="Aptos"/>
              </a:defRPr>
            </a:pPr>
            <a:r>
              <a:t>L  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224528"/>
            <a:ext cx="1051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200" b="1">
                <a:solidFill>
                  <a:srgbClr val="10273F"/>
                </a:solidFill>
                <a:latin typeface="Aptos"/>
              </a:defRPr>
            </a:pPr>
            <a:r>
              <a:t>N  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75520" y="2487168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0273F"/>
                </a:solidFill>
                <a:latin typeface="Aptos"/>
              </a:defRPr>
            </a:pPr>
            <a:r>
              <a:t>8,00 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4224528"/>
            <a:ext cx="13258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10273F"/>
                </a:solidFill>
                <a:latin typeface="Aptos"/>
              </a:defRPr>
            </a:pPr>
            <a:r>
              <a:t>7,97 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32461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>
                <a:solidFill>
                  <a:srgbClr val="BE3C36"/>
                </a:solidFill>
                <a:latin typeface="Aptos"/>
              </a:defRPr>
            </a:pPr>
            <a:r>
              <a:t>0,03 A</a:t>
            </a:r>
            <a:br/>
            <a:r>
              <a:t>más úton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4800600"/>
            <a:ext cx="4526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>
                <a:solidFill>
                  <a:srgbClr val="BE3C36"/>
                </a:solidFill>
                <a:latin typeface="Aptos Display"/>
              </a:defRPr>
            </a:pPr>
            <a:r>
              <a:t>IΔ = 30 mA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" y="647395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D7C"/>
                </a:solidFill>
                <a:latin typeface="Aptos"/>
              </a:defRPr>
            </a:pPr>
            <a:r>
              <a:t>IAP • Épületvillamossági hálózatok • 13. évfolyam • 4. hét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D7C"/>
                </a:solidFill>
                <a:latin typeface="Aptos"/>
              </a:defRPr>
            </a:pPr>
            <a: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6FAE"/>
                </a:solidFill>
                <a:latin typeface="Aptos"/>
              </a:defRPr>
            </a:pPr>
            <a:r>
              <a:t>RENDSZERSZEMLÉLET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0273F"/>
                </a:solidFill>
                <a:latin typeface="Aptos Display"/>
              </a:defRPr>
            </a:pPr>
            <a:r>
              <a:t>Az RCD nem helyettesíti a túláramvédelmet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2240280"/>
            <a:ext cx="248716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A9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96112" y="2542032"/>
            <a:ext cx="1965960" cy="384048"/>
          </a:xfrm>
          <a:prstGeom prst="roundRect">
            <a:avLst/>
          </a:prstGeom>
          <a:solidFill>
            <a:srgbClr val="DA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2560320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Kismegszakító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246120"/>
            <a:ext cx="20299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0273F"/>
                </a:solidFill>
                <a:latin typeface="Aptos"/>
              </a:defRPr>
            </a:pPr>
            <a:r>
              <a:t>vezeték túláramvédelme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45536" y="2971800"/>
            <a:ext cx="3291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5C6D7C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93008" y="2240280"/>
            <a:ext cx="248716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1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749040" y="2542032"/>
            <a:ext cx="1965960" cy="384048"/>
          </a:xfrm>
          <a:prstGeom prst="round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40" y="2560320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RCD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21608" y="3246120"/>
            <a:ext cx="20299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0273F"/>
                </a:solidFill>
                <a:latin typeface="Aptos"/>
              </a:defRPr>
            </a:pPr>
            <a:r>
              <a:t>maradékáram érzékelése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98464" y="2971800"/>
            <a:ext cx="3291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5C6D7C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45936" y="2240280"/>
            <a:ext cx="248716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A7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601968" y="2542032"/>
            <a:ext cx="1965960" cy="384048"/>
          </a:xfrm>
          <a:prstGeom prst="roundRect">
            <a:avLst/>
          </a:prstGeom>
          <a:solidFill>
            <a:srgbClr val="2A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01968" y="2560320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4536" y="3246120"/>
            <a:ext cx="20299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0273F"/>
                </a:solidFill>
                <a:latin typeface="Aptos"/>
              </a:defRPr>
            </a:pPr>
            <a:r>
              <a:t>védővezetői kapcsolat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51392" y="2971800"/>
            <a:ext cx="3291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5C6D7C"/>
                </a:solidFill>
                <a:latin typeface="Aptos"/>
              </a:defRPr>
            </a:pPr>
            <a:r>
              <a:t>+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98863" y="2240280"/>
            <a:ext cx="2487168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2A7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454895" y="2542032"/>
            <a:ext cx="1965960" cy="384048"/>
          </a:xfrm>
          <a:prstGeom prst="roundRect">
            <a:avLst/>
          </a:prstGeom>
          <a:solidFill>
            <a:srgbClr val="2A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454895" y="2560320"/>
            <a:ext cx="19659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Földelés / EPH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27463" y="3246120"/>
            <a:ext cx="2029968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0273F"/>
                </a:solidFill>
                <a:latin typeface="Aptos"/>
              </a:defRPr>
            </a:pPr>
            <a:r>
              <a:t>potenciálkülönbségek csökkentése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920240" y="4800600"/>
            <a:ext cx="8321040" cy="777240"/>
          </a:xfrm>
          <a:prstGeom prst="roundRect">
            <a:avLst/>
          </a:prstGeom>
          <a:solidFill>
            <a:srgbClr val="E5F2FA"/>
          </a:solidFill>
          <a:ln>
            <a:solidFill>
              <a:srgbClr val="1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148840" y="5010912"/>
            <a:ext cx="7863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>
                <a:solidFill>
                  <a:srgbClr val="10273F"/>
                </a:solidFill>
                <a:latin typeface="Aptos"/>
              </a:defRPr>
            </a:pPr>
            <a:r>
              <a:t>A villamos biztonság több védelmi intézkedés együttműködésének eredménye.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" y="647395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D7C"/>
                </a:solidFill>
                <a:latin typeface="Aptos"/>
              </a:defRPr>
            </a:pPr>
            <a:r>
              <a:t>IAP • Épületvillamossági hálózatok • 13. évfolyam • 4. hét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D7C"/>
                </a:solidFill>
                <a:latin typeface="Aptos"/>
              </a:defRPr>
            </a:pPr>
            <a: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6FAE"/>
                </a:solidFill>
                <a:latin typeface="Aptos"/>
              </a:defRPr>
            </a:pPr>
            <a:r>
              <a:t>HIBAVÉDELEM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0273F"/>
                </a:solidFill>
                <a:latin typeface="Aptos Display"/>
              </a:defRPr>
            </a:pPr>
            <a:r>
              <a:t>PE, földelés és EPH - három külön szerep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920240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0120" y="2240280"/>
            <a:ext cx="1234440" cy="384048"/>
          </a:xfrm>
          <a:prstGeom prst="roundRect">
            <a:avLst/>
          </a:prstGeom>
          <a:solidFill>
            <a:srgbClr val="2A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58568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8892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0273F"/>
                </a:solidFill>
                <a:latin typeface="Aptos Display"/>
              </a:defRPr>
            </a:pPr>
            <a:r>
              <a:t>Védővezető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429000"/>
            <a:ext cx="2834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12C37"/>
                </a:solidFill>
                <a:latin typeface="Aptos"/>
              </a:defRPr>
            </a:pPr>
            <a:r>
              <a:t>Hiba esetén a védelmi rendszer működését segíti.</a:t>
            </a:r>
            <a:br/>
            <a:r>
              <a:t>Zöld-sárga; normál üzemi áramra nem szolgál.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1920240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754880" y="2240280"/>
            <a:ext cx="1234440" cy="384048"/>
          </a:xfrm>
          <a:prstGeom prst="round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54880" y="2258568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FÖLDELÉS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78892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0273F"/>
                </a:solidFill>
                <a:latin typeface="Aptos Display"/>
              </a:defRPr>
            </a:pPr>
            <a:r>
              <a:t>Kapcsolat a földdel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3429000"/>
            <a:ext cx="2834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12C37"/>
                </a:solidFill>
                <a:latin typeface="Aptos"/>
              </a:defRPr>
            </a:pPr>
            <a:r>
              <a:t>Vezetőképes kapcsolat a rendszer meghatározott pontja / része és a föld között.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75320" y="1920240"/>
            <a:ext cx="3429000" cy="342900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49640" y="2240280"/>
            <a:ext cx="1234440" cy="384048"/>
          </a:xfrm>
          <a:prstGeom prst="roundRect">
            <a:avLst/>
          </a:prstGeom>
          <a:solidFill>
            <a:srgbClr val="DA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258568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EPH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2788920"/>
            <a:ext cx="28346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>
                <a:solidFill>
                  <a:srgbClr val="10273F"/>
                </a:solidFill>
                <a:latin typeface="Aptos Display"/>
              </a:defRPr>
            </a:pPr>
            <a:r>
              <a:t>Egyenpotenciálra hozás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3429000"/>
            <a:ext cx="28346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212C37"/>
                </a:solidFill>
                <a:latin typeface="Aptos"/>
              </a:defRPr>
            </a:pPr>
            <a:r>
              <a:t>A veszélyes potenciálkülönbségek csökkentése az egyidejűleg érinthető részek között.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647395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D7C"/>
                </a:solidFill>
                <a:latin typeface="Aptos"/>
              </a:defRPr>
            </a:pPr>
            <a:r>
              <a:t>IAP • Épületvillamossági hálózatok • 13. évfolyam • 4. hét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D7C"/>
                </a:solidFill>
                <a:latin typeface="Aptos"/>
              </a:defRPr>
            </a:pPr>
            <a: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6FAE"/>
                </a:solidFill>
                <a:latin typeface="Aptos"/>
              </a:defRPr>
            </a:pPr>
            <a:r>
              <a:t>HIBAHELYZET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0273F"/>
                </a:solidFill>
                <a:latin typeface="Aptos Display"/>
              </a:defRPr>
            </a:pPr>
            <a:r>
              <a:t>Mi történik, ha fázis kerül egy fém burkolatra?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C6D7C"/>
                </a:solidFill>
                <a:latin typeface="Aptos"/>
              </a:defRPr>
            </a:pPr>
            <a:r>
              <a:t>I. érintésvédelmi osztályú készülék egyszerűsített hibahelyzete.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2011680"/>
            <a:ext cx="502920" cy="384048"/>
          </a:xfrm>
          <a:prstGeom prst="roundRect">
            <a:avLst/>
          </a:prstGeom>
          <a:solidFill>
            <a:srgbClr val="BE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029968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2606040"/>
            <a:ext cx="2487168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BE3C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2880360"/>
            <a:ext cx="208483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273F"/>
                </a:solidFill>
                <a:latin typeface="Aptos Display"/>
              </a:defRPr>
            </a:pPr>
            <a:r>
              <a:t>Szigetelési hiba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3520440"/>
            <a:ext cx="2084831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212C37"/>
                </a:solidFill>
                <a:latin typeface="Aptos"/>
              </a:defRPr>
            </a:pPr>
            <a:r>
              <a:t>Fázisfeszültség kerül a burkolatra.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3474720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5C6D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47288" y="2011680"/>
            <a:ext cx="502920" cy="384048"/>
          </a:xfrm>
          <a:prstGeom prst="roundRect">
            <a:avLst/>
          </a:prstGeom>
          <a:solidFill>
            <a:srgbClr val="2A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47288" y="2029968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47288" y="2606040"/>
            <a:ext cx="2487168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2A7D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48456" y="2880360"/>
            <a:ext cx="208483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273F"/>
                </a:solidFill>
                <a:latin typeface="Aptos Display"/>
              </a:defRPr>
            </a:pPr>
            <a:r>
              <a:t>PE út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456" y="3520440"/>
            <a:ext cx="2084831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212C37"/>
                </a:solidFill>
                <a:latin typeface="Aptos"/>
              </a:defRPr>
            </a:pPr>
            <a:r>
              <a:t>A védővezető részt vesz a hibaáramút kialakításában.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4456" y="3474720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5C6D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2011680"/>
            <a:ext cx="502920" cy="384048"/>
          </a:xfrm>
          <a:prstGeom prst="round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300216" y="2029968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00216" y="2606040"/>
            <a:ext cx="2487168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1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1384" y="2880360"/>
            <a:ext cx="208483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273F"/>
                </a:solidFill>
                <a:latin typeface="Aptos Display"/>
              </a:defRPr>
            </a:pPr>
            <a:r>
              <a:t>Védelem működik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3520440"/>
            <a:ext cx="2084831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212C37"/>
                </a:solidFill>
                <a:latin typeface="Aptos"/>
              </a:defRPr>
            </a:pPr>
            <a:r>
              <a:t>A védelmi készüléknek a rendszer feltételei szerint le kell kapcsolnia.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87384" y="3474720"/>
            <a:ext cx="347472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5C6D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53144" y="2011680"/>
            <a:ext cx="502920" cy="384048"/>
          </a:xfrm>
          <a:prstGeom prst="roundRect">
            <a:avLst/>
          </a:prstGeom>
          <a:solidFill>
            <a:srgbClr val="DA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53144" y="2029968"/>
            <a:ext cx="502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53144" y="2606040"/>
            <a:ext cx="2487168" cy="2468880"/>
          </a:xfrm>
          <a:prstGeom prst="roundRect">
            <a:avLst/>
          </a:prstGeom>
          <a:solidFill>
            <a:srgbClr val="FFFFFF"/>
          </a:solidFill>
          <a:ln>
            <a:solidFill>
              <a:srgbClr val="DA9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54312" y="2880360"/>
            <a:ext cx="2084831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>
                <a:solidFill>
                  <a:srgbClr val="10273F"/>
                </a:solidFill>
                <a:latin typeface="Aptos Display"/>
              </a:defRPr>
            </a:pPr>
            <a:r>
              <a:t>Cél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54312" y="3520440"/>
            <a:ext cx="2084831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80" b="0">
                <a:solidFill>
                  <a:srgbClr val="212C37"/>
                </a:solidFill>
                <a:latin typeface="Aptos"/>
              </a:defRPr>
            </a:pPr>
            <a:r>
              <a:t>A veszélyes érintési állapot csak korlátozott ideig álljon fenn.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" y="647395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D7C"/>
                </a:solidFill>
                <a:latin typeface="Aptos"/>
              </a:defRPr>
            </a:pPr>
            <a:r>
              <a:t>IAP • Épületvillamossági hálózatok • 13. évfolyam • 4. hét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D7C"/>
                </a:solidFill>
                <a:latin typeface="Aptos"/>
              </a:defRPr>
            </a:pPr>
            <a: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6FAE"/>
                </a:solidFill>
                <a:latin typeface="Aptos"/>
              </a:defRPr>
            </a:pPr>
            <a:r>
              <a:t>MARADÉKÁRAM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0273F"/>
                </a:solidFill>
                <a:latin typeface="Aptos Display"/>
              </a:defRPr>
            </a:pPr>
            <a:r>
              <a:t>8,00 A be - 7,97 A vissza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C6D7C"/>
                </a:solidFill>
                <a:latin typeface="Aptos"/>
              </a:defRPr>
            </a:pPr>
            <a:r>
              <a:t>Egyszerű példa az RCD által érzékelt áramkülönbségre.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057400"/>
            <a:ext cx="10332720" cy="2971800"/>
          </a:xfrm>
          <a:prstGeom prst="roundRect">
            <a:avLst/>
          </a:prstGeom>
          <a:solidFill>
            <a:srgbClr val="FFFFFF"/>
          </a:solidFill>
          <a:ln>
            <a:solidFill>
              <a:srgbClr val="D7E1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251460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0273F"/>
                </a:solidFill>
                <a:latin typeface="Aptos Display"/>
              </a:defRPr>
            </a:pPr>
            <a:r>
              <a:t>Iₗ = 8,00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86200" y="2514600"/>
            <a:ext cx="594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5C6D7C"/>
                </a:solidFill>
                <a:latin typeface="Aptos"/>
              </a:defRPr>
            </a:pPr>
            <a:r>
              <a:t>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2514600"/>
            <a:ext cx="237744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>
                <a:solidFill>
                  <a:srgbClr val="10273F"/>
                </a:solidFill>
                <a:latin typeface="Aptos Display"/>
              </a:defRPr>
            </a:pPr>
            <a:r>
              <a:t>Iₙ = 7,97 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514600"/>
            <a:ext cx="59436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5C6D7C"/>
                </a:solidFill>
                <a:latin typeface="Aptos"/>
              </a:defRPr>
            </a:pPr>
            <a:r>
              <a:t>=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26679" y="2450592"/>
            <a:ext cx="27432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800" b="1">
                <a:solidFill>
                  <a:srgbClr val="BE3C36"/>
                </a:solidFill>
                <a:latin typeface="Aptos Display"/>
              </a:defRPr>
            </a:pPr>
            <a:r>
              <a:t>0,03 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01000" y="3337560"/>
            <a:ext cx="2194560" cy="384048"/>
          </a:xfrm>
          <a:prstGeom prst="roundRect">
            <a:avLst/>
          </a:prstGeom>
          <a:solidFill>
            <a:srgbClr val="BE3C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01000" y="3355848"/>
            <a:ext cx="21945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30 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160520"/>
            <a:ext cx="85039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>
                <a:solidFill>
                  <a:srgbClr val="1F6FAE"/>
                </a:solidFill>
                <a:latin typeface="Aptos"/>
              </a:defRPr>
            </a:pPr>
            <a:r>
              <a:t>IΔ = 8,00 A - 7,97 A = 0,03 A = 30 mA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647395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D7C"/>
                </a:solidFill>
                <a:latin typeface="Aptos"/>
              </a:defRPr>
            </a:pPr>
            <a:r>
              <a:t>IAP • Épületvillamossági hálózatok • 13. évfolyam • 4. hét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D7C"/>
                </a:solidFill>
                <a:latin typeface="Aptos"/>
              </a:defRPr>
            </a:pPr>
            <a: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6FAE"/>
                </a:solidFill>
                <a:latin typeface="Aptos"/>
              </a:defRPr>
            </a:pPr>
            <a:r>
              <a:t>MŰHELYFELADAT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0273F"/>
                </a:solidFill>
                <a:latin typeface="Aptos Display"/>
              </a:defRPr>
            </a:pPr>
            <a:r>
              <a:t>Építs védelmi láncot!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042416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50" b="0">
                <a:solidFill>
                  <a:srgbClr val="5C6D7C"/>
                </a:solidFill>
                <a:latin typeface="Aptos"/>
              </a:defRPr>
            </a:pPr>
            <a:r>
              <a:t>Egy családi ház dugaszolóaljzat-áramkörének blokkvázlata.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02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2450592"/>
            <a:ext cx="1645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0273F"/>
                </a:solidFill>
                <a:latin typeface="Aptos"/>
              </a:defRPr>
            </a:pPr>
            <a:r>
              <a:t>Főelosztó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59152" y="2578608"/>
            <a:ext cx="4389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5C6D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34639" y="2240280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DA91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26079" y="2450592"/>
            <a:ext cx="1645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0273F"/>
                </a:solidFill>
                <a:latin typeface="Aptos"/>
              </a:defRPr>
            </a:pPr>
            <a:r>
              <a:t>Túláram-</a:t>
            </a:r>
            <a:br/>
            <a:r>
              <a:t>védelem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90871" y="2578608"/>
            <a:ext cx="4389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5C6D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166359" y="2240280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F6FA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57799" y="2450592"/>
            <a:ext cx="1645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0273F"/>
                </a:solidFill>
                <a:latin typeface="Aptos"/>
              </a:defRPr>
            </a:pPr>
            <a:r>
              <a:t>RCD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022592" y="2578608"/>
            <a:ext cx="4389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5C6D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2240280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02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19" y="2450592"/>
            <a:ext cx="1645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0273F"/>
                </a:solidFill>
                <a:latin typeface="Aptos"/>
              </a:defRPr>
            </a:pPr>
            <a:r>
              <a:t>Dugalj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54311" y="2578608"/>
            <a:ext cx="43891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100" b="1">
                <a:solidFill>
                  <a:srgbClr val="5C6D7C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829800" y="2240280"/>
            <a:ext cx="18288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0273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21240" y="2450592"/>
            <a:ext cx="1645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0273F"/>
                </a:solidFill>
                <a:latin typeface="Aptos"/>
              </a:defRPr>
            </a:pPr>
            <a:r>
              <a:t>I. osztályú</a:t>
            </a:r>
            <a:br/>
            <a:r>
              <a:t>fogyasztó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88720" y="4251960"/>
            <a:ext cx="9784080" cy="73152"/>
          </a:xfrm>
          <a:prstGeom prst="rect">
            <a:avLst/>
          </a:prstGeom>
          <a:solidFill>
            <a:srgbClr val="2A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4069080"/>
            <a:ext cx="502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2A7D5F"/>
                </a:solidFill>
                <a:latin typeface="Aptos"/>
              </a:defRPr>
            </a:pPr>
            <a:r>
              <a:t>PE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926080" y="4800600"/>
            <a:ext cx="1828800" cy="384048"/>
          </a:xfrm>
          <a:prstGeom prst="roundRect">
            <a:avLst/>
          </a:prstGeom>
          <a:solidFill>
            <a:srgbClr val="2A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26080" y="481888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Földelés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4800600"/>
            <a:ext cx="1828800" cy="384048"/>
          </a:xfrm>
          <a:prstGeom prst="roundRect">
            <a:avLst/>
          </a:prstGeom>
          <a:solidFill>
            <a:srgbClr val="2A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0" y="481888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EPH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46120" y="4343400"/>
            <a:ext cx="182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A7D5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343400"/>
            <a:ext cx="1828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800" b="1">
                <a:solidFill>
                  <a:srgbClr val="2A7D5F"/>
                </a:solidFill>
                <a:latin typeface="Aptos"/>
              </a:defRPr>
            </a:pPr>
            <a:r>
              <a:t>↓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" y="647395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D7C"/>
                </a:solidFill>
                <a:latin typeface="Aptos"/>
              </a:defRPr>
            </a:pPr>
            <a:r>
              <a:t>IAP • Épületvillamossági hálózatok • 13. évfolyam • 4. hét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D7C"/>
                </a:solidFill>
                <a:latin typeface="Aptos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3657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1F6FAE"/>
                </a:solidFill>
                <a:latin typeface="Aptos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58368"/>
            <a:ext cx="1078992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700" b="1">
                <a:solidFill>
                  <a:srgbClr val="10273F"/>
                </a:solidFill>
                <a:latin typeface="Aptos Display"/>
              </a:defRPr>
            </a:pPr>
            <a:r>
              <a:t>A védelem rétegei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828800" cy="384048"/>
          </a:xfrm>
          <a:prstGeom prst="roundRect">
            <a:avLst/>
          </a:prstGeom>
          <a:solidFill>
            <a:srgbClr val="DA91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84708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Túláramvédelem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80360" y="1847088"/>
            <a:ext cx="79552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0273F"/>
                </a:solidFill>
                <a:latin typeface="Aptos"/>
              </a:defRPr>
            </a:pPr>
            <a:r>
              <a:t>A vezetéket és berendezést védi a veszélyes túláramoktól.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788920"/>
            <a:ext cx="1828800" cy="384048"/>
          </a:xfrm>
          <a:prstGeom prst="roundRect">
            <a:avLst/>
          </a:prstGeom>
          <a:solidFill>
            <a:srgbClr val="1F6FA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80720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RCD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360" y="2807208"/>
            <a:ext cx="79552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0273F"/>
                </a:solidFill>
                <a:latin typeface="Aptos"/>
              </a:defRPr>
            </a:pPr>
            <a:r>
              <a:t>Maradékáram alapján kiegészítő védelmi szerepet tölthet be.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749039"/>
            <a:ext cx="1828800" cy="384048"/>
          </a:xfrm>
          <a:prstGeom prst="roundRect">
            <a:avLst/>
          </a:prstGeom>
          <a:solidFill>
            <a:srgbClr val="2A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767327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PE + földelés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80360" y="3767327"/>
            <a:ext cx="79552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0273F"/>
                </a:solidFill>
                <a:latin typeface="Aptos"/>
              </a:defRPr>
            </a:pPr>
            <a:r>
              <a:t>A hibavédelem alapvető részei.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4709160"/>
            <a:ext cx="1828800" cy="384048"/>
          </a:xfrm>
          <a:prstGeom prst="roundRect">
            <a:avLst/>
          </a:prstGeom>
          <a:solidFill>
            <a:srgbClr val="2A7D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472744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EPH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80360" y="4727448"/>
            <a:ext cx="795527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1">
                <a:solidFill>
                  <a:srgbClr val="10273F"/>
                </a:solidFill>
                <a:latin typeface="Aptos"/>
              </a:defRPr>
            </a:pPr>
            <a:r>
              <a:t>Csökkenti a veszélyes potenciálkülönbségeket.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417320" y="5623560"/>
            <a:ext cx="9326880" cy="548640"/>
          </a:xfrm>
          <a:prstGeom prst="roundRect">
            <a:avLst/>
          </a:prstGeom>
          <a:solidFill>
            <a:srgbClr val="1027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0200" y="5724144"/>
            <a:ext cx="8961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Aptos"/>
              </a:defRPr>
            </a:pPr>
            <a:r>
              <a:t>„A villamos védelem akkor jó, ha a hiba esetén az előre megtervezett módon működik.”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6473952"/>
            <a:ext cx="98755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0">
                <a:solidFill>
                  <a:srgbClr val="5C6D7C"/>
                </a:solidFill>
                <a:latin typeface="Aptos"/>
              </a:defRPr>
            </a:pPr>
            <a:r>
              <a:t>IAP • Épületvillamossági hálózatok • 13. évfolyam • 4. hét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0" y="6455664"/>
            <a:ext cx="5486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5C6D7C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