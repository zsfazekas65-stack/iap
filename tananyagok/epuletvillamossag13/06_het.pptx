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ÉPÜLET-</a:t>
            </a:r>
            <a:br/>
            <a:r>
              <a:t>VILLAMOSSÁGI</a:t>
            </a:r>
            <a:br/>
            <a:r>
              <a:t>HÁLÓZATOK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703320"/>
            <a:ext cx="2240280" cy="393192"/>
          </a:xfrm>
          <a:prstGeom prst="roundRect">
            <a:avLst/>
          </a:prstGeom>
          <a:solidFill>
            <a:srgbClr val="3A8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76732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16 / 16 óra • záróóra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05156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Komplex összefoglalás</a:t>
            </a:r>
            <a:br/>
            <a:r>
              <a:t>és rendszertervezés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880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E2F3"/>
                </a:solidFill>
                <a:latin typeface="Aptos"/>
              </a:defRPr>
            </a:pPr>
            <a:r>
              <a:t>6. hét • 1 tanóra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0690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A szakember nem alkatrészeket lát –</a:t>
            </a:r>
            <a:br/>
            <a:r>
              <a:t>energiautat, védelmi láncot és működő rendszert lát.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RENDSZERSZEMLÉLET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teljes energiaút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A csatlakozástól a fogyasztóig minden elemnek meghatározott feladata van.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Közcélú</a:t>
            </a:r>
            <a:br/>
            <a:r>
              <a:t>hálózat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6192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1912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43784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3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Méretlen</a:t>
            </a:r>
            <a:br/>
            <a:r>
              <a:t>fővezeték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1376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Mérőhely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58968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Mért</a:t>
            </a:r>
            <a:br/>
            <a:r>
              <a:t>fővezeték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59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79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Alelosztó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81744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4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Végáramkör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3304" y="26700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89336" y="2331720"/>
            <a:ext cx="1051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35056" y="261518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73A5E"/>
                </a:solidFill>
                <a:latin typeface="Aptos"/>
              </a:defRPr>
            </a:pPr>
            <a:r>
              <a:t>Fogyasztó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4206240"/>
            <a:ext cx="9784080" cy="73152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440740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73A5E"/>
                </a:solidFill>
                <a:latin typeface="Aptos"/>
              </a:defRPr>
            </a:pPr>
            <a:r>
              <a:t>Ha az energia útját értjük, a dokumentálás és a hibakeresés is áttekinthetőbb.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VISSZATEKINTÉS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Mit tanultunk az első öt alkalommal?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64008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64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Hálózat felépítése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76479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27585"/>
                </a:solidFill>
                <a:latin typeface="Aptos"/>
              </a:defRPr>
            </a:pPr>
            <a:r>
              <a:t>energia útja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640080" cy="393192"/>
          </a:xfrm>
          <a:prstGeom prst="roundRect">
            <a:avLst/>
          </a:prstGeom>
          <a:solidFill>
            <a:srgbClr val="2C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1518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Csatlakozás és mérőhely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61518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27585"/>
                </a:solidFill>
                <a:latin typeface="Aptos"/>
              </a:defRPr>
            </a:pPr>
            <a:r>
              <a:t>méretlen / mért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38144"/>
            <a:ext cx="640080" cy="393192"/>
          </a:xfrm>
          <a:prstGeom prst="roundRect">
            <a:avLst/>
          </a:prstGeom>
          <a:solidFill>
            <a:srgbClr val="DC9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02151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6557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Elosztás és vezetékek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65575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27585"/>
                </a:solidFill>
                <a:latin typeface="Aptos"/>
              </a:defRPr>
            </a:pPr>
            <a:r>
              <a:t>funkcionális áramkörök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88536"/>
            <a:ext cx="640080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159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Villamos védelem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1596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27585"/>
                </a:solidFill>
                <a:latin typeface="Aptos"/>
              </a:defRPr>
            </a:pPr>
            <a:r>
              <a:t>RCD • PE • EPH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38928"/>
            <a:ext cx="64008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0293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66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Méretezési alapok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166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27585"/>
                </a:solidFill>
                <a:latin typeface="Aptos"/>
              </a:defRPr>
            </a:pPr>
            <a:r>
              <a:t>P → I → vezeték → védelem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RENDSZERTERVEZÉS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Az öt alapvető kérdés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Ezek mentén egy egyszerű hálózat terve szakmailag végiggondolható.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66928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37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Mit kell ellátnom?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fogyasztók • teljesítmény • fázisszám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66928" cy="393192"/>
          </a:xfrm>
          <a:prstGeom prst="roundRect">
            <a:avLst/>
          </a:prstGeom>
          <a:solidFill>
            <a:srgbClr val="2C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7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603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Hogyan jut el oda?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nyomvonal • fővezeték • elosztók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566928" cy="393192"/>
          </a:xfrm>
          <a:prstGeom prst="roundRect">
            <a:avLst/>
          </a:prstGeom>
          <a:solidFill>
            <a:srgbClr val="DC9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4728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83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Milyen vezetékrendszer?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típus • keresztmetszet • szerelési mód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566928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024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062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Hogyan védem?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túláram • RCD • PE • földelés • EPH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566928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9320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292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Hogyan igazolom?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2920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számítás • mérés • ellenőrzés • dokumentáció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KOMPLEX 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Egy korszerű családi ház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A fogyasztókat funkció és terhelés szerint külön végáramkörökre bontjuk.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057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B78B8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00200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691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Világítás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916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58568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C8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3500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Dugaljak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35000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916936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C9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00837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Konyha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0837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575304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366674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Tűzhely 3F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667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233672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43251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Bojler / klíma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3251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892040"/>
            <a:ext cx="2743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498347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Kültér / műhely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98347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2758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874519"/>
            <a:ext cx="3840480" cy="3383280"/>
          </a:xfrm>
          <a:prstGeom prst="roundRect">
            <a:avLst/>
          </a:prstGeom>
          <a:solidFill>
            <a:srgbClr val="E8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Minden áramkörnél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743200"/>
            <a:ext cx="265176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280720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218688"/>
            <a:ext cx="2651760" cy="393192"/>
          </a:xfrm>
          <a:prstGeom prst="roundRect">
            <a:avLst/>
          </a:prstGeom>
          <a:solidFill>
            <a:srgbClr val="2C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3282696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3694176"/>
            <a:ext cx="2651760" cy="393192"/>
          </a:xfrm>
          <a:prstGeom prst="roundRect">
            <a:avLst/>
          </a:prstGeom>
          <a:solidFill>
            <a:srgbClr val="DC9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758184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túláramvédelem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4169664"/>
            <a:ext cx="2651760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423367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RCD / 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4645152"/>
            <a:ext cx="265176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47091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feszültségesés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VILLÁMFELADAT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10 perces rendszerterv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Készíts blokkvázlatot – nem részletes kiviteli tervet.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29967"/>
            <a:ext cx="50292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93975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Csatlakozás + mérőhely + főelosztó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C8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029967"/>
            <a:ext cx="502920" cy="393192"/>
          </a:xfrm>
          <a:prstGeom prst="roundRect">
            <a:avLst/>
          </a:prstGeom>
          <a:solidFill>
            <a:srgbClr val="2C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93975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3911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Legalább 6 végáramkör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1752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9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264408"/>
            <a:ext cx="502920" cy="393192"/>
          </a:xfrm>
          <a:prstGeom prst="roundRect">
            <a:avLst/>
          </a:prstGeom>
          <a:solidFill>
            <a:srgbClr val="DC9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28415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7355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Legalább 1 háromfázisú fogyasztó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3264408"/>
            <a:ext cx="502920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28415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7355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Túláramvédelem + RCD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519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B4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498848"/>
            <a:ext cx="50292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6285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0799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N- és PE-rendszer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519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4498848"/>
            <a:ext cx="502920" cy="393192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56285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50799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173A5E"/>
                </a:solidFill>
                <a:latin typeface="Aptos"/>
              </a:defRPr>
            </a:pPr>
            <a:r>
              <a:t>Egy körnél: P → I → vezeték → védelem → ellenőrzés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GYORS SZÁMÍTÁS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3,45 kW • 230 V • közel ohmos fogyasztó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Az áram kiszámítása még nem jelenti a teljes méretezés végét.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965960"/>
            <a:ext cx="9966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B78B8"/>
                </a:solidFill>
                <a:latin typeface="Aptos"/>
              </a:defRPr>
            </a:pPr>
            <a:r>
              <a:t>I = P / 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627585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73A5E"/>
                </a:solidFill>
                <a:latin typeface="Aptos"/>
              </a:defRPr>
            </a:pPr>
            <a:r>
              <a:t>3450 / 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627585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441448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2C8464"/>
                </a:solidFill>
                <a:latin typeface="Aptos"/>
              </a:defRPr>
            </a:pPr>
            <a:r>
              <a:t>15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4617720"/>
            <a:ext cx="9052560" cy="658368"/>
          </a:xfrm>
          <a:prstGeom prst="roundRect">
            <a:avLst/>
          </a:prstGeom>
          <a:solidFill>
            <a:srgbClr val="E8F3FA"/>
          </a:solidFill>
          <a:ln>
            <a:solidFill>
              <a:srgbClr val="BC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478231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73A5E"/>
                </a:solidFill>
                <a:latin typeface="Aptos"/>
              </a:defRPr>
            </a:pPr>
            <a:r>
              <a:t>Ezután még: szerelési mód • terhelhetőség • ΔU • védelmi feltételek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78B8"/>
                </a:solidFill>
                <a:latin typeface="Aptos"/>
              </a:defRPr>
            </a:pPr>
            <a:r>
              <a:t>TÉMAKÖRZÁRÁS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részletekből rendszer lett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627585"/>
                </a:solidFill>
                <a:latin typeface="Aptos"/>
              </a:defRPr>
            </a:pPr>
            <a:r>
              <a:t>5 × 3 tanóra + 1 × 1 tanóra = 16 tanóra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828800" cy="39319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Energiaút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74519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csatlakozástól a fogyasztóig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1828800" cy="393192"/>
          </a:xfrm>
          <a:prstGeom prst="roundRect">
            <a:avLst/>
          </a:prstGeom>
          <a:solidFill>
            <a:srgbClr val="2C8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Elosztás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97479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funkcionális végáramkörök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1828800" cy="393192"/>
          </a:xfrm>
          <a:prstGeom prst="roundRect">
            <a:avLst/>
          </a:prstGeom>
          <a:solidFill>
            <a:srgbClr val="BC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520439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összehangolt védelmi lánc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1828800" cy="393192"/>
          </a:xfrm>
          <a:prstGeom prst="roundRect">
            <a:avLst/>
          </a:prstGeom>
          <a:solidFill>
            <a:srgbClr val="6B4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Méretezés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3434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3A5E"/>
                </a:solidFill>
                <a:latin typeface="Aptos"/>
              </a:defRPr>
            </a:pPr>
            <a:r>
              <a:t>terhelésből induló ellenőrzések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349240"/>
            <a:ext cx="9875520" cy="64008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504688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„A jó tervben minden vezetéknek útja, minden védelemnek oka, minden áramkörnek feladata van.”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27585"/>
                </a:solidFill>
                <a:latin typeface="Aptos"/>
              </a:defRPr>
            </a:pPr>
            <a:r>
              <a:t>IAP • Épületvillamossági hálózatok • 13. évfolyam • 6.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27585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