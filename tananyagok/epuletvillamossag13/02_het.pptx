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7724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ÉPÜLETVILLAMOSSÁGI</a:t>
            </a:r>
            <a:br/>
            <a:r>
              <a:t>HÁLÓZATOK</a:t>
            </a:r>
          </a:p>
          <a:p>
            <a:br/>
            <a:pPr>
              <a:defRPr sz="1300">
                <a:solidFill>
                  <a:srgbClr val="BEDAEE"/>
                </a:solidFill>
                <a:latin typeface="Aptos"/>
              </a:defRPr>
            </a:pPr>
            <a:r>
              <a:t>13. évfolyam • 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43000"/>
            <a:ext cx="7132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Csatlakozás,</a:t>
            </a:r>
            <a:br/>
            <a:r>
              <a:t>méretlen és mért fővezetékek,</a:t>
            </a:r>
            <a:br/>
            <a:r>
              <a:t>fogyasztásmérőhely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4160520"/>
            <a:ext cx="6583680" cy="914400"/>
          </a:xfrm>
          <a:prstGeom prst="roundRect">
            <a:avLst/>
          </a:prstGeom>
          <a:solidFill>
            <a:srgbClr val="EB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50" b="1">
                <a:solidFill>
                  <a:srgbClr val="2474B5"/>
                </a:solidFill>
                <a:latin typeface="Aptos Display"/>
              </a:defRPr>
            </a:pPr>
            <a:r>
              <a:t>A mérőhely egyszerre műszaki, biztonsági és elszámolási határterület.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Oktatási cél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Az épület csatlakozásának, a mért/méretlen hálózatrészeknek és a mérőhely szerepének áttekintése.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Energiaút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Közcélú hálózattól a főelosztóig.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Mérés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Fogyasztásmérőhely és elszámolási pont.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Azonosítás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Fővezetékek, PE, N, PEN és védelmek.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A csatlakozás szerepe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csatlakozás teremti meg az összeköttetést a közcélú elosztóhálózat és a felhasználási hely között.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Kialakítás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Légvezetékes vagy földkábeles megoldás.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Teljesítmény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szükséges csatlakozási teljesítmény több elem méretezését befolyásolja.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Fázisszám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Egy- vagy háromfázisú ellátás a várható terheléstől függ.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Méretlen hálózatrész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fogyasztásmérő előtti oldal: az energia még nem haladt át az elszámolási mérőn.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E78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8E31"/>
                </a:solidFill>
                <a:latin typeface="Aptos Display"/>
              </a:defRPr>
            </a:pPr>
            <a:r>
              <a:t>Korlátozott hozzáférés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Szabályozott, ellenőrizhető kialakítás.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Plombálhatóság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Illetéktelen beavatkozás megakadályozása.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Gondos nyomvonal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méretlen vezeték nyomvonala kiemelt figyelmet igényel.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Mérőhely és fogyasztásmérő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fogyasztásmérőhely a mérőberendezés és kapcsolódó elemei rendezett elhelyezése.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Hozzáférhető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Leolvasás, ellenőrzés és csere.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Védett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Mechanikai és villamos védelem.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Elszámolás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felhasznált energia tipikus mértékegysége: kWh.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Mért hálózatrész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fogyasztásmérő után kezdődik a mért oldal.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Mért fővezeték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mérőhelytől a főelosztóig továbbítja az energiát.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Főelosztó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Innen indul az épület villamos elosztása.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Végáramkörök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fogyasztókhoz vezető funkcionális hálózatrészek.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Vezeték és védelem együtt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vezeték és a túláramvédelmi készülék egymással összhangban működő rendszer.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E78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8E31"/>
                </a:solidFill>
                <a:latin typeface="Aptos Display"/>
              </a:defRPr>
            </a:pPr>
            <a:r>
              <a:t>Nem nagyobb = jobb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túl nagy névleges áramú védelem veszélyes lehet.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Vezetékvédelem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A védelem túlterhelés és zárlati hatás ellen dolgozik.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Ellenőrzés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Terhelhetőség, feszültségesés, szerelési mód és környezet.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PEN, PE és N a csatlakozásnál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csatlakozás környezetében PEN vezetővel is találkozhatunk.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E78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8E31"/>
                </a:solidFill>
                <a:latin typeface="Aptos Display"/>
              </a:defRPr>
            </a:pPr>
            <a:r>
              <a:t>PEN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Védelmi és üzemi funkciót egyesít.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PE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Védővezető.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N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Nullavezető. Szétválasztás után következetesen külön kell kezelni.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Energiaút a főelosztóig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szakembernek rajzról és a valóságban is követnie kell az energia útját.</a:t>
            </a:r>
          </a:p>
        </p:txBody>
      </p:sp>
      <p:sp>
        <p:nvSpPr>
          <p:cNvPr id="6" name="Chevron 5"/>
          <p:cNvSpPr/>
          <p:nvPr/>
        </p:nvSpPr>
        <p:spPr>
          <a:xfrm>
            <a:off x="731520" y="2331720"/>
            <a:ext cx="1465652" cy="86868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14314E"/>
                </a:solidFill>
                <a:latin typeface="Aptos"/>
              </a:defRPr>
            </a:pPr>
            <a:r>
              <a:t>Közcélú</a:t>
            </a:r>
            <a:br/>
            <a:r>
              <a:t>hálózat</a:t>
            </a:r>
          </a:p>
        </p:txBody>
      </p:sp>
      <p:sp>
        <p:nvSpPr>
          <p:cNvPr id="7" name="Chevron 6"/>
          <p:cNvSpPr/>
          <p:nvPr/>
        </p:nvSpPr>
        <p:spPr>
          <a:xfrm>
            <a:off x="2270324" y="2331720"/>
            <a:ext cx="1465652" cy="86868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14314E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8" name="Chevron 7"/>
          <p:cNvSpPr/>
          <p:nvPr/>
        </p:nvSpPr>
        <p:spPr>
          <a:xfrm>
            <a:off x="3809129" y="2331720"/>
            <a:ext cx="1465652" cy="86868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14314E"/>
                </a:solidFill>
                <a:latin typeface="Aptos"/>
              </a:defRPr>
            </a:pPr>
            <a:r>
              <a:t>Méretlen</a:t>
            </a:r>
            <a:br/>
            <a:r>
              <a:t>fővezeték</a:t>
            </a:r>
          </a:p>
        </p:txBody>
      </p:sp>
      <p:sp>
        <p:nvSpPr>
          <p:cNvPr id="9" name="Chevron 8"/>
          <p:cNvSpPr/>
          <p:nvPr/>
        </p:nvSpPr>
        <p:spPr>
          <a:xfrm>
            <a:off x="5347933" y="2331720"/>
            <a:ext cx="1465652" cy="86868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14314E"/>
                </a:solidFill>
                <a:latin typeface="Aptos"/>
              </a:defRPr>
            </a:pPr>
            <a:r>
              <a:t>Mérőhely</a:t>
            </a:r>
          </a:p>
        </p:txBody>
      </p:sp>
      <p:sp>
        <p:nvSpPr>
          <p:cNvPr id="10" name="Chevron 9"/>
          <p:cNvSpPr/>
          <p:nvPr/>
        </p:nvSpPr>
        <p:spPr>
          <a:xfrm>
            <a:off x="6886738" y="2331720"/>
            <a:ext cx="1465652" cy="86868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14314E"/>
                </a:solidFill>
                <a:latin typeface="Aptos"/>
              </a:defRPr>
            </a:pPr>
            <a:r>
              <a:t>Mérő</a:t>
            </a:r>
          </a:p>
        </p:txBody>
      </p:sp>
      <p:sp>
        <p:nvSpPr>
          <p:cNvPr id="11" name="Chevron 10"/>
          <p:cNvSpPr/>
          <p:nvPr/>
        </p:nvSpPr>
        <p:spPr>
          <a:xfrm>
            <a:off x="8425542" y="2331720"/>
            <a:ext cx="1465652" cy="868680"/>
          </a:xfrm>
          <a:prstGeom prst="chevron">
            <a:avLst/>
          </a:prstGeom>
          <a:solidFill>
            <a:srgbClr val="DCEDF8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14314E"/>
                </a:solidFill>
                <a:latin typeface="Aptos"/>
              </a:defRPr>
            </a:pPr>
            <a:r>
              <a:t>Mért</a:t>
            </a:r>
            <a:br/>
            <a:r>
              <a:t>fővezeték</a:t>
            </a:r>
          </a:p>
        </p:txBody>
      </p:sp>
      <p:sp>
        <p:nvSpPr>
          <p:cNvPr id="12" name="Chevron 11"/>
          <p:cNvSpPr/>
          <p:nvPr/>
        </p:nvSpPr>
        <p:spPr>
          <a:xfrm>
            <a:off x="9964347" y="2331720"/>
            <a:ext cx="1465652" cy="868680"/>
          </a:xfrm>
          <a:prstGeom prst="chevron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14314E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4160520"/>
            <a:ext cx="8229600" cy="100584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A lényeg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Ezt a láncot rajzon és a valós szerelésben is követni kell.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Egyszerű méretezési gondolat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Háromfázisú fogyasztási hely becsült egyidejű teljesítménye: 13,8 kW.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28800"/>
            <a:ext cx="8503920" cy="2011680"/>
          </a:xfrm>
          <a:prstGeom prst="roundRect">
            <a:avLst/>
          </a:prstGeom>
          <a:solidFill>
            <a:srgbClr val="EBF4FA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314E"/>
                </a:solidFill>
                <a:latin typeface="Aptos Display"/>
              </a:defRPr>
            </a:pPr>
            <a:r>
              <a:t>P = 13,8 kW      U = 400 V</a:t>
            </a:r>
          </a:p>
          <a:p>
            <a:pPr algn="ctr">
              <a:defRPr sz="1800" b="1">
                <a:solidFill>
                  <a:srgbClr val="14314E"/>
                </a:solidFill>
                <a:latin typeface="Aptos Display"/>
              </a:defRPr>
            </a:pPr>
            <a:r>
              <a:t>I ≈ P / (√3 × U)</a:t>
            </a:r>
          </a:p>
          <a:p>
            <a:pPr algn="ctr">
              <a:defRPr sz="2200" b="1">
                <a:solidFill>
                  <a:srgbClr val="2474B5"/>
                </a:solidFill>
                <a:latin typeface="Aptos Display"/>
              </a:defRPr>
            </a:pPr>
            <a:r>
              <a:t>I ≈ 13 800 / (1,732 × 400) ≈ 20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343400"/>
            <a:ext cx="6492240" cy="914400"/>
          </a:xfrm>
          <a:prstGeom prst="roundRect">
            <a:avLst/>
          </a:prstGeom>
          <a:solidFill>
            <a:srgbClr val="F8FBFD"/>
          </a:solidFill>
          <a:ln>
            <a:solidFill>
              <a:srgbClr val="E78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8E31"/>
                </a:solidFill>
                <a:latin typeface="Aptos Display"/>
              </a:defRPr>
            </a:pPr>
            <a:r>
              <a:t>Figyelem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Ez még nem teljes vezeték- vagy védelem-méretezés.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Műhelyfeladat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Rajzolj háromfázisú családi ház csatlakozási blokkvázlatot!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Jelöld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méretlen/mért rész, mérő, fővezetékek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Vezetők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L1, L2, L3, N, PE/PEN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E78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8E31"/>
                </a:solidFill>
                <a:latin typeface="Aptos Display"/>
              </a:defRPr>
            </a:pPr>
            <a:r>
              <a:t>Határ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szolgáltatói és felhasználói oldal elkülönítése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474B5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14E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584"/>
                </a:solidFill>
                <a:latin typeface="Aptos"/>
              </a:defRPr>
            </a:pPr>
            <a:r>
              <a:t>A biztonságos épületvillamossági hálózat már a csatlakozásnál és a mérőhelynél elkezdődik.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Csatlakozás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kapcsolat a közcélú hálózattal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4EA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4EA4D7"/>
                </a:solidFill>
                <a:latin typeface="Aptos Display"/>
              </a:defRPr>
            </a:pPr>
            <a:r>
              <a:t>Mérés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elszámolási és műszaki határ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65960"/>
            <a:ext cx="3383280" cy="2423160"/>
          </a:xfrm>
          <a:prstGeom prst="roundRect">
            <a:avLst/>
          </a:prstGeom>
          <a:solidFill>
            <a:srgbClr val="F8FBFD"/>
          </a:solidFill>
          <a:ln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474B5"/>
                </a:solidFill>
                <a:latin typeface="Aptos Display"/>
              </a:defRPr>
            </a:pPr>
            <a:r>
              <a:t>Méretezés</a:t>
            </a:r>
          </a:p>
          <a:p>
            <a:pPr>
              <a:spcBef>
                <a:spcPts val="500"/>
              </a:spcBef>
              <a:defRPr sz="1150">
                <a:solidFill>
                  <a:srgbClr val="1F2A33"/>
                </a:solidFill>
                <a:latin typeface="Aptos"/>
              </a:defRPr>
            </a:pPr>
            <a:r>
              <a:t>fővezeték + védelem + környezet együtt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46520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584"/>
                </a:solidFill>
                <a:latin typeface="Aptos"/>
              </a:defRPr>
            </a:pPr>
            <a:r>
              <a:t>IAP • Épületvillamossági hálózatok • 2. hét                  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