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33.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12648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E69130"/>
                </a:solidFill>
                <a:latin typeface="Aptos"/>
              </a:defRPr>
            </a:pPr>
            <a:r>
              <a:t>IPARI</a:t>
            </a:r>
            <a:br/>
            <a:r>
              <a:t>KIBERBIZTONSÁG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Industrial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6766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fenyegetések • szegmentálás • tűzfal • VPN • emberi tényező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2377440" cy="2468880"/>
          </a:xfrm>
          <a:prstGeom prst="roundRect">
            <a:avLst/>
          </a:prstGeom>
          <a:solidFill>
            <a:srgbClr val="1C3449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240280"/>
            <a:ext cx="17373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OT</a:t>
            </a:r>
            <a:br/>
            <a:r>
              <a:t>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Mit védünk?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Az automatizálási rendszer rendelkezésre állását, adatait és hozzáférését.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0632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514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C44444"/>
                </a:solidFill>
                <a:latin typeface="Aptos"/>
              </a:defRPr>
            </a:pPr>
            <a:r>
              <a:t>ILLETÉKTELEN</a:t>
            </a:r>
            <a:br/>
            <a:r>
              <a:t>HOZZÁFÉRÉS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0632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468880"/>
            <a:ext cx="2514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ADATLOPÁS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0632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468880"/>
            <a:ext cx="2514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69A0"/>
                </a:solidFill>
                <a:latin typeface="Aptos"/>
              </a:defRPr>
            </a:pPr>
            <a:r>
              <a:t>SZOLGÁLTATÁS-</a:t>
            </a:r>
            <a:br/>
            <a:r>
              <a:t>KIESÉS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166360"/>
            <a:ext cx="9326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A cél: az automatizálási rendszer biztonságos és folyamatos működése.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Fenyegetések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támadás technikai és emberi oldalról is érkezhet.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VÍRUS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19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ZSAROLÓVÍRUS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74519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ADATHALÁSZAT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JOGOSULATLAN</a:t>
            </a:r>
            <a:br/>
            <a:r>
              <a:t>HOZZÁFÉRÉS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794760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DoS TÁMADÁS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794760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GYENGE JELSZÓ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Védekezési lehetőségek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biztonság több, egymást erősítő intézkedésből áll.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ERŐS JELSZÓ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MFA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FRISSÍTÉSEK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VÍRUSVÉDELEM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MENTÉSEK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NAPLÓZÁS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Hálózati szegmentálás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Az IT, DMZ, SCADA és PLC hálózat elkülönítése lassítja vagy megállítja a támadás terjedését.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423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69A0"/>
                </a:solidFill>
                <a:latin typeface="Aptos"/>
              </a:defRPr>
            </a:pPr>
            <a:r>
              <a:t>IT HÁLÓZAT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088" y="2468880"/>
            <a:ext cx="320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C44444"/>
                </a:solidFill>
                <a:latin typeface="Aptos"/>
              </a:defRPr>
            </a:pPr>
            <a:r>
              <a:t>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423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606040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E69130"/>
                </a:solidFill>
                <a:latin typeface="Aptos"/>
              </a:defRPr>
            </a:pPr>
            <a:r>
              <a:t>DMZ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2468880"/>
            <a:ext cx="320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C44444"/>
                </a:solidFill>
                <a:latin typeface="Aptos"/>
              </a:defRPr>
            </a:pPr>
            <a:r>
              <a:t>|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2423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606040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6ACC4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468880"/>
            <a:ext cx="320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C44444"/>
                </a:solidFill>
                <a:latin typeface="Aptos"/>
              </a:defRPr>
            </a:pPr>
            <a:r>
              <a:t>|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828800"/>
            <a:ext cx="2423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606040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D9169"/>
                </a:solidFill>
                <a:latin typeface="Aptos"/>
              </a:defRPr>
            </a:pPr>
            <a:r>
              <a:t>PLC HÁLÓZAT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892040"/>
            <a:ext cx="4389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C44444"/>
                </a:solidFill>
                <a:latin typeface="Aptos"/>
              </a:defRPr>
            </a:pPr>
            <a:r>
              <a:t>BIZTONSÁGI HATÁROK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Tűzfal és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tűzfal a forgalmat szabályozza, a VPN titkosított távoli hozzáférést 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8346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1945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69A0"/>
                </a:solidFill>
                <a:latin typeface="Aptos"/>
              </a:defRPr>
            </a:pPr>
            <a:r>
              <a:t>TÁVOLI</a:t>
            </a:r>
            <a:br/>
            <a:r>
              <a:t>FELHASZNÁLÓ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606040"/>
            <a:ext cx="1188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D9169"/>
                </a:solidFill>
                <a:latin typeface="Aptos"/>
              </a:defRPr>
            </a:pPr>
            <a:r>
              <a:t>VPN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508760"/>
            <a:ext cx="25603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05740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C44444"/>
                </a:solidFill>
                <a:latin typeface="Aptos"/>
              </a:defRPr>
            </a:pPr>
            <a:r>
              <a:t>TŰZFAL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880360"/>
            <a:ext cx="1828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forgalom-</a:t>
            </a:r>
            <a:br/>
            <a:r>
              <a:t>szabályozás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60604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31720"/>
            <a:ext cx="2743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3D9169"/>
                </a:solidFill>
                <a:latin typeface="Aptos"/>
              </a:defRPr>
            </a:pPr>
            <a:r>
              <a:t>IPARI HÁLÓZAT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Az emberi tényező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technika önmagában nem elég: a tudatos felhasználó a védelem része.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0632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20116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369A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514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69A0"/>
                </a:solidFill>
                <a:latin typeface="Aptos"/>
              </a:defRPr>
            </a:pPr>
            <a:r>
              <a:t>TUDATOSSÁG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0632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0116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E6913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291840"/>
            <a:ext cx="2514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E69130"/>
                </a:solidFill>
                <a:latin typeface="Aptos"/>
              </a:defRPr>
            </a:pPr>
            <a:r>
              <a:t>OKTATÁS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0632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3D916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91840"/>
            <a:ext cx="2514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D9169"/>
                </a:solidFill>
                <a:latin typeface="Aptos"/>
              </a:defRPr>
            </a:pPr>
            <a:r>
              <a:t>SZABÁLYOK</a:t>
            </a:r>
            <a:br/>
            <a:r>
              <a:t>BETARTÁSA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212080"/>
            <a:ext cx="8595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A legjobb védelem is gyengül, ha a felhasználó megkerüli.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Biztonságos ipari hálózat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IT → tűzfal → DMZ → tűzfal → SCADA / PLC.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828800"/>
            <a:ext cx="1600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369A0"/>
                </a:solidFill>
                <a:latin typeface="Aptos"/>
              </a:defRPr>
            </a:pPr>
            <a:r>
              <a:t>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56032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828800"/>
            <a:ext cx="1600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C44444"/>
                </a:solidFill>
                <a:latin typeface="Aptos"/>
              </a:defRPr>
            </a:pPr>
            <a:r>
              <a:t>TŰZFAL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56032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23944" y="1828800"/>
            <a:ext cx="1600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5384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E69130"/>
                </a:solidFill>
                <a:latin typeface="Aptos"/>
              </a:defRPr>
            </a:pPr>
            <a:r>
              <a:t>DMZ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256032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828800"/>
            <a:ext cx="1600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C44444"/>
                </a:solidFill>
                <a:latin typeface="Aptos"/>
              </a:defRPr>
            </a:pPr>
            <a:r>
              <a:t>TŰZFAL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56032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8" y="1828800"/>
            <a:ext cx="1600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6ACC4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256032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828800"/>
            <a:ext cx="1600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D9169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343400"/>
            <a:ext cx="1463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VPN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6400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Biztonsági határok és szabályozott adatáramlás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Rajzolj biztonságos ipari hálózatot, és jelöld a biztonsági határokat!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331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9659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IT</a:t>
            </a:r>
            <a:br/>
            <a:r>
              <a:t>HÁLÓZAT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79" y="265176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1737360"/>
            <a:ext cx="2331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423160"/>
            <a:ext cx="19659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DMZ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65176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37360"/>
            <a:ext cx="2331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423160"/>
            <a:ext cx="19659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6ACC4"/>
                </a:solidFill>
                <a:latin typeface="Aptos"/>
              </a:defRPr>
            </a:pPr>
            <a:r>
              <a:t>SCADA</a:t>
            </a:r>
            <a:br/>
            <a:r>
              <a:t>SZERVER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1737360"/>
            <a:ext cx="2331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999" y="2423160"/>
            <a:ext cx="19659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PLC</a:t>
            </a:r>
            <a:br/>
            <a:r>
              <a:t>HÁLÓZAT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572000"/>
            <a:ext cx="3474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75488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C44444"/>
                </a:solidFill>
                <a:latin typeface="Aptos"/>
              </a:defRPr>
            </a:pPr>
            <a:r>
              <a:t>TŰZFAL + VPN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623560"/>
            <a:ext cx="8412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02336"/>
                </a:solidFill>
                <a:latin typeface="Aptos"/>
              </a:defRPr>
            </a:pPr>
            <a:r>
              <a:t>Jelöld az adatáramlás irányát és a védelmi pontokat.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A BIZTONSÁG FOLYAMAT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69130"/>
                </a:solidFill>
                <a:latin typeface="Aptos"/>
              </a:defRPr>
            </a:pPr>
            <a:r>
              <a:t>technológia + szervezet + tudatos felhasználó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„A biztonság nem egy egyszeri beállítás, hanem folyamatos szemlélet és mindennapi gyakorlat.”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33.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