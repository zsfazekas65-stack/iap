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e321e4d0bcc4390" /><Relationship Type="http://schemas.openxmlformats.org/officeDocument/2006/relationships/extended-properties" Target="/docProps/app.xml" Id="Rb796e12122874ffb" /><Relationship Type="http://schemas.openxmlformats.org/officeDocument/2006/relationships/officeDocument" Target="/ppt/presentation.xml" Id="R811719e7a61b41d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2a86753799b4307"/>
  </p:sldMasterIdLst>
  <p:notesMasterIdLst>
    <p:notesMasterId xmlns:r="http://schemas.openxmlformats.org/officeDocument/2006/relationships" r:id="R9b608241dcb54f20"/>
  </p:notesMasterIdLst>
  <p:sldIdLst>
    <p:sldId xmlns:r="http://schemas.openxmlformats.org/officeDocument/2006/relationships" id="256" r:id="Rb9e648b7229348cc"/>
    <p:sldId xmlns:r="http://schemas.openxmlformats.org/officeDocument/2006/relationships" id="257" r:id="R7e44b7cd436243b0"/>
    <p:sldId xmlns:r="http://schemas.openxmlformats.org/officeDocument/2006/relationships" id="258" r:id="R21b2c4afab944ff2"/>
    <p:sldId xmlns:r="http://schemas.openxmlformats.org/officeDocument/2006/relationships" id="259" r:id="Rda969208ad1f48ce"/>
    <p:sldId xmlns:r="http://schemas.openxmlformats.org/officeDocument/2006/relationships" id="260" r:id="Rbcdeba801dda4f2c"/>
    <p:sldId xmlns:r="http://schemas.openxmlformats.org/officeDocument/2006/relationships" id="261" r:id="Rfcb6aaa42b1f484e"/>
    <p:sldId xmlns:r="http://schemas.openxmlformats.org/officeDocument/2006/relationships" id="262" r:id="R46defd050d2049e8"/>
    <p:sldId xmlns:r="http://schemas.openxmlformats.org/officeDocument/2006/relationships" id="263" r:id="R3d0fe9aa5f4a44c2"/>
    <p:sldId xmlns:r="http://schemas.openxmlformats.org/officeDocument/2006/relationships" id="264" r:id="R462b652c3751482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2f4a536d95f4da5" /><Relationship Type="http://schemas.openxmlformats.org/officeDocument/2006/relationships/slideMaster" Target="/ppt/slideMasters/slideMaster1.xml" Id="R02a86753799b4307" /><Relationship Type="http://schemas.openxmlformats.org/officeDocument/2006/relationships/notesMaster" Target="/ppt/notesMasters/notesMaster1.xml" Id="R9b608241dcb54f20" /><Relationship Type="http://schemas.openxmlformats.org/officeDocument/2006/relationships/presProps" Target="/ppt/presProps.xml" Id="R1df70d3a6adf4a8f" /><Relationship Type="http://schemas.openxmlformats.org/officeDocument/2006/relationships/tableStyles" Target="/ppt/tableStyles.xml" Id="Rbf001107ce364e05" /><Relationship Type="http://schemas.openxmlformats.org/officeDocument/2006/relationships/slide" Target="/ppt/slides/slide1.xml" Id="Rb9e648b7229348cc" /><Relationship Type="http://schemas.openxmlformats.org/officeDocument/2006/relationships/slide" Target="/ppt/slides/slide2.xml" Id="R7e44b7cd436243b0" /><Relationship Type="http://schemas.openxmlformats.org/officeDocument/2006/relationships/slide" Target="/ppt/slides/slide3.xml" Id="R21b2c4afab944ff2" /><Relationship Type="http://schemas.openxmlformats.org/officeDocument/2006/relationships/slide" Target="/ppt/slides/slide4.xml" Id="Rda969208ad1f48ce" /><Relationship Type="http://schemas.openxmlformats.org/officeDocument/2006/relationships/slide" Target="/ppt/slides/slide5.xml" Id="Rbcdeba801dda4f2c" /><Relationship Type="http://schemas.openxmlformats.org/officeDocument/2006/relationships/slide" Target="/ppt/slides/slide6.xml" Id="Rfcb6aaa42b1f484e" /><Relationship Type="http://schemas.openxmlformats.org/officeDocument/2006/relationships/slide" Target="/ppt/slides/slide7.xml" Id="R46defd050d2049e8" /><Relationship Type="http://schemas.openxmlformats.org/officeDocument/2006/relationships/slide" Target="/ppt/slides/slide8.xml" Id="R3d0fe9aa5f4a44c2" /><Relationship Type="http://schemas.openxmlformats.org/officeDocument/2006/relationships/slide" Target="/ppt/slides/slide9.xml" Id="R462b652c3751482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a0f710a381d42e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5a8604ae8ac42b4" /><Relationship Type="http://schemas.openxmlformats.org/officeDocument/2006/relationships/notesMaster" Target="/ppt/notesMasters/notesMaster1.xml" Id="Rda59c8b13d7f417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61ba3ee5ea74934" /><Relationship Type="http://schemas.openxmlformats.org/officeDocument/2006/relationships/notesMaster" Target="/ppt/notesMasters/notesMaster1.xml" Id="R867fc205829a416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a154d885059408e" /><Relationship Type="http://schemas.openxmlformats.org/officeDocument/2006/relationships/notesMaster" Target="/ppt/notesMasters/notesMaster1.xml" Id="R360f44557fd3438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de2f30e4529435a" /><Relationship Type="http://schemas.openxmlformats.org/officeDocument/2006/relationships/notesMaster" Target="/ppt/notesMasters/notesMaster1.xml" Id="R9c6fcaa76736438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5a2c02186fd426c" /><Relationship Type="http://schemas.openxmlformats.org/officeDocument/2006/relationships/notesMaster" Target="/ppt/notesMasters/notesMaster1.xml" Id="R7679cf94adcb4ea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6f082e191334dd3" /><Relationship Type="http://schemas.openxmlformats.org/officeDocument/2006/relationships/notesMaster" Target="/ppt/notesMasters/notesMaster1.xml" Id="Reba01bcb3ac6471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fd1dbfc886b44ec" /><Relationship Type="http://schemas.openxmlformats.org/officeDocument/2006/relationships/notesMaster" Target="/ppt/notesMasters/notesMaster1.xml" Id="R9aebc2860b7b46b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0b24c2e033b4bd4" /><Relationship Type="http://schemas.openxmlformats.org/officeDocument/2006/relationships/notesMaster" Target="/ppt/notesMasters/notesMaster1.xml" Id="R36e03a25612642a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5f54fc655fe415d" /><Relationship Type="http://schemas.openxmlformats.org/officeDocument/2006/relationships/notesMaster" Target="/ppt/notesMasters/notesMaster1.xml" Id="Rec4c662c08e7461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Heti cél: műszerválasztás és a mérési eltérés értelmezése.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- 14.Meromuszerek_es_meresi_hibak.docx (felhasználói forrás)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Hasonlítsuk össze a két műszert azonos mérési ponton.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- 14.Meromuszerek_es_meresi_hibak.docx (felhasználói forrás)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felbontást és a pontosságot külön fogalomként rögzítsük.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- 14.Meromuszerek_es_meresi_hibak.docx (felhasználói forrás)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Az előjel irányt, az abszolút érték az eltérés nagyságát adja.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- 14.Meromuszerek_es_meresi_hibak.docx (felhasználói forrás)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nevezőben a referenciaérték abszolút értékét használjuk.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- 14.Meromuszerek_es_meresi_hibak.docx (felhasználói forrás)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Kérjünk a tanulóktól egy-egy gyakorlati példát mindhárom csoportra.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- 14.Meromuszerek_es_meresi_hibak.docx (felhasználói forrás)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Mutassuk meg a tükörskála helyes használatát.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- 14.Meromuszerek_es_meresi_hibak.docx (felhasználói forrás)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Csak törpefeszültségű egyenáramú tápegységet használjunk.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- 14.Meromuszerek_es_meresi_hibak.docx (felhasználói forrás)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Zárásként értelmezzük újra a 12,00 V és 11,88 V példát.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- 14.Meromuszerek_es_meresi_hibak.docx (felhasználói forrás)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62f7ee8c254c9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25ba0774eca46f0" /><Relationship Type="http://schemas.openxmlformats.org/officeDocument/2006/relationships/slideLayout" Target="/ppt/slideLayouts/slideLayout1.xml" Id="R848682477da144a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48682477da144a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cd7544f044427d" /><Relationship Type="http://schemas.openxmlformats.org/officeDocument/2006/relationships/notesSlide" Target="/ppt/notesSlides/notesSlide1.xml" Id="R08cd69ba0d52445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d73cfcd6a642ec" /><Relationship Type="http://schemas.openxmlformats.org/officeDocument/2006/relationships/notesSlide" Target="/ppt/notesSlides/notesSlide2.xml" Id="R01a279020aa44f4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899b962ca04aa1" /><Relationship Type="http://schemas.openxmlformats.org/officeDocument/2006/relationships/notesSlide" Target="/ppt/notesSlides/notesSlide3.xml" Id="R169f009df630470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28972816874f42" /><Relationship Type="http://schemas.openxmlformats.org/officeDocument/2006/relationships/notesSlide" Target="/ppt/notesSlides/notesSlide4.xml" Id="Ra2706d52e07c4e2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8b04b57ed24bf6" /><Relationship Type="http://schemas.openxmlformats.org/officeDocument/2006/relationships/notesSlide" Target="/ppt/notesSlides/notesSlide5.xml" Id="R57d4b6c0f2e04fd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3c019579174e4b" /><Relationship Type="http://schemas.openxmlformats.org/officeDocument/2006/relationships/notesSlide" Target="/ppt/notesSlides/notesSlide6.xml" Id="R0dfee5679adc45f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a8b4782a8246e4" /><Relationship Type="http://schemas.openxmlformats.org/officeDocument/2006/relationships/notesSlide" Target="/ppt/notesSlides/notesSlide7.xml" Id="Rd8a629eef6f8436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a42314a9a54328" /><Relationship Type="http://schemas.openxmlformats.org/officeDocument/2006/relationships/notesSlide" Target="/ppt/notesSlides/notesSlide8.xml" Id="Rf71a6e954c8547c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f5e2e0867646f4" /><Relationship Type="http://schemas.openxmlformats.org/officeDocument/2006/relationships/notesSlide" Target="/ppt/notesSlides/notesSlide9.xml" Id="R56bb37ca78d541b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355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98E6BB-9769-4693-B09D-19BD9A66A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9C6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79C6FF"/>
                </a:solidFill>
                <a:latin typeface="Arial"/>
                <a:ea typeface="Arial"/>
                <a:cs typeface="Arial"/>
              </a:rPr>
              <a:t>IAP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C9FD81-4587-42E0-9F1C-FABB6B38A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7620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Mérőműszerek és</a:t>
            </a:r>
          </a:p>
          <a:p xmlns:a="http://schemas.openxmlformats.org/drawingml/2006/main">
            <a:pPr algn="l">
              <a:defRPr sz="4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mérési hibák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AABC2B-88E4-4304-933F-4ACEA9641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71875"/>
            <a:ext cx="742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FDF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FDFFF"/>
                </a:solidFill>
                <a:latin typeface="Arial"/>
                <a:ea typeface="Arial"/>
                <a:cs typeface="Arial"/>
              </a:rPr>
              <a:t>14. hét • Villamos alapismeretek • 10. évfolyam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FA0915-3414-4C73-8937-372AF1042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0"/>
            <a:ext cx="3429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5FB795-D889-462A-8B72-DB9FD38DD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666875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Δx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2EDE93-4B4E-41F0-9187-79C03086B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714625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E4C5B9-407F-43AE-A304-4E62F1AC1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905250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pontosság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CA20AD-D6E6-4EC6-8990-A03B13A0F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7620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mérési eredmény értéke a bizonytalanságával együtt teljes.</a:t>
            </a:r>
          </a:p>
        </p:txBody>
      </p:sp>
    </p:spTree>
    <p:extLst>
      <p:ext uri="{BB962C8B-B14F-4D97-AF65-F5344CB8AC3E}">
        <p14:creationId xmlns:p14="http://schemas.microsoft.com/office/powerpoint/2010/main" val="201960396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679015-C068-40B0-8C2D-08E5F5130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Analóg vagy digitális? A feladat dönti 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EAEF45-CF0D-4C64-BA5B-15D60E392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572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2697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2697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3188E9-34E7-4859-A50F-4399FBAA9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9062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8D8"/>
          </a:solidFill>
          <a:ln xmlns:a="http://schemas.openxmlformats.org/drawingml/2006/main" w="9525">
            <a:solidFill>
              <a:srgbClr val="B8C8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12E7CD-B777-4FFF-AE64-17644E6EB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3333750" cy="3286125"/>
          </a:xfrm>
          <a:prstGeom xmlns:a="http://schemas.openxmlformats.org/drawingml/2006/main" prst="roundRect">
            <a:avLst>
              <a:gd name="adj" fmla="val 2319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9525">
            <a:solidFill>
              <a:srgbClr val="EEF3F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B93E10-1604-44B6-810C-851FE15AE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14312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2697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2697D"/>
                </a:solidFill>
                <a:latin typeface="Arial"/>
                <a:ea typeface="Arial"/>
                <a:cs typeface="Arial"/>
              </a:rPr>
              <a:t>ANALÓG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A89E86-6175-4C23-BB77-283752AEB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857500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mutató + skála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2DFD74-6C40-42CB-B5C1-B7E80697D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0957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E7D6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E7D64"/>
                </a:solidFill>
                <a:latin typeface="Arial"/>
                <a:ea typeface="Arial"/>
                <a:cs typeface="Arial"/>
              </a:rPr>
              <a:t>változás jól követhető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4E8F04-5E9C-453E-93FA-26D7BF34C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809750"/>
            <a:ext cx="3333750" cy="3286125"/>
          </a:xfrm>
          <a:prstGeom xmlns:a="http://schemas.openxmlformats.org/drawingml/2006/main" prst="roundRect">
            <a:avLst>
              <a:gd name="adj" fmla="val 2319"/>
            </a:avLst>
          </a:prstGeom>
          <a:solidFill xmlns:a="http://schemas.openxmlformats.org/drawingml/2006/main">
            <a:srgbClr val="D9EEFF"/>
          </a:solidFill>
          <a:ln xmlns:a="http://schemas.openxmlformats.org/drawingml/2006/main" w="9525">
            <a:solidFill>
              <a:srgbClr val="D9EE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DEE447-FDBA-4454-90E3-A73FAAA67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14312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2697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2697D"/>
                </a:solidFill>
                <a:latin typeface="Arial"/>
                <a:ea typeface="Arial"/>
                <a:cs typeface="Arial"/>
              </a:rPr>
              <a:t>DIGITÁLIS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C5DFB7-6008-4ACD-A402-C8BA2057E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857500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976D2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976D2"/>
                </a:solidFill>
                <a:latin typeface="Arial"/>
                <a:ea typeface="Arial"/>
                <a:cs typeface="Arial"/>
              </a:rPr>
              <a:t>számkijelzés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88CFC6-0235-4EF6-94C4-0F8384896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0957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E7D6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E7D64"/>
                </a:solidFill>
                <a:latin typeface="Arial"/>
                <a:ea typeface="Arial"/>
                <a:cs typeface="Arial"/>
              </a:rPr>
              <a:t>gyors és könnyen leolvasható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D793A5-75B5-4A1B-A669-8FE1F073F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09750"/>
            <a:ext cx="3333750" cy="3286125"/>
          </a:xfrm>
          <a:prstGeom xmlns:a="http://schemas.openxmlformats.org/drawingml/2006/main" prst="roundRect">
            <a:avLst>
              <a:gd name="adj" fmla="val 2319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9525">
            <a:solidFill>
              <a:srgbClr val="EEF3F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748528-5676-428E-814F-9E3190FD8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14312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2697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2697D"/>
                </a:solidFill>
                <a:latin typeface="Arial"/>
                <a:ea typeface="Arial"/>
                <a:cs typeface="Arial"/>
              </a:rPr>
              <a:t>VÁLASZTÁS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F3BC29-F2A1-4601-B499-BD0EC06D3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857500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tartomány + pontosság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B006E9-425C-43AD-9431-8D5E108BF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0957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E7D6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E7D64"/>
                </a:solidFill>
                <a:latin typeface="Arial"/>
                <a:ea typeface="Arial"/>
                <a:cs typeface="Arial"/>
              </a:rPr>
              <a:t>a mérési célhoz illesztve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3EB42C-45D6-4171-8072-9FB2B99A0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72125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A kijelzés módja önmagában nem mondja meg, melyik műszer pontosabb.</a:t>
            </a:r>
          </a:p>
        </p:txBody>
      </p:sp>
    </p:spTree>
    <p:extLst>
      <p:ext uri="{BB962C8B-B14F-4D97-AF65-F5344CB8AC3E}">
        <p14:creationId xmlns:p14="http://schemas.microsoft.com/office/powerpoint/2010/main" val="124001961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EB7DAB-717D-4E82-84B9-A99E77D7D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A pontosság nem azonos a felbontással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3EF06F-53EB-4BCE-880C-E4976C8E0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572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2697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2697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DF3341-E2DF-4BB6-92EA-D72C3D260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9062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8D8"/>
          </a:solidFill>
          <a:ln xmlns:a="http://schemas.openxmlformats.org/drawingml/2006/main" w="9525">
            <a:solidFill>
              <a:srgbClr val="B8C8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536134-3EED-413C-8190-AD9727FEC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3333750" cy="3286125"/>
          </a:xfrm>
          <a:prstGeom xmlns:a="http://schemas.openxmlformats.org/drawingml/2006/main" prst="roundRect">
            <a:avLst>
              <a:gd name="adj" fmla="val 2319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9525">
            <a:solidFill>
              <a:srgbClr val="EEF3F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AD333C-F0B6-48F6-BF2B-FD3017CFC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14312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2697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2697D"/>
                </a:solidFill>
                <a:latin typeface="Arial"/>
                <a:ea typeface="Arial"/>
                <a:cs typeface="Arial"/>
              </a:rPr>
              <a:t>FELBONTÁS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A46CF3-4E43-4AE9-A779-A7FE325AD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857500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legkisebb kijelzett lépés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9756D3-5650-470F-BE18-B3CA51E21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0957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E7D6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E7D64"/>
                </a:solidFill>
                <a:latin typeface="Arial"/>
                <a:ea typeface="Arial"/>
                <a:cs typeface="Arial"/>
              </a:rPr>
              <a:t>például 0,01 V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EE25A7-BB57-4C7A-844E-99B30690B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809750"/>
            <a:ext cx="3333750" cy="3286125"/>
          </a:xfrm>
          <a:prstGeom xmlns:a="http://schemas.openxmlformats.org/drawingml/2006/main" prst="roundRect">
            <a:avLst>
              <a:gd name="adj" fmla="val 2319"/>
            </a:avLst>
          </a:prstGeom>
          <a:solidFill xmlns:a="http://schemas.openxmlformats.org/drawingml/2006/main">
            <a:srgbClr val="D9EEFF"/>
          </a:solidFill>
          <a:ln xmlns:a="http://schemas.openxmlformats.org/drawingml/2006/main" w="9525">
            <a:solidFill>
              <a:srgbClr val="D9EE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0FC165-2C11-4B6C-9B73-B3DA15EC2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14312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2697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2697D"/>
                </a:solidFill>
                <a:latin typeface="Arial"/>
                <a:ea typeface="Arial"/>
                <a:cs typeface="Arial"/>
              </a:rPr>
              <a:t>PONTOSSÁG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A4087D-64FB-4E80-9E4E-6F89C3A4E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857500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976D2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976D2"/>
                </a:solidFill>
                <a:latin typeface="Arial"/>
                <a:ea typeface="Arial"/>
                <a:cs typeface="Arial"/>
              </a:rPr>
              <a:t>közelség a referenciaértékhez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CE1749-9502-484D-BDFE-39FBD67E4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0957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E7D6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E7D64"/>
                </a:solidFill>
                <a:latin typeface="Arial"/>
                <a:ea typeface="Arial"/>
                <a:cs typeface="Arial"/>
              </a:rPr>
              <a:t>a hibahatár írja 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3C9DF0-A9A7-4B32-875D-F1EBB2A63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09750"/>
            <a:ext cx="3333750" cy="3286125"/>
          </a:xfrm>
          <a:prstGeom xmlns:a="http://schemas.openxmlformats.org/drawingml/2006/main" prst="roundRect">
            <a:avLst>
              <a:gd name="adj" fmla="val 2319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9525">
            <a:solidFill>
              <a:srgbClr val="EEF3F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4DDEC4-3C52-4123-A043-227C06ABD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14312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2697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2697D"/>
                </a:solidFill>
                <a:latin typeface="Arial"/>
                <a:ea typeface="Arial"/>
                <a:cs typeface="Arial"/>
              </a:rPr>
              <a:t>MÉRÉSHATÁR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3634C2-7421-4055-B486-3382EAE26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857500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mérhető legnagyobb érték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AE5174-7630-4EF2-AC41-9D3C2281F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0957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E7D6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E7D64"/>
                </a:solidFill>
                <a:latin typeface="Arial"/>
                <a:ea typeface="Arial"/>
                <a:cs typeface="Arial"/>
              </a:rPr>
              <a:t>biztonságos tartomány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47DF98-990F-42A6-8C14-FC2707D30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72125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B53A3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B53A3A"/>
                </a:solidFill>
                <a:latin typeface="Arial"/>
                <a:ea typeface="Arial"/>
                <a:cs typeface="Arial"/>
              </a:rPr>
              <a:t>Sok számjegy ≠ automatikusan kis mérési hiba.</a:t>
            </a:r>
          </a:p>
        </p:txBody>
      </p:sp>
    </p:spTree>
    <p:extLst>
      <p:ext uri="{BB962C8B-B14F-4D97-AF65-F5344CB8AC3E}">
        <p14:creationId xmlns:p14="http://schemas.microsoft.com/office/powerpoint/2010/main" val="19090366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C31530-65A0-48A0-9304-0219E0C4A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Az abszolút hiba előjeles eltérés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E84BD6-A31C-4B06-8330-F67505D0E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572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2697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2697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CBFDF2-61DC-40EB-A137-2E0D33376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9062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8D8"/>
          </a:solidFill>
          <a:ln xmlns:a="http://schemas.openxmlformats.org/drawingml/2006/main" w="9525">
            <a:solidFill>
              <a:srgbClr val="B8C8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13CD3A-13DD-433A-92ED-5A9450308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62125"/>
            <a:ext cx="10477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9525">
            <a:solidFill>
              <a:srgbClr val="EEF3F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0E8D37-EA35-44E9-B485-A0FB65364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52625"/>
            <a:ext cx="990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Referenciaérték: 12,00 V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FAD836-07A2-49F3-8476-C4AB86D36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0375"/>
            <a:ext cx="10477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D9EEFF"/>
          </a:solidFill>
          <a:ln xmlns:a="http://schemas.openxmlformats.org/drawingml/2006/main" w="9525">
            <a:solidFill>
              <a:srgbClr val="D9EE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4C6CF3-DE8E-49A7-90AB-039E6FDD9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90875"/>
            <a:ext cx="990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976D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976D2"/>
                </a:solidFill>
                <a:latin typeface="Arial"/>
                <a:ea typeface="Arial"/>
                <a:cs typeface="Arial"/>
              </a:rPr>
              <a:t>Mért érték: 11,88 V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A052A1-CE55-4599-AB5C-47F484237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1487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2E7D64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E7D64"/>
                </a:solidFill>
                <a:latin typeface="Arial"/>
                <a:ea typeface="Arial"/>
                <a:cs typeface="Arial"/>
              </a:rPr>
              <a:t>Δx = xmért − xref = 11,88 − 12,00 = −0,12 V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28B951-9CC5-47BD-99FD-A2BD45FCA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19750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52697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2697D"/>
                </a:solidFill>
                <a:latin typeface="Arial"/>
                <a:ea typeface="Arial"/>
                <a:cs typeface="Arial"/>
              </a:rPr>
              <a:t>A negatív előjel azt mutatja, hogy a műszer kevesebbet jelez.</a:t>
            </a:r>
          </a:p>
        </p:txBody>
      </p:sp>
    </p:spTree>
    <p:extLst>
      <p:ext uri="{BB962C8B-B14F-4D97-AF65-F5344CB8AC3E}">
        <p14:creationId xmlns:p14="http://schemas.microsoft.com/office/powerpoint/2010/main" val="73028475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A5B22D-1002-4EF2-B320-D702C3B89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A relatív hiba összehasonlíthatóvá teszi az eltérést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BFC36A-4478-4B31-833E-1F89290CE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572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2697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2697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5BC3CB-F236-4F06-A389-240C8F6E8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9062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8D8"/>
          </a:solidFill>
          <a:ln xmlns:a="http://schemas.openxmlformats.org/drawingml/2006/main" w="9525">
            <a:solidFill>
              <a:srgbClr val="B8C8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FCF012-0FDB-4839-AFFE-66784CA10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62125"/>
            <a:ext cx="10287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D9EEFF"/>
          </a:solidFill>
          <a:ln xmlns:a="http://schemas.openxmlformats.org/drawingml/2006/main" w="9525">
            <a:solidFill>
              <a:srgbClr val="D9EE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9AA448-889B-4238-91CB-5D9619D05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00250"/>
            <a:ext cx="971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1976D2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976D2"/>
                </a:solidFill>
                <a:latin typeface="Arial"/>
                <a:ea typeface="Arial"/>
                <a:cs typeface="Arial"/>
              </a:rPr>
              <a:t>δ = |Δx| / |xref| × 100%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E7D632-8639-4F36-91F2-FFAEC4D60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38500"/>
            <a:ext cx="10287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9525">
            <a:solidFill>
              <a:srgbClr val="EEF3F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EEF5BA-6013-44E5-BF73-2CC70FB4F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76625"/>
            <a:ext cx="971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δ = 0,12 / 12,00 × 100% = 1,0%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BC2B33-CBB3-4C0C-9B9E-6572FA83A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81625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E7D6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E7D64"/>
                </a:solidFill>
                <a:latin typeface="Arial"/>
                <a:ea typeface="Arial"/>
                <a:cs typeface="Arial"/>
              </a:rPr>
              <a:t>A százalékos hiba különböző nagyságú mérések között is értelmezhető.</a:t>
            </a:r>
          </a:p>
        </p:txBody>
      </p:sp>
    </p:spTree>
    <p:extLst>
      <p:ext uri="{BB962C8B-B14F-4D97-AF65-F5344CB8AC3E}">
        <p14:creationId xmlns:p14="http://schemas.microsoft.com/office/powerpoint/2010/main" val="165604313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B690DB-0EE3-4CF1-BADB-2ADCC0AA5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A hiba eredete alapján három csoportot különítünk 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37E2E8-4064-4740-96BC-96D19077B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572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2697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2697D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BC899A-472C-44A8-866E-94B14D7B5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9062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8D8"/>
          </a:solidFill>
          <a:ln xmlns:a="http://schemas.openxmlformats.org/drawingml/2006/main" w="9525">
            <a:solidFill>
              <a:srgbClr val="B8C8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DB752E-7608-412A-B046-11C026518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3333750" cy="3286125"/>
          </a:xfrm>
          <a:prstGeom xmlns:a="http://schemas.openxmlformats.org/drawingml/2006/main" prst="roundRect">
            <a:avLst>
              <a:gd name="adj" fmla="val 2319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9525">
            <a:solidFill>
              <a:srgbClr val="EEF3F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6BED95-2582-4BB6-8F50-A4B90FAB0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14312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2697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2697D"/>
                </a:solidFill>
                <a:latin typeface="Arial"/>
                <a:ea typeface="Arial"/>
                <a:cs typeface="Arial"/>
              </a:rPr>
              <a:t>RENDSZERES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CACB6A-887F-473C-B3D5-287CF8D01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857500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azonos irányú eltérés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752030-D6B2-40AB-8FD8-1ABC755A8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0957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E7D6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E7D64"/>
                </a:solidFill>
                <a:latin typeface="Arial"/>
                <a:ea typeface="Arial"/>
                <a:cs typeface="Arial"/>
              </a:rPr>
              <a:t>kalibrálás vagy módszer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DA5ABD-E234-457E-A670-498305B7F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809750"/>
            <a:ext cx="3333750" cy="3286125"/>
          </a:xfrm>
          <a:prstGeom xmlns:a="http://schemas.openxmlformats.org/drawingml/2006/main" prst="roundRect">
            <a:avLst>
              <a:gd name="adj" fmla="val 2319"/>
            </a:avLst>
          </a:prstGeom>
          <a:solidFill xmlns:a="http://schemas.openxmlformats.org/drawingml/2006/main">
            <a:srgbClr val="D9EEFF"/>
          </a:solidFill>
          <a:ln xmlns:a="http://schemas.openxmlformats.org/drawingml/2006/main" w="9525">
            <a:solidFill>
              <a:srgbClr val="D9EE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6831A8-F11C-4D42-841F-518864A50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14312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2697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2697D"/>
                </a:solidFill>
                <a:latin typeface="Arial"/>
                <a:ea typeface="Arial"/>
                <a:cs typeface="Arial"/>
              </a:rPr>
              <a:t>VÉLETLEN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E3B483-A8EC-4871-A9E4-8E85E7936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857500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976D2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976D2"/>
                </a:solidFill>
                <a:latin typeface="Arial"/>
                <a:ea typeface="Arial"/>
                <a:cs typeface="Arial"/>
              </a:rPr>
              <a:t>szóródó értékek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5729AA-9593-44FC-8F6D-4728669DF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0957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E7D6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E7D64"/>
                </a:solidFill>
                <a:latin typeface="Arial"/>
                <a:ea typeface="Arial"/>
                <a:cs typeface="Arial"/>
              </a:rPr>
              <a:t>ismételt mérés és átlag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02A7A7-BC5A-4448-A36B-AD2112705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09750"/>
            <a:ext cx="3333750" cy="3286125"/>
          </a:xfrm>
          <a:prstGeom xmlns:a="http://schemas.openxmlformats.org/drawingml/2006/main" prst="roundRect">
            <a:avLst>
              <a:gd name="adj" fmla="val 2319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9525">
            <a:solidFill>
              <a:srgbClr val="EEF3F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94610E-9714-45D8-B915-3586EBB94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14312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2697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2697D"/>
                </a:solidFill>
                <a:latin typeface="Arial"/>
                <a:ea typeface="Arial"/>
                <a:cs typeface="Arial"/>
              </a:rPr>
              <a:t>DURVA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EC80E7-56C4-4492-B77D-5C82836E7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857500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téves leolvasás vagy bekötés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1E67B4-074B-4E33-A3F8-B8077CEB9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0957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E7D6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E7D64"/>
                </a:solidFill>
                <a:latin typeface="Arial"/>
                <a:ea typeface="Arial"/>
                <a:cs typeface="Arial"/>
              </a:rPr>
              <a:t>ellenőrzés és ismétlés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6D4600-EAAD-454A-8DD9-C8646EB96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72125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A cél nem minden eltérés eltüntetése, hanem felismerése és kezelése.</a:t>
            </a:r>
          </a:p>
        </p:txBody>
      </p:sp>
    </p:spTree>
    <p:extLst>
      <p:ext uri="{BB962C8B-B14F-4D97-AF65-F5344CB8AC3E}">
        <p14:creationId xmlns:p14="http://schemas.microsoft.com/office/powerpoint/2010/main" val="54948424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F5EA48-3136-4086-A62E-809690957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Analóg műszernél a leolvasás is hibaforrás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D6F115-5585-4F16-A7A7-65E223E18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572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2697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2697D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EB4526-A5B4-457F-8040-8ACE85936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9062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8D8"/>
          </a:solidFill>
          <a:ln xmlns:a="http://schemas.openxmlformats.org/drawingml/2006/main" w="9525">
            <a:solidFill>
              <a:srgbClr val="B8C8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479A9A-D781-44C5-A1B3-FE379C8B5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3333750" cy="3286125"/>
          </a:xfrm>
          <a:prstGeom xmlns:a="http://schemas.openxmlformats.org/drawingml/2006/main" prst="roundRect">
            <a:avLst>
              <a:gd name="adj" fmla="val 2319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9525">
            <a:solidFill>
              <a:srgbClr val="EEF3F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DC9FBE-4450-4E93-AB23-A3D3859AD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14312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2697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2697D"/>
                </a:solidFill>
                <a:latin typeface="Arial"/>
                <a:ea typeface="Arial"/>
                <a:cs typeface="Arial"/>
              </a:rPr>
              <a:t>PARALLAXIS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877B11-7FFD-457F-B717-90309563B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857500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ferde betekintés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CDA6F1-D9C0-4030-A3BF-779E7CE4C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0957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E7D6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E7D64"/>
                </a:solidFill>
                <a:latin typeface="Arial"/>
                <a:ea typeface="Arial"/>
                <a:cs typeface="Arial"/>
              </a:rPr>
              <a:t>szem a mutató síkjában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9AC369-FF3A-459D-A19F-C3A4294B8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809750"/>
            <a:ext cx="3333750" cy="3286125"/>
          </a:xfrm>
          <a:prstGeom xmlns:a="http://schemas.openxmlformats.org/drawingml/2006/main" prst="roundRect">
            <a:avLst>
              <a:gd name="adj" fmla="val 2319"/>
            </a:avLst>
          </a:prstGeom>
          <a:solidFill xmlns:a="http://schemas.openxmlformats.org/drawingml/2006/main">
            <a:srgbClr val="D9EEFF"/>
          </a:solidFill>
          <a:ln xmlns:a="http://schemas.openxmlformats.org/drawingml/2006/main" w="9525">
            <a:solidFill>
              <a:srgbClr val="D9EE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2F3021-A97E-4C82-8D80-57DA2EBA8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14312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2697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2697D"/>
                </a:solidFill>
                <a:latin typeface="Arial"/>
                <a:ea typeface="Arial"/>
                <a:cs typeface="Arial"/>
              </a:rPr>
              <a:t>PONTOSSÁGI OSZTÁLY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ED3704-2ABA-4815-B5A2-C5D3723B4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857500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976D2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976D2"/>
                </a:solidFill>
                <a:latin typeface="Arial"/>
                <a:ea typeface="Arial"/>
                <a:cs typeface="Arial"/>
              </a:rPr>
              <a:t>a végkitérés %-a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15D96D-4252-498A-81B2-8BADDB65F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0957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E7D6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E7D64"/>
                </a:solidFill>
                <a:latin typeface="Arial"/>
                <a:ea typeface="Arial"/>
                <a:cs typeface="Arial"/>
              </a:rPr>
              <a:t>méréshatárból számítható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6B2097-CBDA-434E-8F81-B715E1E79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09750"/>
            <a:ext cx="3333750" cy="3286125"/>
          </a:xfrm>
          <a:prstGeom xmlns:a="http://schemas.openxmlformats.org/drawingml/2006/main" prst="roundRect">
            <a:avLst>
              <a:gd name="adj" fmla="val 2319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9525">
            <a:solidFill>
              <a:srgbClr val="EEF3F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3EC25F-0F24-496C-8948-8A06D4D39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14312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2697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2697D"/>
                </a:solidFill>
                <a:latin typeface="Arial"/>
                <a:ea typeface="Arial"/>
                <a:cs typeface="Arial"/>
              </a:rPr>
              <a:t>SKÁLA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BA3944-793D-4D17-8EB7-49E6972B2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857500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osztásérték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E4651C-605E-40E8-88BE-885A8380B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0957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E7D6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E7D64"/>
                </a:solidFill>
                <a:latin typeface="Arial"/>
                <a:ea typeface="Arial"/>
                <a:cs typeface="Arial"/>
              </a:rPr>
              <a:t>helyes mértékegységgel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286EB6-3E83-4AA1-A141-4F6F96619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72125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E7D6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E7D64"/>
                </a:solidFill>
                <a:latin typeface="Arial"/>
                <a:ea typeface="Arial"/>
                <a:cs typeface="Arial"/>
              </a:rPr>
              <a:t>Példa: 1,5 osztályú, 100 V-os műszer megengedett hibája ±1,5 V.</a:t>
            </a:r>
          </a:p>
        </p:txBody>
      </p:sp>
    </p:spTree>
    <p:extLst>
      <p:ext uri="{BB962C8B-B14F-4D97-AF65-F5344CB8AC3E}">
        <p14:creationId xmlns:p14="http://schemas.microsoft.com/office/powerpoint/2010/main" val="18160884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0E0D0D-672A-411F-B5B1-71BA10187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Összehasonlító mérés: két műszer, azonos pont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3E8C3C-CC82-412F-A117-D47AED250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572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2697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2697D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58390C-5E3E-4F16-AE00-E679C2637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9062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8D8"/>
          </a:solidFill>
          <a:ln xmlns:a="http://schemas.openxmlformats.org/drawingml/2006/main" w="9525">
            <a:solidFill>
              <a:srgbClr val="B8C8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066B41-AF4A-456D-AC91-C1E6E9AA9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976D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976D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4A76F9-7E91-4ED3-9A4D-84F82F6D3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819275"/>
            <a:ext cx="523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89012F-FCDE-4E79-AAD9-2BE698EDC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571625"/>
            <a:ext cx="857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2355B"/>
                </a:solidFill>
                <a:latin typeface="Arial"/>
                <a:ea typeface="Arial"/>
                <a:cs typeface="Arial"/>
              </a:rPr>
              <a:t>Mérj 2, 5, 8 és 12 V beállításnál.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21B838-69CA-42D2-BD6F-24BE6C8FA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24125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976D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976D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A64F24-51B1-441A-9EC7-E8012FAFB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71775"/>
            <a:ext cx="523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B77341-078B-43B9-B2F7-E4FB08C79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524125"/>
            <a:ext cx="857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2355B"/>
                </a:solidFill>
                <a:latin typeface="Arial"/>
                <a:ea typeface="Arial"/>
                <a:cs typeface="Arial"/>
              </a:rPr>
              <a:t>Jegyezd fel mindkét műszer értékét és tartományát.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F28A5E-FE08-4D9D-92CD-0600323A3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76625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976D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976D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538ABE-8577-4612-9BDD-5A9E2A695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724275"/>
            <a:ext cx="523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F2497F-0A25-46E7-8E37-AF8046CFE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476625"/>
            <a:ext cx="857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Számíts abszolút és százalékos eltérést.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3F2604-AD0F-4DB7-9B0E-1A9D3D08E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29125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976D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976D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F2776D-A40F-4564-BFBE-8C613AE26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76775"/>
            <a:ext cx="523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BCA72C-12DC-4046-9E36-A0D9A5D8E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429125"/>
            <a:ext cx="857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2355B"/>
                </a:solidFill>
                <a:latin typeface="Arial"/>
                <a:ea typeface="Arial"/>
                <a:cs typeface="Arial"/>
              </a:rPr>
              <a:t>Ismételj meg egy pontot háromszor, majd értékeld a szórást.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AD2586-A866-4B30-9691-ADC95A397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19750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53A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53A3A"/>
                </a:solidFill>
                <a:latin typeface="Arial"/>
                <a:ea typeface="Arial"/>
                <a:cs typeface="Arial"/>
              </a:rPr>
              <a:t>Műszeráthelyezés előtt kapcsold ki a tápegységet.</a:t>
            </a:r>
          </a:p>
        </p:txBody>
      </p:sp>
    </p:spTree>
    <p:extLst>
      <p:ext uri="{BB962C8B-B14F-4D97-AF65-F5344CB8AC3E}">
        <p14:creationId xmlns:p14="http://schemas.microsoft.com/office/powerpoint/2010/main" val="148210147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2355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C968B7-0675-40CB-B430-944692C1E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387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Mit vigyél haza mára?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F1A60B-471C-4C4D-82BF-F286B9A15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66875"/>
            <a:ext cx="57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9C6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9C6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BDF00E-2F03-4360-8025-A80560F02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61925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 mérési célhoz választok műszert és méréshatárt.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4B6167-426F-494F-A111-9871B107E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1275"/>
            <a:ext cx="57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9C6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9C6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0A78BE-EF14-4A87-AA90-561599123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53365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Megkülönböztetem a pontosságot és a felbontást.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8C0595-ED65-4645-8C9A-AC80A0FBD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95675"/>
            <a:ext cx="57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9C6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9C6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2CF59E-FCFA-4E41-90A4-B8A19AC69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44805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Kiszámítom az abszolút és százalékos hibát.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E3DAFA-169A-49DF-AFA1-A43F09691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10075"/>
            <a:ext cx="57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9C6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9C6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54FB5F-EB5A-40A9-A1C7-F906B65EB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36245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mérési eredményt mértékegységgel és bizonytalansággal közlöm.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14B109-4350-481B-BA19-6B4366949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10250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FD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FDFFF"/>
                </a:solidFill>
                <a:latin typeface="Arial"/>
                <a:ea typeface="Arial"/>
                <a:cs typeface="Arial"/>
              </a:rPr>
              <a:t>Következő hét: egyenáramú források és feszültségforrások</a:t>
            </a:r>
          </a:p>
        </p:txBody>
      </p:sp>
    </p:spTree>
    <p:extLst>
      <p:ext uri="{BB962C8B-B14F-4D97-AF65-F5344CB8AC3E}">
        <p14:creationId xmlns:p14="http://schemas.microsoft.com/office/powerpoint/2010/main" val="20698891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2026-08-20T18:32:20.9410000Z</dcterms:created>
  <dcterms:modified xsi:type="dcterms:W3CDTF">2026-08-20T18:32:20.9410000Z</dcterms:modified>
</coreProperties>
</file>