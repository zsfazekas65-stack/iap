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30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85800"/>
            <a:ext cx="1051560" cy="7315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9601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572768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ED7EB"/>
                </a:solidFill>
                <a:latin typeface="Aptos"/>
              </a:defRPr>
            </a:pPr>
            <a:r>
              <a:t>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011680"/>
            <a:ext cx="10607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A frekvenciaváltó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6700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FFFFFF"/>
                </a:solidFill>
                <a:latin typeface="Aptos"/>
              </a:defRPr>
            </a:pPr>
            <a:r>
              <a:t>csatlakozásai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3493008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2E4F1"/>
                </a:solidFill>
                <a:latin typeface="Aptos"/>
              </a:defRPr>
            </a:pPr>
            <a:r>
              <a:t>teljesítmény • digitális • analóg • kommunikáció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R S 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88920" y="466344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U V 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74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74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DI/DO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60920" y="4663440"/>
            <a:ext cx="1783080" cy="713232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60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AI/AO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646920" y="4663440"/>
            <a:ext cx="1783080" cy="713232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46920" y="4882896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4304E"/>
                </a:solidFill>
                <a:latin typeface="Aptos"/>
              </a:defRPr>
            </a:pPr>
            <a:r>
              <a:t>RS-485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Egy készülék - sok feladat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40080" y="1691640"/>
            <a:ext cx="49834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73152" cy="35661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562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TÖRTÉNETI KITEKINTÉS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304288"/>
            <a:ext cx="4572000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korai motorvezérlések kontaktorokkal és hőkioldókkal működtek.</a:t>
            </a:r>
            <a:br/>
            <a:br/>
            <a:r>
              <a:t>A korszerű frekvenciaváltó egy készülékben egyesíti az indítást, fordulatszám-szabályozást, védelmet és kommunikációt.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89320" y="1691640"/>
            <a:ext cx="553212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057400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F6FB5"/>
                </a:solidFill>
                <a:latin typeface="Aptos"/>
              </a:defRPr>
            </a:pPr>
            <a:r>
              <a:t>GONDOLKODJ EL!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697480"/>
            <a:ext cx="4572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4304E"/>
                </a:solidFill>
                <a:latin typeface="Aptos"/>
              </a:defRPr>
            </a:pPr>
            <a:r>
              <a:t>Miért van ennyi különböző csatlakozó egy frekvenciaváltón, ha csak egy motort kell vezérelnie?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Kapocstérkép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leggyakoribb jelölések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55448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76072" y="1737360"/>
            <a:ext cx="868680" cy="86868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6072" y="193852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R/L1</a:t>
            </a:r>
            <a:br/>
            <a:r>
              <a:t>S/L2</a:t>
            </a:r>
            <a:br/>
            <a:r>
              <a:t>T/L3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9659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04E"/>
                </a:solidFill>
                <a:latin typeface="Aptos"/>
              </a:defRPr>
            </a:pPr>
            <a:r>
              <a:t>hálózati betáp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91840" y="155448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456432" y="1737360"/>
            <a:ext cx="868680" cy="8686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6432" y="193852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U V 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9659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04E"/>
                </a:solidFill>
                <a:latin typeface="Aptos"/>
              </a:defRPr>
            </a:pPr>
            <a:r>
              <a:t>motorkimenet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155448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336792" y="1737360"/>
            <a:ext cx="868680" cy="86868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6792" y="193852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19659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04E"/>
                </a:solidFill>
                <a:latin typeface="Aptos"/>
              </a:defRPr>
            </a:pPr>
            <a:r>
              <a:t>védővezető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52559" y="155448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217151" y="1737360"/>
            <a:ext cx="868680" cy="86868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17151" y="193852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DI / 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19659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04E"/>
                </a:solidFill>
                <a:latin typeface="Aptos"/>
              </a:defRPr>
            </a:pPr>
            <a:r>
              <a:t>digitális jelek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11480" y="361188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76072" y="3794760"/>
            <a:ext cx="868680" cy="86868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399592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AI / AO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40233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04E"/>
                </a:solidFill>
                <a:latin typeface="Aptos"/>
              </a:defRPr>
            </a:pPr>
            <a:r>
              <a:t>analóg jelek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91840" y="361188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56432" y="3794760"/>
            <a:ext cx="868680" cy="868680"/>
          </a:xfrm>
          <a:prstGeom prst="roundRect">
            <a:avLst/>
          </a:prstGeom>
          <a:solidFill>
            <a:srgbClr val="5C69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56432" y="399592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COM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60" y="40233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04E"/>
                </a:solidFill>
                <a:latin typeface="Aptos"/>
              </a:defRPr>
            </a:pPr>
            <a:r>
              <a:t>közös pont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72200" y="3611880"/>
            <a:ext cx="2560320" cy="164592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336792" y="3794760"/>
            <a:ext cx="868680" cy="86868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6792" y="3995928"/>
            <a:ext cx="868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RS-485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60920" y="4023360"/>
            <a:ext cx="1143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4304E"/>
                </a:solidFill>
                <a:latin typeface="Aptos"/>
              </a:defRPr>
            </a:pPr>
            <a:r>
              <a:t>kommunikáció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1. tanóra - Teljesítménykapcsok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Betáp • motor • PE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A8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R/L1 • S/L2 • T/L3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hálózati betáp kapcsai.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U • V • 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háromfázisú motor kimeneti kapcsai.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védővezető csatlakozási pontja.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teljesítmény útja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Egyszerű sematikus bekötés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2148840"/>
            <a:ext cx="2057400" cy="1645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60604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3~ HÁLÓZAT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9151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70048" y="2148840"/>
            <a:ext cx="2057400" cy="16459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61488" y="260604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 S 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65776" y="2148840"/>
            <a:ext cx="2057400" cy="1645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6" y="260604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VFD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61504" y="2148840"/>
            <a:ext cx="2057400" cy="164592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52944" y="260604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U V 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2697480"/>
            <a:ext cx="320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57232" y="2148840"/>
            <a:ext cx="2057400" cy="164592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48672" y="2606040"/>
            <a:ext cx="1874519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4304E"/>
                </a:solidFill>
                <a:latin typeface="Aptos"/>
              </a:defRPr>
            </a:pPr>
            <a:r>
              <a:t>3~ MOTOR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4343400"/>
            <a:ext cx="3474720" cy="64008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454456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PE • védővezető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2. tanóra - Digitális vezérlés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RUN • STOP • FWD • REV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097280" y="2148840"/>
            <a:ext cx="1325880" cy="10058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4505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RUN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7947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indítás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50208" y="2148840"/>
            <a:ext cx="1325880" cy="10058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50208" y="24505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STOP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7947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leállítás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08776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803136" y="2148840"/>
            <a:ext cx="1325880" cy="10058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03136" y="24505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FWD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3096" y="37947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előre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61704" y="1783080"/>
            <a:ext cx="251460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656064" y="2148840"/>
            <a:ext cx="1325880" cy="1005840"/>
          </a:xfrm>
          <a:prstGeom prst="round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56064" y="2450592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REV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36024" y="3794760"/>
            <a:ext cx="1965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4304E"/>
                </a:solidFill>
                <a:latin typeface="Aptos"/>
              </a:defRPr>
            </a:pPr>
            <a:r>
              <a:t>hátra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" y="5394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F6FB5"/>
                </a:solidFill>
                <a:latin typeface="Aptos"/>
              </a:defRPr>
            </a:pPr>
            <a:r>
              <a:t>A konkrét kapocs és funkció gyártónként eltérhet - mindig a dokumentáció dönt.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3. tanóra - Analóg jelek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Fordulatszám-alapjel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0-10 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Analóg bemeneti jel, amely a tananyagban fordulatszám-szabályozási példaként szerepel.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07408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4074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008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4-20 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008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Ipari analóg jel a frekvenciaváltó vezérlésében.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74736" y="1645920"/>
            <a:ext cx="338328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74736" y="1645920"/>
            <a:ext cx="73152" cy="4023360"/>
          </a:xfrm>
          <a:prstGeom prst="roundRect">
            <a:avLst/>
          </a:prstGeom>
          <a:solidFill>
            <a:srgbClr val="BC7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03336" y="18105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POTMÉTER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03336" y="2258568"/>
            <a:ext cx="297180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Potenciométeres fordulatszám-szabályozás gyakorlati példája.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Jelutak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Teljesítmény és vezérlés különválasztva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A84040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9260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04E"/>
                </a:solidFill>
                <a:latin typeface="Aptos"/>
              </a:defRPr>
            </a:pPr>
            <a:r>
              <a:t>R/S/T  →  frekvenciaváltó  →  U/V/W  →  motor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737360"/>
            <a:ext cx="5212080" cy="3566160"/>
          </a:xfrm>
          <a:prstGeom prst="roundRect">
            <a:avLst/>
          </a:prstGeom>
          <a:solidFill>
            <a:srgbClr val="FFFFFF"/>
          </a:solidFill>
          <a:ln>
            <a:solidFill>
              <a:srgbClr val="D2DE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1F6FB5"/>
                </a:solidFill>
                <a:latin typeface="Aptos"/>
              </a:defRPr>
            </a:pPr>
            <a:r>
              <a:t>VEZÉRLÉS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926080"/>
            <a:ext cx="4572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4304E"/>
                </a:solidFill>
                <a:latin typeface="Aptos"/>
              </a:defRPr>
            </a:pPr>
            <a:r>
              <a:t>DI/DO • AI/AO • COM • RS-485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4. tanóra - Labor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Bekötési rajz és kapocsazonosítás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417320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27048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43560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Dokumentáció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435608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Keresd meg az adott gyártó bekötési rajzát.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276856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386584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229514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Teljesítmény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295144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Azonosítsd a betápot, motorkimenetet és PE-t.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136391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246120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154679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Digitális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154679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Keresd meg a DI/DO kapcsokat.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95928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4105656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4014215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Analóg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014215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Azonosítsd az AI/AO és COM pontokat.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855464"/>
            <a:ext cx="566928" cy="566928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4965192"/>
            <a:ext cx="56692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73751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Vázlat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4873751"/>
            <a:ext cx="749807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32D37"/>
                </a:solidFill>
                <a:latin typeface="Aptos"/>
              </a:defRPr>
            </a:pPr>
            <a:r>
              <a:t>Rajzold fel a betáp, motor és vezérlőjelek útját.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Két gyártó - ugyanaz a funkció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Nézzünk bele!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1645920"/>
            <a:ext cx="73152" cy="4023360"/>
          </a:xfrm>
          <a:prstGeom prst="round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GYÁRTÓ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kapocsjelölések és elrendezések eltérhetnek.</a:t>
            </a:r>
            <a:br/>
            <a:br/>
            <a:r>
              <a:t>Keresd meg: betáp, motor, digitális jel, analóg jel és kommunikáció.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645920"/>
            <a:ext cx="5303520" cy="4023360"/>
          </a:xfrm>
          <a:prstGeom prst="roundRect">
            <a:avLst/>
          </a:prstGeom>
          <a:solidFill>
            <a:srgbClr val="FFFFFF"/>
          </a:solidFill>
          <a:ln>
            <a:solidFill>
              <a:srgbClr val="D6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36208" y="1645920"/>
            <a:ext cx="73152" cy="402336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1810512"/>
            <a:ext cx="4892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4304E"/>
                </a:solidFill>
                <a:latin typeface="Aptos"/>
              </a:defRPr>
            </a:pPr>
            <a:r>
              <a:t>GYÁRTÓ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64808" y="2258568"/>
            <a:ext cx="4892040" cy="32735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32D37"/>
                </a:solidFill>
                <a:latin typeface="Aptos"/>
              </a:defRPr>
            </a:pPr>
            <a:r>
              <a:t>A működési elv azonos, de a feliratok nem feltétlenül ugyanazok.</a:t>
            </a:r>
            <a:br/>
            <a:br/>
            <a:r>
              <a:t>Ezért kell a kezelési útmutató és a kapcsolási rajz.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 műhelyből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2070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C6976"/>
                </a:solidFill>
                <a:latin typeface="Aptos"/>
              </a:defRPr>
            </a:pPr>
            <a:r>
              <a:t>A dokumentáció fontosabb, mint a megszokás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737360"/>
            <a:ext cx="10744200" cy="3566160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214884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700" b="1">
                <a:solidFill>
                  <a:srgbClr val="14304E"/>
                </a:solidFill>
                <a:latin typeface="Aptos"/>
              </a:defRPr>
            </a:pPr>
            <a:r>
              <a:t>A jó szakember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78892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F6FB5"/>
                </a:solidFill>
                <a:latin typeface="Aptos"/>
              </a:defRPr>
            </a:pPr>
            <a:r>
              <a:t>mindig a kapcsolási rajz és a kezelési útmutató alapján dolgozik,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520440"/>
            <a:ext cx="9966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4304E"/>
                </a:solidFill>
                <a:latin typeface="Aptos"/>
              </a:defRPr>
            </a:pPr>
            <a:r>
              <a:t>nem pusztán a kapocsfeliratokra hagyatkozik.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430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6510528"/>
            <a:ext cx="7772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5C6976"/>
                </a:solidFill>
                <a:latin typeface="Aptos"/>
              </a:defRPr>
            </a:pPr>
            <a:r>
              <a:t>IAP • 10. évfolyam • Villamos alapismeretek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7395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4304E"/>
                </a:solidFill>
                <a:latin typeface="Aptos"/>
              </a:defRPr>
            </a:pPr>
            <a:r>
              <a:t>31. hét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38912"/>
            <a:ext cx="1097280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4304E"/>
                </a:solidFill>
                <a:latin typeface="Aptos"/>
              </a:defRPr>
            </a:pPr>
            <a:r>
              <a:t>Amit ezen a héten megtanultál</a:t>
            </a:r>
          </a:p>
        </p:txBody>
      </p:sp>
      <p:sp>
        <p:nvSpPr>
          <p:cNvPr id="6" name="Rectangle 5"/>
          <p:cNvSpPr/>
          <p:nvPr/>
        </p:nvSpPr>
        <p:spPr>
          <a:xfrm>
            <a:off x="566928" y="1069848"/>
            <a:ext cx="1051560" cy="50292"/>
          </a:xfrm>
          <a:prstGeom prst="rect">
            <a:avLst/>
          </a:prstGeom>
          <a:solidFill>
            <a:srgbClr val="1F6F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77240" y="1417320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44752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R/L1, S/L2, T/L3 - hálózati betáp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03704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295144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231136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U, V, W - motorkimenet; PE - védővezető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2990088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08152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017520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DI/DO - digitális vezérlőjelek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776472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867911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803904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AI/AO - analóg jelek; COM - közös pont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77240" y="4562856"/>
            <a:ext cx="502920" cy="502920"/>
          </a:xfrm>
          <a:prstGeom prst="roundRect">
            <a:avLst/>
          </a:prstGeom>
          <a:solidFill>
            <a:srgbClr val="347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65429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590288"/>
            <a:ext cx="9692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232D37"/>
                </a:solidFill>
                <a:latin typeface="Aptos"/>
              </a:defRPr>
            </a:pPr>
            <a:r>
              <a:t>RS-485 / Modbus - kommunikáció és a dokumentáció szerepe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7240" y="5577840"/>
            <a:ext cx="10607040" cy="566928"/>
          </a:xfrm>
          <a:prstGeom prst="roundRect">
            <a:avLst/>
          </a:prstGeom>
          <a:solidFill>
            <a:srgbClr val="DBE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5687568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1F6FB5"/>
                </a:solidFill>
                <a:latin typeface="Aptos"/>
              </a:defRPr>
            </a:pPr>
            <a:r>
              <a:t>Következő hét: motor adattábla, alapparaméterek és a frekvenciaváltó biztonságos üzembe helyezése.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