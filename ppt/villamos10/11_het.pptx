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40cde150e8496f" /><Relationship Type="http://schemas.openxmlformats.org/officeDocument/2006/relationships/extended-properties" Target="/docProps/app.xml" Id="Rca7687d245df4856" /><Relationship Type="http://schemas.openxmlformats.org/officeDocument/2006/relationships/officeDocument" Target="/ppt/presentation.xml" Id="R36d4cd0a4aa344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02256344394af5"/>
  </p:sldMasterIdLst>
  <p:notesMasterIdLst>
    <p:notesMasterId xmlns:r="http://schemas.openxmlformats.org/officeDocument/2006/relationships" r:id="Rdaa8ac8564d945c4"/>
  </p:notesMasterIdLst>
  <p:sldIdLst>
    <p:sldId xmlns:r="http://schemas.openxmlformats.org/officeDocument/2006/relationships" id="256" r:id="R9374a020950e4d0a"/>
    <p:sldId xmlns:r="http://schemas.openxmlformats.org/officeDocument/2006/relationships" id="257" r:id="Rbb1a706f4b68476a"/>
    <p:sldId xmlns:r="http://schemas.openxmlformats.org/officeDocument/2006/relationships" id="258" r:id="Re7484eeb78994a2a"/>
    <p:sldId xmlns:r="http://schemas.openxmlformats.org/officeDocument/2006/relationships" id="259" r:id="Rc38f6c5bd4db4168"/>
    <p:sldId xmlns:r="http://schemas.openxmlformats.org/officeDocument/2006/relationships" id="260" r:id="R8ff71b5af5e34ed6"/>
    <p:sldId xmlns:r="http://schemas.openxmlformats.org/officeDocument/2006/relationships" id="261" r:id="R35cde0ab78df46ac"/>
    <p:sldId xmlns:r="http://schemas.openxmlformats.org/officeDocument/2006/relationships" id="262" r:id="R9f7e704c566f410f"/>
    <p:sldId xmlns:r="http://schemas.openxmlformats.org/officeDocument/2006/relationships" id="263" r:id="R5c40cd31b46b4b16"/>
    <p:sldId xmlns:r="http://schemas.openxmlformats.org/officeDocument/2006/relationships" id="264" r:id="Rad4b30f9c6c74f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baf5e12acf471f" /><Relationship Type="http://schemas.openxmlformats.org/officeDocument/2006/relationships/slideMaster" Target="/ppt/slideMasters/slideMaster1.xml" Id="Rf202256344394af5" /><Relationship Type="http://schemas.openxmlformats.org/officeDocument/2006/relationships/notesMaster" Target="/ppt/notesMasters/notesMaster1.xml" Id="Rdaa8ac8564d945c4" /><Relationship Type="http://schemas.openxmlformats.org/officeDocument/2006/relationships/presProps" Target="/ppt/presProps.xml" Id="R7041f3aab9f74f10" /><Relationship Type="http://schemas.openxmlformats.org/officeDocument/2006/relationships/tableStyles" Target="/ppt/tableStyles.xml" Id="Rd398f4e0b926434e" /><Relationship Type="http://schemas.openxmlformats.org/officeDocument/2006/relationships/slide" Target="/ppt/slides/slide1.xml" Id="R9374a020950e4d0a" /><Relationship Type="http://schemas.openxmlformats.org/officeDocument/2006/relationships/slide" Target="/ppt/slides/slide2.xml" Id="Rbb1a706f4b68476a" /><Relationship Type="http://schemas.openxmlformats.org/officeDocument/2006/relationships/slide" Target="/ppt/slides/slide3.xml" Id="Re7484eeb78994a2a" /><Relationship Type="http://schemas.openxmlformats.org/officeDocument/2006/relationships/slide" Target="/ppt/slides/slide4.xml" Id="Rc38f6c5bd4db4168" /><Relationship Type="http://schemas.openxmlformats.org/officeDocument/2006/relationships/slide" Target="/ppt/slides/slide5.xml" Id="R8ff71b5af5e34ed6" /><Relationship Type="http://schemas.openxmlformats.org/officeDocument/2006/relationships/slide" Target="/ppt/slides/slide6.xml" Id="R35cde0ab78df46ac" /><Relationship Type="http://schemas.openxmlformats.org/officeDocument/2006/relationships/slide" Target="/ppt/slides/slide7.xml" Id="R9f7e704c566f410f" /><Relationship Type="http://schemas.openxmlformats.org/officeDocument/2006/relationships/slide" Target="/ppt/slides/slide8.xml" Id="R5c40cd31b46b4b16" /><Relationship Type="http://schemas.openxmlformats.org/officeDocument/2006/relationships/slide" Target="/ppt/slides/slide9.xml" Id="Rad4b30f9c6c74f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5f6833f9e84e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760bacdcb048a2" /><Relationship Type="http://schemas.openxmlformats.org/officeDocument/2006/relationships/notesMaster" Target="/ppt/notesMasters/notesMaster1.xml" Id="R127aee4c73424c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e8e5eaa5b74f8e" /><Relationship Type="http://schemas.openxmlformats.org/officeDocument/2006/relationships/notesMaster" Target="/ppt/notesMasters/notesMaster1.xml" Id="R5cf40eda81394a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d11250836c440e" /><Relationship Type="http://schemas.openxmlformats.org/officeDocument/2006/relationships/notesMaster" Target="/ppt/notesMasters/notesMaster1.xml" Id="R100e0ca411ee48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bf18a60c98487f" /><Relationship Type="http://schemas.openxmlformats.org/officeDocument/2006/relationships/notesMaster" Target="/ppt/notesMasters/notesMaster1.xml" Id="R9e68bc39ea9e48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eb22071fcb4b77" /><Relationship Type="http://schemas.openxmlformats.org/officeDocument/2006/relationships/notesMaster" Target="/ppt/notesMasters/notesMaster1.xml" Id="Rd75136f92e794d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514386b9b24ea4" /><Relationship Type="http://schemas.openxmlformats.org/officeDocument/2006/relationships/notesMaster" Target="/ppt/notesMasters/notesMaster1.xml" Id="R96f2ac5eb5c541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c0f327280c4d90" /><Relationship Type="http://schemas.openxmlformats.org/officeDocument/2006/relationships/notesMaster" Target="/ppt/notesMasters/notesMaster1.xml" Id="R147db462479643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ce01e86cdd4a51" /><Relationship Type="http://schemas.openxmlformats.org/officeDocument/2006/relationships/notesMaster" Target="/ppt/notesMasters/notesMaster1.xml" Id="R19d483fa8b904a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d5ac58a1114b1d" /><Relationship Type="http://schemas.openxmlformats.org/officeDocument/2006/relationships/notesMaster" Target="/ppt/notesMasters/notesMaster1.xml" Id="Rceeae1f658ea4b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Heti cél: teljesítmény, energia, hatásfok és veszteség biztos számítása.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- 11.Teljesitmeny_hatasfok_veszteseg.docx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Mutassunk valós fogyasztói adattáblákat.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- 11.Teljesitmeny_hatasfok_veszteseg.docx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 = P·t; a teljesítmény és az energia nem ugyanaz.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- 11.Teljesitmeny_hatasfok_veszteseg.docx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W–kW és Wh–kWh átváltást külön hangsúlyozzuk.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- 11.Teljesitmeny_hatasfok_veszteseg.docx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valós hatásfok mindig 100% alatti.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- 11.Teljesitmeny_hatasfok_veszteseg.docx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veszteségi teljesítményt a felvett és hasznos különbségeként számítsuk.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- 11.Teljesitmeny_hatasfok_veszteseg.docx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laborban csak törpefeszültséget használjunk.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- 11.Teljesitmeny_hatasfok_veszteseg.docx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jegyzőkönyvben külön értékeljük a számított és mért eltérést.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- 11.Teljesitmeny_hatasfok_veszteseg.docx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Zárásként kérj egy teljesítmény- és egy energia-példát.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- 11.Teljesitmeny_hatasfok_veszteseg.docx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79fb6eaf841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f4f487c7bc426b" /><Relationship Type="http://schemas.openxmlformats.org/officeDocument/2006/relationships/slideLayout" Target="/ppt/slideLayouts/slideLayout1.xml" Id="R1241c823963142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41c823963142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b7b6b72ea44d9" /><Relationship Type="http://schemas.openxmlformats.org/officeDocument/2006/relationships/notesSlide" Target="/ppt/notesSlides/notesSlide1.xml" Id="R5b721faa69114a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c85d03e004de7" /><Relationship Type="http://schemas.openxmlformats.org/officeDocument/2006/relationships/notesSlide" Target="/ppt/notesSlides/notesSlide2.xml" Id="R541d9dd818aa43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633ddb1c44917" /><Relationship Type="http://schemas.openxmlformats.org/officeDocument/2006/relationships/notesSlide" Target="/ppt/notesSlides/notesSlide3.xml" Id="R3b034b1f00424f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074749b2441aa" /><Relationship Type="http://schemas.openxmlformats.org/officeDocument/2006/relationships/notesSlide" Target="/ppt/notesSlides/notesSlide4.xml" Id="R3019422c471d4b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2b3dca2ea4fa4" /><Relationship Type="http://schemas.openxmlformats.org/officeDocument/2006/relationships/notesSlide" Target="/ppt/notesSlides/notesSlide5.xml" Id="Rba7a5758a25d40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363f87a434f4f" /><Relationship Type="http://schemas.openxmlformats.org/officeDocument/2006/relationships/notesSlide" Target="/ppt/notesSlides/notesSlide6.xml" Id="R6059fe6f76d043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dcec0467f4452" /><Relationship Type="http://schemas.openxmlformats.org/officeDocument/2006/relationships/notesSlide" Target="/ppt/notesSlides/notesSlide7.xml" Id="Rc64a854b496d4b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83a0849de423c" /><Relationship Type="http://schemas.openxmlformats.org/officeDocument/2006/relationships/notesSlide" Target="/ppt/notesSlides/notesSlide8.xml" Id="Rdcf19870b9624c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26950f2794612" /><Relationship Type="http://schemas.openxmlformats.org/officeDocument/2006/relationships/notesSlide" Target="/ppt/notesSlides/notesSlide9.xml" Id="Re20e6aa418a44c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72098-1CDB-4112-8A74-BA5B2F61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5547D-BA16-4870-B1B6-DA500124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Teljesítmény,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hatásfok, veszteség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6E6C1-DE27-4A00-88F0-E713F421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FDFFF"/>
                </a:solidFill>
                <a:latin typeface="Arial"/>
                <a:ea typeface="Arial"/>
                <a:cs typeface="Arial"/>
              </a:rPr>
              <a:t>11. hét • Villamos alapismeretek • 10. évfolyam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55255-C119-496F-A07A-E9E9E113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798E8-E60C-4E73-B736-7C1E9094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 = U·I</a:t>
            </a:r>
          </a:p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= P·t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39FDB-3874-4F6C-A82F-71291B83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C5078-8CCC-44B2-A090-3EDED1B9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Nem minden felvett energia válik hasznos eredménnyé.</a:t>
            </a:r>
          </a:p>
        </p:txBody>
      </p:sp>
    </p:spTree>
    <p:extLst>
      <p:ext uri="{BB962C8B-B14F-4D97-AF65-F5344CB8AC3E}">
        <p14:creationId xmlns:p14="http://schemas.microsoft.com/office/powerpoint/2010/main" val="11322247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B9C08-CAC9-4BD2-A104-CD7CF519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teljesítmény az energiaátadás sebessége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6592B-2E45-4452-9FF7-05747699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385F3-47ED-4AD0-B4FB-47D6A218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27D31-C302-493C-BCFE-9B39B142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0EC41-C3D0-4880-94DF-A344494C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FESZÜLTSÉG ÉS ÁRAM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AFC65-53D4-4BDC-ABCA-8263B2AF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 = U·I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CD812-7E76-4A16-B5EE-B88A55F9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6B9CC-887B-4CE8-9449-0646821E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19621-2325-4BDA-9BC1-384F093C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ÁRAM ÉS ELLENÁLLÁS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62096-B485-4C96-A8F4-C464FD3A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P = I²·R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78DD9-38C5-4C29-9DC1-6B7956E2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91561-63A1-4379-B5A3-EF987295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618EB-5CF8-4E99-995C-3FC3B807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FESZÜLTSÉG ÉS ELLENÁLLÁS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5B9EF-6BC3-43EB-8661-75251B6C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 = U²/R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B5C8D-A445-42F1-BCC8-E13A5BCD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9FB97-13FD-43C9-8715-452DB136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képletet mindig az ismert adatok alapján választjuk.</a:t>
            </a:r>
          </a:p>
        </p:txBody>
      </p:sp>
    </p:spTree>
    <p:extLst>
      <p:ext uri="{BB962C8B-B14F-4D97-AF65-F5344CB8AC3E}">
        <p14:creationId xmlns:p14="http://schemas.microsoft.com/office/powerpoint/2010/main" val="42412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8821D-C501-4457-BA5D-B0A27C9D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teljesítménytől az energiafogyasztásig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B1871-D94E-41DE-BF5D-F4AB18B0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B0AE4-B920-4663-8503-D07E7440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409BA-E121-4EC6-9086-9AF5BB7B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8FBDB-587F-4432-A703-C41477DE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192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A8207-6734-47D8-8DC7-762F6397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71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Írd fel a teljesítményt wattban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9AFDA-D30B-4828-ADCE-9F076640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9123F-697E-489A-B710-CD7F5AEC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98B41-2676-4DA4-91BA-F0E4C4DF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669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Váltsd át kilowattra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4F67F-7807-4EFC-AF0A-822A5A85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94D5B-4BAE-40CC-AAAC-346A99D9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D8EA8-EB06-4E1B-9294-D3BB2C42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623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Szorozd meg az üzemidővel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A765E-4E0F-4205-A334-ACF0BE0E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8A28F-2F04-4029-890F-ABE553B3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5AD22-EE8E-42A5-AC3A-0AA19676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576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Az eredményt kWh-ban add meg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71B99-8EFB-468A-B990-1DA80786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034C1-20E2-4AA4-BB3A-6B2E7F1A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006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C2C7C-FCC9-4C2A-8A37-4500971F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530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Hasonlítsd össze a fogyasztókat</a:t>
            </a:r>
          </a:p>
        </p:txBody>
      </p:sp>
    </p:spTree>
    <p:extLst>
      <p:ext uri="{BB962C8B-B14F-4D97-AF65-F5344CB8AC3E}">
        <p14:creationId xmlns:p14="http://schemas.microsoft.com/office/powerpoint/2010/main" val="1963880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DD56B-8223-4B03-818B-9EBEC8E8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Példa: egy 60 W-os izzó napi fogyasztása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F9205-A6F9-41A2-B01E-C0D8CC1F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66B67-71A3-4D8F-AEED-D1363696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8D789-08CB-455A-B7F5-C39D0C38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381B2-5145-4752-BD73-62A1FB3B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TELJESÍTMÉNY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161BD-9024-4CD6-95A3-22A68934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60 W = 0,060 kW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AAAE9-78EF-4194-8315-9EAAA04A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0,060 kW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5B392-D2ED-4553-A565-8833CD98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31A69-5448-490D-B4CF-F7F79A53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ÜZEMIDŐ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F484F-83B7-49AB-8ED5-7FFB04BA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5 óra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A2857-A137-4E2B-8BE7-BABF748B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5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74F33-EB3A-4802-94E9-79882B47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D5620-0092-4BA9-8987-7BF605F5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ENERGIA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E2980-0229-45BA-B086-80B6B7C5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 = 0,060 kW · 5 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CD593-1BAE-4B8A-8579-43F38BFF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0,30 kWh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78B84-DBE1-4620-90CC-7BC62B24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villanyszámlán az energia mértékegysége a kWh.</a:t>
            </a:r>
          </a:p>
        </p:txBody>
      </p:sp>
    </p:spTree>
    <p:extLst>
      <p:ext uri="{BB962C8B-B14F-4D97-AF65-F5344CB8AC3E}">
        <p14:creationId xmlns:p14="http://schemas.microsoft.com/office/powerpoint/2010/main" val="1861264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EE8A9-2B35-4F6A-BD77-4A39DBBE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hatásfok a hasznos rész arányát mutatja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39F0D-0691-4839-986C-B390B87C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B53AF-94C6-4239-8FFF-73ED7E51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9ED1F-285D-4E91-8853-36ACFFE0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73B4B-711D-4F15-A0A7-2AEB7CE9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FELVETT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BB1A6-35C1-4F30-B478-33D1E015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Pfelvett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E92D1-AC18-4FEE-8612-F6E5FC4A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500 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92FF7-2226-4880-98F8-57DA351B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5E069-8300-4DA8-ADDE-B6C40180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HATÁSFOK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41454-EC42-4973-B174-E35EA390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EEB0C-EB2D-406E-8390-B1E0E16A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5E5BE-9DA0-49CE-A595-109CACEB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D9E0D-32D5-4561-B2BF-024D6643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HASZNOS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A731E-482A-43E0-9CCF-DCEA1569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Phasznos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3273E-CFFD-4831-AA3D-ED21320F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450 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9FE1D-1043-4EF3-899B-666AC456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Phasznos = η·Pfelvett</a:t>
            </a:r>
          </a:p>
        </p:txBody>
      </p:sp>
    </p:spTree>
    <p:extLst>
      <p:ext uri="{BB962C8B-B14F-4D97-AF65-F5344CB8AC3E}">
        <p14:creationId xmlns:p14="http://schemas.microsoft.com/office/powerpoint/2010/main" val="18198847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E60FE-553B-41F6-B2AD-969FB94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veszteségi teljesítmény többnyire hővé alakul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6B7CC-5C47-4597-932D-15313831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E7160-98A4-4BAA-B4A1-21CFD392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42096-7DE7-4B34-8EF2-08BBE50C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1B9FB-5CA7-45C5-9471-2CD98E41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FELVETT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8A22A-9161-4CD7-8AAF-3FC61180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500 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331DB-7351-47F3-86AE-66AA3B5F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3E337-A7F9-40BF-8F93-CC8B32FF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A3B69-0241-457D-AC8C-A1C62880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HASZNOS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C2F93-CCD9-4BD3-8041-B348A96F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450 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E1A19-2CCA-4E25-8FCE-B711F9FE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23B2B-49A9-473B-AC5B-B0D50FA5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6C6D0-A0D9-4284-B36C-F98DD852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VESZTESÉG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BF721-C666-4B40-9731-681A2397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50 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E60ED-3141-4DED-AAB8-942B2350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D56D9-EDF0-4627-A625-C53BEF37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Pveszteség = Pfelvett − Phasznos</a:t>
            </a:r>
          </a:p>
        </p:txBody>
      </p:sp>
    </p:spTree>
    <p:extLst>
      <p:ext uri="{BB962C8B-B14F-4D97-AF65-F5344CB8AC3E}">
        <p14:creationId xmlns:p14="http://schemas.microsoft.com/office/powerpoint/2010/main" val="17101029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2E6F2-C42B-42B0-A70E-BADF12A5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Teljesítmény és energia nem ugyanaz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1AFAC-F6A9-451F-A12B-19F9EFA0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C9A7B-04CC-4110-B900-D51D28C3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0E627-6922-4363-92D4-293A9384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FF2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2C997-7632-4B86-8E9E-5A44A4FF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A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A000"/>
                </a:solidFill>
                <a:latin typeface="Arial"/>
                <a:ea typeface="Arial"/>
                <a:cs typeface="Arial"/>
              </a:rPr>
              <a:t>MÉRTÉKEGYSÉG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A4480-995F-4919-A8ED-B434A03E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Teljesítmény: W vagy kW.</a:t>
            </a:r>
          </a:p>
          <a:p xmlns:a="http://schemas.openxmlformats.org/drawingml/2006/main">
            <a:pPr algn="ctr">
              <a:defRPr sz="23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Energia: J, Wh vagy kWh.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22BC7-4FDE-49B4-B2FF-DADD1973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mértékegység a fizikai mennyiség része.</a:t>
            </a:r>
          </a:p>
        </p:txBody>
      </p:sp>
    </p:spTree>
    <p:extLst>
      <p:ext uri="{BB962C8B-B14F-4D97-AF65-F5344CB8AC3E}">
        <p14:creationId xmlns:p14="http://schemas.microsoft.com/office/powerpoint/2010/main" val="1265567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F5FA8-525D-403F-A5F9-40F6C247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I²R veszteség gyorsan növekszik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F7661-78E8-4F61-9FF0-FA6F06D1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BCE88-363B-4793-AB3F-A1B3BD2E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6E914-9F51-4CA8-9ACB-7BE6C79D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9ADE1-3E15-40AE-BA39-CE7FE444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05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 = 2 A → Pv = 4R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23EF9-4C80-474B-90A2-48A08A2B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C9C0A-4B15-4545-BA5B-A110A3E2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I = 4 A → Pv = 16R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30792-A9DC-4A52-998F-38E2516B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DCDAE-B8A6-469B-AF21-7A3329C4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áram kétszerezése négyszeres melegedést okoz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75AA7-1C50-4F64-B917-916B70EA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Megfelelő keresztmetszet + jó kötés + túláramvédelem</a:t>
            </a:r>
          </a:p>
        </p:txBody>
      </p:sp>
    </p:spTree>
    <p:extLst>
      <p:ext uri="{BB962C8B-B14F-4D97-AF65-F5344CB8AC3E}">
        <p14:creationId xmlns:p14="http://schemas.microsoft.com/office/powerpoint/2010/main" val="1392637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36520-5E2D-4748-82B3-5792885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Mit vigyél haza mára?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C68A7-C47E-43B8-A1C6-4E1FC1F9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5FDEF-A798-4CD0-9DB1-531C6992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 tudom választani a megfelelő teljesítményképletet.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04604-6B9E-46B7-9BDE-CC7CAA16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F4472-D667-4F1E-84E7-881A3725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Megkülönböztetem a teljesítményt és az energiát.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CBE37-0BBE-4AEE-A3AD-650DE525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1106D-D9A6-4218-B499-C9178664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 tudom számítani a hatásfokot és a veszteséget.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52C6F-6FAD-42AD-9E1E-BFE8E0CF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73C0D-D4B3-409F-856F-9796E7CA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Értem, miért melegszik a vezeték és a kötés.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8318A-B4FE-4510-8A9B-DA87FFAE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FFF"/>
                </a:solidFill>
                <a:latin typeface="Arial"/>
                <a:ea typeface="Arial"/>
                <a:cs typeface="Arial"/>
              </a:rPr>
              <a:t>Következő hét: villamos munka, energiaátalakítás és fogyasztás</a:t>
            </a:r>
          </a:p>
        </p:txBody>
      </p:sp>
    </p:spTree>
    <p:extLst>
      <p:ext uri="{BB962C8B-B14F-4D97-AF65-F5344CB8AC3E}">
        <p14:creationId xmlns:p14="http://schemas.microsoft.com/office/powerpoint/2010/main" val="1229376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2026-08-20T17:55:33.9430000Z</dcterms:created>
  <dcterms:modified xsi:type="dcterms:W3CDTF">2026-08-20T17:55:33.9430000Z</dcterms:modified>
</coreProperties>
</file>