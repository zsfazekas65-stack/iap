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e7d3a754b416f" /><Relationship Type="http://schemas.openxmlformats.org/officeDocument/2006/relationships/extended-properties" Target="/docProps/app.xml" Id="Rb8f2c8d53c6344e1" /><Relationship Type="http://schemas.openxmlformats.org/officeDocument/2006/relationships/officeDocument" Target="/ppt/presentation.xml" Id="R889dd890ab8b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ca62adeca43f7"/>
  </p:sldMasterIdLst>
  <p:notesMasterIdLst>
    <p:notesMasterId xmlns:r="http://schemas.openxmlformats.org/officeDocument/2006/relationships" r:id="Rab4a36e4ef6d4a9a"/>
  </p:notesMasterIdLst>
  <p:sldIdLst>
    <p:sldId xmlns:r="http://schemas.openxmlformats.org/officeDocument/2006/relationships" id="256" r:id="R1cfee8aa1c1441b8"/>
    <p:sldId xmlns:r="http://schemas.openxmlformats.org/officeDocument/2006/relationships" id="257" r:id="Rc22e629fcfad43a0"/>
    <p:sldId xmlns:r="http://schemas.openxmlformats.org/officeDocument/2006/relationships" id="258" r:id="R8bbaa506a22d46a8"/>
    <p:sldId xmlns:r="http://schemas.openxmlformats.org/officeDocument/2006/relationships" id="259" r:id="Rbca44e0de40b43e1"/>
    <p:sldId xmlns:r="http://schemas.openxmlformats.org/officeDocument/2006/relationships" id="260" r:id="R663428d18afe4a00"/>
    <p:sldId xmlns:r="http://schemas.openxmlformats.org/officeDocument/2006/relationships" id="261" r:id="Raa7a20a7ecc6452a"/>
    <p:sldId xmlns:r="http://schemas.openxmlformats.org/officeDocument/2006/relationships" id="262" r:id="Rb24b5bbe8a36447f"/>
    <p:sldId xmlns:r="http://schemas.openxmlformats.org/officeDocument/2006/relationships" id="263" r:id="R8c355e417ca74565"/>
    <p:sldId xmlns:r="http://schemas.openxmlformats.org/officeDocument/2006/relationships" id="264" r:id="Rcfa121834628443e"/>
    <p:sldId xmlns:r="http://schemas.openxmlformats.org/officeDocument/2006/relationships" id="265" r:id="R84f09de8671d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fc5fced484153" /><Relationship Type="http://schemas.openxmlformats.org/officeDocument/2006/relationships/slideMaster" Target="/ppt/slideMasters/slideMaster1.xml" Id="R348ca62adeca43f7" /><Relationship Type="http://schemas.openxmlformats.org/officeDocument/2006/relationships/notesMaster" Target="/ppt/notesMasters/notesMaster1.xml" Id="Rab4a36e4ef6d4a9a" /><Relationship Type="http://schemas.openxmlformats.org/officeDocument/2006/relationships/presProps" Target="/ppt/presProps.xml" Id="Rbd1aab6bb90e41c6" /><Relationship Type="http://schemas.openxmlformats.org/officeDocument/2006/relationships/tableStyles" Target="/ppt/tableStyles.xml" Id="R072abaab175f45cb" /><Relationship Type="http://schemas.openxmlformats.org/officeDocument/2006/relationships/slide" Target="/ppt/slides/slide1.xml" Id="R1cfee8aa1c1441b8" /><Relationship Type="http://schemas.openxmlformats.org/officeDocument/2006/relationships/slide" Target="/ppt/slides/slide2.xml" Id="Rc22e629fcfad43a0" /><Relationship Type="http://schemas.openxmlformats.org/officeDocument/2006/relationships/slide" Target="/ppt/slides/slide3.xml" Id="R8bbaa506a22d46a8" /><Relationship Type="http://schemas.openxmlformats.org/officeDocument/2006/relationships/slide" Target="/ppt/slides/slide4.xml" Id="Rbca44e0de40b43e1" /><Relationship Type="http://schemas.openxmlformats.org/officeDocument/2006/relationships/slide" Target="/ppt/slides/slide5.xml" Id="R663428d18afe4a00" /><Relationship Type="http://schemas.openxmlformats.org/officeDocument/2006/relationships/slide" Target="/ppt/slides/slide6.xml" Id="Raa7a20a7ecc6452a" /><Relationship Type="http://schemas.openxmlformats.org/officeDocument/2006/relationships/slide" Target="/ppt/slides/slide7.xml" Id="Rb24b5bbe8a36447f" /><Relationship Type="http://schemas.openxmlformats.org/officeDocument/2006/relationships/slide" Target="/ppt/slides/slide8.xml" Id="R8c355e417ca74565" /><Relationship Type="http://schemas.openxmlformats.org/officeDocument/2006/relationships/slide" Target="/ppt/slides/slide9.xml" Id="Rcfa121834628443e" /><Relationship Type="http://schemas.openxmlformats.org/officeDocument/2006/relationships/slide" Target="/ppt/slides/slide10.xml" Id="R84f09de8671d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fcef67536d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832ca8fda4118" /><Relationship Type="http://schemas.openxmlformats.org/officeDocument/2006/relationships/notesMaster" Target="/ppt/notesMasters/notesMaster1.xml" Id="R776fc313a525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9918e1cb94826" /><Relationship Type="http://schemas.openxmlformats.org/officeDocument/2006/relationships/notesMaster" Target="/ppt/notesMasters/notesMaster1.xml" Id="R343a69d678f047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0487edd6d94a45" /><Relationship Type="http://schemas.openxmlformats.org/officeDocument/2006/relationships/notesMaster" Target="/ppt/notesMasters/notesMaster1.xml" Id="R9f120a3d04fa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418637c044744" /><Relationship Type="http://schemas.openxmlformats.org/officeDocument/2006/relationships/notesMaster" Target="/ppt/notesMasters/notesMaster1.xml" Id="R06dbc2c75455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3cdb634dc547c3" /><Relationship Type="http://schemas.openxmlformats.org/officeDocument/2006/relationships/notesMaster" Target="/ppt/notesMasters/notesMaster1.xml" Id="Rbcf8a3019e47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19361c60664a02" /><Relationship Type="http://schemas.openxmlformats.org/officeDocument/2006/relationships/notesMaster" Target="/ppt/notesMasters/notesMaster1.xml" Id="R5f04aef442d0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fa5f60a2e84f44" /><Relationship Type="http://schemas.openxmlformats.org/officeDocument/2006/relationships/notesMaster" Target="/ppt/notesMasters/notesMaster1.xml" Id="R19b4a3905cb0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5a94125eb45af" /><Relationship Type="http://schemas.openxmlformats.org/officeDocument/2006/relationships/notesMaster" Target="/ppt/notesMasters/notesMaster1.xml" Id="Rb2e3d529ca6540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8bceabb7274349" /><Relationship Type="http://schemas.openxmlformats.org/officeDocument/2006/relationships/notesMaster" Target="/ppt/notesMasters/notesMaster1.xml" Id="R07e6fddb12ac49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126c37e52c4da2" /><Relationship Type="http://schemas.openxmlformats.org/officeDocument/2006/relationships/notesMaster" Target="/ppt/notesMasters/notesMaster1.xml" Id="R78c9eb28189d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eredő, áram és részfeszültségek számítása és mérése.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feszültség azonosságát a közös csomópontokkal magyarázzuk.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Példa: 220 Ω ∥ 330 Ω = 132 Ω.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megoldási sorrendet minden példánál tartsuk meg.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Eredő után Ohm törvényét alkalmazzuk a teljes körre.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Használjuk minden elemre az Uₙ = Rₙ · I képletet.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ágáramok összege közelítse a forrásból kilépő áramot.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 csak törpefeszültségen történjen.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laborjegyzőkönyvben mindhárom összefüggést külön ellenőrizzük.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mondassuk vissza a három alapösszefüggést.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- 08.Parhuzamos_ellenallasok.docx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0b600850b41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127b9780f403f" /><Relationship Type="http://schemas.openxmlformats.org/officeDocument/2006/relationships/slideLayout" Target="/ppt/slideLayouts/slideLayout1.xml" Id="R32b4bbb53c4d4d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4bbb53c4d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419988c694613" /><Relationship Type="http://schemas.openxmlformats.org/officeDocument/2006/relationships/notesSlide" Target="/ppt/notesSlides/notesSlide1.xml" Id="Rc83b4779d2f0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41b33be094b4c" /><Relationship Type="http://schemas.openxmlformats.org/officeDocument/2006/relationships/notesSlide" Target="/ppt/notesSlides/notesSlide2.xml" Id="Ra6227b749a28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62a7b33234cce" /><Relationship Type="http://schemas.openxmlformats.org/officeDocument/2006/relationships/notesSlide" Target="/ppt/notesSlides/notesSlide3.xml" Id="R98fee748f999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3fbb8e6ba474b" /><Relationship Type="http://schemas.openxmlformats.org/officeDocument/2006/relationships/notesSlide" Target="/ppt/notesSlides/notesSlide4.xml" Id="R82a07d2e39cb4b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97eda5b8c46f2" /><Relationship Type="http://schemas.openxmlformats.org/officeDocument/2006/relationships/notesSlide" Target="/ppt/notesSlides/notesSlide5.xml" Id="R0798f80228b74b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61635fb0b4025" /><Relationship Type="http://schemas.openxmlformats.org/officeDocument/2006/relationships/notesSlide" Target="/ppt/notesSlides/notesSlide6.xml" Id="Rccd685ad9cf049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d9df69524b41" /><Relationship Type="http://schemas.openxmlformats.org/officeDocument/2006/relationships/notesSlide" Target="/ppt/notesSlides/notesSlide7.xml" Id="R2811abcff45a4d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0e6788af41d8" /><Relationship Type="http://schemas.openxmlformats.org/officeDocument/2006/relationships/notesSlide" Target="/ppt/notesSlides/notesSlide8.xml" Id="R7240a3e4ef48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7a7e90a9415b" /><Relationship Type="http://schemas.openxmlformats.org/officeDocument/2006/relationships/notesSlide" Target="/ppt/notesSlides/notesSlide9.xml" Id="R8e8054bb5b564f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df718152c4d73" /><Relationship Type="http://schemas.openxmlformats.org/officeDocument/2006/relationships/notesSlide" Target="/ppt/notesSlides/notesSlide10.xml" Id="R8a4495c07021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F1002-E223-499F-A022-E1BEFF8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AF477-45D0-4BFB-A532-6A7EE6E7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Párhuzamos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ellenálláskapcsolások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3BEB3-2F39-45DA-B402-F0BF25E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8.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6E971-1370-4598-8523-03DD7FB7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1DAF6-90C1-402F-BF6E-A4BA57C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R₁ ∥ R₂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0F664-AAB2-4FCC-8C81-9F369EB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több áramút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B4207-6B1F-4A93-B016-ECA1FE5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feszültség azonos, az áram megoszlik.</a:t>
            </a:r>
          </a:p>
        </p:txBody>
      </p:sp>
    </p:spTree>
    <p:extLst>
      <p:ext uri="{BB962C8B-B14F-4D97-AF65-F5344CB8AC3E}">
        <p14:creationId xmlns:p14="http://schemas.microsoft.com/office/powerpoint/2010/main" val="769027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56771-3F71-446E-A451-F14B8C1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Párhuzamos körben több áramút van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3CE01-26CE-431B-B178-1A97FA72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79F02-72A1-45BF-B61B-C74C260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3DD8-C933-4A60-A9D3-4D96B46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6BE37-3F38-4561-BE55-66C4F32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ELSŐ ÁG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2E3C7-EF6D-472D-8362-82E3D68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A64EB-824A-4511-B7A6-1E0D26FD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U₁ = 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8DCB2-4E98-4D74-80FC-CA9CE8EA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5137F-87B5-4E55-955D-16D7C66B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MÁSODIK 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ECEC1-11E3-43E7-B8EB-097C14D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B7B90-2F58-4615-A0D0-A975E90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U₂ = 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53166-283A-4DB6-ABBC-7E9876E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FE3B-D85E-48FE-9CDB-80B041D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HARMADIK ÁG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FBD62-6F4F-4050-898F-5A4845C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8BE56-3DDD-4C28-BE90-584F453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U₃ = 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E2A4A-5751-42B3-9EE3-35E1252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= U₁ = U₂ = U₃</a:t>
            </a:r>
          </a:p>
        </p:txBody>
      </p:sp>
    </p:spTree>
    <p:extLst>
      <p:ext uri="{BB962C8B-B14F-4D97-AF65-F5344CB8AC3E}">
        <p14:creationId xmlns:p14="http://schemas.microsoft.com/office/powerpoint/2010/main" val="1116528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0BE77-6EBD-448E-B130-E2B7519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párhuzamos eredő kisebb minden ágellenállásnál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CE8F0-F348-4463-9E7E-7091C8B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1495C-9394-4175-A08F-26F07D12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F9D0-D50F-4A25-A465-08445CAD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5A085-FC3D-40DF-B0C2-0DC55885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KÉT ÁG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0BB36-3AE9-4D1F-99F5-68B9444E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12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Rₑ = R₁·R₂ / (R₁+R₂)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5AC52-ECD3-4BCD-8B34-6B56269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47CEA-3180-437B-809B-1206DE6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47BFF-9E72-4D42-B534-11148EC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HÁROM 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F9A9F-82AD-4090-8EA7-DE852DB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12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1/Rₑ = 1/R₁ + 1/R₂ + 1/R₃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12DE-76A3-4303-9516-25A71E3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217ED-A09A-46B0-BEFA-418A9E4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CB5A9-B6A3-42AB-835E-A3723A6D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ÁLTALÁNOSAN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C08E6-51AF-4A03-81B0-6EDACCC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1/Rₑ = Σ(1/R)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E2219-68B9-449F-9C9E-90DB312B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39798-A99B-481F-A3ED-74D542B3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eredő mindig kisebb a legkisebb ágellenállásnál.</a:t>
            </a:r>
          </a:p>
        </p:txBody>
      </p:sp>
    </p:spTree>
    <p:extLst>
      <p:ext uri="{BB962C8B-B14F-4D97-AF65-F5344CB8AC3E}">
        <p14:creationId xmlns:p14="http://schemas.microsoft.com/office/powerpoint/2010/main" val="115736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7D88F-99F6-4ECE-81BD-1018469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párhuzamos kör számítása öt lépésben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E5932-52E2-4BA3-879A-EE78B51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809A2-F98A-4AE4-BA4A-127AE33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94EF-CDE4-4982-AB51-ACC658D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DF452-704B-41D8-A890-20D0571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84934-C2C9-43D9-93ED-C423DCC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Ágellenállások felírása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29FB-BA66-4E83-A1AC-6C9699D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60DBF-55BA-4813-A2AF-A5751206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0DC59-298D-4955-9328-00A046D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Eredő kiszámítása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B66F0-3EFB-4E69-85AB-507B558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9DAB3-856C-4144-B7F0-DE5046D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DD5-0328-41AB-AF01-BF008DB7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Ágáramok meghatározása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11424-3438-4ABB-ACE8-F8F58195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5DE18-74D3-43FD-91AE-05136A5E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ACB93-2E75-40BC-89E9-58A1FAC6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Ágáramok összeadása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0EAA8-9183-4114-B077-BF01E609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B3012-3CE3-42D5-8619-B7A086E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D5132-2D06-4CE4-97B9-F3DB2C51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Csomóponti törvény ellenőrzése</a:t>
            </a:r>
          </a:p>
        </p:txBody>
      </p:sp>
    </p:spTree>
    <p:extLst>
      <p:ext uri="{BB962C8B-B14F-4D97-AF65-F5344CB8AC3E}">
        <p14:creationId xmlns:p14="http://schemas.microsoft.com/office/powerpoint/2010/main" val="397025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CF920-1856-43FA-B1AC-7C29D58E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Példa: ágáramokból kapjuk az összáramot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90AC-33B8-486D-BBC1-BC8995D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0449B-372D-42AD-8316-EAF89EB4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DCFA2-47C5-4CAD-BF24-AB93121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= 12 V</a:t>
            </a:r>
          </a:p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R₁ = 220 Ω</a:t>
            </a:r>
          </a:p>
          <a:p xmlns:a="http://schemas.openxmlformats.org/drawingml/2006/main">
            <a:pPr algn="l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R₂ = 330 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308D0-B311-4694-8012-D31819A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6477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9354D-CAD1-46C8-8402-6185F23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Rₑ = 132 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62B3E-C1E0-41FC-AD82-7A14C9CB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I₁ = 54,5 mA; I₂ = 36,4 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420EA-59D4-4F80-9D6F-E1D2AC5C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I₁ + I₂ = 90,9 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9D9A-7F9F-4ED7-BA5A-20616CA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Mindkét ágon ugyanaz a 12 V feszültség mérhető.</a:t>
            </a:r>
          </a:p>
        </p:txBody>
      </p:sp>
    </p:spTree>
    <p:extLst>
      <p:ext uri="{BB962C8B-B14F-4D97-AF65-F5344CB8AC3E}">
        <p14:creationId xmlns:p14="http://schemas.microsoft.com/office/powerpoint/2010/main" val="1892598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7B3D6-4F97-4346-A5EB-95244F6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kisebb ellenállású ágban nagyobb áram folyik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60FF1-F830-4E14-B60E-456D7F14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850F6-3320-4D59-9D0E-99EFA7A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0F41D-93BD-43B3-8A2C-C570AB1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FD5EB-2E9A-4991-AAF0-7803B2B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R₁ = 220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EB663-B529-4F0B-BB43-74BDF8CC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I₁ = 54,5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C11F-57FB-4EA0-A522-42192FF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nagyobb áram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6A22F-508D-493A-9EDA-813F3786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ED4B-6073-416D-8DD0-8061574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R₂ = 330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64C95-C559-44C3-84C3-9B49AF2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I₂ = 36,4 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D28D4-E8F9-4633-8400-D4E211B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kisebb áram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BA384-D9F4-4574-9A4C-DB8AE8EF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053C4-C808-4A97-B2A9-3BD8C2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ÖSSZESEN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F581D-42D2-4386-A5E3-B011A95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= 90,9 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511B2-705A-47D2-93FB-941B1F9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ágáramok összege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8FF81-6939-4ADC-8983-A38AA0E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Minden ág feszültsége azonos; az áram az ellenállással fordítottan arányos.</a:t>
            </a:r>
          </a:p>
        </p:txBody>
      </p:sp>
    </p:spTree>
    <p:extLst>
      <p:ext uri="{BB962C8B-B14F-4D97-AF65-F5344CB8AC3E}">
        <p14:creationId xmlns:p14="http://schemas.microsoft.com/office/powerpoint/2010/main" val="820186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541DC-29C8-4D46-BA83-10E8C6D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Kirchhoff csomóponti törvénye ellenőrzi az eredményt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9583-D29A-4D3B-AD0A-25F3511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7CC1F-EEC8-4841-9938-F39EE13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75B48-89F4-4EEA-875A-4212981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60386-7FC9-4C3B-BD64-95F2BC9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ELSŐ ÁG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27990-1DC4-4F8B-B793-12191278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CC1BD-B223-4464-A0DE-1B6A4E5F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54,5 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9049F-1F46-4295-9336-8C37673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D2C1F-523B-4F9D-B083-98DBEC0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MÁSODIK 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634F-B2AC-4390-8D83-A5591FC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103A9-3AB4-430F-BE22-32219AD8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36,4 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5315C-30E0-4F17-97C5-8C9EA4E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98ED2-3C2F-419D-A545-F2BA3C6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ÖSSZÁRAM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89EED-80AA-42E2-83E6-F57B5718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18AC0-2378-46B6-A370-CE542BF6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90,9 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930D1-3807-4560-8DF4-849FE6B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= I₁ + I₂ = 90,9 mA</a:t>
            </a:r>
          </a:p>
        </p:txBody>
      </p:sp>
    </p:spTree>
    <p:extLst>
      <p:ext uri="{BB962C8B-B14F-4D97-AF65-F5344CB8AC3E}">
        <p14:creationId xmlns:p14="http://schemas.microsoft.com/office/powerpoint/2010/main" val="1373930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DD555-BAEE-4F9B-84FF-BDE3912A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Egy ág szakadása nem állítja le a többi ágat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D6445-05E6-4467-9846-9343D267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6F9D0-1093-472C-874E-1896F94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1E11A-BC9E-4EA3-A596-6A73B5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D41D-2E80-405A-AEBC-C86B17D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TÖBB FÜGGETLEN ÁRAMÚT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42280-2E1A-43B3-851F-08B6735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Ha az egyik ág megszakad,</a:t>
            </a:r>
          </a:p>
          <a:p xmlns:a="http://schemas.openxmlformats.org/drawingml/2006/main">
            <a:pPr algn="ctr">
              <a:defRPr sz="26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többi ág tovább működik.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FD5C0-DE6D-4A52-96B7-F27D745F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Ellenállást csak feszültségmentes körben mérünk.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B5E2F-2BBD-4BDE-93A2-AC4981C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előtt mindig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1106844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9769B-5BCA-421B-B48B-995D8813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mérés három párhuzamos szabályt igazol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D086-BABC-4EC8-8578-814AE43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274A-7E1C-454A-B7F5-36558BB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257B2-F44D-419F-B33D-A51933C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B4C00-B09A-443D-8C95-61BBEEED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Rₑ kisebb a legkisebb ágellenállásnál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AA3E0-26AD-4C5D-B2B1-97735601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09FCC-E5E0-442A-815B-9C8B20B3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U minden ágban azonos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9907-C575-4500-BA6E-4EE9E05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1945C-C0EF-452C-B79D-95FF1CA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≈ I₁ + I₂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DB759-0955-4438-8DAC-3EDFF66A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számított és mért érték kis eltérése természetes.</a:t>
            </a:r>
          </a:p>
        </p:txBody>
      </p:sp>
    </p:spTree>
    <p:extLst>
      <p:ext uri="{BB962C8B-B14F-4D97-AF65-F5344CB8AC3E}">
        <p14:creationId xmlns:p14="http://schemas.microsoft.com/office/powerpoint/2010/main" val="117113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6396D-90BD-4060-94F2-8584E09F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CB3F2-2518-49A5-99E1-1D3230E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ACDBC-A40C-4A8E-BCE5-30A1F39B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Párhuzamos körben azonos a feszültség minden ágon.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F66CD-163B-4329-8764-205441F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9CBAF-3795-4D30-80EA-88E5388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 eredő kisebb a legkisebb ágellenállásnál.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6A7EE-127F-440C-B856-2C3F2E2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3EDBD-BFD3-47D2-8757-F0E695E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 összáram az ágáramok összege.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1956A-52F0-4C6C-81E5-5AC2800A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B009D-8E60-404C-96CC-4E93863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Egy ág hibája nem állítja le a többi ágat.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49EB-15E2-4B53-83C1-B1051E44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vegyes ellenálláskapcsolások</a:t>
            </a:r>
          </a:p>
        </p:txBody>
      </p:sp>
    </p:spTree>
    <p:extLst>
      <p:ext uri="{BB962C8B-B14F-4D97-AF65-F5344CB8AC3E}">
        <p14:creationId xmlns:p14="http://schemas.microsoft.com/office/powerpoint/2010/main" val="336951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2026-08-20T15:08:00.8820000Z</dcterms:created>
  <dcterms:modified xsi:type="dcterms:W3CDTF">2026-08-20T15:08:00.8820000Z</dcterms:modified>
</coreProperties>
</file>