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051560" cy="73152"/>
          </a:xfrm>
          <a:prstGeom prst="rect">
            <a:avLst/>
          </a:prstGeom>
          <a:solidFill>
            <a:srgbClr val="5CA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ED7EB"/>
                </a:solidFill>
                <a:latin typeface="Aptos"/>
              </a:defRPr>
            </a:pPr>
            <a:r>
              <a:t>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Elemek és akkumulátorok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90672"/>
            <a:ext cx="9784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DCE8F2"/>
                </a:solidFill>
                <a:latin typeface="Aptos"/>
              </a:defRPr>
            </a:pPr>
            <a:r>
              <a:t>Primer és szekunder elektrokémiai feszültségforrások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4160520"/>
            <a:ext cx="23317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744200" y="4453128"/>
            <a:ext cx="22860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77072" y="4325112"/>
            <a:ext cx="1508760" cy="676656"/>
          </a:xfrm>
          <a:prstGeom prst="roundRect">
            <a:avLst/>
          </a:prstGeom>
          <a:solidFill>
            <a:srgbClr val="4F9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94360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BED7EB"/>
                </a:solidFill>
                <a:latin typeface="Aptos"/>
              </a:defRPr>
            </a:pPr>
            <a:r>
              <a:t>5 × 45 perc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9552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73952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villamosságtan történetéből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Gaston Planté és az újratölthető akkumulátor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73152" cy="34747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93392"/>
            <a:ext cx="4434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1859 – mérföldkő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41448"/>
            <a:ext cx="4434840" cy="2724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Gaston Planté francia fizikus elkészítette az első újratölthető ólom-savas akkumulátort.</a:t>
            </a:r>
            <a:br/>
            <a:br/>
            <a:r>
              <a:t>A technológia alapelve ma is jelen van a járműiparban, UPS-rendszerekben és energiatárolásban.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1828800"/>
            <a:ext cx="5760720" cy="34747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212848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6FB5"/>
                </a:solidFill>
                <a:latin typeface="Aptos"/>
              </a:defRPr>
            </a:pPr>
            <a:r>
              <a:t>GONDOLKODJ EL!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788920"/>
            <a:ext cx="47091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4304E"/>
                </a:solidFill>
                <a:latin typeface="Aptos"/>
              </a:defRPr>
            </a:pPr>
            <a:r>
              <a:t>Miért tölthető újra egy autóakkumulátor, míg a hagyományos ceruzaelem általában nem?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4343400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C6976"/>
                </a:solidFill>
                <a:latin typeface="Aptos"/>
              </a:defRPr>
            </a:pPr>
            <a:r>
              <a:t>A válasz kulcsa: a kémiai folyamat visszafordíthatósága.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9552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73952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Heti küldetés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5544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4304E"/>
                </a:solidFill>
                <a:latin typeface="Aptos"/>
              </a:defRPr>
            </a:pPr>
            <a:r>
              <a:t>A hét végére képes leszel…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658368" cy="658368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276856"/>
            <a:ext cx="658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6712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6FB5"/>
                </a:solidFill>
                <a:latin typeface="Aptos"/>
              </a:defRPr>
            </a:pPr>
            <a:r>
              <a:t>megkülönböztetni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459736"/>
            <a:ext cx="9326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32D37"/>
                </a:solidFill>
                <a:latin typeface="Aptos"/>
              </a:defRPr>
            </a:pPr>
            <a:r>
              <a:t>a primer és szekunder feszültségforrásokat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081528"/>
            <a:ext cx="658368" cy="658368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209544"/>
            <a:ext cx="658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9816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6FB5"/>
                </a:solidFill>
                <a:latin typeface="Aptos"/>
              </a:defRPr>
            </a:pPr>
            <a:r>
              <a:t>értelmezni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92424"/>
            <a:ext cx="9326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32D37"/>
                </a:solidFill>
                <a:latin typeface="Aptos"/>
              </a:defRPr>
            </a:pPr>
            <a:r>
              <a:t>a töltés, kisütés és kapacitás fogalmát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014216"/>
            <a:ext cx="658368" cy="658368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142232"/>
            <a:ext cx="658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032504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6FB5"/>
                </a:solidFill>
                <a:latin typeface="Aptos"/>
              </a:defRPr>
            </a:pPr>
            <a:r>
              <a:t>összehasonlítani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325112"/>
            <a:ext cx="9326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32D37"/>
                </a:solidFill>
                <a:latin typeface="Aptos"/>
              </a:defRPr>
            </a:pPr>
            <a:r>
              <a:t>az ólom-savas, NiMH, Li-ion és LiFePO₄ akkumulátorokat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946904"/>
            <a:ext cx="658368" cy="658368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074920"/>
            <a:ext cx="658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96519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6FB5"/>
                </a:solidFill>
                <a:latin typeface="Aptos"/>
              </a:defRPr>
            </a:pPr>
            <a:r>
              <a:t>biztonságosan kezelni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257800"/>
            <a:ext cx="9326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32D37"/>
                </a:solidFill>
                <a:latin typeface="Aptos"/>
              </a:defRPr>
            </a:pPr>
            <a:r>
              <a:t>az akkumulátorokat és töltőket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9552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73952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Primer vagy szekunder?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303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73152" cy="420624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PRIMER • nem tölthető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58568"/>
            <a:ext cx="4892040" cy="3456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kémiai folyamat normál használat mellett nem fordítható vissza.</a:t>
            </a:r>
            <a:br/>
            <a:br/>
            <a:r>
              <a:t>Példák:</a:t>
            </a:r>
            <a:br/>
            <a:r>
              <a:t>• cink–szén elem</a:t>
            </a:r>
            <a:br/>
            <a:r>
              <a:t>• alkáli elem</a:t>
            </a:r>
            <a:br/>
            <a:r>
              <a:t>• lítium gombelem</a:t>
            </a:r>
            <a:br/>
            <a:br/>
            <a:r>
              <a:t>Lemerülés után cserélni kell.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645920"/>
            <a:ext cx="5303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6208" y="1645920"/>
            <a:ext cx="73152" cy="420624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81051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SZEKUNDER • újratölthető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258568"/>
            <a:ext cx="4892040" cy="3456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kémiai folyamat külső villamos energiával visszafordítható.</a:t>
            </a:r>
            <a:br/>
            <a:br/>
            <a:r>
              <a:t>Példák:</a:t>
            </a:r>
            <a:br/>
            <a:r>
              <a:t>• ólom-savas</a:t>
            </a:r>
            <a:br/>
            <a:r>
              <a:t>• NiMH</a:t>
            </a:r>
            <a:br/>
            <a:r>
              <a:t>• Li-ion</a:t>
            </a:r>
            <a:br/>
            <a:r>
              <a:t>• LiFePO₄</a:t>
            </a:r>
            <a:br/>
            <a:br/>
            <a:r>
              <a:t>Többször újratölthető.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9552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73952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Szakmai pontosítás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Feszültségforrás ≠ állandó áramú áramforrás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108356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4304E"/>
                </a:solidFill>
                <a:latin typeface="Aptos"/>
              </a:defRPr>
            </a:pPr>
            <a:r>
              <a:t>A hétköznapi elemek és akkumulátorok a gyakorlatban feszültségforrásként viselkednek.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37560"/>
            <a:ext cx="10058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0">
                <a:solidFill>
                  <a:srgbClr val="232D37"/>
                </a:solidFill>
                <a:latin typeface="Aptos"/>
              </a:defRPr>
            </a:pPr>
            <a:r>
              <a:t>Az elektronikában az „áramforrás” kifejezés ettől eltérő jelentésű: állandó áram biztosítására szolgáló áramkört is jelenthet.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4709160"/>
            <a:ext cx="4251960" cy="68580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4892040"/>
            <a:ext cx="3886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F6FB5"/>
                </a:solidFill>
                <a:latin typeface="Aptos"/>
              </a:defRPr>
            </a:pPr>
            <a:r>
              <a:t>Pontosan fogalmazunk → pontosan gondolkodunk.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9552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73952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Négy fontos akkumulátortípus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286000" cy="594360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64792"/>
            <a:ext cx="2066543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Típus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600200"/>
            <a:ext cx="3566160" cy="594360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5808" y="1764792"/>
            <a:ext cx="334670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Jellemző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600200"/>
            <a:ext cx="5029200" cy="594360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1764792"/>
            <a:ext cx="48097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Tipikus alkalmazás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194560"/>
            <a:ext cx="22860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359152"/>
            <a:ext cx="2066543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Ólom-savas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2194560"/>
            <a:ext cx="35661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35808" y="2359152"/>
            <a:ext cx="334670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32D37"/>
                </a:solidFill>
                <a:latin typeface="Aptos"/>
              </a:defRPr>
            </a:pPr>
            <a:r>
              <a:t>nagy indítóáram, bevált technológia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194560"/>
            <a:ext cx="50292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2359152"/>
            <a:ext cx="480974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32D37"/>
                </a:solidFill>
                <a:latin typeface="Aptos"/>
              </a:defRPr>
            </a:pPr>
            <a:r>
              <a:t>jármű, UPS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999232"/>
            <a:ext cx="2286000" cy="804672"/>
          </a:xfrm>
          <a:prstGeom prst="rect">
            <a:avLst/>
          </a:prstGeom>
          <a:solidFill>
            <a:srgbClr val="E8F0F7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163824"/>
            <a:ext cx="2066543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NiMH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2999232"/>
            <a:ext cx="3566160" cy="804672"/>
          </a:xfrm>
          <a:prstGeom prst="rect">
            <a:avLst/>
          </a:prstGeom>
          <a:solidFill>
            <a:srgbClr val="E8F0F7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35808" y="3163824"/>
            <a:ext cx="334670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32D37"/>
                </a:solidFill>
                <a:latin typeface="Aptos"/>
              </a:defRPr>
            </a:pPr>
            <a:r>
              <a:t>robosztus, újratölthető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999232"/>
            <a:ext cx="5029200" cy="804672"/>
          </a:xfrm>
          <a:prstGeom prst="rect">
            <a:avLst/>
          </a:prstGeom>
          <a:solidFill>
            <a:srgbClr val="E8F0F7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3163824"/>
            <a:ext cx="480974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32D37"/>
                </a:solidFill>
                <a:latin typeface="Aptos"/>
              </a:defRPr>
            </a:pPr>
            <a:r>
              <a:t>kézi eszközök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803904"/>
            <a:ext cx="22860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968496"/>
            <a:ext cx="2066543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Li-ion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3803904"/>
            <a:ext cx="35661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35808" y="3968496"/>
            <a:ext cx="334670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32D37"/>
                </a:solidFill>
                <a:latin typeface="Aptos"/>
              </a:defRPr>
            </a:pPr>
            <a:r>
              <a:t>nagy energiasűrűség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3803904"/>
            <a:ext cx="50292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3968496"/>
            <a:ext cx="480974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32D37"/>
                </a:solidFill>
                <a:latin typeface="Aptos"/>
              </a:defRPr>
            </a:pPr>
            <a:r>
              <a:t>mobil eszköz, EV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608576"/>
            <a:ext cx="2286000" cy="804672"/>
          </a:xfrm>
          <a:prstGeom prst="rect">
            <a:avLst/>
          </a:prstGeom>
          <a:solidFill>
            <a:srgbClr val="E8F0F7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773168"/>
            <a:ext cx="2066543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LiFePO₄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4608576"/>
            <a:ext cx="3566160" cy="804672"/>
          </a:xfrm>
          <a:prstGeom prst="rect">
            <a:avLst/>
          </a:prstGeom>
          <a:solidFill>
            <a:srgbClr val="E8F0F7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35808" y="4773168"/>
            <a:ext cx="334670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32D37"/>
                </a:solidFill>
                <a:latin typeface="Aptos"/>
              </a:defRPr>
            </a:pPr>
            <a:r>
              <a:t>hosszú élettartam, magas biztonság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4608576"/>
            <a:ext cx="5029200" cy="804672"/>
          </a:xfrm>
          <a:prstGeom prst="rect">
            <a:avLst/>
          </a:prstGeom>
          <a:solidFill>
            <a:srgbClr val="E8F0F7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01968" y="4773168"/>
            <a:ext cx="480974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32D37"/>
                </a:solidFill>
                <a:latin typeface="Aptos"/>
              </a:defRPr>
            </a:pPr>
            <a:r>
              <a:t>ipari energiatárolás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71500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5C6976"/>
                </a:solidFill>
                <a:latin typeface="Aptos"/>
              </a:defRPr>
            </a:pPr>
            <a:r>
              <a:t>A forrás a LiFePO₄ technológiát hosszú élettartama és magas biztonsága miatt emeli ki.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9552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73952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Töltés • kisütés • kapacitás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4290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73152" cy="34290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6479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TÖLTÉS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3017520" cy="2679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Külső villamos energiával a szekunder cella kémiai állapota részben visszaállítható.</a:t>
            </a:r>
            <a:br/>
            <a:br/>
            <a:r>
              <a:t>Mindig megfelelő töltőt használunk.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73152" cy="342900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76479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KISÜTÉS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12848"/>
            <a:ext cx="3017520" cy="2679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tárolt kémiai energia villamos energiává alakul, miközben a fogyasztó működik.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00200"/>
            <a:ext cx="34290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1600200"/>
            <a:ext cx="73152" cy="34290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76479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KAPACITÁS • Ah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212848"/>
            <a:ext cx="3017520" cy="2679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kapacitás azt fejezi ki, hogy az akkumulátor meghatározott feltételek mellett mennyi töltést képes leadni.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440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A84040"/>
                </a:solidFill>
                <a:latin typeface="Aptos"/>
              </a:defRPr>
            </a:pPr>
            <a:r>
              <a:t>Gyakori hiba: Ah és Wh összekeverése.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9552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73952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Számítási példa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12 V • 7 Ah akkumulátor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3749039" cy="182880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E ≈ U ×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3383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D2E6F5"/>
                </a:solidFill>
                <a:latin typeface="Aptos"/>
              </a:defRPr>
            </a:pPr>
            <a:r>
              <a:t>12 V × 7 Ah = 84 Wh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1691640"/>
            <a:ext cx="6355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993392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4304E"/>
                </a:solidFill>
                <a:latin typeface="Aptos"/>
              </a:defRPr>
            </a:pPr>
            <a:r>
              <a:t>24 W-os fogyasztó esetén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606040"/>
            <a:ext cx="5669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1F6FB5"/>
                </a:solidFill>
                <a:latin typeface="Aptos"/>
              </a:defRPr>
            </a:pPr>
            <a:r>
              <a:t>t ≈ 84 Wh / 24 W = 3,5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25196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232D37"/>
                </a:solidFill>
                <a:latin typeface="Aptos"/>
              </a:defRPr>
            </a:pPr>
            <a:r>
              <a:t>Ez egyszerű elméleti becslés. A tényleges üzemidőt a terhelés, veszteségek és az akkumulátor állapota is befolyásolja.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9552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73952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Laborfeladat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Nyugalmi és terhelt feszültség összehasonlítása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658368" cy="65836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28216"/>
            <a:ext cx="658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61848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Azonosítsd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1618488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az akkumulátor típusát és névleges feszültségét.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87752"/>
            <a:ext cx="658368" cy="65836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15768"/>
            <a:ext cx="658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6060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Mérd meg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606040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nyugalmi kapocsfeszültséget.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75304"/>
            <a:ext cx="658368" cy="65836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03320"/>
            <a:ext cx="658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59359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Terheld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593592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megfelelő fogyasztóval, majd mérj újra.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62856"/>
            <a:ext cx="658368" cy="65836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690872"/>
            <a:ext cx="658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58114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Rögzítsd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581144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az adatokat mérési jegyzőkönyvben.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669280"/>
            <a:ext cx="10698480" cy="457200"/>
          </a:xfrm>
          <a:prstGeom prst="roundRect">
            <a:avLst/>
          </a:prstGeom>
          <a:solidFill>
            <a:srgbClr val="FFF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779008"/>
            <a:ext cx="10332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BC7B22"/>
                </a:solidFill>
                <a:latin typeface="Aptos"/>
              </a:defRPr>
            </a:pPr>
            <a:r>
              <a:t>Biztonság: polaritás • rövidzár kerülése • megfelelő töltő • sérült akkumulátor nem használható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9552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73952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Gyakori hibák – szakmai kockázatok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6479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Ah ↔ Wh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484632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kapacitás és az energiatartalom nem ugyanaz.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16002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6479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Rossz töltő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12848"/>
            <a:ext cx="484632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töltési módnak illeszkednie kell az akkumulátor típusához.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576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36576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Fordított polaritás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70248"/>
            <a:ext cx="484632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Károsodást és veszélyes állapotot okozhat.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200" y="36576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822191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Rövidzár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70248"/>
            <a:ext cx="484632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Nagy áram, melegedés és sérülés veszélye.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9552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73952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IAP a gyakorlatban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Hol találkozunk akkumulátorokkal?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2057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61872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386584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UPS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246120"/>
            <a:ext cx="1691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szünetmentes tápellátás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1" y="1874519"/>
            <a:ext cx="2057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29584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2386584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246120"/>
            <a:ext cx="1691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tartalék tápellátás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75504" y="1874519"/>
            <a:ext cx="2057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97296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97296" y="2386584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8384" y="3246120"/>
            <a:ext cx="1691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napelemes energiatárolás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43216" y="1874519"/>
            <a:ext cx="2057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65008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65008" y="2386584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EV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6096" y="3246120"/>
            <a:ext cx="1691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elektromos járművek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10928" y="1874519"/>
            <a:ext cx="2057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332720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32720" y="2386584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SEC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93808" y="3246120"/>
            <a:ext cx="1691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biztonságtechnikai rendszerek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983480"/>
            <a:ext cx="10149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F6FB5"/>
                </a:solidFill>
                <a:latin typeface="Aptos"/>
              </a:defRPr>
            </a:pPr>
            <a:r>
              <a:t>Az energiatárolás a modern villamos és automatizálási rendszerek egyik kulcsterülete.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9552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73952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Amit ezen a héten megtanultál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81912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4304E"/>
                </a:solidFill>
                <a:latin typeface="Aptos"/>
              </a:defRPr>
            </a:pPr>
            <a:r>
              <a:t>Primer és szekunder elektrokémiai feszültségforrások különbsége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304288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9572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Ólom-savas, NiMH, Li-ion és LiFePO₄ akkumulátorok alapjellemzői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054096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4553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81527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Töltés, kisütés, kapacitás és ciklusélettartam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803904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9534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31336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Nyugalmi és terhelt feszültség mérése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553712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451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81144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Biztonságos kezelés és a tipikus hibák elkerülése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577840"/>
            <a:ext cx="106070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733288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F6FB5"/>
                </a:solidFill>
                <a:latin typeface="Aptos"/>
              </a:defRPr>
            </a:pPr>
            <a:r>
              <a:t>Következő hét: vezetők, szigetelők és félvezetők tulajdonságai és gyakorlati alkalmazásai.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