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482d1f2521643ea" /><Relationship Type="http://schemas.openxmlformats.org/officeDocument/2006/relationships/extended-properties" Target="/docProps/app.xml" Id="Rc86b2177fcb7483d" /><Relationship Type="http://schemas.openxmlformats.org/officeDocument/2006/relationships/officeDocument" Target="/ppt/presentation.xml" Id="R9c3e85cee7284a1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05a8fed4a8c4fa3"/>
  </p:sldMasterIdLst>
  <p:notesMasterIdLst>
    <p:notesMasterId xmlns:r="http://schemas.openxmlformats.org/officeDocument/2006/relationships" r:id="R40c70d6456764eae"/>
  </p:notesMasterIdLst>
  <p:sldIdLst>
    <p:sldId xmlns:r="http://schemas.openxmlformats.org/officeDocument/2006/relationships" id="256" r:id="R7c09e8ee07844055"/>
    <p:sldId xmlns:r="http://schemas.openxmlformats.org/officeDocument/2006/relationships" id="257" r:id="Rb262db346d664124"/>
    <p:sldId xmlns:r="http://schemas.openxmlformats.org/officeDocument/2006/relationships" id="258" r:id="R89131a8b390b4f15"/>
    <p:sldId xmlns:r="http://schemas.openxmlformats.org/officeDocument/2006/relationships" id="259" r:id="R6bf807fe5f934e0d"/>
    <p:sldId xmlns:r="http://schemas.openxmlformats.org/officeDocument/2006/relationships" id="260" r:id="R79eb50d6bc83411f"/>
    <p:sldId xmlns:r="http://schemas.openxmlformats.org/officeDocument/2006/relationships" id="261" r:id="R491f7534a1144d87"/>
    <p:sldId xmlns:r="http://schemas.openxmlformats.org/officeDocument/2006/relationships" id="262" r:id="R47c734fada7047d0"/>
    <p:sldId xmlns:r="http://schemas.openxmlformats.org/officeDocument/2006/relationships" id="263" r:id="R12be05bdfd0b417a"/>
    <p:sldId xmlns:r="http://schemas.openxmlformats.org/officeDocument/2006/relationships" id="264" r:id="R8cf7b7dcd93a4205"/>
    <p:sldId xmlns:r="http://schemas.openxmlformats.org/officeDocument/2006/relationships" id="265" r:id="R9e806d52cf4647a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ef348d37cc14bd0" /><Relationship Type="http://schemas.openxmlformats.org/officeDocument/2006/relationships/slideMaster" Target="/ppt/slideMasters/slideMaster1.xml" Id="R105a8fed4a8c4fa3" /><Relationship Type="http://schemas.openxmlformats.org/officeDocument/2006/relationships/notesMaster" Target="/ppt/notesMasters/notesMaster1.xml" Id="R40c70d6456764eae" /><Relationship Type="http://schemas.openxmlformats.org/officeDocument/2006/relationships/presProps" Target="/ppt/presProps.xml" Id="R4675a5779d1c43c4" /><Relationship Type="http://schemas.openxmlformats.org/officeDocument/2006/relationships/tableStyles" Target="/ppt/tableStyles.xml" Id="R55db34a1742e4a05" /><Relationship Type="http://schemas.openxmlformats.org/officeDocument/2006/relationships/slide" Target="/ppt/slides/slide1.xml" Id="R7c09e8ee07844055" /><Relationship Type="http://schemas.openxmlformats.org/officeDocument/2006/relationships/slide" Target="/ppt/slides/slide2.xml" Id="Rb262db346d664124" /><Relationship Type="http://schemas.openxmlformats.org/officeDocument/2006/relationships/slide" Target="/ppt/slides/slide3.xml" Id="R89131a8b390b4f15" /><Relationship Type="http://schemas.openxmlformats.org/officeDocument/2006/relationships/slide" Target="/ppt/slides/slide4.xml" Id="R6bf807fe5f934e0d" /><Relationship Type="http://schemas.openxmlformats.org/officeDocument/2006/relationships/slide" Target="/ppt/slides/slide5.xml" Id="R79eb50d6bc83411f" /><Relationship Type="http://schemas.openxmlformats.org/officeDocument/2006/relationships/slide" Target="/ppt/slides/slide6.xml" Id="R491f7534a1144d87" /><Relationship Type="http://schemas.openxmlformats.org/officeDocument/2006/relationships/slide" Target="/ppt/slides/slide7.xml" Id="R47c734fada7047d0" /><Relationship Type="http://schemas.openxmlformats.org/officeDocument/2006/relationships/slide" Target="/ppt/slides/slide8.xml" Id="R12be05bdfd0b417a" /><Relationship Type="http://schemas.openxmlformats.org/officeDocument/2006/relationships/slide" Target="/ppt/slides/slide9.xml" Id="R8cf7b7dcd93a4205" /><Relationship Type="http://schemas.openxmlformats.org/officeDocument/2006/relationships/slide" Target="/ppt/slides/slide10.xml" Id="R9e806d52cf4647a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85c453e9a0440d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898b9b802b14ea5" /><Relationship Type="http://schemas.openxmlformats.org/officeDocument/2006/relationships/notesMaster" Target="/ppt/notesMasters/notesMaster1.xml" Id="Rfd9cf2795b52429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844a5e457904e3f" /><Relationship Type="http://schemas.openxmlformats.org/officeDocument/2006/relationships/notesMaster" Target="/ppt/notesMasters/notesMaster1.xml" Id="Ra5eccf1fbd794dc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f2c8e945a1143cb" /><Relationship Type="http://schemas.openxmlformats.org/officeDocument/2006/relationships/notesMaster" Target="/ppt/notesMasters/notesMaster1.xml" Id="R807b6e3881504e9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eb704288c824dad" /><Relationship Type="http://schemas.openxmlformats.org/officeDocument/2006/relationships/notesMaster" Target="/ppt/notesMasters/notesMaster1.xml" Id="R0de42c83a84a409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03ed90c8c634123" /><Relationship Type="http://schemas.openxmlformats.org/officeDocument/2006/relationships/notesMaster" Target="/ppt/notesMasters/notesMaster1.xml" Id="Rc3eb0124239541f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4dd708b53ea436e" /><Relationship Type="http://schemas.openxmlformats.org/officeDocument/2006/relationships/notesMaster" Target="/ppt/notesMasters/notesMaster1.xml" Id="R038e3fd57d9f4cf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77107c8ffb64fb5" /><Relationship Type="http://schemas.openxmlformats.org/officeDocument/2006/relationships/notesMaster" Target="/ppt/notesMasters/notesMaster1.xml" Id="R0b76d3ba5d294a5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dc7c88386ea42b1" /><Relationship Type="http://schemas.openxmlformats.org/officeDocument/2006/relationships/notesMaster" Target="/ppt/notesMasters/notesMaster1.xml" Id="Red7c29c1362640d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9ef1a52e90d4cef" /><Relationship Type="http://schemas.openxmlformats.org/officeDocument/2006/relationships/notesMaster" Target="/ppt/notesMasters/notesMaster1.xml" Id="Re76b5b8c8f0149b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736cae127434296" /><Relationship Type="http://schemas.openxmlformats.org/officeDocument/2006/relationships/notesMaster" Target="/ppt/notesMasters/notesMaster1.xml" Id="R3a83b459ba36453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Heti cél: két ismert adatból kiszámítani a harmadikat, majd méréssel ellenőrizni.</a:t>
            </a:r>
          </a:p>
          <a:p xmlns:a="http://schemas.openxmlformats.org/drawingml/2006/main">
            <a:r>
              <a:t>Indítsunk egy gyors kérdéssel: mit kell tudnunk egy áramkör áramának meghatározásához?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- 06. Ohm_törvény_gyakorlati_alkalmazása.docx (felhasználó által biztosított forrás)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Ismételjük át a jeleket és mértékegységeket.</a:t>
            </a:r>
          </a:p>
          <a:p xmlns:a="http://schemas.openxmlformats.org/drawingml/2006/main">
            <a:r>
              <a:t>Kérj példát arra, hol találkoztak már U, I és R adatokkal.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- 06. Ohm_törvény_gyakorlati_alkalmazása.docx (felhasználó által biztosított forrás)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Ne a képletháromszög bemagolása legyen a cél, hanem a keresett mennyiség felismerése.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- 06. Ohm_törvény_gyakorlati_alkalmazása.docx (felhasználó által biztosított forrás)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Minden táblai példát ugyanebben az öt lépésben oldjunk meg.</a:t>
            </a:r>
          </a:p>
          <a:p xmlns:a="http://schemas.openxmlformats.org/drawingml/2006/main">
            <a:r>
              <a:t>Külön hangsúly: kΩ → Ω és mA → A.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- 06. Ohm_törvény_gyakorlati_alkalmazása.docx (felhasználó által biztosított forrás)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mértékegység itt már alapegységben van.</a:t>
            </a:r>
          </a:p>
          <a:p xmlns:a="http://schemas.openxmlformats.org/drawingml/2006/main">
            <a:r>
              <a:t>Kérd meg a tanulókat, hogy becsüljék meg az eredmény nagyságrendjét.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- 06. Ohm_törvény_gyakorlati_alkalmazása.docx (felhasználó által biztosított forrás)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Mutass két eltérő hosszúságú és keresztmetszetű vezetékmintát, ha rendelkezésre áll.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- 06. Ohm_törvény_gyakorlati_alkalmazása.docx (felhasználó által biztosított forrás)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Demonstráld a műszervezetékek megfelelő aljzatát is.</a:t>
            </a:r>
          </a:p>
          <a:p xmlns:a="http://schemas.openxmlformats.org/drawingml/2006/main">
            <a:r>
              <a:t>Árammérésnél induljunk a legnagyobb méréshatárról.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- 06. Ohm_törvény_gyakorlati_alkalmazása.docx (felhasználó által biztosított forrás)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Ezt a diát a labor előtt közösen mondassuk vissza.</a:t>
            </a:r>
          </a:p>
          <a:p xmlns:a="http://schemas.openxmlformats.org/drawingml/2006/main">
            <a:r>
              <a:t>A tanulói mérés csak törpefeszültségen történjen.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- 06. Ohm_törvény_gyakorlati_alkalmazása.docx (felhasználó által biztosított forrás)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laborban minden mérési ponthoz számítsák ki R értékét.</a:t>
            </a:r>
          </a:p>
          <a:p xmlns:a="http://schemas.openxmlformats.org/drawingml/2006/main">
            <a:r>
              <a:t>Beszéljük meg, hogy a kis eltérés természetes, a nagy eltérés hibára utalhat.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- 06. Ohm_törvény_gyakorlati_alkalmazása.docx (felhasználó által biztosított forrás)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Zárásként kérj egy rövid számítási és egy bekötési szabályt minden tanulótól.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- 06. Ohm_törvény_gyakorlati_alkalmazása.docx (felhasználó által biztosított forrás)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5eb75bea0384db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559f3bdd59a4123" /><Relationship Type="http://schemas.openxmlformats.org/officeDocument/2006/relationships/slideLayout" Target="/ppt/slideLayouts/slideLayout1.xml" Id="R9613deecb029433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613deecb029433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071c4794f042a3" /><Relationship Type="http://schemas.openxmlformats.org/officeDocument/2006/relationships/notesSlide" Target="/ppt/notesSlides/notesSlide1.xml" Id="R91533e795c764b0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019b8e0d2d4617" /><Relationship Type="http://schemas.openxmlformats.org/officeDocument/2006/relationships/notesSlide" Target="/ppt/notesSlides/notesSlide2.xml" Id="Rcb33d61aa566417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217bdc78664a53" /><Relationship Type="http://schemas.openxmlformats.org/officeDocument/2006/relationships/notesSlide" Target="/ppt/notesSlides/notesSlide3.xml" Id="R736c8b5ea2af478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30a4ff532346a2" /><Relationship Type="http://schemas.openxmlformats.org/officeDocument/2006/relationships/notesSlide" Target="/ppt/notesSlides/notesSlide4.xml" Id="R86e416a9cdd4433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e3ea7586da4b3f" /><Relationship Type="http://schemas.openxmlformats.org/officeDocument/2006/relationships/notesSlide" Target="/ppt/notesSlides/notesSlide5.xml" Id="Rc92e8a8c6b6841e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881cfac83642d9" /><Relationship Type="http://schemas.openxmlformats.org/officeDocument/2006/relationships/notesSlide" Target="/ppt/notesSlides/notesSlide6.xml" Id="Rfe92a8fb6eb5489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0245d6edca444c" /><Relationship Type="http://schemas.openxmlformats.org/officeDocument/2006/relationships/notesSlide" Target="/ppt/notesSlides/notesSlide7.xml" Id="Rf53f6fa3a6124cc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ff13284b164a25" /><Relationship Type="http://schemas.openxmlformats.org/officeDocument/2006/relationships/notesSlide" Target="/ppt/notesSlides/notesSlide8.xml" Id="R9d2860d1d6574bd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fcffe5f168410c" /><Relationship Type="http://schemas.openxmlformats.org/officeDocument/2006/relationships/notesSlide" Target="/ppt/notesSlides/notesSlide9.xml" Id="R8b81f374d76c40f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1126641cbe44c3" /><Relationship Type="http://schemas.openxmlformats.org/officeDocument/2006/relationships/notesSlide" Target="/ppt/notesSlides/notesSlide10.xml" Id="R1ea12bfc528646e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D2F4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796E78-CC48-4498-91FA-1D6D26E9A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71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79C6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79C6FF"/>
                </a:solidFill>
                <a:latin typeface="Arial"/>
                <a:ea typeface="Arial"/>
                <a:cs typeface="Arial"/>
              </a:rPr>
              <a:t>IAP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F820C8-4B10-4B4B-8740-074B552A1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7620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Ohm törvényének</a:t>
            </a:r>
          </a:p>
          <a:p xmlns:a="http://schemas.openxmlformats.org/drawingml/2006/main">
            <a:pPr algn="l"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gyakorlati alkalmazása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AE3155-F195-4538-B7E6-8E6C34B4B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0"/>
            <a:ext cx="723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BFDFF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BFDFFF"/>
                </a:solidFill>
                <a:latin typeface="Arial"/>
                <a:ea typeface="Arial"/>
                <a:cs typeface="Arial"/>
              </a:rPr>
              <a:t>6. hét • Villamos alapismeretek • 10. évfolyam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D4C793-FAA0-4B14-B35B-7CEF73CB3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0"/>
            <a:ext cx="3429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9525">
            <a:solidFill>
              <a:srgbClr val="1976D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BE43A1-497D-435A-9090-4D5F521EF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1952625"/>
            <a:ext cx="2762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4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U  I  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3EF3E5-C9E8-4A8E-9F2D-3CFCCB175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333750"/>
            <a:ext cx="285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számol • mér • ellenőriz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9E73C2-E72A-4A7C-A55E-257EFBB87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81625"/>
            <a:ext cx="7429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 képlet akkor válik tudássá, amikor a mérés is igazolja.</a:t>
            </a:r>
          </a:p>
        </p:txBody>
      </p:sp>
    </p:spTree>
    <p:extLst>
      <p:ext uri="{BB962C8B-B14F-4D97-AF65-F5344CB8AC3E}">
        <p14:creationId xmlns:p14="http://schemas.microsoft.com/office/powerpoint/2010/main" val="168034556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36DEF5-60B4-4EE8-9A73-DBDC454C9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10287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D2F4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D2F4F"/>
                </a:solidFill>
                <a:latin typeface="Arial"/>
                <a:ea typeface="Arial"/>
                <a:cs typeface="Arial"/>
              </a:rPr>
              <a:t>Három mennyiség egyetlen kapcsolatban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E1217A-0FDE-43BF-B083-AD2691DF5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9530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2697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2697D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DD696B-B431-4FA3-85B6-49DB2CB97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0150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8D8"/>
          </a:solidFill>
          <a:ln xmlns:a="http://schemas.openxmlformats.org/drawingml/2006/main" w="9525">
            <a:solidFill>
              <a:srgbClr val="B8C8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52FC14-5C29-4887-A4AE-332C24390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09750"/>
            <a:ext cx="333375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EEF3F7"/>
          </a:solidFill>
          <a:ln xmlns:a="http://schemas.openxmlformats.org/drawingml/2006/main" w="9525">
            <a:solidFill>
              <a:srgbClr val="B8C8D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FCE627-C34E-44D5-B488-D7594B90E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143125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2697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2697D"/>
                </a:solidFill>
                <a:latin typeface="Arial"/>
                <a:ea typeface="Arial"/>
                <a:cs typeface="Arial"/>
              </a:rPr>
              <a:t>FESZÜLTSÉG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2DB84E-1CE1-4FAE-8006-2C917EFC1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857500"/>
            <a:ext cx="285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100" b="1">
                <a:solidFill>
                  <a:srgbClr val="0D2F4F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0D2F4F"/>
                </a:solidFill>
                <a:latin typeface="Arial"/>
                <a:ea typeface="Arial"/>
                <a:cs typeface="Arial"/>
              </a:rPr>
              <a:t>U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339FB6-028C-4771-83A0-259872A2B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0957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E7D6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E7D64"/>
                </a:solidFill>
                <a:latin typeface="Arial"/>
                <a:ea typeface="Arial"/>
                <a:cs typeface="Arial"/>
              </a:rPr>
              <a:t>volt • V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73204C-1E06-41F2-86DF-4BA5A668D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809750"/>
            <a:ext cx="333375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D9EEFF"/>
          </a:solidFill>
          <a:ln xmlns:a="http://schemas.openxmlformats.org/drawingml/2006/main" w="9525">
            <a:solidFill>
              <a:srgbClr val="B8C8D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ED32C3-2346-4080-9F4F-8F15B0AE3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143125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2697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2697D"/>
                </a:solidFill>
                <a:latin typeface="Arial"/>
                <a:ea typeface="Arial"/>
                <a:cs typeface="Arial"/>
              </a:rPr>
              <a:t>ÁRAMERŐSSÉG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0290AC-8509-4F56-842B-BA7FBD04C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857500"/>
            <a:ext cx="285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100" b="1">
                <a:solidFill>
                  <a:srgbClr val="1976D2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1976D2"/>
                </a:solidFill>
                <a:latin typeface="Arial"/>
                <a:ea typeface="Arial"/>
                <a:cs typeface="Arial"/>
              </a:rPr>
              <a:t>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D406E5-CF99-462C-97A2-135281B6C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0957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E7D6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E7D64"/>
                </a:solidFill>
                <a:latin typeface="Arial"/>
                <a:ea typeface="Arial"/>
                <a:cs typeface="Arial"/>
              </a:rPr>
              <a:t>amper • 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3B924D-3986-4E65-B58E-C20EFF6DA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809750"/>
            <a:ext cx="333375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EEF3F7"/>
          </a:solidFill>
          <a:ln xmlns:a="http://schemas.openxmlformats.org/drawingml/2006/main" w="9525">
            <a:solidFill>
              <a:srgbClr val="B8C8D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0827E5-FA4C-4C82-A683-5E74C229C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143125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2697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2697D"/>
                </a:solidFill>
                <a:latin typeface="Arial"/>
                <a:ea typeface="Arial"/>
                <a:cs typeface="Arial"/>
              </a:rPr>
              <a:t>ELLENÁLLÁS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886C11-88C6-4DE8-A75B-6EA18163F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857500"/>
            <a:ext cx="285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100" b="1">
                <a:solidFill>
                  <a:srgbClr val="0D2F4F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0D2F4F"/>
                </a:solidFill>
                <a:latin typeface="Arial"/>
                <a:ea typeface="Arial"/>
                <a:cs typeface="Arial"/>
              </a:rPr>
              <a:t>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E2FAD5-0398-4578-AA59-A78140425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0957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E7D6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E7D64"/>
                </a:solidFill>
                <a:latin typeface="Arial"/>
                <a:ea typeface="Arial"/>
                <a:cs typeface="Arial"/>
              </a:rPr>
              <a:t>ohm • Ω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AC57C8-F5B7-476B-A73E-3FC7454F8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72125"/>
            <a:ext cx="1104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D2F4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D2F4F"/>
                </a:solidFill>
                <a:latin typeface="Arial"/>
                <a:ea typeface="Arial"/>
                <a:cs typeface="Arial"/>
              </a:rPr>
              <a:t>Két ismert adatból mindig meghatározható a harmadik.</a:t>
            </a:r>
          </a:p>
        </p:txBody>
      </p:sp>
    </p:spTree>
    <p:extLst>
      <p:ext uri="{BB962C8B-B14F-4D97-AF65-F5344CB8AC3E}">
        <p14:creationId xmlns:p14="http://schemas.microsoft.com/office/powerpoint/2010/main" val="95531071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289575C-0C80-47FE-9997-F16D6AACC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10287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D2F4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D2F4F"/>
                </a:solidFill>
                <a:latin typeface="Arial"/>
                <a:ea typeface="Arial"/>
                <a:cs typeface="Arial"/>
              </a:rPr>
              <a:t>A képletet a keresett mennyiség választja ki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3636F7-4965-4C9F-93B0-4CA6BDABC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9530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2697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2697D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05F357-D8D4-4F8E-8812-F05141CA3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0150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8D8"/>
          </a:solidFill>
          <a:ln xmlns:a="http://schemas.openxmlformats.org/drawingml/2006/main" w="9525">
            <a:solidFill>
              <a:srgbClr val="B8C8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F3B41D-CF6A-48C8-88BB-B9A5C7278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09750"/>
            <a:ext cx="3333750" cy="33337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D9EEFF"/>
          </a:solidFill>
          <a:ln xmlns:a="http://schemas.openxmlformats.org/drawingml/2006/main" w="9525">
            <a:solidFill>
              <a:srgbClr val="B8C8D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16DEE1-5C8A-4ACD-933B-8C7D44E18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143125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52697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52697D"/>
                </a:solidFill>
                <a:latin typeface="Arial"/>
                <a:ea typeface="Arial"/>
                <a:cs typeface="Arial"/>
              </a:rPr>
              <a:t>I-t keresem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B19821-2694-44E7-8C42-8961CA6C7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952750"/>
            <a:ext cx="285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925" b="1">
                <a:solidFill>
                  <a:srgbClr val="1976D2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976D2"/>
                </a:solidFill>
                <a:latin typeface="Arial"/>
                <a:ea typeface="Arial"/>
                <a:cs typeface="Arial"/>
              </a:rPr>
              <a:t>I = U / 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E3E97A-A7BF-4FA2-87C5-67010AE1C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09575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E7D6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E7D64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621A5A-0D38-4432-B86C-B4B1BA09E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809750"/>
            <a:ext cx="3333750" cy="33337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EEF3F7"/>
          </a:solidFill>
          <a:ln xmlns:a="http://schemas.openxmlformats.org/drawingml/2006/main" w="9525">
            <a:solidFill>
              <a:srgbClr val="B8C8D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0B59F4-F2DE-4276-9AF7-D3C36B546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143125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52697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52697D"/>
                </a:solidFill>
                <a:latin typeface="Arial"/>
                <a:ea typeface="Arial"/>
                <a:cs typeface="Arial"/>
              </a:rPr>
              <a:t>U-t keresem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AAE548-E6F3-4E32-B340-A069594E5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952750"/>
            <a:ext cx="285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925" b="1">
                <a:solidFill>
                  <a:srgbClr val="0D2F4F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0D2F4F"/>
                </a:solidFill>
                <a:latin typeface="Arial"/>
                <a:ea typeface="Arial"/>
                <a:cs typeface="Arial"/>
              </a:rPr>
              <a:t>U = R · 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DB5C66-2A29-48E8-BD5A-76F7E7DFE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09575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E7D6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E7D64"/>
                </a:solidFill>
                <a:latin typeface="Arial"/>
                <a:ea typeface="Arial"/>
                <a:cs typeface="Arial"/>
              </a:rPr>
              <a:t>V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289289-DF23-4AF6-86E9-C60C292B7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809750"/>
            <a:ext cx="3333750" cy="33337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EEF3F7"/>
          </a:solidFill>
          <a:ln xmlns:a="http://schemas.openxmlformats.org/drawingml/2006/main" w="9525">
            <a:solidFill>
              <a:srgbClr val="B8C8D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CC584E-756C-48E9-9996-EA76E0BFC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143125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52697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52697D"/>
                </a:solidFill>
                <a:latin typeface="Arial"/>
                <a:ea typeface="Arial"/>
                <a:cs typeface="Arial"/>
              </a:rPr>
              <a:t>R-t keresem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4DB1E7-448D-4184-A4CD-501E4C0D2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952750"/>
            <a:ext cx="285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925" b="1">
                <a:solidFill>
                  <a:srgbClr val="0D2F4F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0D2F4F"/>
                </a:solidFill>
                <a:latin typeface="Arial"/>
                <a:ea typeface="Arial"/>
                <a:cs typeface="Arial"/>
              </a:rPr>
              <a:t>R = U / 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06396C-9EAD-4D25-A625-9B26BE3FC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09575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E7D6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E7D64"/>
                </a:solidFill>
                <a:latin typeface="Arial"/>
                <a:ea typeface="Arial"/>
                <a:cs typeface="Arial"/>
              </a:rPr>
              <a:t>Ω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5DDFE9-C442-4170-8182-49862E658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619750"/>
            <a:ext cx="1104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D2F4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D2F4F"/>
                </a:solidFill>
                <a:latin typeface="Arial"/>
                <a:ea typeface="Arial"/>
                <a:cs typeface="Arial"/>
              </a:rPr>
              <a:t>Előbb a kérdést olvasd el, csak utána válassz képletet!</a:t>
            </a:r>
          </a:p>
        </p:txBody>
      </p:sp>
    </p:spTree>
    <p:extLst>
      <p:ext uri="{BB962C8B-B14F-4D97-AF65-F5344CB8AC3E}">
        <p14:creationId xmlns:p14="http://schemas.microsoft.com/office/powerpoint/2010/main" val="167213119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F6B61F5-4E51-4272-B17B-85C7CC0FB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10287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D2F4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D2F4F"/>
                </a:solidFill>
                <a:latin typeface="Arial"/>
                <a:ea typeface="Arial"/>
                <a:cs typeface="Arial"/>
              </a:rPr>
              <a:t>Az öt lépés megakadályozza a tipikus hibákat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306FF4-EB94-4420-8FC3-11BA7606D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9530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2697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2697D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D06A51-F914-42B0-A2C4-83D83D4DE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0150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8D8"/>
          </a:solidFill>
          <a:ln xmlns:a="http://schemas.openxmlformats.org/drawingml/2006/main" w="9525">
            <a:solidFill>
              <a:srgbClr val="B8C8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6C76FF-0236-4CC1-AC14-5E853D502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976D2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976D2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CED0D4-F096-44A4-83D3-654CE08C2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866900"/>
            <a:ext cx="5238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9525">
            <a:solidFill>
              <a:srgbClr val="1976D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544C70-5827-4C22-8C36-981813E9F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160020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0D2F4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D2F4F"/>
                </a:solidFill>
                <a:latin typeface="Arial"/>
                <a:ea typeface="Arial"/>
                <a:cs typeface="Arial"/>
              </a:rPr>
              <a:t>Adatok felírása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9CB001-4D5D-4EE4-8A64-2AA83B610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9555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976D2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976D2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168EFE-E274-4A01-B7BD-A69897C4A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743200"/>
            <a:ext cx="5238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9525">
            <a:solidFill>
              <a:srgbClr val="1976D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3561BE-9514-45D3-9065-E5AB6C2C0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47650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D2F4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D2F4F"/>
                </a:solidFill>
                <a:latin typeface="Arial"/>
                <a:ea typeface="Arial"/>
                <a:cs typeface="Arial"/>
              </a:rPr>
              <a:t>Mértékegység-átváltás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9551D1-9B71-433C-8519-4FEDC3A00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7185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976D2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976D2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9C66CC-027D-4E5E-BEF1-28C8C118A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619500"/>
            <a:ext cx="5238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9525">
            <a:solidFill>
              <a:srgbClr val="1976D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A6E704-C39D-4AD1-81F0-3BCD418E8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35280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0D2F4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D2F4F"/>
                </a:solidFill>
                <a:latin typeface="Arial"/>
                <a:ea typeface="Arial"/>
                <a:cs typeface="Arial"/>
              </a:rPr>
              <a:t>Képlet kiválasztása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CD8023-1D4F-4120-A38F-2222E7BCA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4815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976D2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976D2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034A86-C60D-42B4-A012-A5FAE03DF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495800"/>
            <a:ext cx="5238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9525">
            <a:solidFill>
              <a:srgbClr val="1976D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0CDC3F-9A9D-4CA0-806F-B6BFF5BF0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422910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0D2F4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D2F4F"/>
                </a:solidFill>
                <a:latin typeface="Arial"/>
                <a:ea typeface="Arial"/>
                <a:cs typeface="Arial"/>
              </a:rPr>
              <a:t>Behelyettesítés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CDDB8F-3181-4510-9152-449BB0644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2445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976D2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976D2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E923770-7BF5-4E42-8F24-9E794AFCB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5372100"/>
            <a:ext cx="5238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9525">
            <a:solidFill>
              <a:srgbClr val="1976D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84E2071-B796-4B20-A6AC-288B11D45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510540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0D2F4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D2F4F"/>
                </a:solidFill>
                <a:latin typeface="Arial"/>
                <a:ea typeface="Arial"/>
                <a:cs typeface="Arial"/>
              </a:rPr>
              <a:t>Eredmény és válasz</a:t>
            </a:r>
          </a:p>
        </p:txBody>
      </p:sp>
    </p:spTree>
    <p:extLst>
      <p:ext uri="{BB962C8B-B14F-4D97-AF65-F5344CB8AC3E}">
        <p14:creationId xmlns:p14="http://schemas.microsoft.com/office/powerpoint/2010/main" val="77760509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730764-4C63-41DE-8149-F29F28D6F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10287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D2F4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D2F4F"/>
                </a:solidFill>
                <a:latin typeface="Arial"/>
                <a:ea typeface="Arial"/>
                <a:cs typeface="Arial"/>
              </a:rPr>
              <a:t>Példa: áramerősséget számítunk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72AE55-86D5-47E6-AA27-DE531A74B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9530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2697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2697D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E93BF6-3975-485F-A308-99A551C2D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0150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8D8"/>
          </a:solidFill>
          <a:ln xmlns:a="http://schemas.openxmlformats.org/drawingml/2006/main" w="9525">
            <a:solidFill>
              <a:srgbClr val="B8C8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1ABF51-94A1-41D3-9FD9-4B5300C00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66875"/>
            <a:ext cx="257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52697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52697D"/>
                </a:solidFill>
                <a:latin typeface="Arial"/>
                <a:ea typeface="Arial"/>
                <a:cs typeface="Arial"/>
              </a:rPr>
              <a:t>Adatok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679B6A-DBA6-44E3-BCD1-8F131232A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90750"/>
            <a:ext cx="3810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D2F4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D2F4F"/>
                </a:solidFill>
                <a:latin typeface="Arial"/>
                <a:ea typeface="Arial"/>
                <a:cs typeface="Arial"/>
              </a:rPr>
              <a:t>U = 24 V</a:t>
            </a:r>
          </a:p>
          <a:p xmlns:a="http://schemas.openxmlformats.org/drawingml/2006/main">
            <a:pPr algn="l">
              <a:defRPr sz="2550" b="1">
                <a:solidFill>
                  <a:srgbClr val="0D2F4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D2F4F"/>
                </a:solidFill>
                <a:latin typeface="Arial"/>
                <a:ea typeface="Arial"/>
                <a:cs typeface="Arial"/>
              </a:rPr>
              <a:t>R = 120 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0468F0-46B6-48C0-8CFF-67ECA48FB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714500"/>
            <a:ext cx="6477000" cy="3095625"/>
          </a:xfrm>
          <a:prstGeom xmlns:a="http://schemas.openxmlformats.org/drawingml/2006/main" prst="roundRect">
            <a:avLst>
              <a:gd name="adj" fmla="val 2462"/>
            </a:avLst>
          </a:prstGeom>
          <a:solidFill xmlns:a="http://schemas.openxmlformats.org/drawingml/2006/main">
            <a:srgbClr val="0D2F4F"/>
          </a:solidFill>
          <a:ln xmlns:a="http://schemas.openxmlformats.org/drawingml/2006/main" w="9525">
            <a:solidFill>
              <a:srgbClr val="B8C8D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9C5634-A7B2-4D82-9616-724411AEB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143125"/>
            <a:ext cx="5524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 = U / 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162574-FABD-4288-99AD-C10D09BB8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000375"/>
            <a:ext cx="5524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79C6FF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79C6FF"/>
                </a:solidFill>
                <a:latin typeface="Arial"/>
                <a:ea typeface="Arial"/>
                <a:cs typeface="Arial"/>
              </a:rPr>
              <a:t>I = 24 V / 120 Ω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6C03F8-8944-4DCD-9A5A-1A5EC7643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857625"/>
            <a:ext cx="5524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 = 0,2 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61B437-0C73-40B9-8FD8-1BF216784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429250"/>
            <a:ext cx="1104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E7D6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E7D64"/>
                </a:solidFill>
                <a:latin typeface="Arial"/>
                <a:ea typeface="Arial"/>
                <a:cs typeface="Arial"/>
              </a:rPr>
              <a:t>Válasz: az áramkörben 0,2 A áram folyik.</a:t>
            </a:r>
          </a:p>
        </p:txBody>
      </p:sp>
    </p:spTree>
    <p:extLst>
      <p:ext uri="{BB962C8B-B14F-4D97-AF65-F5344CB8AC3E}">
        <p14:creationId xmlns:p14="http://schemas.microsoft.com/office/powerpoint/2010/main" val="58389679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775E5B3-F79B-4042-A797-BE5FAE638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10287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D2F4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D2F4F"/>
                </a:solidFill>
                <a:latin typeface="Arial"/>
                <a:ea typeface="Arial"/>
                <a:cs typeface="Arial"/>
              </a:rPr>
              <a:t>A vezeték méretei és anyaga is számít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3E1F15-BBD1-48AB-80AD-1FF88BDBF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9530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2697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2697D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CE77D3-09DE-44A2-A265-A981B0922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0150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8D8"/>
          </a:solidFill>
          <a:ln xmlns:a="http://schemas.openxmlformats.org/drawingml/2006/main" w="9525">
            <a:solidFill>
              <a:srgbClr val="B8C8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49EB3E-1C1B-4D09-9070-572E9AAC6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43815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D9EEFF"/>
          </a:solidFill>
          <a:ln xmlns:a="http://schemas.openxmlformats.org/drawingml/2006/main" w="9525">
            <a:solidFill>
              <a:srgbClr val="B8C8D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DDEE4F-31DB-4D74-9AEB-90EC2CD0A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85950"/>
            <a:ext cx="3810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D2F4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D2F4F"/>
                </a:solidFill>
                <a:latin typeface="Arial"/>
                <a:ea typeface="Arial"/>
                <a:cs typeface="Arial"/>
              </a:rPr>
              <a:t>Hossz nő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E94336-BC71-4FA6-A51A-93AD95075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1876425"/>
            <a:ext cx="666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976D2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976D2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1EFC09-EE5C-4845-9472-85B8C51B3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714500"/>
            <a:ext cx="51435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EF3F7"/>
          </a:solidFill>
          <a:ln xmlns:a="http://schemas.openxmlformats.org/drawingml/2006/main" w="9525">
            <a:solidFill>
              <a:srgbClr val="B8C8D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52913C-BBCD-494D-B369-B4C496D5D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885950"/>
            <a:ext cx="457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E7D6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E7D64"/>
                </a:solidFill>
                <a:latin typeface="Arial"/>
                <a:ea typeface="Arial"/>
                <a:cs typeface="Arial"/>
              </a:rPr>
              <a:t>R nő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36E969-33C5-428F-BEAA-CA3CE5F97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05125"/>
            <a:ext cx="43815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EF3F7"/>
          </a:solidFill>
          <a:ln xmlns:a="http://schemas.openxmlformats.org/drawingml/2006/main" w="9525">
            <a:solidFill>
              <a:srgbClr val="B8C8D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91B852-AEBA-4693-AB68-9F8BFFADD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76575"/>
            <a:ext cx="3810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D2F4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D2F4F"/>
                </a:solidFill>
                <a:latin typeface="Arial"/>
                <a:ea typeface="Arial"/>
                <a:cs typeface="Arial"/>
              </a:rPr>
              <a:t>Keresztmetszet nő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715E97-0DB0-4154-9DF5-B98EF446A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3067050"/>
            <a:ext cx="666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976D2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976D2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12EF0A-B1E9-49E4-807D-0B87C23AC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905125"/>
            <a:ext cx="51435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EF3F7"/>
          </a:solidFill>
          <a:ln xmlns:a="http://schemas.openxmlformats.org/drawingml/2006/main" w="9525">
            <a:solidFill>
              <a:srgbClr val="B8C8D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7485A1-533D-4802-8CC8-3C24A1D98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076575"/>
            <a:ext cx="457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E7D6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E7D64"/>
                </a:solidFill>
                <a:latin typeface="Arial"/>
                <a:ea typeface="Arial"/>
                <a:cs typeface="Arial"/>
              </a:rPr>
              <a:t>R csökken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0A260A-FCC6-488F-976C-5F249E432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95750"/>
            <a:ext cx="43815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EF3F7"/>
          </a:solidFill>
          <a:ln xmlns:a="http://schemas.openxmlformats.org/drawingml/2006/main" w="9525">
            <a:solidFill>
              <a:srgbClr val="B8C8D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F92CEB-E84B-4EFD-BE2B-09AB3D7D9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67200"/>
            <a:ext cx="3810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D2F4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D2F4F"/>
                </a:solidFill>
                <a:latin typeface="Arial"/>
                <a:ea typeface="Arial"/>
                <a:cs typeface="Arial"/>
              </a:rPr>
              <a:t>Hőmérséklet nő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06538E-95B6-417A-B286-ECB644394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4257675"/>
            <a:ext cx="666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976D2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976D2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6906C68-AE06-456E-A655-913EEF8BA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95750"/>
            <a:ext cx="51435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EF3F7"/>
          </a:solidFill>
          <a:ln xmlns:a="http://schemas.openxmlformats.org/drawingml/2006/main" w="9525">
            <a:solidFill>
              <a:srgbClr val="B8C8D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DEEBC94-4A09-4A4F-AF0E-14BAE7A63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267200"/>
            <a:ext cx="457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E7D6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E7D64"/>
                </a:solidFill>
                <a:latin typeface="Arial"/>
                <a:ea typeface="Arial"/>
                <a:cs typeface="Arial"/>
              </a:rPr>
              <a:t>R fémeknél általában nő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8C45344-FECE-4AE0-996E-3261B9912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619750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D2F4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D2F4F"/>
                </a:solidFill>
                <a:latin typeface="Arial"/>
                <a:ea typeface="Arial"/>
                <a:cs typeface="Arial"/>
              </a:rPr>
              <a:t>Azonos méretű réz- és alumíniumvezető ellenállása eltér.</a:t>
            </a:r>
          </a:p>
        </p:txBody>
      </p:sp>
    </p:spTree>
    <p:extLst>
      <p:ext uri="{BB962C8B-B14F-4D97-AF65-F5344CB8AC3E}">
        <p14:creationId xmlns:p14="http://schemas.microsoft.com/office/powerpoint/2010/main" val="210946787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704595-42DC-44E9-886E-4FB40259C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10287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D2F4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D2F4F"/>
                </a:solidFill>
                <a:latin typeface="Arial"/>
                <a:ea typeface="Arial"/>
                <a:cs typeface="Arial"/>
              </a:rPr>
              <a:t>Három méréshez három helyes bekötés kell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4E334B-4E03-4F7B-9480-99589313A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9530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2697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2697D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992BCA-938A-481C-8656-DC28ABDF3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0150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8D8"/>
          </a:solidFill>
          <a:ln xmlns:a="http://schemas.openxmlformats.org/drawingml/2006/main" w="9525">
            <a:solidFill>
              <a:srgbClr val="B8C8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EC6B10-4B2E-467B-8448-E277BB0E7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09750"/>
            <a:ext cx="3333750" cy="33337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EEF3F7"/>
          </a:solidFill>
          <a:ln xmlns:a="http://schemas.openxmlformats.org/drawingml/2006/main" w="9525">
            <a:solidFill>
              <a:srgbClr val="B8C8D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6195BC-2E44-42AD-82E7-2C9CD50EE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143125"/>
            <a:ext cx="285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2697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2697D"/>
                </a:solidFill>
                <a:latin typeface="Arial"/>
                <a:ea typeface="Arial"/>
                <a:cs typeface="Arial"/>
              </a:rPr>
              <a:t>FESZÜLTSÉG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70CED0-C490-405B-AAA3-2BB2C0684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809875"/>
            <a:ext cx="285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900" b="1">
                <a:solidFill>
                  <a:srgbClr val="0D2F4F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0D2F4F"/>
                </a:solidFill>
                <a:latin typeface="Arial"/>
                <a:ea typeface="Arial"/>
                <a:cs typeface="Arial"/>
              </a:rPr>
              <a:t>V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C66541-DE43-4268-88BC-AF16DAE3F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905250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E7D6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E7D64"/>
                </a:solidFill>
                <a:latin typeface="Arial"/>
                <a:ea typeface="Arial"/>
                <a:cs typeface="Arial"/>
              </a:rPr>
              <a:t>párhuzamosan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E41B1B-4E66-44C4-859A-AC8117755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809750"/>
            <a:ext cx="3333750" cy="33337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D9EEFF"/>
          </a:solidFill>
          <a:ln xmlns:a="http://schemas.openxmlformats.org/drawingml/2006/main" w="9525">
            <a:solidFill>
              <a:srgbClr val="B8C8D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B7B817-6FFC-47DA-A3DE-DB4D0B1F6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143125"/>
            <a:ext cx="285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2697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2697D"/>
                </a:solidFill>
                <a:latin typeface="Arial"/>
                <a:ea typeface="Arial"/>
                <a:cs typeface="Arial"/>
              </a:rPr>
              <a:t>ÁRAMERŐSSÉG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2AA6C3-6EA8-4187-91DF-F53A7AAB9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809875"/>
            <a:ext cx="285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900" b="1">
                <a:solidFill>
                  <a:srgbClr val="1976D2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976D2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7173AF-2D0E-4458-854C-185AB4163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905250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E7D6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E7D64"/>
                </a:solidFill>
                <a:latin typeface="Arial"/>
                <a:ea typeface="Arial"/>
                <a:cs typeface="Arial"/>
              </a:rPr>
              <a:t>sorosan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FD794D-F5C4-4941-A978-FD28C9248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809750"/>
            <a:ext cx="3333750" cy="33337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EEF3F7"/>
          </a:solidFill>
          <a:ln xmlns:a="http://schemas.openxmlformats.org/drawingml/2006/main" w="9525">
            <a:solidFill>
              <a:srgbClr val="B8C8D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25A1FD-5B00-4575-AB14-505B6BAB5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143125"/>
            <a:ext cx="285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2697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2697D"/>
                </a:solidFill>
                <a:latin typeface="Arial"/>
                <a:ea typeface="Arial"/>
                <a:cs typeface="Arial"/>
              </a:rPr>
              <a:t>ELLENÁLLÁS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6C9E79-854A-4816-81B9-5BEFA766D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809875"/>
            <a:ext cx="285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900" b="1">
                <a:solidFill>
                  <a:srgbClr val="0D2F4F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0D2F4F"/>
                </a:solidFill>
                <a:latin typeface="Arial"/>
                <a:ea typeface="Arial"/>
                <a:cs typeface="Arial"/>
              </a:rPr>
              <a:t>Ω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BBBDFA-1023-4100-9399-FDD0DC272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905250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E7D6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E7D64"/>
                </a:solidFill>
                <a:latin typeface="Arial"/>
                <a:ea typeface="Arial"/>
                <a:cs typeface="Arial"/>
              </a:rPr>
              <a:t>feszültségmentesen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BAEB34-7B4A-4477-9261-A7FA82F1C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619750"/>
            <a:ext cx="1104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D2F4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D2F4F"/>
                </a:solidFill>
                <a:latin typeface="Arial"/>
                <a:ea typeface="Arial"/>
                <a:cs typeface="Arial"/>
              </a:rPr>
              <a:t>A műszer bekötése a mérés része – és biztonsági döntés.</a:t>
            </a:r>
          </a:p>
        </p:txBody>
      </p:sp>
    </p:spTree>
    <p:extLst>
      <p:ext uri="{BB962C8B-B14F-4D97-AF65-F5344CB8AC3E}">
        <p14:creationId xmlns:p14="http://schemas.microsoft.com/office/powerpoint/2010/main" val="117803627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1CE3CB-46E9-441C-A588-957238A21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10287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D2F4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D2F4F"/>
                </a:solidFill>
                <a:latin typeface="Arial"/>
                <a:ea typeface="Arial"/>
                <a:cs typeface="Arial"/>
              </a:rPr>
              <a:t>Árammérőt nem kötünk közvetlenül a forrásra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C5A370-862F-4D83-9129-ABEAAE252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9530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2697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2697D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67D69A-7B5E-443B-A38E-64C170B32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0150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8D8"/>
          </a:solidFill>
          <a:ln xmlns:a="http://schemas.openxmlformats.org/drawingml/2006/main" w="9525">
            <a:solidFill>
              <a:srgbClr val="B8C8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07702B-77EB-4AD8-B7DC-EA315180E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66875"/>
            <a:ext cx="110490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2D6"/>
          </a:solidFill>
          <a:ln xmlns:a="http://schemas.openxmlformats.org/drawingml/2006/main" w="9525">
            <a:solidFill>
              <a:srgbClr val="F4A0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493C9A-C596-4F81-A96C-4908DD228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95500"/>
            <a:ext cx="1028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4A00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4A000"/>
                </a:solidFill>
                <a:latin typeface="Arial"/>
                <a:ea typeface="Arial"/>
                <a:cs typeface="Arial"/>
              </a:rPr>
              <a:t>VESZÉLYES HIBA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E7C443-E451-40FD-9D4D-FA226ED15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57500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5725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0D2F4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D2F4F"/>
                </a:solidFill>
                <a:latin typeface="Arial"/>
                <a:ea typeface="Arial"/>
                <a:cs typeface="Arial"/>
              </a:rPr>
              <a:t>Az ampermérő közvetlen párhuzamos bekötése rövidzárlatot okozhat.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D949B7-5DF3-418E-A473-316C9E936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57625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D2F4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D2F4F"/>
                </a:solidFill>
                <a:latin typeface="Arial"/>
                <a:ea typeface="Arial"/>
                <a:cs typeface="Arial"/>
              </a:rPr>
              <a:t>Ellenállást csak kikapcsolt, leválasztott áramkörben mérünk.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8AD567-0434-47E7-9C54-3CF7C430A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81625"/>
            <a:ext cx="1104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E7D6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E7D64"/>
                </a:solidFill>
                <a:latin typeface="Arial"/>
                <a:ea typeface="Arial"/>
                <a:cs typeface="Arial"/>
              </a:rPr>
              <a:t>Átépítés előtt mindig kapcsold ki a tápegységet.</a:t>
            </a:r>
          </a:p>
        </p:txBody>
      </p:sp>
    </p:spTree>
    <p:extLst>
      <p:ext uri="{BB962C8B-B14F-4D97-AF65-F5344CB8AC3E}">
        <p14:creationId xmlns:p14="http://schemas.microsoft.com/office/powerpoint/2010/main" val="120041368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4584F1A-A990-4D2B-9E16-892FA7999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10287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D2F4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D2F4F"/>
                </a:solidFill>
                <a:latin typeface="Arial"/>
                <a:ea typeface="Arial"/>
                <a:cs typeface="Arial"/>
              </a:rPr>
              <a:t>A számított és mért értéknek közel kell lennie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A90EEF-8D16-4149-8456-7B6B46133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9530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2697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2697D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872817-6DC5-47EB-BB91-9B6A2C9A4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0150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8D8"/>
          </a:solidFill>
          <a:ln xmlns:a="http://schemas.openxmlformats.org/drawingml/2006/main" w="9525">
            <a:solidFill>
              <a:srgbClr val="B8C8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C33EE6-3166-4660-94A7-23842DDFD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66875"/>
            <a:ext cx="361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52697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52697D"/>
                </a:solidFill>
                <a:latin typeface="Arial"/>
                <a:ea typeface="Arial"/>
                <a:cs typeface="Arial"/>
              </a:rPr>
              <a:t>Eltérést okozhat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E38836-3248-4AA1-A041-DECF56C04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479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9525">
            <a:solidFill>
              <a:srgbClr val="1976D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D28F8F-A934-431A-81B2-8D9E32ED1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33625"/>
            <a:ext cx="4533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2355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2355B"/>
                </a:solidFill>
                <a:latin typeface="Arial"/>
                <a:ea typeface="Arial"/>
                <a:cs typeface="Arial"/>
              </a:rPr>
              <a:t>az ellenállás tűrése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EF231C-8C51-4A2F-BBF0-5C182007C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33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9525">
            <a:solidFill>
              <a:srgbClr val="1976D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2AB867-D447-437A-BB88-C0C185C00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19425"/>
            <a:ext cx="4533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2355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2355B"/>
                </a:solidFill>
                <a:latin typeface="Arial"/>
                <a:ea typeface="Arial"/>
                <a:cs typeface="Arial"/>
              </a:rPr>
              <a:t>a műszer pontossága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E100FA-2356-4B6E-A8DD-7775FF035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95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9525">
            <a:solidFill>
              <a:srgbClr val="1976D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EEA223-9F92-457D-A975-97146425D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05225"/>
            <a:ext cx="4533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2355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2355B"/>
                </a:solidFill>
                <a:latin typeface="Arial"/>
                <a:ea typeface="Arial"/>
                <a:cs typeface="Arial"/>
              </a:rPr>
              <a:t>érintkezési és vezetékellenállás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71E16E-8C96-4EF9-955D-6CF13C868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053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9525">
            <a:solidFill>
              <a:srgbClr val="1976D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0E5D38-9412-4012-AE03-0F2DBEBC7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391025"/>
            <a:ext cx="4533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2355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2355B"/>
                </a:solidFill>
                <a:latin typeface="Arial"/>
                <a:ea typeface="Arial"/>
                <a:cs typeface="Arial"/>
              </a:rPr>
              <a:t>a tápfeszültség ingadozása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114455-E3F2-4FCF-82C3-1EA61FAD1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762125"/>
            <a:ext cx="51435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0D2F4F"/>
          </a:solidFill>
          <a:ln xmlns:a="http://schemas.openxmlformats.org/drawingml/2006/main" w="9525">
            <a:solidFill>
              <a:srgbClr val="B8C8D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3EFEC6-1543-452F-BE08-684B50A95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190750"/>
            <a:ext cx="4191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 = U / 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42BF22-6140-4C7D-9B9E-60C8B88AA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000375"/>
            <a:ext cx="4191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79C6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79C6FF"/>
                </a:solidFill>
                <a:latin typeface="Arial"/>
                <a:ea typeface="Arial"/>
                <a:cs typeface="Arial"/>
              </a:rPr>
              <a:t>mérésből számítva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BAAF1A-AFF7-4E79-8B86-6DE485B15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762375"/>
            <a:ext cx="4191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névleges ↔ mért ↔ számított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A7E977-B953-410B-B336-51F6F86C0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72125"/>
            <a:ext cx="1104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E7D6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E7D64"/>
                </a:solidFill>
                <a:latin typeface="Arial"/>
                <a:ea typeface="Arial"/>
                <a:cs typeface="Arial"/>
              </a:rPr>
              <a:t>Nem a tökéletes egyezés a cél, hanem az eltérés magyarázata.</a:t>
            </a:r>
          </a:p>
        </p:txBody>
      </p:sp>
    </p:spTree>
    <p:extLst>
      <p:ext uri="{BB962C8B-B14F-4D97-AF65-F5344CB8AC3E}">
        <p14:creationId xmlns:p14="http://schemas.microsoft.com/office/powerpoint/2010/main" val="108333017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D2F4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3D410D-2AFB-4BF1-B3F5-BB79E0BE7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3875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Mit vigyél haza mára?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773E42-FCB8-45AE-ABE2-B9FA65B9E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66875"/>
            <a:ext cx="57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79C6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79C6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9D1303-78A2-41E7-B641-169F4930A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619250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 keresett mennyiség alapján választok képletet.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9681FC-F30F-42D5-877C-9E8FEB1C4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81275"/>
            <a:ext cx="57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79C6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79C6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C1DAAA-5CB7-4890-B262-044B645C8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533650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Számítás előtt átváltom a mértékegységeket.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5A9BDE-0636-481E-B6A1-9B9BBA2CC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95675"/>
            <a:ext cx="57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79C6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79C6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79B7E0-24A7-4818-AF43-080985970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448050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 voltmérő párhuzamos, az ampermérő soros.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C397C8-73AB-4D4C-8D66-AFECC7FA4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10075"/>
            <a:ext cx="57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79C6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79C6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48221A-B024-48F0-8D24-CE56E02D8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362450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 számított eredményt méréssel ellenőrzöm.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0788BA-2104-459D-AC70-768D7DDB5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10250"/>
            <a:ext cx="1104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BFD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BFDFFF"/>
                </a:solidFill>
                <a:latin typeface="Arial"/>
                <a:ea typeface="Arial"/>
                <a:cs typeface="Arial"/>
              </a:rPr>
              <a:t>Következő hét: soros és párhuzamos ellenálláskapcsolások</a:t>
            </a:r>
          </a:p>
        </p:txBody>
      </p:sp>
    </p:spTree>
    <p:extLst>
      <p:ext uri="{BB962C8B-B14F-4D97-AF65-F5344CB8AC3E}">
        <p14:creationId xmlns:p14="http://schemas.microsoft.com/office/powerpoint/2010/main" val="13088998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2026-08-20T14:43:05.8090000Z</dcterms:created>
  <dcterms:modified xsi:type="dcterms:W3CDTF">2026-08-20T14:43:05.8090000Z</dcterms:modified>
</coreProperties>
</file>