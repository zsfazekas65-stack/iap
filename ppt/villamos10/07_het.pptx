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6f1ea8a055404d51" /><Relationship Type="http://schemas.openxmlformats.org/officeDocument/2006/relationships/extended-properties" Target="/docProps/app.xml" Id="R72f7138e2f6a4ff8" /><Relationship Type="http://schemas.openxmlformats.org/officeDocument/2006/relationships/officeDocument" Target="/ppt/presentation.xml" Id="R38cfe8e455df4c46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80146ef7aa854e4a"/>
  </p:sldMasterIdLst>
  <p:notesMasterIdLst>
    <p:notesMasterId xmlns:r="http://schemas.openxmlformats.org/officeDocument/2006/relationships" r:id="R7268b8b3762e434c"/>
  </p:notesMasterIdLst>
  <p:sldIdLst>
    <p:sldId xmlns:r="http://schemas.openxmlformats.org/officeDocument/2006/relationships" id="256" r:id="R057c843e3e084642"/>
    <p:sldId xmlns:r="http://schemas.openxmlformats.org/officeDocument/2006/relationships" id="257" r:id="R76eeefc9cc1a44ba"/>
    <p:sldId xmlns:r="http://schemas.openxmlformats.org/officeDocument/2006/relationships" id="258" r:id="Reb40ab87c9ee41db"/>
    <p:sldId xmlns:r="http://schemas.openxmlformats.org/officeDocument/2006/relationships" id="259" r:id="R08f26f0950b34d48"/>
    <p:sldId xmlns:r="http://schemas.openxmlformats.org/officeDocument/2006/relationships" id="260" r:id="R05a412f1adb9460d"/>
    <p:sldId xmlns:r="http://schemas.openxmlformats.org/officeDocument/2006/relationships" id="261" r:id="R7fc1277721da4567"/>
    <p:sldId xmlns:r="http://schemas.openxmlformats.org/officeDocument/2006/relationships" id="262" r:id="R79e0b16fa75e4044"/>
    <p:sldId xmlns:r="http://schemas.openxmlformats.org/officeDocument/2006/relationships" id="263" r:id="Rec57ec6923f54cb9"/>
    <p:sldId xmlns:r="http://schemas.openxmlformats.org/officeDocument/2006/relationships" id="264" r:id="R060b6d2cb09f4114"/>
    <p:sldId xmlns:r="http://schemas.openxmlformats.org/officeDocument/2006/relationships" id="265" r:id="R14635785801b4858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98151938695e4c1f" /><Relationship Type="http://schemas.openxmlformats.org/officeDocument/2006/relationships/slideMaster" Target="/ppt/slideMasters/slideMaster1.xml" Id="R80146ef7aa854e4a" /><Relationship Type="http://schemas.openxmlformats.org/officeDocument/2006/relationships/notesMaster" Target="/ppt/notesMasters/notesMaster1.xml" Id="R7268b8b3762e434c" /><Relationship Type="http://schemas.openxmlformats.org/officeDocument/2006/relationships/presProps" Target="/ppt/presProps.xml" Id="R68703a6c25fe49e1" /><Relationship Type="http://schemas.openxmlformats.org/officeDocument/2006/relationships/tableStyles" Target="/ppt/tableStyles.xml" Id="Rcd4fa4c1d9704bf8" /><Relationship Type="http://schemas.openxmlformats.org/officeDocument/2006/relationships/slide" Target="/ppt/slides/slide1.xml" Id="R057c843e3e084642" /><Relationship Type="http://schemas.openxmlformats.org/officeDocument/2006/relationships/slide" Target="/ppt/slides/slide2.xml" Id="R76eeefc9cc1a44ba" /><Relationship Type="http://schemas.openxmlformats.org/officeDocument/2006/relationships/slide" Target="/ppt/slides/slide3.xml" Id="Reb40ab87c9ee41db" /><Relationship Type="http://schemas.openxmlformats.org/officeDocument/2006/relationships/slide" Target="/ppt/slides/slide4.xml" Id="R08f26f0950b34d48" /><Relationship Type="http://schemas.openxmlformats.org/officeDocument/2006/relationships/slide" Target="/ppt/slides/slide5.xml" Id="R05a412f1adb9460d" /><Relationship Type="http://schemas.openxmlformats.org/officeDocument/2006/relationships/slide" Target="/ppt/slides/slide6.xml" Id="R7fc1277721da4567" /><Relationship Type="http://schemas.openxmlformats.org/officeDocument/2006/relationships/slide" Target="/ppt/slides/slide7.xml" Id="R79e0b16fa75e4044" /><Relationship Type="http://schemas.openxmlformats.org/officeDocument/2006/relationships/slide" Target="/ppt/slides/slide8.xml" Id="Rec57ec6923f54cb9" /><Relationship Type="http://schemas.openxmlformats.org/officeDocument/2006/relationships/slide" Target="/ppt/slides/slide9.xml" Id="R060b6d2cb09f4114" /><Relationship Type="http://schemas.openxmlformats.org/officeDocument/2006/relationships/slide" Target="/ppt/slides/slide10.xml" Id="R14635785801b4858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94c7a684e40f4c37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04ad9cda1c0c4912" /><Relationship Type="http://schemas.openxmlformats.org/officeDocument/2006/relationships/notesMaster" Target="/ppt/notesMasters/notesMaster1.xml" Id="R538fc08e434c4a88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1bc5b26892974ac6" /><Relationship Type="http://schemas.openxmlformats.org/officeDocument/2006/relationships/notesMaster" Target="/ppt/notesMasters/notesMaster1.xml" Id="R5dfe53e4df724d3a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1baf2ce45c0547ff" /><Relationship Type="http://schemas.openxmlformats.org/officeDocument/2006/relationships/notesMaster" Target="/ppt/notesMasters/notesMaster1.xml" Id="Rf446807cfb904378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c3734217facf465c" /><Relationship Type="http://schemas.openxmlformats.org/officeDocument/2006/relationships/notesMaster" Target="/ppt/notesMasters/notesMaster1.xml" Id="R085ce2814bab43b4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8699502748574ec2" /><Relationship Type="http://schemas.openxmlformats.org/officeDocument/2006/relationships/notesMaster" Target="/ppt/notesMasters/notesMaster1.xml" Id="R1e1362fc34614793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4b0a24850deb42e0" /><Relationship Type="http://schemas.openxmlformats.org/officeDocument/2006/relationships/notesMaster" Target="/ppt/notesMasters/notesMaster1.xml" Id="Radba7c6d1a564941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3e8a6723a1a747b9" /><Relationship Type="http://schemas.openxmlformats.org/officeDocument/2006/relationships/notesMaster" Target="/ppt/notesMasters/notesMaster1.xml" Id="R4f79304a91ac4690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968ed3f3bb9749f1" /><Relationship Type="http://schemas.openxmlformats.org/officeDocument/2006/relationships/notesMaster" Target="/ppt/notesMasters/notesMaster1.xml" Id="R8323c187d1924f25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41547738d9a4492c" /><Relationship Type="http://schemas.openxmlformats.org/officeDocument/2006/relationships/notesMaster" Target="/ppt/notesMasters/notesMaster1.xml" Id="R1fdb980a8bc0470d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25f62c498c7b411e" /><Relationship Type="http://schemas.openxmlformats.org/officeDocument/2006/relationships/notesMaster" Target="/ppt/notesMasters/notesMaster1.xml" Id="R1550b198f8374fbb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Heti cél: eredő, áram és részfeszültségek számítása és mérése.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- 07.Soros_ellenallasok.docx (felhasználó által biztosított forrás)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Az áram azonosságát az egyetlen áramúttal magyarázzuk.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- 07.Soros_ellenallasok.docx (felhasználó által biztosított forrás)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Példa: 100 Ω + 220 Ω + 330 Ω = 650 Ω.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- 07.Soros_ellenallasok.docx (felhasználó által biztosított forrás)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 megoldási sorrendet minden példánál tartsuk meg.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- 07.Soros_ellenallasok.docx (felhasználó által biztosított forrás)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Eredő után Ohm törvényét alkalmazzuk a teljes körre.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- 07.Soros_ellenallasok.docx (felhasználó által biztosított forrás)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Használjuk minden elemre az Uₙ = Rₙ · I képletet.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- 07.Soros_ellenallasok.docx (felhasználó által biztosított forrás)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 részfeszültségek összege közelítse a forrásfeszültséget.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- 07.Soros_ellenallasok.docx (felhasználó által biztosított forrás)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 labor csak törpefeszültségen történjen.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- 07.Soros_ellenallasok.docx (felhasználó által biztosított forrás)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 laborjegyzőkönyvben mindhárom összefüggést külön ellenőrizzük.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- 07.Soros_ellenallasok.docx (felhasználó által biztosított forrás)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Zárásként mondassuk vissza a három alapösszefüggést.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- 07.Soros_ellenallasok.docx (felhasználó által biztosított forrás)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687fb36de88419b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e23fd909d13f4395" /><Relationship Type="http://schemas.openxmlformats.org/officeDocument/2006/relationships/slideLayout" Target="/ppt/slideLayouts/slideLayout1.xml" Id="Rbead7f9369204609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bead7f9369204609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5e4a53b345a4cc6" /><Relationship Type="http://schemas.openxmlformats.org/officeDocument/2006/relationships/notesSlide" Target="/ppt/notesSlides/notesSlide1.xml" Id="R7ca5c4dfb3d1424b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8eb187412a54765" /><Relationship Type="http://schemas.openxmlformats.org/officeDocument/2006/relationships/notesSlide" Target="/ppt/notesSlides/notesSlide2.xml" Id="R4012efa7ed3a4133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1489c27f0514ba2" /><Relationship Type="http://schemas.openxmlformats.org/officeDocument/2006/relationships/notesSlide" Target="/ppt/notesSlides/notesSlide3.xml" Id="R3d835de34bb64252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3e33d352b504a7c" /><Relationship Type="http://schemas.openxmlformats.org/officeDocument/2006/relationships/notesSlide" Target="/ppt/notesSlides/notesSlide4.xml" Id="Rb0c1b3f19e0848c6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d7d28746d844950" /><Relationship Type="http://schemas.openxmlformats.org/officeDocument/2006/relationships/notesSlide" Target="/ppt/notesSlides/notesSlide5.xml" Id="R36cd4620d3c94596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4afe960e6a74054" /><Relationship Type="http://schemas.openxmlformats.org/officeDocument/2006/relationships/notesSlide" Target="/ppt/notesSlides/notesSlide6.xml" Id="Rf5ec5825422d4fca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925f6b7a1524208" /><Relationship Type="http://schemas.openxmlformats.org/officeDocument/2006/relationships/notesSlide" Target="/ppt/notesSlides/notesSlide7.xml" Id="R14feee4d77ac4789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ff9d5b288c04072" /><Relationship Type="http://schemas.openxmlformats.org/officeDocument/2006/relationships/notesSlide" Target="/ppt/notesSlides/notesSlide8.xml" Id="R68183329fb784349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e2d3e4d977f4017" /><Relationship Type="http://schemas.openxmlformats.org/officeDocument/2006/relationships/notesSlide" Target="/ppt/notesSlides/notesSlide9.xml" Id="R69c9e9297f0d4e64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1c09dc72a3548b3" /><Relationship Type="http://schemas.openxmlformats.org/officeDocument/2006/relationships/notesSlide" Target="/ppt/notesSlides/notesSlide10.xml" Id="R0331a31a02cf4ad9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2355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80D1E2D-0935-4E09-80DE-FE085132DA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3875"/>
            <a:ext cx="1714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79C6FF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79C6FF"/>
                </a:solidFill>
                <a:latin typeface="Arial"/>
                <a:ea typeface="Arial"/>
                <a:cs typeface="Arial"/>
              </a:rPr>
              <a:t>IAP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8068F18-4C1B-4128-AE6B-3D9D005062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81125"/>
            <a:ext cx="762000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42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Soros</a:t>
            </a:r>
          </a:p>
          <a:p xmlns:a="http://schemas.openxmlformats.org/drawingml/2006/main">
            <a:pPr algn="l">
              <a:defRPr sz="4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42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ellenálláskapcsolások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D1580C0-819C-400B-900C-7777A44B86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71875"/>
            <a:ext cx="7239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BFDFFF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BFDFFF"/>
                </a:solidFill>
                <a:latin typeface="Arial"/>
                <a:ea typeface="Arial"/>
                <a:cs typeface="Arial"/>
              </a:rPr>
              <a:t>7. hét • Villamos alapismeretek • 10. évfolyam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DC34D93-FF05-4A81-B1F8-76837C5ACC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0"/>
            <a:ext cx="3429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76D2"/>
          </a:solidFill>
          <a:ln xmlns:a="http://schemas.openxmlformats.org/drawingml/2006/main" w="9525">
            <a:solidFill>
              <a:srgbClr val="1976D2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36FCF47-58D4-46D1-A87A-E34B5F2F53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000250"/>
            <a:ext cx="2857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40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40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R₁ + R₂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7481B8B-37C9-4C02-B6B3-A64F26669C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3333750"/>
            <a:ext cx="2857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egyetlen áramút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B58E15D-2131-4226-AAF6-BE4C5D9AC7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29250"/>
            <a:ext cx="7429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Az áram azonos, a feszültség megoszlik.</a:t>
            </a:r>
          </a:p>
        </p:txBody>
      </p:sp>
    </p:spTree>
    <p:extLst>
      <p:ext uri="{BB962C8B-B14F-4D97-AF65-F5344CB8AC3E}">
        <p14:creationId xmlns:p14="http://schemas.microsoft.com/office/powerpoint/2010/main" val="2086797557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46F77B5-5FF4-4C01-88AB-B027812A0A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33375"/>
            <a:ext cx="10287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12355B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12355B"/>
                </a:solidFill>
                <a:latin typeface="Arial"/>
                <a:ea typeface="Arial"/>
                <a:cs typeface="Arial"/>
              </a:rPr>
              <a:t>Soros körben csak egyetlen áramút van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78CF109-A3C0-48D4-90B1-6A4A56C47B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457200"/>
            <a:ext cx="419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52697D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52697D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2A252F6-FCE9-4ADC-B898-9EA1501769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190625"/>
            <a:ext cx="1104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8D8"/>
          </a:solidFill>
          <a:ln xmlns:a="http://schemas.openxmlformats.org/drawingml/2006/main" w="9525">
            <a:solidFill>
              <a:srgbClr val="B8C8D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D266685-63C4-4BFE-B46B-4DF9823BA4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809750"/>
            <a:ext cx="3333750" cy="3286125"/>
          </a:xfrm>
          <a:prstGeom xmlns:a="http://schemas.openxmlformats.org/drawingml/2006/main" prst="roundRect">
            <a:avLst>
              <a:gd name="adj" fmla="val 2319"/>
            </a:avLst>
          </a:prstGeom>
          <a:solidFill xmlns:a="http://schemas.openxmlformats.org/drawingml/2006/main">
            <a:srgbClr val="EEF3F7"/>
          </a:solidFill>
          <a:ln xmlns:a="http://schemas.openxmlformats.org/drawingml/2006/main" w="9525">
            <a:solidFill>
              <a:srgbClr val="EEF3F7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0692262-D79A-4E21-8018-C2A61586B3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190750"/>
            <a:ext cx="285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52697D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52697D"/>
                </a:solidFill>
                <a:latin typeface="Arial"/>
                <a:ea typeface="Arial"/>
                <a:cs typeface="Arial"/>
              </a:rPr>
              <a:t>ELSŐ ELEM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94212FD-246E-4357-9F77-323D2422BC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952750"/>
            <a:ext cx="28575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925" b="1">
                <a:solidFill>
                  <a:srgbClr val="12355B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12355B"/>
                </a:solidFill>
                <a:latin typeface="Arial"/>
                <a:ea typeface="Arial"/>
                <a:cs typeface="Arial"/>
              </a:rPr>
              <a:t>R₁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EA28B01-60A0-4DAE-9161-DF7A3D2FC9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095750"/>
            <a:ext cx="2857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2E7D64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2E7D64"/>
                </a:solidFill>
                <a:latin typeface="Arial"/>
                <a:ea typeface="Arial"/>
                <a:cs typeface="Arial"/>
              </a:rPr>
              <a:t>I₁ = I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FBC5DBC-91C7-406F-ABDB-E02D078085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1809750"/>
            <a:ext cx="3333750" cy="3286125"/>
          </a:xfrm>
          <a:prstGeom xmlns:a="http://schemas.openxmlformats.org/drawingml/2006/main" prst="roundRect">
            <a:avLst>
              <a:gd name="adj" fmla="val 2319"/>
            </a:avLst>
          </a:prstGeom>
          <a:solidFill xmlns:a="http://schemas.openxmlformats.org/drawingml/2006/main">
            <a:srgbClr val="D9EEFF"/>
          </a:solidFill>
          <a:ln xmlns:a="http://schemas.openxmlformats.org/drawingml/2006/main" w="9525">
            <a:solidFill>
              <a:srgbClr val="D9EEFF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A967794-4CE6-40E0-AB79-703D6FFCE6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2190750"/>
            <a:ext cx="285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52697D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52697D"/>
                </a:solidFill>
                <a:latin typeface="Arial"/>
                <a:ea typeface="Arial"/>
                <a:cs typeface="Arial"/>
              </a:rPr>
              <a:t>MÁSODIK ELEM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909EAE2-17A4-440F-AAE9-FD8C666C61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2952750"/>
            <a:ext cx="28575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925" b="1">
                <a:solidFill>
                  <a:srgbClr val="1976D2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1976D2"/>
                </a:solidFill>
                <a:latin typeface="Arial"/>
                <a:ea typeface="Arial"/>
                <a:cs typeface="Arial"/>
              </a:rPr>
              <a:t>R₂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7FF42AF-8E02-4533-A0D5-7047DDDA25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4095750"/>
            <a:ext cx="2857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2E7D64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2E7D64"/>
                </a:solidFill>
                <a:latin typeface="Arial"/>
                <a:ea typeface="Arial"/>
                <a:cs typeface="Arial"/>
              </a:rPr>
              <a:t>I₂ = I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80B3EA6-D3E0-4546-8CF4-AC1B33887E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1809750"/>
            <a:ext cx="3333750" cy="3286125"/>
          </a:xfrm>
          <a:prstGeom xmlns:a="http://schemas.openxmlformats.org/drawingml/2006/main" prst="roundRect">
            <a:avLst>
              <a:gd name="adj" fmla="val 2319"/>
            </a:avLst>
          </a:prstGeom>
          <a:solidFill xmlns:a="http://schemas.openxmlformats.org/drawingml/2006/main">
            <a:srgbClr val="EEF3F7"/>
          </a:solidFill>
          <a:ln xmlns:a="http://schemas.openxmlformats.org/drawingml/2006/main" w="9525">
            <a:solidFill>
              <a:srgbClr val="EEF3F7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74BEC5A-FDE1-4147-9C2F-3059955798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2190750"/>
            <a:ext cx="285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52697D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52697D"/>
                </a:solidFill>
                <a:latin typeface="Arial"/>
                <a:ea typeface="Arial"/>
                <a:cs typeface="Arial"/>
              </a:rPr>
              <a:t>HARMADIK ELEM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5A28A7F-4F31-4E45-9E9D-0A10E80455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2952750"/>
            <a:ext cx="28575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925" b="1">
                <a:solidFill>
                  <a:srgbClr val="12355B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12355B"/>
                </a:solidFill>
                <a:latin typeface="Arial"/>
                <a:ea typeface="Arial"/>
                <a:cs typeface="Arial"/>
              </a:rPr>
              <a:t>R₃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48D0B22-B097-4550-BA03-ADA9006B04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4095750"/>
            <a:ext cx="2857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2E7D64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2E7D64"/>
                </a:solidFill>
                <a:latin typeface="Arial"/>
                <a:ea typeface="Arial"/>
                <a:cs typeface="Arial"/>
              </a:rPr>
              <a:t>I₃ = I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CDED9B1-FEA0-4035-9E7C-3A73143485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572125"/>
            <a:ext cx="11049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12355B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2355B"/>
                </a:solidFill>
                <a:latin typeface="Arial"/>
                <a:ea typeface="Arial"/>
                <a:cs typeface="Arial"/>
              </a:rPr>
              <a:t>I = I₁ = I₂ = I₃</a:t>
            </a:r>
          </a:p>
        </p:txBody>
      </p:sp>
    </p:spTree>
    <p:extLst>
      <p:ext uri="{BB962C8B-B14F-4D97-AF65-F5344CB8AC3E}">
        <p14:creationId xmlns:p14="http://schemas.microsoft.com/office/powerpoint/2010/main" val="2024297452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CC47DF5-0A8B-4844-B154-CDFD61BE93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33375"/>
            <a:ext cx="10287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12355B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12355B"/>
                </a:solidFill>
                <a:latin typeface="Arial"/>
                <a:ea typeface="Arial"/>
                <a:cs typeface="Arial"/>
              </a:rPr>
              <a:t>A soros eredő a részellenállások összege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862B029-22EE-4A83-83F2-C283A380E7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457200"/>
            <a:ext cx="419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52697D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52697D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32929A5-8C9D-4D38-8CE1-DD0E6CB49F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190625"/>
            <a:ext cx="1104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8D8"/>
          </a:solidFill>
          <a:ln xmlns:a="http://schemas.openxmlformats.org/drawingml/2006/main" w="9525">
            <a:solidFill>
              <a:srgbClr val="B8C8D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38B669C-D14B-4CA1-ACFD-2CCCC0F0D3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809750"/>
            <a:ext cx="3333750" cy="3286125"/>
          </a:xfrm>
          <a:prstGeom xmlns:a="http://schemas.openxmlformats.org/drawingml/2006/main" prst="roundRect">
            <a:avLst>
              <a:gd name="adj" fmla="val 2319"/>
            </a:avLst>
          </a:prstGeom>
          <a:solidFill xmlns:a="http://schemas.openxmlformats.org/drawingml/2006/main">
            <a:srgbClr val="EEF3F7"/>
          </a:solidFill>
          <a:ln xmlns:a="http://schemas.openxmlformats.org/drawingml/2006/main" w="9525">
            <a:solidFill>
              <a:srgbClr val="EEF3F7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6D72555-FD9C-4FB2-8B7F-2FDB6A7551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190750"/>
            <a:ext cx="285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52697D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52697D"/>
                </a:solidFill>
                <a:latin typeface="Arial"/>
                <a:ea typeface="Arial"/>
                <a:cs typeface="Arial"/>
              </a:rPr>
              <a:t>KÉT ELEM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FB1E463-71B3-48CD-8E7E-CC46B9B657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952750"/>
            <a:ext cx="28575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925" b="1">
                <a:solidFill>
                  <a:srgbClr val="12355B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12355B"/>
                </a:solidFill>
                <a:latin typeface="Arial"/>
                <a:ea typeface="Arial"/>
                <a:cs typeface="Arial"/>
              </a:rPr>
              <a:t>Rₑ = R₁ + R₂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0E5621F-BC2F-4E9D-9902-634FCA209E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095750"/>
            <a:ext cx="2857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2E7D64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2E7D64"/>
                </a:solidFill>
                <a:latin typeface="Arial"/>
                <a:ea typeface="Arial"/>
                <a:cs typeface="Arial"/>
              </a:rPr>
              <a:t>Ω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4D9D67F-99A0-432D-A476-01C5B797A3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1809750"/>
            <a:ext cx="3333750" cy="3286125"/>
          </a:xfrm>
          <a:prstGeom xmlns:a="http://schemas.openxmlformats.org/drawingml/2006/main" prst="roundRect">
            <a:avLst>
              <a:gd name="adj" fmla="val 2319"/>
            </a:avLst>
          </a:prstGeom>
          <a:solidFill xmlns:a="http://schemas.openxmlformats.org/drawingml/2006/main">
            <a:srgbClr val="D9EEFF"/>
          </a:solidFill>
          <a:ln xmlns:a="http://schemas.openxmlformats.org/drawingml/2006/main" w="9525">
            <a:solidFill>
              <a:srgbClr val="D9EEFF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66A50F9-5D7E-4AF0-80AF-0A856864D0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2190750"/>
            <a:ext cx="285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52697D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52697D"/>
                </a:solidFill>
                <a:latin typeface="Arial"/>
                <a:ea typeface="Arial"/>
                <a:cs typeface="Arial"/>
              </a:rPr>
              <a:t>HÁROM ELEM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C32922C-B3AB-48C3-83A6-D5571F0E6E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2952750"/>
            <a:ext cx="28575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94991"/>
          </a:bodyPr>
          <a:lstStyle xmlns:a="http://schemas.openxmlformats.org/drawingml/2006/main"/>
          <a:p xmlns:a="http://schemas.openxmlformats.org/drawingml/2006/main">
            <a:pPr algn="ctr">
              <a:defRPr sz="2925" b="1">
                <a:solidFill>
                  <a:srgbClr val="1976D2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1976D2"/>
                </a:solidFill>
                <a:latin typeface="Arial"/>
                <a:ea typeface="Arial"/>
                <a:cs typeface="Arial"/>
              </a:rPr>
              <a:t>Rₑ = R₁ + R₂ + R₃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44150FB-E776-4DBA-B962-305228A1BB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4095750"/>
            <a:ext cx="2857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2E7D64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2E7D64"/>
                </a:solidFill>
                <a:latin typeface="Arial"/>
                <a:ea typeface="Arial"/>
                <a:cs typeface="Arial"/>
              </a:rPr>
              <a:t>Ω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B837B2D-F8CD-41E7-9063-7798756E9E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1809750"/>
            <a:ext cx="3333750" cy="3286125"/>
          </a:xfrm>
          <a:prstGeom xmlns:a="http://schemas.openxmlformats.org/drawingml/2006/main" prst="roundRect">
            <a:avLst>
              <a:gd name="adj" fmla="val 2319"/>
            </a:avLst>
          </a:prstGeom>
          <a:solidFill xmlns:a="http://schemas.openxmlformats.org/drawingml/2006/main">
            <a:srgbClr val="EEF3F7"/>
          </a:solidFill>
          <a:ln xmlns:a="http://schemas.openxmlformats.org/drawingml/2006/main" w="9525">
            <a:solidFill>
              <a:srgbClr val="EEF3F7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0093023-D053-4AC9-9054-44BD022F6E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2190750"/>
            <a:ext cx="285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52697D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52697D"/>
                </a:solidFill>
                <a:latin typeface="Arial"/>
                <a:ea typeface="Arial"/>
                <a:cs typeface="Arial"/>
              </a:rPr>
              <a:t>ÁLTALÁNOSAN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04F0182-4D20-4B8C-9E84-B981DCCE9F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2952750"/>
            <a:ext cx="28575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925" b="1">
                <a:solidFill>
                  <a:srgbClr val="12355B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12355B"/>
                </a:solidFill>
                <a:latin typeface="Arial"/>
                <a:ea typeface="Arial"/>
                <a:cs typeface="Arial"/>
              </a:rPr>
              <a:t>Rₑ = ΣR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5094670-095C-4661-BAF3-A08AE4F285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4095750"/>
            <a:ext cx="2857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2E7D64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2E7D64"/>
                </a:solidFill>
                <a:latin typeface="Arial"/>
                <a:ea typeface="Arial"/>
                <a:cs typeface="Arial"/>
              </a:rPr>
              <a:t>Ω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68F6876-9577-4452-917C-663B4C4B5A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572125"/>
            <a:ext cx="11049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2355B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2355B"/>
                </a:solidFill>
                <a:latin typeface="Arial"/>
                <a:ea typeface="Arial"/>
                <a:cs typeface="Arial"/>
              </a:rPr>
              <a:t>Az eredő mindig nagyobb bármelyik részellenállásnál.</a:t>
            </a:r>
          </a:p>
        </p:txBody>
      </p:sp>
    </p:spTree>
    <p:extLst>
      <p:ext uri="{BB962C8B-B14F-4D97-AF65-F5344CB8AC3E}">
        <p14:creationId xmlns:p14="http://schemas.microsoft.com/office/powerpoint/2010/main" val="1458217635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B0AA74A-0CD9-44B1-A27F-3257C2BC48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33375"/>
            <a:ext cx="10287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12355B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12355B"/>
                </a:solidFill>
                <a:latin typeface="Arial"/>
                <a:ea typeface="Arial"/>
                <a:cs typeface="Arial"/>
              </a:rPr>
              <a:t>A soros kör számítása öt lépésben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ADB2037-AE64-47FE-AAAA-A7DEBA1280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457200"/>
            <a:ext cx="419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52697D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52697D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5744215-21D6-4FE9-9910-2A3C838204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190625"/>
            <a:ext cx="1104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8D8"/>
          </a:solidFill>
          <a:ln xmlns:a="http://schemas.openxmlformats.org/drawingml/2006/main" w="9525">
            <a:solidFill>
              <a:srgbClr val="B8C8D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615B127-E653-48CE-A61F-616E301BF9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571625"/>
            <a:ext cx="52387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175" b="1">
                <a:solidFill>
                  <a:srgbClr val="1976D2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1976D2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5BA88FD-747D-469C-AEB6-7B6DF6EC4E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1819275"/>
            <a:ext cx="52387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76D2"/>
          </a:solidFill>
          <a:ln xmlns:a="http://schemas.openxmlformats.org/drawingml/2006/main" w="9525">
            <a:solidFill>
              <a:srgbClr val="1976D2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D7F95ED-42CC-47E2-B510-5A1BB0629C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1571625"/>
            <a:ext cx="8572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12355B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2355B"/>
                </a:solidFill>
                <a:latin typeface="Arial"/>
                <a:ea typeface="Arial"/>
                <a:cs typeface="Arial"/>
              </a:rPr>
              <a:t>Részellenállások felírása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FC12298-930B-42A9-8A6C-42E74B344D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466975"/>
            <a:ext cx="52387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175" b="1">
                <a:solidFill>
                  <a:srgbClr val="1976D2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1976D2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B12B9B7-5561-4EAF-AC11-D3DBDDE760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2714625"/>
            <a:ext cx="52387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76D2"/>
          </a:solidFill>
          <a:ln xmlns:a="http://schemas.openxmlformats.org/drawingml/2006/main" w="9525">
            <a:solidFill>
              <a:srgbClr val="1976D2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77A1953-8A48-48D5-BE03-8DA280A42F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2466975"/>
            <a:ext cx="8572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2355B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2355B"/>
                </a:solidFill>
                <a:latin typeface="Arial"/>
                <a:ea typeface="Arial"/>
                <a:cs typeface="Arial"/>
              </a:rPr>
              <a:t>Eredő kiszámítása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DE786B5-6560-47E1-A111-377AB29202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362325"/>
            <a:ext cx="52387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175" b="1">
                <a:solidFill>
                  <a:srgbClr val="1976D2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1976D2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FC50314-1B04-496B-8C74-0CE9146E86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3609975"/>
            <a:ext cx="52387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76D2"/>
          </a:solidFill>
          <a:ln xmlns:a="http://schemas.openxmlformats.org/drawingml/2006/main" w="9525">
            <a:solidFill>
              <a:srgbClr val="1976D2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1A8057B-BB52-4D38-B209-98055905F2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3362325"/>
            <a:ext cx="8572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12355B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2355B"/>
                </a:solidFill>
                <a:latin typeface="Arial"/>
                <a:ea typeface="Arial"/>
                <a:cs typeface="Arial"/>
              </a:rPr>
              <a:t>Teljes áram meghatározása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27E3843-BDCF-4360-A636-84EAB8C13E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257675"/>
            <a:ext cx="52387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175" b="1">
                <a:solidFill>
                  <a:srgbClr val="1976D2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1976D2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9470BE4-4DD5-45F8-BF86-A1A27C27B9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505325"/>
            <a:ext cx="52387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76D2"/>
          </a:solidFill>
          <a:ln xmlns:a="http://schemas.openxmlformats.org/drawingml/2006/main" w="9525">
            <a:solidFill>
              <a:srgbClr val="1976D2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3B35E06-BCB0-4639-8B23-60285420BC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4257675"/>
            <a:ext cx="8572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12355B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2355B"/>
                </a:solidFill>
                <a:latin typeface="Arial"/>
                <a:ea typeface="Arial"/>
                <a:cs typeface="Arial"/>
              </a:rPr>
              <a:t>Részfeszültségek számítása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A57CE46-E1D9-453E-9EF9-00207E0114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153025"/>
            <a:ext cx="52387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175" b="1">
                <a:solidFill>
                  <a:srgbClr val="1976D2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1976D2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6804A8F-2AD5-440A-9DD1-EC82F375D4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5400675"/>
            <a:ext cx="52387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76D2"/>
          </a:solidFill>
          <a:ln xmlns:a="http://schemas.openxmlformats.org/drawingml/2006/main" w="9525">
            <a:solidFill>
              <a:srgbClr val="1976D2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DD4114F-F1F0-4BC4-812A-3981175356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5153025"/>
            <a:ext cx="8572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12355B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2355B"/>
                </a:solidFill>
                <a:latin typeface="Arial"/>
                <a:ea typeface="Arial"/>
                <a:cs typeface="Arial"/>
              </a:rPr>
              <a:t>Összeg ellenőrzése</a:t>
            </a:r>
          </a:p>
        </p:txBody>
      </p:sp>
    </p:spTree>
    <p:extLst>
      <p:ext uri="{BB962C8B-B14F-4D97-AF65-F5344CB8AC3E}">
        <p14:creationId xmlns:p14="http://schemas.microsoft.com/office/powerpoint/2010/main" val="1952293299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48F567A-CC77-4F1F-A73F-573D857AC8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33375"/>
            <a:ext cx="10287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12355B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12355B"/>
                </a:solidFill>
                <a:latin typeface="Arial"/>
                <a:ea typeface="Arial"/>
                <a:cs typeface="Arial"/>
              </a:rPr>
              <a:t>Példa: eredőből számítjuk az áramot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497E297-2479-4400-89FE-726C00956F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457200"/>
            <a:ext cx="419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52697D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52697D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E1C3CD2-37DC-4E56-80F2-07D1D0384D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190625"/>
            <a:ext cx="1104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8D8"/>
          </a:solidFill>
          <a:ln xmlns:a="http://schemas.openxmlformats.org/drawingml/2006/main" w="9525">
            <a:solidFill>
              <a:srgbClr val="B8C8D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DBE2EEF-2AF1-49C7-ADC9-5BA82C900C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714500"/>
            <a:ext cx="371475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12355B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12355B"/>
                </a:solidFill>
                <a:latin typeface="Arial"/>
                <a:ea typeface="Arial"/>
                <a:cs typeface="Arial"/>
              </a:rPr>
              <a:t>U = 13 V</a:t>
            </a:r>
          </a:p>
          <a:p xmlns:a="http://schemas.openxmlformats.org/drawingml/2006/main">
            <a:pPr algn="l">
              <a:defRPr sz="2175" b="1">
                <a:solidFill>
                  <a:srgbClr val="12355B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12355B"/>
                </a:solidFill>
                <a:latin typeface="Arial"/>
                <a:ea typeface="Arial"/>
                <a:cs typeface="Arial"/>
              </a:rPr>
              <a:t>R₁ = 100 Ω</a:t>
            </a:r>
          </a:p>
          <a:p xmlns:a="http://schemas.openxmlformats.org/drawingml/2006/main">
            <a:pPr algn="l">
              <a:defRPr sz="2175" b="1">
                <a:solidFill>
                  <a:srgbClr val="12355B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12355B"/>
                </a:solidFill>
                <a:latin typeface="Arial"/>
                <a:ea typeface="Arial"/>
                <a:cs typeface="Arial"/>
              </a:rPr>
              <a:t>R₂ = 220 Ω</a:t>
            </a:r>
          </a:p>
          <a:p xmlns:a="http://schemas.openxmlformats.org/drawingml/2006/main">
            <a:pPr algn="l">
              <a:defRPr sz="2175" b="1">
                <a:solidFill>
                  <a:srgbClr val="12355B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12355B"/>
                </a:solidFill>
                <a:latin typeface="Arial"/>
                <a:ea typeface="Arial"/>
                <a:cs typeface="Arial"/>
              </a:rPr>
              <a:t>R₃ = 330 Ω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8EE6689-C27A-4CE8-A161-EC7BCB145D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1714500"/>
            <a:ext cx="6477000" cy="3095625"/>
          </a:xfrm>
          <a:prstGeom xmlns:a="http://schemas.openxmlformats.org/drawingml/2006/main" prst="roundRect">
            <a:avLst>
              <a:gd name="adj" fmla="val 2462"/>
            </a:avLst>
          </a:prstGeom>
          <a:solidFill xmlns:a="http://schemas.openxmlformats.org/drawingml/2006/main">
            <a:srgbClr val="12355B"/>
          </a:solidFill>
          <a:ln xmlns:a="http://schemas.openxmlformats.org/drawingml/2006/main" w="9525">
            <a:solidFill>
              <a:srgbClr val="12355B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A1A41E0-81D1-447F-8B2A-B98B23989C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2143125"/>
            <a:ext cx="5524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6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6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Rₑ = 650 Ω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9D6F9CC-A572-4068-BD0E-95A4F10ED9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3000375"/>
            <a:ext cx="5524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625" b="1">
                <a:solidFill>
                  <a:srgbClr val="79C6FF"/>
                </a:solidFill>
                <a:latin typeface="Arial"/>
                <a:ea typeface="Arial"/>
                <a:cs typeface="Arial"/>
              </a:defRPr>
            </a:pPr>
            <a:r>
              <a:rPr sz="2625" b="1">
                <a:solidFill>
                  <a:srgbClr val="79C6FF"/>
                </a:solidFill>
                <a:latin typeface="Arial"/>
                <a:ea typeface="Arial"/>
                <a:cs typeface="Arial"/>
              </a:rPr>
              <a:t>I = 13 V / 650 Ω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3DCAE10-AA3A-4814-8E56-91F575744D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3857625"/>
            <a:ext cx="5524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8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I = 0,02 A = 20 mA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B890EFF-B2E7-4A2E-8DC1-EED573736B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476875"/>
            <a:ext cx="11049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2E7D64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E7D64"/>
                </a:solidFill>
                <a:latin typeface="Arial"/>
                <a:ea typeface="Arial"/>
                <a:cs typeface="Arial"/>
              </a:rPr>
              <a:t>Ugyanez az áram folyik mindhárom ellenálláson.</a:t>
            </a:r>
          </a:p>
        </p:txBody>
      </p:sp>
    </p:spTree>
    <p:extLst>
      <p:ext uri="{BB962C8B-B14F-4D97-AF65-F5344CB8AC3E}">
        <p14:creationId xmlns:p14="http://schemas.microsoft.com/office/powerpoint/2010/main" val="1212311509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1F926B0-104C-4E40-BA09-292BD84B92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33375"/>
            <a:ext cx="10287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12355B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12355B"/>
                </a:solidFill>
                <a:latin typeface="Arial"/>
                <a:ea typeface="Arial"/>
                <a:cs typeface="Arial"/>
              </a:rPr>
              <a:t>A feszültség az ellenállások arányában oszlik meg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EAA2FA5-7497-4BD3-8589-063A121FD6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457200"/>
            <a:ext cx="419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52697D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52697D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5EF5832-3407-452A-8E0B-514484DEA9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190625"/>
            <a:ext cx="1104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8D8"/>
          </a:solidFill>
          <a:ln xmlns:a="http://schemas.openxmlformats.org/drawingml/2006/main" w="9525">
            <a:solidFill>
              <a:srgbClr val="B8C8D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AF108BB-F7FC-47B3-BD5F-D8BA8E6182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809750"/>
            <a:ext cx="3333750" cy="3286125"/>
          </a:xfrm>
          <a:prstGeom xmlns:a="http://schemas.openxmlformats.org/drawingml/2006/main" prst="roundRect">
            <a:avLst>
              <a:gd name="adj" fmla="val 2319"/>
            </a:avLst>
          </a:prstGeom>
          <a:solidFill xmlns:a="http://schemas.openxmlformats.org/drawingml/2006/main">
            <a:srgbClr val="EEF3F7"/>
          </a:solidFill>
          <a:ln xmlns:a="http://schemas.openxmlformats.org/drawingml/2006/main" w="9525">
            <a:solidFill>
              <a:srgbClr val="EEF3F7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5EA0777-D4F7-4E11-8B1A-96A67B49FC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190750"/>
            <a:ext cx="285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52697D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52697D"/>
                </a:solidFill>
                <a:latin typeface="Arial"/>
                <a:ea typeface="Arial"/>
                <a:cs typeface="Arial"/>
              </a:rPr>
              <a:t>R₁ = 100 Ω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D401D1D-8ED6-41DB-854B-3C3A4AAEF1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952750"/>
            <a:ext cx="28575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925" b="1">
                <a:solidFill>
                  <a:srgbClr val="12355B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12355B"/>
                </a:solidFill>
                <a:latin typeface="Arial"/>
                <a:ea typeface="Arial"/>
                <a:cs typeface="Arial"/>
              </a:rPr>
              <a:t>U₁ = 2,0 V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5F23F9A-87FD-4549-86D4-A30D3D50B9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095750"/>
            <a:ext cx="2857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2E7D64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2E7D64"/>
                </a:solidFill>
                <a:latin typeface="Arial"/>
                <a:ea typeface="Arial"/>
                <a:cs typeface="Arial"/>
              </a:rPr>
              <a:t>kisebb esés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3B9D1E6-674B-4A9D-8350-2BE911CC5D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1809750"/>
            <a:ext cx="3333750" cy="3286125"/>
          </a:xfrm>
          <a:prstGeom xmlns:a="http://schemas.openxmlformats.org/drawingml/2006/main" prst="roundRect">
            <a:avLst>
              <a:gd name="adj" fmla="val 2319"/>
            </a:avLst>
          </a:prstGeom>
          <a:solidFill xmlns:a="http://schemas.openxmlformats.org/drawingml/2006/main">
            <a:srgbClr val="D9EEFF"/>
          </a:solidFill>
          <a:ln xmlns:a="http://schemas.openxmlformats.org/drawingml/2006/main" w="9525">
            <a:solidFill>
              <a:srgbClr val="D9EEFF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B4A4510-D053-46B5-9957-847DBD8C79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2190750"/>
            <a:ext cx="285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52697D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52697D"/>
                </a:solidFill>
                <a:latin typeface="Arial"/>
                <a:ea typeface="Arial"/>
                <a:cs typeface="Arial"/>
              </a:rPr>
              <a:t>R₂ = 220 Ω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88EC4F1-F6E2-44A8-A838-658239A8EE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2952750"/>
            <a:ext cx="28575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925" b="1">
                <a:solidFill>
                  <a:srgbClr val="1976D2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1976D2"/>
                </a:solidFill>
                <a:latin typeface="Arial"/>
                <a:ea typeface="Arial"/>
                <a:cs typeface="Arial"/>
              </a:rPr>
              <a:t>U₂ = 4,4 V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5D1E582-4EB3-4820-95AB-EABAA7B35E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4095750"/>
            <a:ext cx="2857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2E7D64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2E7D64"/>
                </a:solidFill>
                <a:latin typeface="Arial"/>
                <a:ea typeface="Arial"/>
                <a:cs typeface="Arial"/>
              </a:rPr>
              <a:t>közepes esés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3BEA3F9-679D-4506-883D-D13C6108AD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1809750"/>
            <a:ext cx="3333750" cy="3286125"/>
          </a:xfrm>
          <a:prstGeom xmlns:a="http://schemas.openxmlformats.org/drawingml/2006/main" prst="roundRect">
            <a:avLst>
              <a:gd name="adj" fmla="val 2319"/>
            </a:avLst>
          </a:prstGeom>
          <a:solidFill xmlns:a="http://schemas.openxmlformats.org/drawingml/2006/main">
            <a:srgbClr val="EEF3F7"/>
          </a:solidFill>
          <a:ln xmlns:a="http://schemas.openxmlformats.org/drawingml/2006/main" w="9525">
            <a:solidFill>
              <a:srgbClr val="EEF3F7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680B1BD-9F15-41A5-8798-812BE8CE43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2190750"/>
            <a:ext cx="285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52697D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52697D"/>
                </a:solidFill>
                <a:latin typeface="Arial"/>
                <a:ea typeface="Arial"/>
                <a:cs typeface="Arial"/>
              </a:rPr>
              <a:t>R₃ = 330 Ω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C66ACF7-F086-49DE-B0EC-3452DC15E2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2952750"/>
            <a:ext cx="28575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925" b="1">
                <a:solidFill>
                  <a:srgbClr val="12355B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12355B"/>
                </a:solidFill>
                <a:latin typeface="Arial"/>
                <a:ea typeface="Arial"/>
                <a:cs typeface="Arial"/>
              </a:rPr>
              <a:t>U₃ = 6,6 V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2130930-DAAC-4190-AE3C-E60FD88AEB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4095750"/>
            <a:ext cx="2857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2E7D64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2E7D64"/>
                </a:solidFill>
                <a:latin typeface="Arial"/>
                <a:ea typeface="Arial"/>
                <a:cs typeface="Arial"/>
              </a:rPr>
              <a:t>nagyobb esés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D995B24-4EE6-4745-89BE-5B5F392C56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572125"/>
            <a:ext cx="11049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12355B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2355B"/>
                </a:solidFill>
                <a:latin typeface="Arial"/>
                <a:ea typeface="Arial"/>
                <a:cs typeface="Arial"/>
              </a:rPr>
              <a:t>Nagyobb ellenálláson ugyanazon áram mellett nagyobb feszültség esik.</a:t>
            </a:r>
          </a:p>
        </p:txBody>
      </p:sp>
    </p:spTree>
    <p:extLst>
      <p:ext uri="{BB962C8B-B14F-4D97-AF65-F5344CB8AC3E}">
        <p14:creationId xmlns:p14="http://schemas.microsoft.com/office/powerpoint/2010/main" val="1602042310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427194F-6AD1-4A98-99AF-4501DE750C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33375"/>
            <a:ext cx="10287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12355B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12355B"/>
                </a:solidFill>
                <a:latin typeface="Arial"/>
                <a:ea typeface="Arial"/>
                <a:cs typeface="Arial"/>
              </a:rPr>
              <a:t>Kirchhoff huroktörvénye ellenőrzi az eredményt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4BEA194-F99D-44A6-8371-94CE473DCC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457200"/>
            <a:ext cx="419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52697D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52697D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9319CA2-DD1B-4BAA-B635-24DA21CD2E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190625"/>
            <a:ext cx="1104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8D8"/>
          </a:solidFill>
          <a:ln xmlns:a="http://schemas.openxmlformats.org/drawingml/2006/main" w="9525">
            <a:solidFill>
              <a:srgbClr val="B8C8D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E7809C0-AAE4-4509-ABFB-C9DD8D408E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809750"/>
            <a:ext cx="3333750" cy="3286125"/>
          </a:xfrm>
          <a:prstGeom xmlns:a="http://schemas.openxmlformats.org/drawingml/2006/main" prst="roundRect">
            <a:avLst>
              <a:gd name="adj" fmla="val 2319"/>
            </a:avLst>
          </a:prstGeom>
          <a:solidFill xmlns:a="http://schemas.openxmlformats.org/drawingml/2006/main">
            <a:srgbClr val="EEF3F7"/>
          </a:solidFill>
          <a:ln xmlns:a="http://schemas.openxmlformats.org/drawingml/2006/main" w="9525">
            <a:solidFill>
              <a:srgbClr val="EEF3F7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726A72E-BB19-41D0-9392-D633593934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190750"/>
            <a:ext cx="285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52697D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52697D"/>
                </a:solidFill>
                <a:latin typeface="Arial"/>
                <a:ea typeface="Arial"/>
                <a:cs typeface="Arial"/>
              </a:rPr>
              <a:t>ELSŐ ESÉS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0A41792-57A3-40C8-936D-A61E663F7D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952750"/>
            <a:ext cx="28575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925" b="1">
                <a:solidFill>
                  <a:srgbClr val="12355B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12355B"/>
                </a:solidFill>
                <a:latin typeface="Arial"/>
                <a:ea typeface="Arial"/>
                <a:cs typeface="Arial"/>
              </a:rPr>
              <a:t>U₁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6D67E84-4BA8-4FE5-9843-825DB0C7E0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095750"/>
            <a:ext cx="2857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2E7D64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2E7D64"/>
                </a:solidFill>
                <a:latin typeface="Arial"/>
                <a:ea typeface="Arial"/>
                <a:cs typeface="Arial"/>
              </a:rPr>
              <a:t>2,0 V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A7B9EBB-DB11-4209-B30E-F5AF678509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1809750"/>
            <a:ext cx="3333750" cy="3286125"/>
          </a:xfrm>
          <a:prstGeom xmlns:a="http://schemas.openxmlformats.org/drawingml/2006/main" prst="roundRect">
            <a:avLst>
              <a:gd name="adj" fmla="val 2319"/>
            </a:avLst>
          </a:prstGeom>
          <a:solidFill xmlns:a="http://schemas.openxmlformats.org/drawingml/2006/main">
            <a:srgbClr val="D9EEFF"/>
          </a:solidFill>
          <a:ln xmlns:a="http://schemas.openxmlformats.org/drawingml/2006/main" w="9525">
            <a:solidFill>
              <a:srgbClr val="D9EEFF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56FBD82-F677-43C7-ABC9-F70B32C8A5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2190750"/>
            <a:ext cx="285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52697D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52697D"/>
                </a:solidFill>
                <a:latin typeface="Arial"/>
                <a:ea typeface="Arial"/>
                <a:cs typeface="Arial"/>
              </a:rPr>
              <a:t>MÁSODIK ESÉS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A5B6821-4498-43EE-B5A8-C42D82540C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2952750"/>
            <a:ext cx="28575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925" b="1">
                <a:solidFill>
                  <a:srgbClr val="1976D2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1976D2"/>
                </a:solidFill>
                <a:latin typeface="Arial"/>
                <a:ea typeface="Arial"/>
                <a:cs typeface="Arial"/>
              </a:rPr>
              <a:t>U₂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C751C16-BAAC-4CBD-BB90-F420E5596F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4095750"/>
            <a:ext cx="2857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2E7D64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2E7D64"/>
                </a:solidFill>
                <a:latin typeface="Arial"/>
                <a:ea typeface="Arial"/>
                <a:cs typeface="Arial"/>
              </a:rPr>
              <a:t>4,4 V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BC6B6BB-8EFA-4990-B8A0-86B430A394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1809750"/>
            <a:ext cx="3333750" cy="3286125"/>
          </a:xfrm>
          <a:prstGeom xmlns:a="http://schemas.openxmlformats.org/drawingml/2006/main" prst="roundRect">
            <a:avLst>
              <a:gd name="adj" fmla="val 2319"/>
            </a:avLst>
          </a:prstGeom>
          <a:solidFill xmlns:a="http://schemas.openxmlformats.org/drawingml/2006/main">
            <a:srgbClr val="EEF3F7"/>
          </a:solidFill>
          <a:ln xmlns:a="http://schemas.openxmlformats.org/drawingml/2006/main" w="9525">
            <a:solidFill>
              <a:srgbClr val="EEF3F7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BBCDC08-E903-47CF-956F-20AF1291D4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2190750"/>
            <a:ext cx="285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52697D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52697D"/>
                </a:solidFill>
                <a:latin typeface="Arial"/>
                <a:ea typeface="Arial"/>
                <a:cs typeface="Arial"/>
              </a:rPr>
              <a:t>HARMADIK ESÉS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8B005A1-AEFB-4EFE-9975-87709239B7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2952750"/>
            <a:ext cx="28575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925" b="1">
                <a:solidFill>
                  <a:srgbClr val="12355B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12355B"/>
                </a:solidFill>
                <a:latin typeface="Arial"/>
                <a:ea typeface="Arial"/>
                <a:cs typeface="Arial"/>
              </a:rPr>
              <a:t>U₃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786F7C9-AB48-45AF-948D-A63C7BABB3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4095750"/>
            <a:ext cx="2857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2E7D64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2E7D64"/>
                </a:solidFill>
                <a:latin typeface="Arial"/>
                <a:ea typeface="Arial"/>
                <a:cs typeface="Arial"/>
              </a:rPr>
              <a:t>6,6 V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594D28A-420E-4687-9753-7B25FDD4F0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572125"/>
            <a:ext cx="11049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12355B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2355B"/>
                </a:solidFill>
                <a:latin typeface="Arial"/>
                <a:ea typeface="Arial"/>
                <a:cs typeface="Arial"/>
              </a:rPr>
              <a:t>U = U₁ + U₂ + U₃ = 13,0 V</a:t>
            </a:r>
          </a:p>
        </p:txBody>
      </p:sp>
    </p:spTree>
    <p:extLst>
      <p:ext uri="{BB962C8B-B14F-4D97-AF65-F5344CB8AC3E}">
        <p14:creationId xmlns:p14="http://schemas.microsoft.com/office/powerpoint/2010/main" val="827867212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6AC7AA8-7672-48E9-A761-AC8A3DC954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33375"/>
            <a:ext cx="10287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12355B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12355B"/>
                </a:solidFill>
                <a:latin typeface="Arial"/>
                <a:ea typeface="Arial"/>
                <a:cs typeface="Arial"/>
              </a:rPr>
              <a:t>Szakadáskor az egész soros kör leáll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9E8FA99-A5B6-4A17-81E9-51850D22DF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457200"/>
            <a:ext cx="419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52697D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52697D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7E2D61B-3E8B-40B7-A95C-953ACAF41D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190625"/>
            <a:ext cx="1104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8D8"/>
          </a:solidFill>
          <a:ln xmlns:a="http://schemas.openxmlformats.org/drawingml/2006/main" w="9525">
            <a:solidFill>
              <a:srgbClr val="B8C8D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BB72E50-0A43-4B1F-B449-4F00CBD5EF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666875"/>
            <a:ext cx="11049000" cy="2857500"/>
          </a:xfrm>
          <a:prstGeom xmlns:a="http://schemas.openxmlformats.org/drawingml/2006/main" prst="roundRect">
            <a:avLst>
              <a:gd name="adj" fmla="val 2667"/>
            </a:avLst>
          </a:prstGeom>
          <a:solidFill xmlns:a="http://schemas.openxmlformats.org/drawingml/2006/main">
            <a:srgbClr val="FFF2D6"/>
          </a:solidFill>
          <a:ln xmlns:a="http://schemas.openxmlformats.org/drawingml/2006/main" w="9525">
            <a:solidFill>
              <a:srgbClr val="FFF2D6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3845A72-CB94-45FC-92C9-B280741A03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095500"/>
            <a:ext cx="10287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4A00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F4A000"/>
                </a:solidFill>
                <a:latin typeface="Arial"/>
                <a:ea typeface="Arial"/>
                <a:cs typeface="Arial"/>
              </a:rPr>
              <a:t>EGYETLEN ÁRAMÚT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4A20D9C-298E-42F6-98DC-9DF357E5F1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809875"/>
            <a:ext cx="10287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625" b="1">
                <a:solidFill>
                  <a:srgbClr val="12355B"/>
                </a:solidFill>
                <a:latin typeface="Arial"/>
                <a:ea typeface="Arial"/>
                <a:cs typeface="Arial"/>
              </a:defRPr>
            </a:pPr>
            <a:r>
              <a:rPr sz="2625" b="1">
                <a:solidFill>
                  <a:srgbClr val="12355B"/>
                </a:solidFill>
                <a:latin typeface="Arial"/>
                <a:ea typeface="Arial"/>
                <a:cs typeface="Arial"/>
              </a:rPr>
              <a:t>Ha bármelyik elem vagy vezeték megszakad,</a:t>
            </a:r>
          </a:p>
          <a:p xmlns:a="http://schemas.openxmlformats.org/drawingml/2006/main">
            <a:pPr algn="ctr">
              <a:defRPr sz="2625" b="1">
                <a:solidFill>
                  <a:srgbClr val="12355B"/>
                </a:solidFill>
                <a:latin typeface="Arial"/>
                <a:ea typeface="Arial"/>
                <a:cs typeface="Arial"/>
              </a:defRPr>
            </a:pPr>
            <a:r>
              <a:rPr sz="2625" b="1">
                <a:solidFill>
                  <a:srgbClr val="12355B"/>
                </a:solidFill>
                <a:latin typeface="Arial"/>
                <a:ea typeface="Arial"/>
                <a:cs typeface="Arial"/>
              </a:rPr>
              <a:t>az áram mindenhol nulla lesz.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562F0B0-DE26-4B65-8F8F-A94347D7CE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048125"/>
            <a:ext cx="10287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12355B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2355B"/>
                </a:solidFill>
                <a:latin typeface="Arial"/>
                <a:ea typeface="Arial"/>
                <a:cs typeface="Arial"/>
              </a:rPr>
              <a:t>Ellenállást csak feszültségmentes körben mérünk.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BD17F65-BA7D-4700-BE2F-25FC6EB271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381625"/>
            <a:ext cx="11049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2E7D64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2E7D64"/>
                </a:solidFill>
                <a:latin typeface="Arial"/>
                <a:ea typeface="Arial"/>
                <a:cs typeface="Arial"/>
              </a:rPr>
              <a:t>Átépítés előtt mindig kapcsold ki a tápegységet.</a:t>
            </a:r>
          </a:p>
        </p:txBody>
      </p:sp>
    </p:spTree>
    <p:extLst>
      <p:ext uri="{BB962C8B-B14F-4D97-AF65-F5344CB8AC3E}">
        <p14:creationId xmlns:p14="http://schemas.microsoft.com/office/powerpoint/2010/main" val="159283150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1C518AF-344C-4158-A513-B3DD941D4E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33375"/>
            <a:ext cx="10287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12355B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12355B"/>
                </a:solidFill>
                <a:latin typeface="Arial"/>
                <a:ea typeface="Arial"/>
                <a:cs typeface="Arial"/>
              </a:rPr>
              <a:t>A mérés három szabályt igazol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F97C357-1467-4AD8-BF00-9B14BD066A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457200"/>
            <a:ext cx="419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52697D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52697D"/>
                </a:solidFill>
                <a:latin typeface="Arial"/>
                <a:ea typeface="Arial"/>
                <a:cs typeface="Arial"/>
              </a:rPr>
              <a:t>09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C0F6D64-9C67-4E36-A823-9D5FFC4892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190625"/>
            <a:ext cx="1104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8D8"/>
          </a:solidFill>
          <a:ln xmlns:a="http://schemas.openxmlformats.org/drawingml/2006/main" w="9525">
            <a:solidFill>
              <a:srgbClr val="B8C8D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42F971A-5E45-4A6B-B8A5-E86FBB48FF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762125"/>
            <a:ext cx="10477500" cy="809625"/>
          </a:xfrm>
          <a:prstGeom xmlns:a="http://schemas.openxmlformats.org/drawingml/2006/main" prst="roundRect">
            <a:avLst>
              <a:gd name="adj" fmla="val 9412"/>
            </a:avLst>
          </a:prstGeom>
          <a:solidFill xmlns:a="http://schemas.openxmlformats.org/drawingml/2006/main">
            <a:srgbClr val="EEF3F7"/>
          </a:solidFill>
          <a:ln xmlns:a="http://schemas.openxmlformats.org/drawingml/2006/main" w="9525">
            <a:solidFill>
              <a:srgbClr val="EEF3F7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6523345-8839-4010-83DE-9395EB48B9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1905000"/>
            <a:ext cx="9810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175" b="1">
                <a:solidFill>
                  <a:srgbClr val="12355B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12355B"/>
                </a:solidFill>
                <a:latin typeface="Arial"/>
                <a:ea typeface="Arial"/>
                <a:cs typeface="Arial"/>
              </a:rPr>
              <a:t>Rₑ ≈ R₁ + R₂ + R₃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C30060B-38CD-4424-8370-2660D88700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952750"/>
            <a:ext cx="10477500" cy="809625"/>
          </a:xfrm>
          <a:prstGeom xmlns:a="http://schemas.openxmlformats.org/drawingml/2006/main" prst="roundRect">
            <a:avLst>
              <a:gd name="adj" fmla="val 9412"/>
            </a:avLst>
          </a:prstGeom>
          <a:solidFill xmlns:a="http://schemas.openxmlformats.org/drawingml/2006/main">
            <a:srgbClr val="D9EEFF"/>
          </a:solidFill>
          <a:ln xmlns:a="http://schemas.openxmlformats.org/drawingml/2006/main" w="9525">
            <a:solidFill>
              <a:srgbClr val="D9EEF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F2312D5-36C5-4083-8071-FA593DF899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3095625"/>
            <a:ext cx="9810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175" b="1">
                <a:solidFill>
                  <a:srgbClr val="1976D2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1976D2"/>
                </a:solidFill>
                <a:latin typeface="Arial"/>
                <a:ea typeface="Arial"/>
                <a:cs typeface="Arial"/>
              </a:rPr>
              <a:t>I minden soros pontban azonos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5DB6A07-E763-4474-B197-91D09CA005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143375"/>
            <a:ext cx="10477500" cy="809625"/>
          </a:xfrm>
          <a:prstGeom xmlns:a="http://schemas.openxmlformats.org/drawingml/2006/main" prst="roundRect">
            <a:avLst>
              <a:gd name="adj" fmla="val 9412"/>
            </a:avLst>
          </a:prstGeom>
          <a:solidFill xmlns:a="http://schemas.openxmlformats.org/drawingml/2006/main">
            <a:srgbClr val="EEF3F7"/>
          </a:solidFill>
          <a:ln xmlns:a="http://schemas.openxmlformats.org/drawingml/2006/main" w="9525">
            <a:solidFill>
              <a:srgbClr val="EEF3F7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88FEAA6-68D9-4820-8B1E-8EE2BADFDE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4286250"/>
            <a:ext cx="9810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175" b="1">
                <a:solidFill>
                  <a:srgbClr val="12355B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12355B"/>
                </a:solidFill>
                <a:latin typeface="Arial"/>
                <a:ea typeface="Arial"/>
                <a:cs typeface="Arial"/>
              </a:rPr>
              <a:t>U ≈ U₁ + U₂ + U₃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732D3C5-FED2-4214-A52E-BFC50EF6B2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619750"/>
            <a:ext cx="11049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2E7D64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2E7D64"/>
                </a:solidFill>
                <a:latin typeface="Arial"/>
                <a:ea typeface="Arial"/>
                <a:cs typeface="Arial"/>
              </a:rPr>
              <a:t>A számított és mért érték kis eltérése természetes.</a:t>
            </a:r>
          </a:p>
        </p:txBody>
      </p:sp>
    </p:spTree>
    <p:extLst>
      <p:ext uri="{BB962C8B-B14F-4D97-AF65-F5344CB8AC3E}">
        <p14:creationId xmlns:p14="http://schemas.microsoft.com/office/powerpoint/2010/main" val="771345707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12355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FE4F522-77B9-442C-AAEA-EF839EE5D5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23875"/>
            <a:ext cx="10477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Mit vigyél haza mára?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E7CC65D-57A8-4DE8-BEFE-F4E1A74E6C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66875"/>
            <a:ext cx="571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79C6FF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79C6FF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6E79F26-F87C-4A5C-B16A-34E9FC289B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1619250"/>
            <a:ext cx="9525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Soros körben ugyanaz az áram folyik minden elemben.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32E4EC0-0DEE-40DB-BCFD-6429EFB290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581275"/>
            <a:ext cx="571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79C6FF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79C6FF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5F2681A-61CF-4168-B7C2-2708541D3B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533650"/>
            <a:ext cx="9525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Az eredő a részellenállások összege.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B7763C8-E084-4702-A1F4-410915AF7E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495675"/>
            <a:ext cx="571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79C6FF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79C6FF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FA32CB2-4200-4AD1-822B-F7759B4E73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3448050"/>
            <a:ext cx="9525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A feszültség megoszlik az ellenállások között.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38B8E8D-522B-4ACA-BA7D-780E7CE020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410075"/>
            <a:ext cx="571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79C6FF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79C6FF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B34DEF7-87DB-49A1-A944-B41E1DDF91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362450"/>
            <a:ext cx="9525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A részfeszültségek összege a forrásfeszültség.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1CA7171-8137-4B56-998F-A0CAD69860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810250"/>
            <a:ext cx="11049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BFDFF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BFDFFF"/>
                </a:solidFill>
                <a:latin typeface="Arial"/>
                <a:ea typeface="Arial"/>
                <a:cs typeface="Arial"/>
              </a:rPr>
              <a:t>Következő hét: párhuzamos ellenálláskapcsolások</a:t>
            </a:r>
          </a:p>
        </p:txBody>
      </p:sp>
    </p:spTree>
    <p:extLst>
      <p:ext uri="{BB962C8B-B14F-4D97-AF65-F5344CB8AC3E}">
        <p14:creationId xmlns:p14="http://schemas.microsoft.com/office/powerpoint/2010/main" val="171116275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2026-08-20T14:56:56.3220000Z</dcterms:created>
  <dcterms:modified xsi:type="dcterms:W3CDTF">2026-08-20T14:56:56.3220000Z</dcterms:modified>
</coreProperties>
</file>