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5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églalap 10">
            <a:extLst>
              <a:ext uri="{FF2B5EF4-FFF2-40B4-BE49-F238E27FC236}">
                <a16:creationId xmlns:a16="http://schemas.microsoft.com/office/drawing/2014/main" id="{F2240EB5-CD96-4F09-9033-3F87343620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F7B32B"/>
          </a:solidFill>
          <a:ln w="0">
            <a:solidFill>
              <a:srgbClr val="F7B32B"/>
            </a:solidFill>
            <a:prstDash val="solid"/>
          </a:ln>
        </p:spPr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A68A3BDD-06F6-453B-9018-9E2A790F036C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A9CFF2"/>
                </a:solidFill>
              </a:defRPr>
            </a:pPr>
            <a:r>
              <a:rPr sz="1350" b="1">
                <a:solidFill>
                  <a:srgbClr val="A9CFF2"/>
                </a:solidFill>
              </a:rPr>
              <a:t>VILLAMOS ALAPISMERETEK</a:t>
            </a:r>
          </a:p>
        </p:txBody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61C8BD65-4279-4C34-AF1B-8A07C56EF705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9906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Villamos töltések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24566E9D-76E2-45C7-9F33-FD7BD0740A20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971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0">
                <a:solidFill>
                  <a:srgbClr val="CFE8FF"/>
                </a:solidFill>
              </a:defRPr>
            </a:pPr>
            <a:r>
              <a:rPr sz="2175" b="0">
                <a:solidFill>
                  <a:srgbClr val="CFE8FF"/>
                </a:solidFill>
              </a:rPr>
              <a:t>Sztatikus elektromosság és elektromos tér</a:t>
            </a:r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2779D96B-3309-478A-816E-A7BE754F6167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1571625" cy="457200"/>
          </a:xfrm>
          <a:prstGeom prst="roundRect">
            <a:avLst>
              <a:gd name="adj" fmla="val 25000"/>
            </a:avLst>
          </a:prstGeom>
          <a:solidFill>
            <a:srgbClr val="1976D2"/>
          </a:solidFill>
          <a:ln w="9525">
            <a:solidFill>
              <a:srgbClr val="1976D2"/>
            </a:solidFill>
            <a:prstDash val="solid"/>
          </a:ln>
        </p:spPr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24F1CA16-ED6A-4617-B311-ED846E13DCD1}"/>
              </a:ext>
            </a:extLst>
          </p:cNvPr>
          <p:cNvSpPr>
            <a:spLocks noGrp="1"/>
          </p:cNvSpPr>
          <p:nvPr/>
        </p:nvSpPr>
        <p:spPr>
          <a:xfrm>
            <a:off x="762000" y="3752850"/>
            <a:ext cx="14192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2. HÉT</a:t>
            </a:r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1DA1F817-6F08-4627-A8EA-2C9DF3A5C610}"/>
              </a:ext>
            </a:extLst>
          </p:cNvPr>
          <p:cNvSpPr>
            <a:spLocks noGrp="1"/>
          </p:cNvSpPr>
          <p:nvPr/>
        </p:nvSpPr>
        <p:spPr>
          <a:xfrm>
            <a:off x="2428875" y="3676650"/>
            <a:ext cx="2000250" cy="457200"/>
          </a:xfrm>
          <a:prstGeom prst="roundRect">
            <a:avLst>
              <a:gd name="adj" fmla="val 25000"/>
            </a:avLst>
          </a:prstGeom>
          <a:solidFill>
            <a:srgbClr val="2E5F89"/>
          </a:solidFill>
          <a:ln w="9525">
            <a:solidFill>
              <a:srgbClr val="2E5F89"/>
            </a:solidFill>
            <a:prstDash val="solid"/>
          </a:ln>
        </p:spPr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5D35BD0D-2516-4925-AD6D-DEF10C091913}"/>
              </a:ext>
            </a:extLst>
          </p:cNvPr>
          <p:cNvSpPr>
            <a:spLocks noGrp="1"/>
          </p:cNvSpPr>
          <p:nvPr/>
        </p:nvSpPr>
        <p:spPr>
          <a:xfrm>
            <a:off x="2505075" y="3752850"/>
            <a:ext cx="184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5 × 45 PERC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2C3459B2-1938-4BE1-8397-ADF108ACAED9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9810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Először megfigyeljük a jelenséget, utána keressük rá a magyarázatot.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161B8268-7545-4281-8E10-42D6827A7D2D}"/>
              </a:ext>
            </a:extLst>
          </p:cNvPr>
          <p:cNvSpPr>
            <a:spLocks noGrp="1"/>
          </p:cNvSpPr>
          <p:nvPr/>
        </p:nvSpPr>
        <p:spPr>
          <a:xfrm>
            <a:off x="685800" y="6238875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A9CFF2"/>
                </a:solidFill>
              </a:defRPr>
            </a:pPr>
            <a:r>
              <a:rPr sz="1050" b="0">
                <a:solidFill>
                  <a:srgbClr val="A9CFF2"/>
                </a:solidFill>
              </a:rPr>
              <a:t>IAP • Integrált Automatika Program • 10. évfolyam</a:t>
            </a:r>
          </a:p>
        </p:txBody>
      </p:sp>
    </p:spTree>
    <p:extLst>
      <p:ext uri="{BB962C8B-B14F-4D97-AF65-F5344CB8AC3E}">
        <p14:creationId xmlns:p14="http://schemas.microsoft.com/office/powerpoint/2010/main" val="1175572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églalap 15">
            <a:extLst>
              <a:ext uri="{FF2B5EF4-FFF2-40B4-BE49-F238E27FC236}">
                <a16:creationId xmlns:a16="http://schemas.microsoft.com/office/drawing/2014/main" id="{DC87AF0C-7388-40A7-9470-574BCCA6AF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47650"/>
          </a:xfrm>
          <a:prstGeom prst="rect">
            <a:avLst/>
          </a:prstGeom>
          <a:solidFill>
            <a:srgbClr val="12355B"/>
          </a:solidFill>
          <a:ln w="0">
            <a:solidFill>
              <a:srgbClr val="12355B"/>
            </a:solidFill>
            <a:prstDash val="solid"/>
          </a:ln>
        </p:spPr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0464907A-FE01-4CB6-9880-BDA0E44D0857}"/>
              </a:ext>
            </a:extLst>
          </p:cNvPr>
          <p:cNvSpPr>
            <a:spLocks noGrp="1"/>
          </p:cNvSpPr>
          <p:nvPr/>
        </p:nvSpPr>
        <p:spPr>
          <a:xfrm>
            <a:off x="552450" y="28575"/>
            <a:ext cx="619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IAP • 10. ÉVFOLYAM • VILLAMOS ALAPISMERETEK</a:t>
            </a:r>
          </a:p>
        </p:txBody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449696C1-AFAE-48AA-AC5A-F09ED4801902}"/>
              </a:ext>
            </a:extLst>
          </p:cNvPr>
          <p:cNvSpPr>
            <a:spLocks noGrp="1"/>
          </p:cNvSpPr>
          <p:nvPr/>
        </p:nvSpPr>
        <p:spPr>
          <a:xfrm>
            <a:off x="11125200" y="28575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C9ED6D49-16B0-4369-B101-476AAD86727E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087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2355B"/>
                </a:solidFill>
              </a:defRPr>
            </a:pPr>
            <a:r>
              <a:rPr sz="2700" b="1">
                <a:solidFill>
                  <a:srgbClr val="12355B"/>
                </a:solidFill>
              </a:rPr>
              <a:t>A lufi a láthatatlan elektromos kölcsönhatást mutatja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2402A9CB-999F-4023-B1BC-241ED5CBD5DF}"/>
              </a:ext>
            </a:extLst>
          </p:cNvPr>
          <p:cNvSpPr>
            <a:spLocks noGrp="1"/>
          </p:cNvSpPr>
          <p:nvPr/>
        </p:nvSpPr>
        <p:spPr>
          <a:xfrm>
            <a:off x="552450" y="6419850"/>
            <a:ext cx="11087100" cy="19050"/>
          </a:xfrm>
          <a:prstGeom prst="rect">
            <a:avLst/>
          </a:prstGeom>
          <a:solidFill>
            <a:srgbClr val="1976D2"/>
          </a:solidFill>
          <a:ln w="0">
            <a:solidFill>
              <a:srgbClr val="1976D2"/>
            </a:solidFill>
            <a:prstDash val="solid"/>
          </a:ln>
        </p:spPr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AB1D59CC-C3B9-46E6-859E-356D0E871811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87086"/>
                </a:solidFill>
              </a:defRPr>
            </a:pPr>
            <a:r>
              <a:rPr sz="900" b="0">
                <a:solidFill>
                  <a:srgbClr val="587086"/>
                </a:solidFill>
              </a:rPr>
              <a:t>2. hét • Villamos töltések</a:t>
            </a:r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734FAABA-EB61-46BE-8FDD-BC971F066765}"/>
              </a:ext>
            </a:extLst>
          </p:cNvPr>
          <p:cNvSpPr>
            <a:spLocks noGrp="1"/>
          </p:cNvSpPr>
          <p:nvPr/>
        </p:nvSpPr>
        <p:spPr>
          <a:xfrm>
            <a:off x="714375" y="1666875"/>
            <a:ext cx="4286250" cy="3238500"/>
          </a:xfrm>
          <a:prstGeom prst="roundRect">
            <a:avLst>
              <a:gd name="adj" fmla="val 3529"/>
            </a:avLst>
          </a:prstGeom>
          <a:solidFill>
            <a:srgbClr val="EAF4FF"/>
          </a:solidFill>
          <a:ln w="9525">
            <a:solidFill>
              <a:srgbClr val="9BC4E7"/>
            </a:solidFill>
            <a:prstDash val="solid"/>
          </a:ln>
        </p:spPr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E35521C7-2450-489E-9A35-0679E5BC4050}"/>
              </a:ext>
            </a:extLst>
          </p:cNvPr>
          <p:cNvSpPr>
            <a:spLocks noGrp="1"/>
          </p:cNvSpPr>
          <p:nvPr/>
        </p:nvSpPr>
        <p:spPr>
          <a:xfrm>
            <a:off x="1047750" y="2095500"/>
            <a:ext cx="666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600" b="1">
                <a:solidFill>
                  <a:srgbClr val="1976D2"/>
                </a:solidFill>
              </a:defRPr>
            </a:pPr>
            <a:r>
              <a:rPr sz="3600" b="1">
                <a:solidFill>
                  <a:srgbClr val="1976D2"/>
                </a:solidFill>
              </a:rPr>
              <a:t>1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48C3B46-C2E8-4AC0-BFC8-100917551499}"/>
              </a:ext>
            </a:extLst>
          </p:cNvPr>
          <p:cNvSpPr>
            <a:spLocks noGrp="1"/>
          </p:cNvSpPr>
          <p:nvPr/>
        </p:nvSpPr>
        <p:spPr>
          <a:xfrm>
            <a:off x="1857375" y="2190750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2355B"/>
                </a:solidFill>
              </a:defRPr>
            </a:pPr>
            <a:r>
              <a:rPr sz="2250" b="1">
                <a:solidFill>
                  <a:srgbClr val="12355B"/>
                </a:solidFill>
              </a:rPr>
              <a:t>Dörzsöld meg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603A14A0-1939-4D2E-8E26-8AF9A0E93CA5}"/>
              </a:ext>
            </a:extLst>
          </p:cNvPr>
          <p:cNvSpPr>
            <a:spLocks noGrp="1"/>
          </p:cNvSpPr>
          <p:nvPr/>
        </p:nvSpPr>
        <p:spPr>
          <a:xfrm>
            <a:off x="1047750" y="3143250"/>
            <a:ext cx="666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600" b="1">
                <a:solidFill>
                  <a:srgbClr val="1976D2"/>
                </a:solidFill>
              </a:defRPr>
            </a:pPr>
            <a:r>
              <a:rPr sz="3600" b="1">
                <a:solidFill>
                  <a:srgbClr val="1976D2"/>
                </a:solidFill>
              </a:rPr>
              <a:t>2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DEB8998D-F380-49B9-BA83-A1DB7226EB44}"/>
              </a:ext>
            </a:extLst>
          </p:cNvPr>
          <p:cNvSpPr>
            <a:spLocks noGrp="1"/>
          </p:cNvSpPr>
          <p:nvPr/>
        </p:nvSpPr>
        <p:spPr>
          <a:xfrm>
            <a:off x="1857375" y="3238500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2355B"/>
                </a:solidFill>
              </a:defRPr>
            </a:pPr>
            <a:r>
              <a:rPr sz="2250" b="1">
                <a:solidFill>
                  <a:srgbClr val="12355B"/>
                </a:solidFill>
              </a:rPr>
              <a:t>Közelítsd a falhoz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5AA2CE1D-0C4A-43D4-8564-DD10F514E572}"/>
              </a:ext>
            </a:extLst>
          </p:cNvPr>
          <p:cNvSpPr>
            <a:spLocks noGrp="1"/>
          </p:cNvSpPr>
          <p:nvPr/>
        </p:nvSpPr>
        <p:spPr>
          <a:xfrm>
            <a:off x="1047750" y="4191000"/>
            <a:ext cx="666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600" b="1">
                <a:solidFill>
                  <a:srgbClr val="239B73"/>
                </a:solidFill>
              </a:defRPr>
            </a:pPr>
            <a:r>
              <a:rPr sz="3600" b="1">
                <a:solidFill>
                  <a:srgbClr val="239B73"/>
                </a:solidFill>
              </a:rPr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9B71B565-0BD6-46F5-9BEC-9EBEF68FC678}"/>
              </a:ext>
            </a:extLst>
          </p:cNvPr>
          <p:cNvSpPr>
            <a:spLocks noGrp="1"/>
          </p:cNvSpPr>
          <p:nvPr/>
        </p:nvSpPr>
        <p:spPr>
          <a:xfrm>
            <a:off x="1857375" y="4286250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2355B"/>
                </a:solidFill>
              </a:defRPr>
            </a:pPr>
            <a:r>
              <a:rPr sz="2250" b="1">
                <a:solidFill>
                  <a:srgbClr val="12355B"/>
                </a:solidFill>
              </a:rPr>
              <a:t>Figyeld meg</a:t>
            </a:r>
          </a:p>
        </p:txBody>
      </p:sp>
      <p:sp>
        <p:nvSpPr>
          <p:cNvPr id="14" name="Téglalap 13">
            <a:extLst>
              <a:ext uri="{FF2B5EF4-FFF2-40B4-BE49-F238E27FC236}">
                <a16:creationId xmlns:a16="http://schemas.microsoft.com/office/drawing/2014/main" id="{63A14B4C-B896-4C2C-B4AE-CA00FB1EB43B}"/>
              </a:ext>
            </a:extLst>
          </p:cNvPr>
          <p:cNvSpPr>
            <a:spLocks noGrp="1"/>
          </p:cNvSpPr>
          <p:nvPr/>
        </p:nvSpPr>
        <p:spPr>
          <a:xfrm>
            <a:off x="6334125" y="2238375"/>
            <a:ext cx="4476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000" b="1">
                <a:solidFill>
                  <a:srgbClr val="12355B"/>
                </a:solidFill>
              </a:defRPr>
            </a:pPr>
            <a:r>
              <a:rPr sz="3000" b="1">
                <a:solidFill>
                  <a:srgbClr val="12355B"/>
                </a:solidFill>
              </a:rPr>
              <a:t>Miért marad ott?</a:t>
            </a:r>
          </a:p>
        </p:txBody>
      </p:sp>
      <p:sp>
        <p:nvSpPr>
          <p:cNvPr id="15" name="Téglalap 14">
            <a:extLst>
              <a:ext uri="{FF2B5EF4-FFF2-40B4-BE49-F238E27FC236}">
                <a16:creationId xmlns:a16="http://schemas.microsoft.com/office/drawing/2014/main" id="{B80EBC92-E1DA-4019-B4C5-E339F5408E28}"/>
              </a:ext>
            </a:extLst>
          </p:cNvPr>
          <p:cNvSpPr>
            <a:spLocks noGrp="1"/>
          </p:cNvSpPr>
          <p:nvPr/>
        </p:nvSpPr>
        <p:spPr>
          <a:xfrm>
            <a:off x="6191250" y="3095625"/>
            <a:ext cx="4762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0">
                <a:solidFill>
                  <a:srgbClr val="183247"/>
                </a:solidFill>
              </a:defRPr>
            </a:pPr>
            <a:r>
              <a:rPr sz="1950" b="0">
                <a:solidFill>
                  <a:srgbClr val="183247"/>
                </a:solidFill>
              </a:rPr>
              <a:t>A dörzsölés töltésszétválást hoz létre. A feltöltött lufi elektromos tere a fal töltéseit kissé átrendezi, ezért vonzóerő jelenik meg.</a:t>
            </a:r>
          </a:p>
        </p:txBody>
      </p:sp>
    </p:spTree>
    <p:extLst>
      <p:ext uri="{BB962C8B-B14F-4D97-AF65-F5344CB8AC3E}">
        <p14:creationId xmlns:p14="http://schemas.microsoft.com/office/powerpoint/2010/main" val="1966831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églalap 22">
            <a:extLst>
              <a:ext uri="{FF2B5EF4-FFF2-40B4-BE49-F238E27FC236}">
                <a16:creationId xmlns:a16="http://schemas.microsoft.com/office/drawing/2014/main" id="{D1A34536-9E13-4094-99BA-1D88DDABDA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47650"/>
          </a:xfrm>
          <a:prstGeom prst="rect">
            <a:avLst/>
          </a:prstGeom>
          <a:solidFill>
            <a:srgbClr val="12355B"/>
          </a:solidFill>
          <a:ln w="0">
            <a:solidFill>
              <a:srgbClr val="12355B"/>
            </a:solidFill>
            <a:prstDash val="solid"/>
          </a:ln>
        </p:spPr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F5774E4A-41FD-404B-8F97-C4EBE320F0B7}"/>
              </a:ext>
            </a:extLst>
          </p:cNvPr>
          <p:cNvSpPr>
            <a:spLocks noGrp="1"/>
          </p:cNvSpPr>
          <p:nvPr/>
        </p:nvSpPr>
        <p:spPr>
          <a:xfrm>
            <a:off x="552450" y="28575"/>
            <a:ext cx="619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IAP • 10. ÉVFOLYAM • VILLAMOS ALAPISMERETEK</a:t>
            </a:r>
          </a:p>
        </p:txBody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ADF28982-FABB-41AE-B52F-661B623452CF}"/>
              </a:ext>
            </a:extLst>
          </p:cNvPr>
          <p:cNvSpPr>
            <a:spLocks noGrp="1"/>
          </p:cNvSpPr>
          <p:nvPr/>
        </p:nvSpPr>
        <p:spPr>
          <a:xfrm>
            <a:off x="11125200" y="28575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24F5511A-B63A-4126-A8CD-36868E5DEE0A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087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2355B"/>
                </a:solidFill>
              </a:defRPr>
            </a:pPr>
            <a:r>
              <a:rPr sz="2700" b="1">
                <a:solidFill>
                  <a:srgbClr val="12355B"/>
                </a:solidFill>
              </a:rPr>
              <a:t>Az atom három részecskéje közül az elektron mozdul el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48F445B1-A28D-42D3-9327-11EC87CB7D32}"/>
              </a:ext>
            </a:extLst>
          </p:cNvPr>
          <p:cNvSpPr>
            <a:spLocks noGrp="1"/>
          </p:cNvSpPr>
          <p:nvPr/>
        </p:nvSpPr>
        <p:spPr>
          <a:xfrm>
            <a:off x="552450" y="6419850"/>
            <a:ext cx="11087100" cy="19050"/>
          </a:xfrm>
          <a:prstGeom prst="rect">
            <a:avLst/>
          </a:prstGeom>
          <a:solidFill>
            <a:srgbClr val="1976D2"/>
          </a:solidFill>
          <a:ln w="0">
            <a:solidFill>
              <a:srgbClr val="1976D2"/>
            </a:solidFill>
            <a:prstDash val="solid"/>
          </a:ln>
        </p:spPr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D6902090-A5DF-4DD7-8953-56AAEBD507A9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87086"/>
                </a:solidFill>
              </a:defRPr>
            </a:pPr>
            <a:r>
              <a:rPr sz="900" b="0">
                <a:solidFill>
                  <a:srgbClr val="587086"/>
                </a:solidFill>
              </a:rPr>
              <a:t>2. hét • Villamos töltések</a:t>
            </a:r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5EC75A8E-06A4-416D-832B-C0FF797617D3}"/>
              </a:ext>
            </a:extLst>
          </p:cNvPr>
          <p:cNvSpPr>
            <a:spLocks noGrp="1"/>
          </p:cNvSpPr>
          <p:nvPr/>
        </p:nvSpPr>
        <p:spPr>
          <a:xfrm>
            <a:off x="714375" y="1714500"/>
            <a:ext cx="33337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B9CFE2"/>
            </a:solidFill>
            <a:prstDash val="solid"/>
          </a:ln>
        </p:spPr>
      </p:sp>
      <p:sp>
        <p:nvSpPr>
          <p:cNvPr id="8" name="Ellipszis 7">
            <a:extLst>
              <a:ext uri="{FF2B5EF4-FFF2-40B4-BE49-F238E27FC236}">
                <a16:creationId xmlns:a16="http://schemas.microsoft.com/office/drawing/2014/main" id="{5CA4BC59-65AC-491E-A22A-7BBBAECA522F}"/>
              </a:ext>
            </a:extLst>
          </p:cNvPr>
          <p:cNvSpPr>
            <a:spLocks noGrp="1"/>
          </p:cNvSpPr>
          <p:nvPr/>
        </p:nvSpPr>
        <p:spPr>
          <a:xfrm>
            <a:off x="1762125" y="2047875"/>
            <a:ext cx="1238250" cy="1238250"/>
          </a:xfrm>
          <a:prstGeom prst="ellipse">
            <a:avLst/>
          </a:prstGeom>
          <a:solidFill>
            <a:srgbClr val="B42318"/>
          </a:solidFill>
          <a:ln w="0">
            <a:noFill/>
            <a:prstDash val="solid"/>
          </a:ln>
        </p:spPr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CACC2BF3-D415-4BAD-847E-83947C4841F0}"/>
              </a:ext>
            </a:extLst>
          </p:cNvPr>
          <p:cNvSpPr>
            <a:spLocks noGrp="1"/>
          </p:cNvSpPr>
          <p:nvPr/>
        </p:nvSpPr>
        <p:spPr>
          <a:xfrm>
            <a:off x="1762125" y="2457450"/>
            <a:ext cx="123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pozitív (+)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FD69E912-2EC3-42BD-A329-75B37D28555A}"/>
              </a:ext>
            </a:extLst>
          </p:cNvPr>
          <p:cNvSpPr>
            <a:spLocks noGrp="1"/>
          </p:cNvSpPr>
          <p:nvPr/>
        </p:nvSpPr>
        <p:spPr>
          <a:xfrm>
            <a:off x="1000125" y="3571875"/>
            <a:ext cx="276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12355B"/>
                </a:solidFill>
              </a:defRPr>
            </a:pPr>
            <a:r>
              <a:rPr sz="2250" b="1">
                <a:solidFill>
                  <a:srgbClr val="12355B"/>
                </a:solidFill>
              </a:rPr>
              <a:t>PROTON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89F9AED0-96B5-4971-AFC5-B8614F6D93DD}"/>
              </a:ext>
            </a:extLst>
          </p:cNvPr>
          <p:cNvSpPr>
            <a:spLocks noGrp="1"/>
          </p:cNvSpPr>
          <p:nvPr/>
        </p:nvSpPr>
        <p:spPr>
          <a:xfrm>
            <a:off x="1000125" y="411480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587086"/>
                </a:solidFill>
              </a:defRPr>
            </a:pPr>
            <a:r>
              <a:rPr sz="1650" b="0">
                <a:solidFill>
                  <a:srgbClr val="587086"/>
                </a:solidFill>
              </a:rPr>
              <a:t>atommag</a:t>
            </a:r>
          </a:p>
        </p:txBody>
      </p:sp>
      <p:sp>
        <p:nvSpPr>
          <p:cNvPr id="12" name="Téglalap: lekerekített 11">
            <a:extLst>
              <a:ext uri="{FF2B5EF4-FFF2-40B4-BE49-F238E27FC236}">
                <a16:creationId xmlns:a16="http://schemas.microsoft.com/office/drawing/2014/main" id="{ED1303F0-AA13-430E-92D2-87E9E994E9D1}"/>
              </a:ext>
            </a:extLst>
          </p:cNvPr>
          <p:cNvSpPr>
            <a:spLocks noGrp="1"/>
          </p:cNvSpPr>
          <p:nvPr/>
        </p:nvSpPr>
        <p:spPr>
          <a:xfrm>
            <a:off x="4524375" y="1714500"/>
            <a:ext cx="33337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B9CFE2"/>
            </a:solidFill>
            <a:prstDash val="solid"/>
          </a:ln>
        </p:spPr>
      </p:sp>
      <p:sp>
        <p:nvSpPr>
          <p:cNvPr id="13" name="Ellipszis 12">
            <a:extLst>
              <a:ext uri="{FF2B5EF4-FFF2-40B4-BE49-F238E27FC236}">
                <a16:creationId xmlns:a16="http://schemas.microsoft.com/office/drawing/2014/main" id="{4AC0183F-8764-41A8-BF60-657EBFAC92EE}"/>
              </a:ext>
            </a:extLst>
          </p:cNvPr>
          <p:cNvSpPr>
            <a:spLocks noGrp="1"/>
          </p:cNvSpPr>
          <p:nvPr/>
        </p:nvSpPr>
        <p:spPr>
          <a:xfrm>
            <a:off x="5572125" y="2047875"/>
            <a:ext cx="1238250" cy="1238250"/>
          </a:xfrm>
          <a:prstGeom prst="ellipse">
            <a:avLst/>
          </a:prstGeom>
          <a:solidFill>
            <a:srgbClr val="587086"/>
          </a:solidFill>
          <a:ln w="0">
            <a:noFill/>
            <a:prstDash val="solid"/>
          </a:ln>
        </p:spPr>
      </p:sp>
      <p:sp>
        <p:nvSpPr>
          <p:cNvPr id="14" name="Téglalap 13">
            <a:extLst>
              <a:ext uri="{FF2B5EF4-FFF2-40B4-BE49-F238E27FC236}">
                <a16:creationId xmlns:a16="http://schemas.microsoft.com/office/drawing/2014/main" id="{9AF980C3-DF03-466C-9FD5-C0F55F6E79EA}"/>
              </a:ext>
            </a:extLst>
          </p:cNvPr>
          <p:cNvSpPr>
            <a:spLocks noGrp="1"/>
          </p:cNvSpPr>
          <p:nvPr/>
        </p:nvSpPr>
        <p:spPr>
          <a:xfrm>
            <a:off x="5572125" y="2457450"/>
            <a:ext cx="123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semleges (0)</a:t>
            </a:r>
          </a:p>
        </p:txBody>
      </p:sp>
      <p:sp>
        <p:nvSpPr>
          <p:cNvPr id="15" name="Téglalap 14">
            <a:extLst>
              <a:ext uri="{FF2B5EF4-FFF2-40B4-BE49-F238E27FC236}">
                <a16:creationId xmlns:a16="http://schemas.microsoft.com/office/drawing/2014/main" id="{53E82CA7-1A43-4D04-8298-1488AD351FD0}"/>
              </a:ext>
            </a:extLst>
          </p:cNvPr>
          <p:cNvSpPr>
            <a:spLocks noGrp="1"/>
          </p:cNvSpPr>
          <p:nvPr/>
        </p:nvSpPr>
        <p:spPr>
          <a:xfrm>
            <a:off x="4810125" y="3571875"/>
            <a:ext cx="276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12355B"/>
                </a:solidFill>
              </a:defRPr>
            </a:pPr>
            <a:r>
              <a:rPr sz="2250" b="1">
                <a:solidFill>
                  <a:srgbClr val="12355B"/>
                </a:solidFill>
              </a:rPr>
              <a:t>NEUTRON</a:t>
            </a:r>
          </a:p>
        </p:txBody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4488D18F-70FF-4CAA-8F30-7F2921F06A50}"/>
              </a:ext>
            </a:extLst>
          </p:cNvPr>
          <p:cNvSpPr>
            <a:spLocks noGrp="1"/>
          </p:cNvSpPr>
          <p:nvPr/>
        </p:nvSpPr>
        <p:spPr>
          <a:xfrm>
            <a:off x="4810125" y="411480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587086"/>
                </a:solidFill>
              </a:defRPr>
            </a:pPr>
            <a:r>
              <a:rPr sz="1650" b="0">
                <a:solidFill>
                  <a:srgbClr val="587086"/>
                </a:solidFill>
              </a:rPr>
              <a:t>atommag</a:t>
            </a:r>
          </a:p>
        </p:txBody>
      </p:sp>
      <p:sp>
        <p:nvSpPr>
          <p:cNvPr id="17" name="Téglalap: lekerekített 16">
            <a:extLst>
              <a:ext uri="{FF2B5EF4-FFF2-40B4-BE49-F238E27FC236}">
                <a16:creationId xmlns:a16="http://schemas.microsoft.com/office/drawing/2014/main" id="{652EE5EB-0399-46D2-86DC-6D05A59289D8}"/>
              </a:ext>
            </a:extLst>
          </p:cNvPr>
          <p:cNvSpPr>
            <a:spLocks noGrp="1"/>
          </p:cNvSpPr>
          <p:nvPr/>
        </p:nvSpPr>
        <p:spPr>
          <a:xfrm>
            <a:off x="8334375" y="1714500"/>
            <a:ext cx="3333750" cy="3143250"/>
          </a:xfrm>
          <a:prstGeom prst="roundRect">
            <a:avLst>
              <a:gd name="adj" fmla="val 3636"/>
            </a:avLst>
          </a:prstGeom>
          <a:solidFill>
            <a:srgbClr val="EAF4FF"/>
          </a:solidFill>
          <a:ln w="9525">
            <a:solidFill>
              <a:srgbClr val="B9CFE2"/>
            </a:solidFill>
            <a:prstDash val="solid"/>
          </a:ln>
        </p:spPr>
      </p:sp>
      <p:sp>
        <p:nvSpPr>
          <p:cNvPr id="18" name="Ellipszis 17">
            <a:extLst>
              <a:ext uri="{FF2B5EF4-FFF2-40B4-BE49-F238E27FC236}">
                <a16:creationId xmlns:a16="http://schemas.microsoft.com/office/drawing/2014/main" id="{80D67239-4F15-472A-A1FE-0EED8F6163A4}"/>
              </a:ext>
            </a:extLst>
          </p:cNvPr>
          <p:cNvSpPr>
            <a:spLocks noGrp="1"/>
          </p:cNvSpPr>
          <p:nvPr/>
        </p:nvSpPr>
        <p:spPr>
          <a:xfrm>
            <a:off x="9382125" y="2047875"/>
            <a:ext cx="1238250" cy="1238250"/>
          </a:xfrm>
          <a:prstGeom prst="ellipse">
            <a:avLst/>
          </a:prstGeom>
          <a:solidFill>
            <a:srgbClr val="1976D2"/>
          </a:solidFill>
          <a:ln w="0">
            <a:noFill/>
            <a:prstDash val="solid"/>
          </a:ln>
        </p:spPr>
      </p:sp>
      <p:sp>
        <p:nvSpPr>
          <p:cNvPr id="19" name="Téglalap 18">
            <a:extLst>
              <a:ext uri="{FF2B5EF4-FFF2-40B4-BE49-F238E27FC236}">
                <a16:creationId xmlns:a16="http://schemas.microsoft.com/office/drawing/2014/main" id="{E58D0D70-6A4D-49CD-BBA5-B5478395CB6F}"/>
              </a:ext>
            </a:extLst>
          </p:cNvPr>
          <p:cNvSpPr>
            <a:spLocks noGrp="1"/>
          </p:cNvSpPr>
          <p:nvPr/>
        </p:nvSpPr>
        <p:spPr>
          <a:xfrm>
            <a:off x="9382125" y="2457450"/>
            <a:ext cx="123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negatív (−)</a:t>
            </a:r>
          </a:p>
        </p:txBody>
      </p:sp>
      <p:sp>
        <p:nvSpPr>
          <p:cNvPr id="20" name="Téglalap 19">
            <a:extLst>
              <a:ext uri="{FF2B5EF4-FFF2-40B4-BE49-F238E27FC236}">
                <a16:creationId xmlns:a16="http://schemas.microsoft.com/office/drawing/2014/main" id="{7EAA4716-1DA0-490B-8E32-60665DA9DE3E}"/>
              </a:ext>
            </a:extLst>
          </p:cNvPr>
          <p:cNvSpPr>
            <a:spLocks noGrp="1"/>
          </p:cNvSpPr>
          <p:nvPr/>
        </p:nvSpPr>
        <p:spPr>
          <a:xfrm>
            <a:off x="8620125" y="3571875"/>
            <a:ext cx="276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12355B"/>
                </a:solidFill>
              </a:defRPr>
            </a:pPr>
            <a:r>
              <a:rPr sz="2250" b="1">
                <a:solidFill>
                  <a:srgbClr val="12355B"/>
                </a:solidFill>
              </a:rPr>
              <a:t>ELEKTRON</a:t>
            </a:r>
          </a:p>
        </p:txBody>
      </p:sp>
      <p:sp>
        <p:nvSpPr>
          <p:cNvPr id="21" name="Téglalap 20">
            <a:extLst>
              <a:ext uri="{FF2B5EF4-FFF2-40B4-BE49-F238E27FC236}">
                <a16:creationId xmlns:a16="http://schemas.microsoft.com/office/drawing/2014/main" id="{662CDD5D-222D-4642-9973-130926D4B1AC}"/>
              </a:ext>
            </a:extLst>
          </p:cNvPr>
          <p:cNvSpPr>
            <a:spLocks noGrp="1"/>
          </p:cNvSpPr>
          <p:nvPr/>
        </p:nvSpPr>
        <p:spPr>
          <a:xfrm>
            <a:off x="8620125" y="411480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587086"/>
                </a:solidFill>
              </a:defRPr>
            </a:pPr>
            <a:r>
              <a:rPr sz="1650" b="0">
                <a:solidFill>
                  <a:srgbClr val="587086"/>
                </a:solidFill>
              </a:rPr>
              <a:t>elektronfelhő</a:t>
            </a:r>
          </a:p>
        </p:txBody>
      </p:sp>
      <p:sp>
        <p:nvSpPr>
          <p:cNvPr id="22" name="Téglalap 21">
            <a:extLst>
              <a:ext uri="{FF2B5EF4-FFF2-40B4-BE49-F238E27FC236}">
                <a16:creationId xmlns:a16="http://schemas.microsoft.com/office/drawing/2014/main" id="{41303384-3C99-4789-A961-6B6E2F78C5A1}"/>
              </a:ext>
            </a:extLst>
          </p:cNvPr>
          <p:cNvSpPr>
            <a:spLocks noGrp="1"/>
          </p:cNvSpPr>
          <p:nvPr/>
        </p:nvSpPr>
        <p:spPr>
          <a:xfrm>
            <a:off x="1666875" y="5381625"/>
            <a:ext cx="8858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12355B"/>
                </a:solidFill>
              </a:defRPr>
            </a:pPr>
            <a:r>
              <a:rPr sz="2025" b="1">
                <a:solidFill>
                  <a:srgbClr val="12355B"/>
                </a:solidFill>
              </a:rPr>
              <a:t>Semleges atomban a protonok és elektronok száma megegyezik.</a:t>
            </a:r>
          </a:p>
        </p:txBody>
      </p:sp>
    </p:spTree>
    <p:extLst>
      <p:ext uri="{BB962C8B-B14F-4D97-AF65-F5344CB8AC3E}">
        <p14:creationId xmlns:p14="http://schemas.microsoft.com/office/powerpoint/2010/main" val="2051547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églalap 14">
            <a:extLst>
              <a:ext uri="{FF2B5EF4-FFF2-40B4-BE49-F238E27FC236}">
                <a16:creationId xmlns:a16="http://schemas.microsoft.com/office/drawing/2014/main" id="{04E4E69B-926C-4947-A515-8E7CC01BB9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47650"/>
          </a:xfrm>
          <a:prstGeom prst="rect">
            <a:avLst/>
          </a:prstGeom>
          <a:solidFill>
            <a:srgbClr val="12355B"/>
          </a:solidFill>
          <a:ln w="0">
            <a:solidFill>
              <a:srgbClr val="12355B"/>
            </a:solidFill>
            <a:prstDash val="solid"/>
          </a:ln>
        </p:spPr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0D93B3D7-EBF5-4788-B2C8-EBA1830D0DD8}"/>
              </a:ext>
            </a:extLst>
          </p:cNvPr>
          <p:cNvSpPr>
            <a:spLocks noGrp="1"/>
          </p:cNvSpPr>
          <p:nvPr/>
        </p:nvSpPr>
        <p:spPr>
          <a:xfrm>
            <a:off x="552450" y="28575"/>
            <a:ext cx="619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IAP • 10. ÉVFOLYAM • VILLAMOS ALAPISMERETEK</a:t>
            </a:r>
          </a:p>
        </p:txBody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5B4E2E25-6D1D-43C8-884A-9F25313A9E70}"/>
              </a:ext>
            </a:extLst>
          </p:cNvPr>
          <p:cNvSpPr>
            <a:spLocks noGrp="1"/>
          </p:cNvSpPr>
          <p:nvPr/>
        </p:nvSpPr>
        <p:spPr>
          <a:xfrm>
            <a:off x="11125200" y="28575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75BA4D0E-48A3-408F-9F5D-72AD9FA91567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087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2355B"/>
                </a:solidFill>
              </a:defRPr>
            </a:pPr>
            <a:r>
              <a:rPr sz="2700" b="1">
                <a:solidFill>
                  <a:srgbClr val="12355B"/>
                </a:solidFill>
              </a:rPr>
              <a:t>A töltés jele Q, mértékegysége a coulomb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207BB2CD-1519-4595-85CA-81F26A00AE78}"/>
              </a:ext>
            </a:extLst>
          </p:cNvPr>
          <p:cNvSpPr>
            <a:spLocks noGrp="1"/>
          </p:cNvSpPr>
          <p:nvPr/>
        </p:nvSpPr>
        <p:spPr>
          <a:xfrm>
            <a:off x="552450" y="6419850"/>
            <a:ext cx="11087100" cy="19050"/>
          </a:xfrm>
          <a:prstGeom prst="rect">
            <a:avLst/>
          </a:prstGeom>
          <a:solidFill>
            <a:srgbClr val="1976D2"/>
          </a:solidFill>
          <a:ln w="0">
            <a:solidFill>
              <a:srgbClr val="1976D2"/>
            </a:solidFill>
            <a:prstDash val="solid"/>
          </a:ln>
        </p:spPr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A8EC3F7D-9F9B-4035-ABB2-562917775953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87086"/>
                </a:solidFill>
              </a:defRPr>
            </a:pPr>
            <a:r>
              <a:rPr sz="900" b="0">
                <a:solidFill>
                  <a:srgbClr val="587086"/>
                </a:solidFill>
              </a:rPr>
              <a:t>2. hét • Villamos töltések</a:t>
            </a:r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A5CB4A8E-15F3-4933-B5EA-D376218C55AB}"/>
              </a:ext>
            </a:extLst>
          </p:cNvPr>
          <p:cNvSpPr>
            <a:spLocks noGrp="1"/>
          </p:cNvSpPr>
          <p:nvPr/>
        </p:nvSpPr>
        <p:spPr>
          <a:xfrm>
            <a:off x="762000" y="1571625"/>
            <a:ext cx="476250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B9CFE2"/>
            </a:solidFill>
            <a:prstDash val="solid"/>
          </a:ln>
        </p:spPr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302E382F-2536-4868-BF1A-09614BE33CC0}"/>
              </a:ext>
            </a:extLst>
          </p:cNvPr>
          <p:cNvSpPr>
            <a:spLocks noGrp="1"/>
          </p:cNvSpPr>
          <p:nvPr/>
        </p:nvSpPr>
        <p:spPr>
          <a:xfrm>
            <a:off x="1762125" y="2143125"/>
            <a:ext cx="2762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550" b="1">
                <a:solidFill>
                  <a:srgbClr val="1976D2"/>
                </a:solidFill>
              </a:defRPr>
            </a:pPr>
            <a:r>
              <a:rPr sz="5550" b="1">
                <a:solidFill>
                  <a:srgbClr val="1976D2"/>
                </a:solidFill>
              </a:rPr>
              <a:t>Q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F5678FD2-070B-41DE-BB07-981B34AAA923}"/>
              </a:ext>
            </a:extLst>
          </p:cNvPr>
          <p:cNvSpPr>
            <a:spLocks noGrp="1"/>
          </p:cNvSpPr>
          <p:nvPr/>
        </p:nvSpPr>
        <p:spPr>
          <a:xfrm>
            <a:off x="1285875" y="3429000"/>
            <a:ext cx="3714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12355B"/>
                </a:solidFill>
              </a:defRPr>
            </a:pPr>
            <a:r>
              <a:rPr sz="2250" b="1">
                <a:solidFill>
                  <a:srgbClr val="12355B"/>
                </a:solidFill>
              </a:rPr>
              <a:t>elektromos töltés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AEF4AA21-27A9-49E3-B178-343DCDDEB9B8}"/>
              </a:ext>
            </a:extLst>
          </p:cNvPr>
          <p:cNvSpPr>
            <a:spLocks noGrp="1"/>
          </p:cNvSpPr>
          <p:nvPr/>
        </p:nvSpPr>
        <p:spPr>
          <a:xfrm>
            <a:off x="1285875" y="4095750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0">
                <a:solidFill>
                  <a:srgbClr val="587086"/>
                </a:solidFill>
              </a:defRPr>
            </a:pPr>
            <a:r>
              <a:rPr sz="1800" b="0">
                <a:solidFill>
                  <a:srgbClr val="587086"/>
                </a:solidFill>
              </a:rPr>
              <a:t>mértékegység: C</a:t>
            </a:r>
          </a:p>
        </p:txBody>
      </p:sp>
      <p:sp>
        <p:nvSpPr>
          <p:cNvPr id="11" name="Téglalap: lekerekített 10">
            <a:extLst>
              <a:ext uri="{FF2B5EF4-FFF2-40B4-BE49-F238E27FC236}">
                <a16:creationId xmlns:a16="http://schemas.microsoft.com/office/drawing/2014/main" id="{3A76D4C6-1545-48F9-897E-D43C22C1B45D}"/>
              </a:ext>
            </a:extLst>
          </p:cNvPr>
          <p:cNvSpPr>
            <a:spLocks noGrp="1"/>
          </p:cNvSpPr>
          <p:nvPr/>
        </p:nvSpPr>
        <p:spPr>
          <a:xfrm>
            <a:off x="6667500" y="1571625"/>
            <a:ext cx="4762500" cy="3429000"/>
          </a:xfrm>
          <a:prstGeom prst="roundRect">
            <a:avLst>
              <a:gd name="adj" fmla="val 3333"/>
            </a:avLst>
          </a:prstGeom>
          <a:solidFill>
            <a:srgbClr val="EAF4FF"/>
          </a:solidFill>
          <a:ln w="9525">
            <a:solidFill>
              <a:srgbClr val="9BC4E7"/>
            </a:solidFill>
            <a:prstDash val="solid"/>
          </a:ln>
        </p:spPr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6D0CE39F-2FB6-4E30-9964-15A2124E9801}"/>
              </a:ext>
            </a:extLst>
          </p:cNvPr>
          <p:cNvSpPr>
            <a:spLocks noGrp="1"/>
          </p:cNvSpPr>
          <p:nvPr/>
        </p:nvSpPr>
        <p:spPr>
          <a:xfrm>
            <a:off x="7000875" y="2333625"/>
            <a:ext cx="4095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000" b="1">
                <a:solidFill>
                  <a:srgbClr val="12355B"/>
                </a:solidFill>
              </a:defRPr>
            </a:pPr>
            <a:r>
              <a:rPr sz="3000" b="1">
                <a:solidFill>
                  <a:srgbClr val="12355B"/>
                </a:solidFill>
              </a:rPr>
              <a:t>e = 1,602 × 10⁻¹⁹ C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5182490D-43B5-49CE-851D-DB2898B68257}"/>
              </a:ext>
            </a:extLst>
          </p:cNvPr>
          <p:cNvSpPr>
            <a:spLocks noGrp="1"/>
          </p:cNvSpPr>
          <p:nvPr/>
        </p:nvSpPr>
        <p:spPr>
          <a:xfrm>
            <a:off x="7239000" y="3476625"/>
            <a:ext cx="3619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976D2"/>
                </a:solidFill>
              </a:defRPr>
            </a:pPr>
            <a:r>
              <a:rPr sz="2100" b="1">
                <a:solidFill>
                  <a:srgbClr val="1976D2"/>
                </a:solidFill>
              </a:rPr>
              <a:t>az elemi töltés nagysága</a:t>
            </a:r>
          </a:p>
        </p:txBody>
      </p:sp>
      <p:sp>
        <p:nvSpPr>
          <p:cNvPr id="14" name="Téglalap 13">
            <a:extLst>
              <a:ext uri="{FF2B5EF4-FFF2-40B4-BE49-F238E27FC236}">
                <a16:creationId xmlns:a16="http://schemas.microsoft.com/office/drawing/2014/main" id="{7CF05C06-BD8C-43B5-8077-0EFFD3ED85A5}"/>
              </a:ext>
            </a:extLst>
          </p:cNvPr>
          <p:cNvSpPr>
            <a:spLocks noGrp="1"/>
          </p:cNvSpPr>
          <p:nvPr/>
        </p:nvSpPr>
        <p:spPr>
          <a:xfrm>
            <a:off x="1666875" y="5476875"/>
            <a:ext cx="8858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2355B"/>
                </a:solidFill>
              </a:defRPr>
            </a:pPr>
            <a:r>
              <a:rPr sz="1875" b="1">
                <a:solidFill>
                  <a:srgbClr val="12355B"/>
                </a:solidFill>
              </a:rPr>
              <a:t>Egy test akkor töltött, ha a protonok és elektronok száma nem egyenlő.</a:t>
            </a:r>
          </a:p>
        </p:txBody>
      </p:sp>
    </p:spTree>
    <p:extLst>
      <p:ext uri="{BB962C8B-B14F-4D97-AF65-F5344CB8AC3E}">
        <p14:creationId xmlns:p14="http://schemas.microsoft.com/office/powerpoint/2010/main" val="871599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églalap 13">
            <a:extLst>
              <a:ext uri="{FF2B5EF4-FFF2-40B4-BE49-F238E27FC236}">
                <a16:creationId xmlns:a16="http://schemas.microsoft.com/office/drawing/2014/main" id="{F8B80371-43A9-432D-978A-C7801B6B57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47650"/>
          </a:xfrm>
          <a:prstGeom prst="rect">
            <a:avLst/>
          </a:prstGeom>
          <a:solidFill>
            <a:srgbClr val="12355B"/>
          </a:solidFill>
          <a:ln w="0">
            <a:solidFill>
              <a:srgbClr val="12355B"/>
            </a:solidFill>
            <a:prstDash val="solid"/>
          </a:ln>
        </p:spPr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C09EA307-A15C-456F-82D1-AAAC22904CE0}"/>
              </a:ext>
            </a:extLst>
          </p:cNvPr>
          <p:cNvSpPr>
            <a:spLocks noGrp="1"/>
          </p:cNvSpPr>
          <p:nvPr/>
        </p:nvSpPr>
        <p:spPr>
          <a:xfrm>
            <a:off x="552450" y="28575"/>
            <a:ext cx="619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IAP • 10. ÉVFOLYAM • VILLAMOS ALAPISMERETEK</a:t>
            </a:r>
          </a:p>
        </p:txBody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B569329F-62C7-45DE-BB5D-57B2E7DCCFE5}"/>
              </a:ext>
            </a:extLst>
          </p:cNvPr>
          <p:cNvSpPr>
            <a:spLocks noGrp="1"/>
          </p:cNvSpPr>
          <p:nvPr/>
        </p:nvSpPr>
        <p:spPr>
          <a:xfrm>
            <a:off x="11125200" y="28575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CC39EA37-6336-4280-8173-C189641BC173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087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2355B"/>
                </a:solidFill>
              </a:defRPr>
            </a:pPr>
            <a:r>
              <a:rPr sz="2700" b="1">
                <a:solidFill>
                  <a:srgbClr val="12355B"/>
                </a:solidFill>
              </a:rPr>
              <a:t>Azonos töltések taszítják, az ellentétesek vonzzák egymást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A5E921EC-6398-4C1F-BAAE-CB451C3A3E8E}"/>
              </a:ext>
            </a:extLst>
          </p:cNvPr>
          <p:cNvSpPr>
            <a:spLocks noGrp="1"/>
          </p:cNvSpPr>
          <p:nvPr/>
        </p:nvSpPr>
        <p:spPr>
          <a:xfrm>
            <a:off x="552450" y="6419850"/>
            <a:ext cx="11087100" cy="19050"/>
          </a:xfrm>
          <a:prstGeom prst="rect">
            <a:avLst/>
          </a:prstGeom>
          <a:solidFill>
            <a:srgbClr val="1976D2"/>
          </a:solidFill>
          <a:ln w="0">
            <a:solidFill>
              <a:srgbClr val="1976D2"/>
            </a:solidFill>
            <a:prstDash val="solid"/>
          </a:ln>
        </p:spPr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AC308928-526B-4240-A2F6-29A35B0369A6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87086"/>
                </a:solidFill>
              </a:defRPr>
            </a:pPr>
            <a:r>
              <a:rPr sz="900" b="0">
                <a:solidFill>
                  <a:srgbClr val="587086"/>
                </a:solidFill>
              </a:rPr>
              <a:t>2. hét • Villamos töltések</a:t>
            </a:r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85110424-9BC2-4C70-97E0-34E2F8D8CAAB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495300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B9CFE2"/>
            </a:solidFill>
            <a:prstDash val="solid"/>
          </a:ln>
        </p:spPr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ABC03AE0-EDC8-45E5-A044-1D12E3CE254F}"/>
              </a:ext>
            </a:extLst>
          </p:cNvPr>
          <p:cNvSpPr>
            <a:spLocks noGrp="1"/>
          </p:cNvSpPr>
          <p:nvPr/>
        </p:nvSpPr>
        <p:spPr>
          <a:xfrm>
            <a:off x="1190625" y="2524125"/>
            <a:ext cx="3905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050" b="1">
                <a:solidFill>
                  <a:srgbClr val="B42318"/>
                </a:solidFill>
              </a:defRPr>
            </a:pPr>
            <a:r>
              <a:rPr sz="4050" b="1">
                <a:solidFill>
                  <a:srgbClr val="B42318"/>
                </a:solidFill>
              </a:rPr>
              <a:t>+     ↔     +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57699BE8-89B0-49AD-A9BB-3243B641E08D}"/>
              </a:ext>
            </a:extLst>
          </p:cNvPr>
          <p:cNvSpPr>
            <a:spLocks noGrp="1"/>
          </p:cNvSpPr>
          <p:nvPr/>
        </p:nvSpPr>
        <p:spPr>
          <a:xfrm>
            <a:off x="1190625" y="3476625"/>
            <a:ext cx="3905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050" b="1">
                <a:solidFill>
                  <a:srgbClr val="1976D2"/>
                </a:solidFill>
              </a:defRPr>
            </a:pPr>
            <a:r>
              <a:rPr sz="4050" b="1">
                <a:solidFill>
                  <a:srgbClr val="1976D2"/>
                </a:solidFill>
              </a:rPr>
              <a:t>−     ↔     −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B817CA51-D01A-494D-BCD2-9FD7E4BA690B}"/>
              </a:ext>
            </a:extLst>
          </p:cNvPr>
          <p:cNvSpPr>
            <a:spLocks noGrp="1"/>
          </p:cNvSpPr>
          <p:nvPr/>
        </p:nvSpPr>
        <p:spPr>
          <a:xfrm>
            <a:off x="1666875" y="4429125"/>
            <a:ext cx="295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2355B"/>
                </a:solidFill>
              </a:defRPr>
            </a:pPr>
            <a:r>
              <a:rPr sz="2100" b="1">
                <a:solidFill>
                  <a:srgbClr val="12355B"/>
                </a:solidFill>
              </a:rPr>
              <a:t>TASZÍTÁS</a:t>
            </a:r>
          </a:p>
        </p:txBody>
      </p:sp>
      <p:sp>
        <p:nvSpPr>
          <p:cNvPr id="11" name="Téglalap: lekerekített 10">
            <a:extLst>
              <a:ext uri="{FF2B5EF4-FFF2-40B4-BE49-F238E27FC236}">
                <a16:creationId xmlns:a16="http://schemas.microsoft.com/office/drawing/2014/main" id="{DFB5DE90-2722-42EC-8745-CAFA2063B633}"/>
              </a:ext>
            </a:extLst>
          </p:cNvPr>
          <p:cNvSpPr>
            <a:spLocks noGrp="1"/>
          </p:cNvSpPr>
          <p:nvPr/>
        </p:nvSpPr>
        <p:spPr>
          <a:xfrm>
            <a:off x="6572250" y="1762125"/>
            <a:ext cx="4953000" cy="3143250"/>
          </a:xfrm>
          <a:prstGeom prst="roundRect">
            <a:avLst>
              <a:gd name="adj" fmla="val 3636"/>
            </a:avLst>
          </a:prstGeom>
          <a:solidFill>
            <a:srgbClr val="EAF4FF"/>
          </a:solidFill>
          <a:ln w="9525">
            <a:solidFill>
              <a:srgbClr val="9BC4E7"/>
            </a:solidFill>
            <a:prstDash val="solid"/>
          </a:ln>
        </p:spPr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40E1CE86-6CAC-4867-BBDE-5CFD94D11305}"/>
              </a:ext>
            </a:extLst>
          </p:cNvPr>
          <p:cNvSpPr>
            <a:spLocks noGrp="1"/>
          </p:cNvSpPr>
          <p:nvPr/>
        </p:nvSpPr>
        <p:spPr>
          <a:xfrm>
            <a:off x="7096125" y="2952750"/>
            <a:ext cx="3905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050" b="1">
                <a:solidFill>
                  <a:srgbClr val="239B73"/>
                </a:solidFill>
              </a:defRPr>
            </a:pPr>
            <a:r>
              <a:rPr sz="4050" b="1">
                <a:solidFill>
                  <a:srgbClr val="239B73"/>
                </a:solidFill>
              </a:rPr>
              <a:t>+     →←     −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C6F942F7-2545-43A1-BC25-72FAC3927581}"/>
              </a:ext>
            </a:extLst>
          </p:cNvPr>
          <p:cNvSpPr>
            <a:spLocks noGrp="1"/>
          </p:cNvSpPr>
          <p:nvPr/>
        </p:nvSpPr>
        <p:spPr>
          <a:xfrm>
            <a:off x="7572375" y="4429125"/>
            <a:ext cx="295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2355B"/>
                </a:solidFill>
              </a:defRPr>
            </a:pPr>
            <a:r>
              <a:rPr sz="2100" b="1">
                <a:solidFill>
                  <a:srgbClr val="12355B"/>
                </a:solidFill>
              </a:rPr>
              <a:t>VONZÁS</a:t>
            </a:r>
          </a:p>
        </p:txBody>
      </p:sp>
    </p:spTree>
    <p:extLst>
      <p:ext uri="{BB962C8B-B14F-4D97-AF65-F5344CB8AC3E}">
        <p14:creationId xmlns:p14="http://schemas.microsoft.com/office/powerpoint/2010/main" val="1152808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églalap 18">
            <a:extLst>
              <a:ext uri="{FF2B5EF4-FFF2-40B4-BE49-F238E27FC236}">
                <a16:creationId xmlns:a16="http://schemas.microsoft.com/office/drawing/2014/main" id="{8031F653-FC4D-49DA-B742-56BF8B7318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47650"/>
          </a:xfrm>
          <a:prstGeom prst="rect">
            <a:avLst/>
          </a:prstGeom>
          <a:solidFill>
            <a:srgbClr val="12355B"/>
          </a:solidFill>
          <a:ln w="0">
            <a:solidFill>
              <a:srgbClr val="12355B"/>
            </a:solidFill>
            <a:prstDash val="solid"/>
          </a:ln>
        </p:spPr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BBCBEF43-FFE4-4098-8E5F-EBCF4AAD3FD0}"/>
              </a:ext>
            </a:extLst>
          </p:cNvPr>
          <p:cNvSpPr>
            <a:spLocks noGrp="1"/>
          </p:cNvSpPr>
          <p:nvPr/>
        </p:nvSpPr>
        <p:spPr>
          <a:xfrm>
            <a:off x="552450" y="28575"/>
            <a:ext cx="619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IAP • 10. ÉVFOLYAM • VILLAMOS ALAPISMERETEK</a:t>
            </a:r>
          </a:p>
        </p:txBody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4B0BAD43-1ACD-4BB3-8576-FC69CB2D6405}"/>
              </a:ext>
            </a:extLst>
          </p:cNvPr>
          <p:cNvSpPr>
            <a:spLocks noGrp="1"/>
          </p:cNvSpPr>
          <p:nvPr/>
        </p:nvSpPr>
        <p:spPr>
          <a:xfrm>
            <a:off x="11125200" y="28575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218C1447-CCC1-4BE1-86A5-79646BC3E521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087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2355B"/>
                </a:solidFill>
              </a:defRPr>
            </a:pPr>
            <a:r>
              <a:rPr sz="2700" b="1">
                <a:solidFill>
                  <a:srgbClr val="12355B"/>
                </a:solidFill>
              </a:rPr>
              <a:t>A töltés elektromos teret hoz létre maga körül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8673629C-4A12-486A-B09C-51FA3F62747B}"/>
              </a:ext>
            </a:extLst>
          </p:cNvPr>
          <p:cNvSpPr>
            <a:spLocks noGrp="1"/>
          </p:cNvSpPr>
          <p:nvPr/>
        </p:nvSpPr>
        <p:spPr>
          <a:xfrm>
            <a:off x="552450" y="6419850"/>
            <a:ext cx="11087100" cy="19050"/>
          </a:xfrm>
          <a:prstGeom prst="rect">
            <a:avLst/>
          </a:prstGeom>
          <a:solidFill>
            <a:srgbClr val="1976D2"/>
          </a:solidFill>
          <a:ln w="0">
            <a:solidFill>
              <a:srgbClr val="1976D2"/>
            </a:solidFill>
            <a:prstDash val="solid"/>
          </a:ln>
        </p:spPr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83DC45B0-390B-4EC8-A9E1-8D9F39CDE9F5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87086"/>
                </a:solidFill>
              </a:defRPr>
            </a:pPr>
            <a:r>
              <a:rPr sz="900" b="0">
                <a:solidFill>
                  <a:srgbClr val="587086"/>
                </a:solidFill>
              </a:rPr>
              <a:t>2. hét • Villamos töltések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A06C835A-DF03-4D0B-947F-2C7365862A4B}"/>
              </a:ext>
            </a:extLst>
          </p:cNvPr>
          <p:cNvSpPr>
            <a:spLocks noGrp="1"/>
          </p:cNvSpPr>
          <p:nvPr/>
        </p:nvSpPr>
        <p:spPr>
          <a:xfrm>
            <a:off x="1285875" y="2714625"/>
            <a:ext cx="1238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250" b="1">
                <a:solidFill>
                  <a:srgbClr val="FFFFFF"/>
                </a:solidFill>
              </a:defRPr>
            </a:pPr>
            <a:r>
              <a:rPr sz="5250" b="1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8" name="Ellipszis 7">
            <a:extLst>
              <a:ext uri="{FF2B5EF4-FFF2-40B4-BE49-F238E27FC236}">
                <a16:creationId xmlns:a16="http://schemas.microsoft.com/office/drawing/2014/main" id="{6B694410-3562-4D6B-80A8-634308D1748A}"/>
              </a:ext>
            </a:extLst>
          </p:cNvPr>
          <p:cNvSpPr>
            <a:spLocks noGrp="1"/>
          </p:cNvSpPr>
          <p:nvPr/>
        </p:nvSpPr>
        <p:spPr>
          <a:xfrm>
            <a:off x="1190625" y="2524125"/>
            <a:ext cx="1428750" cy="1428750"/>
          </a:xfrm>
          <a:prstGeom prst="ellipse">
            <a:avLst/>
          </a:prstGeom>
          <a:solidFill>
            <a:srgbClr val="B42318"/>
          </a:solidFill>
          <a:ln w="0">
            <a:noFill/>
            <a:prstDash val="solid"/>
          </a:ln>
        </p:spPr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0401C6E2-D49D-4518-B7AC-5C59C5D1434A}"/>
              </a:ext>
            </a:extLst>
          </p:cNvPr>
          <p:cNvSpPr>
            <a:spLocks noGrp="1"/>
          </p:cNvSpPr>
          <p:nvPr/>
        </p:nvSpPr>
        <p:spPr>
          <a:xfrm>
            <a:off x="1190625" y="2905125"/>
            <a:ext cx="1428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AA9B8ABD-13BF-41EA-A753-DC992A5AD063}"/>
              </a:ext>
            </a:extLst>
          </p:cNvPr>
          <p:cNvSpPr>
            <a:spLocks noGrp="1"/>
          </p:cNvSpPr>
          <p:nvPr/>
        </p:nvSpPr>
        <p:spPr>
          <a:xfrm>
            <a:off x="3048000" y="2952750"/>
            <a:ext cx="66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000" b="1">
                <a:solidFill>
                  <a:srgbClr val="1976D2"/>
                </a:solidFill>
              </a:defRPr>
            </a:pPr>
            <a:r>
              <a:rPr sz="300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4F46C180-CDCE-4BFB-A24E-C2566DC40230}"/>
              </a:ext>
            </a:extLst>
          </p:cNvPr>
          <p:cNvSpPr>
            <a:spLocks noGrp="1"/>
          </p:cNvSpPr>
          <p:nvPr/>
        </p:nvSpPr>
        <p:spPr>
          <a:xfrm>
            <a:off x="4429125" y="2952750"/>
            <a:ext cx="66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000" b="1">
                <a:solidFill>
                  <a:srgbClr val="1976D2"/>
                </a:solidFill>
              </a:defRPr>
            </a:pPr>
            <a:r>
              <a:rPr sz="300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79D0769E-78F1-4CC7-914A-20071EF4EFB6}"/>
              </a:ext>
            </a:extLst>
          </p:cNvPr>
          <p:cNvSpPr>
            <a:spLocks noGrp="1"/>
          </p:cNvSpPr>
          <p:nvPr/>
        </p:nvSpPr>
        <p:spPr>
          <a:xfrm>
            <a:off x="5810250" y="2952750"/>
            <a:ext cx="66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000" b="1">
                <a:solidFill>
                  <a:srgbClr val="1976D2"/>
                </a:solidFill>
              </a:defRPr>
            </a:pPr>
            <a:r>
              <a:rPr sz="300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7BEA448-5E71-4EFD-9CD4-AE46B1C11772}"/>
              </a:ext>
            </a:extLst>
          </p:cNvPr>
          <p:cNvSpPr>
            <a:spLocks noGrp="1"/>
          </p:cNvSpPr>
          <p:nvPr/>
        </p:nvSpPr>
        <p:spPr>
          <a:xfrm>
            <a:off x="7191375" y="2952750"/>
            <a:ext cx="66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000" b="1">
                <a:solidFill>
                  <a:srgbClr val="1976D2"/>
                </a:solidFill>
              </a:defRPr>
            </a:pPr>
            <a:r>
              <a:rPr sz="300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4" name="Téglalap 13">
            <a:extLst>
              <a:ext uri="{FF2B5EF4-FFF2-40B4-BE49-F238E27FC236}">
                <a16:creationId xmlns:a16="http://schemas.microsoft.com/office/drawing/2014/main" id="{AAC07A31-0E59-4971-AA8F-005BDBA15ED4}"/>
              </a:ext>
            </a:extLst>
          </p:cNvPr>
          <p:cNvSpPr>
            <a:spLocks noGrp="1"/>
          </p:cNvSpPr>
          <p:nvPr/>
        </p:nvSpPr>
        <p:spPr>
          <a:xfrm>
            <a:off x="8572500" y="2952750"/>
            <a:ext cx="66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000" b="1">
                <a:solidFill>
                  <a:srgbClr val="1976D2"/>
                </a:solidFill>
              </a:defRPr>
            </a:pPr>
            <a:r>
              <a:rPr sz="300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5" name="Ellipszis 14">
            <a:extLst>
              <a:ext uri="{FF2B5EF4-FFF2-40B4-BE49-F238E27FC236}">
                <a16:creationId xmlns:a16="http://schemas.microsoft.com/office/drawing/2014/main" id="{71D30248-6EF5-4D3F-BCBC-24A39830AB1F}"/>
              </a:ext>
            </a:extLst>
          </p:cNvPr>
          <p:cNvSpPr>
            <a:spLocks noGrp="1"/>
          </p:cNvSpPr>
          <p:nvPr/>
        </p:nvSpPr>
        <p:spPr>
          <a:xfrm>
            <a:off x="10287000" y="2524125"/>
            <a:ext cx="1428750" cy="1428750"/>
          </a:xfrm>
          <a:prstGeom prst="ellipse">
            <a:avLst/>
          </a:prstGeom>
          <a:solidFill>
            <a:srgbClr val="1976D2"/>
          </a:solidFill>
          <a:ln w="0">
            <a:noFill/>
            <a:prstDash val="solid"/>
          </a:ln>
        </p:spPr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941825AC-62B3-48D4-81CA-CDB0FDCCBDBA}"/>
              </a:ext>
            </a:extLst>
          </p:cNvPr>
          <p:cNvSpPr>
            <a:spLocks noGrp="1"/>
          </p:cNvSpPr>
          <p:nvPr/>
        </p:nvSpPr>
        <p:spPr>
          <a:xfrm>
            <a:off x="10287000" y="2905125"/>
            <a:ext cx="1428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−</a:t>
            </a:r>
          </a:p>
        </p:txBody>
      </p:sp>
      <p:sp>
        <p:nvSpPr>
          <p:cNvPr id="17" name="Téglalap 16">
            <a:extLst>
              <a:ext uri="{FF2B5EF4-FFF2-40B4-BE49-F238E27FC236}">
                <a16:creationId xmlns:a16="http://schemas.microsoft.com/office/drawing/2014/main" id="{83F23992-133E-45F3-89AD-03DF06465EE2}"/>
              </a:ext>
            </a:extLst>
          </p:cNvPr>
          <p:cNvSpPr>
            <a:spLocks noGrp="1"/>
          </p:cNvSpPr>
          <p:nvPr/>
        </p:nvSpPr>
        <p:spPr>
          <a:xfrm>
            <a:off x="1666875" y="4762500"/>
            <a:ext cx="8858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2355B"/>
                </a:solidFill>
              </a:defRPr>
            </a:pPr>
            <a:r>
              <a:rPr sz="2100" b="1">
                <a:solidFill>
                  <a:srgbClr val="12355B"/>
                </a:solidFill>
              </a:rPr>
              <a:t>Az erővonalak iránya a pozitív töltéstől a negatív töltés felé mutat.</a:t>
            </a:r>
          </a:p>
        </p:txBody>
      </p:sp>
      <p:sp>
        <p:nvSpPr>
          <p:cNvPr id="18" name="Téglalap 17">
            <a:extLst>
              <a:ext uri="{FF2B5EF4-FFF2-40B4-BE49-F238E27FC236}">
                <a16:creationId xmlns:a16="http://schemas.microsoft.com/office/drawing/2014/main" id="{1C7651B9-A4A0-4D7F-8168-C7EFF118C47F}"/>
              </a:ext>
            </a:extLst>
          </p:cNvPr>
          <p:cNvSpPr>
            <a:spLocks noGrp="1"/>
          </p:cNvSpPr>
          <p:nvPr/>
        </p:nvSpPr>
        <p:spPr>
          <a:xfrm>
            <a:off x="2619375" y="5524500"/>
            <a:ext cx="695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587086"/>
                </a:solidFill>
              </a:defRPr>
            </a:pPr>
            <a:r>
              <a:rPr sz="1800" b="1">
                <a:solidFill>
                  <a:srgbClr val="587086"/>
                </a:solidFill>
              </a:rPr>
              <a:t>Sűrűbb erővonalak → erősebb elektromos tér</a:t>
            </a:r>
          </a:p>
        </p:txBody>
      </p:sp>
    </p:spTree>
    <p:extLst>
      <p:ext uri="{BB962C8B-B14F-4D97-AF65-F5344CB8AC3E}">
        <p14:creationId xmlns:p14="http://schemas.microsoft.com/office/powerpoint/2010/main" val="852286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églalap 24">
            <a:extLst>
              <a:ext uri="{FF2B5EF4-FFF2-40B4-BE49-F238E27FC236}">
                <a16:creationId xmlns:a16="http://schemas.microsoft.com/office/drawing/2014/main" id="{52501F61-8800-4813-9C46-FBA71B6383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47650"/>
          </a:xfrm>
          <a:prstGeom prst="rect">
            <a:avLst/>
          </a:prstGeom>
          <a:solidFill>
            <a:srgbClr val="12355B"/>
          </a:solidFill>
          <a:ln w="0">
            <a:solidFill>
              <a:srgbClr val="12355B"/>
            </a:solidFill>
            <a:prstDash val="solid"/>
          </a:ln>
        </p:spPr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0FDABB89-0E58-4C42-B03E-4AF136C1C391}"/>
              </a:ext>
            </a:extLst>
          </p:cNvPr>
          <p:cNvSpPr>
            <a:spLocks noGrp="1"/>
          </p:cNvSpPr>
          <p:nvPr/>
        </p:nvSpPr>
        <p:spPr>
          <a:xfrm>
            <a:off x="552450" y="28575"/>
            <a:ext cx="619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IAP • 10. ÉVFOLYAM • VILLAMOS ALAPISMERETEK</a:t>
            </a:r>
          </a:p>
        </p:txBody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350E407D-04B8-4390-84CC-597FF4A7EE19}"/>
              </a:ext>
            </a:extLst>
          </p:cNvPr>
          <p:cNvSpPr>
            <a:spLocks noGrp="1"/>
          </p:cNvSpPr>
          <p:nvPr/>
        </p:nvSpPr>
        <p:spPr>
          <a:xfrm>
            <a:off x="11125200" y="28575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71838CA5-4A31-4153-A3C9-3621D49B342A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087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2355B"/>
                </a:solidFill>
              </a:defRPr>
            </a:pPr>
            <a:r>
              <a:rPr sz="2700" b="1">
                <a:solidFill>
                  <a:srgbClr val="12355B"/>
                </a:solidFill>
              </a:rPr>
              <a:t>Coulomb törvénye megmutatja, mitől változik az erő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1899880A-78FF-4D0F-A47C-4AD359C58EA2}"/>
              </a:ext>
            </a:extLst>
          </p:cNvPr>
          <p:cNvSpPr>
            <a:spLocks noGrp="1"/>
          </p:cNvSpPr>
          <p:nvPr/>
        </p:nvSpPr>
        <p:spPr>
          <a:xfrm>
            <a:off x="552450" y="6419850"/>
            <a:ext cx="11087100" cy="19050"/>
          </a:xfrm>
          <a:prstGeom prst="rect">
            <a:avLst/>
          </a:prstGeom>
          <a:solidFill>
            <a:srgbClr val="1976D2"/>
          </a:solidFill>
          <a:ln w="0">
            <a:solidFill>
              <a:srgbClr val="1976D2"/>
            </a:solidFill>
            <a:prstDash val="solid"/>
          </a:ln>
        </p:spPr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363013F0-932D-407D-84E2-C7975B0B37A6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87086"/>
                </a:solidFill>
              </a:defRPr>
            </a:pPr>
            <a:r>
              <a:rPr sz="900" b="0">
                <a:solidFill>
                  <a:srgbClr val="587086"/>
                </a:solidFill>
              </a:rPr>
              <a:t>2. hét • Villamos töltések</a:t>
            </a:r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3041B77F-A79C-4CC8-96F7-B09116F26851}"/>
              </a:ext>
            </a:extLst>
          </p:cNvPr>
          <p:cNvSpPr>
            <a:spLocks noGrp="1"/>
          </p:cNvSpPr>
          <p:nvPr/>
        </p:nvSpPr>
        <p:spPr>
          <a:xfrm>
            <a:off x="2381250" y="1476375"/>
            <a:ext cx="7429500" cy="952500"/>
          </a:xfrm>
          <a:prstGeom prst="roundRect">
            <a:avLst>
              <a:gd name="adj" fmla="val 12000"/>
            </a:avLst>
          </a:prstGeom>
          <a:solidFill>
            <a:srgbClr val="EAF4FF"/>
          </a:solidFill>
          <a:ln w="9525">
            <a:solidFill>
              <a:srgbClr val="9BC4E7"/>
            </a:solidFill>
            <a:prstDash val="solid"/>
          </a:ln>
        </p:spPr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10D3AB05-2DEC-458B-9C35-B64A7F7A6DF2}"/>
              </a:ext>
            </a:extLst>
          </p:cNvPr>
          <p:cNvSpPr>
            <a:spLocks noGrp="1"/>
          </p:cNvSpPr>
          <p:nvPr/>
        </p:nvSpPr>
        <p:spPr>
          <a:xfrm>
            <a:off x="2667000" y="1733550"/>
            <a:ext cx="685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12355B"/>
                </a:solidFill>
              </a:defRPr>
            </a:pPr>
            <a:r>
              <a:rPr sz="2850" b="1">
                <a:solidFill>
                  <a:srgbClr val="12355B"/>
                </a:solidFill>
              </a:rPr>
              <a:t>F = k · |Q₁ · Q₂| / r²</a:t>
            </a:r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D3F955FB-CD91-4D8F-ACAB-B3FDF5C6648E}"/>
              </a:ext>
            </a:extLst>
          </p:cNvPr>
          <p:cNvSpPr>
            <a:spLocks noGrp="1"/>
          </p:cNvSpPr>
          <p:nvPr/>
        </p:nvSpPr>
        <p:spPr>
          <a:xfrm>
            <a:off x="714375" y="2905125"/>
            <a:ext cx="51435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B9CFE2"/>
            </a:solidFill>
            <a:prstDash val="solid"/>
          </a:ln>
        </p:spPr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F4620CBA-7C6E-4E35-A491-AC3DF0A1D52A}"/>
              </a:ext>
            </a:extLst>
          </p:cNvPr>
          <p:cNvSpPr>
            <a:spLocks noGrp="1"/>
          </p:cNvSpPr>
          <p:nvPr/>
        </p:nvSpPr>
        <p:spPr>
          <a:xfrm>
            <a:off x="904875" y="3076575"/>
            <a:ext cx="209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2355B"/>
                </a:solidFill>
              </a:defRPr>
            </a:pPr>
            <a:r>
              <a:rPr sz="1725" b="1">
                <a:solidFill>
                  <a:srgbClr val="12355B"/>
                </a:solidFill>
              </a:rPr>
              <a:t>Q kétszeres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CD516FB3-AF58-44DD-9760-F2A63401500F}"/>
              </a:ext>
            </a:extLst>
          </p:cNvPr>
          <p:cNvSpPr>
            <a:spLocks noGrp="1"/>
          </p:cNvSpPr>
          <p:nvPr/>
        </p:nvSpPr>
        <p:spPr>
          <a:xfrm>
            <a:off x="3076575" y="3143250"/>
            <a:ext cx="38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976D2"/>
                </a:solidFill>
              </a:defRPr>
            </a:pPr>
            <a:r>
              <a:rPr sz="195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6B6D83EC-9ACB-400E-8F43-D9D600620AD9}"/>
              </a:ext>
            </a:extLst>
          </p:cNvPr>
          <p:cNvSpPr>
            <a:spLocks noGrp="1"/>
          </p:cNvSpPr>
          <p:nvPr/>
        </p:nvSpPr>
        <p:spPr>
          <a:xfrm>
            <a:off x="3571875" y="3076575"/>
            <a:ext cx="209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239B73"/>
                </a:solidFill>
              </a:defRPr>
            </a:pPr>
            <a:r>
              <a:rPr sz="1725" b="1">
                <a:solidFill>
                  <a:srgbClr val="239B73"/>
                </a:solidFill>
              </a:rPr>
              <a:t>F kétszeres</a:t>
            </a:r>
          </a:p>
        </p:txBody>
      </p:sp>
      <p:sp>
        <p:nvSpPr>
          <p:cNvPr id="13" name="Téglalap: lekerekített 12">
            <a:extLst>
              <a:ext uri="{FF2B5EF4-FFF2-40B4-BE49-F238E27FC236}">
                <a16:creationId xmlns:a16="http://schemas.microsoft.com/office/drawing/2014/main" id="{20167483-3837-4A92-8248-897B21A4B964}"/>
              </a:ext>
            </a:extLst>
          </p:cNvPr>
          <p:cNvSpPr>
            <a:spLocks noGrp="1"/>
          </p:cNvSpPr>
          <p:nvPr/>
        </p:nvSpPr>
        <p:spPr>
          <a:xfrm>
            <a:off x="6334125" y="2905125"/>
            <a:ext cx="51435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B9CFE2"/>
            </a:solidFill>
            <a:prstDash val="solid"/>
          </a:ln>
        </p:spPr>
      </p:sp>
      <p:sp>
        <p:nvSpPr>
          <p:cNvPr id="14" name="Téglalap 13">
            <a:extLst>
              <a:ext uri="{FF2B5EF4-FFF2-40B4-BE49-F238E27FC236}">
                <a16:creationId xmlns:a16="http://schemas.microsoft.com/office/drawing/2014/main" id="{B1806E5F-8119-4643-A31B-2A58AB8A96FB}"/>
              </a:ext>
            </a:extLst>
          </p:cNvPr>
          <p:cNvSpPr>
            <a:spLocks noGrp="1"/>
          </p:cNvSpPr>
          <p:nvPr/>
        </p:nvSpPr>
        <p:spPr>
          <a:xfrm>
            <a:off x="6524625" y="3076575"/>
            <a:ext cx="209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2355B"/>
                </a:solidFill>
              </a:defRPr>
            </a:pPr>
            <a:r>
              <a:rPr sz="1725" b="1">
                <a:solidFill>
                  <a:srgbClr val="12355B"/>
                </a:solidFill>
              </a:rPr>
              <a:t>mindkét Q kétszeres</a:t>
            </a:r>
          </a:p>
        </p:txBody>
      </p:sp>
      <p:sp>
        <p:nvSpPr>
          <p:cNvPr id="15" name="Téglalap 14">
            <a:extLst>
              <a:ext uri="{FF2B5EF4-FFF2-40B4-BE49-F238E27FC236}">
                <a16:creationId xmlns:a16="http://schemas.microsoft.com/office/drawing/2014/main" id="{20B74D6B-79E6-4795-A159-3610224D54A1}"/>
              </a:ext>
            </a:extLst>
          </p:cNvPr>
          <p:cNvSpPr>
            <a:spLocks noGrp="1"/>
          </p:cNvSpPr>
          <p:nvPr/>
        </p:nvSpPr>
        <p:spPr>
          <a:xfrm>
            <a:off x="8696325" y="3143250"/>
            <a:ext cx="38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976D2"/>
                </a:solidFill>
              </a:defRPr>
            </a:pPr>
            <a:r>
              <a:rPr sz="195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12110299-9A75-4F96-94E1-56C586D9EA6B}"/>
              </a:ext>
            </a:extLst>
          </p:cNvPr>
          <p:cNvSpPr>
            <a:spLocks noGrp="1"/>
          </p:cNvSpPr>
          <p:nvPr/>
        </p:nvSpPr>
        <p:spPr>
          <a:xfrm>
            <a:off x="9191625" y="3076575"/>
            <a:ext cx="209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239B73"/>
                </a:solidFill>
              </a:defRPr>
            </a:pPr>
            <a:r>
              <a:rPr sz="1725" b="1">
                <a:solidFill>
                  <a:srgbClr val="239B73"/>
                </a:solidFill>
              </a:rPr>
              <a:t>F négyszeres</a:t>
            </a:r>
          </a:p>
        </p:txBody>
      </p:sp>
      <p:sp>
        <p:nvSpPr>
          <p:cNvPr id="17" name="Téglalap: lekerekített 16">
            <a:extLst>
              <a:ext uri="{FF2B5EF4-FFF2-40B4-BE49-F238E27FC236}">
                <a16:creationId xmlns:a16="http://schemas.microsoft.com/office/drawing/2014/main" id="{4A13FC31-400C-41E3-B03A-B8F58318D314}"/>
              </a:ext>
            </a:extLst>
          </p:cNvPr>
          <p:cNvSpPr>
            <a:spLocks noGrp="1"/>
          </p:cNvSpPr>
          <p:nvPr/>
        </p:nvSpPr>
        <p:spPr>
          <a:xfrm>
            <a:off x="714375" y="4286250"/>
            <a:ext cx="5143500" cy="1000125"/>
          </a:xfrm>
          <a:prstGeom prst="roundRect">
            <a:avLst>
              <a:gd name="adj" fmla="val 11429"/>
            </a:avLst>
          </a:prstGeom>
          <a:solidFill>
            <a:srgbClr val="FFF3D6"/>
          </a:solidFill>
          <a:ln w="9525">
            <a:solidFill>
              <a:srgbClr val="B9CFE2"/>
            </a:solidFill>
            <a:prstDash val="solid"/>
          </a:ln>
        </p:spPr>
      </p:sp>
      <p:sp>
        <p:nvSpPr>
          <p:cNvPr id="18" name="Téglalap 17">
            <a:extLst>
              <a:ext uri="{FF2B5EF4-FFF2-40B4-BE49-F238E27FC236}">
                <a16:creationId xmlns:a16="http://schemas.microsoft.com/office/drawing/2014/main" id="{37F24FE0-D2B7-4C56-91F4-31B04934A74D}"/>
              </a:ext>
            </a:extLst>
          </p:cNvPr>
          <p:cNvSpPr>
            <a:spLocks noGrp="1"/>
          </p:cNvSpPr>
          <p:nvPr/>
        </p:nvSpPr>
        <p:spPr>
          <a:xfrm>
            <a:off x="904875" y="4457700"/>
            <a:ext cx="209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2355B"/>
                </a:solidFill>
              </a:defRPr>
            </a:pPr>
            <a:r>
              <a:rPr sz="1725" b="1">
                <a:solidFill>
                  <a:srgbClr val="12355B"/>
                </a:solidFill>
              </a:rPr>
              <a:t>r kétszeres</a:t>
            </a:r>
          </a:p>
        </p:txBody>
      </p:sp>
      <p:sp>
        <p:nvSpPr>
          <p:cNvPr id="19" name="Téglalap 18">
            <a:extLst>
              <a:ext uri="{FF2B5EF4-FFF2-40B4-BE49-F238E27FC236}">
                <a16:creationId xmlns:a16="http://schemas.microsoft.com/office/drawing/2014/main" id="{80D1A3E8-A2FE-481B-A223-C3F29677F8EC}"/>
              </a:ext>
            </a:extLst>
          </p:cNvPr>
          <p:cNvSpPr>
            <a:spLocks noGrp="1"/>
          </p:cNvSpPr>
          <p:nvPr/>
        </p:nvSpPr>
        <p:spPr>
          <a:xfrm>
            <a:off x="3076575" y="4524375"/>
            <a:ext cx="38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976D2"/>
                </a:solidFill>
              </a:defRPr>
            </a:pPr>
            <a:r>
              <a:rPr sz="195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20" name="Téglalap 19">
            <a:extLst>
              <a:ext uri="{FF2B5EF4-FFF2-40B4-BE49-F238E27FC236}">
                <a16:creationId xmlns:a16="http://schemas.microsoft.com/office/drawing/2014/main" id="{8EFB206A-B140-4FA1-ABF3-EB9386CF098D}"/>
              </a:ext>
            </a:extLst>
          </p:cNvPr>
          <p:cNvSpPr>
            <a:spLocks noGrp="1"/>
          </p:cNvSpPr>
          <p:nvPr/>
        </p:nvSpPr>
        <p:spPr>
          <a:xfrm>
            <a:off x="3571875" y="4457700"/>
            <a:ext cx="209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B42318"/>
                </a:solidFill>
              </a:defRPr>
            </a:pPr>
            <a:r>
              <a:rPr sz="1725" b="1">
                <a:solidFill>
                  <a:srgbClr val="B42318"/>
                </a:solidFill>
              </a:rPr>
              <a:t>F negyedére csökken</a:t>
            </a:r>
          </a:p>
        </p:txBody>
      </p:sp>
      <p:sp>
        <p:nvSpPr>
          <p:cNvPr id="21" name="Téglalap: lekerekített 20">
            <a:extLst>
              <a:ext uri="{FF2B5EF4-FFF2-40B4-BE49-F238E27FC236}">
                <a16:creationId xmlns:a16="http://schemas.microsoft.com/office/drawing/2014/main" id="{2A2D26C1-84EC-4D6F-9A0A-9F1757110783}"/>
              </a:ext>
            </a:extLst>
          </p:cNvPr>
          <p:cNvSpPr>
            <a:spLocks noGrp="1"/>
          </p:cNvSpPr>
          <p:nvPr/>
        </p:nvSpPr>
        <p:spPr>
          <a:xfrm>
            <a:off x="6334125" y="4286250"/>
            <a:ext cx="5143500" cy="1000125"/>
          </a:xfrm>
          <a:prstGeom prst="roundRect">
            <a:avLst>
              <a:gd name="adj" fmla="val 11429"/>
            </a:avLst>
          </a:prstGeom>
          <a:solidFill>
            <a:srgbClr val="FFF3D6"/>
          </a:solidFill>
          <a:ln w="9525">
            <a:solidFill>
              <a:srgbClr val="B9CFE2"/>
            </a:solidFill>
            <a:prstDash val="solid"/>
          </a:ln>
        </p:spPr>
      </p:sp>
      <p:sp>
        <p:nvSpPr>
          <p:cNvPr id="22" name="Téglalap 21">
            <a:extLst>
              <a:ext uri="{FF2B5EF4-FFF2-40B4-BE49-F238E27FC236}">
                <a16:creationId xmlns:a16="http://schemas.microsoft.com/office/drawing/2014/main" id="{8FC3181A-314C-4A31-A57A-8E8EC8D91823}"/>
              </a:ext>
            </a:extLst>
          </p:cNvPr>
          <p:cNvSpPr>
            <a:spLocks noGrp="1"/>
          </p:cNvSpPr>
          <p:nvPr/>
        </p:nvSpPr>
        <p:spPr>
          <a:xfrm>
            <a:off x="6524625" y="4457700"/>
            <a:ext cx="209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2355B"/>
                </a:solidFill>
              </a:defRPr>
            </a:pPr>
            <a:r>
              <a:rPr sz="1725" b="1">
                <a:solidFill>
                  <a:srgbClr val="12355B"/>
                </a:solidFill>
              </a:rPr>
              <a:t>r háromszoros</a:t>
            </a:r>
          </a:p>
        </p:txBody>
      </p:sp>
      <p:sp>
        <p:nvSpPr>
          <p:cNvPr id="23" name="Téglalap 22">
            <a:extLst>
              <a:ext uri="{FF2B5EF4-FFF2-40B4-BE49-F238E27FC236}">
                <a16:creationId xmlns:a16="http://schemas.microsoft.com/office/drawing/2014/main" id="{4BFFA350-9D3C-4FC4-970F-07555CADF715}"/>
              </a:ext>
            </a:extLst>
          </p:cNvPr>
          <p:cNvSpPr>
            <a:spLocks noGrp="1"/>
          </p:cNvSpPr>
          <p:nvPr/>
        </p:nvSpPr>
        <p:spPr>
          <a:xfrm>
            <a:off x="8696325" y="4524375"/>
            <a:ext cx="38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976D2"/>
                </a:solidFill>
              </a:defRPr>
            </a:pPr>
            <a:r>
              <a:rPr sz="195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24" name="Téglalap 23">
            <a:extLst>
              <a:ext uri="{FF2B5EF4-FFF2-40B4-BE49-F238E27FC236}">
                <a16:creationId xmlns:a16="http://schemas.microsoft.com/office/drawing/2014/main" id="{8BD4A631-EC85-4B10-92CC-1A08ED4468B2}"/>
              </a:ext>
            </a:extLst>
          </p:cNvPr>
          <p:cNvSpPr>
            <a:spLocks noGrp="1"/>
          </p:cNvSpPr>
          <p:nvPr/>
        </p:nvSpPr>
        <p:spPr>
          <a:xfrm>
            <a:off x="9191625" y="4457700"/>
            <a:ext cx="209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B42318"/>
                </a:solidFill>
              </a:defRPr>
            </a:pPr>
            <a:r>
              <a:rPr sz="1725" b="1">
                <a:solidFill>
                  <a:srgbClr val="B42318"/>
                </a:solidFill>
              </a:rPr>
              <a:t>F kilencedére csökken</a:t>
            </a:r>
          </a:p>
        </p:txBody>
      </p:sp>
    </p:spTree>
    <p:extLst>
      <p:ext uri="{BB962C8B-B14F-4D97-AF65-F5344CB8AC3E}">
        <p14:creationId xmlns:p14="http://schemas.microsoft.com/office/powerpoint/2010/main" val="1024975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églalap 19">
            <a:extLst>
              <a:ext uri="{FF2B5EF4-FFF2-40B4-BE49-F238E27FC236}">
                <a16:creationId xmlns:a16="http://schemas.microsoft.com/office/drawing/2014/main" id="{A558D49D-F015-4C29-8FEE-A135A00DA1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47650"/>
          </a:xfrm>
          <a:prstGeom prst="rect">
            <a:avLst/>
          </a:prstGeom>
          <a:solidFill>
            <a:srgbClr val="12355B"/>
          </a:solidFill>
          <a:ln w="0">
            <a:solidFill>
              <a:srgbClr val="12355B"/>
            </a:solidFill>
            <a:prstDash val="solid"/>
          </a:ln>
        </p:spPr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947C3A1E-4671-45BA-9644-D437ACB914C9}"/>
              </a:ext>
            </a:extLst>
          </p:cNvPr>
          <p:cNvSpPr>
            <a:spLocks noGrp="1"/>
          </p:cNvSpPr>
          <p:nvPr/>
        </p:nvSpPr>
        <p:spPr>
          <a:xfrm>
            <a:off x="552450" y="28575"/>
            <a:ext cx="619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IAP • 10. ÉVFOLYAM • VILLAMOS ALAPISMERETEK</a:t>
            </a:r>
          </a:p>
        </p:txBody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7EC11F7F-7D44-4255-831D-F15E999B6842}"/>
              </a:ext>
            </a:extLst>
          </p:cNvPr>
          <p:cNvSpPr>
            <a:spLocks noGrp="1"/>
          </p:cNvSpPr>
          <p:nvPr/>
        </p:nvSpPr>
        <p:spPr>
          <a:xfrm>
            <a:off x="11125200" y="28575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326F7367-F29F-4FE6-BFF5-3131640A0C6B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087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2355B"/>
                </a:solidFill>
              </a:defRPr>
            </a:pPr>
            <a:r>
              <a:rPr sz="2700" b="1">
                <a:solidFill>
                  <a:srgbClr val="12355B"/>
                </a:solidFill>
              </a:rPr>
              <a:t>Három egyszerű kísérlet ugyanazt a jelenséget bizonyítja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8B366748-3E0E-40FA-925F-06B3BADF7E46}"/>
              </a:ext>
            </a:extLst>
          </p:cNvPr>
          <p:cNvSpPr>
            <a:spLocks noGrp="1"/>
          </p:cNvSpPr>
          <p:nvPr/>
        </p:nvSpPr>
        <p:spPr>
          <a:xfrm>
            <a:off x="552450" y="6419850"/>
            <a:ext cx="11087100" cy="19050"/>
          </a:xfrm>
          <a:prstGeom prst="rect">
            <a:avLst/>
          </a:prstGeom>
          <a:solidFill>
            <a:srgbClr val="1976D2"/>
          </a:solidFill>
          <a:ln w="0">
            <a:solidFill>
              <a:srgbClr val="1976D2"/>
            </a:solidFill>
            <a:prstDash val="solid"/>
          </a:ln>
        </p:spPr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AA422E7B-7B56-4956-BC36-937B3B2B566D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87086"/>
                </a:solidFill>
              </a:defRPr>
            </a:pPr>
            <a:r>
              <a:rPr sz="900" b="0">
                <a:solidFill>
                  <a:srgbClr val="587086"/>
                </a:solidFill>
              </a:rPr>
              <a:t>2. hét • Villamos töltések</a:t>
            </a:r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14FF0799-1EC3-4C9E-A0B9-344B80DCB0E7}"/>
              </a:ext>
            </a:extLst>
          </p:cNvPr>
          <p:cNvSpPr>
            <a:spLocks noGrp="1"/>
          </p:cNvSpPr>
          <p:nvPr/>
        </p:nvSpPr>
        <p:spPr>
          <a:xfrm>
            <a:off x="619125" y="1714500"/>
            <a:ext cx="3429000" cy="3190875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9525">
            <a:solidFill>
              <a:srgbClr val="B9CFE2"/>
            </a:solidFill>
            <a:prstDash val="solid"/>
          </a:ln>
        </p:spPr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3D8BE244-9F6E-4D13-AABF-7708E528F9F5}"/>
              </a:ext>
            </a:extLst>
          </p:cNvPr>
          <p:cNvSpPr>
            <a:spLocks noGrp="1"/>
          </p:cNvSpPr>
          <p:nvPr/>
        </p:nvSpPr>
        <p:spPr>
          <a:xfrm>
            <a:off x="1857375" y="2047875"/>
            <a:ext cx="952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00" b="1">
                <a:solidFill>
                  <a:srgbClr val="1976D2"/>
                </a:solidFill>
              </a:defRPr>
            </a:pPr>
            <a:r>
              <a:rPr sz="3900" b="1">
                <a:solidFill>
                  <a:srgbClr val="1976D2"/>
                </a:solidFill>
              </a:rPr>
              <a:t>1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EB936FB8-4FCF-4B64-A534-978355866529}"/>
              </a:ext>
            </a:extLst>
          </p:cNvPr>
          <p:cNvSpPr>
            <a:spLocks noGrp="1"/>
          </p:cNvSpPr>
          <p:nvPr/>
        </p:nvSpPr>
        <p:spPr>
          <a:xfrm>
            <a:off x="904875" y="3190875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12355B"/>
                </a:solidFill>
              </a:defRPr>
            </a:pPr>
            <a:r>
              <a:rPr sz="2025" b="1">
                <a:solidFill>
                  <a:srgbClr val="12355B"/>
                </a:solidFill>
              </a:rPr>
              <a:t>PAPÍRDARABOK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3C1AFF8E-7E5D-4823-AE5E-E9B0986661CD}"/>
              </a:ext>
            </a:extLst>
          </p:cNvPr>
          <p:cNvSpPr>
            <a:spLocks noGrp="1"/>
          </p:cNvSpPr>
          <p:nvPr/>
        </p:nvSpPr>
        <p:spPr>
          <a:xfrm>
            <a:off x="952500" y="3857625"/>
            <a:ext cx="2762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587086"/>
                </a:solidFill>
              </a:defRPr>
            </a:pPr>
            <a:r>
              <a:rPr sz="1650" b="0">
                <a:solidFill>
                  <a:srgbClr val="587086"/>
                </a:solidFill>
              </a:rPr>
              <a:t>feltöltött műanyag vonalzó</a:t>
            </a:r>
          </a:p>
        </p:txBody>
      </p:sp>
      <p:sp>
        <p:nvSpPr>
          <p:cNvPr id="11" name="Téglalap: lekerekített 10">
            <a:extLst>
              <a:ext uri="{FF2B5EF4-FFF2-40B4-BE49-F238E27FC236}">
                <a16:creationId xmlns:a16="http://schemas.microsoft.com/office/drawing/2014/main" id="{46907EAB-768F-453F-B387-B955E6D708E6}"/>
              </a:ext>
            </a:extLst>
          </p:cNvPr>
          <p:cNvSpPr>
            <a:spLocks noGrp="1"/>
          </p:cNvSpPr>
          <p:nvPr/>
        </p:nvSpPr>
        <p:spPr>
          <a:xfrm>
            <a:off x="4476750" y="1714500"/>
            <a:ext cx="3429000" cy="3190875"/>
          </a:xfrm>
          <a:prstGeom prst="roundRect">
            <a:avLst>
              <a:gd name="adj" fmla="val 3582"/>
            </a:avLst>
          </a:prstGeom>
          <a:solidFill>
            <a:srgbClr val="EAF4FF"/>
          </a:solidFill>
          <a:ln w="9525">
            <a:solidFill>
              <a:srgbClr val="B9CFE2"/>
            </a:solidFill>
            <a:prstDash val="solid"/>
          </a:ln>
        </p:spPr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0DE91C1B-93D6-47F7-A3D5-639A969C8A45}"/>
              </a:ext>
            </a:extLst>
          </p:cNvPr>
          <p:cNvSpPr>
            <a:spLocks noGrp="1"/>
          </p:cNvSpPr>
          <p:nvPr/>
        </p:nvSpPr>
        <p:spPr>
          <a:xfrm>
            <a:off x="5715000" y="2047875"/>
            <a:ext cx="952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00" b="1">
                <a:solidFill>
                  <a:srgbClr val="1976D2"/>
                </a:solidFill>
              </a:defRPr>
            </a:pPr>
            <a:r>
              <a:rPr sz="3900" b="1">
                <a:solidFill>
                  <a:srgbClr val="1976D2"/>
                </a:solidFill>
              </a:rPr>
              <a:t>2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E5FF0983-C04C-4520-A1A0-A6115852F733}"/>
              </a:ext>
            </a:extLst>
          </p:cNvPr>
          <p:cNvSpPr>
            <a:spLocks noGrp="1"/>
          </p:cNvSpPr>
          <p:nvPr/>
        </p:nvSpPr>
        <p:spPr>
          <a:xfrm>
            <a:off x="4762500" y="3190875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12355B"/>
                </a:solidFill>
              </a:defRPr>
            </a:pPr>
            <a:r>
              <a:rPr sz="2025" b="1">
                <a:solidFill>
                  <a:srgbClr val="12355B"/>
                </a:solidFill>
              </a:rPr>
              <a:t>ALUMÍNIUMDOBOZ</a:t>
            </a:r>
          </a:p>
        </p:txBody>
      </p:sp>
      <p:sp>
        <p:nvSpPr>
          <p:cNvPr id="14" name="Téglalap 13">
            <a:extLst>
              <a:ext uri="{FF2B5EF4-FFF2-40B4-BE49-F238E27FC236}">
                <a16:creationId xmlns:a16="http://schemas.microsoft.com/office/drawing/2014/main" id="{72E60D28-9F36-4D9B-A53E-6D5C00A0B4E1}"/>
              </a:ext>
            </a:extLst>
          </p:cNvPr>
          <p:cNvSpPr>
            <a:spLocks noGrp="1"/>
          </p:cNvSpPr>
          <p:nvPr/>
        </p:nvSpPr>
        <p:spPr>
          <a:xfrm>
            <a:off x="4810125" y="3857625"/>
            <a:ext cx="2762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587086"/>
                </a:solidFill>
              </a:defRPr>
            </a:pPr>
            <a:r>
              <a:rPr sz="1650" b="0">
                <a:solidFill>
                  <a:srgbClr val="587086"/>
                </a:solidFill>
              </a:rPr>
              <a:t>mozgás érintés nélkül</a:t>
            </a:r>
          </a:p>
        </p:txBody>
      </p:sp>
      <p:sp>
        <p:nvSpPr>
          <p:cNvPr id="15" name="Téglalap: lekerekített 14">
            <a:extLst>
              <a:ext uri="{FF2B5EF4-FFF2-40B4-BE49-F238E27FC236}">
                <a16:creationId xmlns:a16="http://schemas.microsoft.com/office/drawing/2014/main" id="{60AE6DCF-8D99-44C3-AFB6-0CBF4479BAC2}"/>
              </a:ext>
            </a:extLst>
          </p:cNvPr>
          <p:cNvSpPr>
            <a:spLocks noGrp="1"/>
          </p:cNvSpPr>
          <p:nvPr/>
        </p:nvSpPr>
        <p:spPr>
          <a:xfrm>
            <a:off x="8334375" y="1714500"/>
            <a:ext cx="3429000" cy="3190875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9525">
            <a:solidFill>
              <a:srgbClr val="B9CFE2"/>
            </a:solidFill>
            <a:prstDash val="solid"/>
          </a:ln>
        </p:spPr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956412CC-1E8F-4D4D-9136-DD0A7CC8D67D}"/>
              </a:ext>
            </a:extLst>
          </p:cNvPr>
          <p:cNvSpPr>
            <a:spLocks noGrp="1"/>
          </p:cNvSpPr>
          <p:nvPr/>
        </p:nvSpPr>
        <p:spPr>
          <a:xfrm>
            <a:off x="9572625" y="2047875"/>
            <a:ext cx="952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00" b="1">
                <a:solidFill>
                  <a:srgbClr val="1976D2"/>
                </a:solidFill>
              </a:defRPr>
            </a:pPr>
            <a:r>
              <a:rPr sz="3900" b="1">
                <a:solidFill>
                  <a:srgbClr val="1976D2"/>
                </a:solidFill>
              </a:rPr>
              <a:t>3</a:t>
            </a:r>
          </a:p>
        </p:txBody>
      </p:sp>
      <p:sp>
        <p:nvSpPr>
          <p:cNvPr id="17" name="Téglalap 16">
            <a:extLst>
              <a:ext uri="{FF2B5EF4-FFF2-40B4-BE49-F238E27FC236}">
                <a16:creationId xmlns:a16="http://schemas.microsoft.com/office/drawing/2014/main" id="{7565A9FE-AE8B-4FAB-8FB3-9CB35664D98C}"/>
              </a:ext>
            </a:extLst>
          </p:cNvPr>
          <p:cNvSpPr>
            <a:spLocks noGrp="1"/>
          </p:cNvSpPr>
          <p:nvPr/>
        </p:nvSpPr>
        <p:spPr>
          <a:xfrm>
            <a:off x="8620125" y="3190875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12355B"/>
                </a:solidFill>
              </a:defRPr>
            </a:pPr>
            <a:r>
              <a:rPr sz="2025" b="1">
                <a:solidFill>
                  <a:srgbClr val="12355B"/>
                </a:solidFill>
              </a:rPr>
              <a:t>VÍZSUGÁR</a:t>
            </a:r>
          </a:p>
        </p:txBody>
      </p:sp>
      <p:sp>
        <p:nvSpPr>
          <p:cNvPr id="18" name="Téglalap 17">
            <a:extLst>
              <a:ext uri="{FF2B5EF4-FFF2-40B4-BE49-F238E27FC236}">
                <a16:creationId xmlns:a16="http://schemas.microsoft.com/office/drawing/2014/main" id="{C11FA28B-7972-43FD-8FC1-FE20E6D5EED0}"/>
              </a:ext>
            </a:extLst>
          </p:cNvPr>
          <p:cNvSpPr>
            <a:spLocks noGrp="1"/>
          </p:cNvSpPr>
          <p:nvPr/>
        </p:nvSpPr>
        <p:spPr>
          <a:xfrm>
            <a:off x="8667750" y="3857625"/>
            <a:ext cx="2762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587086"/>
                </a:solidFill>
              </a:defRPr>
            </a:pPr>
            <a:r>
              <a:rPr sz="1650" b="0">
                <a:solidFill>
                  <a:srgbClr val="587086"/>
                </a:solidFill>
              </a:rPr>
              <a:t>eltérítés elektromos térrel</a:t>
            </a:r>
          </a:p>
        </p:txBody>
      </p:sp>
      <p:sp>
        <p:nvSpPr>
          <p:cNvPr id="19" name="Téglalap 18">
            <a:extLst>
              <a:ext uri="{FF2B5EF4-FFF2-40B4-BE49-F238E27FC236}">
                <a16:creationId xmlns:a16="http://schemas.microsoft.com/office/drawing/2014/main" id="{5BE3CC70-B911-45FA-BBCA-38C2B5A9CACB}"/>
              </a:ext>
            </a:extLst>
          </p:cNvPr>
          <p:cNvSpPr>
            <a:spLocks noGrp="1"/>
          </p:cNvSpPr>
          <p:nvPr/>
        </p:nvSpPr>
        <p:spPr>
          <a:xfrm>
            <a:off x="1762125" y="5476875"/>
            <a:ext cx="866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2355B"/>
                </a:solidFill>
              </a:defRPr>
            </a:pPr>
            <a:r>
              <a:rPr sz="1950" b="1">
                <a:solidFill>
                  <a:srgbClr val="12355B"/>
                </a:solidFill>
              </a:rPr>
              <a:t>A feltöltött test érintés nélkül is erőt gyakorolhat más testekre.</a:t>
            </a:r>
          </a:p>
        </p:txBody>
      </p:sp>
    </p:spTree>
    <p:extLst>
      <p:ext uri="{BB962C8B-B14F-4D97-AF65-F5344CB8AC3E}">
        <p14:creationId xmlns:p14="http://schemas.microsoft.com/office/powerpoint/2010/main" val="496235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églalap 20">
            <a:extLst>
              <a:ext uri="{FF2B5EF4-FFF2-40B4-BE49-F238E27FC236}">
                <a16:creationId xmlns:a16="http://schemas.microsoft.com/office/drawing/2014/main" id="{BAB01FA9-DB09-4833-ADB9-3697303AC8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47650"/>
          </a:xfrm>
          <a:prstGeom prst="rect">
            <a:avLst/>
          </a:prstGeom>
          <a:solidFill>
            <a:srgbClr val="12355B"/>
          </a:solidFill>
          <a:ln w="0">
            <a:solidFill>
              <a:srgbClr val="12355B"/>
            </a:solidFill>
            <a:prstDash val="solid"/>
          </a:ln>
        </p:spPr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A471E565-FEC7-49AE-959D-3C57A8C68875}"/>
              </a:ext>
            </a:extLst>
          </p:cNvPr>
          <p:cNvSpPr>
            <a:spLocks noGrp="1"/>
          </p:cNvSpPr>
          <p:nvPr/>
        </p:nvSpPr>
        <p:spPr>
          <a:xfrm>
            <a:off x="552450" y="28575"/>
            <a:ext cx="619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IAP • 10. ÉVFOLYAM • VILLAMOS ALAPISMERETEK</a:t>
            </a:r>
          </a:p>
        </p:txBody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C51BB051-11F9-4041-9DC6-A607FB082DD2}"/>
              </a:ext>
            </a:extLst>
          </p:cNvPr>
          <p:cNvSpPr>
            <a:spLocks noGrp="1"/>
          </p:cNvSpPr>
          <p:nvPr/>
        </p:nvSpPr>
        <p:spPr>
          <a:xfrm>
            <a:off x="11125200" y="28575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2106345F-EB4A-4DB4-BA5B-D3C7FB65AADF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087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2355B"/>
                </a:solidFill>
              </a:defRPr>
            </a:pPr>
            <a:r>
              <a:rPr sz="2700" b="1">
                <a:solidFill>
                  <a:srgbClr val="12355B"/>
                </a:solidFill>
              </a:rPr>
              <a:t>Az ESD láthatatlanul is tönkreteheti az elektronikát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411436C-55FC-4277-BDF7-FC3FF720F52F}"/>
              </a:ext>
            </a:extLst>
          </p:cNvPr>
          <p:cNvSpPr>
            <a:spLocks noGrp="1"/>
          </p:cNvSpPr>
          <p:nvPr/>
        </p:nvSpPr>
        <p:spPr>
          <a:xfrm>
            <a:off x="552450" y="6419850"/>
            <a:ext cx="11087100" cy="19050"/>
          </a:xfrm>
          <a:prstGeom prst="rect">
            <a:avLst/>
          </a:prstGeom>
          <a:solidFill>
            <a:srgbClr val="1976D2"/>
          </a:solidFill>
          <a:ln w="0">
            <a:solidFill>
              <a:srgbClr val="1976D2"/>
            </a:solidFill>
            <a:prstDash val="solid"/>
          </a:ln>
        </p:spPr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02079942-614C-4121-BBFF-59979BEC685C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87086"/>
                </a:solidFill>
              </a:defRPr>
            </a:pPr>
            <a:r>
              <a:rPr sz="900" b="0">
                <a:solidFill>
                  <a:srgbClr val="587086"/>
                </a:solidFill>
              </a:rPr>
              <a:t>2. hét • Villamos töltések</a:t>
            </a:r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F2228920-90AE-45B5-81B8-F743E58FD697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2762250" cy="457200"/>
          </a:xfrm>
          <a:prstGeom prst="roundRect">
            <a:avLst>
              <a:gd name="adj" fmla="val 25000"/>
            </a:avLst>
          </a:prstGeom>
          <a:solidFill>
            <a:srgbClr val="1976D2"/>
          </a:solidFill>
          <a:ln w="9525">
            <a:solidFill>
              <a:srgbClr val="1976D2"/>
            </a:solidFill>
            <a:prstDash val="solid"/>
          </a:ln>
        </p:spPr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1D53CD89-AD7F-48A0-BD2F-F846156D8A2D}"/>
              </a:ext>
            </a:extLst>
          </p:cNvPr>
          <p:cNvSpPr>
            <a:spLocks noGrp="1"/>
          </p:cNvSpPr>
          <p:nvPr/>
        </p:nvSpPr>
        <p:spPr>
          <a:xfrm>
            <a:off x="742950" y="1504950"/>
            <a:ext cx="2609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CSUKLÓPÁNT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C7880019-B300-4E2E-A076-F891658C0EB9}"/>
              </a:ext>
            </a:extLst>
          </p:cNvPr>
          <p:cNvSpPr>
            <a:spLocks noGrp="1"/>
          </p:cNvSpPr>
          <p:nvPr/>
        </p:nvSpPr>
        <p:spPr>
          <a:xfrm>
            <a:off x="3810000" y="1476375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0">
                <a:solidFill>
                  <a:srgbClr val="183247"/>
                </a:solidFill>
              </a:defRPr>
            </a:pPr>
            <a:r>
              <a:rPr sz="2025" b="0">
                <a:solidFill>
                  <a:srgbClr val="183247"/>
                </a:solidFill>
              </a:rPr>
              <a:t>azonos potenciál</a:t>
            </a:r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AE6E42CD-B630-4597-9BB1-422F0DF2E181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2762250" cy="457200"/>
          </a:xfrm>
          <a:prstGeom prst="roundRect">
            <a:avLst>
              <a:gd name="adj" fmla="val 25000"/>
            </a:avLst>
          </a:prstGeom>
          <a:solidFill>
            <a:srgbClr val="1976D2"/>
          </a:solidFill>
          <a:ln w="9525">
            <a:solidFill>
              <a:srgbClr val="1976D2"/>
            </a:solidFill>
            <a:prstDash val="solid"/>
          </a:ln>
        </p:spPr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A1B963C6-A7B6-4688-8305-DAB5A4AF3144}"/>
              </a:ext>
            </a:extLst>
          </p:cNvPr>
          <p:cNvSpPr>
            <a:spLocks noGrp="1"/>
          </p:cNvSpPr>
          <p:nvPr/>
        </p:nvSpPr>
        <p:spPr>
          <a:xfrm>
            <a:off x="742950" y="2457450"/>
            <a:ext cx="2609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ESD-ALÁTÉT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6F6BBA65-7622-422A-B5BB-94B0AEABCFFC}"/>
              </a:ext>
            </a:extLst>
          </p:cNvPr>
          <p:cNvSpPr>
            <a:spLocks noGrp="1"/>
          </p:cNvSpPr>
          <p:nvPr/>
        </p:nvSpPr>
        <p:spPr>
          <a:xfrm>
            <a:off x="3810000" y="2428875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0">
                <a:solidFill>
                  <a:srgbClr val="183247"/>
                </a:solidFill>
              </a:defRPr>
            </a:pPr>
            <a:r>
              <a:rPr sz="2025" b="0">
                <a:solidFill>
                  <a:srgbClr val="183247"/>
                </a:solidFill>
              </a:rPr>
              <a:t>szabályozott elvezetés</a:t>
            </a:r>
          </a:p>
        </p:txBody>
      </p:sp>
      <p:sp>
        <p:nvSpPr>
          <p:cNvPr id="13" name="Téglalap: lekerekített 12">
            <a:extLst>
              <a:ext uri="{FF2B5EF4-FFF2-40B4-BE49-F238E27FC236}">
                <a16:creationId xmlns:a16="http://schemas.microsoft.com/office/drawing/2014/main" id="{4969DE81-D3CC-453D-94F8-139D914C3696}"/>
              </a:ext>
            </a:extLst>
          </p:cNvPr>
          <p:cNvSpPr>
            <a:spLocks noGrp="1"/>
          </p:cNvSpPr>
          <p:nvPr/>
        </p:nvSpPr>
        <p:spPr>
          <a:xfrm>
            <a:off x="666750" y="3333750"/>
            <a:ext cx="2762250" cy="457200"/>
          </a:xfrm>
          <a:prstGeom prst="roundRect">
            <a:avLst>
              <a:gd name="adj" fmla="val 25000"/>
            </a:avLst>
          </a:prstGeom>
          <a:solidFill>
            <a:srgbClr val="1976D2"/>
          </a:solidFill>
          <a:ln w="9525">
            <a:solidFill>
              <a:srgbClr val="1976D2"/>
            </a:solidFill>
            <a:prstDash val="solid"/>
          </a:ln>
        </p:spPr>
      </p:sp>
      <p:sp>
        <p:nvSpPr>
          <p:cNvPr id="14" name="Téglalap 13">
            <a:extLst>
              <a:ext uri="{FF2B5EF4-FFF2-40B4-BE49-F238E27FC236}">
                <a16:creationId xmlns:a16="http://schemas.microsoft.com/office/drawing/2014/main" id="{F9DAD224-6BC1-4727-ABC9-DC6F44CC9269}"/>
              </a:ext>
            </a:extLst>
          </p:cNvPr>
          <p:cNvSpPr>
            <a:spLocks noGrp="1"/>
          </p:cNvSpPr>
          <p:nvPr/>
        </p:nvSpPr>
        <p:spPr>
          <a:xfrm>
            <a:off x="742950" y="3409950"/>
            <a:ext cx="2609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FÖLDELÉSI PONT</a:t>
            </a:r>
          </a:p>
        </p:txBody>
      </p:sp>
      <p:sp>
        <p:nvSpPr>
          <p:cNvPr id="15" name="Téglalap 14">
            <a:extLst>
              <a:ext uri="{FF2B5EF4-FFF2-40B4-BE49-F238E27FC236}">
                <a16:creationId xmlns:a16="http://schemas.microsoft.com/office/drawing/2014/main" id="{F9324BFC-C0E9-4498-BFF8-948853714A49}"/>
              </a:ext>
            </a:extLst>
          </p:cNvPr>
          <p:cNvSpPr>
            <a:spLocks noGrp="1"/>
          </p:cNvSpPr>
          <p:nvPr/>
        </p:nvSpPr>
        <p:spPr>
          <a:xfrm>
            <a:off x="3810000" y="3381375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0">
                <a:solidFill>
                  <a:srgbClr val="183247"/>
                </a:solidFill>
              </a:defRPr>
            </a:pPr>
            <a:r>
              <a:rPr sz="2025" b="0">
                <a:solidFill>
                  <a:srgbClr val="183247"/>
                </a:solidFill>
              </a:rPr>
              <a:t>biztos elvezetési út</a:t>
            </a:r>
          </a:p>
        </p:txBody>
      </p:sp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E1C73185-F9D2-43D7-A45B-48240709D878}"/>
              </a:ext>
            </a:extLst>
          </p:cNvPr>
          <p:cNvSpPr>
            <a:spLocks noGrp="1"/>
          </p:cNvSpPr>
          <p:nvPr/>
        </p:nvSpPr>
        <p:spPr>
          <a:xfrm>
            <a:off x="666750" y="4286250"/>
            <a:ext cx="2762250" cy="457200"/>
          </a:xfrm>
          <a:prstGeom prst="roundRect">
            <a:avLst>
              <a:gd name="adj" fmla="val 25000"/>
            </a:avLst>
          </a:prstGeom>
          <a:solidFill>
            <a:srgbClr val="239B73"/>
          </a:solidFill>
          <a:ln w="9525">
            <a:solidFill>
              <a:srgbClr val="239B73"/>
            </a:solidFill>
            <a:prstDash val="solid"/>
          </a:ln>
        </p:spPr>
      </p:sp>
      <p:sp>
        <p:nvSpPr>
          <p:cNvPr id="17" name="Téglalap 16">
            <a:extLst>
              <a:ext uri="{FF2B5EF4-FFF2-40B4-BE49-F238E27FC236}">
                <a16:creationId xmlns:a16="http://schemas.microsoft.com/office/drawing/2014/main" id="{EDC77D1D-1527-4BA5-B80B-D514A0EF4E43}"/>
              </a:ext>
            </a:extLst>
          </p:cNvPr>
          <p:cNvSpPr>
            <a:spLocks noGrp="1"/>
          </p:cNvSpPr>
          <p:nvPr/>
        </p:nvSpPr>
        <p:spPr>
          <a:xfrm>
            <a:off x="742950" y="4362450"/>
            <a:ext cx="2609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ESD-CSOMAGOLÁS</a:t>
            </a:r>
          </a:p>
        </p:txBody>
      </p:sp>
      <p:sp>
        <p:nvSpPr>
          <p:cNvPr id="18" name="Téglalap 17">
            <a:extLst>
              <a:ext uri="{FF2B5EF4-FFF2-40B4-BE49-F238E27FC236}">
                <a16:creationId xmlns:a16="http://schemas.microsoft.com/office/drawing/2014/main" id="{198B3DBD-E4B2-4D69-B2F3-C2498D93ECAF}"/>
              </a:ext>
            </a:extLst>
          </p:cNvPr>
          <p:cNvSpPr>
            <a:spLocks noGrp="1"/>
          </p:cNvSpPr>
          <p:nvPr/>
        </p:nvSpPr>
        <p:spPr>
          <a:xfrm>
            <a:off x="3810000" y="4333875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83247"/>
                </a:solidFill>
              </a:defRPr>
            </a:pPr>
            <a:r>
              <a:rPr sz="2025" b="1">
                <a:solidFill>
                  <a:srgbClr val="183247"/>
                </a:solidFill>
              </a:rPr>
              <a:t>védelem tároláskor</a:t>
            </a:r>
          </a:p>
        </p:txBody>
      </p:sp>
      <p:sp>
        <p:nvSpPr>
          <p:cNvPr id="19" name="Téglalap: lekerekített 18">
            <a:extLst>
              <a:ext uri="{FF2B5EF4-FFF2-40B4-BE49-F238E27FC236}">
                <a16:creationId xmlns:a16="http://schemas.microsoft.com/office/drawing/2014/main" id="{1C5B47EC-7CC4-4FCD-8B17-2B8DB925E1C2}"/>
              </a:ext>
            </a:extLst>
          </p:cNvPr>
          <p:cNvSpPr>
            <a:spLocks noGrp="1"/>
          </p:cNvSpPr>
          <p:nvPr/>
        </p:nvSpPr>
        <p:spPr>
          <a:xfrm>
            <a:off x="1571625" y="5381625"/>
            <a:ext cx="9048750" cy="666750"/>
          </a:xfrm>
          <a:prstGeom prst="roundRect">
            <a:avLst>
              <a:gd name="adj" fmla="val 17143"/>
            </a:avLst>
          </a:prstGeom>
          <a:solidFill>
            <a:srgbClr val="FFF3D6"/>
          </a:solidFill>
          <a:ln w="9525">
            <a:solidFill>
              <a:srgbClr val="E8B23E"/>
            </a:solidFill>
            <a:prstDash val="solid"/>
          </a:ln>
        </p:spPr>
      </p:sp>
      <p:sp>
        <p:nvSpPr>
          <p:cNvPr id="20" name="Téglalap 19">
            <a:extLst>
              <a:ext uri="{FF2B5EF4-FFF2-40B4-BE49-F238E27FC236}">
                <a16:creationId xmlns:a16="http://schemas.microsoft.com/office/drawing/2014/main" id="{5B190FD8-22FE-437F-A1E4-1DFBB1D932EB}"/>
              </a:ext>
            </a:extLst>
          </p:cNvPr>
          <p:cNvSpPr>
            <a:spLocks noGrp="1"/>
          </p:cNvSpPr>
          <p:nvPr/>
        </p:nvSpPr>
        <p:spPr>
          <a:xfrm>
            <a:off x="1809750" y="5572125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6D4C00"/>
                </a:solidFill>
              </a:defRPr>
            </a:pPr>
            <a:r>
              <a:rPr sz="1800" b="1">
                <a:solidFill>
                  <a:srgbClr val="6D4C00"/>
                </a:solidFill>
              </a:rPr>
              <a:t>Az érzékeny alkatrészt csak ESD-védett munkahelyen kezeljük.</a:t>
            </a:r>
          </a:p>
        </p:txBody>
      </p:sp>
    </p:spTree>
    <p:extLst>
      <p:ext uri="{BB962C8B-B14F-4D97-AF65-F5344CB8AC3E}">
        <p14:creationId xmlns:p14="http://schemas.microsoft.com/office/powerpoint/2010/main" val="2054191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églalap 18">
            <a:extLst>
              <a:ext uri="{FF2B5EF4-FFF2-40B4-BE49-F238E27FC236}">
                <a16:creationId xmlns:a16="http://schemas.microsoft.com/office/drawing/2014/main" id="{6E149AF9-81AA-41BC-8050-BFC63188ED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47650"/>
          </a:xfrm>
          <a:prstGeom prst="rect">
            <a:avLst/>
          </a:prstGeom>
          <a:solidFill>
            <a:srgbClr val="12355B"/>
          </a:solidFill>
          <a:ln w="0">
            <a:solidFill>
              <a:srgbClr val="12355B"/>
            </a:solidFill>
            <a:prstDash val="solid"/>
          </a:ln>
        </p:spPr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6E258521-FDAA-408B-B0F6-9BF38C9FE031}"/>
              </a:ext>
            </a:extLst>
          </p:cNvPr>
          <p:cNvSpPr>
            <a:spLocks noGrp="1"/>
          </p:cNvSpPr>
          <p:nvPr/>
        </p:nvSpPr>
        <p:spPr>
          <a:xfrm>
            <a:off x="552450" y="28575"/>
            <a:ext cx="619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IAP • 10. ÉVFOLYAM • VILLAMOS ALAPISMERETEK</a:t>
            </a:r>
          </a:p>
        </p:txBody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512A2854-FA4F-4525-8FA2-E9216612995D}"/>
              </a:ext>
            </a:extLst>
          </p:cNvPr>
          <p:cNvSpPr>
            <a:spLocks noGrp="1"/>
          </p:cNvSpPr>
          <p:nvPr/>
        </p:nvSpPr>
        <p:spPr>
          <a:xfrm>
            <a:off x="11125200" y="28575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B44317FA-F77E-4CA2-ABAB-5D207E27110A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087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2355B"/>
                </a:solidFill>
              </a:defRPr>
            </a:pPr>
            <a:r>
              <a:rPr sz="2700" b="1">
                <a:solidFill>
                  <a:srgbClr val="12355B"/>
                </a:solidFill>
              </a:rPr>
              <a:t>ATEX-térben egy sztatikus szikra gyújtóforrás lehet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5091669A-59D9-45B5-BED3-C1D4E81D69E8}"/>
              </a:ext>
            </a:extLst>
          </p:cNvPr>
          <p:cNvSpPr>
            <a:spLocks noGrp="1"/>
          </p:cNvSpPr>
          <p:nvPr/>
        </p:nvSpPr>
        <p:spPr>
          <a:xfrm>
            <a:off x="552450" y="6419850"/>
            <a:ext cx="11087100" cy="19050"/>
          </a:xfrm>
          <a:prstGeom prst="rect">
            <a:avLst/>
          </a:prstGeom>
          <a:solidFill>
            <a:srgbClr val="1976D2"/>
          </a:solidFill>
          <a:ln w="0">
            <a:solidFill>
              <a:srgbClr val="1976D2"/>
            </a:solidFill>
            <a:prstDash val="solid"/>
          </a:ln>
        </p:spPr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F4C9AAC9-4E7D-4D03-A348-AF9F90776218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87086"/>
                </a:solidFill>
              </a:defRPr>
            </a:pPr>
            <a:r>
              <a:rPr sz="900" b="0">
                <a:solidFill>
                  <a:srgbClr val="587086"/>
                </a:solidFill>
              </a:rPr>
              <a:t>2. hét • Villamos töltések</a:t>
            </a:r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5246AC23-81D4-4A64-89D6-0C657A4E05BF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0858500" cy="1381125"/>
          </a:xfrm>
          <a:prstGeom prst="roundRect">
            <a:avLst>
              <a:gd name="adj" fmla="val 8276"/>
            </a:avLst>
          </a:prstGeom>
          <a:solidFill>
            <a:srgbClr val="FFF3D6"/>
          </a:solidFill>
          <a:ln w="9525">
            <a:solidFill>
              <a:srgbClr val="E8B23E"/>
            </a:solidFill>
            <a:prstDash val="solid"/>
          </a:ln>
        </p:spPr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3E393507-4037-4046-A930-8D6D38C2FD6C}"/>
              </a:ext>
            </a:extLst>
          </p:cNvPr>
          <p:cNvSpPr>
            <a:spLocks noGrp="1"/>
          </p:cNvSpPr>
          <p:nvPr/>
        </p:nvSpPr>
        <p:spPr>
          <a:xfrm>
            <a:off x="1000125" y="1952625"/>
            <a:ext cx="10191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625" b="1">
                <a:solidFill>
                  <a:srgbClr val="B42318"/>
                </a:solidFill>
              </a:defRPr>
            </a:pPr>
            <a:r>
              <a:rPr sz="2625" b="1">
                <a:solidFill>
                  <a:srgbClr val="B42318"/>
                </a:solidFill>
              </a:rPr>
              <a:t>SZIKRA + GYÚLÉKONY KÖZEG = ROBBANÁSVESZÉLY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16414288-4732-46C1-A64F-80D14B79D5C6}"/>
              </a:ext>
            </a:extLst>
          </p:cNvPr>
          <p:cNvSpPr>
            <a:spLocks noGrp="1"/>
          </p:cNvSpPr>
          <p:nvPr/>
        </p:nvSpPr>
        <p:spPr>
          <a:xfrm>
            <a:off x="1190625" y="3381375"/>
            <a:ext cx="238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976D2"/>
                </a:solidFill>
              </a:defRPr>
            </a:pPr>
            <a:r>
              <a:rPr sz="1875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079AE272-975C-4076-BC36-F5409ED42D36}"/>
              </a:ext>
            </a:extLst>
          </p:cNvPr>
          <p:cNvSpPr>
            <a:spLocks noGrp="1"/>
          </p:cNvSpPr>
          <p:nvPr/>
        </p:nvSpPr>
        <p:spPr>
          <a:xfrm>
            <a:off x="1495425" y="3381375"/>
            <a:ext cx="9410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183247"/>
                </a:solidFill>
              </a:defRPr>
            </a:pPr>
            <a:r>
              <a:rPr sz="1875" b="0">
                <a:solidFill>
                  <a:srgbClr val="183247"/>
                </a:solidFill>
              </a:rPr>
              <a:t>megfelelő földelés és potenciálkiegyenlítés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0790574D-DF34-4E34-9B0D-A7BB7BC754FA}"/>
              </a:ext>
            </a:extLst>
          </p:cNvPr>
          <p:cNvSpPr>
            <a:spLocks noGrp="1"/>
          </p:cNvSpPr>
          <p:nvPr/>
        </p:nvSpPr>
        <p:spPr>
          <a:xfrm>
            <a:off x="1190625" y="3971925"/>
            <a:ext cx="238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976D2"/>
                </a:solidFill>
              </a:defRPr>
            </a:pPr>
            <a:r>
              <a:rPr sz="1875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C00EC76C-366E-4435-BE54-384C21B2C7C8}"/>
              </a:ext>
            </a:extLst>
          </p:cNvPr>
          <p:cNvSpPr>
            <a:spLocks noGrp="1"/>
          </p:cNvSpPr>
          <p:nvPr/>
        </p:nvSpPr>
        <p:spPr>
          <a:xfrm>
            <a:off x="1495425" y="3971925"/>
            <a:ext cx="9410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183247"/>
                </a:solidFill>
              </a:defRPr>
            </a:pPr>
            <a:r>
              <a:rPr sz="1875" b="0">
                <a:solidFill>
                  <a:srgbClr val="183247"/>
                </a:solidFill>
              </a:rPr>
              <a:t>vezetőképes vagy antisztatikus eszközök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98527DCC-ABE7-4C89-BF7D-AC63F1339BE7}"/>
              </a:ext>
            </a:extLst>
          </p:cNvPr>
          <p:cNvSpPr>
            <a:spLocks noGrp="1"/>
          </p:cNvSpPr>
          <p:nvPr/>
        </p:nvSpPr>
        <p:spPr>
          <a:xfrm>
            <a:off x="1190625" y="4562475"/>
            <a:ext cx="238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976D2"/>
                </a:solidFill>
              </a:defRPr>
            </a:pPr>
            <a:r>
              <a:rPr sz="1875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14" name="Téglalap 13">
            <a:extLst>
              <a:ext uri="{FF2B5EF4-FFF2-40B4-BE49-F238E27FC236}">
                <a16:creationId xmlns:a16="http://schemas.microsoft.com/office/drawing/2014/main" id="{06B8D342-0C48-4FF9-9257-E2C487556862}"/>
              </a:ext>
            </a:extLst>
          </p:cNvPr>
          <p:cNvSpPr>
            <a:spLocks noGrp="1"/>
          </p:cNvSpPr>
          <p:nvPr/>
        </p:nvSpPr>
        <p:spPr>
          <a:xfrm>
            <a:off x="1495425" y="4562475"/>
            <a:ext cx="9410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183247"/>
                </a:solidFill>
              </a:defRPr>
            </a:pPr>
            <a:r>
              <a:rPr sz="1875" b="0">
                <a:solidFill>
                  <a:srgbClr val="183247"/>
                </a:solidFill>
              </a:rPr>
              <a:t>a feltöltődés megelőzése és ellenőrzése</a:t>
            </a:r>
          </a:p>
        </p:txBody>
      </p:sp>
      <p:sp>
        <p:nvSpPr>
          <p:cNvPr id="15" name="Téglalap 14">
            <a:extLst>
              <a:ext uri="{FF2B5EF4-FFF2-40B4-BE49-F238E27FC236}">
                <a16:creationId xmlns:a16="http://schemas.microsoft.com/office/drawing/2014/main" id="{901B6A66-AB44-46F7-83FC-3F94381FF735}"/>
              </a:ext>
            </a:extLst>
          </p:cNvPr>
          <p:cNvSpPr>
            <a:spLocks noGrp="1"/>
          </p:cNvSpPr>
          <p:nvPr/>
        </p:nvSpPr>
        <p:spPr>
          <a:xfrm>
            <a:off x="1190625" y="5153025"/>
            <a:ext cx="238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976D2"/>
                </a:solidFill>
              </a:defRPr>
            </a:pPr>
            <a:r>
              <a:rPr sz="1875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EBEE3323-F1A4-4165-8A8A-A02B1245A107}"/>
              </a:ext>
            </a:extLst>
          </p:cNvPr>
          <p:cNvSpPr>
            <a:spLocks noGrp="1"/>
          </p:cNvSpPr>
          <p:nvPr/>
        </p:nvSpPr>
        <p:spPr>
          <a:xfrm>
            <a:off x="1495425" y="5153025"/>
            <a:ext cx="9410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183247"/>
                </a:solidFill>
              </a:defRPr>
            </a:pPr>
            <a:r>
              <a:rPr sz="1875" b="0">
                <a:solidFill>
                  <a:srgbClr val="183247"/>
                </a:solidFill>
              </a:rPr>
              <a:t>szabályos ESD- és ATEX-munkafegyelem</a:t>
            </a:r>
          </a:p>
        </p:txBody>
      </p:sp>
      <p:sp>
        <p:nvSpPr>
          <p:cNvPr id="17" name="Téglalap: lekerekített 16">
            <a:extLst>
              <a:ext uri="{FF2B5EF4-FFF2-40B4-BE49-F238E27FC236}">
                <a16:creationId xmlns:a16="http://schemas.microsoft.com/office/drawing/2014/main" id="{16D149C8-13A0-4DEF-B8C7-11243FB3FC60}"/>
              </a:ext>
            </a:extLst>
          </p:cNvPr>
          <p:cNvSpPr>
            <a:spLocks noGrp="1"/>
          </p:cNvSpPr>
          <p:nvPr/>
        </p:nvSpPr>
        <p:spPr>
          <a:xfrm>
            <a:off x="1619250" y="5762625"/>
            <a:ext cx="8953500" cy="428625"/>
          </a:xfrm>
          <a:prstGeom prst="roundRect">
            <a:avLst>
              <a:gd name="adj" fmla="val 26667"/>
            </a:avLst>
          </a:prstGeom>
          <a:solidFill>
            <a:srgbClr val="12355B"/>
          </a:solidFill>
          <a:ln w="9525">
            <a:solidFill>
              <a:srgbClr val="12355B"/>
            </a:solidFill>
            <a:prstDash val="solid"/>
          </a:ln>
        </p:spPr>
      </p:sp>
      <p:sp>
        <p:nvSpPr>
          <p:cNvPr id="18" name="Téglalap 17">
            <a:extLst>
              <a:ext uri="{FF2B5EF4-FFF2-40B4-BE49-F238E27FC236}">
                <a16:creationId xmlns:a16="http://schemas.microsoft.com/office/drawing/2014/main" id="{ABEB658B-CAC0-4335-A0B9-7968E22422D3}"/>
              </a:ext>
            </a:extLst>
          </p:cNvPr>
          <p:cNvSpPr>
            <a:spLocks noGrp="1"/>
          </p:cNvSpPr>
          <p:nvPr/>
        </p:nvSpPr>
        <p:spPr>
          <a:xfrm>
            <a:off x="1809750" y="584835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 sztatikus elektromosság egyszerre fizikai jelenség és munkavédelmi kérdés.</a:t>
            </a:r>
          </a:p>
        </p:txBody>
      </p:sp>
    </p:spTree>
    <p:extLst>
      <p:ext uri="{BB962C8B-B14F-4D97-AF65-F5344CB8AC3E}">
        <p14:creationId xmlns:p14="http://schemas.microsoft.com/office/powerpoint/2010/main" val="2013969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églalap 22">
            <a:extLst>
              <a:ext uri="{FF2B5EF4-FFF2-40B4-BE49-F238E27FC236}">
                <a16:creationId xmlns:a16="http://schemas.microsoft.com/office/drawing/2014/main" id="{C75B2607-3995-4A9F-BFDB-DAAA4E8EB3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47650"/>
          </a:xfrm>
          <a:prstGeom prst="rect">
            <a:avLst/>
          </a:prstGeom>
          <a:solidFill>
            <a:srgbClr val="12355B"/>
          </a:solidFill>
          <a:ln w="0">
            <a:solidFill>
              <a:srgbClr val="12355B"/>
            </a:solidFill>
            <a:prstDash val="solid"/>
          </a:ln>
        </p:spPr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31FB86DA-5122-44E9-AF7C-EDE2D498A1A0}"/>
              </a:ext>
            </a:extLst>
          </p:cNvPr>
          <p:cNvSpPr>
            <a:spLocks noGrp="1"/>
          </p:cNvSpPr>
          <p:nvPr/>
        </p:nvSpPr>
        <p:spPr>
          <a:xfrm>
            <a:off x="552450" y="28575"/>
            <a:ext cx="619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IAP • 10. ÉVFOLYAM • VILLAMOS ALAPISMERETEK</a:t>
            </a:r>
          </a:p>
        </p:txBody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189FD4F2-269B-4016-82DB-0E617FBD0D9B}"/>
              </a:ext>
            </a:extLst>
          </p:cNvPr>
          <p:cNvSpPr>
            <a:spLocks noGrp="1"/>
          </p:cNvSpPr>
          <p:nvPr/>
        </p:nvSpPr>
        <p:spPr>
          <a:xfrm>
            <a:off x="11125200" y="28575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91DE0BA2-9B28-4DBF-BE86-E5E5A7BC31FC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087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2355B"/>
                </a:solidFill>
              </a:defRPr>
            </a:pPr>
            <a:r>
              <a:rPr sz="2700" b="1">
                <a:solidFill>
                  <a:srgbClr val="12355B"/>
                </a:solidFill>
              </a:rPr>
              <a:t>Hét kérdésből kiderül, összeállt-e a kép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62AA0FE-1E90-4943-80D0-C2634271F96C}"/>
              </a:ext>
            </a:extLst>
          </p:cNvPr>
          <p:cNvSpPr>
            <a:spLocks noGrp="1"/>
          </p:cNvSpPr>
          <p:nvPr/>
        </p:nvSpPr>
        <p:spPr>
          <a:xfrm>
            <a:off x="552450" y="6419850"/>
            <a:ext cx="11087100" cy="19050"/>
          </a:xfrm>
          <a:prstGeom prst="rect">
            <a:avLst/>
          </a:prstGeom>
          <a:solidFill>
            <a:srgbClr val="1976D2"/>
          </a:solidFill>
          <a:ln w="0">
            <a:solidFill>
              <a:srgbClr val="1976D2"/>
            </a:solidFill>
            <a:prstDash val="solid"/>
          </a:ln>
        </p:spPr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2BF8E602-1230-4D11-93B0-E62A6E73A735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87086"/>
                </a:solidFill>
              </a:defRPr>
            </a:pPr>
            <a:r>
              <a:rPr sz="900" b="0">
                <a:solidFill>
                  <a:srgbClr val="587086"/>
                </a:solidFill>
              </a:rPr>
              <a:t>2. hét • Villamos töltések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F5E786B3-FD16-4027-8D5A-ACFE7DC64AB5}"/>
              </a:ext>
            </a:extLst>
          </p:cNvPr>
          <p:cNvSpPr>
            <a:spLocks noGrp="1"/>
          </p:cNvSpPr>
          <p:nvPr/>
        </p:nvSpPr>
        <p:spPr>
          <a:xfrm>
            <a:off x="762000" y="1381125"/>
            <a:ext cx="238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976D2"/>
                </a:solidFill>
              </a:defRPr>
            </a:pPr>
            <a:r>
              <a:rPr sz="1650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9CE0188A-02BA-4852-A61F-58648D726BAC}"/>
              </a:ext>
            </a:extLst>
          </p:cNvPr>
          <p:cNvSpPr>
            <a:spLocks noGrp="1"/>
          </p:cNvSpPr>
          <p:nvPr/>
        </p:nvSpPr>
        <p:spPr>
          <a:xfrm>
            <a:off x="1066800" y="1381125"/>
            <a:ext cx="10172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Miből áll az atom?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1DF17C13-37FD-4806-9B28-25FA1289CB12}"/>
              </a:ext>
            </a:extLst>
          </p:cNvPr>
          <p:cNvSpPr>
            <a:spLocks noGrp="1"/>
          </p:cNvSpPr>
          <p:nvPr/>
        </p:nvSpPr>
        <p:spPr>
          <a:xfrm>
            <a:off x="762000" y="1981200"/>
            <a:ext cx="238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976D2"/>
                </a:solidFill>
              </a:defRPr>
            </a:pPr>
            <a:r>
              <a:rPr sz="1650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685BBEF2-87AC-4CFD-A3E7-D0768E499A32}"/>
              </a:ext>
            </a:extLst>
          </p:cNvPr>
          <p:cNvSpPr>
            <a:spLocks noGrp="1"/>
          </p:cNvSpPr>
          <p:nvPr/>
        </p:nvSpPr>
        <p:spPr>
          <a:xfrm>
            <a:off x="1066800" y="1981200"/>
            <a:ext cx="10172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Mi az elektromos töltés?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6EE04A4D-777C-4D78-B900-10698553D2C4}"/>
              </a:ext>
            </a:extLst>
          </p:cNvPr>
          <p:cNvSpPr>
            <a:spLocks noGrp="1"/>
          </p:cNvSpPr>
          <p:nvPr/>
        </p:nvSpPr>
        <p:spPr>
          <a:xfrm>
            <a:off x="762000" y="2581275"/>
            <a:ext cx="238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976D2"/>
                </a:solidFill>
              </a:defRPr>
            </a:pPr>
            <a:r>
              <a:rPr sz="1650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6874E0CF-AEFE-45B8-B960-A4EA373929A4}"/>
              </a:ext>
            </a:extLst>
          </p:cNvPr>
          <p:cNvSpPr>
            <a:spLocks noGrp="1"/>
          </p:cNvSpPr>
          <p:nvPr/>
        </p:nvSpPr>
        <p:spPr>
          <a:xfrm>
            <a:off x="1066800" y="2581275"/>
            <a:ext cx="10172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Hogyan viselkednek azonos és különböző töltések?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199248F4-CBA5-4AEA-B09B-DE653DCCA901}"/>
              </a:ext>
            </a:extLst>
          </p:cNvPr>
          <p:cNvSpPr>
            <a:spLocks noGrp="1"/>
          </p:cNvSpPr>
          <p:nvPr/>
        </p:nvSpPr>
        <p:spPr>
          <a:xfrm>
            <a:off x="762000" y="3181350"/>
            <a:ext cx="238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976D2"/>
                </a:solidFill>
              </a:defRPr>
            </a:pPr>
            <a:r>
              <a:rPr sz="1650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14" name="Téglalap 13">
            <a:extLst>
              <a:ext uri="{FF2B5EF4-FFF2-40B4-BE49-F238E27FC236}">
                <a16:creationId xmlns:a16="http://schemas.microsoft.com/office/drawing/2014/main" id="{5C029163-D09E-4157-8BF4-E85EB429BE00}"/>
              </a:ext>
            </a:extLst>
          </p:cNvPr>
          <p:cNvSpPr>
            <a:spLocks noGrp="1"/>
          </p:cNvSpPr>
          <p:nvPr/>
        </p:nvSpPr>
        <p:spPr>
          <a:xfrm>
            <a:off x="1066800" y="3181350"/>
            <a:ext cx="10172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Mi az elektromos tér?</a:t>
            </a:r>
          </a:p>
        </p:txBody>
      </p:sp>
      <p:sp>
        <p:nvSpPr>
          <p:cNvPr id="15" name="Téglalap 14">
            <a:extLst>
              <a:ext uri="{FF2B5EF4-FFF2-40B4-BE49-F238E27FC236}">
                <a16:creationId xmlns:a16="http://schemas.microsoft.com/office/drawing/2014/main" id="{39C188D6-DF2C-4DBC-98E2-A9EC951E4376}"/>
              </a:ext>
            </a:extLst>
          </p:cNvPr>
          <p:cNvSpPr>
            <a:spLocks noGrp="1"/>
          </p:cNvSpPr>
          <p:nvPr/>
        </p:nvSpPr>
        <p:spPr>
          <a:xfrm>
            <a:off x="762000" y="3781425"/>
            <a:ext cx="238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976D2"/>
                </a:solidFill>
              </a:defRPr>
            </a:pPr>
            <a:r>
              <a:rPr sz="1650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B3684482-BE14-4894-A292-6333792D448E}"/>
              </a:ext>
            </a:extLst>
          </p:cNvPr>
          <p:cNvSpPr>
            <a:spLocks noGrp="1"/>
          </p:cNvSpPr>
          <p:nvPr/>
        </p:nvSpPr>
        <p:spPr>
          <a:xfrm>
            <a:off x="1066800" y="3781425"/>
            <a:ext cx="10172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Mit mond ki Coulomb törvénye?</a:t>
            </a:r>
          </a:p>
        </p:txBody>
      </p:sp>
      <p:sp>
        <p:nvSpPr>
          <p:cNvPr id="17" name="Téglalap 16">
            <a:extLst>
              <a:ext uri="{FF2B5EF4-FFF2-40B4-BE49-F238E27FC236}">
                <a16:creationId xmlns:a16="http://schemas.microsoft.com/office/drawing/2014/main" id="{AAD95797-25CF-4DFC-957C-775009AA3DFF}"/>
              </a:ext>
            </a:extLst>
          </p:cNvPr>
          <p:cNvSpPr>
            <a:spLocks noGrp="1"/>
          </p:cNvSpPr>
          <p:nvPr/>
        </p:nvSpPr>
        <p:spPr>
          <a:xfrm>
            <a:off x="762000" y="4381500"/>
            <a:ext cx="238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976D2"/>
                </a:solidFill>
              </a:defRPr>
            </a:pPr>
            <a:r>
              <a:rPr sz="1650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18" name="Téglalap 17">
            <a:extLst>
              <a:ext uri="{FF2B5EF4-FFF2-40B4-BE49-F238E27FC236}">
                <a16:creationId xmlns:a16="http://schemas.microsoft.com/office/drawing/2014/main" id="{6C6DC0B2-722E-4348-B28C-6D7665229961}"/>
              </a:ext>
            </a:extLst>
          </p:cNvPr>
          <p:cNvSpPr>
            <a:spLocks noGrp="1"/>
          </p:cNvSpPr>
          <p:nvPr/>
        </p:nvSpPr>
        <p:spPr>
          <a:xfrm>
            <a:off x="1066800" y="4381500"/>
            <a:ext cx="10172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Mi az ESD, és miért veszélyes?</a:t>
            </a:r>
          </a:p>
        </p:txBody>
      </p:sp>
      <p:sp>
        <p:nvSpPr>
          <p:cNvPr id="19" name="Téglalap 18">
            <a:extLst>
              <a:ext uri="{FF2B5EF4-FFF2-40B4-BE49-F238E27FC236}">
                <a16:creationId xmlns:a16="http://schemas.microsoft.com/office/drawing/2014/main" id="{1427A124-36B9-4E1D-B72E-E49A478E41A9}"/>
              </a:ext>
            </a:extLst>
          </p:cNvPr>
          <p:cNvSpPr>
            <a:spLocks noGrp="1"/>
          </p:cNvSpPr>
          <p:nvPr/>
        </p:nvSpPr>
        <p:spPr>
          <a:xfrm>
            <a:off x="762000" y="4981575"/>
            <a:ext cx="238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976D2"/>
                </a:solidFill>
              </a:defRPr>
            </a:pPr>
            <a:r>
              <a:rPr sz="1650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20" name="Téglalap 19">
            <a:extLst>
              <a:ext uri="{FF2B5EF4-FFF2-40B4-BE49-F238E27FC236}">
                <a16:creationId xmlns:a16="http://schemas.microsoft.com/office/drawing/2014/main" id="{BE95F553-BD01-49CD-8BB6-D89198A3A5E3}"/>
              </a:ext>
            </a:extLst>
          </p:cNvPr>
          <p:cNvSpPr>
            <a:spLocks noGrp="1"/>
          </p:cNvSpPr>
          <p:nvPr/>
        </p:nvSpPr>
        <p:spPr>
          <a:xfrm>
            <a:off x="1066800" y="4981575"/>
            <a:ext cx="10172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Miért kritikus a sztatikus szikra ATEX-környezetben?</a:t>
            </a:r>
          </a:p>
        </p:txBody>
      </p:sp>
      <p:sp>
        <p:nvSpPr>
          <p:cNvPr id="21" name="Téglalap: lekerekített 20">
            <a:extLst>
              <a:ext uri="{FF2B5EF4-FFF2-40B4-BE49-F238E27FC236}">
                <a16:creationId xmlns:a16="http://schemas.microsoft.com/office/drawing/2014/main" id="{F9F51EB8-9BE5-4C1A-A813-17DFDE8174C6}"/>
              </a:ext>
            </a:extLst>
          </p:cNvPr>
          <p:cNvSpPr>
            <a:spLocks noGrp="1"/>
          </p:cNvSpPr>
          <p:nvPr/>
        </p:nvSpPr>
        <p:spPr>
          <a:xfrm>
            <a:off x="1476375" y="5715000"/>
            <a:ext cx="9239250" cy="457200"/>
          </a:xfrm>
          <a:prstGeom prst="roundRect">
            <a:avLst>
              <a:gd name="adj" fmla="val 25000"/>
            </a:avLst>
          </a:prstGeom>
          <a:solidFill>
            <a:srgbClr val="12355B"/>
          </a:solidFill>
          <a:ln w="9525">
            <a:solidFill>
              <a:srgbClr val="12355B"/>
            </a:solidFill>
            <a:prstDash val="solid"/>
          </a:ln>
        </p:spPr>
      </p:sp>
      <p:sp>
        <p:nvSpPr>
          <p:cNvPr id="22" name="Téglalap 21">
            <a:extLst>
              <a:ext uri="{FF2B5EF4-FFF2-40B4-BE49-F238E27FC236}">
                <a16:creationId xmlns:a16="http://schemas.microsoft.com/office/drawing/2014/main" id="{8B37CF3B-522C-4B15-81A6-26DEE625308B}"/>
              </a:ext>
            </a:extLst>
          </p:cNvPr>
          <p:cNvSpPr>
            <a:spLocks noGrp="1"/>
          </p:cNvSpPr>
          <p:nvPr/>
        </p:nvSpPr>
        <p:spPr>
          <a:xfrm>
            <a:off x="1714500" y="5819775"/>
            <a:ext cx="876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Megfigyelés → magyarázat → biztonságos szakmai döntés</a:t>
            </a:r>
          </a:p>
        </p:txBody>
      </p:sp>
    </p:spTree>
    <p:extLst>
      <p:ext uri="{BB962C8B-B14F-4D97-AF65-F5344CB8AC3E}">
        <p14:creationId xmlns:p14="http://schemas.microsoft.com/office/powerpoint/2010/main" val="107039295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570</Words>
  <Application>Microsoft Office PowerPoint</Application>
  <DocSecurity>0</DocSecurity>
  <PresentationFormat>Szélesvásznú</PresentationFormat>
  <Paragraphs>143</Paragraphs>
  <Slides>11</Slides>
  <Notes>11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1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3" baseType="lpstr">
      <vt:lpstr>Calibri</vt:lpstr>
      <vt:lpstr>ChatGPT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zsolt Fazekas</cp:lastModifiedBy>
  <cp:revision>1</cp:revision>
  <dcterms:created xsi:type="dcterms:W3CDTF">2026-08-20T03:26:47Z</dcterms:created>
  <dcterms:modified xsi:type="dcterms:W3CDTF">2026-08-20T03:30:32Z</dcterms:modified>
</cp:coreProperties>
</file>