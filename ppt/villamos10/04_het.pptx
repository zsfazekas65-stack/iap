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F9A523-5E75-4FD5-B606-7579B9558C5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90080" cy="685764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590400"/>
            <a:ext cx="7238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A9CFF2"/>
                </a:solidFill>
                <a:effectLst/>
                <a:uFillTx/>
                <a:latin typeface="Arial"/>
              </a:rPr>
              <a:t>VILLAMOS ALAPISMERETEK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85800" y="1428840"/>
            <a:ext cx="104770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villamos feszültség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85800" y="2476440"/>
            <a:ext cx="1000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170" b="0" u="none" strike="noStrike">
                <a:solidFill>
                  <a:srgbClr val="CFE8FF"/>
                </a:solidFill>
                <a:effectLst/>
                <a:uFillTx/>
                <a:latin typeface="Arial"/>
              </a:rPr>
              <a:t>Mi készteti mozgásra az elektronokat?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3676680"/>
            <a:ext cx="157140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62120" y="3753000"/>
            <a:ext cx="1418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 HÉT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428920" y="3676680"/>
            <a:ext cx="199980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2505240" y="3753000"/>
            <a:ext cx="184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 × 45 PERC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85800" y="4762440"/>
            <a:ext cx="981036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Energia nélkül nincs mozgás, feszültség nélkül nincs áram.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85800" y="6238800"/>
            <a:ext cx="6190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A9CFF2"/>
                </a:solidFill>
                <a:effectLst/>
                <a:uFillTx/>
                <a:latin typeface="Arial"/>
              </a:rPr>
              <a:t>IAP • Integrált Automatika Program • 10. évfolyam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Két egyforma elem közül csak az egyik képes munkát végezni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62120" y="1714680"/>
            <a:ext cx="4667040" cy="3238200"/>
          </a:xfrm>
          <a:prstGeom prst="roundRect">
            <a:avLst>
              <a:gd name="adj" fmla="val 3529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428840" y="2095560"/>
            <a:ext cx="33332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ÚJ ELEM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285920" y="3000240"/>
            <a:ext cx="36190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239B73"/>
                </a:solidFill>
                <a:effectLst/>
                <a:uFillTx/>
                <a:latin typeface="Arial"/>
              </a:rPr>
              <a:t>1,5 V körüli feszültség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285920" y="4000680"/>
            <a:ext cx="36190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képes áramot létrehozni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762600" y="1714680"/>
            <a:ext cx="4667040" cy="3238200"/>
          </a:xfrm>
          <a:prstGeom prst="roundRect">
            <a:avLst>
              <a:gd name="adj" fmla="val 3529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286760" y="2095560"/>
            <a:ext cx="36190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LEMERÜLT ELEM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286760" y="3000240"/>
            <a:ext cx="36190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B42318"/>
                </a:solidFill>
                <a:effectLst/>
                <a:uFillTx/>
                <a:latin typeface="Arial"/>
              </a:rPr>
              <a:t>lecsökkent feszültség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191360" y="3905280"/>
            <a:ext cx="38095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terhelés alatt nem működik megfelelően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095560" y="5477040"/>
            <a:ext cx="80006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különbség kívülről nem látható — mérni kell.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feszültség két pont elektromos állapota közötti különbség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000160" y="1476360"/>
            <a:ext cx="8191080" cy="109512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381400" y="1762200"/>
            <a:ext cx="74293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3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U = W / Q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905040" y="3286080"/>
            <a:ext cx="3142800" cy="17618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000160" y="3524400"/>
            <a:ext cx="95220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U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190520" y="4334040"/>
            <a:ext cx="257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feszültség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190520" y="471492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volt (V)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619520" y="3286080"/>
            <a:ext cx="3142800" cy="17618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715000" y="3524400"/>
            <a:ext cx="95220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W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905360" y="4334040"/>
            <a:ext cx="257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energia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905360" y="471492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joule (J)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8334360" y="3286080"/>
            <a:ext cx="3142800" cy="17618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9429840" y="3524400"/>
            <a:ext cx="95220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45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Q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620200" y="4334040"/>
            <a:ext cx="257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töltés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620200" y="4714920"/>
            <a:ext cx="2571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coulomb (C)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714680" y="5477040"/>
            <a:ext cx="8762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feszültség megmutatja az egységnyi töltésre jutó energiát.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víztorony segít különválasztani a feszültséget és az áramot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66720" y="1380960"/>
            <a:ext cx="247608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43040" y="1457280"/>
            <a:ext cx="2323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MAGASSÁG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429000" y="1428840"/>
            <a:ext cx="523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334040" y="1428840"/>
            <a:ext cx="666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potenciálkülönbség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66720" y="2286000"/>
            <a:ext cx="247608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43040" y="2362320"/>
            <a:ext cx="2323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VÍZNYOMÁS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429000" y="2333520"/>
            <a:ext cx="523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334040" y="2333520"/>
            <a:ext cx="666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feszültség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66720" y="3191040"/>
            <a:ext cx="247608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43040" y="3267000"/>
            <a:ext cx="2323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VÍZÁRAMLÁS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429000" y="3238560"/>
            <a:ext cx="523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334040" y="3238560"/>
            <a:ext cx="666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elektromos áram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66720" y="4095720"/>
            <a:ext cx="247608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43040" y="4172040"/>
            <a:ext cx="2323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CSŐ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429000" y="4143240"/>
            <a:ext cx="523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334040" y="4143240"/>
            <a:ext cx="666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vezető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66720" y="5000760"/>
            <a:ext cx="247608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43040" y="5076720"/>
            <a:ext cx="23238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SZELEP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429000" y="5048280"/>
            <a:ext cx="523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334040" y="5048280"/>
            <a:ext cx="6667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kapcsoló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857240" y="5762520"/>
            <a:ext cx="8476920" cy="42840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2095560" y="5857920"/>
            <a:ext cx="8000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Feszültség nyitott áramkörben is lehet — áram csak zárt körben folyik.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feszültségforrások különböző energiákat alakítanak át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66720" y="1523880"/>
            <a:ext cx="5143320" cy="157140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905040" y="171468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AA ELEM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857760" y="1714680"/>
            <a:ext cx="1618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21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1,5 V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905040" y="2428920"/>
            <a:ext cx="4571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kémiai → villamos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286680" y="1523880"/>
            <a:ext cx="5143320" cy="157140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524640" y="171468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AKKUMULÁTOR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9477360" y="1714680"/>
            <a:ext cx="1618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21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12 V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524640" y="2428920"/>
            <a:ext cx="4571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kémiai ↔ villamos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66720" y="3524400"/>
            <a:ext cx="5143320" cy="157140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905040" y="371484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TÁPEGYSÉG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857760" y="3714840"/>
            <a:ext cx="1618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21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24 V DC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05040" y="4429080"/>
            <a:ext cx="4571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szabályozott villamos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286680" y="3524400"/>
            <a:ext cx="5143320" cy="157140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524640" y="3714840"/>
            <a:ext cx="2857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GENERÁTOR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477360" y="3714840"/>
            <a:ext cx="1618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21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hálózati rendszer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524640" y="4429080"/>
            <a:ext cx="4571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mechanikai → villamos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voltmérő a vizsgált két pont közé, párhuzamosan kapcsolódik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66720" y="2428920"/>
            <a:ext cx="199980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43040" y="2505240"/>
            <a:ext cx="184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FORRÁS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666880" y="2476440"/>
            <a:ext cx="428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10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095640" y="2428920"/>
            <a:ext cx="228564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171960" y="2505240"/>
            <a:ext cx="21333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FOGYASZTÓ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572080" y="1952640"/>
            <a:ext cx="2666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←──────────────┐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191440" y="1666800"/>
            <a:ext cx="2381040" cy="157140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858160" y="1952640"/>
            <a:ext cx="10472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9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V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8429760" y="2714760"/>
            <a:ext cx="1904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VOLTMÉRŐ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572080" y="3333600"/>
            <a:ext cx="2666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└──────────────→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714680" y="4762440"/>
            <a:ext cx="8762760" cy="66636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952640" y="4962600"/>
            <a:ext cx="8286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6D4C00"/>
                </a:solidFill>
                <a:effectLst/>
                <a:uFillTx/>
                <a:latin typeface="Arial"/>
              </a:rPr>
              <a:t>A voltmérő nagy belső ellenállású, ezért csak kis áramot vesz fel.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helyes multiméter-beállítás öt lépésből áll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23800" y="2000160"/>
            <a:ext cx="1999800" cy="2333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190520" y="2238480"/>
            <a:ext cx="6663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3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1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95160" y="3286080"/>
            <a:ext cx="1657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Fekete: COM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523960" y="2857680"/>
            <a:ext cx="285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809800" y="2000160"/>
            <a:ext cx="1999800" cy="2333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476520" y="2238480"/>
            <a:ext cx="6663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3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2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2981160" y="3286080"/>
            <a:ext cx="1657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Piros: V/Ω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809960" y="2857680"/>
            <a:ext cx="285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095800" y="2000160"/>
            <a:ext cx="1999800" cy="2333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762520" y="2238480"/>
            <a:ext cx="6663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3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3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267160" y="3286080"/>
            <a:ext cx="1657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DC V mód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095960" y="2857680"/>
            <a:ext cx="285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381800" y="2000160"/>
            <a:ext cx="1999800" cy="2333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8048520" y="2238480"/>
            <a:ext cx="6663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30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4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553160" y="3286080"/>
            <a:ext cx="1657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Nagy tartomány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381960" y="2857680"/>
            <a:ext cx="285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667800" y="2000160"/>
            <a:ext cx="1999800" cy="2333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0334520" y="2238480"/>
            <a:ext cx="6663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3300" b="1" u="none" strike="noStrike">
                <a:solidFill>
                  <a:srgbClr val="239B73"/>
                </a:solidFill>
                <a:effectLst/>
                <a:uFillTx/>
                <a:latin typeface="Arial"/>
              </a:rPr>
              <a:t>5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839160" y="3286080"/>
            <a:ext cx="1657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Párhuzamos mérés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619280" y="5381640"/>
            <a:ext cx="8953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B42318"/>
                </a:solidFill>
                <a:effectLst/>
                <a:uFillTx/>
                <a:latin typeface="Arial"/>
              </a:rPr>
              <a:t>Ismeretlen feszültségnél a legnagyobb méréshatárral kezdünk.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feszültségszint mindig a feladathoz igazodik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66720" y="1428840"/>
            <a:ext cx="238104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43040" y="1504800"/>
            <a:ext cx="2228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 V DC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476520" y="1476360"/>
            <a:ext cx="761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USB és elektronika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66720" y="2428920"/>
            <a:ext cx="238104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43040" y="2505240"/>
            <a:ext cx="2228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24 V DC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3476520" y="2476440"/>
            <a:ext cx="761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ipari vezérlés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66720" y="3429000"/>
            <a:ext cx="238104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743040" y="3505320"/>
            <a:ext cx="2228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230 V AC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476520" y="3476520"/>
            <a:ext cx="761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háztartási hálózat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66720" y="4429080"/>
            <a:ext cx="238104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743040" y="4505400"/>
            <a:ext cx="2228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400 V AC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476520" y="4476600"/>
            <a:ext cx="761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02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háromfázisú ipar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428840" y="5619600"/>
            <a:ext cx="9334080" cy="52344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714680" y="5743440"/>
            <a:ext cx="8762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feszültségszint → más veszély, védelem és mérési eljárás.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09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mérés akkor értékes, ha a névleges értékkel összehasonlítjuk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66720" y="1428840"/>
            <a:ext cx="2381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AA elem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381480" y="1428840"/>
            <a:ext cx="1618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1,5 V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191200" y="1428840"/>
            <a:ext cx="571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048360" y="1428840"/>
            <a:ext cx="49525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új vagy lemerült?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66720" y="2428920"/>
            <a:ext cx="2381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9 V-os elem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381480" y="2428920"/>
            <a:ext cx="1618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9 V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191200" y="2428920"/>
            <a:ext cx="571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048360" y="2428920"/>
            <a:ext cx="49525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megfelelő a terheléshez?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66720" y="3429000"/>
            <a:ext cx="2381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USB-forrás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381480" y="3429000"/>
            <a:ext cx="1618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5 V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5191200" y="3429000"/>
            <a:ext cx="571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6048360" y="3429000"/>
            <a:ext cx="49525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szabályozott kimenet?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66720" y="4429080"/>
            <a:ext cx="2381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95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Tápegység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3381480" y="4429080"/>
            <a:ext cx="1618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12/24 V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191200" y="4429080"/>
            <a:ext cx="571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→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048360" y="4429080"/>
            <a:ext cx="49525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70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beállítás és stabilitás?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523880" y="5619600"/>
            <a:ext cx="9143640" cy="52344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809720" y="5743440"/>
            <a:ext cx="8572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Becsüld meg → mérd meg → rögzítsd → értékeld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A biztonsági határ a kisfeszültségű gyakorlatnál van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14240" y="1619280"/>
            <a:ext cx="4762080" cy="333324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190520" y="2000160"/>
            <a:ext cx="3809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239B73"/>
                </a:solidFill>
                <a:effectLst/>
                <a:uFillTx/>
                <a:latin typeface="Arial"/>
              </a:rPr>
              <a:t>TANULÓI MÉRÉS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190520" y="290520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495440" y="2905200"/>
            <a:ext cx="350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AA és 9 V-os elem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1190520" y="352440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495440" y="3524400"/>
            <a:ext cx="350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5 V USB-forrás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190520" y="414324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1495440" y="4143240"/>
            <a:ext cx="350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12/24 V DC oktatói tápegység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715080" y="1619280"/>
            <a:ext cx="4762080" cy="333324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048440" y="2000160"/>
            <a:ext cx="40953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B42318"/>
                </a:solidFill>
                <a:effectLst/>
                <a:uFillTx/>
                <a:latin typeface="Arial"/>
              </a:rPr>
              <a:t>NEM TANULÓI GYAKORLAT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191360" y="290520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496280" y="2905200"/>
            <a:ext cx="340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230 V hálózat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191360" y="352440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496280" y="3524400"/>
            <a:ext cx="340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400 V ipari hálózat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7191360" y="414324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7496280" y="4143240"/>
            <a:ext cx="340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adapter primer oldala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571760" y="5477040"/>
            <a:ext cx="904824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Jogosultság, megfelelő műszer és eljárás nélkül nem mérünk hálózati feszültséget.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>
            <a:off x="0" y="0"/>
            <a:ext cx="12191760" cy="2473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52600" y="28440"/>
            <a:ext cx="619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IAP • 10. ÉVFOLYAM • VILLAMOS ALAPISMERETEK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1125080" y="28440"/>
            <a:ext cx="523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52600" y="457200"/>
            <a:ext cx="110869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12355B"/>
                </a:solidFill>
                <a:effectLst/>
                <a:uFillTx/>
                <a:latin typeface="Arial"/>
              </a:rPr>
              <a:t>Hat kérdésből kiderül, összeállt-e a kép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552600" y="6419880"/>
            <a:ext cx="11086920" cy="18720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lumMod val="75000"/>
                <a:lumOff val="0"/>
              </a:scheme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552600" y="651528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87086"/>
                </a:solidFill>
                <a:effectLst/>
                <a:uFillTx/>
                <a:latin typeface="Arial"/>
              </a:rPr>
              <a:t>4. hét • A villamos feszültség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62120" y="147636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066680" y="1476360"/>
            <a:ext cx="1017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Mi a villamos feszültség szerepe?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62120" y="214308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066680" y="2143080"/>
            <a:ext cx="1017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Mi a jele és mértékegysége?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62120" y="280980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066680" y="2809800"/>
            <a:ext cx="1017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Mit mutat a víztorony-hasonlat?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762120" y="347652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1066680" y="3476520"/>
            <a:ext cx="1017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Milyen feszültségforrásokat ismersz?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762120" y="414324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1066680" y="4143240"/>
            <a:ext cx="1017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Miért kötjük párhuzamosan a voltmérőt?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62120" y="4809960"/>
            <a:ext cx="2376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976D2"/>
                </a:solidFill>
                <a:effectLst/>
                <a:uFillTx/>
                <a:latin typeface="Arial"/>
              </a:rPr>
              <a:t>•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1066680" y="4809960"/>
            <a:ext cx="1017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183247"/>
                </a:solidFill>
                <a:effectLst/>
                <a:uFillTx/>
                <a:latin typeface="Arial"/>
              </a:rPr>
              <a:t>Miért fontos a helyes multiméter-beállítás?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428840" y="5715000"/>
            <a:ext cx="9334080" cy="4568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93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714680" y="5819760"/>
            <a:ext cx="8762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Következő hét: ellenállás és Ohm törvénye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2026-08-20T04:01:05Z</dcterms:created>
  <dc:creator>Walnut Exporter</dc:creator>
  <dc:description/>
  <dc:language>en-US</dc:language>
  <cp:lastModifiedBy>Walnut Exporter</cp:lastModifiedBy>
  <dcterms:modified xsi:type="dcterms:W3CDTF">2026-08-20T04:01:05Z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