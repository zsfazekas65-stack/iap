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3852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ÉV VÉGI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5176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KOMPLEX ISMÉTLÉS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566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D2E4F1"/>
                </a:solidFill>
                <a:latin typeface="Aptos"/>
              </a:defRPr>
            </a:pPr>
            <a:r>
              <a:t>az egész éves tudás egyetlen rendszerben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663440"/>
            <a:ext cx="178308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OHM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4663440"/>
            <a:ext cx="178308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DIODE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4663440"/>
            <a:ext cx="178308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663440"/>
            <a:ext cx="178308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LAB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4663440"/>
            <a:ext cx="178308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IAP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Egy év - egy összefüggő rendszer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4983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73152" cy="35661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AZ ÉV ÍVE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04288"/>
            <a:ext cx="457200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Ohm és Kirchhoff → félvezetők → villamos hajtások → frekvenciaváltók → szervohajtások.</a:t>
            </a:r>
            <a:br/>
            <a:br/>
            <a:r>
              <a:t>Most ezeket egyetlen szakmai rendszerbe rendezzük.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691640"/>
            <a:ext cx="553212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057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B5"/>
                </a:solidFill>
                <a:latin typeface="Aptos"/>
              </a:defRPr>
            </a:pPr>
            <a:r>
              <a:t>GONDOLKODJ EL!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51760"/>
            <a:ext cx="4572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4304E"/>
                </a:solidFill>
                <a:latin typeface="Aptos"/>
              </a:defRPr>
            </a:pPr>
            <a:r>
              <a:t>El tudnád magyarázni egyszerűen és logikusan, hogyan jut el az energia a hálózattól a villanymotorig?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Az éves tudástérkép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828800"/>
            <a:ext cx="2103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109728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41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VILLAMOSSÁGI</a:t>
            </a:r>
            <a:br/>
            <a:r>
              <a:t>ALAPOK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9192" y="1828800"/>
            <a:ext cx="2103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82112" y="2148840"/>
            <a:ext cx="1097280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82112" y="2441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FÉLVEZETŐK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8344" y="1828800"/>
            <a:ext cx="2103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41264" y="2148840"/>
            <a:ext cx="1097280" cy="91440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41264" y="2441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HAJTÁS-</a:t>
            </a:r>
            <a:br/>
            <a:r>
              <a:t>TECHNIKA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97496" y="1828800"/>
            <a:ext cx="2103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00416" y="2148840"/>
            <a:ext cx="1097280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0416" y="2441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0375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GYAKORLATI</a:t>
            </a:r>
            <a:br/>
            <a:r>
              <a:t>MÉRÉS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56648" y="1828800"/>
            <a:ext cx="2103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259568" y="2148840"/>
            <a:ext cx="1097280" cy="91440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59568" y="2441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9528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HIBAKERESÉS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1. tanóra - Villamossági alapok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Ohm • Kirchhoff • soros • párhuzamos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103120"/>
            <a:ext cx="1508760" cy="9601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0487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OHM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5760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304E"/>
                </a:solidFill>
                <a:latin typeface="Aptos"/>
              </a:defRPr>
            </a:pPr>
            <a:r>
              <a:t>U = R · 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78308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58768" y="2103120"/>
            <a:ext cx="1508760" cy="9601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8768" y="240487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KIRCHHOFF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365760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304E"/>
                </a:solidFill>
                <a:latin typeface="Aptos"/>
              </a:defRPr>
            </a:pPr>
            <a:r>
              <a:t>csomópont + hurok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78308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11696" y="2103120"/>
            <a:ext cx="1508760" cy="9601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11696" y="240487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SOROS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65760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304E"/>
                </a:solidFill>
                <a:latin typeface="Aptos"/>
              </a:defRPr>
            </a:pPr>
            <a:r>
              <a:t>közös áram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178308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64624" y="2103120"/>
            <a:ext cx="1508760" cy="9601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64624" y="240487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PÁRHUZAMOS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365760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304E"/>
                </a:solidFill>
                <a:latin typeface="Aptos"/>
              </a:defRPr>
            </a:pPr>
            <a:r>
              <a:t>közös feszültség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2. tanóra - Elektronikai alapok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Alkatrészfelismerés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32918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822960" cy="8229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84831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391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304E"/>
                </a:solidFill>
                <a:latin typeface="Aptos"/>
              </a:defRPr>
            </a:pPr>
            <a:r>
              <a:t>DIÓDA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2918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17720" y="1828800"/>
            <a:ext cx="822960" cy="8229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084831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0391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304E"/>
                </a:solidFill>
                <a:latin typeface="Aptos"/>
              </a:defRPr>
            </a:pPr>
            <a:r>
              <a:t>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508760"/>
            <a:ext cx="32918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0" y="1828800"/>
            <a:ext cx="822960" cy="8229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084831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0391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304E"/>
                </a:solidFill>
                <a:latin typeface="Aptos"/>
              </a:defRPr>
            </a:pPr>
            <a:r>
              <a:t>ZENER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566160"/>
            <a:ext cx="32918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886200"/>
            <a:ext cx="822960" cy="8229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14223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096511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304E"/>
                </a:solidFill>
                <a:latin typeface="Aptos"/>
              </a:defRPr>
            </a:pPr>
            <a:r>
              <a:t>BJT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566160"/>
            <a:ext cx="32918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17720" y="3886200"/>
            <a:ext cx="822960" cy="8229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14223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096511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304E"/>
                </a:solidFill>
                <a:latin typeface="Aptos"/>
              </a:defRPr>
            </a:pPr>
            <a:r>
              <a:t>MOSFET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3566160"/>
            <a:ext cx="32918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12480" y="3886200"/>
            <a:ext cx="822960" cy="8229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14223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4096511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304E"/>
                </a:solidFill>
                <a:latin typeface="Aptos"/>
              </a:defRPr>
            </a:pPr>
            <a:r>
              <a:t>IGBT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3. tanóra - Hajtástechnikai idővonal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2057400"/>
            <a:ext cx="2057400" cy="201168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6FB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CSILLAG-</a:t>
            </a:r>
            <a:br/>
            <a:r>
              <a:t>DELTA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1" y="27889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0048" y="2057400"/>
            <a:ext cx="2057400" cy="201168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4408" y="233172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6FB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301752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DC HAJTÁS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7889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5776" y="2057400"/>
            <a:ext cx="2057400" cy="201168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0136" y="233172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6FB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656" y="301752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TIRISZTOROS</a:t>
            </a:r>
            <a:br/>
            <a:r>
              <a:t>HAJTÁS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27889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61504" y="2057400"/>
            <a:ext cx="2057400" cy="20116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233172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4383" y="301752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FREKVENCIA-</a:t>
            </a:r>
            <a:br/>
            <a:r>
              <a:t>VÁLTÓ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46336" y="27889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57232" y="2057400"/>
            <a:ext cx="2057400" cy="20116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51592" y="233172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0112" y="3017520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SZERVO-</a:t>
            </a:r>
            <a:br/>
            <a:r>
              <a:t>HAJTÁS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4. tanóra - Laborállomások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Forgószínpadszerű gyakorlati összefoglalás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2148840"/>
            <a:ext cx="1042415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Mérések és</a:t>
            </a:r>
            <a:br/>
            <a:r>
              <a:t>műszerek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9192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9544" y="2148840"/>
            <a:ext cx="1042415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9544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3474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Félvezetők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8344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68696" y="2148840"/>
            <a:ext cx="1042415" cy="91440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68696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3474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VFD fő</a:t>
            </a:r>
            <a:br/>
            <a:r>
              <a:t>egységek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97496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27848" y="2148840"/>
            <a:ext cx="1042415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7848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6096" y="3474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Kapocs-</a:t>
            </a:r>
            <a:br/>
            <a:r>
              <a:t>jelölések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56648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287000" y="2148840"/>
            <a:ext cx="1042415" cy="91440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2432304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85248" y="3474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Hiba-</a:t>
            </a:r>
            <a:br/>
            <a:r>
              <a:t>keresés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Az energia útja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El tudod már magyarázni?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148840"/>
            <a:ext cx="2057400" cy="16459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2578608"/>
            <a:ext cx="19110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HÁLÓZAT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1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0048" y="2148840"/>
            <a:ext cx="2057400" cy="16459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2578608"/>
            <a:ext cx="19110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VÉDELEM /</a:t>
            </a:r>
            <a:br/>
            <a:r>
              <a:t>KAPCSOLÁS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5776" y="2148840"/>
            <a:ext cx="2057400" cy="16459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8928" y="2578608"/>
            <a:ext cx="19110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HAJTÁS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8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61504" y="2148840"/>
            <a:ext cx="2057400" cy="16459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34656" y="2578608"/>
            <a:ext cx="19110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MOTOR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6336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57232" y="2148840"/>
            <a:ext cx="2057400" cy="16459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30384" y="2578608"/>
            <a:ext cx="19110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GÉP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47D59"/>
                </a:solidFill>
                <a:latin typeface="Aptos"/>
              </a:defRPr>
            </a:pPr>
            <a:r>
              <a:t>A cél nem az adatok bemagolása, hanem az összefüggések felismerése.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műhelyből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Rendszerekben gondolkodunk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74420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4304E"/>
                </a:solidFill>
                <a:latin typeface="Aptos"/>
              </a:defRPr>
            </a:pPr>
            <a:r>
              <a:t>Egy jó villanyszerelő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6FB5"/>
                </a:solidFill>
                <a:latin typeface="Aptos"/>
              </a:defRPr>
            </a:pPr>
            <a:r>
              <a:t>nem különálló alkatrészekben gondolkodik,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4304E"/>
                </a:solidFill>
                <a:latin typeface="Aptos"/>
              </a:defRPr>
            </a:pPr>
            <a:r>
              <a:t>hanem teljes rendszerekben.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IAP Tudásfal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Közös év végi poszter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107899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1965960"/>
            <a:ext cx="2834640" cy="109728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23500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FOGALMAK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965960"/>
            <a:ext cx="2834640" cy="109728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3500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ÁBRÁK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965960"/>
            <a:ext cx="2834640" cy="109728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3500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KÉPLETEK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3566160"/>
            <a:ext cx="2834640" cy="109728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19" y="39502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MÉRÉSEK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566160"/>
            <a:ext cx="2834640" cy="109728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9502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HAJTÁSOK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3566160"/>
            <a:ext cx="2834640" cy="109728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39502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ÖSSZEFÜGGÉSEK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5. tanóra - IAP Tudáskihívás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Év végi Moodle-kvíz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2514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210312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feleletválasztós kérdés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645920"/>
            <a:ext cx="2514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8105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258568"/>
            <a:ext cx="210312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párosító feladat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2514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645920"/>
            <a:ext cx="73152" cy="40233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105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58568"/>
            <a:ext cx="210312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ábrafelismerési feladat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1645920"/>
            <a:ext cx="2514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06840" y="1645920"/>
            <a:ext cx="73152" cy="40233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8105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258568"/>
            <a:ext cx="210312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rövid kifejtős kérdés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Év végi önértékelés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594360" cy="594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3677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581912"/>
            <a:ext cx="9326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4304E"/>
                </a:solidFill>
                <a:latin typeface="Aptos"/>
              </a:defRPr>
            </a:pPr>
            <a:r>
              <a:t>Mely témákat tudom már biztosan?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60320"/>
            <a:ext cx="594360" cy="594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8833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633472"/>
            <a:ext cx="9326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4304E"/>
                </a:solidFill>
                <a:latin typeface="Aptos"/>
              </a:defRPr>
            </a:pPr>
            <a:r>
              <a:t>Mely gyakorlati feladat ment a legjobban?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611879"/>
            <a:ext cx="594360" cy="594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3989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685031"/>
            <a:ext cx="9326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4304E"/>
                </a:solidFill>
                <a:latin typeface="Aptos"/>
              </a:defRPr>
            </a:pPr>
            <a:r>
              <a:t>Hol kell még gyakorolnom?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63440"/>
            <a:ext cx="594360" cy="594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791455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736592"/>
            <a:ext cx="9326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04E"/>
                </a:solidFill>
                <a:latin typeface="Aptos"/>
              </a:defRPr>
            </a:pPr>
            <a:r>
              <a:t>Melyik három témát szeretném mélyebben tanulni?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ebből az évből magaddal viszel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44752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Villamossági alapok és hálózati összefüggések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03704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9514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Félvezetők és teljesítményelektronikai alapok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90088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81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1752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Villamos hajtások fejlődése és működése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76472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67911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03904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Mérés, dokumentációhasználat és hibakeresés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62856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542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90288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Rendszerszemlélet - a részletek összekapcsolása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7784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68756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36. hét: tanévzárás, szakmai beszélgetések, projektbemutatók és felkészülés a következő tanévre.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