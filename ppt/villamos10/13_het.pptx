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a7de9264914dde" /><Relationship Type="http://schemas.openxmlformats.org/officeDocument/2006/relationships/extended-properties" Target="/docProps/app.xml" Id="Rc8339a4306ba46db" /><Relationship Type="http://schemas.openxmlformats.org/officeDocument/2006/relationships/officeDocument" Target="/ppt/presentation.xml" Id="Ree29fe23d1d744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7e4b4797d94d2c"/>
  </p:sldMasterIdLst>
  <p:notesMasterIdLst>
    <p:notesMasterId xmlns:r="http://schemas.openxmlformats.org/officeDocument/2006/relationships" r:id="R78223241fbf144df"/>
  </p:notesMasterIdLst>
  <p:sldIdLst>
    <p:sldId xmlns:r="http://schemas.openxmlformats.org/officeDocument/2006/relationships" id="256" r:id="Ra3736efaadc54dfd"/>
    <p:sldId xmlns:r="http://schemas.openxmlformats.org/officeDocument/2006/relationships" id="257" r:id="R9a370bf120d144e0"/>
    <p:sldId xmlns:r="http://schemas.openxmlformats.org/officeDocument/2006/relationships" id="258" r:id="R10ee153f78804b57"/>
    <p:sldId xmlns:r="http://schemas.openxmlformats.org/officeDocument/2006/relationships" id="259" r:id="R1ff9086f47784239"/>
    <p:sldId xmlns:r="http://schemas.openxmlformats.org/officeDocument/2006/relationships" id="260" r:id="R3c70825e97ab4051"/>
    <p:sldId xmlns:r="http://schemas.openxmlformats.org/officeDocument/2006/relationships" id="261" r:id="Rc1b00670a7e54db0"/>
    <p:sldId xmlns:r="http://schemas.openxmlformats.org/officeDocument/2006/relationships" id="262" r:id="Ree254c97e6794fa0"/>
    <p:sldId xmlns:r="http://schemas.openxmlformats.org/officeDocument/2006/relationships" id="263" r:id="R467705c329014f64"/>
    <p:sldId xmlns:r="http://schemas.openxmlformats.org/officeDocument/2006/relationships" id="264" r:id="R381ecf7c261a4f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8127fa29664c85" /><Relationship Type="http://schemas.openxmlformats.org/officeDocument/2006/relationships/slideMaster" Target="/ppt/slideMasters/slideMaster1.xml" Id="R797e4b4797d94d2c" /><Relationship Type="http://schemas.openxmlformats.org/officeDocument/2006/relationships/notesMaster" Target="/ppt/notesMasters/notesMaster1.xml" Id="R78223241fbf144df" /><Relationship Type="http://schemas.openxmlformats.org/officeDocument/2006/relationships/presProps" Target="/ppt/presProps.xml" Id="R73f855ea1fed43a5" /><Relationship Type="http://schemas.openxmlformats.org/officeDocument/2006/relationships/tableStyles" Target="/ppt/tableStyles.xml" Id="R49f5c284a72f475c" /><Relationship Type="http://schemas.openxmlformats.org/officeDocument/2006/relationships/slide" Target="/ppt/slides/slide1.xml" Id="Ra3736efaadc54dfd" /><Relationship Type="http://schemas.openxmlformats.org/officeDocument/2006/relationships/slide" Target="/ppt/slides/slide2.xml" Id="R9a370bf120d144e0" /><Relationship Type="http://schemas.openxmlformats.org/officeDocument/2006/relationships/slide" Target="/ppt/slides/slide3.xml" Id="R10ee153f78804b57" /><Relationship Type="http://schemas.openxmlformats.org/officeDocument/2006/relationships/slide" Target="/ppt/slides/slide4.xml" Id="R1ff9086f47784239" /><Relationship Type="http://schemas.openxmlformats.org/officeDocument/2006/relationships/slide" Target="/ppt/slides/slide5.xml" Id="R3c70825e97ab4051" /><Relationship Type="http://schemas.openxmlformats.org/officeDocument/2006/relationships/slide" Target="/ppt/slides/slide6.xml" Id="Rc1b00670a7e54db0" /><Relationship Type="http://schemas.openxmlformats.org/officeDocument/2006/relationships/slide" Target="/ppt/slides/slide7.xml" Id="Ree254c97e6794fa0" /><Relationship Type="http://schemas.openxmlformats.org/officeDocument/2006/relationships/slide" Target="/ppt/slides/slide8.xml" Id="R467705c329014f64" /><Relationship Type="http://schemas.openxmlformats.org/officeDocument/2006/relationships/slide" Target="/ppt/slides/slide9.xml" Id="R381ecf7c261a4f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318f3dd2484b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8e7bc33c474740" /><Relationship Type="http://schemas.openxmlformats.org/officeDocument/2006/relationships/notesMaster" Target="/ppt/notesMasters/notesMaster1.xml" Id="R56cfb57396334a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466a20ffdb4548" /><Relationship Type="http://schemas.openxmlformats.org/officeDocument/2006/relationships/notesMaster" Target="/ppt/notesMasters/notesMaster1.xml" Id="Rafd55a65521347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07adcc1c80400f" /><Relationship Type="http://schemas.openxmlformats.org/officeDocument/2006/relationships/notesMaster" Target="/ppt/notesMasters/notesMaster1.xml" Id="R6455ed38837746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a5e915a2b04e81" /><Relationship Type="http://schemas.openxmlformats.org/officeDocument/2006/relationships/notesMaster" Target="/ppt/notesMasters/notesMaster1.xml" Id="R69859a443d2345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97d56e84124680" /><Relationship Type="http://schemas.openxmlformats.org/officeDocument/2006/relationships/notesMaster" Target="/ppt/notesMasters/notesMaster1.xml" Id="R3f02be72e3764c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cc0c6125ac410f" /><Relationship Type="http://schemas.openxmlformats.org/officeDocument/2006/relationships/notesMaster" Target="/ppt/notesMasters/notesMaster1.xml" Id="R64aae160fe3b45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a6867168c0422c" /><Relationship Type="http://schemas.openxmlformats.org/officeDocument/2006/relationships/notesMaster" Target="/ppt/notesMasters/notesMaster1.xml" Id="Rb1cd4511faa847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8eec0890be4894" /><Relationship Type="http://schemas.openxmlformats.org/officeDocument/2006/relationships/notesMaster" Target="/ppt/notesMasters/notesMaster1.xml" Id="Rcdb6d022d5e848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86ab1ae82e4edd" /><Relationship Type="http://schemas.openxmlformats.org/officeDocument/2006/relationships/notesMaster" Target="/ppt/notesMasters/notesMaster1.xml" Id="R01ec9977902b43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Heti cél: biztonságos feszültség-, áram- és ellenállásmérés.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- 13.Egyenaramu_meresek.docx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Mutassuk be a multiméter aljzatait és biztosítékait.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- 13.Egyenaramu_meresek.docx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Ismeretlen értéknél a legnagyobb biztonságos tartományból indulunk.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- 13.Egyenaramu_meresek.docx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polaritást és a párhuzamos bekötést külön hangsúlyozzuk.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- 13.Egyenaramu_meresek.docx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Árammérésnél a legnagyobb biztonságos tartományból indulunk.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- 13.Egyenaramu_meresek.docx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Árammérésnél mindig a nagy tartományból induljunk.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- 13.Egyenaramu_meresek.docx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laborban csak törpefeszültséget használjunk.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- 13.Egyenaramu_meresek.docx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jegyzőkönyvben külön értékeljük a számított és mért eltérést.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- 13.Egyenaramu_meresek.docx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Zárásként mondassuk vissza a három mérés bekötési szabályát.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- 13.Egyenaramu_meresek.docx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0461b5453047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db73ca44e14751" /><Relationship Type="http://schemas.openxmlformats.org/officeDocument/2006/relationships/slideLayout" Target="/ppt/slideLayouts/slideLayout1.xml" Id="R79bedc38a80e48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bedc38a80e48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3f972650d4f45" /><Relationship Type="http://schemas.openxmlformats.org/officeDocument/2006/relationships/notesSlide" Target="/ppt/notesSlides/notesSlide1.xml" Id="R1c815f40becd45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662657bd842bc" /><Relationship Type="http://schemas.openxmlformats.org/officeDocument/2006/relationships/notesSlide" Target="/ppt/notesSlides/notesSlide2.xml" Id="R5551f0328f734b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2640906014b58" /><Relationship Type="http://schemas.openxmlformats.org/officeDocument/2006/relationships/notesSlide" Target="/ppt/notesSlides/notesSlide3.xml" Id="Ree3dde97390344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d9fba61cb43c2" /><Relationship Type="http://schemas.openxmlformats.org/officeDocument/2006/relationships/notesSlide" Target="/ppt/notesSlides/notesSlide4.xml" Id="R28e93b95c04243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f20797fb24b5e" /><Relationship Type="http://schemas.openxmlformats.org/officeDocument/2006/relationships/notesSlide" Target="/ppt/notesSlides/notesSlide5.xml" Id="Rbc3dcbd0fc5e44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c89f461934ef6" /><Relationship Type="http://schemas.openxmlformats.org/officeDocument/2006/relationships/notesSlide" Target="/ppt/notesSlides/notesSlide6.xml" Id="R0fa6f1533e734d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def7cf83e4290" /><Relationship Type="http://schemas.openxmlformats.org/officeDocument/2006/relationships/notesSlide" Target="/ppt/notesSlides/notesSlide7.xml" Id="Rcbda861c447c4b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8fe5ae4584881" /><Relationship Type="http://schemas.openxmlformats.org/officeDocument/2006/relationships/notesSlide" Target="/ppt/notesSlides/notesSlide8.xml" Id="R69a727e80b8a47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2967dab7b4e68" /><Relationship Type="http://schemas.openxmlformats.org/officeDocument/2006/relationships/notesSlide" Target="/ppt/notesSlides/notesSlide9.xml" Id="Rb4512485c07c45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B49B4-A151-4267-A833-E385ABA9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IAP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7CAC0-5815-4BBD-BE01-0AE38A3F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Egyenáramú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villamos mérések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A6B25-9345-43D6-8CFA-66BD763E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FD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FDFFF"/>
                </a:solidFill>
                <a:latin typeface="Arial"/>
                <a:ea typeface="Arial"/>
                <a:cs typeface="Arial"/>
              </a:rPr>
              <a:t>13. hét • Villamos alapismeretek • 10. évfolyam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1D159-6001-4B4F-AF6C-B9B31D24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68B91-6348-432B-9F18-84E78658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  A  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608E9-C16B-45DA-A34D-A7E702A4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multiméter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B0458-0CA1-4950-AE0F-070506CC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jó mérés helyes bekötéssel kezdődik.</a:t>
            </a:r>
          </a:p>
        </p:txBody>
      </p:sp>
    </p:spTree>
    <p:extLst>
      <p:ext uri="{BB962C8B-B14F-4D97-AF65-F5344CB8AC3E}">
        <p14:creationId xmlns:p14="http://schemas.microsoft.com/office/powerpoint/2010/main" val="718619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8999D-28DD-47C9-A839-985AA304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Három alapméréshez három helyes bekötés tartozik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6D7C7-6F58-44BE-961E-54131A64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25A29-4528-428A-8646-667DAA16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B82F3-DB01-4CF7-91B2-FEB8B4B6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D23AC-3A6B-4661-BA93-F212F691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FESZÜLTSÉG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CC78B-D97A-431C-AF10-5597D25A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V⎓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5D74B-5CE5-48AD-A9E9-9202FDA1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párhuzamosan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3F463-80FB-44DB-B7AD-99C5470A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36753-815F-46EE-8518-89E8882F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ÁRAMERŐSSÉG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73729-F08F-432F-A36D-3B9AB09B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A⎓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BD016-E9AD-45E9-9491-FF75EE57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sorosan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D10F7-3E48-45E6-B250-D4D41C79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DA69E-FA0D-4BCD-B57C-0E16B2B1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ELLENÁLLÁS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5E4EC-F391-4118-A187-0CA7BB2B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C1C16-3BD0-4AF7-A241-F52E1443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feszültségmentesen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1F1AAF-16AF-4B8A-877C-943B69AD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Funkció, aljzat, méréshatár és bekötés: mind a négyet ellenőrizd.</a:t>
            </a:r>
          </a:p>
        </p:txBody>
      </p:sp>
    </p:spTree>
    <p:extLst>
      <p:ext uri="{BB962C8B-B14F-4D97-AF65-F5344CB8AC3E}">
        <p14:creationId xmlns:p14="http://schemas.microsoft.com/office/powerpoint/2010/main" val="1158104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1128E-0328-41C9-A667-48BF2044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biztonságos mérés hétlépéses rutin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8FBB5-6F57-4259-ACD2-69571AB0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B7A7E-DB74-41E0-960D-F3AD60CA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B50B7-3DBD-44C1-8CAE-106AE801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E28BB-5C32-4D0F-97B9-D5944B50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192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E9132-1BB7-4E5F-99CE-9FD238F8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716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Döntsd el, mit mérsz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8FCFF-35EF-4C16-94B0-1170A56B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BB319-9C24-4A2F-A4B5-C5330065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46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8BE70-0C19-4BFE-B82C-8C830C04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6697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Becsüld meg a várható értéket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0E4AE-A094-46D4-AC6C-5595C7A7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D2B08-E363-444E-A6B6-86886785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99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3AD87-CFCE-4CDB-AEC6-2D7EBB5C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623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Válassz funkciót és méréshatárt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4A398F-EED2-4083-910A-E6A18627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DC624-064F-46D7-BC02-8B4CCE0A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053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D8FCD0-1071-4A53-991D-383A8E05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5767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Ellenőrizd az aljzatot és bekötést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E7BD4E-8986-4F70-BA95-95CDE7B5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D5514A-6031-41C3-B485-D8BF4DBD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006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93394-2193-4BE0-B7AD-7BB15C57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530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Mérj, kapcsold ki, dokumentálj</a:t>
            </a:r>
          </a:p>
        </p:txBody>
      </p:sp>
    </p:spTree>
    <p:extLst>
      <p:ext uri="{BB962C8B-B14F-4D97-AF65-F5344CB8AC3E}">
        <p14:creationId xmlns:p14="http://schemas.microsoft.com/office/powerpoint/2010/main" val="12307946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261B0-690F-4899-9094-1ACAD4D7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Feszültségmérés: párhuzamos bekötés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12753-AC8B-4279-8DEB-81489553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87B34-AB27-4CC8-A0B0-8BBEB752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38194-59B3-4BC1-AD11-6EB89136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BE445-6B0C-454F-B9E1-534625B2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FUNKCIÓ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CF378-407D-40DA-B98A-99A5087D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V⎓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A9A2F-471F-42B9-A741-8E5C7030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DC feszültség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C5AF5-B0B2-4057-A21B-CB2BE211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980F8-79BC-46AA-AA4C-C13A62CB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PIROS ALJZAT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5C489-47C5-43DB-85AF-B442EE09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V/Ω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AAF8A-E098-4431-B1FF-67E84C68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helyes bemenet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E500F-2C6B-4BD3-8C38-D59A1C5E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3A2E4-331E-4E77-ABC3-1EBCA60A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BEKÖTÉS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5A0B6-3132-40C7-8F11-A1623F0F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párhuzamos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ED192-BEC7-4F69-BC87-AB192C51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két mérési pont közé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861D3-4401-4BE7-86E3-06EA480D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Fordított polaritásnál negatív előjel jelenik meg.</a:t>
            </a:r>
          </a:p>
        </p:txBody>
      </p:sp>
    </p:spTree>
    <p:extLst>
      <p:ext uri="{BB962C8B-B14F-4D97-AF65-F5344CB8AC3E}">
        <p14:creationId xmlns:p14="http://schemas.microsoft.com/office/powerpoint/2010/main" val="18846895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225D3-112C-43D9-83CB-A95072A0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Árammérés: a kört meg kell szakítani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254FA-E4BC-4F52-98AE-F725A6D3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D07E5-D002-4D0C-82E4-F4E1F099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E11A9-00BB-426E-AAC6-664F6515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9F068-E952-4306-81FF-093F37D8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FUNKCIÓ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8AAE3-659C-4A81-AB36-37340165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A⎓ vagy mA⎓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7DC36-6BF1-43B3-AD01-FA25B2B6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DC áram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0D16A-E244-44E6-9642-E3E19433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DFC3F-BB17-45DD-B6C9-014D67C5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PIROS ALJZAT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418D6-3ABC-4810-8CB5-48DABD02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A vagy 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CCA09-6BD0-40EE-A40B-22981383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várható érték szerint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C0DB2-4FC6-4633-82C1-F3A8258A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BFEF0-2F62-4071-8094-576DA42F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BEKÖTÉS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D19680-2187-41F0-9385-6784902D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sorosan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C7E07-D9C8-4B5E-9BCF-C3D33494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a kör részeként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23C27-6C74-40C1-9641-3C077A79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Az ampermérőt soha nem kötjük közvetlenül a forrásra.</a:t>
            </a:r>
          </a:p>
        </p:txBody>
      </p:sp>
    </p:spTree>
    <p:extLst>
      <p:ext uri="{BB962C8B-B14F-4D97-AF65-F5344CB8AC3E}">
        <p14:creationId xmlns:p14="http://schemas.microsoft.com/office/powerpoint/2010/main" val="12102246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9DD774-2359-4F1D-B6BA-52EC7A78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Ellenállást csak feszültségmentesen mérünk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04985-D12C-4908-8B24-AD4F635C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BDFF7-3C45-4B5B-A1B5-CF764391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0960F-DC93-4A3B-A28F-88F279AD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C1AE1-A380-4F77-B0B2-ED8E8B98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FUNKCIÓ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43657-4C80-45C9-AC9E-376E80C3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E04C2-6793-4F84-987A-6CE705D3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ellenállás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3B028-3428-4C93-9F26-2848E1A2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E3EC7-DEDE-4F88-AA21-AC2BA59D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ÁLLAPOT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1C750-9940-494A-8444-199DEDF7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leválasztva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5F53F-DF40-4EBB-AB70-F8A905E0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nincs külső feszültség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A5EDE-B47E-42F2-9BE2-F494E630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84117-B145-40A2-A920-1646C25F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ALKATRÉSZ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D3946-75A2-4C78-B074-8F42DA00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kiemelve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44F05-B9D4-41CD-97DC-FEB3C071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nincs párhuzamos út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CCE9C-6E6B-4DCE-81C8-0EB87F7D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A feszültség alatti ellenállásmérés tilos.</a:t>
            </a:r>
          </a:p>
        </p:txBody>
      </p:sp>
    </p:spTree>
    <p:extLst>
      <p:ext uri="{BB962C8B-B14F-4D97-AF65-F5344CB8AC3E}">
        <p14:creationId xmlns:p14="http://schemas.microsoft.com/office/powerpoint/2010/main" val="8747783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D4E12-0D3C-4285-9EFB-290DD693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Az ampermérő párhuzamos bekötése veszélyes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9A046-CD48-4F5A-83C3-FD7EDE3F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68AFF-8798-44A6-9BC9-F63B571A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0018D-581B-43FB-87F2-CFD106DF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104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FF2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AD29E-0AC2-443A-8CD6-7E786EBF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A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A000"/>
                </a:solidFill>
                <a:latin typeface="Arial"/>
                <a:ea typeface="Arial"/>
                <a:cs typeface="Arial"/>
              </a:rPr>
              <a:t>VESZÉLYES HIBA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10774-0AB3-45EA-993C-54FA28C7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Az ampermérő kis belső ellenállású.</a:t>
            </a:r>
          </a:p>
          <a:p xmlns:a="http://schemas.openxmlformats.org/drawingml/2006/main">
            <a:pPr algn="ctr">
              <a:defRPr sz="23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forrásra kötve rövidzárlatot okozhat.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4D00B-E29A-4A38-979F-C30E5B67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Átépítés és műszeráthelyezés előtt kapcsold ki a tápegységet.</a:t>
            </a:r>
          </a:p>
        </p:txBody>
      </p:sp>
    </p:spTree>
    <p:extLst>
      <p:ext uri="{BB962C8B-B14F-4D97-AF65-F5344CB8AC3E}">
        <p14:creationId xmlns:p14="http://schemas.microsoft.com/office/powerpoint/2010/main" val="13841782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F0FDE-F2A9-4E82-B8CF-D8B09246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mért és számított értéket összehasonlítjuk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219CF-E818-440A-B698-E67E7554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93249-625A-4936-92FE-6642B0F3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972B3-4661-4B13-82D6-31FBE726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A6C50-83A7-4775-86D8-42B7C2C6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050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Rközvetlen ≈ 470 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0E75C-6519-41DD-948E-D3F95A5F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5F76A-4483-4225-893A-E0C6273A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9562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Rszámított = UR / 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02F56-AD20-4064-9D86-8B60954B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DFE43-6507-45F0-BFB6-6D9B10B9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862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eltérés = tűrés + műszerpontosság + érintkezések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8FFCC-87DD-45A1-981D-F2A94A72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Kapcsolási rajz + méréshatár + mértékegység + következtetés</a:t>
            </a:r>
          </a:p>
        </p:txBody>
      </p:sp>
    </p:spTree>
    <p:extLst>
      <p:ext uri="{BB962C8B-B14F-4D97-AF65-F5344CB8AC3E}">
        <p14:creationId xmlns:p14="http://schemas.microsoft.com/office/powerpoint/2010/main" val="7541121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B961D-D2FA-4B6E-9FE6-AA8AB625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Mit vigyél haza mára?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3CBB4-95F1-4822-AD1D-7CADB3E7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6F575-6A77-4D2B-BE38-589C434E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Helyesen választok funkciót és műszeraljzatot.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969B8-C47A-4EEA-B60A-14A72500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A991E-84B8-4605-85DD-DA140C29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voltmérőt párhuzamosan kötöm.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13C62-AEA4-4C04-8282-E61E1684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B0E46-DBD7-432F-9179-2102500B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480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Az ampermérőt sorosan kötöm.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4ED38-C26F-43E4-B799-D598FDB1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5232D-2EBA-449B-BE46-90F0D979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Ellenállást csak feszültségmentesen mérek.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2EF11-9D57-4B14-ADC1-D83F7E2E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FD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FDFFF"/>
                </a:solidFill>
                <a:latin typeface="Arial"/>
                <a:ea typeface="Arial"/>
                <a:cs typeface="Arial"/>
              </a:rPr>
              <a:t>Következő hét: analóg és digitális műszerek, mérési hibák</a:t>
            </a:r>
          </a:p>
        </p:txBody>
      </p:sp>
    </p:spTree>
    <p:extLst>
      <p:ext uri="{BB962C8B-B14F-4D97-AF65-F5344CB8AC3E}">
        <p14:creationId xmlns:p14="http://schemas.microsoft.com/office/powerpoint/2010/main" val="117079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2026-08-20T18:23:04.3690000Z</dcterms:created>
  <dcterms:modified xsi:type="dcterms:W3CDTF">2026-08-20T18:23:04.3690000Z</dcterms:modified>
</coreProperties>
</file>