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1662108df247b1" /><Relationship Type="http://schemas.openxmlformats.org/officeDocument/2006/relationships/extended-properties" Target="/docProps/app.xml" Id="R4082e699791d46c7" /><Relationship Type="http://schemas.openxmlformats.org/officeDocument/2006/relationships/officeDocument" Target="/ppt/presentation.xml" Id="R493ff46b645b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fe25c59a147d7"/>
  </p:sldMasterIdLst>
  <p:notesMasterIdLst>
    <p:notesMasterId xmlns:r="http://schemas.openxmlformats.org/officeDocument/2006/relationships" r:id="R24fcd0268a75415e"/>
  </p:notesMasterIdLst>
  <p:sldIdLst>
    <p:sldId xmlns:r="http://schemas.openxmlformats.org/officeDocument/2006/relationships" id="256" r:id="Rcea9adf7837e4bc3"/>
    <p:sldId xmlns:r="http://schemas.openxmlformats.org/officeDocument/2006/relationships" id="257" r:id="Rf5d93ae66b5b4c27"/>
    <p:sldId xmlns:r="http://schemas.openxmlformats.org/officeDocument/2006/relationships" id="258" r:id="R0cd9fa9e67a04b89"/>
    <p:sldId xmlns:r="http://schemas.openxmlformats.org/officeDocument/2006/relationships" id="259" r:id="R1fde1d7d236c48b9"/>
    <p:sldId xmlns:r="http://schemas.openxmlformats.org/officeDocument/2006/relationships" id="260" r:id="R5549924c09b34a19"/>
    <p:sldId xmlns:r="http://schemas.openxmlformats.org/officeDocument/2006/relationships" id="261" r:id="R12cb132e1eaa448a"/>
    <p:sldId xmlns:r="http://schemas.openxmlformats.org/officeDocument/2006/relationships" id="262" r:id="R197d2a353ca346a3"/>
    <p:sldId xmlns:r="http://schemas.openxmlformats.org/officeDocument/2006/relationships" id="263" r:id="Rf350478638da461f"/>
    <p:sldId xmlns:r="http://schemas.openxmlformats.org/officeDocument/2006/relationships" id="264" r:id="R1aeceafc34ae45fc"/>
    <p:sldId xmlns:r="http://schemas.openxmlformats.org/officeDocument/2006/relationships" id="265" r:id="Rd2d63cb2efa04a7d"/>
    <p:sldId xmlns:r="http://schemas.openxmlformats.org/officeDocument/2006/relationships" id="266" r:id="Rc0b72e3abb9b48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4c171364542cf" /><Relationship Type="http://schemas.openxmlformats.org/officeDocument/2006/relationships/slideMaster" Target="/ppt/slideMasters/slideMaster1.xml" Id="Rdb9fe25c59a147d7" /><Relationship Type="http://schemas.openxmlformats.org/officeDocument/2006/relationships/notesMaster" Target="/ppt/notesMasters/notesMaster1.xml" Id="R24fcd0268a75415e" /><Relationship Type="http://schemas.openxmlformats.org/officeDocument/2006/relationships/presProps" Target="/ppt/presProps.xml" Id="R1f953a79aaf44be5" /><Relationship Type="http://schemas.openxmlformats.org/officeDocument/2006/relationships/tableStyles" Target="/ppt/tableStyles.xml" Id="R874a9b7676684629" /><Relationship Type="http://schemas.openxmlformats.org/officeDocument/2006/relationships/slide" Target="/ppt/slides/slide1.xml" Id="Rcea9adf7837e4bc3" /><Relationship Type="http://schemas.openxmlformats.org/officeDocument/2006/relationships/slide" Target="/ppt/slides/slide2.xml" Id="Rf5d93ae66b5b4c27" /><Relationship Type="http://schemas.openxmlformats.org/officeDocument/2006/relationships/slide" Target="/ppt/slides/slide3.xml" Id="R0cd9fa9e67a04b89" /><Relationship Type="http://schemas.openxmlformats.org/officeDocument/2006/relationships/slide" Target="/ppt/slides/slide4.xml" Id="R1fde1d7d236c48b9" /><Relationship Type="http://schemas.openxmlformats.org/officeDocument/2006/relationships/slide" Target="/ppt/slides/slide5.xml" Id="R5549924c09b34a19" /><Relationship Type="http://schemas.openxmlformats.org/officeDocument/2006/relationships/slide" Target="/ppt/slides/slide6.xml" Id="R12cb132e1eaa448a" /><Relationship Type="http://schemas.openxmlformats.org/officeDocument/2006/relationships/slide" Target="/ppt/slides/slide7.xml" Id="R197d2a353ca346a3" /><Relationship Type="http://schemas.openxmlformats.org/officeDocument/2006/relationships/slide" Target="/ppt/slides/slide8.xml" Id="Rf350478638da461f" /><Relationship Type="http://schemas.openxmlformats.org/officeDocument/2006/relationships/slide" Target="/ppt/slides/slide9.xml" Id="R1aeceafc34ae45fc" /><Relationship Type="http://schemas.openxmlformats.org/officeDocument/2006/relationships/slide" Target="/ppt/slides/slide10.xml" Id="Rd2d63cb2efa04a7d" /><Relationship Type="http://schemas.openxmlformats.org/officeDocument/2006/relationships/slide" Target="/ppt/slides/slide11.xml" Id="Rc0b72e3abb9b48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358e17a97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18fe59b2b4d1c" /><Relationship Type="http://schemas.openxmlformats.org/officeDocument/2006/relationships/notesMaster" Target="/ppt/notesMasters/notesMaster1.xml" Id="Rbc8cfa1225494e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911010b104ae3" /><Relationship Type="http://schemas.openxmlformats.org/officeDocument/2006/relationships/notesMaster" Target="/ppt/notesMasters/notesMaster1.xml" Id="Re66c6cbc3237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d37b3fb9648ee" /><Relationship Type="http://schemas.openxmlformats.org/officeDocument/2006/relationships/notesMaster" Target="/ppt/notesMasters/notesMaster1.xml" Id="R3d8aa829edb04e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b2bc12dfe54892" /><Relationship Type="http://schemas.openxmlformats.org/officeDocument/2006/relationships/notesMaster" Target="/ppt/notesMasters/notesMaster1.xml" Id="R2db0d9b39839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3b6d89cea2405c" /><Relationship Type="http://schemas.openxmlformats.org/officeDocument/2006/relationships/notesMaster" Target="/ppt/notesMasters/notesMaster1.xml" Id="Ree96543142aa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1bdf2c60f4572" /><Relationship Type="http://schemas.openxmlformats.org/officeDocument/2006/relationships/notesMaster" Target="/ppt/notesMasters/notesMaster1.xml" Id="Rdf68d8b738b5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8ed1bf38a94950" /><Relationship Type="http://schemas.openxmlformats.org/officeDocument/2006/relationships/notesMaster" Target="/ppt/notesMasters/notesMaster1.xml" Id="R0e29a987bb6148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fde7ddb4ea49e3" /><Relationship Type="http://schemas.openxmlformats.org/officeDocument/2006/relationships/notesMaster" Target="/ppt/notesMasters/notesMaster1.xml" Id="Ra37fa666877541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e1c598315e41c0" /><Relationship Type="http://schemas.openxmlformats.org/officeDocument/2006/relationships/notesMaster" Target="/ppt/notesMasters/notesMaster1.xml" Id="R06b6047e697645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8ca0a5b824737" /><Relationship Type="http://schemas.openxmlformats.org/officeDocument/2006/relationships/notesMaster" Target="/ppt/notesMasters/notesMaster1.xml" Id="Rd1057b6b2e6c4e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0a90c178454b4e" /><Relationship Type="http://schemas.openxmlformats.org/officeDocument/2006/relationships/notesMaster" Target="/ppt/notesMasters/notesMaster1.xml" Id="R6d7c75d195374d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bdc1da102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f13be5a154126" /><Relationship Type="http://schemas.openxmlformats.org/officeDocument/2006/relationships/slideLayout" Target="/ppt/slideLayouts/slideLayout1.xml" Id="R342700e833c4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700e833c4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a194d11194490" /><Relationship Type="http://schemas.openxmlformats.org/officeDocument/2006/relationships/notesSlide" Target="/ppt/notesSlides/notesSlide1.xml" Id="R8930b74d82e5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15571da0346c3" /><Relationship Type="http://schemas.openxmlformats.org/officeDocument/2006/relationships/notesSlide" Target="/ppt/notesSlides/notesSlide2.xml" Id="Rf348470412464c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60f12c4a04bd8" /><Relationship Type="http://schemas.openxmlformats.org/officeDocument/2006/relationships/notesSlide" Target="/ppt/notesSlides/notesSlide3.xml" Id="R815cd3e22691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6869a590a4898" /><Relationship Type="http://schemas.openxmlformats.org/officeDocument/2006/relationships/notesSlide" Target="/ppt/notesSlides/notesSlide4.xml" Id="Raaebb33f7936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5e4a258a04de0" /><Relationship Type="http://schemas.openxmlformats.org/officeDocument/2006/relationships/notesSlide" Target="/ppt/notesSlides/notesSlide5.xml" Id="Rc114c9e27d854c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0b2d6bca4585" /><Relationship Type="http://schemas.openxmlformats.org/officeDocument/2006/relationships/notesSlide" Target="/ppt/notesSlides/notesSlide6.xml" Id="R9e2d199c4def4c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cc52510f549b8" /><Relationship Type="http://schemas.openxmlformats.org/officeDocument/2006/relationships/notesSlide" Target="/ppt/notesSlides/notesSlide7.xml" Id="Rfb467b04322845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f9a81a70a4cba" /><Relationship Type="http://schemas.openxmlformats.org/officeDocument/2006/relationships/notesSlide" Target="/ppt/notesSlides/notesSlide8.xml" Id="R3a0cfd0ebf04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3fec17e44e17" /><Relationship Type="http://schemas.openxmlformats.org/officeDocument/2006/relationships/notesSlide" Target="/ppt/notesSlides/notesSlide9.xml" Id="Rdbf6048719e44c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825c9d054460d" /><Relationship Type="http://schemas.openxmlformats.org/officeDocument/2006/relationships/notesSlide" Target="/ppt/notesSlides/notesSlide10.xml" Id="R8acf6d07104444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8592824f94e3b" /><Relationship Type="http://schemas.openxmlformats.org/officeDocument/2006/relationships/notesSlide" Target="/ppt/notesSlides/notesSlide11.xml" Id="R02ff4eaea3bb4b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7F9F4-7BEF-4800-8CE6-28570BB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solidFill>
              <a:srgbClr val="F7B3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D29BF-BEBD-4921-9EA9-9F18181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CFF2"/>
                </a:solidFill>
              </a:defRPr>
            </a:pPr>
            <a:r>
              <a:rPr sz="1350" b="1">
                <a:solidFill>
                  <a:srgbClr val="A9CFF2"/>
                </a:solidFill>
              </a:rPr>
              <a:t>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10D08-5D8D-46F9-B5D8-76324C6B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Az elektromos áram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9F17B-764C-4F8F-A33E-F66DEFB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FE8FF"/>
                </a:solidFill>
              </a:defRPr>
            </a:pPr>
            <a:r>
              <a:rPr sz="2175" b="0">
                <a:solidFill>
                  <a:srgbClr val="CFE8FF"/>
                </a:solidFill>
              </a:rPr>
              <a:t>Az áramerősség és az első árammérés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82036-5A88-4A4C-AC0B-045E0D0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71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1A8C4-A49E-472C-B699-6DD439C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3. HÉT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E4DB9-25FF-4633-8756-8338BCD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766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5F89"/>
          </a:solidFill>
          <a:ln xmlns:a="http://schemas.openxmlformats.org/drawingml/2006/main" w="9525">
            <a:solidFill>
              <a:srgbClr val="2E5F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7E72-5105-414A-B3E6-75F5CCC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52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 × 45 PERC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71B46-7B4F-4237-BF6D-08157885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villamos energia akkor válik hasznossá, amikor a töltések mozgásba kezdenek.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B72D-2377-4ADB-BCAE-FB79915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CFF2"/>
                </a:solidFill>
              </a:defRPr>
            </a:pPr>
            <a:r>
              <a:rPr sz="1050" b="0">
                <a:solidFill>
                  <a:srgbClr val="A9CFF2"/>
                </a:solidFill>
              </a:rPr>
              <a:t>IAP • Integrált Automatika Program • 10. évfolyam</a:t>
            </a:r>
          </a:p>
        </p:txBody>
      </p:sp>
    </p:spTree>
    <p:extLst>
      <p:ext uri="{BB962C8B-B14F-4D97-AF65-F5344CB8AC3E}">
        <p14:creationId xmlns:p14="http://schemas.microsoft.com/office/powerpoint/2010/main" val="1262458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E8522-93D2-43AE-8559-3B0E392B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4C52B-700C-4A13-819F-0030E663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7D4D-834A-48D0-949A-EC732BB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C9C58-9B38-4387-B65D-36F8E938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Mi történik a vezetékben, amikor felkapcsoljuk a lámpát?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CD038-6255-46F1-BC65-61F00C5A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96AFA-C5DF-40EC-8B3D-C407883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B6CE2-FE6F-491D-96C9-D959ABD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2FF53-0C19-48F2-A438-4CF357A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NYITOTT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B3CC7-EDC3-4669-BE96-C0320E7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7086"/>
                </a:solidFill>
              </a:defRPr>
            </a:pPr>
            <a:r>
              <a:rPr sz="2025" b="0">
                <a:solidFill>
                  <a:srgbClr val="587086"/>
                </a:solidFill>
              </a:rPr>
              <a:t>nincs folytonos út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99F82-EFD0-4B00-88CB-77A2E3A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42318"/>
                </a:solidFill>
              </a:defRPr>
            </a:pPr>
            <a:r>
              <a:rPr sz="3000" b="1">
                <a:solidFill>
                  <a:srgbClr val="B42318"/>
                </a:solidFill>
              </a:rPr>
              <a:t>áram: 0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663EA-6279-4DBD-9A42-C9B8100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BF741-26FF-45C8-923A-4733761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ZÁRT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036B7-0EE9-461B-8DE5-FA8795BD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7086"/>
                </a:solidFill>
              </a:defRPr>
            </a:pPr>
            <a:r>
              <a:rPr sz="2025" b="0">
                <a:solidFill>
                  <a:srgbClr val="587086"/>
                </a:solidFill>
              </a:rPr>
              <a:t>folytonos vezető út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93E64-1ED8-4C36-98BD-43A7D9A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39B73"/>
                </a:solidFill>
              </a:defRPr>
            </a:pPr>
            <a:r>
              <a:rPr sz="2325" b="1">
                <a:solidFill>
                  <a:srgbClr val="239B73"/>
                </a:solidFill>
              </a:rPr>
              <a:t>töltések rendezett mozgása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41F94-D2B4-43BC-BE8E-D6D86BF7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Az elektromos áram rendezett töltésmozgás.</a:t>
            </a:r>
          </a:p>
        </p:txBody>
      </p:sp>
    </p:spTree>
    <p:extLst>
      <p:ext uri="{BB962C8B-B14F-4D97-AF65-F5344CB8AC3E}">
        <p14:creationId xmlns:p14="http://schemas.microsoft.com/office/powerpoint/2010/main" val="386153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B7A7F-3F08-44B2-9580-EDB04AAB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B1428-F147-4ADE-925F-FBEE714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82FE1-4ED5-433E-BF63-EA4C7A66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44E88-006F-4A11-9CB5-2F6062A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Három feltétel együtt hozza létre az elektromos áramot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DE3FE-B918-418D-8F8B-12DB53E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F1CD6-CBC6-4C11-80C2-595EA96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33F5C-7C51-4F25-8C49-677DB2A5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FA109-564D-4185-B508-F9A30EE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4312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F840-DEB6-4153-AA64-AFBCA0F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TÖLTÉSHORDOZÓ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D1667-E3A3-41B1-87C2-A368AE12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fémben: elektron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A3CA9-99B7-464A-BE87-AE9928F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83F6E-7990-446D-B649-C3DF1757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B166D-C38B-4070-84B5-73397793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FESZÜLTSÉG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99337-CCB1-4F7F-9A0F-A73846A2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mozgató elektromos tér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A0E6-1C85-403D-BC09-2E813D2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703D0-2C9D-4D90-8B8F-27CD989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976D2"/>
                </a:solidFill>
              </a:defRPr>
            </a:pPr>
            <a:r>
              <a:rPr sz="3900" b="1">
                <a:solidFill>
                  <a:srgbClr val="1976D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717CD-57FD-4DA1-A7D4-AE24950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ZÁRT ÚT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E0CBF-66BD-45F9-813A-2EE835E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folyamatos áramkör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1493F-27E6-491A-BCC0-A25BB09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768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55B"/>
                </a:solidFill>
              </a:defRPr>
            </a:pPr>
            <a:r>
              <a:rPr sz="2025" b="1">
                <a:solidFill>
                  <a:srgbClr val="12355B"/>
                </a:solidFill>
              </a:rPr>
              <a:t>Ha bármelyik feltétel hiányzik, nem folyik áram.</a:t>
            </a:r>
          </a:p>
        </p:txBody>
      </p:sp>
    </p:spTree>
    <p:extLst>
      <p:ext uri="{BB962C8B-B14F-4D97-AF65-F5344CB8AC3E}">
        <p14:creationId xmlns:p14="http://schemas.microsoft.com/office/powerpoint/2010/main" val="205807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9E192-F513-4D78-9FF1-D574A663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CBC8C-4D29-4A02-A1E7-597D1367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CE6EA-34DB-45CE-A9B0-FB7CDFC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08DC8-9153-4340-8615-0C84B1C2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hagyományos áramirány ellentétes az elektronok mozgásával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BFEA1-9659-4073-B41A-A76BC20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8E1C4-D999-43B7-A089-C9EBB8CB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9AADA-EC93-44EF-B597-61C1EACD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A1F3-FB99-4D5E-9529-4FF8557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9687A-8E36-4CB5-BEA1-3E363D7D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955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</a:defRPr>
            </a:pPr>
            <a:r>
              <a:rPr sz="2325" b="1">
                <a:solidFill>
                  <a:srgbClr val="12355B"/>
                </a:solidFill>
              </a:rPr>
              <a:t>HAGYOMÁNYOS ÁRAMIRÁNY     → → → →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EB710-47DA-47D2-B10C-B5FF56B4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976D2"/>
                </a:solidFill>
              </a:defRPr>
            </a:pPr>
            <a:r>
              <a:rPr sz="3150" b="1">
                <a:solidFill>
                  <a:srgbClr val="1976D2"/>
                </a:solidFill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8A564-A7C6-4852-AD22-DE1FF75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C3FAA-7112-410F-A4D3-2BCAC82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748D7-5BB1-4A07-AB04-0D30DABE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</a:defRPr>
            </a:pPr>
            <a:r>
              <a:rPr sz="2325" b="1">
                <a:solidFill>
                  <a:srgbClr val="12355B"/>
                </a:solidFill>
              </a:rPr>
              <a:t>ELEKTRONÁRAMLÁS             ← ← ← ← 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E148A-8B27-4E4E-AAB7-967A48FB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976D2"/>
                </a:solidFill>
              </a:defRPr>
            </a:pPr>
            <a:r>
              <a:rPr sz="3150" b="1">
                <a:solidFill>
                  <a:srgbClr val="1976D2"/>
                </a:solidFill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9DFAA-C702-49F1-B792-55E71309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Rajzokon és számításokban a hagyományos áramirányt használjuk.</a:t>
            </a:r>
          </a:p>
        </p:txBody>
      </p:sp>
    </p:spTree>
    <p:extLst>
      <p:ext uri="{BB962C8B-B14F-4D97-AF65-F5344CB8AC3E}">
        <p14:creationId xmlns:p14="http://schemas.microsoft.com/office/powerpoint/2010/main" val="1013015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D9E14-BB7D-46BE-8C8A-EF3A700B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082BE-DDF9-4BA4-9BEB-F42624B2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DB58F-8305-468B-980D-37BB4C2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BA9F7-1E71-4A5E-B9EF-BF079E44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áramerősség megmutatja, mennyi töltés halad át időegység alatt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E9B4F-A6BB-48E2-A553-00127C1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92392-832A-4C0B-9689-511ECA40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94CB5-B484-477A-AC09-D1473E16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8001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CC7EF-C24F-4CFC-9C17-5108062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2355B"/>
                </a:solidFill>
              </a:defRPr>
            </a:pPr>
            <a:r>
              <a:rPr sz="3300" b="1">
                <a:solidFill>
                  <a:srgbClr val="12355B"/>
                </a:solidFill>
              </a:rPr>
              <a:t>I = Q / 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64333-DD56-4360-84A7-D9BECD04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EED9A-3E00-4981-9204-8564F22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71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976D2"/>
                </a:solidFill>
              </a:defRPr>
            </a:pPr>
            <a:r>
              <a:rPr sz="3450" b="1">
                <a:solidFill>
                  <a:srgbClr val="1976D2"/>
                </a:solidFill>
              </a:rPr>
              <a:t>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87EE3-096D-4E3C-9D73-14412AE7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áramerősség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3771A-CF9C-4B63-82E2-7F452DF0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amper (A)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10982-BE6C-4FCC-A017-8B0FEFF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384F7-A591-4921-9779-759BB473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71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976D2"/>
                </a:solidFill>
              </a:defRPr>
            </a:pPr>
            <a:r>
              <a:rPr sz="3450" b="1">
                <a:solidFill>
                  <a:srgbClr val="1976D2"/>
                </a:solidFill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9F0BD-AC8E-490A-9724-1B5F9FE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33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töltés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F619D-3586-4F14-9C5F-09EF6604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coulomb (C)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8C44A-9AA1-402C-8673-18D960A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D602C-D799-4235-A7B8-43CEA7C8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71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976D2"/>
                </a:solidFill>
              </a:defRPr>
            </a:pPr>
            <a:r>
              <a:rPr sz="3450" b="1">
                <a:solidFill>
                  <a:srgbClr val="1976D2"/>
                </a:solidFill>
              </a:rPr>
              <a:t>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4E1E3-FFB4-49AC-86C5-691733F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idő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56B21-981B-40B6-8590-5B65536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086"/>
                </a:solidFill>
              </a:defRPr>
            </a:pPr>
            <a:r>
              <a:rPr sz="1500" b="0">
                <a:solidFill>
                  <a:srgbClr val="587086"/>
                </a:solidFill>
              </a:rPr>
              <a:t>másodperc (s)</a:t>
            </a:r>
          </a:p>
        </p:txBody>
      </p:sp>
    </p:spTree>
    <p:extLst>
      <p:ext uri="{BB962C8B-B14F-4D97-AF65-F5344CB8AC3E}">
        <p14:creationId xmlns:p14="http://schemas.microsoft.com/office/powerpoint/2010/main" val="582287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A8CF7-C593-4670-A1CA-7D0A20B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0C83F-FE97-40ED-AC85-9903CB86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78280-B0DC-4A21-B90C-A773F69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BF7EC-BDE8-4ABF-AD31-1A583A2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Volta első tartós áramforrása megnyitotta az utat a mérésekhez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A80A8-94ED-44E0-A8C8-C36AC15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4A764-9A55-49A3-B1C3-56DEC04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188A7-81A1-419F-BBA1-4360BA0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976D2"/>
                </a:solidFill>
              </a:defRPr>
            </a:pPr>
            <a:r>
              <a:rPr sz="4800" b="1">
                <a:solidFill>
                  <a:srgbClr val="1976D2"/>
                </a:solidFill>
              </a:rPr>
              <a:t>1800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99AE-18B5-4644-AD68-77390A0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VOLTA-OSZLOP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B2379-E220-4A3B-9B25-805E7E5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7086"/>
                </a:solidFill>
              </a:defRPr>
            </a:pPr>
            <a:r>
              <a:rPr sz="1800" b="0">
                <a:solidFill>
                  <a:srgbClr val="587086"/>
                </a:solidFill>
              </a:rPr>
              <a:t>folyamatos egyenáramú áramforrás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6D250-6107-41D7-AF45-61C1FDA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6191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9BC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4F080-C6F6-4632-BDCA-5455741F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787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CD17E-81E7-47EA-ADA0-FE2CC6E9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478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tartósan vizsgálható elektromos jelenségek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76F0A-8B13-41E1-810D-DE508EB1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8605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8CF53-F11D-47D8-B9EA-1B3D787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az áramkörök tudományos kutatása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28AEA-3D2E-4508-9AC8-8747B969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242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D9576-D45E-420F-8DEB-C5F7D9C1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2422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az elektrokémia fejlődése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2A504-3CEE-4ADE-A12B-6DEFB52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624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6183F-5F9F-48C9-A573-1676C402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624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a volt (V) Volta nevét őrzi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8DAE7-826B-4A70-B88B-864C181F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Alessandro Volta • 1745–1827</a:t>
            </a:r>
          </a:p>
        </p:txBody>
      </p:sp>
    </p:spTree>
    <p:extLst>
      <p:ext uri="{BB962C8B-B14F-4D97-AF65-F5344CB8AC3E}">
        <p14:creationId xmlns:p14="http://schemas.microsoft.com/office/powerpoint/2010/main" val="1457055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5F257-30BD-41E5-A5C2-2B14001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838B6-044D-4EE2-9617-F50EED4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CA957-CA98-4E71-8B45-678E3A1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F7E1-FD04-461A-B63B-BF6656F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ampermérő mindig az áram útjába kerül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DB5DE-4056-4479-975A-9564B2FC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76D2"/>
                </a:solidFill>
              </a:defRPr>
            </a:pPr>
            <a:r>
              <a:rPr sz="1350" b="0">
                <a:solidFill>
                  <a:srgbClr val="1976D2"/>
                </a:solidFill>
              </a:rPr>
              <a:t>Sorosan kötjük, hogy ugyanaz az áram folyjon át rajta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47132-9F2A-4213-B1AC-E13E345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78303-7D5C-45A6-81D1-BF93DD69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DFF34-CFFF-4DC3-806F-F8380593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5D9-31F7-4C9A-983E-98A27B5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FORRÁS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B302A-25CA-48F8-918B-29E534F5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CEC8E-93E6-457F-9D45-DA8382EB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860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8F0E3-69A5-45F0-8563-C4F8C175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KAPCSOLÓ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2D246-D44E-4EDF-9C33-F1A51BE6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32EC3-7504-4715-89C3-1EEDCBC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B0E47-C7EF-4B82-B357-0F6B655E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976D2"/>
                </a:solidFill>
              </a:defRPr>
            </a:pPr>
            <a:r>
              <a:rPr sz="2850" b="1">
                <a:solidFill>
                  <a:srgbClr val="1976D2"/>
                </a:solidFill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7EFE9-6224-499B-BDB3-9BD22D0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0B7FD-A3B5-4218-A45F-4818977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BAFBD-881E-4C7D-8A43-774F4D8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ELLENÁLLÁS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6D1B6-2A86-486F-A846-A1AE342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16E19-8381-4925-9FAE-D5B183FA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2B0D7-ABA9-4235-BB19-AA31901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C4D6F-E604-4F22-BDA3-AFB3A9BF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895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8B2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BA532-700B-4AB3-A488-9307F07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672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D4C00"/>
                </a:solidFill>
              </a:defRPr>
            </a:pPr>
            <a:r>
              <a:rPr sz="1800" b="1">
                <a:solidFill>
                  <a:srgbClr val="6D4C00"/>
                </a:solidFill>
              </a:rPr>
              <a:t>Árammérő módban a műszert tilos közvetlenül a forrás két pólusára kapcsolni.</a:t>
            </a:r>
          </a:p>
        </p:txBody>
      </p:sp>
    </p:spTree>
    <p:extLst>
      <p:ext uri="{BB962C8B-B14F-4D97-AF65-F5344CB8AC3E}">
        <p14:creationId xmlns:p14="http://schemas.microsoft.com/office/powerpoint/2010/main" val="764603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C46C8-649A-4461-A9B1-B82B3B2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76E39-F251-4EFF-ADBA-C1779D5C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D0C22-1160-4C59-8BAB-744E817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6AA58-99F5-4532-BB52-FD98CBB9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 biztonságos árammérés öt ellenőrzéssel kezdődik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A148F-899C-4B56-A6E6-7989C73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BE42-A5B7-4C64-A588-E1BE94EA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17844-6B25-46A0-9F42-517EEF0E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000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CE8AF-2AB4-4D6D-A86F-78D7E2D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CB601-36C4-40A9-9374-74C779A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1657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Kikapcsolt állapot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386E2-70E7-4398-8049-BD2376B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713F7-F826-4E0A-83E4-D654C51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00250"/>
            <a:ext cx="2000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E1F27-8E55-4DFC-AC91-3A201BD7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BFFD6-D197-46A6-BA21-AD13B89C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38500"/>
            <a:ext cx="1657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Soros bekötés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4D27D-4713-4B39-A0BD-0B59249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E292-B5AC-4278-A270-E425FAE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2000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2AEF4-013C-4C8D-B7C7-BDA4A9E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03A91-9956-44AD-B203-E3091753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38500"/>
            <a:ext cx="1657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A/mA aljzat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470A3-E285-4553-934C-EF0D47F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C52F6-005F-4CB1-B6DF-558E27C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2000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3578B-5B61-46BB-94AA-F1B42057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AB398-30CB-47AF-942A-972C81B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38500"/>
            <a:ext cx="1657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Legnagyobb tartomány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C7E29-3D1B-4124-A57E-BB24F6AC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575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7086"/>
                </a:solidFill>
              </a:defRPr>
            </a:pPr>
            <a:r>
              <a:rPr sz="2250" b="1">
                <a:solidFill>
                  <a:srgbClr val="587086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E75CB-96DD-4538-A94B-FFAE3B02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00250"/>
            <a:ext cx="2000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7FC6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5BEDE-CA43-47A2-A628-5FF821B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39B73"/>
                </a:solidFill>
              </a:defRPr>
            </a:pPr>
            <a:r>
              <a:rPr sz="3300" b="1">
                <a:solidFill>
                  <a:srgbClr val="239B73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F4057-1553-41E7-94CA-AA7F48EF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38500"/>
            <a:ext cx="1657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55B"/>
                </a:solidFill>
              </a:defRPr>
            </a:pPr>
            <a:r>
              <a:rPr sz="1575" b="1">
                <a:solidFill>
                  <a:srgbClr val="12355B"/>
                </a:solidFill>
              </a:rPr>
              <a:t>Csak ezután bekapcsolás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B58FF-0367-484E-9A6D-5A7C228C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8162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42318"/>
                </a:solidFill>
              </a:defRPr>
            </a:pPr>
            <a:r>
              <a:rPr sz="2025" b="1">
                <a:solidFill>
                  <a:srgbClr val="B42318"/>
                </a:solidFill>
              </a:rPr>
              <a:t>Kapcsolást csak feszültségmentes állapotban módosítunk.</a:t>
            </a:r>
          </a:p>
        </p:txBody>
      </p:sp>
    </p:spTree>
    <p:extLst>
      <p:ext uri="{BB962C8B-B14F-4D97-AF65-F5344CB8AC3E}">
        <p14:creationId xmlns:p14="http://schemas.microsoft.com/office/powerpoint/2010/main" val="2079806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9B4BD-3217-46D1-A51E-F9FA0D2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B092A-BC8C-4663-813C-9A6ADF0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0B41-5F3E-4C97-9426-7008DD4D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8F5CC-C2B9-4349-B0B4-27CED372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előtétellenállás korlátozza az áramot és védi a LED-et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7AC35-A13F-4F28-8CA4-BFA17EC1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6005C-3A51-4634-981B-C5F58078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3EFF-BF11-452E-8E87-A3E4BDE5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56299-CFA1-4AF0-9BBF-47B2A303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976D2"/>
                </a:solidFill>
              </a:defRPr>
            </a:pPr>
            <a:r>
              <a:rPr sz="2850" b="1">
                <a:solidFill>
                  <a:srgbClr val="1976D2"/>
                </a:solidFill>
              </a:rPr>
              <a:t>330 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C93AB-8D89-4467-A1BB-517338F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nagyobb áram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2ECC2-39F2-4525-9E7E-FBEFDE2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erősebb fény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6221B-FE71-4FDC-B3E7-AC0DA80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7B3E2-5C11-4D22-97FB-12718836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976D2"/>
                </a:solidFill>
              </a:defRPr>
            </a:pPr>
            <a:r>
              <a:rPr sz="2850" b="1">
                <a:solidFill>
                  <a:srgbClr val="1976D2"/>
                </a:solidFill>
              </a:rPr>
              <a:t>680 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979A9-7DD4-4719-9EFB-C9D8671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közepes áram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C523F-0DF9-4880-8739-2F30938B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közepes fény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2944E-CCA7-4036-AA2C-6B75465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29DC7-36DA-419D-9C12-FEBB618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976D2"/>
                </a:solidFill>
              </a:defRPr>
            </a:pPr>
            <a:r>
              <a:rPr sz="2850" b="1">
                <a:solidFill>
                  <a:srgbClr val="1976D2"/>
                </a:solidFill>
              </a:rPr>
              <a:t>1 kΩ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FCF15-A62D-407A-A975-E15EA8D4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38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55B"/>
                </a:solidFill>
              </a:defRPr>
            </a:pPr>
            <a:r>
              <a:rPr sz="1950" b="1">
                <a:solidFill>
                  <a:srgbClr val="12355B"/>
                </a:solidFill>
              </a:rPr>
              <a:t>kisebb áram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FBA76-7B98-4A29-B72E-28A77FE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7086"/>
                </a:solidFill>
              </a:defRPr>
            </a:pPr>
            <a:r>
              <a:rPr sz="1725" b="0">
                <a:solidFill>
                  <a:srgbClr val="587086"/>
                </a:solidFill>
              </a:rPr>
              <a:t>gyengébb fény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9B28F-77BE-4BE1-8AD2-D7BDB0D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</a:defRPr>
            </a:pPr>
            <a:r>
              <a:rPr sz="2175" b="1">
                <a:solidFill>
                  <a:srgbClr val="12355B"/>
                </a:solidFill>
              </a:rPr>
              <a:t>Nagyobb ellenállás → kisebb áramerősség</a:t>
            </a:r>
          </a:p>
        </p:txBody>
      </p:sp>
    </p:spTree>
    <p:extLst>
      <p:ext uri="{BB962C8B-B14F-4D97-AF65-F5344CB8AC3E}">
        <p14:creationId xmlns:p14="http://schemas.microsoft.com/office/powerpoint/2010/main" val="1274219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B2882-CB24-4193-B702-C8A85807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DC882-D64C-42C0-BE58-632BEA5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7343C-B1C4-4C3A-BF91-191E73F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BDCDA-408C-43C1-81D8-DC05BC7E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Az árammérés az ipari hibakeresés egyik alapja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29FD9-0338-4F8F-AC9A-A529E82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2D3D7-8CC0-4CF9-93E7-AF82AE54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05C4D-2B79-466F-AE7B-7CA89BA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98F4A-F2DA-45F6-A1B3-B8EE4FA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6C42B-C623-4AA9-96DA-E5BA7EE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247"/>
                </a:solidFill>
              </a:defRPr>
            </a:pPr>
            <a:r>
              <a:rPr sz="1950" b="0">
                <a:solidFill>
                  <a:srgbClr val="183247"/>
                </a:solidFill>
              </a:rPr>
              <a:t>túlterhelés vagy mechanikai szorulás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8159E-A6A4-4149-8D08-DA1A281E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17E0-68E0-48D4-96FA-1F45CF0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TÁPEGYSÉG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0E173-8919-4FF2-8725-E238060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247"/>
                </a:solidFill>
              </a:defRPr>
            </a:pPr>
            <a:r>
              <a:rPr sz="1950" b="0">
                <a:solidFill>
                  <a:srgbClr val="183247"/>
                </a:solidFill>
              </a:rPr>
              <a:t>rendellenes fogyasztás vagy zárlat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74E10-BBB7-4DE0-A624-022D64A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AAC7C-2360-4E55-AADB-C6F3E5DD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VEZÉRLÉS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611D2-8C72-4E35-B529-D98E16E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247"/>
                </a:solidFill>
              </a:defRPr>
            </a:pPr>
            <a:r>
              <a:rPr sz="1950" b="0">
                <a:solidFill>
                  <a:srgbClr val="183247"/>
                </a:solidFill>
              </a:rPr>
              <a:t>hibás kimenet vagy beavatkozó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B4129-460A-4150-8B2D-A60ABE9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9B73"/>
          </a:solidFill>
          <a:ln xmlns:a="http://schemas.openxmlformats.org/drawingml/2006/main" w="9525">
            <a:solidFill>
              <a:srgbClr val="239B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EC4A9-2946-42C9-9BF1-7BD9AED9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KARBANTARTÁS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E3C90-E329-4418-BB94-FE9239E4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767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247"/>
                </a:solidFill>
              </a:defRPr>
            </a:pPr>
            <a:r>
              <a:rPr sz="1950" b="1">
                <a:solidFill>
                  <a:srgbClr val="183247"/>
                </a:solidFill>
              </a:rPr>
              <a:t>névleges és mért érték összevetése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FC468-CC07-4613-A5CE-482CCAE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048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18BA4-B8A2-44C1-A6EF-066D34A4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435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mért áram önmagában adat; a névleges értékkel összevetve diagnózis.</a:t>
            </a:r>
          </a:p>
        </p:txBody>
      </p:sp>
    </p:spTree>
    <p:extLst>
      <p:ext uri="{BB962C8B-B14F-4D97-AF65-F5344CB8AC3E}">
        <p14:creationId xmlns:p14="http://schemas.microsoft.com/office/powerpoint/2010/main" val="1397315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68B06-0AAB-4139-BE64-43F74BA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A6F74-E238-4DB0-85FD-89200F9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IAP • 10. ÉVFOLYAM • VILLAMOS ALAPISMERETEK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ECBF-A666-4390-8C88-B784B96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C1EA-2658-4463-B410-5828E5D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55B"/>
                </a:solidFill>
              </a:defRPr>
            </a:pPr>
            <a:r>
              <a:rPr sz="2700" b="1">
                <a:solidFill>
                  <a:srgbClr val="12355B"/>
                </a:solidFill>
              </a:rPr>
              <a:t>Hat kérdésből kiderül, összeállt-e a kép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9DCB-56B9-4508-9D20-53714A9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21675-FAC2-4D0B-B60D-A114EB8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86"/>
                </a:solidFill>
              </a:defRPr>
            </a:pPr>
            <a:r>
              <a:rPr sz="900" b="0">
                <a:solidFill>
                  <a:srgbClr val="587086"/>
                </a:solidFill>
              </a:rPr>
              <a:t>3. hét • Az elektromos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D30C5-3F53-44BC-962A-E2C3702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05AC6-50AA-4019-9ADA-4E0477C7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 az elektromos áram?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2588F-7871-4BBF-98D2-D1BF705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AD545-2BDB-434E-BE28-B394775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Mely három feltétel szükséges a létrejöttéhez?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104F2-D005-43CE-B753-46011F5C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4FD18-D0F4-435D-B60A-A61118C3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98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 a különbség a két áramirány között?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94711-0D28-4FE6-AC88-2E76B1A9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25110-15E1-4030-99C6-A61CEBF3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Mit fejez ki az áramerősség?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D48AC-576C-474C-819C-51EA684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8E1F-172E-4AF0-BCED-F8CC66F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Miért kell az ampermérőt sorosan kötni?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25286-4544-4279-BD27-07166E3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</a:defRPr>
            </a:pPr>
            <a:r>
              <a:rPr sz="17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D8195-94E6-461E-B069-DDDD861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7"/>
                </a:solidFill>
              </a:defRPr>
            </a:pPr>
            <a:r>
              <a:rPr sz="1725" b="0">
                <a:solidFill>
                  <a:srgbClr val="183247"/>
                </a:solidFill>
              </a:rPr>
              <a:t>Mitől változott a LED áramfelvétele a gyakorlatban?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EE501-C641-46E1-87DC-A72016DD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F7543-B8E0-4D5A-B07E-D882810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9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Következő hét: a villamos feszültség</a:t>
            </a:r>
          </a:p>
        </p:txBody>
      </p:sp>
    </p:spTree>
    <p:extLst>
      <p:ext uri="{BB962C8B-B14F-4D97-AF65-F5344CB8AC3E}">
        <p14:creationId xmlns:p14="http://schemas.microsoft.com/office/powerpoint/2010/main" val="328276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2026-08-20T03:38:50.5260000Z</dcterms:created>
  <dcterms:modified xsi:type="dcterms:W3CDTF">2026-08-20T03:38:50.5260000Z</dcterms:modified>
</coreProperties>
</file>