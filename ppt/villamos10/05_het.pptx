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ffb543d4c54ddd" /><Relationship Type="http://schemas.openxmlformats.org/officeDocument/2006/relationships/extended-properties" Target="/docProps/app.xml" Id="Recd162a93fa4481d" /><Relationship Type="http://schemas.openxmlformats.org/officeDocument/2006/relationships/officeDocument" Target="/ppt/presentation.xml" Id="R03f4722563d34e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9f228fe6e94469"/>
  </p:sldMasterIdLst>
  <p:notesMasterIdLst>
    <p:notesMasterId xmlns:r="http://schemas.openxmlformats.org/officeDocument/2006/relationships" r:id="Rce4683a3f3424ea3"/>
  </p:notesMasterIdLst>
  <p:sldIdLst>
    <p:sldId xmlns:r="http://schemas.openxmlformats.org/officeDocument/2006/relationships" id="256" r:id="Raf6be0d6f89c40b5"/>
    <p:sldId xmlns:r="http://schemas.openxmlformats.org/officeDocument/2006/relationships" id="257" r:id="Rb83fe512766a4b4b"/>
    <p:sldId xmlns:r="http://schemas.openxmlformats.org/officeDocument/2006/relationships" id="258" r:id="Re3d67431efe04290"/>
    <p:sldId xmlns:r="http://schemas.openxmlformats.org/officeDocument/2006/relationships" id="259" r:id="R8f27cf412b004332"/>
    <p:sldId xmlns:r="http://schemas.openxmlformats.org/officeDocument/2006/relationships" id="260" r:id="R2a436b72c04245d8"/>
    <p:sldId xmlns:r="http://schemas.openxmlformats.org/officeDocument/2006/relationships" id="261" r:id="Ra370bc223cc346a0"/>
    <p:sldId xmlns:r="http://schemas.openxmlformats.org/officeDocument/2006/relationships" id="262" r:id="R644db4d596e54299"/>
    <p:sldId xmlns:r="http://schemas.openxmlformats.org/officeDocument/2006/relationships" id="263" r:id="R4a2e7807fe484381"/>
    <p:sldId xmlns:r="http://schemas.openxmlformats.org/officeDocument/2006/relationships" id="264" r:id="Rfc0340e77be24ed2"/>
    <p:sldId xmlns:r="http://schemas.openxmlformats.org/officeDocument/2006/relationships" id="265" r:id="R0a5f91b7943547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3acb32648448f1" /><Relationship Type="http://schemas.openxmlformats.org/officeDocument/2006/relationships/slideMaster" Target="/ppt/slideMasters/slideMaster1.xml" Id="R339f228fe6e94469" /><Relationship Type="http://schemas.openxmlformats.org/officeDocument/2006/relationships/notesMaster" Target="/ppt/notesMasters/notesMaster1.xml" Id="Rce4683a3f3424ea3" /><Relationship Type="http://schemas.openxmlformats.org/officeDocument/2006/relationships/presProps" Target="/ppt/presProps.xml" Id="R6454b84ff265413e" /><Relationship Type="http://schemas.openxmlformats.org/officeDocument/2006/relationships/tableStyles" Target="/ppt/tableStyles.xml" Id="R3216dedf8ac64d82" /><Relationship Type="http://schemas.openxmlformats.org/officeDocument/2006/relationships/slide" Target="/ppt/slides/slide1.xml" Id="Raf6be0d6f89c40b5" /><Relationship Type="http://schemas.openxmlformats.org/officeDocument/2006/relationships/slide" Target="/ppt/slides/slide2.xml" Id="Rb83fe512766a4b4b" /><Relationship Type="http://schemas.openxmlformats.org/officeDocument/2006/relationships/slide" Target="/ppt/slides/slide3.xml" Id="Re3d67431efe04290" /><Relationship Type="http://schemas.openxmlformats.org/officeDocument/2006/relationships/slide" Target="/ppt/slides/slide4.xml" Id="R8f27cf412b004332" /><Relationship Type="http://schemas.openxmlformats.org/officeDocument/2006/relationships/slide" Target="/ppt/slides/slide5.xml" Id="R2a436b72c04245d8" /><Relationship Type="http://schemas.openxmlformats.org/officeDocument/2006/relationships/slide" Target="/ppt/slides/slide6.xml" Id="Ra370bc223cc346a0" /><Relationship Type="http://schemas.openxmlformats.org/officeDocument/2006/relationships/slide" Target="/ppt/slides/slide7.xml" Id="R644db4d596e54299" /><Relationship Type="http://schemas.openxmlformats.org/officeDocument/2006/relationships/slide" Target="/ppt/slides/slide8.xml" Id="R4a2e7807fe484381" /><Relationship Type="http://schemas.openxmlformats.org/officeDocument/2006/relationships/slide" Target="/ppt/slides/slide9.xml" Id="Rfc0340e77be24ed2" /><Relationship Type="http://schemas.openxmlformats.org/officeDocument/2006/relationships/slide" Target="/ppt/slides/slide10.xml" Id="R0a5f91b7943547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6dced9b6fe4f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68ffb5585a49cf" /><Relationship Type="http://schemas.openxmlformats.org/officeDocument/2006/relationships/notesMaster" Target="/ppt/notesMasters/notesMaster1.xml" Id="Rc703c3f3c4f846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e0728530e94d42" /><Relationship Type="http://schemas.openxmlformats.org/officeDocument/2006/relationships/notesMaster" Target="/ppt/notesMasters/notesMaster1.xml" Id="Rf9d0ffb38d2b48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23cf2bf7c9433d" /><Relationship Type="http://schemas.openxmlformats.org/officeDocument/2006/relationships/notesMaster" Target="/ppt/notesMasters/notesMaster1.xml" Id="R4db6f659cb6c4e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1fd9f1887144a7" /><Relationship Type="http://schemas.openxmlformats.org/officeDocument/2006/relationships/notesMaster" Target="/ppt/notesMasters/notesMaster1.xml" Id="R7d608b3e80d744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94b3afb9e04ed1" /><Relationship Type="http://schemas.openxmlformats.org/officeDocument/2006/relationships/notesMaster" Target="/ppt/notesMasters/notesMaster1.xml" Id="R29589a352eb84d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ce0128e8b841a3" /><Relationship Type="http://schemas.openxmlformats.org/officeDocument/2006/relationships/notesMaster" Target="/ppt/notesMasters/notesMaster1.xml" Id="R6cd48ad6947748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f05873b71c4f14" /><Relationship Type="http://schemas.openxmlformats.org/officeDocument/2006/relationships/notesMaster" Target="/ppt/notesMasters/notesMaster1.xml" Id="R7f97ef9b7d9e4b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91d14df90c453c" /><Relationship Type="http://schemas.openxmlformats.org/officeDocument/2006/relationships/notesMaster" Target="/ppt/notesMasters/notesMaster1.xml" Id="Rdebb580b454b45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1b6fb70ee64bae" /><Relationship Type="http://schemas.openxmlformats.org/officeDocument/2006/relationships/notesMaster" Target="/ppt/notesMasters/notesMaster1.xml" Id="R42d8b6c35b0446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8d3252c7494302" /><Relationship Type="http://schemas.openxmlformats.org/officeDocument/2006/relationships/notesMaster" Target="/ppt/notesMasters/notesMaster1.xml" Id="R0b7b030e37b846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témát ne képlettel kezdjük. Induljunk a megfigyelésből: miért világít eltérően két azonos LED?</a:t>
            </a:r>
          </a:p>
          <a:p xmlns:a="http://schemas.openxmlformats.org/drawingml/2006/main">
            <a:r>
              <a:t>Heti cél: az ellenállás szerepének megértése és az Ohm-törvény alapgondolatának felfedezése.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- 05.Ellenallas_es_Ohm_torvenye_.docx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Mutasd be a két áramkört, de még ne írd fel a képletet.</a:t>
            </a:r>
          </a:p>
          <a:p xmlns:a="http://schemas.openxmlformats.org/drawingml/2006/main">
            <a:r>
              <a:t>Kérdés: Ha a 9 V-os elem és a LED azonos, mi változott meg?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- 05.Ellenallas_es_Ohm_torvenye_.docx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Vezesd be az R jelet és az ohm mértékegységet.</a:t>
            </a:r>
          </a:p>
          <a:p xmlns:a="http://schemas.openxmlformats.org/drawingml/2006/main">
            <a:r>
              <a:t>Az összefüggést először szavakkal rögzítsük.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- 05.Ellenallas_es_Ohm_torvenye_.docx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Rövid történelmi blokk. A hangsúly azon legyen, hogy Ohm kísérleti kapcsolatot fogalmazott meg, nem pusztán egy képletet.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- 05.Ellenallas_es_Ohm_torvenye_.docx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jelenik meg először a képlet, miután a tanulók a kísérletből már értik a kapcsolatot.</a:t>
            </a:r>
          </a:p>
          <a:p xmlns:a="http://schemas.openxmlformats.org/drawingml/2006/main">
            <a:r>
              <a:t>Emeld ki a kΩ → Ω és mA → A átváltást.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- 05.Ellenallas_es_Ohm_torvenye_.docx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Haladj lépésenként: adatok, átváltás, képlet, helyettesítés, eredmény, válasz.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- 05.Ellenallas_es_Ohm_torvenye_.docx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tanulók először becsüljék meg, melyik körben várnak nagyobb áramot.</a:t>
            </a:r>
          </a:p>
          <a:p xmlns:a="http://schemas.openxmlformats.org/drawingml/2006/main">
            <a:r>
              <a:t>Átépítés csak leválasztott feszültségforrás mellett.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- 05.Ellenallas_es_Ohm_torvenye_.docx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Ezt a diát ne siessük el. A LED közvetlen bekötése tiltott.</a:t>
            </a:r>
          </a:p>
          <a:p xmlns:a="http://schemas.openxmlformats.org/drawingml/2006/main">
            <a:r>
              <a:t>Hálózati feszültséget a tanulói kísérletben nem használunk.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- 05.Ellenallas_es_Ohm_torvenye_.docx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Kapcsold a tanultakat a műhelyben és ipari berendezésekben látott alkatrészekhez.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- 05.Ellenallas_es_Ohm_torvenye_.docx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Zárásként kérj rövid tanulói összefoglalást.</a:t>
            </a:r>
          </a:p>
          <a:p xmlns:a="http://schemas.openxmlformats.org/drawingml/2006/main">
            <a:r>
              <a:t>Következő héten számítási és mérési feladatokban alkalmazzuk az Ohm-törvényt.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- 05.Ellenallas_es_Ohm_torvenye_.docx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ec2551c8245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1f448d9a6e4752" /><Relationship Type="http://schemas.openxmlformats.org/officeDocument/2006/relationships/slideLayout" Target="/ppt/slideLayouts/slideLayout1.xml" Id="Red8fe3532a2242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8fe3532a2242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0c91401aa4b2e" /><Relationship Type="http://schemas.openxmlformats.org/officeDocument/2006/relationships/notesSlide" Target="/ppt/notesSlides/notesSlide1.xml" Id="Rda7f54977e924d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c21d83ace4115" /><Relationship Type="http://schemas.openxmlformats.org/officeDocument/2006/relationships/notesSlide" Target="/ppt/notesSlides/notesSlide2.xml" Id="Rf1f12a1b003641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2c0891d1d4d39" /><Relationship Type="http://schemas.openxmlformats.org/officeDocument/2006/relationships/notesSlide" Target="/ppt/notesSlides/notesSlide3.xml" Id="R48f3a7f7e0d141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838c2993c40c6" /><Relationship Type="http://schemas.openxmlformats.org/officeDocument/2006/relationships/notesSlide" Target="/ppt/notesSlides/notesSlide4.xml" Id="Rba1cf2a3451943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af3eab37e4850" /><Relationship Type="http://schemas.openxmlformats.org/officeDocument/2006/relationships/notesSlide" Target="/ppt/notesSlides/notesSlide5.xml" Id="Rc6ddddc6404a4e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5082359a1497a" /><Relationship Type="http://schemas.openxmlformats.org/officeDocument/2006/relationships/notesSlide" Target="/ppt/notesSlides/notesSlide6.xml" Id="R2f239484ef2440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23e49bf634aa2" /><Relationship Type="http://schemas.openxmlformats.org/officeDocument/2006/relationships/notesSlide" Target="/ppt/notesSlides/notesSlide7.xml" Id="R7eceb1b68d9d4f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f2a4fa0f645b1" /><Relationship Type="http://schemas.openxmlformats.org/officeDocument/2006/relationships/notesSlide" Target="/ppt/notesSlides/notesSlide8.xml" Id="Rb3b0b1163bea4e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97db9af414a3f" /><Relationship Type="http://schemas.openxmlformats.org/officeDocument/2006/relationships/notesSlide" Target="/ppt/notesSlides/notesSlide9.xml" Id="R3095a6bc0f5749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3942a5de04cd4" /><Relationship Type="http://schemas.openxmlformats.org/officeDocument/2006/relationships/notesSlide" Target="/ppt/notesSlides/notesSlide10.xml" Id="R82465c9fffae49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F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FA4CC-F2DE-417E-B4C6-56DDC333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IAP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EB454-1072-47AB-82AA-5CE4A1FC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Az ellenállás és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Ohm törvénye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0D2CF-00C6-4AE1-B9DB-F4EC60C1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FDFFF"/>
                </a:solidFill>
                <a:latin typeface="Arial"/>
                <a:ea typeface="Arial"/>
                <a:cs typeface="Arial"/>
              </a:rPr>
              <a:t>5. hét • Villamos alapismeretek • 10. évfolyam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5B135-E9A1-429F-8EA1-CF30A762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869E3-1598-41DA-A1A8-BC8D0840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7E2CF-D8A9-4094-9814-16DF6468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ellenállás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68AA7-84ED-416C-AD27-2FCD90D5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„Nem minden vezető engedi egyformán az áram útját.”</a:t>
            </a:r>
          </a:p>
        </p:txBody>
      </p:sp>
    </p:spTree>
    <p:extLst>
      <p:ext uri="{BB962C8B-B14F-4D97-AF65-F5344CB8AC3E}">
        <p14:creationId xmlns:p14="http://schemas.microsoft.com/office/powerpoint/2010/main" val="1617678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5FDCF-F9E6-4D9E-9726-80759C6E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Ugyanaz a forrás, mégis más fényerő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18887-0179-47C4-8CE2-54542866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9CDE0-5718-4501-8A33-58EED6E6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62883-04C7-46CD-89B8-9A2CB408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7FA29-6D88-490E-A7D6-2A9A20CB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220 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5F0E8-FDE2-4944-A30A-48236490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kisebb ellenállás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81BA4-C15C-4F57-B8B7-CAEFB5C2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419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nagyobb áram</a:t>
            </a:r>
          </a:p>
          <a:p xmlns:a="http://schemas.openxmlformats.org/drawingml/2006/main">
            <a:pPr algn="ctr">
              <a:defRPr sz="225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erősebb fény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04269-6209-49DB-9153-A6EA3751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840B7-780A-441C-AD0C-3F2FBF67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9075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1 kΩ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41886-AB7E-4B1F-910A-6ECBA8FD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527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nagyobb ellenállás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49E13-EB55-4C04-B26C-C63EAEAB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67125"/>
            <a:ext cx="419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kisebb áram</a:t>
            </a:r>
          </a:p>
          <a:p xmlns:a="http://schemas.openxmlformats.org/drawingml/2006/main">
            <a:pPr algn="ctr">
              <a:defRPr sz="225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halványabb fény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D78E2-C29E-424B-A7ED-0D2245E5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A különbség oka: megváltoztattuk az áram útjának ellenállását.</a:t>
            </a:r>
          </a:p>
        </p:txBody>
      </p:sp>
    </p:spTree>
    <p:extLst>
      <p:ext uri="{BB962C8B-B14F-4D97-AF65-F5344CB8AC3E}">
        <p14:creationId xmlns:p14="http://schemas.microsoft.com/office/powerpoint/2010/main" val="748283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67DB5-2AA8-4B81-84AB-D81E14AF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Az ellenállás szabályozza az áramot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EE0BB-E953-4AF0-A60B-E73BF34B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3A111-4FF2-432F-9F9F-C36B35A4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94A59-69A3-4534-8B87-8EE4F154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Az elektromos ellenállás azt fejezi ki, hogy egy vezető vagy alkatrész mennyire akadályozza a töltések rendezett mozgását.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68A16-EB9C-4C3E-8383-A9CD7827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8E6D5-7BF4-44A5-94D8-4148B2F0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Jele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45E13-90F5-44D1-AAEC-C24D1BC4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2800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2F0F8-AF98-4433-9138-C8A46A15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C9190-6B2F-417C-88E5-B33851DE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290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Mértékegysége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F13EE-709E-404A-889F-7B279515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52875"/>
            <a:ext cx="2800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ohm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ACCAC-9C9A-4041-8598-2CA0BA3A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2E5DC-7A7B-4460-8CF7-E4F50BDF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Jele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1B737-FAB5-4A3B-9158-6356FE3A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52875"/>
            <a:ext cx="2800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3C997-D6EB-465F-B443-D76ECD83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Nagyobb R → kisebb I      |      Kisebb R → nagyobb I</a:t>
            </a:r>
          </a:p>
        </p:txBody>
      </p:sp>
    </p:spTree>
    <p:extLst>
      <p:ext uri="{BB962C8B-B14F-4D97-AF65-F5344CB8AC3E}">
        <p14:creationId xmlns:p14="http://schemas.microsoft.com/office/powerpoint/2010/main" val="2075971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49865-FCD0-4CE6-88F8-189C610D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Georg Simon Ohm mérhető kapcsolatot talált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A1DD9-B141-4024-9A44-DD91C14F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6D34C-C458-485C-9C91-D356EBC1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549A1-0F6E-44BF-95A6-71D88CE9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1789–1854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C0A2C-CB1F-41F4-9B71-286D4087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Német fizikus, aki kísérletekkel vizsgálta a feszültség, az áramerősség és az ellenállás kapcsolatát.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76DCF-EE88-4320-85FE-4629D9AF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857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D2F4F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204A3-1D70-4C8C-9343-01D82D36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72087-B9D2-405F-9EBF-C3685DFF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352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6FF"/>
          </a:solidFill>
          <a:ln xmlns:a="http://schemas.openxmlformats.org/drawingml/2006/main" w="9525">
            <a:solidFill>
              <a:srgbClr val="79C6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A5965-3E1A-465B-BBBB-7DDA8A04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 · 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D4002-A7CF-4687-BD78-6059FFBD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3875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Az ellenállás mértékegysége az ő nevét őrzi.</a:t>
            </a:r>
          </a:p>
        </p:txBody>
      </p:sp>
    </p:spTree>
    <p:extLst>
      <p:ext uri="{BB962C8B-B14F-4D97-AF65-F5344CB8AC3E}">
        <p14:creationId xmlns:p14="http://schemas.microsoft.com/office/powerpoint/2010/main" val="732884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8C4FC-BE05-4F94-A8AF-57736F77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Ohm törvénye háromféleképpen használható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C70A7-A1C9-4276-955B-637E3372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3F687-68BE-47AA-844B-03EB88FD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B4EB1-2F99-4447-960F-29969FAA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9CE0F-7E16-43A2-B4C9-89401C4D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ÁRAMERŐSSÉG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3E9B0-32E6-42D6-8CFF-359C3D6D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0512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I = U / 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7672A-0464-4770-8119-06478459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481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992B4-7355-4F4F-9E38-41224BDD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C7E91-E9B3-4476-B7DE-638B7343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FESZÜLTSÉG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7AD98-A74E-43E9-947C-5B71F378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0512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U = R · 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CE38F-E4F9-4538-8FDB-5B9F50B7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481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795F3-28DC-4B32-8D12-EF81D47E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D0534-EF92-4006-8FFF-7EDD7B69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ELLENÁLLÁS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963B2-E8E6-45C0-B30A-2A9329E6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0512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R = U / 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247BB-87B2-4763-8822-1289B659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481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57401-656A-4F27-A3D3-9AC7DD8D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Mindig írjuk fel az adatokat, váltsuk át a mértékegységeket, majd helyettesítsünk!</a:t>
            </a:r>
          </a:p>
        </p:txBody>
      </p:sp>
    </p:spTree>
    <p:extLst>
      <p:ext uri="{BB962C8B-B14F-4D97-AF65-F5344CB8AC3E}">
        <p14:creationId xmlns:p14="http://schemas.microsoft.com/office/powerpoint/2010/main" val="9707840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9C478-6F4D-4C92-B62B-F6DEB0CE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Egy rövid számítás megmutatja a kapcsolatot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69DFA-1A2A-4D2C-AD76-E509C375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E1F04-84F4-4F5F-9E04-EAC4C3FD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1F6DA-1A4F-4C24-ACB6-1C31412D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Adatok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DB59E-C89F-4A3D-BC08-B3C93217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U = 12 V</a:t>
            </a:r>
          </a:p>
          <a:p xmlns:a="http://schemas.openxmlformats.org/drawingml/2006/main">
            <a:pPr algn="l">
              <a:defRPr sz="24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R = 1 kΩ = 1000 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A75AA-F3B4-43E3-9380-709D97F2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14500"/>
            <a:ext cx="6286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D2F4F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4FBF1-56B4-4105-847D-4A98C039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= U / 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B6AB8-D1F5-4524-A20D-8459E9FB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0375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I = 12 V / 1000 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E3D07-2E79-4555-810C-3322B8B2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= 0,012 A = 12 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1D865-D757-4417-B1C7-6F3F6610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Válasz: az áramkörben 12 mA áram folyik.</a:t>
            </a:r>
          </a:p>
        </p:txBody>
      </p:sp>
    </p:spTree>
    <p:extLst>
      <p:ext uri="{BB962C8B-B14F-4D97-AF65-F5344CB8AC3E}">
        <p14:creationId xmlns:p14="http://schemas.microsoft.com/office/powerpoint/2010/main" val="5010537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485F77-DE75-4521-A650-8EC70BFE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A mérés előtt becslünk, utána bizonyítunk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A16D4-5DA0-4C66-980B-FD2A7ED0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3CD9A-E9BA-44F4-9116-87CEDBD1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B3836-8260-4635-827E-4A9B3D09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45362-2D55-457C-8572-0FC12FDE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431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6FA48-FD31-4019-9166-3B052E31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6954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LED polaritásának ellenőrzése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B963D-7D85-47F1-A41E-87B37CA7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79A04-1CD0-45AE-899A-375DD946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813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0B2AF-E4FF-45F4-8ED8-CE260BAE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337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2F4F"/>
                </a:solidFill>
                <a:latin typeface="Arial"/>
                <a:ea typeface="Arial"/>
                <a:cs typeface="Arial"/>
              </a:rPr>
              <a:t>220 Ω-os kör megépítése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6C595-985B-42B1-BF1B-AB8E8A04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44D68-DF3D-49A7-83FC-F9951A11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196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643EB-125F-4E50-80DD-7E81276A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1719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2F4F"/>
                </a:solidFill>
                <a:latin typeface="Arial"/>
                <a:ea typeface="Arial"/>
                <a:cs typeface="Arial"/>
              </a:rPr>
              <a:t>Fényerő és áram mérése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CD1BF-AD41-4ABB-960E-760311E3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A3125-8B7F-4CC6-B354-A1606C84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431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7C6B0-D570-40AB-9F79-110AA566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6954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Feszültségmentes átalakítás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512EC-F5C2-4B4E-A033-75E31EB2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9E2DC-56CE-4517-84F1-915A6755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813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EF8C0-A470-4937-BB0C-F9D00C7A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337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2F4F"/>
                </a:solidFill>
                <a:latin typeface="Arial"/>
                <a:ea typeface="Arial"/>
                <a:cs typeface="Arial"/>
              </a:rPr>
              <a:t>1 kΩ-os kör mérése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98FE5-4474-49E4-B29C-7E799DC0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D0DE25-3AF4-4E04-9DE1-4811ECF5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196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D9528F-B1C7-40B7-9649-DA7B22FD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1719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2F4F"/>
                </a:solidFill>
                <a:latin typeface="Arial"/>
                <a:ea typeface="Arial"/>
                <a:cs typeface="Arial"/>
              </a:rPr>
              <a:t>Mért és számított érték összevetése</a:t>
            </a:r>
          </a:p>
        </p:txBody>
      </p:sp>
    </p:spTree>
    <p:extLst>
      <p:ext uri="{BB962C8B-B14F-4D97-AF65-F5344CB8AC3E}">
        <p14:creationId xmlns:p14="http://schemas.microsoft.com/office/powerpoint/2010/main" val="4873660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04D4A-3342-4D98-89F8-FB8C2749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A LED-et mindig előtétellenállás védi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FE67B-9244-4910-917A-06CF14BB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3605C-2760-45CC-9807-55B2335C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378B8-2F48-41AC-89C0-AFF4E177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4A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B7FCF-58FF-4C91-93A4-DE7AD9C7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A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A000"/>
                </a:solidFill>
                <a:latin typeface="Arial"/>
                <a:ea typeface="Arial"/>
                <a:cs typeface="Arial"/>
              </a:rPr>
              <a:t>BIZTONSÁGI DÖNTÉS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F33D3-84AC-42DF-9D1F-413B6FE8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LED-et soha nem kötünk közvetlenül a feszültségforrásra.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FAD51-3827-4C08-A844-AE445FA7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Csak törpefeszültségű, 9 V-os mérőkört használunk.</a:t>
            </a:r>
          </a:p>
          <a:p xmlns:a="http://schemas.openxmlformats.org/drawingml/2006/main">
            <a:pPr algn="ctr">
              <a:defRPr sz="18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Átépítés előtt leválasztjuk a forrást.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7DEC4-39FF-47BF-8DE0-2DA4BDC8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 biztonság nem külön feladat: minden kapcsolás része.</a:t>
            </a:r>
          </a:p>
        </p:txBody>
      </p:sp>
    </p:spTree>
    <p:extLst>
      <p:ext uri="{BB962C8B-B14F-4D97-AF65-F5344CB8AC3E}">
        <p14:creationId xmlns:p14="http://schemas.microsoft.com/office/powerpoint/2010/main" val="5737667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EB6C6-D487-486E-901C-D32356DF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Az ellenállás minden ipari elektronikában jelen van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C084C-43AB-4248-A98C-52DB4CD3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0968E-D5A9-4719-9A91-A612730F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91C97-A7DE-411F-AC7F-F2C8660B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07D00-8B93-4F99-8214-8AAFA0AC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PLC-k bemeneti és kimeneti körei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F752C-CA1E-496F-8C5A-EF81C12C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B5DE7-9E5A-416C-BDEE-88F6EF5F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Érzékelők és jelátalakítók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B4F5C-4BEC-4587-A3E9-BDF9E0BE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58469-F9E9-4541-95EC-156FCB14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Tápegységek és mérőáramkörök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013DD-D2A4-4662-A19F-BAF6FF4C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2C094-362B-4174-897B-7337A28F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Frekvenciaváltók és vezérlések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82EE9-165B-4E5C-938F-5988B3AF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104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B8738-1C21-44DC-9463-653B53F4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435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Szerepe: áramkorlátozás • feszültségosztás • jelillesztés • mérés • védelem</a:t>
            </a:r>
          </a:p>
        </p:txBody>
      </p:sp>
    </p:spTree>
    <p:extLst>
      <p:ext uri="{BB962C8B-B14F-4D97-AF65-F5344CB8AC3E}">
        <p14:creationId xmlns:p14="http://schemas.microsoft.com/office/powerpoint/2010/main" val="7783613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2F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E68E5-2075-4A05-B40F-08D2320C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Mit vigyél haza mára?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E9F3C-4C46-48E8-9824-D30902B5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81D83-57F4-4511-9AE6-625CF17F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668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Az ellenállás jele R, mértékegysége Ω.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4EF13-3C9F-4C9E-8D08-7B831EB5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48519-7C00-4314-BB71-9A413C34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Nagyobb ellenállás azonos feszültségnél kisebb áramot eredményez.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4B8C0-A088-41EA-85FA-D4271E0E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8E726-198F-4827-97ED-CED6A676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76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Ohm törvénye összekapcsolja U, I és R mennyiségét.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16926-D53A-4336-BC08-82F0CA28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6E7DA-E77C-4B68-8D03-34B92F8C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815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LED-et előtétellenállással védjük.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9FF37-0EE8-427E-8D78-D2E9FE85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FDFFF"/>
                </a:solidFill>
                <a:latin typeface="Arial"/>
                <a:ea typeface="Arial"/>
                <a:cs typeface="Arial"/>
              </a:rPr>
              <a:t>Következő hét: az első számítások és mérések</a:t>
            </a:r>
          </a:p>
        </p:txBody>
      </p:sp>
    </p:spTree>
    <p:extLst>
      <p:ext uri="{BB962C8B-B14F-4D97-AF65-F5344CB8AC3E}">
        <p14:creationId xmlns:p14="http://schemas.microsoft.com/office/powerpoint/2010/main" val="2722012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2026-08-20T13:43:34.1670000Z</dcterms:created>
  <dcterms:modified xsi:type="dcterms:W3CDTF">2026-08-20T13:43:34.1670000Z</dcterms:modified>
</coreProperties>
</file>