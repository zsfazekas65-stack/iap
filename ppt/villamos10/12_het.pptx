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95f7f112954d21" /><Relationship Type="http://schemas.openxmlformats.org/officeDocument/2006/relationships/extended-properties" Target="/docProps/app.xml" Id="Ra86ea8df05174d6d" /><Relationship Type="http://schemas.openxmlformats.org/officeDocument/2006/relationships/officeDocument" Target="/ppt/presentation.xml" Id="R302b9e8096cc4b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f868fc71cd4ee6"/>
  </p:sldMasterIdLst>
  <p:notesMasterIdLst>
    <p:notesMasterId xmlns:r="http://schemas.openxmlformats.org/officeDocument/2006/relationships" r:id="Rb433bfdec0614110"/>
  </p:notesMasterIdLst>
  <p:sldIdLst>
    <p:sldId xmlns:r="http://schemas.openxmlformats.org/officeDocument/2006/relationships" id="256" r:id="R77674c1c0f2447ce"/>
    <p:sldId xmlns:r="http://schemas.openxmlformats.org/officeDocument/2006/relationships" id="257" r:id="R50a4e3e919854b4f"/>
    <p:sldId xmlns:r="http://schemas.openxmlformats.org/officeDocument/2006/relationships" id="258" r:id="R789f486a6c8d4379"/>
    <p:sldId xmlns:r="http://schemas.openxmlformats.org/officeDocument/2006/relationships" id="259" r:id="R4077a62a47e54d5e"/>
    <p:sldId xmlns:r="http://schemas.openxmlformats.org/officeDocument/2006/relationships" id="260" r:id="Rb4a628a458964deb"/>
    <p:sldId xmlns:r="http://schemas.openxmlformats.org/officeDocument/2006/relationships" id="261" r:id="R3c0b2e6a55274938"/>
    <p:sldId xmlns:r="http://schemas.openxmlformats.org/officeDocument/2006/relationships" id="262" r:id="R931ca85a86804d03"/>
    <p:sldId xmlns:r="http://schemas.openxmlformats.org/officeDocument/2006/relationships" id="263" r:id="Rf06b5a426e8d4131"/>
    <p:sldId xmlns:r="http://schemas.openxmlformats.org/officeDocument/2006/relationships" id="264" r:id="R106e4eeaa8fe47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aa62f9030e41ad" /><Relationship Type="http://schemas.openxmlformats.org/officeDocument/2006/relationships/slideMaster" Target="/ppt/slideMasters/slideMaster1.xml" Id="R50f868fc71cd4ee6" /><Relationship Type="http://schemas.openxmlformats.org/officeDocument/2006/relationships/notesMaster" Target="/ppt/notesMasters/notesMaster1.xml" Id="Rb433bfdec0614110" /><Relationship Type="http://schemas.openxmlformats.org/officeDocument/2006/relationships/presProps" Target="/ppt/presProps.xml" Id="R34ca95186e314c73" /><Relationship Type="http://schemas.openxmlformats.org/officeDocument/2006/relationships/tableStyles" Target="/ppt/tableStyles.xml" Id="R8ca1ef5d516548f3" /><Relationship Type="http://schemas.openxmlformats.org/officeDocument/2006/relationships/slide" Target="/ppt/slides/slide1.xml" Id="R77674c1c0f2447ce" /><Relationship Type="http://schemas.openxmlformats.org/officeDocument/2006/relationships/slide" Target="/ppt/slides/slide2.xml" Id="R50a4e3e919854b4f" /><Relationship Type="http://schemas.openxmlformats.org/officeDocument/2006/relationships/slide" Target="/ppt/slides/slide3.xml" Id="R789f486a6c8d4379" /><Relationship Type="http://schemas.openxmlformats.org/officeDocument/2006/relationships/slide" Target="/ppt/slides/slide4.xml" Id="R4077a62a47e54d5e" /><Relationship Type="http://schemas.openxmlformats.org/officeDocument/2006/relationships/slide" Target="/ppt/slides/slide5.xml" Id="Rb4a628a458964deb" /><Relationship Type="http://schemas.openxmlformats.org/officeDocument/2006/relationships/slide" Target="/ppt/slides/slide6.xml" Id="R3c0b2e6a55274938" /><Relationship Type="http://schemas.openxmlformats.org/officeDocument/2006/relationships/slide" Target="/ppt/slides/slide7.xml" Id="R931ca85a86804d03" /><Relationship Type="http://schemas.openxmlformats.org/officeDocument/2006/relationships/slide" Target="/ppt/slides/slide8.xml" Id="Rf06b5a426e8d4131" /><Relationship Type="http://schemas.openxmlformats.org/officeDocument/2006/relationships/slide" Target="/ppt/slides/slide9.xml" Id="R106e4eeaa8fe47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1667362aea42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067cd8cbb14b5d" /><Relationship Type="http://schemas.openxmlformats.org/officeDocument/2006/relationships/notesMaster" Target="/ppt/notesMasters/notesMaster1.xml" Id="R4bdf078dde9e48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f9fa5abc39417f" /><Relationship Type="http://schemas.openxmlformats.org/officeDocument/2006/relationships/notesMaster" Target="/ppt/notesMasters/notesMaster1.xml" Id="Ree0f889bc6034f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c2702ae0be4e24" /><Relationship Type="http://schemas.openxmlformats.org/officeDocument/2006/relationships/notesMaster" Target="/ppt/notesMasters/notesMaster1.xml" Id="Ra710eba8536840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28d909bc59418c" /><Relationship Type="http://schemas.openxmlformats.org/officeDocument/2006/relationships/notesMaster" Target="/ppt/notesMasters/notesMaster1.xml" Id="R30b1626afb4844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722072f9754eb6" /><Relationship Type="http://schemas.openxmlformats.org/officeDocument/2006/relationships/notesMaster" Target="/ppt/notesMasters/notesMaster1.xml" Id="Rcbc6f8612bec4b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44998be0404b40" /><Relationship Type="http://schemas.openxmlformats.org/officeDocument/2006/relationships/notesMaster" Target="/ppt/notesMasters/notesMaster1.xml" Id="Raa0cd8188da04f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0ad60693934195" /><Relationship Type="http://schemas.openxmlformats.org/officeDocument/2006/relationships/notesMaster" Target="/ppt/notesMasters/notesMaster1.xml" Id="Re47258aa12994f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42b8ffac4b41e8" /><Relationship Type="http://schemas.openxmlformats.org/officeDocument/2006/relationships/notesMaster" Target="/ppt/notesMasters/notesMaster1.xml" Id="R838694c6bab142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35c9e285b046ba" /><Relationship Type="http://schemas.openxmlformats.org/officeDocument/2006/relationships/notesMaster" Target="/ppt/notesMasters/notesMaster1.xml" Id="R60a5c0f3d7aa47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Heti cél: villamos munka, energiafogyasztás és költség biztos számítása.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- 12.Villamos_munka_es_fogyasztás.docx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Használjunk valós adattáblát és mintaszámlát.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- 12.Villamos_munka_es_fogyasztás.docx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 = P·t; a teljesítmény és az fogyasztás nem ugyanaz.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- 12.Villamos_munka_es_fogyasztás.docx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perc–óra és Wh–kWh átváltást külön hangsúlyozzuk.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- 12.Villamos_munka_es_fogyasztás.docx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megfelelő átváltás a helyes fogyasztási számítás alapja.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- 12.Villamos_munka_es_fogyasztás.docx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napi, havi és éves időtartamot következetesen kezeljük.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- 12.Villamos_munka_es_fogyasztás.docx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laborban csak törpefeszültséget használjunk.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- 12.Villamos_munka_es_fogyasztás.docx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jegyzőkönyvben külön értékeljük a számított és mért eltérést.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- 12.Villamos_munka_es_fogyasztás.docx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Zárásként kérj egy fogyasztási és egy költségpéldát.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- 12.Villamos_munka_es_fogyasztás.docx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60a600a0648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ce36b1d8fc4b6b" /><Relationship Type="http://schemas.openxmlformats.org/officeDocument/2006/relationships/slideLayout" Target="/ppt/slideLayouts/slideLayout1.xml" Id="R336692a1e3c443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6692a1e3c443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050d166be42a8" /><Relationship Type="http://schemas.openxmlformats.org/officeDocument/2006/relationships/notesSlide" Target="/ppt/notesSlides/notesSlide1.xml" Id="Raf52e0a4e1dd4a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c511c77584287" /><Relationship Type="http://schemas.openxmlformats.org/officeDocument/2006/relationships/notesSlide" Target="/ppt/notesSlides/notesSlide2.xml" Id="R37e153c0e27346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49e4fa2b64fe9" /><Relationship Type="http://schemas.openxmlformats.org/officeDocument/2006/relationships/notesSlide" Target="/ppt/notesSlides/notesSlide3.xml" Id="Re5f68bd294d041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eb36d06c04319" /><Relationship Type="http://schemas.openxmlformats.org/officeDocument/2006/relationships/notesSlide" Target="/ppt/notesSlides/notesSlide4.xml" Id="R2d858dc427d44e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e1b572cd74b38" /><Relationship Type="http://schemas.openxmlformats.org/officeDocument/2006/relationships/notesSlide" Target="/ppt/notesSlides/notesSlide5.xml" Id="R148e87faa82f48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bf86787544c89" /><Relationship Type="http://schemas.openxmlformats.org/officeDocument/2006/relationships/notesSlide" Target="/ppt/notesSlides/notesSlide6.xml" Id="R2a16424532bc4d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ecfb958d84c37" /><Relationship Type="http://schemas.openxmlformats.org/officeDocument/2006/relationships/notesSlide" Target="/ppt/notesSlides/notesSlide7.xml" Id="R8a051d8ce16443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9bfea3f364001" /><Relationship Type="http://schemas.openxmlformats.org/officeDocument/2006/relationships/notesSlide" Target="/ppt/notesSlides/notesSlide8.xml" Id="Re656568b49c84f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9c0905c6949dd" /><Relationship Type="http://schemas.openxmlformats.org/officeDocument/2006/relationships/notesSlide" Target="/ppt/notesSlides/notesSlide9.xml" Id="Rc4e88a6694c940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8AE3F-7B7C-4390-A1E3-5C37BB4F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IAP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F13B6-5D7D-4C08-BBD4-D09144BE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Villamos munka,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energia és fogyasztás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94E1F-30B6-4098-826D-7C995215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FD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FDFFF"/>
                </a:solidFill>
                <a:latin typeface="Arial"/>
                <a:ea typeface="Arial"/>
                <a:cs typeface="Arial"/>
              </a:rPr>
              <a:t>12. hét • Villamos alapismeretek • 10. évfolyam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632E4-974C-427A-9315-38DC2836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F975C-6E0B-47A8-9036-486C32AE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 = E</a:t>
            </a:r>
          </a:p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 = P·t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21F7E-D14F-466B-865C-4246E928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fogyasztás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78931-EE14-4F49-AA0C-3F94D304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teljesítmény a tempó, az energia az elfogyasztott mennyiség.</a:t>
            </a:r>
          </a:p>
        </p:txBody>
      </p:sp>
    </p:spTree>
    <p:extLst>
      <p:ext uri="{BB962C8B-B14F-4D97-AF65-F5344CB8AC3E}">
        <p14:creationId xmlns:p14="http://schemas.microsoft.com/office/powerpoint/2010/main" val="15365356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ECA56-505C-4524-9551-3B9FB70F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47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villamos munka és energia ugyanazzal a képlettel számítható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84EA1-CF4D-47F5-82A9-983D4B85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0E0BC-0234-4955-AA00-818DCC8A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9A151-3F17-4266-B556-A8F1B900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9749E-803E-4875-B1FB-E00A7651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TELJESÍTMÉNY ÉS IDŐ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6CC53-4E72-4F01-950B-77326FBE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E = P·t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9D401-3E09-441D-B14C-160FDE1C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Wh vagy J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70104-497E-4557-B41E-7360EE71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03F19-03E8-4728-9EAB-87F66051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FESZÜLTSÉG ÉS ÁRAM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A0298-5085-4258-86EE-0F995248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E = U·I·t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D8881-99A9-4273-B75D-5A845173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Wh vagy J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4BB64-DCFD-40E3-82C8-CC684896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1428A-2AC7-4235-8F27-81D5062F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KÖLTSÉG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6C9BE-4CAE-4C1F-884E-045C9AEA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E·egységár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98935-DD5E-48FC-B05B-216902A1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F74BB-163E-480C-AAFB-09CDAFCD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Az időt és a teljesítményt összeillő mértékegységben használjuk.</a:t>
            </a:r>
          </a:p>
        </p:txBody>
      </p:sp>
    </p:spTree>
    <p:extLst>
      <p:ext uri="{BB962C8B-B14F-4D97-AF65-F5344CB8AC3E}">
        <p14:creationId xmlns:p14="http://schemas.microsoft.com/office/powerpoint/2010/main" val="1233890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4B4A7-48E1-4573-8F9E-A2258B1C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teljesítménytől az fogyasztásfogyasztásig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48975-0E7D-4E19-9B54-A938A9F1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D0533-BDED-4352-9F1B-6E48BE0B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34EB2-825A-4FC9-9823-2F27CCBD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43A8E-D5F3-470F-A80C-568D041A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192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E8C52-9F01-4250-A93B-40931BAD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716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Írd fel a készülék teljesítményét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F1DD6-F075-4699-95BC-7875C1C9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DF2D9-799D-42CC-8E3B-4A8E4BBA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46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7F220-3E87-49E8-ABBB-4E27DC52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669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Váltsd kW-ra, az időt órára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0C0CC-C49F-4B96-AF03-E4B395C2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622A3-822C-43F9-9A5E-5A005AE4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99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2D112-0960-4EAE-BBB8-A8BFD67B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623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Számítsd ki E = P·t értékét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79DF3-D30B-4389-A88A-AE63AA0C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410D5-F2F3-4A90-AC66-D927DCC7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053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570B0-2CE0-4165-82E7-F799C596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576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Számíts napi és havi fogyasztást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9F568-BE56-4027-B34E-78DCACA2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A2ABF-4FE2-41CC-A3BC-86116AC5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006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7B457-6996-40ED-AB25-E5C5F3C2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530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Becsüld meg a költséget</a:t>
            </a:r>
          </a:p>
        </p:txBody>
      </p:sp>
    </p:spTree>
    <p:extLst>
      <p:ext uri="{BB962C8B-B14F-4D97-AF65-F5344CB8AC3E}">
        <p14:creationId xmlns:p14="http://schemas.microsoft.com/office/powerpoint/2010/main" val="4073377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E734C-1D56-4F52-92E7-B7658E2A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Példa: 100 W-os izzó 5 órás működése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79108-BECE-4BC0-BEBC-759F564D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68FD0-CB40-4226-A31B-C4BCDC0A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9AC26-44A5-4051-B3E9-2E1E6E61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E69A2-A11C-4F5F-BF01-C610B2D0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TELJESÍTMÉNY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55F54-70B8-4BFF-8538-F07DFCBC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100 W = 0,100 kW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72132-4E35-4B5E-BC2A-17146F85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0,100 kW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A3EFB-628B-43A7-A227-8C2B23AC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915D5-AB47-45FD-8F87-5B832E0F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ÜZEMIDŐ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F3B0E-5C54-46E8-B0D4-A12F2EF0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5 óra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6DC29-58C9-4E27-A892-C9A5D36F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5 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97936-5096-4FEE-938A-837C94C2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658A5-EA4F-4DC1-B286-DEAF6F09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ENERGIA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F0043-E506-4AC5-A30B-82B9F1C7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E = 0,100 kW · 5 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D95BA7-564B-4C08-B910-2FC7C8BB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0,50 kWh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24CE9-8716-46AE-8D3F-D8F8E1F0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A villanyszámlán az fogyasztás mértékegysége a kWh.</a:t>
            </a:r>
          </a:p>
        </p:txBody>
      </p:sp>
    </p:spTree>
    <p:extLst>
      <p:ext uri="{BB962C8B-B14F-4D97-AF65-F5344CB8AC3E}">
        <p14:creationId xmlns:p14="http://schemas.microsoft.com/office/powerpoint/2010/main" val="811910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3EA117-B806-44E8-BFAB-D53884D7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joule, Wh és kWh ugyanazt a mennyiséget méri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3FBDF-C70E-42E0-B8AD-4A18053A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BBAD7-18FA-48A3-93B3-578421E9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EE246-171C-4120-8A47-9D34E8DE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EEB83-01BC-49C8-B860-8F73D20C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1 Wh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70411-C3DF-4C2E-AAC8-66B7BDBF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3600 J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1FE6A-177F-42D6-A75B-901A4CBE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energia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39D1E-F6CF-4F15-8D55-C76A1F06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6B5C4-3054-40AF-A391-B098A604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1 kWh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A4D1A-AD91-4FD2-A228-33B55C5A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1000 Wh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F997B-B70B-4BA8-A8FD-3C08DC20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3,6 MJ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D526A-B3CF-435F-B7FA-40AAD3DC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464A0-AEB2-475B-BF3C-EE9C2424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30 perc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37611-8C1B-4F41-9611-D88C74FC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0,5 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8C48C-EE06-4802-89AB-840DCB21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időátváltás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EE481-BBD1-45F7-98BD-B458CBE5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1 kWh = 3,6 MJ</a:t>
            </a:r>
          </a:p>
        </p:txBody>
      </p:sp>
    </p:spTree>
    <p:extLst>
      <p:ext uri="{BB962C8B-B14F-4D97-AF65-F5344CB8AC3E}">
        <p14:creationId xmlns:p14="http://schemas.microsoft.com/office/powerpoint/2010/main" val="14379522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88F60A-F418-412E-938B-38B47DFB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9542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teljesítmény és az üzemidő együtt határozza meg a fogyasztást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8640F-DA03-4426-942A-119DF6BA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C4E1F-5B2C-4E2B-B240-950D57A1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1448B-B02B-419B-A105-2BB5DA81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6FCB0-A0A2-44D4-A52F-88E2E263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LED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F0EAC-87EE-41E7-A4FD-495E0C8A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10 W · 5 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8E514-BE37-44A7-8CE2-E48609A7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0,05 kWh/nap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98733-328F-4473-A05E-EA9E8128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70339-1201-4C68-BB17-1C57438C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IZZÓ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0BE38-EB6D-41DD-B2DF-FFA34009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60 W · 5 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3CE00-7A02-4966-90EA-CC349D2B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0,30 kWh/nap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BF35B-9EAE-4EFE-8D07-8DBFAB33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6A23B-6248-417D-9C9E-EFC8719C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KÜLÖNBSÉG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649C9-9798-4CA8-B9F3-B9A110C9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50 W · 5 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A9BE5-D8B9-48A8-B4EA-5F978C30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0,25 kWh/nap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8BD14-6FDE-4D37-AEC5-2FC52B72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A kisebb teljesítmény azonos üzemidő mellett kisebb fogyasztást jelent.</a:t>
            </a:r>
          </a:p>
        </p:txBody>
      </p:sp>
    </p:spTree>
    <p:extLst>
      <p:ext uri="{BB962C8B-B14F-4D97-AF65-F5344CB8AC3E}">
        <p14:creationId xmlns:p14="http://schemas.microsoft.com/office/powerpoint/2010/main" val="12010273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17276-A325-4602-BB1B-BA052195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Teljesítmény és fogyasztás nem ugyanaz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2D8CB-030B-4183-AAB2-B69AF15B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CC10E-6896-4E05-8E35-F628FF2D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39A52-BEE8-48AB-B1D8-15DC87F1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104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FF2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FB89E-DE73-4FC1-B5A9-7872D888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A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A000"/>
                </a:solidFill>
                <a:latin typeface="Arial"/>
                <a:ea typeface="Arial"/>
                <a:cs typeface="Arial"/>
              </a:rPr>
              <a:t>KÖLTSÉGBECSLÉS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534A4-8520-4D81-BD69-B5483B70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Költség = energia [kWh] · egységár [Ft/kWh].</a:t>
            </a:r>
          </a:p>
          <a:p xmlns:a="http://schemas.openxmlformats.org/drawingml/2006/main">
            <a:pPr algn="ctr">
              <a:defRPr sz="23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Az egységárat mindig az aktuális számla adja.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4E889-7A28-46AC-BEDF-2CD9F2A4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A fogyasztás és az egységár szorzata adja a becsült költséget.</a:t>
            </a:r>
          </a:p>
        </p:txBody>
      </p:sp>
    </p:spTree>
    <p:extLst>
      <p:ext uri="{BB962C8B-B14F-4D97-AF65-F5344CB8AC3E}">
        <p14:creationId xmlns:p14="http://schemas.microsoft.com/office/powerpoint/2010/main" val="20943065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056FC-7F74-406F-8CA8-93A6EE02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558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Az energiafogyasztást a teljesítmény és az idő együtt növeli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8AB3B-BAC6-4B8F-9316-304E5C16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725A9-991D-4E27-B2CF-341442AC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C4248-7F12-4E99-9C69-0B1ABC8A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346D2-EBBD-43CE-A79B-4C2F758C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05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 = 0,5 kW; t = 2 h → E = 1 kWh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D21DD-63B4-4755-AE89-9B9F8FAF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58E11-0FB7-49B9-B85F-D9267A91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9562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P = 2 kW; t = 3 h → E = 6 kWh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A1F1A-50D6-4537-97AD-79DBFA2F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D59E2-AEC3-40A9-8238-973CCEEB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862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nagy teljesítmény + hosszú idő = nagy fogyasztás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6337C-1A6E-461C-A3D4-A49129A7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Tudatos teljesítményválasztás + tudatos üzemidő</a:t>
            </a:r>
          </a:p>
        </p:txBody>
      </p:sp>
    </p:spTree>
    <p:extLst>
      <p:ext uri="{BB962C8B-B14F-4D97-AF65-F5344CB8AC3E}">
        <p14:creationId xmlns:p14="http://schemas.microsoft.com/office/powerpoint/2010/main" val="19637541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157FD-A3AD-4CA2-9DC2-319E0C13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Mit vigyél haza mára?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7A583-81D7-4278-8D32-732B1CA4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E60F2-4FDB-4D6D-99F2-C0BD80CF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 tudom számítani a villamos munkát és energiát.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C79B6-07DF-4E6A-89D0-2B67E1D1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8914E-EF5C-4192-AAEB-78F06A7D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Helyesen váltok Wh és kWh között.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E95A3-EABB-4C37-BAE6-CB216750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D37E8-AA5B-43C2-A707-9F15443E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480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Napi és havi fogyasztást tudok becsülni.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15E91-7148-4DD7-8F7E-D4B0F78A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99565-CA42-45C4-BE81-0F403D69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Az energiafogyasztásból költséget tudok számítani.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0CE11-3C21-47BB-A7B3-0B003088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FD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FDFFF"/>
                </a:solidFill>
                <a:latin typeface="Arial"/>
                <a:ea typeface="Arial"/>
                <a:cs typeface="Arial"/>
              </a:rPr>
              <a:t>Következő hét: egyenáramú mérések és mérőműszerek</a:t>
            </a:r>
          </a:p>
        </p:txBody>
      </p:sp>
    </p:spTree>
    <p:extLst>
      <p:ext uri="{BB962C8B-B14F-4D97-AF65-F5344CB8AC3E}">
        <p14:creationId xmlns:p14="http://schemas.microsoft.com/office/powerpoint/2010/main" val="334966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2026-08-20T18:09:44.8870000Z</dcterms:created>
  <dcterms:modified xsi:type="dcterms:W3CDTF">2026-08-20T18:09:44.8870000Z</dcterms:modified>
</coreProperties>
</file>