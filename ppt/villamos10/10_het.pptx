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0f1128cefa4b2f" /><Relationship Type="http://schemas.openxmlformats.org/officeDocument/2006/relationships/extended-properties" Target="/docProps/app.xml" Id="R8f14ebd98d404b5b" /><Relationship Type="http://schemas.openxmlformats.org/officeDocument/2006/relationships/officeDocument" Target="/ppt/presentation.xml" Id="Re298983b8265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6f0898bab34cd1"/>
  </p:sldMasterIdLst>
  <p:notesMasterIdLst>
    <p:notesMasterId xmlns:r="http://schemas.openxmlformats.org/officeDocument/2006/relationships" r:id="Rd9a5a36b5c81436d"/>
  </p:notesMasterIdLst>
  <p:sldIdLst>
    <p:sldId xmlns:r="http://schemas.openxmlformats.org/officeDocument/2006/relationships" id="256" r:id="R6478992d92934879"/>
    <p:sldId xmlns:r="http://schemas.openxmlformats.org/officeDocument/2006/relationships" id="257" r:id="R121a92e8803d48c3"/>
    <p:sldId xmlns:r="http://schemas.openxmlformats.org/officeDocument/2006/relationships" id="258" r:id="Rb8484cd4f13545f2"/>
    <p:sldId xmlns:r="http://schemas.openxmlformats.org/officeDocument/2006/relationships" id="259" r:id="R07c76711baf2496a"/>
    <p:sldId xmlns:r="http://schemas.openxmlformats.org/officeDocument/2006/relationships" id="260" r:id="R50a8669135e74e59"/>
    <p:sldId xmlns:r="http://schemas.openxmlformats.org/officeDocument/2006/relationships" id="261" r:id="R632093e720364833"/>
    <p:sldId xmlns:r="http://schemas.openxmlformats.org/officeDocument/2006/relationships" id="262" r:id="R684213d0a13f4720"/>
    <p:sldId xmlns:r="http://schemas.openxmlformats.org/officeDocument/2006/relationships" id="263" r:id="R7af38f3c708a4334"/>
    <p:sldId xmlns:r="http://schemas.openxmlformats.org/officeDocument/2006/relationships" id="264" r:id="R3e78753b2e214e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85c1d639f14931" /><Relationship Type="http://schemas.openxmlformats.org/officeDocument/2006/relationships/slideMaster" Target="/ppt/slideMasters/slideMaster1.xml" Id="R216f0898bab34cd1" /><Relationship Type="http://schemas.openxmlformats.org/officeDocument/2006/relationships/notesMaster" Target="/ppt/notesMasters/notesMaster1.xml" Id="Rd9a5a36b5c81436d" /><Relationship Type="http://schemas.openxmlformats.org/officeDocument/2006/relationships/presProps" Target="/ppt/presProps.xml" Id="R651f755daeb44dd1" /><Relationship Type="http://schemas.openxmlformats.org/officeDocument/2006/relationships/tableStyles" Target="/ppt/tableStyles.xml" Id="Rc4af8ec3e282434f" /><Relationship Type="http://schemas.openxmlformats.org/officeDocument/2006/relationships/slide" Target="/ppt/slides/slide1.xml" Id="R6478992d92934879" /><Relationship Type="http://schemas.openxmlformats.org/officeDocument/2006/relationships/slide" Target="/ppt/slides/slide2.xml" Id="R121a92e8803d48c3" /><Relationship Type="http://schemas.openxmlformats.org/officeDocument/2006/relationships/slide" Target="/ppt/slides/slide3.xml" Id="Rb8484cd4f13545f2" /><Relationship Type="http://schemas.openxmlformats.org/officeDocument/2006/relationships/slide" Target="/ppt/slides/slide4.xml" Id="R07c76711baf2496a" /><Relationship Type="http://schemas.openxmlformats.org/officeDocument/2006/relationships/slide" Target="/ppt/slides/slide5.xml" Id="R50a8669135e74e59" /><Relationship Type="http://schemas.openxmlformats.org/officeDocument/2006/relationships/slide" Target="/ppt/slides/slide6.xml" Id="R632093e720364833" /><Relationship Type="http://schemas.openxmlformats.org/officeDocument/2006/relationships/slide" Target="/ppt/slides/slide7.xml" Id="R684213d0a13f4720" /><Relationship Type="http://schemas.openxmlformats.org/officeDocument/2006/relationships/slide" Target="/ppt/slides/slide8.xml" Id="R7af38f3c708a4334" /><Relationship Type="http://schemas.openxmlformats.org/officeDocument/2006/relationships/slide" Target="/ppt/slides/slide9.xml" Id="R3e78753b2e21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3e43b31e384a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2be3eca0f44d4" /><Relationship Type="http://schemas.openxmlformats.org/officeDocument/2006/relationships/notesMaster" Target="/ppt/notesMasters/notesMaster1.xml" Id="Rf72581fe01cc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41898bc453472e" /><Relationship Type="http://schemas.openxmlformats.org/officeDocument/2006/relationships/notesMaster" Target="/ppt/notesMasters/notesMaster1.xml" Id="R989c2224a63b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1419468d0f41d7" /><Relationship Type="http://schemas.openxmlformats.org/officeDocument/2006/relationships/notesMaster" Target="/ppt/notesMasters/notesMaster1.xml" Id="R52290eb55293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25838885604676" /><Relationship Type="http://schemas.openxmlformats.org/officeDocument/2006/relationships/notesMaster" Target="/ppt/notesMasters/notesMaster1.xml" Id="R90aed651e1824d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2078d30583476d" /><Relationship Type="http://schemas.openxmlformats.org/officeDocument/2006/relationships/notesMaster" Target="/ppt/notesMasters/notesMaster1.xml" Id="R62d29006fb67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1e81e642e4254" /><Relationship Type="http://schemas.openxmlformats.org/officeDocument/2006/relationships/notesMaster" Target="/ppt/notesMasters/notesMaster1.xml" Id="R1c0f0ae01b514d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d72d65d8c242a9" /><Relationship Type="http://schemas.openxmlformats.org/officeDocument/2006/relationships/notesMaster" Target="/ppt/notesMasters/notesMaster1.xml" Id="R16c276e8acbc4a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9750db0bd24e20" /><Relationship Type="http://schemas.openxmlformats.org/officeDocument/2006/relationships/notesMaster" Target="/ppt/notesMasters/notesMaster1.xml" Id="R20b5b7a5efef41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3647d0a8a423e" /><Relationship Type="http://schemas.openxmlformats.org/officeDocument/2006/relationships/notesMaster" Target="/ppt/notesMasters/notesMaster1.xml" Id="R859994f787d445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Kirchhoff két törvényének biztos alkalmazása.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Jelöljük külön színnel az ágakat, csomópontokat és hurkokat.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 irány tetszőleges, a következetesség kötelező.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csomópontba befolyó és kifolyó áramokat külön jelöljük.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zárt hurok feszültségeinek előjeles összege nulla.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negatív eredmény a feltételezett irány korrekcióját jelenti.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laborban csak törpefeszültséget használjunk.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jegyzőkönyvben külön értékeljük a számított és mért eltérést.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mondassuk vissza mindkét törvényt.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- 10.Kirchhoff_torvenyei.docx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1dd9b0bff4e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6d18b9cb14bca" /><Relationship Type="http://schemas.openxmlformats.org/officeDocument/2006/relationships/slideLayout" Target="/ppt/slideLayouts/slideLayout1.xml" Id="Rc581ad6819fb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1ad6819fb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d7696010748d7" /><Relationship Type="http://schemas.openxmlformats.org/officeDocument/2006/relationships/notesSlide" Target="/ppt/notesSlides/notesSlide1.xml" Id="R951fe2ae60734a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703a528a54918" /><Relationship Type="http://schemas.openxmlformats.org/officeDocument/2006/relationships/notesSlide" Target="/ppt/notesSlides/notesSlide2.xml" Id="R2ad6c36251904b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b86463cd842eb" /><Relationship Type="http://schemas.openxmlformats.org/officeDocument/2006/relationships/notesSlide" Target="/ppt/notesSlides/notesSlide3.xml" Id="Rc56e8210460846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eafb4e05947ec" /><Relationship Type="http://schemas.openxmlformats.org/officeDocument/2006/relationships/notesSlide" Target="/ppt/notesSlides/notesSlide4.xml" Id="R8c4f221a09d7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5a33f232412a" /><Relationship Type="http://schemas.openxmlformats.org/officeDocument/2006/relationships/notesSlide" Target="/ppt/notesSlides/notesSlide5.xml" Id="R062dd6256de140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616f75ddf4499" /><Relationship Type="http://schemas.openxmlformats.org/officeDocument/2006/relationships/notesSlide" Target="/ppt/notesSlides/notesSlide6.xml" Id="R8f38e1116e7245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7b60795eb44cb" /><Relationship Type="http://schemas.openxmlformats.org/officeDocument/2006/relationships/notesSlide" Target="/ppt/notesSlides/notesSlide7.xml" Id="Re14d5c7ea5bf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6a16df0e54889" /><Relationship Type="http://schemas.openxmlformats.org/officeDocument/2006/relationships/notesSlide" Target="/ppt/notesSlides/notesSlide8.xml" Id="R148a47fb84554b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9dce3573d4648" /><Relationship Type="http://schemas.openxmlformats.org/officeDocument/2006/relationships/notesSlide" Target="/ppt/notesSlides/notesSlide9.xml" Id="R7a6c3b1cd948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8EBC0-E470-49EC-9557-177F7F5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252AD-9158-427A-8D2E-E14B43E8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Kirchhoff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két törvénye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B613-51DD-4234-B6A8-374093E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10.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57AC1-43C3-4F6B-9929-B7A7FDFD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2D9A-6795-4B91-BFAF-BB761BB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ΣI = 0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ΣU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0E21A-B288-4519-881C-7E3490D3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egyensúly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4A388-046A-40C1-959B-C48CABE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Csomópontban az áram, hurokban a feszültség marad egyensúlyban.</a:t>
            </a:r>
          </a:p>
        </p:txBody>
      </p:sp>
    </p:spTree>
    <p:extLst>
      <p:ext uri="{BB962C8B-B14F-4D97-AF65-F5344CB8AC3E}">
        <p14:creationId xmlns:p14="http://schemas.microsoft.com/office/powerpoint/2010/main" val="434964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07818-D7C5-4BBC-AB9B-04DCA48A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hálózatot ágak, csomópontok és hurkok írják 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7E138-20FE-460B-BCEC-CD829FF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73777-0EC4-4149-8D16-1DB8638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DE619-B0B9-4FF4-8A93-C112BBF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E5477-45AA-4D5E-B83A-4053B7C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0F8D4-4EDD-42D3-B11E-521646EF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két csomópont között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79396-0ABE-40BF-81C9-780E37BA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áramköri szakasz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FD175-E0CF-4452-BC3E-FA38119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E09CD-26E1-41ED-B732-EF67E1C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CSOMÓPONT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98CCF-1EBB-49BD-94E3-39AE7C20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legalább három ág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4D9FB-0B38-4FF3-A58D-14BA9BB1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áramegyenlet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9F6C7-7EF3-482F-8858-FA6E988C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F816F-335E-4412-9189-0E0D6C1F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HUROK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51421-EFAF-4238-9C0C-84EEB0FD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zárt útvonal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755EF-41EC-40CF-BF0B-19325BB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feszültségegyenlet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B9E86-83EB-4792-B26B-AEC5FEEA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Először jelöld a topológiát és a feltételezett irányokat.</a:t>
            </a:r>
          </a:p>
        </p:txBody>
      </p:sp>
    </p:spTree>
    <p:extLst>
      <p:ext uri="{BB962C8B-B14F-4D97-AF65-F5344CB8AC3E}">
        <p14:creationId xmlns:p14="http://schemas.microsoft.com/office/powerpoint/2010/main" val="1850049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2C5B3-87A3-4CDA-AFB4-9E4A9FB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56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Kirchhoff-egyenlet felírása következetes sorrendet kíván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AAD42-CE3C-495E-B564-D6EF0149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70CE3-6FE9-41E1-9D58-8846CBAE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1CFD7-8291-440B-A0B9-DB6005AD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BC3FB-4EF3-41D8-A9B2-339D66F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D0DCC-AEA2-4D84-BE68-3333AC44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Jelöld az ágakat és csomópontokat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CBE53-86BB-4353-A41F-8F0F6C5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FCDC2-4918-4D8D-85D2-DF8C882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C58C6-F525-4D94-BEDA-6C8209FE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Vegyél fel áramirányokat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3A723-5A65-4327-BF2B-B8AE784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8FF6C-EDC2-42E8-9F01-37C85AD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82E35-ED5E-47D8-81C2-6532142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Írd fel a csomóponti egyenletet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D8CCA-09AA-402C-9788-45ACCF7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76D75-8251-42FC-9926-E21B92E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9492C-5BA9-4EF2-851B-9DAA5B0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Válassz hurokirányt és előjeleket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D36B5-9E2C-4821-A52E-9517D92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E46A9-2B46-4CA9-8B26-F6B41357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DFDE0-0DDE-45D8-9A9B-4BEFC21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Oldd meg és ellenőrizd</a:t>
            </a:r>
          </a:p>
        </p:txBody>
      </p:sp>
    </p:spTree>
    <p:extLst>
      <p:ext uri="{BB962C8B-B14F-4D97-AF65-F5344CB8AC3E}">
        <p14:creationId xmlns:p14="http://schemas.microsoft.com/office/powerpoint/2010/main" val="1866571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7068A-6C63-4D7F-BC32-67912D47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Kirchhoff I. törvénye: a csomóponti törvény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AF7E4-1ECD-4AF8-AF3B-0A32379D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E76A1-983B-4BCA-BB8A-62E28EE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38E6E-4101-4ACC-ACF1-8D68F56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FD7D0-EB8B-4B4B-A8E7-9C7D7B54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BEFOLYÓ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DAD09-DF68-4C8F-910E-254B8DBE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EE420-BEED-48B6-A67A-5637E11D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0,50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3ACCA-D77F-44F7-9050-40123BF5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CD3CB-579C-46F2-9C1C-82CB29B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KIFOLYÓ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37862-AB03-4B48-81E7-969D8724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86140-BBD1-43B8-9463-5369B886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0,20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939C2-A83D-448C-B665-71EC537C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DD7F9-59E4-44DD-B3B1-2292F9A1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KIFOLYÓ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FC26B-28AF-4799-9AF2-D07F3BD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I₂ = I − I₁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56A03-A2C1-4F41-A1AD-28E40787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0,30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09636-7FE9-4E7D-A0D2-74C70008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I = I₁ + I₂; a töltés nem halmozódik fel.</a:t>
            </a:r>
          </a:p>
        </p:txBody>
      </p:sp>
    </p:spTree>
    <p:extLst>
      <p:ext uri="{BB962C8B-B14F-4D97-AF65-F5344CB8AC3E}">
        <p14:creationId xmlns:p14="http://schemas.microsoft.com/office/powerpoint/2010/main" val="118404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FD0B4-2CA6-467C-A5D5-2FE633A5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Kirchhoff II. törvénye: a huroktörvény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A22C7-330B-4CB2-82EF-1620AAD2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4C020-E6E5-49B8-92A8-FA2C9B1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23B55-48AE-4957-B795-5B33833B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2FF5B-698F-4918-9D39-4BF8613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FORRÁS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D39ED-0532-4F92-8BB1-3027AE18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+U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7576-DE34-4917-87E9-7383ADD8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+12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26519-3FAE-4225-AE5D-6E948BDA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1FDA7-EDD6-4D4A-8B37-BA93AA37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BBC41-8FB7-4DB3-AFD0-3EF2C068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−U₁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E68D4-4411-4DCD-9355-693967BE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−4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C85C3-AAAC-4864-9B6A-91C6944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C315E-2769-440B-AAFB-4DBDC378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MÁSODIK ESÉS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8B3A7-1F81-4D05-B8D5-55E34843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−U₂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6D9F4-31E9-4F83-91E1-6FEF2B7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−8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7DDD2-FA0E-4B32-8C8B-E7CFBDD1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+12 V − 4 V − 8 V = 0</a:t>
            </a:r>
          </a:p>
        </p:txBody>
      </p:sp>
    </p:spTree>
    <p:extLst>
      <p:ext uri="{BB962C8B-B14F-4D97-AF65-F5344CB8AC3E}">
        <p14:creationId xmlns:p14="http://schemas.microsoft.com/office/powerpoint/2010/main" val="393890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FFDAB-8D99-4EAB-B733-DA62CDAD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előjelválasztás következetességet kíván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723CA-2692-4A7D-966A-5BF18F3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8D0C5-E3C3-4C7C-93B0-760EC4EB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692C5-C5EE-48B7-BFD3-50E8741C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DF252-D7EF-44A5-AF58-6E5BDAA7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FORRÁS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B7EC8-08A2-4910-A73A-5CA8BB5E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− pólustól + felé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FCF6A-3AC7-40A3-BBD5-FA6F6487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feszültségnövekedés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AE901-5EAB-4659-9B95-FF126009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19418-59F3-4437-A62D-83E59BAC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41CAA-A670-40D1-AEA8-37F82C48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az áram irányában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15AD7-0ECB-47E0-8902-5F3A82C6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feszültségesés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092C-550F-4D1C-8DA1-03628AF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BA357-17BD-4347-AD80-E72300A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NEGATÍV EREDMÉNY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0BE65-09F2-4F9E-B8EB-70F669C1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ellentétes valódi irány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F1688-B335-4639-BE0B-6138E325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nem automatikus hiba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A5E83-9D40-4845-819A-96DF4FF7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felvett irány lehet tetszőleges, de menet közben nem változhat.</a:t>
            </a:r>
          </a:p>
        </p:txBody>
      </p:sp>
    </p:spTree>
    <p:extLst>
      <p:ext uri="{BB962C8B-B14F-4D97-AF65-F5344CB8AC3E}">
        <p14:creationId xmlns:p14="http://schemas.microsoft.com/office/powerpoint/2010/main" val="511226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7FADF-6C51-41EE-A4D2-D7C6106F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csomópont és a hurok nem ugyanazt adja össze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607A1-B0F5-492F-8A77-1E2550E1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BE259-7783-4582-A615-135BEC89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87B3F-F1D7-460E-A3DC-53614401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49480-837F-46AF-8246-4D25561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NE KEVERD ÖSSZE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07F2D-1F24-4D3E-91C8-F0DE340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Csomópontnál áramokat adunk össze.</a:t>
            </a:r>
          </a:p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Hurokban feszültségeket adunk össze, előjellel.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FC41-C0E9-4860-8E97-C4007D1C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Átépítés és műszeráthelyezés előtt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318529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6A889-AB72-4124-932F-5710749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mérés külön igazolja a két törvényt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4A873-107F-45F2-AFF4-1991B7D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35327-6D6B-41B8-BE36-2890249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58035-FB5E-4590-AE9A-FA1F2DA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8FAB1-E82A-4918-889B-391EC2D6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≈ I₁ + I₂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74316-64C0-474D-B6EF-7CF82DCB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07F5-16D8-4837-A5C6-E5D4B23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U ≈ U₁ + U₂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42193-4785-4C15-ADAD-910230F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495E6-212B-4CC7-857C-B1592EC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eltérés = mérési bizonytalanság + alkatrésztűrés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8E2CD-2EAC-4A01-BB48-B08A08F9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Csomóponti mérés + hurokmérés = kettős ellenőrzés</a:t>
            </a:r>
          </a:p>
        </p:txBody>
      </p:sp>
    </p:spTree>
    <p:extLst>
      <p:ext uri="{BB962C8B-B14F-4D97-AF65-F5344CB8AC3E}">
        <p14:creationId xmlns:p14="http://schemas.microsoft.com/office/powerpoint/2010/main" val="1579579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480A1-DC75-4D3A-A352-BC634EE8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DE2B7-A734-4FB6-81E8-631F4DE3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CCDF2-C140-45D1-8FB1-6338ACD7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Felismerem az ágakat, csomópontokat és hurkokat.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8ECF2-CDC3-4C5E-B8C2-39F76EB0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8AA9F-F43C-4A37-85EE-8B16A2D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csomópontban áramokat egyenlítek ki.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EE728-55E5-493F-BC48-91C428B5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F5222-31DB-444F-BA94-C23EA83C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hurokban előjeles feszültségösszeget írok.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B27E6-D3E3-46D1-959C-FBC1385A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6D65D-2E22-4316-8864-0B764D7B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negatív eredményből a valódi irányra következtetek.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24F86-CBF8-45ED-894C-E20DE3FB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villamos teljesítmény, hatásfok és veszteségek</a:t>
            </a:r>
          </a:p>
        </p:txBody>
      </p:sp>
    </p:spTree>
    <p:extLst>
      <p:ext uri="{BB962C8B-B14F-4D97-AF65-F5344CB8AC3E}">
        <p14:creationId xmlns:p14="http://schemas.microsoft.com/office/powerpoint/2010/main" val="1792358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2026-08-20T17:41:59.0250000Z</dcterms:created>
  <dcterms:modified xsi:type="dcterms:W3CDTF">2026-08-20T17:41:59.0250000Z</dcterms:modified>
</coreProperties>
</file>