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85800"/>
            <a:ext cx="1051560" cy="7315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960120"/>
            <a:ext cx="1828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72768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BED7EB"/>
                </a:solidFill>
                <a:latin typeface="Aptos"/>
              </a:defRPr>
            </a:pPr>
            <a:r>
              <a:t>18.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14884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"/>
              </a:defRPr>
            </a:pPr>
            <a:r>
              <a:t>Félvezetők és a PN-átmenet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090672"/>
            <a:ext cx="9784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0">
                <a:solidFill>
                  <a:srgbClr val="DCE8F2"/>
                </a:solidFill>
                <a:latin typeface="Aptos"/>
              </a:defRPr>
            </a:pPr>
            <a:r>
              <a:t>A dióda működésének alapjai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4343400"/>
            <a:ext cx="1828800" cy="960120"/>
          </a:xfrm>
          <a:prstGeom prst="roundRect">
            <a:avLst/>
          </a:prstGeom>
          <a:solidFill>
            <a:srgbClr val="CFE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15400" y="4343400"/>
            <a:ext cx="1828800" cy="960120"/>
          </a:xfrm>
          <a:prstGeom prst="roundRect">
            <a:avLst/>
          </a:prstGeom>
          <a:solidFill>
            <a:srgbClr val="EEDA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0" y="4590288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1F6FB5"/>
                </a:solidFill>
                <a:latin typeface="Aptos"/>
              </a:defRPr>
            </a:pPr>
            <a:r>
              <a:t>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400" y="4590288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A84040"/>
                </a:solidFill>
                <a:latin typeface="Aptos"/>
              </a:defRPr>
            </a:pPr>
            <a:r>
              <a:t>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5504688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PN-átmenet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18.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Karl Ferdinand Braun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A félvezetők különleges tulajdonságainak felismerése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49834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73152" cy="356616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56232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TÖRTÉNETI KITEKINTÉS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304288"/>
            <a:ext cx="4572000" cy="2816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Braun az elsők között ismerte fel a félvezetők különleges tulajdonságait.</a:t>
            </a:r>
            <a:br/>
            <a:br/>
            <a:r>
              <a:t>Kutatásai hozzájárultak a dióda működésének megértéséhez és a modern elektronika fejlődéséhez.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1691640"/>
            <a:ext cx="5532120" cy="356616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2057400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6FB5"/>
                </a:solidFill>
                <a:latin typeface="Aptos"/>
              </a:defRPr>
            </a:pPr>
            <a:r>
              <a:t>GONDOLKODJ EL!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788920"/>
            <a:ext cx="45720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4304E"/>
                </a:solidFill>
                <a:latin typeface="Aptos"/>
              </a:defRPr>
            </a:pPr>
            <a:r>
              <a:t>Miért világít egy LED csak helyes polaritás esetén?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18.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Heti küldetés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640080" cy="64008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45336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435608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6FB5"/>
                </a:solidFill>
                <a:latin typeface="Aptos"/>
              </a:defRPr>
            </a:pPr>
            <a:r>
              <a:t>FÉLVEZETŐ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1435608"/>
            <a:ext cx="7040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szilícium és germánium tulajdonságai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468880"/>
            <a:ext cx="640080" cy="64008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596896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487168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6FB5"/>
                </a:solidFill>
                <a:latin typeface="Aptos"/>
              </a:defRPr>
            </a:pPr>
            <a:r>
              <a:t>ADALÉKOLÁS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2487168"/>
            <a:ext cx="7040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P- és N-típusú félvezetők kialakítása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520439"/>
            <a:ext cx="640080" cy="64008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648456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538727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6FB5"/>
                </a:solidFill>
                <a:latin typeface="Aptos"/>
              </a:defRPr>
            </a:pPr>
            <a:r>
              <a:t>PN-ÁTMENET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3538727"/>
            <a:ext cx="7040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a dióda működésének fizikai alapja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572000"/>
            <a:ext cx="640080" cy="64008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700016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590288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6FB5"/>
                </a:solidFill>
                <a:latin typeface="Aptos"/>
              </a:defRPr>
            </a:pPr>
            <a:r>
              <a:t>DIÓDA + LED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60" y="4590288"/>
            <a:ext cx="7040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nyitó- és záróirány, gyakorlati mérés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18.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Félvezető anyagok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Szilícium és germánium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530352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645920"/>
            <a:ext cx="73152" cy="416052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10512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SZILÍCIUM • 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58568"/>
            <a:ext cx="4892040" cy="3410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modern elektronika meghatározó félvezető anyaga.</a:t>
            </a:r>
            <a:br/>
            <a:br/>
            <a:r>
              <a:t>Tiszta állapotban korlátozott vezetőképességű.</a:t>
            </a:r>
            <a:br/>
            <a:br/>
            <a:r>
              <a:t>Adalékolással villamos tulajdonságai célzottan módosíthatók.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645920"/>
            <a:ext cx="530352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36208" y="1645920"/>
            <a:ext cx="73152" cy="4160520"/>
          </a:xfrm>
          <a:prstGeom prst="roundRect">
            <a:avLst/>
          </a:prstGeom>
          <a:solidFill>
            <a:srgbClr val="BC7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1810512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GERMÁNIUM • 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2258568"/>
            <a:ext cx="4892040" cy="3410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Fontos félvezető anyag, amely a félvezető-technika korai fejlődésében nagy szerepet kapott.</a:t>
            </a:r>
            <a:br/>
            <a:br/>
            <a:r>
              <a:t>A tananyag a szilíciummal együtt alapanyagként tárgyalja.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18.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P- és N-típusú félvezetők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Az adalékolás eredménye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212080" cy="3566160"/>
          </a:xfrm>
          <a:prstGeom prst="roundRect">
            <a:avLst/>
          </a:prstGeom>
          <a:solidFill>
            <a:srgbClr val="E8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11680"/>
            <a:ext cx="4572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1F6FB5"/>
                </a:solidFill>
                <a:latin typeface="Aptos"/>
              </a:defRPr>
            </a:pPr>
            <a:r>
              <a:t>N-TÍPUS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788920"/>
            <a:ext cx="43891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0">
                <a:solidFill>
                  <a:srgbClr val="232D37"/>
                </a:solidFill>
                <a:latin typeface="Aptos"/>
              </a:defRPr>
            </a:pPr>
            <a:r>
              <a:t>A félvezető vezetési tulajdonságait adalékolással módosítjuk.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645920"/>
            <a:ext cx="5212080" cy="3566160"/>
          </a:xfrm>
          <a:prstGeom prst="roundRect">
            <a:avLst/>
          </a:prstGeom>
          <a:solidFill>
            <a:srgbClr val="F8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A84040"/>
                </a:solidFill>
                <a:latin typeface="Aptos"/>
              </a:defRPr>
            </a:pPr>
            <a:r>
              <a:t>P-TÍPUS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788920"/>
            <a:ext cx="43891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0">
                <a:solidFill>
                  <a:srgbClr val="232D37"/>
                </a:solidFill>
                <a:latin typeface="Aptos"/>
              </a:defRPr>
            </a:pPr>
            <a:r>
              <a:t>A P- és N-típus találkozásakor jön létre a PN-átmenet.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49240" y="4617720"/>
            <a:ext cx="1508760" cy="50292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49240" y="4736592"/>
            <a:ext cx="1508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PN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18.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A PN-átmenet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A dióda működésének alapja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28800"/>
            <a:ext cx="4846320" cy="1965960"/>
          </a:xfrm>
          <a:prstGeom prst="roundRect">
            <a:avLst/>
          </a:prstGeom>
          <a:solidFill>
            <a:srgbClr val="E8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331720"/>
            <a:ext cx="4389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400" b="1">
                <a:solidFill>
                  <a:srgbClr val="1F6FB5"/>
                </a:solidFill>
                <a:latin typeface="Aptos"/>
              </a:defRPr>
            </a:pPr>
            <a:r>
              <a:t>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1828800"/>
            <a:ext cx="4846320" cy="1965960"/>
          </a:xfrm>
          <a:prstGeom prst="roundRect">
            <a:avLst/>
          </a:prstGeom>
          <a:solidFill>
            <a:srgbClr val="F8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331720"/>
            <a:ext cx="4389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400" b="1">
                <a:solidFill>
                  <a:srgbClr val="A84040"/>
                </a:solidFill>
                <a:latin typeface="Aptos"/>
              </a:defRPr>
            </a:pPr>
            <a:r>
              <a:t>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23560" y="1645920"/>
            <a:ext cx="914400" cy="233172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23560" y="25146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PN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572000"/>
            <a:ext cx="9966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14304E"/>
                </a:solidFill>
                <a:latin typeface="Aptos"/>
              </a:defRPr>
            </a:pPr>
            <a:r>
              <a:t>A PN-átmenet viselkedése teszi lehetővé, hogy a dióda az egyik irányban vezessen, a másikban pedig gátolja az áramot.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18.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A dióda működése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Nyitóirány és záróirány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530352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645920"/>
            <a:ext cx="73152" cy="402336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10512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NYITÓIRÁNY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58568"/>
            <a:ext cx="4892040" cy="3273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Megfelelő polaritás esetén a dióda vezet.</a:t>
            </a:r>
            <a:br/>
            <a:br/>
            <a:r>
              <a:t>A gyakorlatban a multiméter diódateszt funkciójával nyitófeszültség-jellegű értéket mérhetünk.</a:t>
            </a:r>
            <a:br/>
            <a:br/>
            <a:r>
              <a:t>LED esetén fénykibocsátás figyelhető meg.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645920"/>
            <a:ext cx="530352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36208" y="1645920"/>
            <a:ext cx="73152" cy="4023360"/>
          </a:xfrm>
          <a:prstGeom prst="roundRect">
            <a:avLst/>
          </a:prstGeom>
          <a:solidFill>
            <a:srgbClr val="A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1810512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ZÁRÓIRÁNY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2258568"/>
            <a:ext cx="4892040" cy="3273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Fordított polaritás esetén a dióda normál üzemi körülmények között nem vezet úgy, mint nyitóirányban.</a:t>
            </a:r>
            <a:br/>
            <a:br/>
            <a:r>
              <a:t>A diódateszt ezt eltérő kijelzéssel mutatja.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18.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LED és polaritás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A fénykibocsátó dióda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3840480" cy="35661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331720"/>
            <a:ext cx="3840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Aptos"/>
              </a:defRPr>
            </a:pPr>
            <a:r>
              <a:t>LED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46120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D2E6F5"/>
                </a:solidFill>
                <a:latin typeface="Aptos"/>
              </a:defRPr>
            </a:pPr>
            <a:r>
              <a:t>helyes polaritás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60" y="1691640"/>
            <a:ext cx="62179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37760" y="1691640"/>
            <a:ext cx="73152" cy="150876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1856232"/>
            <a:ext cx="5806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1. szabály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2304288"/>
            <a:ext cx="580644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LED polaritását be kell tartani.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37760" y="3429000"/>
            <a:ext cx="62179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0" y="3429000"/>
            <a:ext cx="73152" cy="1508760"/>
          </a:xfrm>
          <a:prstGeom prst="roundRect">
            <a:avLst/>
          </a:prstGeom>
          <a:solidFill>
            <a:srgbClr val="BC7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66360" y="3593592"/>
            <a:ext cx="5806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2. szabály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60" y="4041648"/>
            <a:ext cx="580644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LED-et előtétellenállással használjuk.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623560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5C6976"/>
                </a:solidFill>
                <a:latin typeface="Aptos"/>
              </a:defRPr>
            </a:pPr>
            <a:r>
              <a:t>A forrás külön kiemeli a fordított bekötést és az előtétellenállás kihagyását mint tipikus hibát.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18.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Számítási példa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LED előtétellenállás 5 V-os táplálásnál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45920"/>
            <a:ext cx="3794760" cy="1874519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3429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"/>
              </a:defRPr>
            </a:pPr>
            <a:r>
              <a:t>R = (Uₜ - ULED) / 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92040" y="1645920"/>
            <a:ext cx="63550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0" y="1965960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14304E"/>
                </a:solidFill>
                <a:latin typeface="Aptos"/>
              </a:defRPr>
            </a:pPr>
            <a:r>
              <a:t>Példa: 5 V • 2 V LED • 10 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560320"/>
            <a:ext cx="5669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300" b="1">
                <a:solidFill>
                  <a:srgbClr val="1F6FB5"/>
                </a:solidFill>
                <a:latin typeface="Aptos"/>
              </a:defRPr>
            </a:pPr>
            <a:r>
              <a:t>R = (5 - 2) / 0,01 = 300 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60520"/>
            <a:ext cx="10332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900" b="1">
                <a:solidFill>
                  <a:srgbClr val="347D59"/>
                </a:solidFill>
                <a:latin typeface="Aptos"/>
              </a:defRPr>
            </a:pPr>
            <a:r>
              <a:t>LED teljesítménye: P = U · I = 2 V · 0,01 A = 0,02 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166360"/>
            <a:ext cx="101498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232D37"/>
                </a:solidFill>
                <a:latin typeface="Aptos"/>
              </a:defRPr>
            </a:pPr>
            <a:r>
              <a:t>A konkrét LED nyitófeszültsége a típustól és színtől függhet; a tananyag ezt mérési témaként is kiemeli.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18.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Labor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Dióda és LED mérése multiméterrel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566928" cy="566928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27048"/>
            <a:ext cx="5669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435608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Mérj meg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435608"/>
            <a:ext cx="749807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több különböző diódát diódateszt funkcióval.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276856"/>
            <a:ext cx="566928" cy="566928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386584"/>
            <a:ext cx="5669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295144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Fordíts polaritást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295144"/>
            <a:ext cx="749807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és hasonlítsd össze a kijelzést.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136391"/>
            <a:ext cx="566928" cy="566928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246120"/>
            <a:ext cx="5669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154679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Határozd meg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3154679"/>
            <a:ext cx="749807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egy LED polaritását.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995928"/>
            <a:ext cx="566928" cy="566928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105656"/>
            <a:ext cx="5669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014215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Építs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4014215"/>
            <a:ext cx="749807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LED-es áramkört előtétellenállással.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855464"/>
            <a:ext cx="566928" cy="566928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965192"/>
            <a:ext cx="5669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873751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Dokumentálj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4873751"/>
            <a:ext cx="749807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minden eredményt mérési jegyzőkönyvben.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18.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Gyakori hibák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5257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73152" cy="1508760"/>
          </a:xfrm>
          <a:prstGeom prst="roundRect">
            <a:avLst/>
          </a:prstGeom>
          <a:solidFill>
            <a:srgbClr val="A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64792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Fordított dióda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12848"/>
            <a:ext cx="484632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polaritás meghatározza a működési irányt.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600200"/>
            <a:ext cx="5257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72200" y="1600200"/>
            <a:ext cx="73152" cy="1508760"/>
          </a:xfrm>
          <a:prstGeom prst="roundRect">
            <a:avLst/>
          </a:prstGeom>
          <a:solidFill>
            <a:srgbClr val="A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764792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Nincs előtétellenállás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212848"/>
            <a:ext cx="484632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LED biztonságos alkalmazásához szükséges.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657600"/>
            <a:ext cx="5257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5800" y="3657600"/>
            <a:ext cx="73152" cy="1508760"/>
          </a:xfrm>
          <a:prstGeom prst="roundRect">
            <a:avLst/>
          </a:prstGeom>
          <a:solidFill>
            <a:srgbClr val="A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Hibás diódateszt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270248"/>
            <a:ext cx="484632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mérőműszer funkcióját helyesen kell használni.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657600"/>
            <a:ext cx="5257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72200" y="3657600"/>
            <a:ext cx="73152" cy="1508760"/>
          </a:xfrm>
          <a:prstGeom prst="roundRect">
            <a:avLst/>
          </a:prstGeom>
          <a:solidFill>
            <a:srgbClr val="A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822191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LED polaritás felcserélése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270248"/>
            <a:ext cx="484632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LED csak megfelelő irányban működik.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18.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IAP a gyakorlatban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Hol dolgoznak a félvezető diódák?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20574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24712" y="2148840"/>
            <a:ext cx="822960" cy="8229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" y="2386584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TÁPEGYSÉG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91840"/>
            <a:ext cx="1691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4304E"/>
                </a:solidFill>
                <a:latin typeface="Aptos"/>
              </a:defRPr>
            </a:pPr>
            <a:r>
              <a:t>egyenirányítás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07208" y="1828800"/>
            <a:ext cx="20574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29000" y="2148840"/>
            <a:ext cx="822960" cy="8229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2386584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PLC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0088" y="3291840"/>
            <a:ext cx="1691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4304E"/>
                </a:solidFill>
                <a:latin typeface="Aptos"/>
              </a:defRPr>
            </a:pPr>
            <a:r>
              <a:t>elektronikai áramkörök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11496" y="1828800"/>
            <a:ext cx="20574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733288" y="2148840"/>
            <a:ext cx="822960" cy="8229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33288" y="2386584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HAJTÁS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94376" y="3291840"/>
            <a:ext cx="1691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4304E"/>
                </a:solidFill>
                <a:latin typeface="Aptos"/>
              </a:defRPr>
            </a:pPr>
            <a:r>
              <a:t>frekvenciaváltó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15784" y="1828800"/>
            <a:ext cx="20574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37576" y="2148840"/>
            <a:ext cx="822960" cy="8229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37576" y="2386584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LED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98664" y="3291840"/>
            <a:ext cx="1691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4304E"/>
                </a:solidFill>
                <a:latin typeface="Aptos"/>
              </a:defRPr>
            </a:pPr>
            <a:r>
              <a:t>világítástechnika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20072" y="1828800"/>
            <a:ext cx="20574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341864" y="2148840"/>
            <a:ext cx="822960" cy="8229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41864" y="2386584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PV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02952" y="3291840"/>
            <a:ext cx="1691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4304E"/>
                </a:solidFill>
                <a:latin typeface="Aptos"/>
              </a:defRPr>
            </a:pPr>
            <a:r>
              <a:t>napelemes inverter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07492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1F6FB5"/>
                </a:solidFill>
                <a:latin typeface="Aptos"/>
              </a:defRPr>
            </a:pPr>
            <a:r>
              <a:t>A félvezető dióda az ipari elektronika egyik alapvető építőeleme.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18.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Amit ezen a héten megtanultál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444752"/>
            <a:ext cx="9692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32D37"/>
                </a:solidFill>
                <a:latin typeface="Aptos"/>
              </a:defRPr>
            </a:pPr>
            <a:r>
              <a:t>A félvezetők alapvető tulajdonságai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203704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295144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231136"/>
            <a:ext cx="9692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32D37"/>
                </a:solidFill>
                <a:latin typeface="Aptos"/>
              </a:defRPr>
            </a:pPr>
            <a:r>
              <a:t>P- és N-típusú félvezetők és a PN-átmenet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990088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081528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017520"/>
            <a:ext cx="9692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32D37"/>
                </a:solidFill>
                <a:latin typeface="Aptos"/>
              </a:defRPr>
            </a:pPr>
            <a:r>
              <a:t>A dióda nyitó- és záróirányú működése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776472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867911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803904"/>
            <a:ext cx="9692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32D37"/>
                </a:solidFill>
                <a:latin typeface="Aptos"/>
              </a:defRPr>
            </a:pPr>
            <a:r>
              <a:t>Dióda és LED mérése multiméterrel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562856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654296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590288"/>
            <a:ext cx="9692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32D37"/>
                </a:solidFill>
                <a:latin typeface="Aptos"/>
              </a:defRPr>
            </a:pPr>
            <a:r>
              <a:t>LED biztonságos alkalmazása előtétellenállással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577840"/>
            <a:ext cx="10607040" cy="566928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733288"/>
            <a:ext cx="10241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F6FB5"/>
                </a:solidFill>
                <a:latin typeface="Aptos"/>
              </a:defRPr>
            </a:pPr>
            <a:r>
              <a:t>Következő hét: különböző diódatípusok és gyakorlati alkalmazásaik.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