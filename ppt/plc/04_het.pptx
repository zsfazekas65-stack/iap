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Arial" panose="020B0604020202020204" pitchFamily="34" charset="0"/>
      <p:regular r:id="rId13"/>
    </p:embeddedFont>
    <p:embeddedFont>
      <p:font typeface="Arial Bold" panose="020B0604020202020204" charset="0"/>
      <p:regular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3" d="100"/>
          <a:sy n="33" d="100"/>
        </p:scale>
        <p:origin x="946" y="1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01.08.2026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[Sources]</a:t>
            </a:r>
          </a:p>
          <a:p>
            <a:r>
              <a:rPr lang="en-US"/>
              <a:t>- A felhasználó által feltöltött: 1._Miért van szükség asPLC-re(2).docx</a:t>
            </a:r>
          </a:p>
          <a:p>
            <a:r>
              <a:rPr lang="en-US"/>
              <a:t>- Vizuális sablon: 36_IAP_Zaroprojekt_analog_rendszer_tervezese_36_het.pptx</a:t>
            </a:r>
          </a:p>
          <a:p>
            <a:r>
              <a:rPr lang="en-US"/>
              <a:t>- Témakör: PLC szerepe, scan cycle, fő részek, relés összehasonlítás és alaplabor</a:t>
            </a:r>
          </a:p>
          <a:p>
            <a:r>
              <a:rPr lang="en-US"/>
              <a:t>- Külső webes forrás nem került felhasználásra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1.png"/><Relationship Id="rId4" Type="http://schemas.openxmlformats.org/officeDocument/2006/relationships/oleObject" Target="../embeddings/oleObject1.bin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590550"/>
            <a:ext cx="10001250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475" b="1" dirty="0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4. HÉT • 5 × 45 PERC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405975" y="2176462"/>
            <a:ext cx="15144750" cy="4019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720"/>
              </a:lnSpc>
            </a:pPr>
            <a:r>
              <a:rPr lang="en-US" sz="5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4. hét – Start–Stop </a:t>
            </a:r>
            <a:r>
              <a:rPr lang="en-US" sz="5600" b="1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vezérlés</a:t>
            </a:r>
            <a:r>
              <a:rPr lang="en-US" sz="5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 és </a:t>
            </a:r>
            <a:r>
              <a:rPr lang="en-US" sz="5600" b="1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önzárás</a:t>
            </a:r>
            <a:r>
              <a:rPr lang="en-US" sz="5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 vagy </a:t>
            </a:r>
            <a:r>
              <a:rPr lang="en-US" sz="5600" b="1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más</a:t>
            </a:r>
            <a:r>
              <a:rPr lang="en-US" sz="5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5600" b="1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néven</a:t>
            </a:r>
            <a:r>
              <a:rPr lang="en-US" sz="5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5600" b="1" dirty="0" err="1">
                <a:solidFill>
                  <a:schemeClr val="tx2">
                    <a:lumMod val="40000"/>
                    <a:lumOff val="60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öntartás</a:t>
            </a:r>
            <a:r>
              <a:rPr lang="en-US" sz="56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</a:p>
          <a:p>
            <a:pPr algn="l">
              <a:lnSpc>
                <a:spcPts val="9045"/>
              </a:lnSpc>
            </a:pPr>
            <a:endParaRPr lang="en-US" sz="5600" b="1" dirty="0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l">
              <a:lnSpc>
                <a:spcPts val="9045"/>
              </a:lnSpc>
            </a:pPr>
            <a:endParaRPr lang="en-US" sz="5600" b="1" dirty="0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00075" y="5233987"/>
            <a:ext cx="16659225" cy="2009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5"/>
              </a:lnSpc>
            </a:pPr>
            <a:r>
              <a:rPr lang="en-US" sz="3262" dirty="0">
                <a:solidFill>
                  <a:schemeClr val="accent6">
                    <a:lumMod val="7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A hét </a:t>
            </a:r>
            <a:r>
              <a:rPr lang="en-US" sz="3262" dirty="0" err="1">
                <a:solidFill>
                  <a:schemeClr val="accent6">
                    <a:lumMod val="7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gondolata</a:t>
            </a:r>
            <a:endParaRPr lang="en-US" sz="3262" dirty="0">
              <a:solidFill>
                <a:schemeClr val="accent6">
                  <a:lumMod val="75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ts val="3915"/>
              </a:lnSpc>
            </a:pPr>
            <a:r>
              <a:rPr lang="en-US" sz="3262" dirty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„A jó PLC-program nem a </a:t>
            </a:r>
            <a:r>
              <a:rPr lang="en-US" sz="3262" dirty="0" err="1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számítógépen</a:t>
            </a:r>
            <a:r>
              <a:rPr lang="en-US" sz="3262" dirty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62" dirty="0" err="1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kezdődik</a:t>
            </a:r>
            <a:r>
              <a:rPr lang="en-US" sz="3262" dirty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, hanem a </a:t>
            </a:r>
            <a:r>
              <a:rPr lang="en-US" sz="3262" dirty="0" err="1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kapcsolási</a:t>
            </a:r>
            <a:r>
              <a:rPr lang="en-US" sz="3262" dirty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3262" dirty="0" err="1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rajzon</a:t>
            </a:r>
            <a:r>
              <a:rPr lang="en-US" sz="3262" dirty="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.”</a:t>
            </a:r>
          </a:p>
          <a:p>
            <a:pPr algn="l">
              <a:lnSpc>
                <a:spcPts val="3915"/>
              </a:lnSpc>
            </a:pPr>
            <a:endParaRPr lang="en-US" sz="3262" dirty="0">
              <a:solidFill>
                <a:srgbClr val="4B5563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ts val="3915"/>
              </a:lnSpc>
            </a:pPr>
            <a:endParaRPr lang="en-US" sz="3262" dirty="0">
              <a:solidFill>
                <a:srgbClr val="4B556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600075" y="7022306"/>
            <a:ext cx="17087850" cy="142875"/>
            <a:chOff x="0" y="0"/>
            <a:chExt cx="22783800" cy="1905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2783800" cy="190500"/>
            </a:xfrm>
            <a:custGeom>
              <a:avLst/>
              <a:gdLst/>
              <a:ahLst/>
              <a:cxnLst/>
              <a:rect l="l" t="t" r="r" b="b"/>
              <a:pathLst>
                <a:path w="22783800" h="190500">
                  <a:moveTo>
                    <a:pt x="0" y="0"/>
                  </a:moveTo>
                  <a:lnTo>
                    <a:pt x="22783800" y="0"/>
                  </a:lnTo>
                  <a:lnTo>
                    <a:pt x="22783800" y="190500"/>
                  </a:lnTo>
                  <a:lnTo>
                    <a:pt x="0" y="190500"/>
                  </a:lnTo>
                  <a:close/>
                </a:path>
              </a:pathLst>
            </a:custGeom>
            <a:solidFill>
              <a:srgbClr val="38B6FF"/>
            </a:solidFill>
          </p:spPr>
        </p:sp>
      </p:grpSp>
      <p:sp>
        <p:nvSpPr>
          <p:cNvPr id="7" name="TextBox 7"/>
          <p:cNvSpPr txBox="1"/>
          <p:nvPr/>
        </p:nvSpPr>
        <p:spPr>
          <a:xfrm>
            <a:off x="600075" y="7677150"/>
            <a:ext cx="14716125" cy="2981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TTanulási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célok</a:t>
            </a:r>
            <a:endParaRPr lang="en-US" sz="2475" b="1" dirty="0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l">
              <a:lnSpc>
                <a:spcPts val="2970"/>
              </a:lnSpc>
            </a:pP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Megérti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 a Start–Stop </a:t>
            </a: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vezérlés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működését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.</a:t>
            </a:r>
          </a:p>
          <a:p>
            <a:pPr algn="l">
              <a:lnSpc>
                <a:spcPts val="2970"/>
              </a:lnSpc>
            </a:pP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Megismeri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 a NO és NC </a:t>
            </a: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érintkezők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szerepét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.</a:t>
            </a:r>
          </a:p>
          <a:p>
            <a:pPr algn="l">
              <a:lnSpc>
                <a:spcPts val="2970"/>
              </a:lnSpc>
            </a:pP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Elkészíti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 első </a:t>
            </a: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önzáró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 PLC-</a:t>
            </a: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programját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.</a:t>
            </a:r>
          </a:p>
          <a:p>
            <a:pPr algn="l">
              <a:lnSpc>
                <a:spcPts val="2970"/>
              </a:lnSpc>
            </a:pP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Összehasonlítja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 a </a:t>
            </a: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relés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 és PLC-s </a:t>
            </a: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vezérlést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.</a:t>
            </a:r>
          </a:p>
          <a:p>
            <a:pPr algn="l">
              <a:lnSpc>
                <a:spcPts val="2970"/>
              </a:lnSpc>
            </a:pP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Megérti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 a </a:t>
            </a: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biztonságos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indítás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 és </a:t>
            </a: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leállítás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  <a:r>
              <a:rPr lang="en-US" sz="2475" b="1" dirty="0" err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alapelveit</a:t>
            </a:r>
            <a:r>
              <a:rPr lang="en-US" sz="2475" b="1" dirty="0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.</a:t>
            </a:r>
          </a:p>
          <a:p>
            <a:pPr algn="l">
              <a:lnSpc>
                <a:spcPts val="2970"/>
              </a:lnSpc>
            </a:pPr>
            <a:endParaRPr lang="en-US" sz="2475" b="1" dirty="0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l">
              <a:lnSpc>
                <a:spcPts val="2970"/>
              </a:lnSpc>
            </a:pPr>
            <a:endParaRPr lang="en-US" sz="2475" b="1" dirty="0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00075" y="857250"/>
            <a:ext cx="17497915" cy="3286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05"/>
              </a:lnSpc>
            </a:pPr>
            <a:r>
              <a:rPr lang="en-US" sz="3587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Bevezetés</a:t>
            </a:r>
          </a:p>
          <a:p>
            <a:pPr algn="l">
              <a:lnSpc>
                <a:spcPts val="4305"/>
              </a:lnSpc>
            </a:pPr>
            <a:r>
              <a:rPr lang="en-US" sz="3587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A Start–Stop vezérlés az ipari automatizálás egyik legalapvetőbb kapcsolása. Motorok, szivattyúk, ventilátorok és szállítószalagok vezérlésénél nap mint nap alkalmazzuk.</a:t>
            </a:r>
          </a:p>
          <a:p>
            <a:pPr algn="l">
              <a:lnSpc>
                <a:spcPts val="4305"/>
              </a:lnSpc>
            </a:pPr>
            <a:endParaRPr lang="en-US" sz="3587" b="1">
              <a:solidFill>
                <a:srgbClr val="1597C5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l">
              <a:lnSpc>
                <a:spcPts val="4305"/>
              </a:lnSpc>
            </a:pPr>
            <a:endParaRPr lang="en-US" sz="3587" b="1">
              <a:solidFill>
                <a:srgbClr val="1597C5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6930688" y="9477375"/>
            <a:ext cx="771525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575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79353" y="3659005"/>
            <a:ext cx="16776682" cy="28386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04"/>
              </a:lnSpc>
              <a:spcBef>
                <a:spcPct val="0"/>
              </a:spcBef>
            </a:pPr>
            <a:r>
              <a:rPr lang="en-US" sz="617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|----[/ S0 ]------ -+----[ S1 ]----------------( K1 )------|</a:t>
            </a:r>
          </a:p>
          <a:p>
            <a:pPr algn="ctr">
              <a:lnSpc>
                <a:spcPts val="7404"/>
              </a:lnSpc>
              <a:spcBef>
                <a:spcPct val="0"/>
              </a:spcBef>
            </a:pPr>
            <a:r>
              <a:rPr lang="en-US" sz="617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                        |                                                  |</a:t>
            </a:r>
          </a:p>
          <a:p>
            <a:pPr algn="ctr">
              <a:lnSpc>
                <a:spcPts val="7404"/>
              </a:lnSpc>
              <a:spcBef>
                <a:spcPct val="0"/>
              </a:spcBef>
            </a:pPr>
            <a:r>
              <a:rPr lang="en-US" sz="617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                       +[ K1 ]----------------------------------|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27651" y="6669072"/>
            <a:ext cx="6887051" cy="342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 relés Start–Stop kapcsolás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Fő elemei:</a:t>
            </a:r>
          </a:p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START nyomógomb (NO)</a:t>
            </a:r>
          </a:p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STOP nyomógomb (NC)</a:t>
            </a:r>
          </a:p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Mágneskapcsoló (K1)</a:t>
            </a:r>
          </a:p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Önzáró segédérintkező</a:t>
            </a:r>
          </a:p>
          <a:p>
            <a:pPr algn="ctr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Fogyasztó (motor vagy jelzőlámpa)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6930688" y="9477375"/>
            <a:ext cx="771525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575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0" y="3000375"/>
            <a:ext cx="18288000" cy="1971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NO és NC érintkezők</a:t>
            </a:r>
          </a:p>
          <a:p>
            <a:pPr algn="just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NO (Normally Open): alaphelyzetben nyitott, a START gomb ilyen</a:t>
            </a:r>
          </a:p>
          <a:p>
            <a:pPr algn="just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NC (Normally Closed): alaphelyzetben zárt, a STOP gomb ilyen. Ez biztonságosabb, mert vezetékszakadás esetén is leáll a gép.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0" y="5838270"/>
            <a:ext cx="9394984" cy="2943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Az önzárás működése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1. START megnyomása.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2. A mágneskapcsoló meghúz.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3. Saját segédérintkezője fenntartja a működést.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4. A START elengedhető.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5. STOP megnyomására a rendszer leáll.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0488" y="847725"/>
            <a:ext cx="16573500" cy="1733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719"/>
              </a:lnSpc>
            </a:pPr>
            <a:endParaRPr/>
          </a:p>
          <a:p>
            <a:pPr algn="l">
              <a:lnSpc>
                <a:spcPts val="6719"/>
              </a:lnSpc>
            </a:pPr>
            <a:r>
              <a:rPr lang="en-US" sz="5599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A segédérintkezők feldata, típusai, feladatuk.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/>
          <p:nvPr/>
        </p:nvGraphicFramePr>
        <p:xfrm>
          <a:off x="1307956" y="3130224"/>
          <a:ext cx="3771900" cy="3143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Worksheet" r:id="rId4" imgW="4521200" imgH="3886200" progId="Excel.Sheet.12">
                  <p:embed/>
                </p:oleObj>
              </mc:Choice>
              <mc:Fallback>
                <p:oleObj name="Worksheet" r:id="rId4" imgW="4521200" imgH="38862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307956" y="3130224"/>
                        <a:ext cx="3771900" cy="3143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00075" y="847725"/>
            <a:ext cx="16573500" cy="342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719"/>
              </a:lnSpc>
            </a:pPr>
            <a:endParaRPr/>
          </a:p>
          <a:p>
            <a:pPr algn="l">
              <a:lnSpc>
                <a:spcPts val="6719"/>
              </a:lnSpc>
            </a:pPr>
            <a:r>
              <a:rPr lang="en-US" sz="5599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Relés és PLC-s vezérlés összehasonlítása</a:t>
            </a:r>
          </a:p>
          <a:p>
            <a:pPr algn="l">
              <a:lnSpc>
                <a:spcPts val="6719"/>
              </a:lnSpc>
            </a:pPr>
            <a:endParaRPr lang="en-US" sz="5599" b="1">
              <a:solidFill>
                <a:srgbClr val="1597C5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l">
              <a:lnSpc>
                <a:spcPts val="6719"/>
              </a:lnSpc>
            </a:pPr>
            <a:endParaRPr lang="en-US" sz="5599" b="1">
              <a:solidFill>
                <a:srgbClr val="1597C5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6930688" y="9477375"/>
            <a:ext cx="771525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575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00075" y="857250"/>
            <a:ext cx="16573500" cy="2457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Mi a digitális jel?A digitális jel olyan villamos jel, amely csak meghatározott értékeket vehet fel. A gyakorlatban ez legtöbbször két állapotot jelent:</a:t>
            </a:r>
          </a:p>
          <a:p>
            <a:pPr marL="690881" lvl="1" indent="-345440" algn="l">
              <a:lnSpc>
                <a:spcPts val="3840"/>
              </a:lnSpc>
              <a:buFont typeface="Arial"/>
              <a:buChar char="•"/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0 (LOW) – alacsony feszültség (pl. 0 V)</a:t>
            </a:r>
          </a:p>
          <a:p>
            <a:pPr marL="690881" lvl="1" indent="-345440" algn="l">
              <a:lnSpc>
                <a:spcPts val="3840"/>
              </a:lnSpc>
              <a:buFont typeface="Arial"/>
              <a:buChar char="•"/>
            </a:pPr>
            <a:r>
              <a:rPr lang="en-US" sz="32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1 (HIGH) – magas feszültség (pl. 5 V vagy 24 V)</a:t>
            </a:r>
          </a:p>
          <a:p>
            <a:pPr algn="l">
              <a:lnSpc>
                <a:spcPts val="3840"/>
              </a:lnSpc>
            </a:pPr>
            <a:endParaRPr lang="en-US" sz="3200" b="1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6930688" y="9477375"/>
            <a:ext cx="771525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575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309546" y="4219575"/>
            <a:ext cx="4286250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4"/>
              </a:lnSpc>
            </a:pPr>
            <a:r>
              <a:rPr lang="en-US" sz="3037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Jelentés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85875" y="4267200"/>
            <a:ext cx="428625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Állapot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143000" y="5229225"/>
            <a:ext cx="15430500" cy="28575"/>
            <a:chOff x="0" y="0"/>
            <a:chExt cx="20574000" cy="381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0574000" cy="38100"/>
            </a:xfrm>
            <a:custGeom>
              <a:avLst/>
              <a:gdLst/>
              <a:ahLst/>
              <a:cxnLst/>
              <a:rect l="l" t="t" r="r" b="b"/>
              <a:pathLst>
                <a:path w="20574000" h="38100">
                  <a:moveTo>
                    <a:pt x="0" y="0"/>
                  </a:moveTo>
                  <a:lnTo>
                    <a:pt x="20574000" y="0"/>
                  </a:lnTo>
                  <a:lnTo>
                    <a:pt x="20574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DEDED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1285875" y="5695950"/>
            <a:ext cx="4286250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0</a:t>
            </a:r>
          </a:p>
          <a:p>
            <a:pPr algn="l">
              <a:lnSpc>
                <a:spcPts val="3240"/>
              </a:lnSpc>
            </a:pPr>
            <a:endParaRPr lang="en-US" sz="2700" b="1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143625" y="5695950"/>
            <a:ext cx="428625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1597C5"/>
                </a:solidFill>
                <a:latin typeface="Arial"/>
                <a:ea typeface="Arial"/>
                <a:cs typeface="Arial"/>
                <a:sym typeface="Arial"/>
              </a:rPr>
              <a:t>KI/OFF/HAMIS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143000" y="6657975"/>
            <a:ext cx="15430500" cy="28575"/>
            <a:chOff x="0" y="0"/>
            <a:chExt cx="20574000" cy="381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0574000" cy="38100"/>
            </a:xfrm>
            <a:custGeom>
              <a:avLst/>
              <a:gdLst/>
              <a:ahLst/>
              <a:cxnLst/>
              <a:rect l="l" t="t" r="r" b="b"/>
              <a:pathLst>
                <a:path w="20574000" h="38100">
                  <a:moveTo>
                    <a:pt x="0" y="0"/>
                  </a:moveTo>
                  <a:lnTo>
                    <a:pt x="20574000" y="0"/>
                  </a:lnTo>
                  <a:lnTo>
                    <a:pt x="20574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DEDED"/>
            </a:solidFill>
          </p:spPr>
        </p:sp>
      </p:grpSp>
      <p:sp>
        <p:nvSpPr>
          <p:cNvPr id="13" name="TextBox 13"/>
          <p:cNvSpPr txBox="1"/>
          <p:nvPr/>
        </p:nvSpPr>
        <p:spPr>
          <a:xfrm>
            <a:off x="1285875" y="7124700"/>
            <a:ext cx="428625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143625" y="7124700"/>
            <a:ext cx="428625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1597C5"/>
                </a:solidFill>
                <a:latin typeface="Arial"/>
                <a:ea typeface="Arial"/>
                <a:cs typeface="Arial"/>
                <a:sym typeface="Arial"/>
              </a:rPr>
              <a:t>BE/ON/IGAZ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43000" y="8086725"/>
            <a:ext cx="15430500" cy="28575"/>
            <a:chOff x="0" y="0"/>
            <a:chExt cx="20574000" cy="381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0574000" cy="38100"/>
            </a:xfrm>
            <a:custGeom>
              <a:avLst/>
              <a:gdLst/>
              <a:ahLst/>
              <a:cxnLst/>
              <a:rect l="l" t="t" r="r" b="b"/>
              <a:pathLst>
                <a:path w="20574000" h="38100">
                  <a:moveTo>
                    <a:pt x="0" y="0"/>
                  </a:moveTo>
                  <a:lnTo>
                    <a:pt x="20574000" y="0"/>
                  </a:lnTo>
                  <a:lnTo>
                    <a:pt x="20574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DEDED"/>
            </a:solidFill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86749" y="4183505"/>
            <a:ext cx="16573500" cy="2457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Laborfeladat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· Relés Start–Stop kapcsolás megépítése.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· Ugyanez Eaton easy PLC-n.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· Program elkészítése LG kompakt PLC-n.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· Program letöltése Omron PLC-re és online monitor használata.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86749" y="504825"/>
            <a:ext cx="17901251" cy="342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719"/>
              </a:lnSpc>
              <a:spcBef>
                <a:spcPct val="0"/>
              </a:spcBef>
            </a:pPr>
            <a:endParaRPr/>
          </a:p>
          <a:p>
            <a:pPr algn="l">
              <a:lnSpc>
                <a:spcPts val="6719"/>
              </a:lnSpc>
              <a:spcBef>
                <a:spcPct val="0"/>
              </a:spcBef>
            </a:pPr>
            <a:r>
              <a:rPr lang="en-US" sz="5599">
                <a:solidFill>
                  <a:srgbClr val="1597C5"/>
                </a:solidFill>
                <a:latin typeface="Arial"/>
                <a:ea typeface="Arial"/>
                <a:cs typeface="Arial"/>
                <a:sym typeface="Arial"/>
              </a:rPr>
              <a:t>Készítsünk Start–Stop vezérlést PLC-vel úgy, hogy a jelzőlámpa a START gomb elengedése után is világítson, és a STOP gomb állítsa le.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86749" y="6817592"/>
            <a:ext cx="6713934" cy="2943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Gyakori hibák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· STOP gomb hibás (NO) bekötése.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· Hibás önzáró ág.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· Rossz címzés.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· STOP üzemmód.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· A program nincs letöltve.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6930688" y="9477375"/>
            <a:ext cx="771525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575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00075" y="990600"/>
            <a:ext cx="16573500" cy="342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720"/>
              </a:lnSpc>
              <a:spcBef>
                <a:spcPct val="0"/>
              </a:spcBef>
            </a:pPr>
            <a:r>
              <a:rPr lang="en-US" sz="5600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Mérnöki gondolkodás</a:t>
            </a:r>
          </a:p>
          <a:p>
            <a:pPr algn="l">
              <a:lnSpc>
                <a:spcPts val="6720"/>
              </a:lnSpc>
              <a:spcBef>
                <a:spcPct val="0"/>
              </a:spcBef>
            </a:pPr>
            <a:r>
              <a:rPr lang="en-US" sz="5600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Áramszünet után egy ipari gép általában nem indulhat el automatikusan. A biztonságos újraindítás alapvető munkavédelmi követelmény.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0" y="4829175"/>
            <a:ext cx="18288000" cy="1485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F28C28"/>
                </a:solidFill>
                <a:latin typeface="Arial Bold"/>
                <a:ea typeface="Arial Bold"/>
                <a:cs typeface="Arial Bold"/>
                <a:sym typeface="Arial Bold"/>
              </a:rPr>
              <a:t>IAP Extra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 Start–Stop önzárás az egyik legfontosabb PLC-alapkapcsolás. Szinte minden automatizált rendszerben megtalálható.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0" y="7032891"/>
            <a:ext cx="18288000" cy="1485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F28C28"/>
                </a:solidFill>
                <a:latin typeface="Arial Bold"/>
                <a:ea typeface="Arial Bold"/>
                <a:cs typeface="Arial Bold"/>
                <a:sym typeface="Arial Bold"/>
              </a:rPr>
              <a:t>Összefoglalás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 relés önzárás működési elve és a PLC-s megvalósítás azonos logikára épül. A PLC ezt programmal valósítja meg, ami rugalmasabb és könnyebben módosítható.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0" y="885825"/>
            <a:ext cx="16862004" cy="885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720"/>
              </a:lnSpc>
            </a:pPr>
            <a:r>
              <a:rPr lang="en-US" sz="5600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     Ellenőrző kérdések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57250" y="2294879"/>
            <a:ext cx="16573500" cy="466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90"/>
              </a:lnSpc>
            </a:pPr>
            <a:r>
              <a:rPr lang="en-US" sz="382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Önellenőrző kérdések</a:t>
            </a:r>
          </a:p>
          <a:p>
            <a:pPr algn="l">
              <a:lnSpc>
                <a:spcPts val="4590"/>
              </a:lnSpc>
            </a:pPr>
            <a:r>
              <a:rPr lang="en-US" sz="382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1.Mit jelent az önzárás?</a:t>
            </a:r>
          </a:p>
          <a:p>
            <a:pPr algn="l">
              <a:lnSpc>
                <a:spcPts val="4590"/>
              </a:lnSpc>
            </a:pPr>
            <a:r>
              <a:rPr lang="en-US" sz="382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2.Miért NO a START és NC a STOP?</a:t>
            </a:r>
          </a:p>
          <a:p>
            <a:pPr algn="l">
              <a:lnSpc>
                <a:spcPts val="4590"/>
              </a:lnSpc>
            </a:pPr>
            <a:r>
              <a:rPr lang="en-US" sz="382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3.Hogyan valósítja meg a PLC az önzárást?</a:t>
            </a:r>
          </a:p>
          <a:p>
            <a:pPr algn="l">
              <a:lnSpc>
                <a:spcPts val="4590"/>
              </a:lnSpc>
            </a:pPr>
            <a:r>
              <a:rPr lang="en-US" sz="382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4.Miért nem indulhat újra automatikusan egy gép áramszünet után?</a:t>
            </a:r>
          </a:p>
          <a:p>
            <a:pPr algn="l">
              <a:lnSpc>
                <a:spcPts val="4590"/>
              </a:lnSpc>
            </a:pPr>
            <a:r>
              <a:rPr lang="en-US" sz="382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5.Milyen előnye van a PLC-s megoldásnak?</a:t>
            </a:r>
          </a:p>
          <a:p>
            <a:pPr algn="l">
              <a:lnSpc>
                <a:spcPts val="4590"/>
              </a:lnSpc>
            </a:pPr>
            <a:endParaRPr lang="en-US" sz="3825" b="1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l">
              <a:lnSpc>
                <a:spcPts val="4590"/>
              </a:lnSpc>
            </a:pPr>
            <a:endParaRPr lang="en-US" sz="3825" b="1">
              <a:solidFill>
                <a:srgbClr val="111827"/>
              </a:solidFill>
              <a:latin typeface="Arial Bold"/>
              <a:ea typeface="Arial Bold"/>
              <a:cs typeface="Arial Bold"/>
              <a:sym typeface="Arial 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0075" y="2114550"/>
            <a:ext cx="17087850" cy="42862"/>
            <a:chOff x="0" y="0"/>
            <a:chExt cx="22783800" cy="5715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783800" cy="57150"/>
            </a:xfrm>
            <a:custGeom>
              <a:avLst/>
              <a:gdLst/>
              <a:ahLst/>
              <a:cxnLst/>
              <a:rect l="l" t="t" r="r" b="b"/>
              <a:pathLst>
                <a:path w="22783800" h="57150">
                  <a:moveTo>
                    <a:pt x="0" y="0"/>
                  </a:moveTo>
                  <a:lnTo>
                    <a:pt x="22783800" y="0"/>
                  </a:lnTo>
                  <a:lnTo>
                    <a:pt x="22783800" y="57150"/>
                  </a:lnTo>
                  <a:lnTo>
                    <a:pt x="0" y="57150"/>
                  </a:lnTo>
                  <a:close/>
                </a:path>
              </a:pathLst>
            </a:custGeom>
            <a:solidFill>
              <a:srgbClr val="1597C5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0075" y="866775"/>
            <a:ext cx="16573500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65"/>
              </a:lnSpc>
            </a:pPr>
            <a:r>
              <a:rPr lang="en-US" sz="4387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Napi idézet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6930688" y="9477375"/>
            <a:ext cx="771525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575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0" y="4191638"/>
            <a:ext cx="18288000" cy="2457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  <a:spcBef>
                <a:spcPct val="0"/>
              </a:spcBef>
            </a:pPr>
            <a:endParaRPr/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„A biztonságos vezérlés nem ott kezdődik, hogy a gép elindul, hanem ott, hogy mindig kiszámítható módon áll meg.”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</a:p>
          <a:p>
            <a:pPr algn="l">
              <a:lnSpc>
                <a:spcPts val="3840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0075" y="390525"/>
            <a:ext cx="12858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PLC ALAPISMERETEK • 12. ÉVFOLYAM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00075" y="866775"/>
            <a:ext cx="16573500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65"/>
              </a:lnSpc>
            </a:pPr>
            <a:r>
              <a:rPr lang="en-US" sz="4387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Öt példa a mindennapokból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600075" y="2114550"/>
            <a:ext cx="17087850" cy="42862"/>
            <a:chOff x="0" y="0"/>
            <a:chExt cx="22783800" cy="5715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83800" cy="57150"/>
            </a:xfrm>
            <a:custGeom>
              <a:avLst/>
              <a:gdLst/>
              <a:ahLst/>
              <a:cxnLst/>
              <a:rect l="l" t="t" r="r" b="b"/>
              <a:pathLst>
                <a:path w="22783800" h="57150">
                  <a:moveTo>
                    <a:pt x="0" y="0"/>
                  </a:moveTo>
                  <a:lnTo>
                    <a:pt x="22783800" y="0"/>
                  </a:lnTo>
                  <a:lnTo>
                    <a:pt x="22783800" y="57150"/>
                  </a:lnTo>
                  <a:lnTo>
                    <a:pt x="0" y="57150"/>
                  </a:lnTo>
                  <a:close/>
                </a:path>
              </a:pathLst>
            </a:custGeom>
            <a:solidFill>
              <a:srgbClr val="1597C5"/>
            </a:solidFill>
          </p:spPr>
        </p:sp>
      </p:grpSp>
      <p:sp>
        <p:nvSpPr>
          <p:cNvPr id="6" name="TextBox 6"/>
          <p:cNvSpPr txBox="1"/>
          <p:nvPr/>
        </p:nvSpPr>
        <p:spPr>
          <a:xfrm>
            <a:off x="16930688" y="9477375"/>
            <a:ext cx="771525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575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607219" y="3671888"/>
            <a:ext cx="3086100" cy="3514725"/>
            <a:chOff x="0" y="0"/>
            <a:chExt cx="4114800" cy="46863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114800" cy="4686300"/>
            </a:xfrm>
            <a:custGeom>
              <a:avLst/>
              <a:gdLst/>
              <a:ahLst/>
              <a:cxnLst/>
              <a:rect l="l" t="t" r="r" b="b"/>
              <a:pathLst>
                <a:path w="4114800" h="4686300">
                  <a:moveTo>
                    <a:pt x="0" y="153162"/>
                  </a:moveTo>
                  <a:cubicBezTo>
                    <a:pt x="0" y="68580"/>
                    <a:pt x="68580" y="0"/>
                    <a:pt x="153162" y="0"/>
                  </a:cubicBezTo>
                  <a:lnTo>
                    <a:pt x="3961638" y="0"/>
                  </a:lnTo>
                  <a:cubicBezTo>
                    <a:pt x="4046220" y="0"/>
                    <a:pt x="4114800" y="68580"/>
                    <a:pt x="4114800" y="153162"/>
                  </a:cubicBezTo>
                  <a:lnTo>
                    <a:pt x="4114800" y="4533138"/>
                  </a:lnTo>
                  <a:cubicBezTo>
                    <a:pt x="4114800" y="4617720"/>
                    <a:pt x="4046220" y="4686300"/>
                    <a:pt x="3961638" y="4686300"/>
                  </a:cubicBezTo>
                  <a:lnTo>
                    <a:pt x="153162" y="4686300"/>
                  </a:lnTo>
                  <a:cubicBezTo>
                    <a:pt x="68580" y="4686300"/>
                    <a:pt x="0" y="4617720"/>
                    <a:pt x="0" y="4533138"/>
                  </a:cubicBezTo>
                  <a:close/>
                </a:path>
              </a:pathLst>
            </a:custGeom>
            <a:solidFill>
              <a:srgbClr val="EDF5F8"/>
            </a:solidFill>
            <a:ln w="14288" cap="sq">
              <a:solidFill>
                <a:srgbClr val="1597C5"/>
              </a:solidFill>
              <a:prstDash val="solid"/>
              <a:miter/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771525" y="4124325"/>
            <a:ext cx="1564481" cy="314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968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1.példa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1525" y="4788694"/>
            <a:ext cx="2757488" cy="342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89"/>
              </a:lnSpc>
            </a:pPr>
            <a:r>
              <a:rPr lang="en-US" sz="2241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Villanymotor indítás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4021931" y="3707606"/>
            <a:ext cx="3086100" cy="3514725"/>
            <a:chOff x="0" y="0"/>
            <a:chExt cx="4114800" cy="46863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114800" cy="4686300"/>
            </a:xfrm>
            <a:custGeom>
              <a:avLst/>
              <a:gdLst/>
              <a:ahLst/>
              <a:cxnLst/>
              <a:rect l="l" t="t" r="r" b="b"/>
              <a:pathLst>
                <a:path w="4114800" h="4686300">
                  <a:moveTo>
                    <a:pt x="0" y="153162"/>
                  </a:moveTo>
                  <a:cubicBezTo>
                    <a:pt x="0" y="68580"/>
                    <a:pt x="68580" y="0"/>
                    <a:pt x="153162" y="0"/>
                  </a:cubicBezTo>
                  <a:lnTo>
                    <a:pt x="3961638" y="0"/>
                  </a:lnTo>
                  <a:cubicBezTo>
                    <a:pt x="4046220" y="0"/>
                    <a:pt x="4114800" y="68580"/>
                    <a:pt x="4114800" y="153162"/>
                  </a:cubicBezTo>
                  <a:lnTo>
                    <a:pt x="4114800" y="4533138"/>
                  </a:lnTo>
                  <a:cubicBezTo>
                    <a:pt x="4114800" y="4617720"/>
                    <a:pt x="4046220" y="4686300"/>
                    <a:pt x="3961638" y="4686300"/>
                  </a:cubicBezTo>
                  <a:lnTo>
                    <a:pt x="153162" y="4686300"/>
                  </a:lnTo>
                  <a:cubicBezTo>
                    <a:pt x="68580" y="4686300"/>
                    <a:pt x="0" y="4617720"/>
                    <a:pt x="0" y="4533138"/>
                  </a:cubicBezTo>
                  <a:close/>
                </a:path>
              </a:pathLst>
            </a:custGeom>
            <a:solidFill>
              <a:srgbClr val="EDF5F8"/>
            </a:solidFill>
            <a:ln w="14288" cap="sq">
              <a:solidFill>
                <a:srgbClr val="1597C5"/>
              </a:solidFill>
              <a:prstDash val="solid"/>
              <a:miter/>
            </a:ln>
          </p:spPr>
        </p:sp>
      </p:grpSp>
      <p:sp>
        <p:nvSpPr>
          <p:cNvPr id="13" name="TextBox 13"/>
          <p:cNvSpPr txBox="1"/>
          <p:nvPr/>
        </p:nvSpPr>
        <p:spPr>
          <a:xfrm>
            <a:off x="4286250" y="4124325"/>
            <a:ext cx="2211875" cy="314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968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2. példa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153734" y="4733925"/>
            <a:ext cx="2249448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47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Szállítószalag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7536656" y="3707606"/>
            <a:ext cx="3086100" cy="3514725"/>
            <a:chOff x="0" y="0"/>
            <a:chExt cx="4114800" cy="46863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114800" cy="4686300"/>
            </a:xfrm>
            <a:custGeom>
              <a:avLst/>
              <a:gdLst/>
              <a:ahLst/>
              <a:cxnLst/>
              <a:rect l="l" t="t" r="r" b="b"/>
              <a:pathLst>
                <a:path w="4114800" h="4686300">
                  <a:moveTo>
                    <a:pt x="0" y="153162"/>
                  </a:moveTo>
                  <a:cubicBezTo>
                    <a:pt x="0" y="68580"/>
                    <a:pt x="68580" y="0"/>
                    <a:pt x="153162" y="0"/>
                  </a:cubicBezTo>
                  <a:lnTo>
                    <a:pt x="3961638" y="0"/>
                  </a:lnTo>
                  <a:cubicBezTo>
                    <a:pt x="4046220" y="0"/>
                    <a:pt x="4114800" y="68580"/>
                    <a:pt x="4114800" y="153162"/>
                  </a:cubicBezTo>
                  <a:lnTo>
                    <a:pt x="4114800" y="4533138"/>
                  </a:lnTo>
                  <a:cubicBezTo>
                    <a:pt x="4114800" y="4617720"/>
                    <a:pt x="4046220" y="4686300"/>
                    <a:pt x="3961638" y="4686300"/>
                  </a:cubicBezTo>
                  <a:lnTo>
                    <a:pt x="153162" y="4686300"/>
                  </a:lnTo>
                  <a:cubicBezTo>
                    <a:pt x="68580" y="4686300"/>
                    <a:pt x="0" y="4617720"/>
                    <a:pt x="0" y="4533138"/>
                  </a:cubicBezTo>
                  <a:close/>
                </a:path>
              </a:pathLst>
            </a:custGeom>
            <a:solidFill>
              <a:srgbClr val="EDF5F8"/>
            </a:solidFill>
            <a:ln w="14288" cap="sq">
              <a:solidFill>
                <a:srgbClr val="1597C5"/>
              </a:solidFill>
              <a:prstDash val="solid"/>
              <a:miter/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7800975" y="4124325"/>
            <a:ext cx="2259806" cy="314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25053" lvl="1" indent="-212527" algn="l">
              <a:lnSpc>
                <a:spcPts val="2362"/>
              </a:lnSpc>
              <a:buAutoNum type="arabicPeriod"/>
            </a:pPr>
            <a:r>
              <a:rPr lang="en-US" sz="1968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példa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736681" y="4733925"/>
            <a:ext cx="2717132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47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Szivattyú vezérlés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1051381" y="3707606"/>
            <a:ext cx="3086100" cy="3514725"/>
            <a:chOff x="0" y="0"/>
            <a:chExt cx="4114800" cy="46863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114800" cy="4686300"/>
            </a:xfrm>
            <a:custGeom>
              <a:avLst/>
              <a:gdLst/>
              <a:ahLst/>
              <a:cxnLst/>
              <a:rect l="l" t="t" r="r" b="b"/>
              <a:pathLst>
                <a:path w="4114800" h="4686300">
                  <a:moveTo>
                    <a:pt x="0" y="153162"/>
                  </a:moveTo>
                  <a:cubicBezTo>
                    <a:pt x="0" y="68580"/>
                    <a:pt x="68580" y="0"/>
                    <a:pt x="153162" y="0"/>
                  </a:cubicBezTo>
                  <a:lnTo>
                    <a:pt x="3961638" y="0"/>
                  </a:lnTo>
                  <a:cubicBezTo>
                    <a:pt x="4046220" y="0"/>
                    <a:pt x="4114800" y="68580"/>
                    <a:pt x="4114800" y="153162"/>
                  </a:cubicBezTo>
                  <a:lnTo>
                    <a:pt x="4114800" y="4533138"/>
                  </a:lnTo>
                  <a:cubicBezTo>
                    <a:pt x="4114800" y="4617720"/>
                    <a:pt x="4046220" y="4686300"/>
                    <a:pt x="3961638" y="4686300"/>
                  </a:cubicBezTo>
                  <a:lnTo>
                    <a:pt x="153162" y="4686300"/>
                  </a:lnTo>
                  <a:cubicBezTo>
                    <a:pt x="68580" y="4686300"/>
                    <a:pt x="0" y="4617720"/>
                    <a:pt x="0" y="4533138"/>
                  </a:cubicBezTo>
                  <a:close/>
                </a:path>
              </a:pathLst>
            </a:custGeom>
            <a:solidFill>
              <a:srgbClr val="EDF5F8"/>
            </a:solidFill>
            <a:ln w="14288" cap="sq">
              <a:solidFill>
                <a:srgbClr val="1597C5"/>
              </a:solidFill>
              <a:prstDash val="solid"/>
              <a:miter/>
            </a:ln>
          </p:spPr>
        </p:sp>
      </p:grpSp>
      <p:sp>
        <p:nvSpPr>
          <p:cNvPr id="21" name="TextBox 21"/>
          <p:cNvSpPr txBox="1"/>
          <p:nvPr/>
        </p:nvSpPr>
        <p:spPr>
          <a:xfrm>
            <a:off x="11315700" y="4124325"/>
            <a:ext cx="1951142" cy="314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25053" lvl="1" indent="-212527" algn="l">
              <a:lnSpc>
                <a:spcPts val="2362"/>
              </a:lnSpc>
              <a:buAutoNum type="arabicPeriod"/>
            </a:pPr>
            <a:r>
              <a:rPr lang="en-US" sz="1968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példa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079956" y="4733925"/>
            <a:ext cx="2943536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47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 Ventilátor indítás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4566106" y="3707606"/>
            <a:ext cx="3086100" cy="3514725"/>
            <a:chOff x="0" y="0"/>
            <a:chExt cx="4114800" cy="46863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114800" cy="4686300"/>
            </a:xfrm>
            <a:custGeom>
              <a:avLst/>
              <a:gdLst/>
              <a:ahLst/>
              <a:cxnLst/>
              <a:rect l="l" t="t" r="r" b="b"/>
              <a:pathLst>
                <a:path w="4114800" h="4686300">
                  <a:moveTo>
                    <a:pt x="0" y="153162"/>
                  </a:moveTo>
                  <a:cubicBezTo>
                    <a:pt x="0" y="68580"/>
                    <a:pt x="68580" y="0"/>
                    <a:pt x="153162" y="0"/>
                  </a:cubicBezTo>
                  <a:lnTo>
                    <a:pt x="3961638" y="0"/>
                  </a:lnTo>
                  <a:cubicBezTo>
                    <a:pt x="4046220" y="0"/>
                    <a:pt x="4114800" y="68580"/>
                    <a:pt x="4114800" y="153162"/>
                  </a:cubicBezTo>
                  <a:lnTo>
                    <a:pt x="4114800" y="4533138"/>
                  </a:lnTo>
                  <a:cubicBezTo>
                    <a:pt x="4114800" y="4617720"/>
                    <a:pt x="4046220" y="4686300"/>
                    <a:pt x="3961638" y="4686300"/>
                  </a:cubicBezTo>
                  <a:lnTo>
                    <a:pt x="153162" y="4686300"/>
                  </a:lnTo>
                  <a:cubicBezTo>
                    <a:pt x="68580" y="4686300"/>
                    <a:pt x="0" y="4617720"/>
                    <a:pt x="0" y="4533138"/>
                  </a:cubicBezTo>
                  <a:close/>
                </a:path>
              </a:pathLst>
            </a:custGeom>
            <a:solidFill>
              <a:srgbClr val="EDF5F8"/>
            </a:solidFill>
            <a:ln w="14288" cap="sq">
              <a:solidFill>
                <a:srgbClr val="1597C5"/>
              </a:solidFill>
              <a:prstDash val="solid"/>
              <a:miter/>
            </a:ln>
          </p:spPr>
        </p:sp>
      </p:grpSp>
      <p:sp>
        <p:nvSpPr>
          <p:cNvPr id="25" name="TextBox 25"/>
          <p:cNvSpPr txBox="1"/>
          <p:nvPr/>
        </p:nvSpPr>
        <p:spPr>
          <a:xfrm>
            <a:off x="14920787" y="4733925"/>
            <a:ext cx="2338513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475" b="1">
                <a:solidFill>
                  <a:srgbClr val="111827"/>
                </a:solidFill>
                <a:latin typeface="Arial Bold"/>
                <a:ea typeface="Arial Bold"/>
                <a:cs typeface="Arial Bold"/>
                <a:sym typeface="Arial Bold"/>
              </a:rPr>
              <a:t>Kompresszor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830425" y="4124325"/>
            <a:ext cx="1951142" cy="314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968" b="1">
                <a:solidFill>
                  <a:srgbClr val="1597C5"/>
                </a:solidFill>
                <a:latin typeface="Arial Bold"/>
                <a:ea typeface="Arial Bold"/>
                <a:cs typeface="Arial Bold"/>
                <a:sym typeface="Arial Bold"/>
              </a:rPr>
              <a:t>5.példa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1287</Words>
  <Application>Microsoft Office PowerPoint</Application>
  <PresentationFormat>Egyéni</PresentationFormat>
  <Paragraphs>172</Paragraphs>
  <Slides>10</Slides>
  <Notes>10</Notes>
  <HiddenSlides>0</HiddenSlides>
  <MMClips>0</MMClips>
  <ScaleCrop>false</ScaleCrop>
  <HeadingPairs>
    <vt:vector size="8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Beágyazott OLE kiszolgálók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5" baseType="lpstr">
      <vt:lpstr>Arial Bold</vt:lpstr>
      <vt:lpstr>Arial</vt:lpstr>
      <vt:lpstr>Calibri</vt:lpstr>
      <vt:lpstr>Office Theme</vt:lpstr>
      <vt:lpstr>Worksheet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1_het_Miert_van_szukseg_PLC_re.pptx</dc:title>
  <dc:creator>Fazekas Zsolt</dc:creator>
  <cp:lastModifiedBy>zsolt Fazekas</cp:lastModifiedBy>
  <cp:revision>2</cp:revision>
  <dcterms:created xsi:type="dcterms:W3CDTF">2006-08-16T00:00:00Z</dcterms:created>
  <dcterms:modified xsi:type="dcterms:W3CDTF">2026-08-01T19:12:19Z</dcterms:modified>
  <dc:identifier>DAHQ-3Zo3z8</dc:identifier>
</cp:coreProperties>
</file>