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11064240" cy="5120640"/>
          </a:xfrm>
          <a:prstGeom prst="round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241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30AADC"/>
                </a:solidFill>
              </a:defRPr>
            </a:pPr>
            <a:r>
              <a:t>IAP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Az első PLC-program és a digitális bemenetek</a:t>
            </a:r>
          </a:p>
          <a:p>
            <a:pPr>
              <a:defRPr sz="1700">
                <a:solidFill>
                  <a:srgbClr val="CDE1F2"/>
                </a:solidFill>
              </a:defRPr>
            </a:pPr>
            <a:r>
              <a:t>A 24 V-os valós jel útja a PLC programjáig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703320"/>
            <a:ext cx="1024128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703320"/>
            <a:ext cx="109728" cy="1691640"/>
          </a:xfrm>
          <a:prstGeom prst="rect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867911"/>
            <a:ext cx="9829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Az óra íve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Mit jelent valójában az I0.0?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Bemeneti védelem, optocsatoló, Schmitt-trigger és szűrés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START, STOP és háromvezetékes PNP érzékelő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Az első LAD program és a PLC-ciklus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1. Mit jelent egy PLC-bemenet?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bemenet érzékel – nem feszültséget „ad ki”.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NO nyomógomb nyitva: kb. 0 V → I0.0 = 0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NO nyomógomb megnyomva: kb. 24 V DC → I0.0 = 1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Az I0.0 a CPU számára végül egy logikai bit.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2. A legegyszerűbb 24 V DC bekötés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jelhez zárt áramkör szükséges.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+24 V → S1 START → I0.0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PLC bemeneti elektronikáján kis áram folyik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 / 0 V zárja a bemeneti áramkört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3. Mi van az I0.0 kapocs mögött?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CPU nem közvetlenül a 24 V-ot kapja.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Túlfeszültség- és polaritásvédelem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Áramkorlátozás és zavarszűrés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Jelszint-felismerés és galvanikus leválasztás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Digitális logika → stabil 0 vagy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709160"/>
            <a:ext cx="17145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I0.0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27148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46020" y="4709160"/>
            <a:ext cx="171450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Védelem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78807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79" y="4709160"/>
            <a:ext cx="17145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Áramkorlátozás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0467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49340" y="4709160"/>
            <a:ext cx="171450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Szűrés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82127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01000" y="4709160"/>
            <a:ext cx="17145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Leválasztás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33788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52660" y="4709160"/>
            <a:ext cx="171450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0 /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4. Miért kell védeni a bemenetet?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Ipari környezetben a vezetékek zajt és tranziens jeleket is összeszedhetnek.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Kontaktorok, mágnesszelepek, motorok, frekvenciaváltók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Rövid feszültségcsúcsok és elektromágneses zavarok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TVS/Zener/védődiódás megoldások a konstrukciótól függően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5. Áramkorlátozás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Az optocsatoló LED-je nem kaphat közvetlenül 24 V-ot.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Szemléltető példa: 24 V táp, kb. 1,2 V LED-feszültség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5 mA LED-áramnál R ≈ 4,56 kΩ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tényleges értékeket mindig a PLC gyártója méretezi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6. Galvanikus leválasztás optocsatolóval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külső 24 V-os oldal és a belső logika között az információt fény viheti át.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Bemeneti áram → optocsatoló LED világít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túloldali fototranzisztor fény hatására vezet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Nincs szükség közvetlen vezető kapcsolatra a két oldal között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709160"/>
            <a:ext cx="17145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24 V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27148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46020" y="4709160"/>
            <a:ext cx="171450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78807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79" y="4709160"/>
            <a:ext cx="17145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FÉNY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0467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49340" y="4709160"/>
            <a:ext cx="171450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Fototranzisztor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82127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01000" y="4709160"/>
            <a:ext cx="17145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Jelformálás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33788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52660" y="4709160"/>
            <a:ext cx="171450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7. Hogyan lesz ebből tiszta 0/1?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fototranzisztor után jelformáló fokozat következhet.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köztes feszültség nem jó digitális döntéshez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Schmitt-trigger: két kapcsolási küszöb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Hiszterézis: a két küszöb között az előző állapot számít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8. Schmitt-trigger PLC-szemmel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Szemléltető küszöbök: 15 V bekapcsolás, 10 V kikapcsolás.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Emelkedő jel: 15 V felett vált 1-re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Csökkenő jel: 10 V alatt vált 0-ra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12 V-nál az előző állapot dönti el a kimenetet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9. Bemeneti szűrés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Schmitt-trigger feszültségről dönt; a szűrő az időt is figyeli.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Rövid zavarimpulzus elutasítható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Példa: 5 ms szűrésnél az 1 ms-os jel nem biztos, hogy elfogadásra kerül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szűrés ára: késleltetés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709160"/>
            <a:ext cx="20848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Fizikai jel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97480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16352" y="4709160"/>
            <a:ext cx="2084832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Schmitt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19472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8344" y="4709160"/>
            <a:ext cx="20848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0 / 1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41464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60336" y="4709160"/>
            <a:ext cx="2084832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Időszűrés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63455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482328" y="4709160"/>
            <a:ext cx="20848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Stabil állapot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10. Kontaktuspergés és gyors jelek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szűrés hasznos, de nem lehet korlátlanul nagy.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Mechanikus nyomógomb rövid ideig többször kapcsolhat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Túl nagy szűrési idő lassítja a reakciót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Gyors impulzusoknál HSC / gyors bemenet / hardveres megszakítás lehet szükséges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11. NO START nyomógomb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S1 = START, I0.0 = bemenet.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Alaphelyzetben nyitott → I0.0 = 0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Megnyomva zár → +24 V jut a bemenetre → I0.0 = 1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START esetén intuitív: megnyomva =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12. NC STOP nyomógomb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S0 = STOP, I0.1 = bemenet.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Alaphelyzetben zárt → I0.1 = 1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Megnyomva nyit → I0.1 = 0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Vezetékszakadás is 0 felé viszi a jelet: fail-safe jellegű gondolkodás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13. Fontos biztonsági pontosítás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Az NC STOP elv önmagában nem safety rendszer.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Közönséges PLC-bemenet + NC gomb ≠ biztonsági áramkör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Vészleállításhoz kockázatértékelés és megfelelő safety eszközök szükségesek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konkrét kialakítás mindig a gép biztonsági követelményeitől függ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14. Háromvezetékes PNP érzékelő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Tipikus induktív közelítésérzékelő.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Barna → +24 V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Kék → 0 V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Fekete → kimeneti jel az I0.2 bemenetre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Aktív PNP kimenet pozitív feszültséget kapcsol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15. START + STOP + PNP együtt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Három fizikai eszköz – három bemeneti bit.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I0.0 = START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I0.1 = STOP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I0.2 = induktív érzékelő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Normál példa: 0 / 1 / 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16. Fizikai NO/NC ≠ LAD NO/NC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Ez az egyik legfontosabb kezdő PLC-s felismerés.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fizikai érintkező típusa és a programban végzett logikai vizsgálat két külön fogalom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NC STOP normál állapotban I0.1 = 1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A LAD —| |— vizsgálhatja azt, hogy „STOP-kör rendben van-e?”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17. Az első PLC-program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Feladat: ha megnyomjuk a nyomógombot, kapcsoljon be a lámpa.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I0.0 = nyomógomb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Q0.0 = lámpa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Logika: Q0.0 = I0.0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LAD: —| I0.0 |————( Q0.0 )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18. Mi történik a CPU-ban?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Kapcsoljuk össze az első programot a Fetch–Decode–Execute gondolattal.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FETCH: az utasítás lehívása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DECODE: az I0.0 vizsgálatának értelmezése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EXECUTE: logikai eredmény képzése és Q0.0 állapotának meghatározása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709160"/>
            <a:ext cx="264033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FETCH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52978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71850" y="4709160"/>
            <a:ext cx="264033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DECODE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30468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49340" y="4709160"/>
            <a:ext cx="264033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07958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26830" y="4709160"/>
            <a:ext cx="2640330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Q0.0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19. A PLC scan cycle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PLC folyamatosan, ciklikusan dolgozik.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1. Bemenetek beolvasása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2. Program végrehajtása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3. Kimenetek frissítése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4. Diagnosztika / kommunikáció → majd újra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709160"/>
            <a:ext cx="20848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Bemenetek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97480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16352" y="4709160"/>
            <a:ext cx="2084832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Program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19472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8344" y="4709160"/>
            <a:ext cx="20848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Kimenetek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41464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60336" y="4709160"/>
            <a:ext cx="2084832" cy="914400"/>
          </a:xfrm>
          <a:prstGeom prst="roundRect">
            <a:avLst/>
          </a:prstGeom>
          <a:solidFill>
            <a:srgbClr val="E5F0F9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Diagnosztika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63455" y="4992624"/>
            <a:ext cx="118872" cy="320040"/>
          </a:xfrm>
          <a:prstGeom prst="rightArrow">
            <a:avLst/>
          </a:prstGeom>
          <a:solidFill>
            <a:srgbClr val="30AA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482328" y="4709160"/>
            <a:ext cx="208483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45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2342"/>
                </a:solidFill>
              </a:defRPr>
            </a:pPr>
            <a:r>
              <a:t>Újra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91695" cy="301752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6583680"/>
            <a:ext cx="11430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IAP – Integrált Automatika Program   •   Tanulj! Alkalmazz! Alkoss!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A2342"/>
                </a:solidFill>
              </a:defRPr>
            </a:pPr>
            <a:r>
              <a:t>20. IAP összefoglalás és kihívás</a:t>
            </a:r>
          </a:p>
          <a:p>
            <a:pPr>
              <a:defRPr sz="1300">
                <a:solidFill>
                  <a:srgbClr val="145CA0"/>
                </a:solidFill>
              </a:defRPr>
            </a:pPr>
            <a:r>
              <a:t>A következő lépés: START–STOP öntartás + kontaktor/motor kimenet.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2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109728" cy="4343400"/>
          </a:xfrm>
          <a:prstGeom prst="rect">
            <a:avLst/>
          </a:prstGeom>
          <a:solidFill>
            <a:srgbClr val="145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73351"/>
            <a:ext cx="10561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342"/>
                </a:solidFill>
              </a:defRPr>
            </a:pPr>
            <a:r>
              <a:t>Lényeg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Magyarázd el a 24 V útját az I0.0 kapocstól a CPU 0/1 állapotáig!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Mi a különbség a Schmitt-trigger és a bemeneti szűrés között?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Miért NC a STOP, és miért nem jelent ez automatikusan LAD —|/|— érintkezőt?</a:t>
            </a:r>
          </a:p>
          <a:p>
            <a:pPr>
              <a:spcBef>
                <a:spcPts val="600"/>
              </a:spcBef>
              <a:defRPr sz="1400">
                <a:solidFill>
                  <a:srgbClr val="1B232D"/>
                </a:solidFill>
              </a:defRPr>
            </a:pPr>
            <a:r>
              <a:t>Rajzold fel: START I0.0 + STOP I0.1 + PNP I0.2.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