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9" d="100"/>
          <a:sy n="49" d="100"/>
        </p:scale>
        <p:origin x="96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371850" y="2443162"/>
            <a:ext cx="544830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 dirty="0">
                <a:solidFill>
                  <a:srgbClr val="38BDF8"/>
                </a:solidFill>
                <a:latin typeface="Roboto"/>
              </a:rPr>
              <a:t>INTEGRÁLT AUTOMATIKA </a:t>
            </a:r>
            <a:r>
              <a:rPr lang="hu-HU" dirty="0">
                <a:solidFill>
                  <a:srgbClr val="38BDF8"/>
                </a:solidFill>
                <a:latin typeface="Roboto"/>
              </a:rPr>
              <a:t>PROGRAM</a:t>
            </a:r>
            <a:r>
              <a:rPr sz="1800" b="0" i="0" u="none" dirty="0">
                <a:solidFill>
                  <a:srgbClr val="38BDF8"/>
                </a:solidFill>
                <a:latin typeface="Roboto"/>
              </a:rPr>
              <a:t> (IA</a:t>
            </a:r>
            <a:r>
              <a:rPr lang="hu-HU" sz="1800" b="0" i="0" u="none" dirty="0">
                <a:solidFill>
                  <a:srgbClr val="38BDF8"/>
                </a:solidFill>
                <a:latin typeface="Roboto"/>
              </a:rPr>
              <a:t>P</a:t>
            </a:r>
            <a:r>
              <a:rPr sz="1800" b="0" i="0" u="none" dirty="0">
                <a:solidFill>
                  <a:srgbClr val="38BDF8"/>
                </a:solidFill>
                <a:latin typeface="Roboto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95475" y="2947987"/>
            <a:ext cx="8401050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Orbitron"/>
              </a:rPr>
              <a:t>PLC Alapismeretek – 26.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2775" y="3910012"/>
            <a:ext cx="58864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CBD5E1"/>
                </a:solidFill>
                <a:latin typeface="Roboto"/>
              </a:rPr>
              <a:t>OPC UA – Az ipari rendszerek univerzális kommunikációs nyelve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33687"/>
            <a:ext cx="5429250" cy="1924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990850"/>
            <a:ext cx="5429250" cy="1609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Alapvetések &amp; Kilátások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119437"/>
            <a:ext cx="5050631" cy="2286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F43F5E"/>
                </a:solidFill>
                <a:latin typeface="Orbitron"/>
              </a:rPr>
              <a:t>A hét mottója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443287"/>
            <a:ext cx="481012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1" u="none">
                <a:solidFill>
                  <a:srgbClr val="F8FAFC"/>
                </a:solidFill>
                <a:latin typeface="Roboto"/>
              </a:rPr>
              <a:t>„A modern gyárakban az adatok akkor értékesek, ha minden rendszer ugyanazt a nyelvet beszéli.”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238500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 világ nagy kérdése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Hogyan képesek különböző gyártók eszközei biztonságosan adatot cserélni egymás között?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3148012"/>
            <a:ext cx="180975" cy="178296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267075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5429250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57500"/>
            <a:ext cx="5429250" cy="1876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Technikatörténet &amp; Fejlesztők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109912"/>
            <a:ext cx="5180647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 technika története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Az OPC Classic rendszert a platformfüggetlen, biztonságos OPC UA (Unified Architecture) váltotta fel, amely ma az Ipar 4.0 alapköve.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05150"/>
            <a:ext cx="5180647" cy="266700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Fejlesztők &amp; Támogatók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543300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Az OPC Foundation irányítja a szabványt. Támogatók: Siemens, Omron, Beckhoff, Schneider Electric, Rockwell Automation és Mitsubishi Electric.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138487"/>
            <a:ext cx="23812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133725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862262"/>
            <a:ext cx="3587799" cy="1866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862262"/>
            <a:ext cx="3587799" cy="18669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99" y="2862262"/>
            <a:ext cx="3587799" cy="18669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Tanulási Célok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109912"/>
            <a:ext cx="3247124" cy="257175"/>
          </a:xfrm>
          <a:prstGeom prst="rect">
            <a:avLst/>
          </a:prstGeom>
          <a:noFill/>
        </p:spPr>
        <p:txBody>
          <a:bodyPr wrap="square" lIns="2667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Architektúra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Kliens–szerver modell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Címtér (Address Space)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Szabványosított adatok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9824" y="3109912"/>
            <a:ext cx="3247124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Biztonság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9824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Titkosítás &amp; Hitelesítés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Tanúsítványkezelés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Hozzáférési szintek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75749" y="3109912"/>
            <a:ext cx="3247124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Integráció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75749" y="3538537"/>
            <a:ext cx="3092499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• PLC – SCADA kapcsolat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MES és ERP átjárhatóság</a:t>
            </a:r>
            <a:r>
              <a:t>
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• Platformfüggetlenség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900" y="3138487"/>
            <a:ext cx="266700" cy="2095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9824" y="3138487"/>
            <a:ext cx="209550" cy="2095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5749" y="3138487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1212"/>
            <a:ext cx="54292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Elméleti Alapok &amp; Architektúra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90737"/>
            <a:ext cx="541020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938462"/>
            <a:ext cx="5143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Nyílt &amp; Biztonságos: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Gyártófüggetlen kommunikációs szabvány.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38512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Strukturált adatok: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Nemcsak nyers értékeket, hanem metaadatokat és jelentést is továbbít.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95737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Skálázható: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Beágyazott eszközöktől a felhőalapú rendszerekig használható.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971800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371850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029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1209675"/>
            <a:ext cx="8572500" cy="51720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Hogyan Működik a Háttérben?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5488" y="1600200"/>
            <a:ext cx="8181022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50" b="1" i="0" u="none">
                <a:solidFill>
                  <a:srgbClr val="F8FAFC"/>
                </a:solidFill>
                <a:latin typeface="Orbitron"/>
              </a:rPr>
              <a:t>Üzemi Adatút az ERP-ig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0275" y="2190750"/>
            <a:ext cx="7791450" cy="285750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Roboto"/>
              </a:rPr>
              <a:t>PLC OPC UA Server TCP/IP Hálózat OPC UA Client SCADA / MES / ERP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8475" y="2238375"/>
            <a:ext cx="1714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525" y="2238375"/>
            <a:ext cx="17145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2675" y="2238375"/>
            <a:ext cx="171450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575" y="2238375"/>
            <a:ext cx="171450" cy="190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90850"/>
            <a:ext cx="5429250" cy="1609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90850"/>
            <a:ext cx="5429250" cy="1609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Mit Lát a PLC és az OPC UA Kliens?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238500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PLC Változók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PLC a belső memóriájában és adatblokkjaiban (DB) kezeli a nyers változókat, biteket és regisztereket.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238500"/>
            <a:ext cx="5180647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OPC UA Kliens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 kliens strukturált objektumokként, mérnöki egységekkel és teljes kontextussal jeleníti meg ugyanezeket az adatokat.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267075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267075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81212"/>
            <a:ext cx="542925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Ipari Esettanulmány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090737"/>
            <a:ext cx="5410200" cy="34099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2938462"/>
            <a:ext cx="514350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Alkalmazás: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Autóipari gyártósor integráció.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38512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Megoldás: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Az OPC UA köti össze a különböző gyártók PLC-it a központi SCADA, MES és ERP rendszerekkel.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995737"/>
            <a:ext cx="51435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Eredmény: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Valós idejű gyártáskövetés, minimális integrációs idő és magasabb biztonság.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2971800"/>
            <a:ext cx="19050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371850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029075"/>
            <a:ext cx="17145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90850"/>
            <a:ext cx="5429250" cy="16097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990850"/>
            <a:ext cx="5429250" cy="16097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Laborfeladat &amp; Tervezési Példa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238500"/>
            <a:ext cx="5180647" cy="2571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Laborfeladat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Tervezzen egyszerű OPC UA architektúrát PLC szerverrel, SCADA felügyelettel és MES adatgyűjtő klienssel.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238500"/>
            <a:ext cx="5180647" cy="257175"/>
          </a:xfrm>
          <a:prstGeom prst="rect">
            <a:avLst/>
          </a:prstGeom>
          <a:noFill/>
        </p:spPr>
        <p:txBody>
          <a:bodyPr wrap="square" lIns="23812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Tervezési Példa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667125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Határozza meg az OPC UA szervereket, node-okat és az átadandó ciklikus adatokat egy ötgépes gyártócella esetén.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" y="3267075"/>
            <a:ext cx="180975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4150" y="3267075"/>
            <a:ext cx="23812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86087"/>
            <a:ext cx="5429250" cy="16192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862262"/>
            <a:ext cx="5429250" cy="1866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Műhelytitok &amp; Hibaelhárítás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3233737"/>
            <a:ext cx="5180647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Műhelytitok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671887"/>
            <a:ext cx="49339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Az OPC UA nemcsak adatot továbbít, hanem a címterének (Address Space) köszönhetően önmagát is leírja a kliens felé.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3109912"/>
            <a:ext cx="5180647" cy="257175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F43F5E"/>
                </a:solidFill>
                <a:latin typeface="Orbitron"/>
              </a:rPr>
              <a:t>Tipikus hibák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538537"/>
            <a:ext cx="49339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94A3B8"/>
                </a:solidFill>
                <a:latin typeface="Roboto"/>
              </a:rPr>
              <a:t>Lejárt biztonsági tanúsítványok, hibás felhasználói jogosultságok, valamint a túl magas mintavételezési frekvencia miatti hálózati terhelés.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262312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138487"/>
            <a:ext cx="209550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IAA Mesterfeladat &amp; Mérnöki 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938462"/>
            <a:ext cx="10953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IAA Mesterfeladat: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Tervezzen teljes körű OPC UA alapú kommunikációs rendszert PLC, SCADA, MES és ERP kapcsolatokkal, teljes tanúsítványkezeléssel.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95687"/>
            <a:ext cx="109537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Gondolkodjunk mérnökként!: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„A szabványos kommunikáció teszi lehetővé a különböző gyártók rendszereinek zökkenőmentes együttműködését.”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4252912"/>
            <a:ext cx="109537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94A3B8"/>
                </a:solidFill>
                <a:latin typeface="Roboto"/>
              </a:rPr>
              <a:t>IAA mérnöki idézet:</a:t>
            </a:r>
            <a:r>
              <a:rPr sz="1350" b="0" i="0" u="none">
                <a:solidFill>
                  <a:srgbClr val="94A3B8"/>
                </a:solidFill>
                <a:latin typeface="Roboto"/>
              </a:rPr>
              <a:t> „A jövő automatizálásának alapja a biztonságos és egységes adatcsere.”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971800"/>
            <a:ext cx="1333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3629025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4286250"/>
            <a:ext cx="152400" cy="1809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736056"/>
            <a:ext cx="5429250" cy="2119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740818"/>
            <a:ext cx="5429250" cy="21097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Önellenőrzés &amp; Szakkifejezések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983706"/>
            <a:ext cx="5180647" cy="266700"/>
          </a:xfrm>
          <a:prstGeom prst="rect">
            <a:avLst/>
          </a:prstGeom>
          <a:noFill/>
        </p:spPr>
        <p:txBody>
          <a:bodyPr wrap="square" lIns="2095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Önellenőrző kérdések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393281"/>
            <a:ext cx="49339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Roboto"/>
              </a:rPr>
              <a:t>1. Mit jelent az OPC UA?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2. Mi a kliens és a szerver szerepe?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3. Mire szolgál az Address Space?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4. Miért fontosak a tanúsítványok?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5. Mi az OPC UA fő előnye?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4150" y="2988468"/>
            <a:ext cx="5180647" cy="257175"/>
          </a:xfrm>
          <a:prstGeom prst="rect">
            <a:avLst/>
          </a:prstGeom>
          <a:noFill/>
        </p:spPr>
        <p:txBody>
          <a:bodyPr wrap="square" lIns="180975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8BDF8"/>
                </a:solidFill>
                <a:latin typeface="Orbitron"/>
              </a:rPr>
              <a:t>Kulcsfogalmak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4150" y="3388518"/>
            <a:ext cx="4933950" cy="10715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94A3B8"/>
                </a:solidFill>
                <a:latin typeface="Roboto"/>
              </a:rPr>
              <a:t>• </a:t>
            </a:r>
            <a:r>
              <a:rPr sz="1125" b="1" i="0" u="none">
                <a:solidFill>
                  <a:srgbClr val="94A3B8"/>
                </a:solidFill>
                <a:latin typeface="Roboto"/>
              </a:rPr>
              <a:t>OPC UA: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Nyílt egységes architektúra.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• </a:t>
            </a:r>
            <a:r>
              <a:rPr sz="1125" b="1" i="0" u="none">
                <a:solidFill>
                  <a:srgbClr val="94A3B8"/>
                </a:solidFill>
                <a:latin typeface="Roboto"/>
              </a:rPr>
              <a:t>Address Space: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Hierarchikus címtér.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• </a:t>
            </a:r>
            <a:r>
              <a:rPr sz="1125" b="1" i="0" u="none">
                <a:solidFill>
                  <a:srgbClr val="94A3B8"/>
                </a:solidFill>
                <a:latin typeface="Roboto"/>
              </a:rPr>
              <a:t>MES: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Gyártásirányítási rendszer.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• </a:t>
            </a:r>
            <a:r>
              <a:rPr sz="1125" b="1" i="0" u="none">
                <a:solidFill>
                  <a:srgbClr val="94A3B8"/>
                </a:solidFill>
                <a:latin typeface="Roboto"/>
              </a:rPr>
              <a:t>ERP: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Vállalatirányítás.</a:t>
            </a:r>
            <a:r>
              <a:t>
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• </a:t>
            </a:r>
            <a:r>
              <a:rPr sz="1125" b="1" i="0" u="none">
                <a:solidFill>
                  <a:srgbClr val="94A3B8"/>
                </a:solidFill>
                <a:latin typeface="Roboto"/>
              </a:rPr>
              <a:t>Tanúsítvány:</a:t>
            </a:r>
            <a:r>
              <a:rPr sz="1125" b="0" i="0" u="none">
                <a:solidFill>
                  <a:srgbClr val="94A3B8"/>
                </a:solidFill>
                <a:latin typeface="Roboto"/>
              </a:rPr>
              <a:t> Titkosítás alapja.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900" y="3012281"/>
            <a:ext cx="209550" cy="2095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3017043"/>
            <a:ext cx="180975" cy="2095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476250"/>
            <a:ext cx="11715750" cy="447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38BDF8"/>
                </a:solidFill>
                <a:latin typeface="Orbitron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3237" y="3028950"/>
            <a:ext cx="61055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043237" y="3790950"/>
            <a:ext cx="6105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043237" y="3790950"/>
            <a:ext cx="61055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237" y="3171825"/>
            <a:ext cx="857250" cy="4762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38612" y="3178968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"/>
              </a:rPr>
              <a:t>https://integrationobjects.com/blog/wp-content/uploads/2018/04/opc-classic-vs-opc-ua.png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38612" y="3412331"/>
            <a:ext cx="5010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"/>
              </a:rPr>
              <a:t>integrationobjects.com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3237" y="394335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138612" y="3950493"/>
            <a:ext cx="5010150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94A3B8"/>
                </a:solidFill>
                <a:latin typeface="Roboto"/>
              </a:rPr>
              <a:t>https://ueeshop.ly200-cdn.com/u_file/UPAO/UPAO561/2210/photo/87a0f09427.png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38612" y="4183856"/>
            <a:ext cx="50101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94A3B8"/>
                </a:solidFill>
                <a:latin typeface="Roboto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Roboto"/>
              </a:rPr>
              <a:t>iot-solution.com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611</Words>
  <Application>Microsoft Office PowerPoint</Application>
  <PresentationFormat>Szélesvásznú</PresentationFormat>
  <Paragraphs>60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Calibri</vt:lpstr>
      <vt:lpstr>Orbitron</vt:lpstr>
      <vt:lpstr>Roboto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subject/>
  <dc:creator>Fazekas Zsolt</dc:creator>
  <cp:keywords/>
  <dc:description>generated using python-pptx</dc:description>
  <cp:lastModifiedBy>zsolt Fazekas</cp:lastModifiedBy>
  <cp:revision>2</cp:revision>
  <dcterms:created xsi:type="dcterms:W3CDTF">2013-01-27T09:14:16Z</dcterms:created>
  <dcterms:modified xsi:type="dcterms:W3CDTF">2026-08-02T13:51:52Z</dcterms:modified>
  <cp:category/>
</cp:coreProperties>
</file>