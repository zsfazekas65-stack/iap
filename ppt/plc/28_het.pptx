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06947"/>
            <a:ext cx="11220450" cy="588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62387" y="2085082"/>
            <a:ext cx="446722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3B82F6"/>
                </a:solidFill>
                <a:latin typeface="Plus Jakarta Sans SemiBold"/>
              </a:rPr>
              <a:t>INTEGRÁLT AUTOMATIKA </a:t>
            </a:r>
            <a:r>
              <a:rPr lang="hu-HU" sz="1500" dirty="0">
                <a:solidFill>
                  <a:srgbClr val="3B82F6"/>
                </a:solidFill>
                <a:latin typeface="Plus Jakarta Sans SemiBold"/>
              </a:rPr>
              <a:t>PROGRAM</a:t>
            </a:r>
            <a:r>
              <a:rPr sz="1500" b="0" i="0" u="none" dirty="0">
                <a:solidFill>
                  <a:srgbClr val="3B82F6"/>
                </a:solidFill>
                <a:latin typeface="Plus Jakarta Sans SemiBold"/>
              </a:rPr>
              <a:t> (IA</a:t>
            </a:r>
            <a:r>
              <a:rPr lang="hu-HU" sz="1500" b="0" i="0" u="none" dirty="0">
                <a:solidFill>
                  <a:srgbClr val="3B82F6"/>
                </a:solidFill>
                <a:latin typeface="Plus Jakarta Sans SemiBold"/>
              </a:rPr>
              <a:t>P</a:t>
            </a:r>
            <a:r>
              <a:rPr sz="1500" b="0" i="0" u="none" dirty="0">
                <a:solidFill>
                  <a:srgbClr val="3B82F6"/>
                </a:solidFill>
                <a:latin typeface="Plus Jakarta Sans SemiBold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5550" y="2466082"/>
            <a:ext cx="72009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Outfit"/>
              </a:rPr>
              <a:t>PLC Alapismeretek – 28.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375" y="3296542"/>
            <a:ext cx="6191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1D5DB"/>
                </a:solidFill>
                <a:latin typeface="Plus Jakarta Sans"/>
              </a:rPr>
              <a:t>Digital Twin – A digitális iker és a virtuális üzembe helyezés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4112" y="4153792"/>
            <a:ext cx="7343775" cy="6191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09862" y="4344292"/>
            <a:ext cx="67722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 u="none">
                <a:solidFill>
                  <a:srgbClr val="93C5FD"/>
                </a:solidFill>
                <a:latin typeface="Plus Jakarta Sans"/>
              </a:rPr>
              <a:t> „A legjobb hibák azok, amelyeket még a gép megépítése előtt megtalálunk.” 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4112" y="4153792"/>
            <a:ext cx="38100" cy="6191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049660"/>
            <a:ext cx="5491162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049660"/>
            <a:ext cx="5491162" cy="1933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1390650"/>
            <a:ext cx="112204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FFFFFF"/>
                </a:solidFill>
                <a:latin typeface="Plus Jakarta Sans"/>
              </a:rPr>
              <a:t>Hogyan tesztelhetünk egy PLC-programot még a valódi gép elkészülése előtt?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297310"/>
            <a:ext cx="5245655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Hagyományos megközelítés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2706885"/>
            <a:ext cx="4995862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PLC-kódot csak a helyszínen, a fizikai berendezés összeszerelése után kezdték el tesztelni. Ez magas kockázattal, hosszú állásidőkkel és költséges hibajavításokkal járt.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2712" y="2297310"/>
            <a:ext cx="5245655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Modern Digital Twin megközelítés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712" y="2706885"/>
            <a:ext cx="4995862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virtuális modell már a tervezőasztalon szimulálja a gép viselkedését, lehetővé téve a PLC teljes körű tesztelését és a logikai hibák időbeni kiküszöbölését.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32588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712" y="2325885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A világ nagy kérdése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5775" y="1390650"/>
            <a:ext cx="11220450" cy="3657600"/>
          </a:xfrm>
          <a:prstGeom prst="roundRect">
            <a:avLst>
              <a:gd name="adj" fmla="val 0"/>
            </a:avLst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5775" y="1390650"/>
          <a:ext cx="1122044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2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Évszám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Fejlődési szakasz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Technológiai mérföldkő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1980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CAD modellek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Kétdimenziós és korai 3D gépészeti tervezési alapok megjelenése.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1995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3D szimuláció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Mozgások, kinematikai láncok és alapvető fizikai ütközések vizsgálata.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2005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Virtuális üzembe helyezés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PLC-szimulátorok összekötése a 3D virtuális modellekkel (Virtual Commissioning).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2015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Digital Twin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Valós idejű kétirányú adatkapcsolat a fizikai gép és a virtuális másodpéldány között.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Napjaink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AI támogatott digitális ikrek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Öntanuló modellek, prediktív elemzések és autonóm optimalizálás.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85775" y="1985962"/>
            <a:ext cx="12119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97682" y="1985962"/>
            <a:ext cx="274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44007" y="1985962"/>
            <a:ext cx="72622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5775" y="2595562"/>
            <a:ext cx="12119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97682" y="2595562"/>
            <a:ext cx="274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44007" y="2595562"/>
            <a:ext cx="72622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5775" y="3205162"/>
            <a:ext cx="12119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97682" y="3205162"/>
            <a:ext cx="274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4007" y="3205162"/>
            <a:ext cx="72622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5775" y="3814762"/>
            <a:ext cx="12119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97682" y="3814762"/>
            <a:ext cx="274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44007" y="3814762"/>
            <a:ext cx="72622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5775" y="4424362"/>
            <a:ext cx="12119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97682" y="4424362"/>
            <a:ext cx="274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44007" y="4424362"/>
            <a:ext cx="72622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5775" y="5033962"/>
            <a:ext cx="12119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97682" y="5033962"/>
            <a:ext cx="27463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44007" y="5033962"/>
            <a:ext cx="72622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A technika története és idővonala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885950"/>
            <a:ext cx="3581400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885950"/>
            <a:ext cx="3581400" cy="1933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885950"/>
            <a:ext cx="3581400" cy="1933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1390650"/>
            <a:ext cx="11220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piac vezető ipari szoftvergyártói komplex integrált ökoszisztémákat biztosítanak a tervezéstől a virtuális üzembe helyezésig: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2133600"/>
            <a:ext cx="3240405" cy="2667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Siemens &amp; Dassault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25431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Siemens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(Tecnomatix / Process Simulate) és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Dassault Systèmes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(3DEXPERIENCE) az iparág csúcskategóriás megoldásai.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2950" y="2133600"/>
            <a:ext cx="3240405" cy="2667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PTC &amp; ABB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950" y="2543175"/>
            <a:ext cx="3086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PTC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(ThingWorx / Creo) és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ABB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robotos szimulációs keretrendszerek a fejlett gyártósorokhoz.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475" y="2133600"/>
            <a:ext cx="324040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Schneider &amp; Rockwell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2475" y="2543175"/>
            <a:ext cx="3086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Schneider Electric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,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Rockwell Automation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(Emulate3D) és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Autodesk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a digitális gyári transzformációért.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2162175"/>
            <a:ext cx="2381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950" y="2162175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475" y="2162175"/>
            <a:ext cx="18097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Ismerjük meg a fejlesztőket!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Főbb tanulási célok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Elméleti definíció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047875"/>
            <a:ext cx="49244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Digital Twin (digitális iker)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egy fizikai gép, folyamat vagy teljes gyáregység élő, nagy pontosságú virtuális modellje, amely valós idejű érzékelőadatokkal és szimulált fizikai törvényekkel működik együtt.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6687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66875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175" y="20478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Digital Twin pontos fogalmának megértése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4479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virtuális üzembe helyezés lépéseinek ismerete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28479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PLC-programok offline szimulációjának elsajátítása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32480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Kommunikációs protokollok szerepének átlátása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Tanulási célok és elméleti alapok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06692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46697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86702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267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3581400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390650"/>
            <a:ext cx="3581400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390650"/>
            <a:ext cx="3581400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33400"/>
            <a:ext cx="409575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1. Termék digitális ikre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2047875"/>
            <a:ext cx="30861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Az egyes legyártott termékek egyedi digitális életútja a tervezéstől a használaton át az újrahasznosításig. Tartalmazza a kopási adatokat és egyedi paramétereket.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950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2. Folyamat digitális ikre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2950" y="2047875"/>
            <a:ext cx="30861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gyártási technológiai folyamatok, anyagáramlások és logisztikai láncok modellje. Segít a szűk keresztmetszetek és a ciklusidők optimalizálásában.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2475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3. Üzem digitális ikre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475" y="2047875"/>
            <a:ext cx="30861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Teljes gyártósorok, csarnokok vagy akár egész gyárak integrált virtuális másolata, beleértve az épületgépészetet és a robotok közös terét.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85775"/>
            <a:ext cx="1115377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A Digital Twin három típusa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790825"/>
            <a:ext cx="11220450" cy="89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390650"/>
            <a:ext cx="2129730" cy="1114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8380" y="1390650"/>
            <a:ext cx="2129730" cy="1114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0985" y="1390650"/>
            <a:ext cx="2129879" cy="1114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3740" y="1390650"/>
            <a:ext cx="2129730" cy="11144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6345" y="1390650"/>
            <a:ext cx="2129879" cy="1114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533400"/>
            <a:ext cx="457200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275" y="2981325"/>
            <a:ext cx="10839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Az OPC UA és Ethernet alapú protokollok biztosítják, hogy a PLC ugyanazokat a bemeneti jeleket kapja a virtuális modelltől, mint a valóságban, így a vezérlő számára teljesen átlátszó a szimuláció.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51" y="1543050"/>
            <a:ext cx="1916176" cy="2667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Valódi gép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1952625"/>
            <a:ext cx="182493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Fizikai szenzorok &amp; aktuátorok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5157" y="1543050"/>
            <a:ext cx="191617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0780" y="1952625"/>
            <a:ext cx="182493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Vezérlő logika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7758" y="1543050"/>
            <a:ext cx="1916333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Outfit"/>
              </a:rPr>
              <a:t>OPC 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3385" y="1952625"/>
            <a:ext cx="182507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E5E7EB"/>
                </a:solidFill>
                <a:latin typeface="Plus Jakarta Sans"/>
              </a:rPr>
              <a:t>Ethernet adatbusz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516" y="1543050"/>
            <a:ext cx="1916176" cy="2667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Dig. Twin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6140" y="1952625"/>
            <a:ext cx="182493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3D szimulációs környezet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3118" y="1543050"/>
            <a:ext cx="1916333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SCADA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8745" y="1952625"/>
            <a:ext cx="182507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Elemzés &amp; MES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652" y="1571625"/>
            <a:ext cx="26670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8920" y="1571625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6263" y="1571625"/>
            <a:ext cx="209550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8055" y="1571625"/>
            <a:ext cx="238125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50673" y="1571625"/>
            <a:ext cx="209550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85850" y="485775"/>
            <a:ext cx="111061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Hogyan működik a háttérben?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45720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Mit lát a PLC?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Mit lát a Digital Twin?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6687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66875"/>
            <a:ext cx="23812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20478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Digitális és analóg I/O memóriacímeket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24479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Fizikai jelek változását (True/False, 0-10V)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8479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Időzítők és számlálók aktuális állapotát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2480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Hibaüzeneteket és vészleállító láncokat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20478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Kinematikai mozgásokat és ütközésvizsgálatot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24479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Anyagáramlást és alkatrész-pozíciókat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28479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Fizikai erőket, sebességeket és nyomatékokat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32480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3D vizuális visszajelzést a gép állapotáról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485775"/>
            <a:ext cx="111061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Mit lát a PLC? – Mit lát a Digital Twin?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066925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466975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867025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267075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066925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466975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867025"/>
            <a:ext cx="17145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267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3581400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390650"/>
            <a:ext cx="3581400" cy="1933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390650"/>
            <a:ext cx="3581400" cy="1933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33400"/>
            <a:ext cx="4572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1. Lépés: Programozás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20478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PLC kód megírása (Structured Text, Ladder Diagram) szabványos fejlesztői környezetben (pl. TIA Portal, Studio 5000).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950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2. Lépés: Virtuális teszt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2950" y="20478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kód összekapcsolása a Digital Twin modellel. Hibakeresés, logikai tesztek, ütközések kiszűrése biztonságos környezetben.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2475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3. Lépés: Valós letöltés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475" y="20478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Csak a teljesen hibátlanra tesztelt és validált program letöltése a fizikai berendezés PLC hardverére. Minimális helyszíni állásidő.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485775"/>
            <a:ext cx="111061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PLC program ellenőrzési lánca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40957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Autóipari robotcella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047875"/>
            <a:ext cx="49244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Egy új hegesztőrobot-cella telepítésekor a PLC programot és a robot pályagörbéit előre letesztelték egy virtuális gyári környezetben.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400175"/>
            <a:ext cx="5400675" cy="4962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6668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3105150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Időmegtakarítás a helyszínen: több mint 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505200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Kiszűrt robot-ütközések száma: 14 kritikus hiba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905250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Nulla selejt az első éles indításkor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85775"/>
            <a:ext cx="1115377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Ipari esettanulmány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124200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524250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924300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31432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Laborfeladat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047875"/>
            <a:ext cx="49244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Szállítószalag Digital Twin: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Tervezzen meg egy modellt, jelölje ki a PLC ki- és bemeneteket, a fotoelektromos érzékelőket, a léptetőmotoros hajtásokat és az OPC UA adatkapcsolati csatornákat.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Tervezési példa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047875"/>
            <a:ext cx="49244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Palackozó sor: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Határozza meg egy nagy sebességű palackozó sor szimulálandó folyamatait (töltés, kupakolás, címkézés, minőségellenőrzés) és a hibakezelési rutinokat.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66875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66875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2975" y="485775"/>
            <a:ext cx="112490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Laborfeladat &amp; Tervezési példa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27622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638300"/>
            <a:ext cx="5140642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Műhelytitok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47875"/>
            <a:ext cx="48958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Digital Twin nemcsak a kezdeti hibakeresésre kiváló, hanem az üzemeltetés évei alatt a kezelőszemélyzet képzésére (VR/AR integrációval) és energiaoptimalizálási tesztekre is használható.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1638300"/>
            <a:ext cx="5140642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Tipikus hibák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66687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66687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8475" y="204787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Pontatlan fizikai vagy kinematikai modell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244792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Hiányos érzékelő- és időkésleltetési adatok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284797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Elavult PLC-program verzió szimulációja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324802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Hibás OPC UA hálózati címzés (mapping)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85775"/>
            <a:ext cx="112871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Műhelytitok és tipikus hibák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06692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46697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86702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267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45720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IAA Mesterfeladat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047875"/>
            <a:ext cx="49244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Tervezzen teljes körű Digital Twin rendszert egy automata magasraktár számára. Készítse el a PLC vezérlési logikát, a SCADA felületet és állítsa be az OPC UA kommunikációt a szimulátorral!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Gondolkodjunk mérnökként!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4150" y="2047875"/>
            <a:ext cx="4924425" cy="819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9900" y="2238375"/>
            <a:ext cx="43529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 u="none">
                <a:solidFill>
                  <a:srgbClr val="93C5FD"/>
                </a:solidFill>
                <a:latin typeface="Plus Jakarta Sans"/>
              </a:rPr>
              <a:t> „A jó mérnök először a virtuális világban hibázik, hogy a valóságban már ne kelljen.”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4150" y="2047875"/>
            <a:ext cx="38100" cy="819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4150" y="3152775"/>
            <a:ext cx="49244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szimuláció nem költség, hanem a legolcsóbb biztosítás a projekt sikeréért.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66875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66875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50" y="485775"/>
            <a:ext cx="111061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IAA Mesterfeladat &amp; Mérnöki szemlélet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1390650"/>
            <a:ext cx="5419725" cy="4981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Plus Jakarta Sans SemiBold"/>
              </a:rPr>
              <a:t>— IAA Szakmai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1390650"/>
            <a:ext cx="5419725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2700" b="0" i="1" u="none">
                <a:solidFill>
                  <a:srgbClr val="F3F4F6"/>
                </a:solidFill>
                <a:latin typeface="Outfit"/>
              </a:rPr>
              <a:t> „A digitális iker a jövő egyik legfontosabb mérnöki eszköze.”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6937" y="2588716"/>
            <a:ext cx="2057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B82F6"/>
                </a:solidFill>
                <a:latin typeface="Plus Jakarta Sans SemiBold"/>
              </a:rPr>
              <a:t>— IAA Szakmai Alapelv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Gyakorlati kérdések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20478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Mi a pontos definíciója a Digital Twin-nek?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24479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Mi a virtuális üzembe helyezés fő előnye?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28479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Hogyan kapcsolódik a PLC a szimulációhoz?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2480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Milyen típusú digitális ikreket ismér?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36480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Mire használható még a virtuális modell?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Önellenőrző kérdések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06692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46697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86702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26707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66712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3644800" cy="866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450" y="1390650"/>
            <a:ext cx="3644949" cy="866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75" y="1390650"/>
            <a:ext cx="3644800" cy="866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2400300"/>
            <a:ext cx="3644800" cy="866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3450" y="2400300"/>
            <a:ext cx="3644949" cy="866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1275" y="2400300"/>
            <a:ext cx="3644800" cy="866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533400"/>
            <a:ext cx="314325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175" y="1543050"/>
            <a:ext cx="3507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Digital Twin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1905000"/>
            <a:ext cx="334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Digitális 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850" y="1543050"/>
            <a:ext cx="350715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Virtual Commissioning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850" y="1905000"/>
            <a:ext cx="33401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Virtuális üzembe helyezés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3675" y="1543050"/>
            <a:ext cx="3507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PLC / HMI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3675" y="1905000"/>
            <a:ext cx="334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Vezérlő &amp; Kezelőfelület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" y="2552700"/>
            <a:ext cx="3507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SCADA / MES / ERP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" y="2914650"/>
            <a:ext cx="334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Felügyeleti &amp; Gyártásirányítás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850" y="2552700"/>
            <a:ext cx="350715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OPC 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850" y="2914650"/>
            <a:ext cx="33401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Nyílt ipari kommunikációs protokoll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3675" y="2552700"/>
            <a:ext cx="3507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CAD &amp; 3D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3675" y="2914650"/>
            <a:ext cx="334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Számítógépes tervezés &amp; szimuláció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975" y="485775"/>
            <a:ext cx="112490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Szakkifejezések és rövidítések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85775"/>
            <a:ext cx="11220450" cy="588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29150" y="2026890"/>
            <a:ext cx="2933700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B82F6"/>
                </a:solidFill>
                <a:latin typeface="Plus Jakarta Sans SemiBold"/>
              </a:rPr>
              <a:t>ELŐZETES TÁJÉKOZTATÓ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0734" y="2407890"/>
            <a:ext cx="4250531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3150" b="1" i="0" u="none">
                <a:solidFill>
                  <a:srgbClr val="FFFFFF"/>
                </a:solidFill>
                <a:latin typeface="Outfit"/>
              </a:rPr>
              <a:t>Következő hét: 29.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078360"/>
            <a:ext cx="7620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60A5FA"/>
                </a:solidFill>
                <a:latin typeface="Plus Jakarta Sans"/>
              </a:rPr>
              <a:t>Prediktív karbantartás és mesterséges intelligencia az iparban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2250" y="4316610"/>
            <a:ext cx="666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Hogyan előzzük meg a géphibákat az adatok elemzésével és gépi tanulási algoritmusokkal a modern Ipar 4.0 környezetben?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206499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5335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1150" y="1540668"/>
            <a:ext cx="101250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Plus Jakarta Sans"/>
              </a:rPr>
              <a:t>https://digitaltwinproject.eu/wp-content/uploads/2026/05/ChatGPT-Image-May-26-2026-09_22_43-AM.png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1150" y="1774031"/>
            <a:ext cx="10125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CA3AF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digitaltwinproject.eu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485775"/>
            <a:ext cx="117062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1018</Words>
  <Application>Microsoft Office PowerPoint</Application>
  <PresentationFormat>Szélesvásznú</PresentationFormat>
  <Paragraphs>137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4" baseType="lpstr">
      <vt:lpstr>Arial</vt:lpstr>
      <vt:lpstr>Calibri</vt:lpstr>
      <vt:lpstr>Outfit</vt:lpstr>
      <vt:lpstr>Outfit SemiBold</vt:lpstr>
      <vt:lpstr>Plus Jakarta Sans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2026-08-02T13:48:26Z</dcterms:modified>
  <cp:category/>
</cp:coreProperties>
</file>