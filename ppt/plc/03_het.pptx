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image" Target="../media/image-14-2.png"/><Relationship Id="rId5" Type="http://schemas.openxmlformats.org/officeDocument/2006/relationships/image" Target="../media/image-14-3.svg"/><Relationship Id="rId6" Type="http://schemas.openxmlformats.org/officeDocument/2006/relationships/image" Target="../media/image-14-6.png"/><Relationship Id="rId7" Type="http://schemas.openxmlformats.org/officeDocument/2006/relationships/image" Target="../media/image-14-7.svg"/><Relationship Id="rId8" Type="http://schemas.openxmlformats.org/officeDocument/2006/relationships/image" Target="../media/image-14-6.png"/><Relationship Id="rId9" Type="http://schemas.openxmlformats.org/officeDocument/2006/relationships/image" Target="../media/image-14-7.sv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dn.gamma.app/zhbarj5mkuql04w/f9b8b7021b4a47ba8e2358b08e4528c5/file/IAP_PLC_03_het_VALODI_IAP.pdf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62334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PLC alapismeretek – 3. hét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289598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Digitális bemenetek és az első PLC program</a:t>
            </a:r>
            <a:endParaRPr lang="en-US" sz="2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45117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hét mottója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944936" y="2537916"/>
            <a:ext cx="601339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„A PLC nem találgat. Csak azt tudja, amit a bemenetekken keresztül érzékel."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2325291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3568005"/>
            <a:ext cx="6296860" cy="1838821"/>
          </a:xfrm>
          <a:prstGeom prst="roundRect">
            <a:avLst>
              <a:gd name="adj" fmla="val 431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6832" y="376336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Tanulási célok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6832" y="4172049"/>
            <a:ext cx="5906146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Digitális bemenet fogalma és logikai 0/1 állapot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Bemeneti címzés megértése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Első PLC-program elkészítése és tesztelése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 a digitális jel?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33201" y="2889845"/>
            <a:ext cx="6903269" cy="1479848"/>
          </a:xfrm>
          <a:prstGeom prst="roundRect">
            <a:avLst>
              <a:gd name="adj" fmla="val 536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639551" y="2896195"/>
            <a:ext cx="3445285" cy="1467148"/>
          </a:xfrm>
          <a:custGeom>
            <a:avLst/>
            <a:gdLst/>
            <a:ahLst/>
            <a:cxnLst/>
            <a:rect l="l" t="t" r="r" b="b"/>
            <a:pathLst>
              <a:path w="3445285" h="1467148">
                <a:moveTo>
                  <a:pt x="66156" y="0"/>
                </a:moveTo>
                <a:lnTo>
                  <a:pt x="3445285" y="0"/>
                </a:lnTo>
                <a:lnTo>
                  <a:pt x="3445285" y="1467148"/>
                </a:lnTo>
                <a:lnTo>
                  <a:pt x="66156" y="1467148"/>
                </a:lnTo>
                <a:arcTo hR="66158" wR="66156" stAng="5400000" swAng="5400000"/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6" name="Text 3"/>
          <p:cNvSpPr/>
          <p:nvPr/>
        </p:nvSpPr>
        <p:spPr>
          <a:xfrm>
            <a:off x="4828558" y="3085207"/>
            <a:ext cx="30672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 – KI / OFF / Hamis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828558" y="3569494"/>
            <a:ext cx="30672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Nincs jel, a bemenet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inaktív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 PLC logikai hamis állapotot észlel.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084836" y="2896195"/>
            <a:ext cx="3445285" cy="1467148"/>
          </a:xfrm>
          <a:custGeom>
            <a:avLst/>
            <a:gdLst/>
            <a:ahLst/>
            <a:cxnLst/>
            <a:rect l="l" t="t" r="r" b="b"/>
            <a:pathLst>
              <a:path w="3445285" h="1467148">
                <a:moveTo>
                  <a:pt x="0" y="0"/>
                </a:moveTo>
                <a:lnTo>
                  <a:pt x="3379128" y="0"/>
                </a:lnTo>
                <a:arcTo hR="66158" wR="66156" stAng="16200000" swAng="5400000"/>
                <a:lnTo>
                  <a:pt x="3445285" y="1400990"/>
                </a:lnTo>
                <a:arcTo hR="66158" wR="66156" stAng="0" swAng="5400000"/>
                <a:lnTo>
                  <a:pt x="0" y="1467148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9" name="Shape 6"/>
          <p:cNvSpPr/>
          <p:nvPr/>
        </p:nvSpPr>
        <p:spPr>
          <a:xfrm>
            <a:off x="8084836" y="2896195"/>
            <a:ext cx="25399" cy="1467148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0" name="Text 7"/>
          <p:cNvSpPr/>
          <p:nvPr/>
        </p:nvSpPr>
        <p:spPr>
          <a:xfrm>
            <a:off x="8273843" y="3085207"/>
            <a:ext cx="30672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– BE / ON / Igaz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273843" y="3569494"/>
            <a:ext cx="30672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Jel érzékelhető, a bemenet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aktív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 PLC logikai igaz állapotot rögzít.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633201" y="4582319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Jellemző eszközök: nyomógomb, végálláskapcsoló, közelítésérzékelő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420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PLC fő részei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10755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710755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Tápegység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3119438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Stabil DC feszültséget biztosít a belső elektronika számára.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710755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2617" y="2710755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CPU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922617" y="3119438"/>
            <a:ext cx="46076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Végrehajtja a programot, kezeli a be- és kimeneteket.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0177" y="4102298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Memória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370177" y="4510980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Tárolja az operációs rendszert, a felhasználói programot és az adatokat.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22617" y="4102298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Kommunikációs interfész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922617" y="4510980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Ethernet, Modbus, PROFINET és egyéb ipari protokollok.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Digitális be- és kimenetek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339306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Jelcsoportok összefoglalása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541812"/>
            <a:ext cx="5315512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Digitális bemenetek (DI):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kétállapotú jelek fogadása (0/1) – pl. nyomógomb, érzékelő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Digitális kimenetek (DO):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relés vagy tranzisztoros kimenet – pl. lámpa, mágneskapcsoló</a:t>
            </a:r>
            <a:endParaRPr lang="en-US" sz="750" dirty="0"/>
          </a:p>
          <a:p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Analóg be/kimenetek (AI/AO):</a:t>
            </a:r>
            <a:pPr algn="l" marL="152400" indent="-1524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folytonos jelek – 0–10 V vagy 4–20 mA tartományban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486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PLC tápegysége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847652"/>
            <a:ext cx="635123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Feszültségátalakítás lépései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61475" y="2280444"/>
            <a:ext cx="696081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visszacsatolás biztosítja az állandó kimeneti feszültséget terhelésváltozás esetén is.</a:t>
            </a:r>
            <a:endParaRPr lang="en-US" sz="1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987" y="1488579"/>
            <a:ext cx="2722594" cy="1349177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3199110"/>
            <a:ext cx="871218" cy="1045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93324" y="3373338"/>
            <a:ext cx="983689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230 V AC hálózat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693324" y="3741837"/>
            <a:ext cx="983689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Váltakozó hálózati feszültség bemenete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244578"/>
            <a:ext cx="871218" cy="10454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93324" y="4418806"/>
            <a:ext cx="983689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Graetz-híd egyenirányítás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1693324" y="4787305"/>
            <a:ext cx="983689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~325 V DC csúcsfeszültség keletkezik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5290046"/>
            <a:ext cx="871218" cy="10454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93324" y="5464274"/>
            <a:ext cx="983689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Kapcsolóüzemű MOSFET átalakító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1693324" y="5832773"/>
            <a:ext cx="983689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Stabil kisfeszültségű DC kimenet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716955"/>
            <a:ext cx="5702157" cy="1924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9244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Miért lesz 230 V-ból ~325 V?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798590"/>
            <a:ext cx="3496877" cy="234245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7479" y="4013002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Effektív érték vs. csúcsérték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977479" y="4716959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hálózati 230 V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effektív érték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a szinuszos jel csúcsértéke ennél jóval magasabb.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7359" y="3798590"/>
            <a:ext cx="3496877" cy="234245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663363" y="401300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Matematikai összefüggés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4663363" y="4421684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Ucsúcs = √2 · 230 V ≈ 325 V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ez a Graetz-híd és pufferkondenzátor után megjelenő DC feszültség.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33244" y="3798590"/>
            <a:ext cx="3496877" cy="234245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349247" y="4013002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Kapcsolóüzemű tápegység feladata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8349247" y="4716959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~325 V DC-t tovább alakítja stabil, alacsony feszültségű DC kimenetté a PLC elektronika számára.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13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Neumann János és a tárolt program elve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643" y="2243634"/>
            <a:ext cx="2609785" cy="32448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33201" y="2038052"/>
            <a:ext cx="1005458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5" name="Text 2"/>
          <p:cNvSpPr/>
          <p:nvPr/>
        </p:nvSpPr>
        <p:spPr>
          <a:xfrm>
            <a:off x="4746605" y="2094706"/>
            <a:ext cx="138823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1903–1957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633201" y="2400796"/>
            <a:ext cx="6903269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Magyar matematikai zseni</a:t>
            </a:r>
            <a:endParaRPr lang="en-US" sz="2950" dirty="0"/>
          </a:p>
        </p:txBody>
      </p:sp>
      <p:sp>
        <p:nvSpPr>
          <p:cNvPr id="7" name="Text 4"/>
          <p:cNvSpPr/>
          <p:nvPr/>
        </p:nvSpPr>
        <p:spPr>
          <a:xfrm>
            <a:off x="4633201" y="3062288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Magyar származású matematikus, a modern számítógép-architektúra megalapozója.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633201" y="3879751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4166493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47449" y="4097040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Neumann-elv: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program utasításai és az adatok egyaránt a memóriában tárolódnak – ez a mai PLC-k alapja is.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633201" y="5131792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PLC-k felépítése (CPU + memória + be/kimenetek) pontosan ezt az elvet tükrözi a gyári automatizálásban.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13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Fetch – Decode – Execute ciklus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662" y="1928118"/>
            <a:ext cx="5152896" cy="30583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23149" y="4277042"/>
            <a:ext cx="1280885" cy="24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Execute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3508883" y="4277042"/>
            <a:ext cx="1280885" cy="24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Decode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868297" y="4277042"/>
            <a:ext cx="1280885" cy="24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Fetch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251" y="2950865"/>
            <a:ext cx="3504219" cy="10128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54116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ciklus folyamatosan ismétlődik: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FETCH → DECODE → EXECUTE → ...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ez a CPU szintű működés alapja minden modern vezérlőrendszerben.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9260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PLC scan ciklus vs. Neumann-ciklus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218505"/>
            <a:ext cx="527592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Neumann-ciklus (CPU szinten)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1522016"/>
            <a:ext cx="259847" cy="1624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61475" y="1723727"/>
            <a:ext cx="5275924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1826716"/>
            <a:ext cx="527592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Fetch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1475" y="2119015"/>
            <a:ext cx="5275924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Utasítás beolvasása a memóriából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1475" y="2481163"/>
            <a:ext cx="259847" cy="1624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1475" y="2682875"/>
            <a:ext cx="5275924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2785864"/>
            <a:ext cx="527592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Decode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1475" y="3078163"/>
            <a:ext cx="5275924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Utasítás értelmezése a vezérlőegység által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1475" y="3440311"/>
            <a:ext cx="259847" cy="1624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1475" y="3642023"/>
            <a:ext cx="5275924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3745012"/>
            <a:ext cx="527592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Execute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1475" y="4037310"/>
            <a:ext cx="5275924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Végrehajtás az ALU által, eredmény tárolása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0646" y="1218505"/>
            <a:ext cx="527592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PLC scan ciklus (felhasználói szint)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60646" y="1510804"/>
            <a:ext cx="5885509" cy="140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Ciklusidő: tipikusan néhány ms; befolyásolja a program mérete és a CPU teljesítménye.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61475" y="4511179"/>
            <a:ext cx="259847" cy="1624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1475" y="4712891"/>
            <a:ext cx="5389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0" name="Text 18"/>
          <p:cNvSpPr/>
          <p:nvPr/>
        </p:nvSpPr>
        <p:spPr>
          <a:xfrm>
            <a:off x="661475" y="4815880"/>
            <a:ext cx="5389725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Bemenetek beolvasása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1475" y="5072459"/>
            <a:ext cx="5389725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Aktuális I/O állapotok rögzítése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40495" y="4511179"/>
            <a:ext cx="259847" cy="1624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40495" y="4712891"/>
            <a:ext cx="5389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4" name="Text 22"/>
          <p:cNvSpPr/>
          <p:nvPr/>
        </p:nvSpPr>
        <p:spPr>
          <a:xfrm>
            <a:off x="6140495" y="4815880"/>
            <a:ext cx="5389725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Program végrehajtása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40495" y="5072459"/>
            <a:ext cx="5389725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felhasználói ladder/utasításlista futtatása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1475" y="5434608"/>
            <a:ext cx="259847" cy="1624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1475" y="5636320"/>
            <a:ext cx="5389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8" name="Text 26"/>
          <p:cNvSpPr/>
          <p:nvPr/>
        </p:nvSpPr>
        <p:spPr>
          <a:xfrm>
            <a:off x="661475" y="5739309"/>
            <a:ext cx="5389725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Kimenetek frissítése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61475" y="5995888"/>
            <a:ext cx="5389725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Számított értékek kiadása a kimenetekre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40495" y="5434608"/>
            <a:ext cx="259847" cy="1624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40495" y="5636320"/>
            <a:ext cx="5389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2" name="Text 30"/>
          <p:cNvSpPr/>
          <p:nvPr/>
        </p:nvSpPr>
        <p:spPr>
          <a:xfrm>
            <a:off x="6140495" y="5739309"/>
            <a:ext cx="5389725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Diagnosztika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140495" y="5995888"/>
            <a:ext cx="5389725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Rendszerellenőrzés, majd újrakezdés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9150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Bemeneti címzés – gyártónként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556272"/>
            <a:ext cx="3053877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2751634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Eaton easy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160316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I1, I2, I3 …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556272"/>
            <a:ext cx="3053976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99715" y="2751634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LG (LS)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9715" y="3160316"/>
            <a:ext cx="26632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P000, P001, P002 …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3847108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832" y="404247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Omron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4451152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0.00, 0.01, 0.02 …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516155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kimeneteket hasonlóan jelölik: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Q1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Q000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100.00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stb. – a szintaxis gyártóspecifikus, de a logika azonos.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40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első PLC-program: I1 → Q1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708797"/>
            <a:ext cx="3504219" cy="3143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077145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Feladat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561431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nyomógomb (I1) megnyomására kapcsoljon be a jelzőlámpa (Q1).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052862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Ladder diagram logika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633201" y="3560763"/>
            <a:ext cx="6903269" cy="680442"/>
          </a:xfrm>
          <a:prstGeom prst="roundRect">
            <a:avLst>
              <a:gd name="adj" fmla="val 11667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4860010" y="3749774"/>
            <a:ext cx="705923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|----[ I1 ]------( Q1 )----|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633201" y="4453830"/>
            <a:ext cx="6903269" cy="1177429"/>
          </a:xfrm>
          <a:prstGeom prst="roundRect">
            <a:avLst>
              <a:gd name="adj" fmla="val 6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39551" y="4460180"/>
            <a:ext cx="3445285" cy="1164729"/>
          </a:xfrm>
          <a:custGeom>
            <a:avLst/>
            <a:gdLst/>
            <a:ahLst/>
            <a:cxnLst/>
            <a:rect l="l" t="t" r="r" b="b"/>
            <a:pathLst>
              <a:path w="3445285" h="1164729">
                <a:moveTo>
                  <a:pt x="66156" y="0"/>
                </a:moveTo>
                <a:lnTo>
                  <a:pt x="3445285" y="0"/>
                </a:lnTo>
                <a:lnTo>
                  <a:pt x="3445285" y="1164729"/>
                </a:lnTo>
                <a:lnTo>
                  <a:pt x="66156" y="1164729"/>
                </a:lnTo>
                <a:arcTo hR="66158" wR="66156" stAng="5400000" swAng="5400000"/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1" name="Text 8"/>
          <p:cNvSpPr/>
          <p:nvPr/>
        </p:nvSpPr>
        <p:spPr>
          <a:xfrm>
            <a:off x="4828558" y="4649192"/>
            <a:ext cx="30672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I1 = 1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4828558" y="5133479"/>
            <a:ext cx="30672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Q1 = 1 (lámpa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084836" y="4460180"/>
            <a:ext cx="3445285" cy="1164729"/>
          </a:xfrm>
          <a:custGeom>
            <a:avLst/>
            <a:gdLst/>
            <a:ahLst/>
            <a:cxnLst/>
            <a:rect l="l" t="t" r="r" b="b"/>
            <a:pathLst>
              <a:path w="3445285" h="1164729">
                <a:moveTo>
                  <a:pt x="0" y="0"/>
                </a:moveTo>
                <a:lnTo>
                  <a:pt x="3379128" y="0"/>
                </a:lnTo>
                <a:arcTo hR="66158" wR="66156" stAng="16200000" swAng="5400000"/>
                <a:lnTo>
                  <a:pt x="3445285" y="1098571"/>
                </a:lnTo>
                <a:arcTo hR="66158" wR="66156" stAng="0" swAng="5400000"/>
                <a:lnTo>
                  <a:pt x="0" y="1164729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4" name="Shape 11"/>
          <p:cNvSpPr/>
          <p:nvPr/>
        </p:nvSpPr>
        <p:spPr>
          <a:xfrm>
            <a:off x="8084836" y="4460180"/>
            <a:ext cx="25399" cy="1164729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5" name="Text 12"/>
          <p:cNvSpPr/>
          <p:nvPr/>
        </p:nvSpPr>
        <p:spPr>
          <a:xfrm>
            <a:off x="8273843" y="4649192"/>
            <a:ext cx="30672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I1 = 0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8273843" y="5133479"/>
            <a:ext cx="30672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Q1 = 0 (lámpa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KI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635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Laborfeladat – lépések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61475" y="1427559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7900" y="1460798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226214" y="1488380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Nyomógomb bekötése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26214" y="1864916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első bemenetre (I1) csatlakoztatjuk a START nyomógombot.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1475" y="2471738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7900" y="2504976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226214" y="2532559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Jelzőlámpa bekötése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26214" y="2909094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első kimenetre (Q1) csatlakoztatjuk a jelzőlámpát.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1475" y="3515916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7900" y="3549154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1226214" y="3576737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Program elkészítése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26214" y="3953272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ladder diagramot a szoftverben szerkesztjük meg.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1475" y="4560094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7900" y="4593332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1226214" y="4620915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Program letöltése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26214" y="4997450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elkészített programot letöltjük a PLC-re.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1475" y="5604272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7900" y="563751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1226214" y="5665093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Online monitor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26214" y="6041628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Valós idejű állapotfigyelés – ellenőrizzük a bemeneti és kimeneti állapotokat.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402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Gyakori hibák és mérnöki gondolkodás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91134"/>
            <a:ext cx="3513645" cy="351373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8141" y="1558131"/>
            <a:ext cx="3365515" cy="17519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38192" y="1766590"/>
            <a:ext cx="2847011" cy="29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Hibás címzés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4938192" y="2236291"/>
            <a:ext cx="2847011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Rossz I/Q szám megadása – a program nem a valódi eszközt vezérli.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70956" y="1558131"/>
            <a:ext cx="3365515" cy="17519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81007" y="1766590"/>
            <a:ext cx="2847011" cy="29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STOP mód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8481007" y="2236291"/>
            <a:ext cx="2847011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PLC nem hajtja végre a programot – ellenőrizd az üzemmódot!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28141" y="3487341"/>
            <a:ext cx="3365515" cy="146347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38192" y="3695799"/>
            <a:ext cx="2847011" cy="29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Hiányzó tápfeszültség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4938192" y="4165501"/>
            <a:ext cx="2847011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Hibás bekötés vagy tápkimaradás – a bemenet nem kap jelet.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70956" y="3487341"/>
            <a:ext cx="3365515" cy="146347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481007" y="3695799"/>
            <a:ext cx="2847011" cy="29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Program nincs letöltve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8481007" y="4165501"/>
            <a:ext cx="2847011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PLC az előző programot futtatja, vagy üres memóriával dolgozik.</a:t>
            </a:r>
            <a:endParaRPr lang="en-US" sz="1400" dirty="0"/>
          </a:p>
        </p:txBody>
      </p:sp>
      <p:sp>
        <p:nvSpPr>
          <p:cNvPr id="16" name="Shape 9"/>
          <p:cNvSpPr/>
          <p:nvPr/>
        </p:nvSpPr>
        <p:spPr>
          <a:xfrm>
            <a:off x="4628141" y="5150346"/>
            <a:ext cx="6908330" cy="987623"/>
          </a:xfrm>
          <a:prstGeom prst="roundRect">
            <a:avLst>
              <a:gd name="adj" fmla="val 7787"/>
            </a:avLst>
          </a:prstGeom>
          <a:solidFill>
            <a:srgbClr val="FCF2B5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1195" y="5416352"/>
            <a:ext cx="228793" cy="183059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223042" y="5355729"/>
            <a:ext cx="613037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működő LED még nem jelenti, hogy a vezérlés biztonságos – mindig vizsgáljuk a rendellenes helyzeteket is!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5175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Összefoglalás és önellenőrzés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320429"/>
            <a:ext cx="3496877" cy="2245420"/>
          </a:xfrm>
          <a:prstGeom prst="roundRect">
            <a:avLst>
              <a:gd name="adj" fmla="val 3536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5881" y="2534841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Digitális bemenetek szerepe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75881" y="3238798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digitális bemenetek jelentik a PLC kapcsolatát a külvilággal – rajtuk keresztül érzékeli a valóságot.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320429"/>
            <a:ext cx="3496877" cy="2245420"/>
          </a:xfrm>
          <a:prstGeom prst="roundRect">
            <a:avLst>
              <a:gd name="adj" fmla="val 3536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1766" y="2534841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Ciklus-hierarchia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61766" y="2943523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Fetch–Decode–Execute ciklus és a PLC scan ciklus egymásra épül: CPU-szint és felhasználói szint együtt alkotja a rendszert.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320429"/>
            <a:ext cx="3496877" cy="2245420"/>
          </a:xfrm>
          <a:prstGeom prst="roundRect">
            <a:avLst>
              <a:gd name="adj" fmla="val 3536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7650" y="2534841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Önellenőrző kérdések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47650" y="2943523"/>
            <a:ext cx="306806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jelent a digitális jel?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 az I1 és Q1?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Miért fontos az online monitor?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Sorolj fel négy gyakori hibát!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44936" y="4991100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„A PLC nem gondolkodik helyettünk – csak pontosan végrehajtja azt, amit megterveztünk." – IAP mérnöki alapelv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1475" y="4778474"/>
            <a:ext cx="25399" cy="727670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7934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Források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7620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IAP_PLC_03_het_VALODI_IAP.pdf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B1B2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2026-09-14T04:08:06Z</dcterms:created>
  <dcterms:modified xsi:type="dcterms:W3CDTF">2026-09-14T04:08:06Z</dcterms:modified>
</cp:coreProperties>
</file>