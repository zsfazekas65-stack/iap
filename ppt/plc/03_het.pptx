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Arial" panose="020B0604020202020204" pitchFamily="34" charset="0"/>
      <p:regular r:id="rId14"/>
    </p:embeddedFont>
    <p:embeddedFont>
      <p:font typeface="Arial Bold" panose="020B0604020202020204" charset="0"/>
      <p:regular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3" d="100"/>
          <a:sy n="33" d="100"/>
        </p:scale>
        <p:origin x="946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01.08.2026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2.png"/><Relationship Id="rId4" Type="http://schemas.openxmlformats.org/officeDocument/2006/relationships/oleObject" Target="../embeddings/oleObject1.bin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590550"/>
            <a:ext cx="1000125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3. HÉT • 5 × 45 PERC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05975" y="2176462"/>
            <a:ext cx="15144750" cy="3467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45"/>
              </a:lnSpc>
            </a:pPr>
            <a:r>
              <a:rPr lang="en-US" sz="7537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Digitális bemenetek és az első PLC program</a:t>
            </a:r>
          </a:p>
          <a:p>
            <a:pPr algn="l">
              <a:lnSpc>
                <a:spcPts val="9045"/>
              </a:lnSpc>
            </a:pPr>
            <a:endParaRPr lang="en-US" sz="7537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00075" y="5233987"/>
            <a:ext cx="1428750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5"/>
              </a:lnSpc>
            </a:pPr>
            <a:r>
              <a:rPr lang="en-US" sz="3262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 hét gondolata</a:t>
            </a:r>
          </a:p>
          <a:p>
            <a:pPr algn="l">
              <a:lnSpc>
                <a:spcPts val="3915"/>
              </a:lnSpc>
            </a:pPr>
            <a:r>
              <a:rPr lang="en-US" sz="3262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„A PLC nem találgat. Csak azt tudja, amit a bemeneteken keresztül érzékel.”</a:t>
            </a:r>
          </a:p>
          <a:p>
            <a:pPr algn="l">
              <a:lnSpc>
                <a:spcPts val="3915"/>
              </a:lnSpc>
            </a:pPr>
            <a:endParaRPr lang="en-US" sz="3262">
              <a:solidFill>
                <a:srgbClr val="4B556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600075" y="7022306"/>
            <a:ext cx="17087850" cy="142875"/>
            <a:chOff x="0" y="0"/>
            <a:chExt cx="22783800" cy="1905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783800" cy="190500"/>
            </a:xfrm>
            <a:custGeom>
              <a:avLst/>
              <a:gdLst/>
              <a:ahLst/>
              <a:cxnLst/>
              <a:rect l="l" t="t" r="r" b="b"/>
              <a:pathLst>
                <a:path w="22783800" h="190500">
                  <a:moveTo>
                    <a:pt x="0" y="0"/>
                  </a:moveTo>
                  <a:lnTo>
                    <a:pt x="22783800" y="0"/>
                  </a:lnTo>
                  <a:lnTo>
                    <a:pt x="22783800" y="190500"/>
                  </a:lnTo>
                  <a:lnTo>
                    <a:pt x="0" y="190500"/>
                  </a:lnTo>
                  <a:close/>
                </a:path>
              </a:pathLst>
            </a:custGeom>
            <a:solidFill>
              <a:srgbClr val="F28C28"/>
            </a:solidFill>
          </p:spPr>
        </p:sp>
      </p:grpSp>
      <p:sp>
        <p:nvSpPr>
          <p:cNvPr id="7" name="TextBox 7"/>
          <p:cNvSpPr txBox="1"/>
          <p:nvPr/>
        </p:nvSpPr>
        <p:spPr>
          <a:xfrm>
            <a:off x="600075" y="7710487"/>
            <a:ext cx="14716125" cy="2609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Tanulási célok</a:t>
            </a:r>
          </a:p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·Megérti a digitális bemenet fogalmát.</a:t>
            </a:r>
          </a:p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·Megkülönbözteti a logikai 0 és 1 állapotot.</a:t>
            </a:r>
          </a:p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·Megismeri a PLC-k bemeneti címzését.</a:t>
            </a:r>
          </a:p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·Elkészíti első működő PLC-programját.</a:t>
            </a:r>
          </a:p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·Megtanulja a program letöltésének és tesztelésének lépéseit.</a:t>
            </a:r>
          </a:p>
          <a:p>
            <a:pPr algn="l">
              <a:lnSpc>
                <a:spcPts val="2970"/>
              </a:lnSpc>
            </a:pPr>
            <a:endParaRPr lang="en-US" sz="2475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0075" y="857250"/>
            <a:ext cx="16573500" cy="220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5"/>
              </a:lnSpc>
            </a:pPr>
            <a:r>
              <a:rPr lang="en-US" sz="3587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Bevezetés</a:t>
            </a:r>
          </a:p>
          <a:p>
            <a:pPr algn="l">
              <a:lnSpc>
                <a:spcPts val="4305"/>
              </a:lnSpc>
            </a:pPr>
            <a:r>
              <a:rPr lang="en-US" sz="3587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A PLC a külvilágról kizárólag a bemeneteken keresztül szerez információt. A nyomógombok és érzékelők jelei alapján hajtja végre a programot.</a:t>
            </a:r>
          </a:p>
          <a:p>
            <a:pPr algn="l">
              <a:lnSpc>
                <a:spcPts val="4305"/>
              </a:lnSpc>
            </a:pPr>
            <a:endParaRPr lang="en-US" sz="3587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84098" y="3454143"/>
            <a:ext cx="16432352" cy="2550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60"/>
              </a:lnSpc>
              <a:spcBef>
                <a:spcPct val="0"/>
              </a:spcBef>
            </a:pPr>
            <a:r>
              <a:rPr lang="en-US" sz="42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Az első PLC-program</a:t>
            </a:r>
          </a:p>
          <a:p>
            <a:pPr algn="ctr">
              <a:lnSpc>
                <a:spcPts val="5060"/>
              </a:lnSpc>
              <a:spcBef>
                <a:spcPct val="0"/>
              </a:spcBef>
            </a:pPr>
            <a:r>
              <a:rPr lang="en-US" sz="42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Feladat: START nyomógomb megnyomására világítson a jelzőlámpa.</a:t>
            </a:r>
          </a:p>
          <a:p>
            <a:pPr algn="ctr">
              <a:lnSpc>
                <a:spcPts val="5060"/>
              </a:lnSpc>
              <a:spcBef>
                <a:spcPct val="0"/>
              </a:spcBef>
            </a:pPr>
            <a:r>
              <a:rPr lang="en-US" sz="42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algn="ctr">
              <a:lnSpc>
                <a:spcPts val="5060"/>
              </a:lnSpc>
              <a:spcBef>
                <a:spcPct val="0"/>
              </a:spcBef>
            </a:pPr>
            <a:r>
              <a:rPr lang="en-US" sz="42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|----[ I1 ]----------------( Q1 )----|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84098" y="6687798"/>
            <a:ext cx="8303657" cy="2638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76"/>
              </a:lnSpc>
              <a:spcBef>
                <a:spcPct val="0"/>
              </a:spcBef>
            </a:pPr>
            <a:r>
              <a:rPr lang="en-US" sz="348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Laborfeladat</a:t>
            </a:r>
          </a:p>
          <a:p>
            <a:pPr algn="l">
              <a:lnSpc>
                <a:spcPts val="4176"/>
              </a:lnSpc>
              <a:spcBef>
                <a:spcPct val="0"/>
              </a:spcBef>
            </a:pPr>
            <a:r>
              <a:rPr lang="en-US" sz="348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Nyomógomb bekötése az első bemenetre.</a:t>
            </a:r>
          </a:p>
          <a:p>
            <a:pPr algn="l">
              <a:lnSpc>
                <a:spcPts val="4176"/>
              </a:lnSpc>
              <a:spcBef>
                <a:spcPct val="0"/>
              </a:spcBef>
            </a:pPr>
            <a:r>
              <a:rPr lang="en-US" sz="348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Jelzőlámpa bekötése az első kimenetre.</a:t>
            </a:r>
          </a:p>
          <a:p>
            <a:pPr algn="l">
              <a:lnSpc>
                <a:spcPts val="4176"/>
              </a:lnSpc>
              <a:spcBef>
                <a:spcPct val="0"/>
              </a:spcBef>
            </a:pPr>
            <a:r>
              <a:rPr lang="en-US" sz="348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Program elkészítése és letöltése.</a:t>
            </a:r>
          </a:p>
          <a:p>
            <a:pPr algn="l">
              <a:lnSpc>
                <a:spcPts val="4176"/>
              </a:lnSpc>
              <a:spcBef>
                <a:spcPct val="0"/>
              </a:spcBef>
            </a:pPr>
            <a:r>
              <a:rPr lang="en-US" sz="348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Online monitor használata.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95300" y="1500458"/>
            <a:ext cx="16573500" cy="342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Gyakori hibák: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Hibás címzés.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STOP mód.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Hiányzó tápfeszültség.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Hibás bekötés.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A program nincs letöltve.</a:t>
            </a:r>
          </a:p>
          <a:p>
            <a:pPr algn="l">
              <a:lnSpc>
                <a:spcPts val="3840"/>
              </a:lnSpc>
            </a:pPr>
            <a:endParaRPr lang="en-US" sz="3200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5300" y="5472383"/>
            <a:ext cx="17792700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Mérnöki gondolkodás</a:t>
            </a:r>
          </a:p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 működő LED még nem jelenti azt, hogy a vezérlés biztonságos. Mindig vizsgáljuk meg a rendszer viselkedését rendellenes helyzetekben is.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95300" y="7910783"/>
            <a:ext cx="16936641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IAP Extra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Az online monitor valós időben mutatja a bemenetek, kimenetek és a program állapotát.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0075" y="857250"/>
            <a:ext cx="16573500" cy="1971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endParaRPr/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A digitális bemenetek jelentik a PLC kapcsolatát a külvilággal, ezek alapján működik a program.</a:t>
            </a:r>
          </a:p>
          <a:p>
            <a:pPr algn="l">
              <a:lnSpc>
                <a:spcPts val="3840"/>
              </a:lnSpc>
            </a:pPr>
            <a:endParaRPr lang="en-US" sz="3200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71184" y="3286125"/>
            <a:ext cx="17102138" cy="2943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Önellenőrző kérdések</a:t>
            </a:r>
          </a:p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1. Mit jelent a digitális jel?</a:t>
            </a:r>
          </a:p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Mit jelent az I1 és a Q1?</a:t>
            </a:r>
          </a:p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3. Mi a különbség a 0 és az 1 között?</a:t>
            </a:r>
          </a:p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4. Miért fontos az online monitor?</a:t>
            </a:r>
          </a:p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5. Sorolj fel négy gyakori hibát!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33494" y="7617925"/>
            <a:ext cx="17621012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Idézet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„A PLC nem gondolkodik helyettünk – csak pontosan végrehajtja azt, amit megterveztünk.”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IAP mérnöki alapelv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0075" y="857250"/>
            <a:ext cx="16573500" cy="245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Mi a digitális jel?A digitális jel olyan villamos jel, amely csak meghatározott értékeket vehet fel. A gyakorlatban ez legtöbbször két állapotot jelent:</a:t>
            </a:r>
          </a:p>
          <a:p>
            <a:pPr marL="690881" lvl="1" indent="-345440" algn="l">
              <a:lnSpc>
                <a:spcPts val="3840"/>
              </a:lnSpc>
              <a:buFont typeface="Arial"/>
              <a:buChar char="•"/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0 (LOW) – alacsony feszültség (pl. 0 V)</a:t>
            </a:r>
          </a:p>
          <a:p>
            <a:pPr marL="690881" lvl="1" indent="-345440" algn="l">
              <a:lnSpc>
                <a:spcPts val="3840"/>
              </a:lnSpc>
              <a:buFont typeface="Arial"/>
              <a:buChar char="•"/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1 (HIGH) – magas feszültség (pl. 5 V vagy 24 V)</a:t>
            </a:r>
          </a:p>
          <a:p>
            <a:pPr algn="l">
              <a:lnSpc>
                <a:spcPts val="3840"/>
              </a:lnSpc>
            </a:pPr>
            <a:endParaRPr lang="en-US" sz="3200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309546" y="4219575"/>
            <a:ext cx="4286250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4"/>
              </a:lnSpc>
            </a:pPr>
            <a:r>
              <a:rPr lang="en-US" sz="3037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Jelentés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5875" y="4267200"/>
            <a:ext cx="428625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Állapot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143000" y="5229225"/>
            <a:ext cx="15430500" cy="28575"/>
            <a:chOff x="0" y="0"/>
            <a:chExt cx="20574000" cy="38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574000" cy="38100"/>
            </a:xfrm>
            <a:custGeom>
              <a:avLst/>
              <a:gdLst/>
              <a:ahLst/>
              <a:cxnLst/>
              <a:rect l="l" t="t" r="r" b="b"/>
              <a:pathLst>
                <a:path w="20574000" h="38100">
                  <a:moveTo>
                    <a:pt x="0" y="0"/>
                  </a:moveTo>
                  <a:lnTo>
                    <a:pt x="20574000" y="0"/>
                  </a:lnTo>
                  <a:lnTo>
                    <a:pt x="20574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DEDED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1285875" y="5695950"/>
            <a:ext cx="428625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0</a:t>
            </a:r>
          </a:p>
          <a:p>
            <a:pPr algn="l">
              <a:lnSpc>
                <a:spcPts val="3240"/>
              </a:lnSpc>
            </a:pPr>
            <a:endParaRPr lang="en-US" sz="2700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143625" y="5695950"/>
            <a:ext cx="428625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1597C5"/>
                </a:solidFill>
                <a:latin typeface="Arial"/>
                <a:ea typeface="Arial"/>
                <a:cs typeface="Arial"/>
                <a:sym typeface="Arial"/>
              </a:rPr>
              <a:t>KI/OFF/HAMIS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43000" y="6657975"/>
            <a:ext cx="15430500" cy="28575"/>
            <a:chOff x="0" y="0"/>
            <a:chExt cx="20574000" cy="381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0574000" cy="38100"/>
            </a:xfrm>
            <a:custGeom>
              <a:avLst/>
              <a:gdLst/>
              <a:ahLst/>
              <a:cxnLst/>
              <a:rect l="l" t="t" r="r" b="b"/>
              <a:pathLst>
                <a:path w="20574000" h="38100">
                  <a:moveTo>
                    <a:pt x="0" y="0"/>
                  </a:moveTo>
                  <a:lnTo>
                    <a:pt x="20574000" y="0"/>
                  </a:lnTo>
                  <a:lnTo>
                    <a:pt x="20574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DEDED"/>
            </a:solidFill>
          </p:spPr>
        </p:sp>
      </p:grpSp>
      <p:sp>
        <p:nvSpPr>
          <p:cNvPr id="13" name="TextBox 13"/>
          <p:cNvSpPr txBox="1"/>
          <p:nvPr/>
        </p:nvSpPr>
        <p:spPr>
          <a:xfrm>
            <a:off x="1285875" y="7124700"/>
            <a:ext cx="428625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143625" y="7124700"/>
            <a:ext cx="428625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1597C5"/>
                </a:solidFill>
                <a:latin typeface="Arial"/>
                <a:ea typeface="Arial"/>
                <a:cs typeface="Arial"/>
                <a:sym typeface="Arial"/>
              </a:rPr>
              <a:t>BE/ON/IGAZ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43000" y="8086725"/>
            <a:ext cx="15430500" cy="28575"/>
            <a:chOff x="0" y="0"/>
            <a:chExt cx="20574000" cy="381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574000" cy="38100"/>
            </a:xfrm>
            <a:custGeom>
              <a:avLst/>
              <a:gdLst/>
              <a:ahLst/>
              <a:cxnLst/>
              <a:rect l="l" t="t" r="r" b="b"/>
              <a:pathLst>
                <a:path w="20574000" h="38100">
                  <a:moveTo>
                    <a:pt x="0" y="0"/>
                  </a:moveTo>
                  <a:lnTo>
                    <a:pt x="20574000" y="0"/>
                  </a:lnTo>
                  <a:lnTo>
                    <a:pt x="20574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DEDED"/>
            </a:solidFill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71184" y="1920821"/>
            <a:ext cx="16573500" cy="342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Egyszerű magyarázat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Képzelj el egy villanykapcsolót:</a:t>
            </a:r>
          </a:p>
          <a:p>
            <a:pPr marL="690881" lvl="1" indent="-345440" algn="l">
              <a:lnSpc>
                <a:spcPts val="3840"/>
              </a:lnSpc>
              <a:buFont typeface="Arial"/>
              <a:buChar char="•"/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Kikapcsolva = 0</a:t>
            </a:r>
          </a:p>
          <a:p>
            <a:pPr marL="690881" lvl="1" indent="-345440" algn="l">
              <a:lnSpc>
                <a:spcPts val="3840"/>
              </a:lnSpc>
              <a:buFont typeface="Arial"/>
              <a:buChar char="•"/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Bekapcsolva = 1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A digitális jel is hasonlóan működik: nincs "félig bekapcsolva", hanem egyértelmű állapotai vannak.</a:t>
            </a:r>
          </a:p>
          <a:p>
            <a:pPr algn="l">
              <a:lnSpc>
                <a:spcPts val="3840"/>
              </a:lnSpc>
            </a:pPr>
            <a:endParaRPr lang="en-US" sz="3200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71184" y="5765693"/>
            <a:ext cx="16573500" cy="2943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Egyszerű magyarázat</a:t>
            </a:r>
          </a:p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Képzelj el egy villanykapcsolót:</a:t>
            </a:r>
          </a:p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Kikapcsolva = 0</a:t>
            </a:r>
          </a:p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Bekapcsolva = 1</a:t>
            </a:r>
          </a:p>
          <a:p>
            <a:pPr algn="l">
              <a:lnSpc>
                <a:spcPts val="3839"/>
              </a:lnSpc>
              <a:spcBef>
                <a:spcPct val="0"/>
              </a:spcBef>
            </a:pPr>
            <a:r>
              <a:rPr lang="en-US" sz="31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 digitális jel is hasonlóan működik: nincs "félig bekapcsolva", hanem egyértelmű állapotai vannak.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0075" y="866775"/>
            <a:ext cx="165735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65"/>
              </a:lnSpc>
            </a:pPr>
            <a:r>
              <a:rPr lang="en-US" sz="4387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A scan cycle folyamatosan újraindul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5" name="Freeform 5"/>
          <p:cNvSpPr/>
          <p:nvPr/>
        </p:nvSpPr>
        <p:spPr>
          <a:xfrm>
            <a:off x="802209" y="2143125"/>
            <a:ext cx="15068520" cy="6967678"/>
          </a:xfrm>
          <a:custGeom>
            <a:avLst/>
            <a:gdLst/>
            <a:ahLst/>
            <a:cxnLst/>
            <a:rect l="l" t="t" r="r" b="b"/>
            <a:pathLst>
              <a:path w="15068520" h="6967678">
                <a:moveTo>
                  <a:pt x="0" y="0"/>
                </a:moveTo>
                <a:lnTo>
                  <a:pt x="15068520" y="0"/>
                </a:lnTo>
                <a:lnTo>
                  <a:pt x="15068520" y="6967678"/>
                </a:lnTo>
                <a:lnTo>
                  <a:pt x="0" y="69676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5620" b="-562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0075" y="2219325"/>
            <a:ext cx="16573500" cy="292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Bemeneti címzés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Eaton easy: I1, I2... 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LG: P000, P001...            (Fizikai bemenetek)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Omron: 0.00, 0.01...</a:t>
            </a:r>
          </a:p>
          <a:p>
            <a:pPr algn="l">
              <a:lnSpc>
                <a:spcPts val="4590"/>
              </a:lnSpc>
            </a:pPr>
            <a:endParaRPr lang="en-US" sz="3825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0" y="904875"/>
            <a:ext cx="16862004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    Példák a különböző gyártók bemeneti címzésére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15446" y="5144969"/>
            <a:ext cx="16573500" cy="292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Kimeneti címzés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Eaton easy: O1, O2... 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LG: Q000, Q001...            (Fizikai bemenetek)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Omron: 100.00, 100-01... (Típustól függően)</a:t>
            </a:r>
          </a:p>
          <a:p>
            <a:pPr algn="l">
              <a:lnSpc>
                <a:spcPts val="4590"/>
              </a:lnSpc>
            </a:pPr>
            <a:endParaRPr lang="en-US" sz="3825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0075" y="2114550"/>
            <a:ext cx="17087850" cy="42862"/>
            <a:chOff x="0" y="0"/>
            <a:chExt cx="22783800" cy="571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783800" cy="57150"/>
            </a:xfrm>
            <a:custGeom>
              <a:avLst/>
              <a:gdLst/>
              <a:ahLst/>
              <a:cxnLst/>
              <a:rect l="l" t="t" r="r" b="b"/>
              <a:pathLst>
                <a:path w="22783800" h="57150">
                  <a:moveTo>
                    <a:pt x="0" y="0"/>
                  </a:moveTo>
                  <a:lnTo>
                    <a:pt x="22783800" y="0"/>
                  </a:lnTo>
                  <a:lnTo>
                    <a:pt x="22783800" y="57150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1597C5"/>
            </a:solidFill>
          </p:spPr>
        </p:sp>
      </p:grpSp>
      <p:graphicFrame>
        <p:nvGraphicFramePr>
          <p:cNvPr id="4" name="Object 4"/>
          <p:cNvGraphicFramePr/>
          <p:nvPr/>
        </p:nvGraphicFramePr>
        <p:xfrm>
          <a:off x="744885" y="3269924"/>
          <a:ext cx="5657850" cy="2514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Worksheet" r:id="rId4" imgW="6781800" imgH="3644900" progId="Excel.Sheet.12">
                  <p:embed/>
                </p:oleObj>
              </mc:Choice>
              <mc:Fallback>
                <p:oleObj name="Worksheet" r:id="rId4" imgW="6781800" imgH="3644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4885" y="3269924"/>
                        <a:ext cx="5657850" cy="2514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0075" y="866775"/>
            <a:ext cx="165735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65"/>
              </a:lnSpc>
            </a:pPr>
            <a:r>
              <a:rPr lang="en-US" sz="4387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Gyártók fejlesztő szoftverei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0075" y="866775"/>
            <a:ext cx="165735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65"/>
              </a:lnSpc>
            </a:pPr>
            <a:r>
              <a:rPr lang="en-US" sz="4387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A PLC-k amindennapokban betöltött helye. (példák)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600075" y="2114550"/>
            <a:ext cx="17087850" cy="42862"/>
            <a:chOff x="0" y="0"/>
            <a:chExt cx="22783800" cy="5715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83800" cy="57150"/>
            </a:xfrm>
            <a:custGeom>
              <a:avLst/>
              <a:gdLst/>
              <a:ahLst/>
              <a:cxnLst/>
              <a:rect l="l" t="t" r="r" b="b"/>
              <a:pathLst>
                <a:path w="22783800" h="57150">
                  <a:moveTo>
                    <a:pt x="0" y="0"/>
                  </a:moveTo>
                  <a:lnTo>
                    <a:pt x="22783800" y="0"/>
                  </a:lnTo>
                  <a:lnTo>
                    <a:pt x="22783800" y="57150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1597C5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438973" y="3556168"/>
            <a:ext cx="3099435" cy="3174664"/>
            <a:chOff x="0" y="0"/>
            <a:chExt cx="3924300" cy="40195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924300" cy="4019550"/>
            </a:xfrm>
            <a:custGeom>
              <a:avLst/>
              <a:gdLst/>
              <a:ahLst/>
              <a:cxnLst/>
              <a:rect l="l" t="t" r="r" b="b"/>
              <a:pathLst>
                <a:path w="3924300" h="401955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771138" y="0"/>
                  </a:lnTo>
                  <a:cubicBezTo>
                    <a:pt x="3855720" y="0"/>
                    <a:pt x="3924300" y="68580"/>
                    <a:pt x="3924300" y="153162"/>
                  </a:cubicBezTo>
                  <a:lnTo>
                    <a:pt x="3924300" y="3866388"/>
                  </a:lnTo>
                  <a:cubicBezTo>
                    <a:pt x="3924300" y="3950970"/>
                    <a:pt x="3855720" y="4019550"/>
                    <a:pt x="3771138" y="4019550"/>
                  </a:cubicBezTo>
                  <a:lnTo>
                    <a:pt x="153162" y="4019550"/>
                  </a:lnTo>
                  <a:cubicBezTo>
                    <a:pt x="68580" y="4019550"/>
                    <a:pt x="0" y="3950970"/>
                    <a:pt x="0" y="386638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747412" y="4146473"/>
            <a:ext cx="2482557" cy="620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9"/>
              </a:lnSpc>
            </a:pPr>
            <a:r>
              <a:rPr lang="en-US" sz="2724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Lift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7412" y="5500595"/>
            <a:ext cx="2482557" cy="696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1"/>
              </a:lnSpc>
            </a:pPr>
            <a:r>
              <a:rPr lang="en-US" sz="1934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ajtók, emeletválasztás és biztonsági feltételek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4049965" y="3556168"/>
            <a:ext cx="3099435" cy="3174664"/>
            <a:chOff x="0" y="0"/>
            <a:chExt cx="3924300" cy="40195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924300" cy="4019550"/>
            </a:xfrm>
            <a:custGeom>
              <a:avLst/>
              <a:gdLst/>
              <a:ahLst/>
              <a:cxnLst/>
              <a:rect l="l" t="t" r="r" b="b"/>
              <a:pathLst>
                <a:path w="3924300" h="401955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771138" y="0"/>
                  </a:lnTo>
                  <a:cubicBezTo>
                    <a:pt x="3855720" y="0"/>
                    <a:pt x="3924300" y="68580"/>
                    <a:pt x="3924300" y="153162"/>
                  </a:cubicBezTo>
                  <a:lnTo>
                    <a:pt x="3924300" y="3866388"/>
                  </a:lnTo>
                  <a:cubicBezTo>
                    <a:pt x="3924300" y="3950970"/>
                    <a:pt x="3855720" y="4019550"/>
                    <a:pt x="3771138" y="4019550"/>
                  </a:cubicBezTo>
                  <a:lnTo>
                    <a:pt x="153162" y="4019550"/>
                  </a:lnTo>
                  <a:cubicBezTo>
                    <a:pt x="68580" y="4019550"/>
                    <a:pt x="0" y="3950970"/>
                    <a:pt x="0" y="386638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F28C28"/>
              </a:solidFill>
              <a:prstDash val="solid"/>
              <a:miter/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4358404" y="4146473"/>
            <a:ext cx="2482557" cy="620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9"/>
              </a:lnSpc>
            </a:pPr>
            <a:r>
              <a:rPr lang="en-US" sz="2724" b="1">
                <a:solidFill>
                  <a:srgbClr val="F28C28"/>
                </a:solidFill>
                <a:latin typeface="Arial Bold"/>
                <a:ea typeface="Arial Bold"/>
                <a:cs typeface="Arial Bold"/>
                <a:sym typeface="Arial Bold"/>
              </a:rPr>
              <a:t>Autómosó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358404" y="5500595"/>
            <a:ext cx="2482557" cy="696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4"/>
              </a:lnSpc>
            </a:pPr>
            <a:r>
              <a:rPr lang="en-US" sz="2095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programozott lépések és érzékelők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660958" y="3556168"/>
            <a:ext cx="3099435" cy="3174664"/>
            <a:chOff x="0" y="0"/>
            <a:chExt cx="3924300" cy="40195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924300" cy="4019550"/>
            </a:xfrm>
            <a:custGeom>
              <a:avLst/>
              <a:gdLst/>
              <a:ahLst/>
              <a:cxnLst/>
              <a:rect l="l" t="t" r="r" b="b"/>
              <a:pathLst>
                <a:path w="3924300" h="401955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771138" y="0"/>
                  </a:lnTo>
                  <a:cubicBezTo>
                    <a:pt x="3855720" y="0"/>
                    <a:pt x="3924300" y="68580"/>
                    <a:pt x="3924300" y="153162"/>
                  </a:cubicBezTo>
                  <a:lnTo>
                    <a:pt x="3924300" y="3866388"/>
                  </a:lnTo>
                  <a:cubicBezTo>
                    <a:pt x="3924300" y="3950970"/>
                    <a:pt x="3855720" y="4019550"/>
                    <a:pt x="3771138" y="4019550"/>
                  </a:cubicBezTo>
                  <a:lnTo>
                    <a:pt x="153162" y="4019550"/>
                  </a:lnTo>
                  <a:cubicBezTo>
                    <a:pt x="68580" y="4019550"/>
                    <a:pt x="0" y="3950970"/>
                    <a:pt x="0" y="386638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2E9D67"/>
              </a:solidFill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7969396" y="4146473"/>
            <a:ext cx="2482557" cy="620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9"/>
              </a:lnSpc>
            </a:pPr>
            <a:r>
              <a:rPr lang="en-US" sz="2724" b="1">
                <a:solidFill>
                  <a:srgbClr val="2E9D67"/>
                </a:solidFill>
                <a:latin typeface="Arial Bold"/>
                <a:ea typeface="Arial Bold"/>
                <a:cs typeface="Arial Bold"/>
                <a:sym typeface="Arial Bold"/>
              </a:rPr>
              <a:t>Csomagolás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969396" y="5500595"/>
            <a:ext cx="2482557" cy="696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darabszám, sorrend és gépmozgások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1271950" y="3556168"/>
            <a:ext cx="3099435" cy="3174664"/>
            <a:chOff x="0" y="0"/>
            <a:chExt cx="3924300" cy="40195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924300" cy="4019550"/>
            </a:xfrm>
            <a:custGeom>
              <a:avLst/>
              <a:gdLst/>
              <a:ahLst/>
              <a:cxnLst/>
              <a:rect l="l" t="t" r="r" b="b"/>
              <a:pathLst>
                <a:path w="3924300" h="401955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771138" y="0"/>
                  </a:lnTo>
                  <a:cubicBezTo>
                    <a:pt x="3855720" y="0"/>
                    <a:pt x="3924300" y="68580"/>
                    <a:pt x="3924300" y="153162"/>
                  </a:cubicBezTo>
                  <a:lnTo>
                    <a:pt x="3924300" y="3866388"/>
                  </a:lnTo>
                  <a:cubicBezTo>
                    <a:pt x="3924300" y="3950970"/>
                    <a:pt x="3855720" y="4019550"/>
                    <a:pt x="3771138" y="4019550"/>
                  </a:cubicBezTo>
                  <a:lnTo>
                    <a:pt x="153162" y="4019550"/>
                  </a:lnTo>
                  <a:cubicBezTo>
                    <a:pt x="68580" y="4019550"/>
                    <a:pt x="0" y="3950970"/>
                    <a:pt x="0" y="386638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D9534F"/>
              </a:solidFill>
              <a:prstDash val="solid"/>
              <a:miter/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11580389" y="4146473"/>
            <a:ext cx="2482557" cy="620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9"/>
              </a:lnSpc>
            </a:pPr>
            <a:r>
              <a:rPr lang="en-US" sz="2724" b="1">
                <a:solidFill>
                  <a:srgbClr val="D9534F"/>
                </a:solidFill>
                <a:latin typeface="Arial Bold"/>
                <a:ea typeface="Arial Bold"/>
                <a:cs typeface="Arial Bold"/>
                <a:sym typeface="Arial Bold"/>
              </a:rPr>
              <a:t>Kazánház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580389" y="5510120"/>
            <a:ext cx="2482557" cy="686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hőmérséklet, szivattyúk és riasztás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4882942" y="3556168"/>
            <a:ext cx="3099435" cy="3174664"/>
            <a:chOff x="0" y="0"/>
            <a:chExt cx="3924300" cy="401955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924300" cy="4019550"/>
            </a:xfrm>
            <a:custGeom>
              <a:avLst/>
              <a:gdLst/>
              <a:ahLst/>
              <a:cxnLst/>
              <a:rect l="l" t="t" r="r" b="b"/>
              <a:pathLst>
                <a:path w="3924300" h="401955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771138" y="0"/>
                  </a:lnTo>
                  <a:cubicBezTo>
                    <a:pt x="3855720" y="0"/>
                    <a:pt x="3924300" y="68580"/>
                    <a:pt x="3924300" y="153162"/>
                  </a:cubicBezTo>
                  <a:lnTo>
                    <a:pt x="3924300" y="3866388"/>
                  </a:lnTo>
                  <a:cubicBezTo>
                    <a:pt x="3924300" y="3950970"/>
                    <a:pt x="3855720" y="4019550"/>
                    <a:pt x="3771138" y="4019550"/>
                  </a:cubicBezTo>
                  <a:lnTo>
                    <a:pt x="153162" y="4019550"/>
                  </a:lnTo>
                  <a:cubicBezTo>
                    <a:pt x="68580" y="4019550"/>
                    <a:pt x="0" y="3950970"/>
                    <a:pt x="0" y="386638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25" name="TextBox 25"/>
          <p:cNvSpPr txBox="1"/>
          <p:nvPr/>
        </p:nvSpPr>
        <p:spPr>
          <a:xfrm>
            <a:off x="15191381" y="4146473"/>
            <a:ext cx="2482557" cy="620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9"/>
              </a:lnSpc>
            </a:pPr>
            <a:r>
              <a:rPr lang="en-US" sz="2724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Szivattyútelep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5191381" y="5510120"/>
            <a:ext cx="2482557" cy="686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65"/>
              </a:lnSpc>
            </a:pPr>
            <a:r>
              <a:rPr lang="en-US" sz="2221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szintfigyelés és váltott üzem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38973" y="8258175"/>
            <a:ext cx="17263239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Közös bennük: jeleket fogadnak, logikai döntést hoznak és kimenetet vezérelnek.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0075" y="866775"/>
            <a:ext cx="16573500" cy="1133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65"/>
              </a:lnSpc>
            </a:pPr>
            <a:r>
              <a:rPr lang="en-US" sz="4387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Öt tanóra: az ipari ötlettől az első bekötésig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600075" y="2114550"/>
            <a:ext cx="17087850" cy="42862"/>
            <a:chOff x="0" y="0"/>
            <a:chExt cx="22783800" cy="5715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83800" cy="57150"/>
            </a:xfrm>
            <a:custGeom>
              <a:avLst/>
              <a:gdLst/>
              <a:ahLst/>
              <a:cxnLst/>
              <a:rect l="l" t="t" r="r" b="b"/>
              <a:pathLst>
                <a:path w="22783800" h="57150">
                  <a:moveTo>
                    <a:pt x="0" y="0"/>
                  </a:moveTo>
                  <a:lnTo>
                    <a:pt x="22783800" y="0"/>
                  </a:lnTo>
                  <a:lnTo>
                    <a:pt x="22783800" y="57150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1597C5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607219" y="3671888"/>
            <a:ext cx="3086100" cy="3514725"/>
            <a:chOff x="0" y="0"/>
            <a:chExt cx="4114800" cy="46863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114800" cy="4686300"/>
            </a:xfrm>
            <a:custGeom>
              <a:avLst/>
              <a:gdLst/>
              <a:ahLst/>
              <a:cxnLst/>
              <a:rect l="l" t="t" r="r" b="b"/>
              <a:pathLst>
                <a:path w="4114800" h="468630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961638" y="0"/>
                  </a:lnTo>
                  <a:cubicBezTo>
                    <a:pt x="4046220" y="0"/>
                    <a:pt x="4114800" y="68580"/>
                    <a:pt x="4114800" y="153162"/>
                  </a:cubicBezTo>
                  <a:lnTo>
                    <a:pt x="4114800" y="4533138"/>
                  </a:lnTo>
                  <a:cubicBezTo>
                    <a:pt x="4114800" y="4617720"/>
                    <a:pt x="4046220" y="4686300"/>
                    <a:pt x="3961638" y="4686300"/>
                  </a:cubicBezTo>
                  <a:lnTo>
                    <a:pt x="153162" y="4686300"/>
                  </a:lnTo>
                  <a:cubicBezTo>
                    <a:pt x="68580" y="4686300"/>
                    <a:pt x="0" y="4617720"/>
                    <a:pt x="0" y="453313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771525" y="4124325"/>
            <a:ext cx="1564481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968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1. óra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4733925"/>
            <a:ext cx="2243138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9"/>
              </a:lnSpc>
            </a:pPr>
            <a:r>
              <a:rPr lang="en-US" sz="2241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Automatizálás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1538" y="5724525"/>
            <a:ext cx="2357438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célok és ipari példák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4021931" y="3707606"/>
            <a:ext cx="3086100" cy="3514725"/>
            <a:chOff x="0" y="0"/>
            <a:chExt cx="4114800" cy="46863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114800" cy="4686300"/>
            </a:xfrm>
            <a:custGeom>
              <a:avLst/>
              <a:gdLst/>
              <a:ahLst/>
              <a:cxnLst/>
              <a:rect l="l" t="t" r="r" b="b"/>
              <a:pathLst>
                <a:path w="4114800" h="468630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961638" y="0"/>
                  </a:lnTo>
                  <a:cubicBezTo>
                    <a:pt x="4046220" y="0"/>
                    <a:pt x="4114800" y="68580"/>
                    <a:pt x="4114800" y="153162"/>
                  </a:cubicBezTo>
                  <a:lnTo>
                    <a:pt x="4114800" y="4533138"/>
                  </a:lnTo>
                  <a:cubicBezTo>
                    <a:pt x="4114800" y="4617720"/>
                    <a:pt x="4046220" y="4686300"/>
                    <a:pt x="3961638" y="4686300"/>
                  </a:cubicBezTo>
                  <a:lnTo>
                    <a:pt x="153162" y="4686300"/>
                  </a:lnTo>
                  <a:cubicBezTo>
                    <a:pt x="68580" y="4686300"/>
                    <a:pt x="0" y="4617720"/>
                    <a:pt x="0" y="453313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4286250" y="4124325"/>
            <a:ext cx="2211875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968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2. óra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474369" y="4733925"/>
            <a:ext cx="192881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PLC és relé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386262" y="5724525"/>
            <a:ext cx="2357438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előnyök és scan cycle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7536656" y="3707606"/>
            <a:ext cx="3086100" cy="3514725"/>
            <a:chOff x="0" y="0"/>
            <a:chExt cx="4114800" cy="46863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114800" cy="4686300"/>
            </a:xfrm>
            <a:custGeom>
              <a:avLst/>
              <a:gdLst/>
              <a:ahLst/>
              <a:cxnLst/>
              <a:rect l="l" t="t" r="r" b="b"/>
              <a:pathLst>
                <a:path w="4114800" h="468630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961638" y="0"/>
                  </a:lnTo>
                  <a:cubicBezTo>
                    <a:pt x="4046220" y="0"/>
                    <a:pt x="4114800" y="68580"/>
                    <a:pt x="4114800" y="153162"/>
                  </a:cubicBezTo>
                  <a:lnTo>
                    <a:pt x="4114800" y="4533138"/>
                  </a:lnTo>
                  <a:cubicBezTo>
                    <a:pt x="4114800" y="4617720"/>
                    <a:pt x="4046220" y="4686300"/>
                    <a:pt x="3961638" y="4686300"/>
                  </a:cubicBezTo>
                  <a:lnTo>
                    <a:pt x="153162" y="4686300"/>
                  </a:lnTo>
                  <a:cubicBezTo>
                    <a:pt x="68580" y="4686300"/>
                    <a:pt x="0" y="4617720"/>
                    <a:pt x="0" y="453313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800975" y="4124325"/>
            <a:ext cx="2259806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968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3. óra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115300" y="4733925"/>
            <a:ext cx="192881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Eszközök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900988" y="5724525"/>
            <a:ext cx="2357438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Eaton easy, LG és Omron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1051381" y="3707606"/>
            <a:ext cx="3086100" cy="3514725"/>
            <a:chOff x="0" y="0"/>
            <a:chExt cx="4114800" cy="46863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4114800" cy="4686300"/>
            </a:xfrm>
            <a:custGeom>
              <a:avLst/>
              <a:gdLst/>
              <a:ahLst/>
              <a:cxnLst/>
              <a:rect l="l" t="t" r="r" b="b"/>
              <a:pathLst>
                <a:path w="4114800" h="468630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961638" y="0"/>
                  </a:lnTo>
                  <a:cubicBezTo>
                    <a:pt x="4046220" y="0"/>
                    <a:pt x="4114800" y="68580"/>
                    <a:pt x="4114800" y="153162"/>
                  </a:cubicBezTo>
                  <a:lnTo>
                    <a:pt x="4114800" y="4533138"/>
                  </a:lnTo>
                  <a:cubicBezTo>
                    <a:pt x="4114800" y="4617720"/>
                    <a:pt x="4046220" y="4686300"/>
                    <a:pt x="3961638" y="4686300"/>
                  </a:cubicBezTo>
                  <a:lnTo>
                    <a:pt x="153162" y="4686300"/>
                  </a:lnTo>
                  <a:cubicBezTo>
                    <a:pt x="68580" y="4686300"/>
                    <a:pt x="0" y="4617720"/>
                    <a:pt x="0" y="453313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24" name="TextBox 24"/>
          <p:cNvSpPr txBox="1"/>
          <p:nvPr/>
        </p:nvSpPr>
        <p:spPr>
          <a:xfrm>
            <a:off x="11315700" y="4124325"/>
            <a:ext cx="1951142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968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4. óra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756231" y="4733925"/>
            <a:ext cx="192881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Bekötés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415712" y="5724525"/>
            <a:ext cx="2357438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nyomógomb és jelzőlámpa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4566106" y="3707606"/>
            <a:ext cx="3086100" cy="3514725"/>
            <a:chOff x="0" y="0"/>
            <a:chExt cx="4114800" cy="46863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114800" cy="4686300"/>
            </a:xfrm>
            <a:custGeom>
              <a:avLst/>
              <a:gdLst/>
              <a:ahLst/>
              <a:cxnLst/>
              <a:rect l="l" t="t" r="r" b="b"/>
              <a:pathLst>
                <a:path w="4114800" h="468630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961638" y="0"/>
                  </a:lnTo>
                  <a:cubicBezTo>
                    <a:pt x="4046220" y="0"/>
                    <a:pt x="4114800" y="68580"/>
                    <a:pt x="4114800" y="153162"/>
                  </a:cubicBezTo>
                  <a:lnTo>
                    <a:pt x="4114800" y="4533138"/>
                  </a:lnTo>
                  <a:cubicBezTo>
                    <a:pt x="4114800" y="4617720"/>
                    <a:pt x="4046220" y="4686300"/>
                    <a:pt x="3961638" y="4686300"/>
                  </a:cubicBezTo>
                  <a:lnTo>
                    <a:pt x="153162" y="4686300"/>
                  </a:lnTo>
                  <a:cubicBezTo>
                    <a:pt x="68580" y="4686300"/>
                    <a:pt x="0" y="4617720"/>
                    <a:pt x="0" y="4533138"/>
                  </a:cubicBezTo>
                  <a:close/>
                </a:path>
              </a:pathLst>
            </a:custGeom>
            <a:solidFill>
              <a:srgbClr val="FFF1E6"/>
            </a:solidFill>
            <a:ln w="14288" cap="sq">
              <a:solidFill>
                <a:srgbClr val="F28C28"/>
              </a:solidFill>
              <a:prstDash val="solid"/>
              <a:miter/>
            </a:ln>
          </p:spPr>
        </p:sp>
      </p:grpSp>
      <p:sp>
        <p:nvSpPr>
          <p:cNvPr id="29" name="TextBox 29"/>
          <p:cNvSpPr txBox="1"/>
          <p:nvPr/>
        </p:nvSpPr>
        <p:spPr>
          <a:xfrm>
            <a:off x="14782800" y="3986212"/>
            <a:ext cx="2505075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968" b="1">
                <a:solidFill>
                  <a:srgbClr val="F28C28"/>
                </a:solidFill>
                <a:latin typeface="Arial Bold"/>
                <a:ea typeface="Arial Bold"/>
                <a:cs typeface="Arial Bold"/>
                <a:sym typeface="Arial Bold"/>
              </a:rPr>
              <a:t>5. óra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5387638" y="4726781"/>
            <a:ext cx="192881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Próba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4930438" y="5724525"/>
            <a:ext cx="2357438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működés és hibakeresés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00075" y="8258175"/>
            <a:ext cx="16055746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A tanuló az elméleti jelútból működő, ellenőrizhető alapkapcsolást készít.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1379</Words>
  <Application>Microsoft Office PowerPoint</Application>
  <PresentationFormat>Egyéni</PresentationFormat>
  <Paragraphs>196</Paragraphs>
  <Slides>11</Slides>
  <Notes>11</Notes>
  <HiddenSlides>0</HiddenSlides>
  <MMClips>0</MMClips>
  <ScaleCrop>false</ScaleCrop>
  <HeadingPairs>
    <vt:vector size="8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Beágyazott OLE kiszolgálók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6" baseType="lpstr">
      <vt:lpstr>Arial</vt:lpstr>
      <vt:lpstr>Arial Bold</vt:lpstr>
      <vt:lpstr>Calibri</vt:lpstr>
      <vt:lpstr>Office Theme</vt:lpstr>
      <vt:lpstr>Worksheet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1_het_Miert_van_szukseg_PLC_re.pptx</dc:title>
  <dc:creator>Fazekas Zsolt</dc:creator>
  <cp:lastModifiedBy>zsolt Fazekas</cp:lastModifiedBy>
  <cp:revision>1</cp:revision>
  <dcterms:created xsi:type="dcterms:W3CDTF">2006-08-16T00:00:00Z</dcterms:created>
  <dcterms:modified xsi:type="dcterms:W3CDTF">2026-08-01T17:48:53Z</dcterms:modified>
  <dc:identifier>DAHQ-3Zo3z8</dc:identifier>
</cp:coreProperties>
</file>