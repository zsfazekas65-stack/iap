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IAP • 9. ÉVFOLYAM • 33.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863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Méréses
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EEE"/>
                </a:solidFill>
                <a:latin typeface="Aptos"/>
              </a:rPr>
              <a:t>A hiba helyének meghatározása mérési pontokkal</a:t>
            </a:r>
          </a:p>
        </p:txBody>
      </p:sp>
      <p:sp>
        <p:nvSpPr>
          <p:cNvPr id="6" name="Oval 5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2080260"/>
            <a:ext cx="411480" cy="0"/>
          </a:xfrm>
          <a:prstGeom prst="line">
            <a:avLst/>
          </a:prstGeom>
          <a:ln w="25400">
            <a:solidFill>
              <a:srgbClr val="2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81160" y="18288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828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0" y="2080260"/>
            <a:ext cx="411480" cy="0"/>
          </a:xfrm>
          <a:prstGeom prst="line">
            <a:avLst/>
          </a:prstGeom>
          <a:ln w="25400">
            <a:solidFill>
              <a:srgbClr val="2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195560" y="18288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828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2080260"/>
            <a:ext cx="411480" cy="0"/>
          </a:xfrm>
          <a:prstGeom prst="line">
            <a:avLst/>
          </a:prstGeom>
          <a:ln w="25400">
            <a:solidFill>
              <a:srgbClr val="2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109960" y="18288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09960" y="1828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71800"/>
            <a:ext cx="3246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MÉRJ
KÖVETKEZTESS
BIZONYÍTS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0BED2"/>
                </a:solidFill>
                <a:latin typeface="Aptos"/>
              </a:rPr>
              <a:t>Várt érték  →  mért érték  →  eltérés  →  következtetés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INDÍTÁS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világ nagy kérdése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Egy lámpa nem világít. Hol kezdenéd?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35661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NEM VILÁGÍT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926080"/>
            <a:ext cx="1097280" cy="109728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212848" y="3172968"/>
            <a:ext cx="603504" cy="603504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212848" y="3172968"/>
            <a:ext cx="603504" cy="603504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457200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BED2"/>
                </a:solidFill>
                <a:latin typeface="Aptos"/>
              </a:rPr>
              <a:t>Találgatás vagy diagnózis?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192024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0195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A203B"/>
                </a:solidFill>
                <a:latin typeface="Aptos"/>
              </a:rPr>
              <a:t>Megfigyelés</a:t>
            </a:r>
          </a:p>
        </p:txBody>
      </p:sp>
      <p:sp>
        <p:nvSpPr>
          <p:cNvPr id="15" name="Oval 14"/>
          <p:cNvSpPr/>
          <p:nvPr/>
        </p:nvSpPr>
        <p:spPr>
          <a:xfrm>
            <a:off x="5166360" y="29260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92608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0779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A203B"/>
                </a:solidFill>
                <a:latin typeface="Aptos"/>
              </a:rPr>
              <a:t>Rajz értelmezése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393192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93192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91363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A203B"/>
                </a:solidFill>
                <a:latin typeface="Aptos"/>
              </a:rPr>
              <a:t>Mérés</a:t>
            </a:r>
          </a:p>
        </p:txBody>
      </p:sp>
      <p:sp>
        <p:nvSpPr>
          <p:cNvPr id="21" name="Oval 20"/>
          <p:cNvSpPr/>
          <p:nvPr/>
        </p:nvSpPr>
        <p:spPr>
          <a:xfrm>
            <a:off x="5166360" y="493776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93776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1947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A203B"/>
                </a:solidFill>
                <a:latin typeface="Aptos"/>
              </a:rPr>
              <a:t>Következtetés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1.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Az áramkör mint térkép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mérési pontok megmutatják, meddig jut el a tápfeszültség.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0200" y="3383280"/>
            <a:ext cx="900684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2834640"/>
            <a:ext cx="1005840" cy="109728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990088"/>
            <a:ext cx="9509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83280"/>
            <a:ext cx="950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0BED2"/>
                </a:solidFill>
                <a:latin typeface="Aptos"/>
              </a:rPr>
              <a:t>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200400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73075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védelem</a:t>
            </a:r>
          </a:p>
        </p:txBody>
      </p:sp>
      <p:sp>
        <p:nvSpPr>
          <p:cNvPr id="12" name="Oval 11"/>
          <p:cNvSpPr/>
          <p:nvPr/>
        </p:nvSpPr>
        <p:spPr>
          <a:xfrm>
            <a:off x="4096512" y="33009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8" y="33009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178808" y="3081528"/>
            <a:ext cx="484632" cy="301752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373075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kapcsoló</a:t>
            </a:r>
          </a:p>
        </p:txBody>
      </p:sp>
      <p:sp>
        <p:nvSpPr>
          <p:cNvPr id="16" name="Oval 15"/>
          <p:cNvSpPr/>
          <p:nvPr/>
        </p:nvSpPr>
        <p:spPr>
          <a:xfrm>
            <a:off x="7424927" y="299008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607808" y="3172968"/>
            <a:ext cx="420623" cy="420624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607808" y="3172968"/>
            <a:ext cx="420623" cy="420624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69480" y="3886200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lámpa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73075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21" name="Oval 20"/>
          <p:cNvSpPr/>
          <p:nvPr/>
        </p:nvSpPr>
        <p:spPr>
          <a:xfrm>
            <a:off x="1874519" y="251460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93976" y="2953512"/>
            <a:ext cx="0" cy="429768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37360" y="21305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25" name="Oval 24"/>
          <p:cNvSpPr/>
          <p:nvPr/>
        </p:nvSpPr>
        <p:spPr>
          <a:xfrm>
            <a:off x="3401568" y="251460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1568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21024" y="2953512"/>
            <a:ext cx="0" cy="429768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64408" y="21305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29" name="Oval 28"/>
          <p:cNvSpPr/>
          <p:nvPr/>
        </p:nvSpPr>
        <p:spPr>
          <a:xfrm>
            <a:off x="5257800" y="251460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77256" y="2953512"/>
            <a:ext cx="0" cy="429768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20640" y="21305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251460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48856" y="2953512"/>
            <a:ext cx="0" cy="429768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92240" y="21305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37" name="Oval 36"/>
          <p:cNvSpPr/>
          <p:nvPr/>
        </p:nvSpPr>
        <p:spPr>
          <a:xfrm>
            <a:off x="8887968" y="251460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07424" y="2953512"/>
            <a:ext cx="0" cy="429768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50808" y="21305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029200"/>
            <a:ext cx="10332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138928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Ép áramkör: bekapcsolva P1–P5 mindegyikén 24 V várható a 0 V ponthoz képest.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MÉRŐESZKÖZ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Mit kérdezünk a multimétertől?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mérési módot a hibakeresési kérdés választja ki.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194560" cy="3566160"/>
          </a:xfrm>
          <a:prstGeom prst="roundRect">
            <a:avLst/>
          </a:prstGeom>
          <a:solidFill>
            <a:srgbClr val="F5F7F9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6978"/>
                </a:solidFill>
                <a:latin typeface="Aptos"/>
              </a:rPr>
              <a:t>MULTIMÉTER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60320"/>
            <a:ext cx="1554480" cy="594360"/>
          </a:xfrm>
          <a:prstGeom prst="rect">
            <a:avLst/>
          </a:prstGeom>
          <a:solidFill>
            <a:srgbClr val="CDE2C7"/>
          </a:solidFill>
          <a:ln>
            <a:solidFill>
              <a:srgbClr val="64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2A37"/>
                </a:solidFill>
                <a:latin typeface="Aptos"/>
              </a:rPr>
              <a:t>24.0 V</a:t>
            </a:r>
          </a:p>
        </p:txBody>
      </p:sp>
      <p:sp>
        <p:nvSpPr>
          <p:cNvPr id="10" name="Oval 9"/>
          <p:cNvSpPr/>
          <p:nvPr/>
        </p:nvSpPr>
        <p:spPr>
          <a:xfrm>
            <a:off x="1554480" y="3520440"/>
            <a:ext cx="658368" cy="658368"/>
          </a:xfrm>
          <a:prstGeom prst="ellipse">
            <a:avLst/>
          </a:prstGeom>
          <a:solidFill>
            <a:srgbClr val="E6E9EC"/>
          </a:solidFill>
          <a:ln w="2540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52044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Aptos"/>
              </a:rPr>
              <a:t>V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4828032"/>
            <a:ext cx="164592" cy="164592"/>
          </a:xfrm>
          <a:prstGeom prst="ellipse">
            <a:avLst/>
          </a:prstGeom>
          <a:solidFill>
            <a:srgbClr val="1F2A37"/>
          </a:solidFill>
          <a:ln w="254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7168" y="4828032"/>
            <a:ext cx="164592" cy="164592"/>
          </a:xfrm>
          <a:prstGeom prst="ellipse">
            <a:avLst/>
          </a:prstGeom>
          <a:solidFill>
            <a:srgbClr val="D23741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828800"/>
            <a:ext cx="7406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75887" y="202996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0299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ptos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38528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FESZÜLTSÉG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Eljut-e ide a táp?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154680"/>
            <a:ext cx="7406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75887" y="335584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7" y="3355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69A69"/>
                </a:solidFill>
                <a:latin typeface="Aptos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64408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69A69"/>
                </a:solidFill>
                <a:latin typeface="Aptos"/>
              </a:rPr>
              <a:t>FOLYTONOSSÁG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64408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Megszakadt-e a vezető?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480560"/>
            <a:ext cx="7406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75887" y="468172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46817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09926"/>
                </a:solidFill>
                <a:latin typeface="Aptos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90288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09926"/>
                </a:solidFill>
                <a:latin typeface="Aptos"/>
              </a:rPr>
              <a:t>ELLENÁLLÁS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90288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Mekkora az elem ellenállása?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6509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D23741"/>
                </a:solidFill>
                <a:latin typeface="Aptos"/>
              </a:rPr>
              <a:t>⚠  Folytonosság- és ellenállásmérés: csak feszültségmentesen!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2.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Az első 0 V elárulja a hibás szakaszt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P3 még jó. P4 már nem.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0200" y="3108960"/>
            <a:ext cx="900684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2560320"/>
            <a:ext cx="1005840" cy="109728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715768"/>
            <a:ext cx="9509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108960"/>
            <a:ext cx="9509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0BED2"/>
                </a:solidFill>
                <a:latin typeface="Aptos"/>
              </a:rPr>
              <a:t>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926079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45643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védelem</a:t>
            </a:r>
          </a:p>
        </p:txBody>
      </p:sp>
      <p:sp>
        <p:nvSpPr>
          <p:cNvPr id="12" name="Oval 11"/>
          <p:cNvSpPr/>
          <p:nvPr/>
        </p:nvSpPr>
        <p:spPr>
          <a:xfrm>
            <a:off x="4096512" y="30266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8" y="30266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178808" y="2807208"/>
            <a:ext cx="484632" cy="301752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345643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kapcsoló</a:t>
            </a:r>
          </a:p>
        </p:txBody>
      </p:sp>
      <p:sp>
        <p:nvSpPr>
          <p:cNvPr id="16" name="Oval 15"/>
          <p:cNvSpPr/>
          <p:nvPr/>
        </p:nvSpPr>
        <p:spPr>
          <a:xfrm>
            <a:off x="7424927" y="271576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607808" y="2898648"/>
            <a:ext cx="420623" cy="420624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607808" y="2898648"/>
            <a:ext cx="420623" cy="420624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69480" y="3611880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978"/>
                </a:solidFill>
                <a:latin typeface="Aptos"/>
              </a:rPr>
              <a:t>lámpa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45643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21" name="Oval 20"/>
          <p:cNvSpPr/>
          <p:nvPr/>
        </p:nvSpPr>
        <p:spPr>
          <a:xfrm>
            <a:off x="1874519" y="2240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2240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93976" y="2679191"/>
            <a:ext cx="0" cy="429769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37360" y="1856231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25" name="Oval 24"/>
          <p:cNvSpPr/>
          <p:nvPr/>
        </p:nvSpPr>
        <p:spPr>
          <a:xfrm>
            <a:off x="3401568" y="2240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1568" y="2240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21024" y="2679191"/>
            <a:ext cx="0" cy="429769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64408" y="1856231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29" name="Oval 28"/>
          <p:cNvSpPr/>
          <p:nvPr/>
        </p:nvSpPr>
        <p:spPr>
          <a:xfrm>
            <a:off x="5257800" y="2240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240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77256" y="2679191"/>
            <a:ext cx="0" cy="429769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20640" y="1856231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2240280"/>
            <a:ext cx="438912" cy="438912"/>
          </a:xfrm>
          <a:prstGeom prst="ellipse">
            <a:avLst/>
          </a:prstGeom>
          <a:solidFill>
            <a:srgbClr val="D23741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40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48856" y="2679191"/>
            <a:ext cx="0" cy="429769"/>
          </a:xfrm>
          <a:prstGeom prst="line">
            <a:avLst/>
          </a:prstGeom>
          <a:ln w="12700">
            <a:solidFill>
              <a:srgbClr val="D2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92240" y="1856231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23741"/>
                </a:solidFill>
                <a:latin typeface="Aptos"/>
              </a:rPr>
              <a:t>0 V</a:t>
            </a:r>
          </a:p>
        </p:txBody>
      </p:sp>
      <p:sp>
        <p:nvSpPr>
          <p:cNvPr id="37" name="Oval 36"/>
          <p:cNvSpPr/>
          <p:nvPr/>
        </p:nvSpPr>
        <p:spPr>
          <a:xfrm>
            <a:off x="8887968" y="224028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22402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P5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07424" y="2679191"/>
            <a:ext cx="0" cy="429769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50808" y="1856231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23741"/>
                </a:solidFill>
                <a:latin typeface="Aptos"/>
              </a:rPr>
              <a:t>0 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02552" y="2999232"/>
            <a:ext cx="292608" cy="219456"/>
          </a:xfrm>
          <a:prstGeom prst="line">
            <a:avLst/>
          </a:prstGeom>
          <a:ln w="50800">
            <a:solidFill>
              <a:srgbClr val="D2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702552" y="2999232"/>
            <a:ext cx="292608" cy="219456"/>
          </a:xfrm>
          <a:prstGeom prst="line">
            <a:avLst/>
          </a:prstGeom>
          <a:ln w="50800">
            <a:solidFill>
              <a:srgbClr val="D23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05840" y="4892040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501091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69A69"/>
                </a:solidFill>
                <a:latin typeface="Aptos"/>
              </a:rPr>
              <a:t>P3 = 24 V  ✓
A feszültség idáig eljut.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892040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501091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23741"/>
                </a:solidFill>
                <a:latin typeface="Aptos"/>
              </a:rPr>
              <a:t>P4 = 0 V  ✕
Kapcsoló / kötés vizsgálandó.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DIAGNÓZIS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Ugyanaz a tünet, más hibahely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„nem világít” még nem diagnózis.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9397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939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2374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01952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24 • 24 • 24 • 0 • 0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901952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23741"/>
                </a:solidFill>
                <a:latin typeface="Aptos"/>
              </a:rPr>
              <a:t>Kapcsoló / kötése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35915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Aptos"/>
              </a:rPr>
              <a:t>P1   P2   P3   P4   P5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10515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51129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112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09926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19272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24 • 24 • 24 • 24 • 0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319272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09926"/>
                </a:solidFill>
                <a:latin typeface="Aptos"/>
              </a:rPr>
              <a:t>P4–P5 vezetékszakasz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7647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Aptos"/>
              </a:rPr>
              <a:t>P1   P2   P3   P4   P5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10515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92861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286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36592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24 • 0 • 0 • 0 • 0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736592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ptos"/>
              </a:rPr>
              <a:t>Védelem / P1–P2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9379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Aptos"/>
              </a:rPr>
              <a:t>P1   P2   P3   P4   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GYORSÍTÁS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felezéses módszer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Hosszú áramútnál nem kell minden pontot sorban megmérni.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2880360"/>
            <a:ext cx="9875520" cy="0"/>
          </a:xfrm>
          <a:prstGeom prst="line">
            <a:avLst/>
          </a:prstGeom>
          <a:ln w="508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3268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216712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340156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463600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833932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957376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10808208" y="2715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8208" y="271576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203B"/>
                </a:solidFill>
                <a:latin typeface="Aptos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73736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ptos"/>
              </a:rPr>
              <a:t>1. mérés: KÖZÉP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60" y="2148840"/>
            <a:ext cx="0" cy="54864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3703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A69"/>
                </a:solidFill>
                <a:latin typeface="Aptos"/>
              </a:rPr>
              <a:t>Ha itt még jó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03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a hiba a jobb félben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0332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→ felezd újra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663440"/>
            <a:ext cx="8503920" cy="86868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480060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Kevesebb mérés • gyorsabb diagnózis • tudatos döntés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BIZTONSÁGI PERC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mérés módja is lehet hibaforrás.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470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Átalakítás előtt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4708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FESZÜLTSÉGMENTESÍTÉS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5292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Folytonosságmérés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5292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CSAK KIKAPCSOLVA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587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Mérővezeték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5876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ÉP, HELYES ALJZATBAN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64607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Méréshatár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64607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 MÉRÉSHEZ IGAZÍTVA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0BED2"/>
                </a:solidFill>
                <a:latin typeface="Aptos"/>
              </a:rPr>
              <a:t>A gyakorlat 24 V DC oktatási áramkörön, tanári felügyelettel történik.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3.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Gyakorlati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Találd meg a rejtett hibát a lehető legkevesebb méréssel.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RAJZ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Jelöld P1–P5 pontokat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9856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VÁRT ÉRTÉK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Írd fel, mit kellene mérni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24144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MÉRÉS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Mérj tudatos sorrendben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8432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2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DIAGNÓZIS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Nevezd meg a hibás szakaszt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72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ELLENŐRZÉS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Javítás után mérj újra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63040" y="5440680"/>
            <a:ext cx="9235440" cy="0"/>
          </a:xfrm>
          <a:prstGeom prst="line">
            <a:avLst/>
          </a:prstGeom>
          <a:ln w="38100">
            <a:solidFill>
              <a:srgbClr val="2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83280" y="5596128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03B"/>
                </a:solidFill>
                <a:latin typeface="Aptos"/>
              </a:rPr>
              <a:t>CÉL: bizonyított hibaok, nem találgatás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GYORS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Mit mondanak a mért értékek?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361188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0BED2"/>
                </a:solidFill>
                <a:latin typeface="Aptos"/>
              </a:rPr>
              <a:t>P1  P2  P3  P4  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24   24   24    0     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Hol keresnéd
először a hibát?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4663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029967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2996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984248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Tápegység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17520"/>
            <a:ext cx="4663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9400" y="317296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729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127248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Kapcsoló / kötése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4663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31596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3159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270248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Lámpa után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A69"/>
                </a:solidFill>
                <a:latin typeface="Aptos"/>
              </a:rPr>
              <a:t>Helyes: B — P3 még 24 V, P4 már 0 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jó hibakeresés egy gondolkodási lánc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VÁRT ÉRTÉK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01568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BE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MÉRT ÉRTÉK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24528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705856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0992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ELTÉRÉS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28816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010144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23741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KÖVETKEZTETÉS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314432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4432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A69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ELLENŐRZÉS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069080"/>
            <a:ext cx="10058400" cy="10515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25196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Nem az a jó hibakereső, aki sokat mér.
Az a jó hibakereső, aki tudja, miért éppen ott mér.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Egyszerű villamos rendszer
megtervezése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427939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428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Követelmény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427939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Kapcsolási rajz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427939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Eszközválasztás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427939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Megépítés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427939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5248" y="4160520"/>
            <a:ext cx="1572768" cy="713232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279392"/>
            <a:ext cx="14264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Ellenőrzés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607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BED2"/>
                </a:solidFill>
                <a:latin typeface="Aptos"/>
              </a:rPr>
              <a:t>Nemcsak hibát keresünk — rendszert tervezünk.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