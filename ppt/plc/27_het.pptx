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71850" y="2443162"/>
            <a:ext cx="54483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8BDF8"/>
                </a:solidFill>
                <a:latin typeface="Roboto"/>
              </a:rPr>
              <a:t>INTEGRÁLT AUTOMATIKA </a:t>
            </a:r>
            <a:r>
              <a:rPr lang="hu-HU" dirty="0">
                <a:solidFill>
                  <a:srgbClr val="38BDF8"/>
                </a:solidFill>
                <a:latin typeface="Roboto"/>
              </a:rPr>
              <a:t>PROGRAM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 (IA</a:t>
            </a:r>
            <a:r>
              <a:rPr lang="hu-HU" sz="1800" b="0" i="0" u="none" dirty="0">
                <a:solidFill>
                  <a:srgbClr val="38BDF8"/>
                </a:solidFill>
                <a:latin typeface="Roboto"/>
              </a:rPr>
              <a:t>P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0480" y="2947987"/>
            <a:ext cx="831103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Orbitron"/>
              </a:rPr>
              <a:t>PLC Alapismeretek –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8183" y="3910012"/>
            <a:ext cx="5565556" cy="29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CBD5E1"/>
                </a:solidFill>
                <a:latin typeface="Roboto"/>
              </a:rPr>
              <a:t>Ipar</a:t>
            </a:r>
            <a:r>
              <a:rPr sz="1650" b="0" i="0" u="none" dirty="0">
                <a:solidFill>
                  <a:srgbClr val="CBD5E1"/>
                </a:solidFill>
                <a:latin typeface="Roboto"/>
              </a:rPr>
              <a:t> 4.0 és </a:t>
            </a:r>
            <a:r>
              <a:rPr sz="1650" b="0" i="0" u="none" dirty="0" err="1">
                <a:solidFill>
                  <a:srgbClr val="CBD5E1"/>
                </a:solidFill>
                <a:latin typeface="Roboto"/>
              </a:rPr>
              <a:t>IIoT</a:t>
            </a:r>
            <a:r>
              <a:rPr sz="1650" b="0" i="0" u="none" dirty="0">
                <a:solidFill>
                  <a:srgbClr val="CBD5E1"/>
                </a:solidFill>
                <a:latin typeface="Roboto"/>
              </a:rPr>
              <a:t> – Az </a:t>
            </a:r>
            <a:r>
              <a:rPr sz="1650" b="0" i="0" u="none" dirty="0" err="1">
                <a:solidFill>
                  <a:srgbClr val="CBD5E1"/>
                </a:solidFill>
                <a:latin typeface="Roboto"/>
              </a:rPr>
              <a:t>intelligens</a:t>
            </a:r>
            <a:r>
              <a:rPr sz="165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Roboto"/>
              </a:rPr>
              <a:t>gyárak</a:t>
            </a:r>
            <a:r>
              <a:rPr sz="165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Roboto"/>
              </a:rPr>
              <a:t>világa</a:t>
            </a:r>
            <a:endParaRPr sz="1650" b="0" i="0" u="none" dirty="0">
              <a:solidFill>
                <a:srgbClr val="CBD5E1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33687"/>
            <a:ext cx="54292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Alapvetések &amp; Kilátások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119437"/>
            <a:ext cx="5050631" cy="2286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43F5E"/>
                </a:solidFill>
                <a:latin typeface="Orbitron"/>
              </a:rPr>
              <a:t>A hét mottója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443287"/>
            <a:ext cx="48101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1" u="none">
                <a:solidFill>
                  <a:srgbClr val="F8FAFC"/>
                </a:solidFill>
                <a:latin typeface="Roboto"/>
              </a:rPr>
              <a:t>„Az Ipar 4.0 nem csupán technológiai váltás, hanem a fizikai és digitális világ egységesítése.”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világ nagy kérdése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Hogyan kötik össze a modern PLC-k a hagyományos üzemi teret a felhőalapú elemzőrendszerekkel?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148012"/>
            <a:ext cx="1809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670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7500"/>
            <a:ext cx="5429250" cy="1876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Technikatörténet &amp; Fejlesztők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technika története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mechanizálástól (1.0) és tömegtermeléstől (2.0) az automatizáláson (3.0) át eljutottunk az önmagát szervező, hálózatba kötött intelligens gyárakig (4.0).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5150"/>
            <a:ext cx="5180647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Kulcsszereplők &amp; Rendszerek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43300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Siemens MindSphere, AWS IoT, Microsoft Azure IoT, PTC ThingWorx, Rockwell FactoryTalk és Schneider EcoStruxure ökoszisztémák.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848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133725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3587799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862262"/>
            <a:ext cx="3587799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862262"/>
            <a:ext cx="3587799" cy="1866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Tanulási Célok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109912"/>
            <a:ext cx="3247124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Koncepciók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Ipar 4.0 pillérei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IIoT (Industrial IoT)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Peremfeldolgozás (Edge)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824" y="3109912"/>
            <a:ext cx="3247124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Adatáramlás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824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OPC UA &amp; MQTT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Felhőintegráció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Valós idejű analitika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109912"/>
            <a:ext cx="3247124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Alkalmazás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749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Prediktív karbantartás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Digitális iker (Digital Twin)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Okos gyárak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138487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3138487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313848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Elméleti Alapok &amp; Architektúra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09875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IIoT Eszközök: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Szenzorok és PLC-k közvetlen adatküldése IP alapú hálózatokon.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67100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Edge Computing: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Helyi adatszűrés és előfeldolgozás a sávszélesség kímélésére.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24325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Cloud Platform: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Hosszú távú adattárolás, gépi tanulás és globális elemzés.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843212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500437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5766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209675"/>
            <a:ext cx="8572500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Hogyan Működik a Háttérben?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5488" y="1600200"/>
            <a:ext cx="81810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8FAFC"/>
                </a:solidFill>
                <a:latin typeface="Orbitron"/>
              </a:rPr>
              <a:t>Üzemi Adatút a Felhőbe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275" y="2200275"/>
            <a:ext cx="7791450" cy="28575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Roboto"/>
              </a:rPr>
              <a:t>Terepi Szenzor Okos PLC OPC UA / MQTT Edge Gateway Cloud Analitika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2247900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2247900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4790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775" y="224790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6087"/>
            <a:ext cx="5429250" cy="1619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Mit Lát a PLC – Mit lát a Felhő?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Modern PLC Feladata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PLC nemcsak vezérel, hanem strukturált diagnosztikai adatokat, OEE mutatókat és teljesítménytovábbítást is végzi MQTT/OPC UA protokollon.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3737"/>
            <a:ext cx="5180647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Felhő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71887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felhőalapú rendszerek összesítik a több gyáregység adatait, prediktív algoritmusokkal jelezik előre az alkatrészek kopását.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8487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62312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Ipari Esettanulmány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938462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Alkalmazás: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Autóalkatrész-gyártó üzem prediktív karbantartása.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38512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Megoldás: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 présgépek PLC-i MQTT protokollon keresztül küldik a vibrációs adatokat a felhőbe.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95737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Eredmény: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40%-kal csökkent a váratlan gépállásidő a gépi tanulásos előrejelzések révén.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71800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371850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029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62262"/>
            <a:ext cx="5429250" cy="186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Laborfeladat &amp;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Laborfeladat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Konfiguráljon egy PLC-t úgy, hogy MQTT brókereken keresztül, JSON formátumban publikálja a hőmérsékleti és fordulatszám-adatokat.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9912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Tervezési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Tervezzen meg egy Edge-alapú adatszűrési architektúrát egy robotos szerelősor számára, minimalizálva a WAN sávszélesség-igényt.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138487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138487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57500"/>
            <a:ext cx="5429250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Műhelytitok &amp; Hibaelhárítás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5150"/>
            <a:ext cx="5180647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Műhelytitok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43300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jó IIoT rendszer helyben szűri az adatokat (Edge), és csak a releváns változásokat küldi a felhőbe, elkerülve a hálózati túlterhelést.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43F5E"/>
                </a:solidFill>
                <a:latin typeface="Orbitron"/>
              </a:rPr>
              <a:t>Tipikus hibák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Elégtelen kiberbiztonság, nyitott portok, titkosítás hiánya, valamint a túl sok értelmetlen adat gyűjtése (Data Swamp).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372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670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IAA Mesterfeladat &amp; Mérnöki 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067050"/>
            <a:ext cx="10953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Mesterfeladat: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Tervezzen meg egy okosgyári architektúrát PLC-kkel, OPC UA/MQTT hálózattal, Edge Gateway-l és felhőalapú OEE dashboarddal.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24275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Gondolkodjunk mérnökként!: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„A gyár jövője a digitalizációban rejlik, de a biztonság és a stabilitás az első.”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124325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mérnöki idézet: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„Ahol a fizikai automatizálás találkozik az informatikával, ott születik meg az Ipar 4.0.”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100387"/>
            <a:ext cx="1333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75761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57662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90812"/>
            <a:ext cx="5429250" cy="220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Önellenőrzés &amp; Történeti Idővonal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938462"/>
            <a:ext cx="5180647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Önellenőrző kérdések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357562"/>
            <a:ext cx="49339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1. Mit jelent az Ipar 4.0 fogalma?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2. Mi az a IIoT?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3. Mi szerepe van az Edge computingnak?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4. Miért fontos a prediktív karbantartás?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"/>
              </a:rPr>
              <a:t> 5. Melyek a fő kiberbiztonsági kockázatok?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500" y="2371725"/>
            <a:ext cx="5429250" cy="2847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0" y="2371725"/>
          <a:ext cx="5429249" cy="284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rbitron"/>
                        </a:rPr>
                        <a:t>Korszak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rbitron"/>
                        </a:rPr>
                        <a:t>Fő jellemző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Ipar 1.0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Gőzgépek, mechanizálás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Ipar 2.0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Tömegtermelés, villamos energia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Ipar 3.0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PLC-k, robotika, IT alapok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Ipar 4.0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"/>
                        </a:rPr>
                        <a:t>IIoT, digitális iker, autonóm rendszerek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967037"/>
            <a:ext cx="209550" cy="209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86500" y="2928937"/>
            <a:ext cx="14415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8049" y="2928937"/>
            <a:ext cx="3987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6500" y="3500437"/>
            <a:ext cx="14415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8049" y="3500437"/>
            <a:ext cx="3987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6500" y="4071937"/>
            <a:ext cx="14415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8049" y="4071937"/>
            <a:ext cx="3987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6500" y="4643437"/>
            <a:ext cx="14415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8049" y="4643437"/>
            <a:ext cx="3987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2943225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7052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6250" y="3705225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86100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71625" y="3093243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https://www.itecerp.com/upload-files/1_solution/industry/p52.png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3326606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www.itecerp.com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9433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71625" y="3857625"/>
            <a:ext cx="101441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https://cdn-cnaie.nitrocdn.com/UKQQFkESaBzgxjLAZTnFccvxTsMKnBAQ/assets/images/optimized/rev-d0b297e/www.mipac.com.au/wp-content/uploads/2023/11/Website-Graphics-3-IIOT-1024x576.jpg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4276725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www.mipac.com.au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649</Words>
  <Application>Microsoft Office PowerPoint</Application>
  <PresentationFormat>Szélesvásznú</PresentationFormat>
  <Paragraphs>68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Orbitron</vt:lpstr>
      <vt:lpstr>Roboto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2026-08-02T13:50:21Z</dcterms:modified>
  <cp:category/>
</cp:coreProperties>
</file>