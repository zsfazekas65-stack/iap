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2660302"/>
            <a:ext cx="110299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38BDF8"/>
                </a:solidFill>
                <a:latin typeface="Plus Jakarta Sans"/>
              </a:rPr>
              <a:t>INTEGRÁLT AUTOMATIKA </a:t>
            </a:r>
            <a:r>
              <a:rPr lang="hu-HU" sz="1350" b="1" dirty="0">
                <a:solidFill>
                  <a:srgbClr val="38BDF8"/>
                </a:solidFill>
                <a:latin typeface="Plus Jakarta Sans"/>
              </a:rPr>
              <a:t>PROGRAM </a:t>
            </a:r>
            <a:r>
              <a:rPr sz="1350" b="1" i="0" u="none" dirty="0">
                <a:solidFill>
                  <a:srgbClr val="38BDF8"/>
                </a:solidFill>
                <a:latin typeface="Plus Jakarta Sans"/>
              </a:rPr>
              <a:t>(IA</a:t>
            </a:r>
            <a:r>
              <a:rPr lang="hu-HU" sz="1350" b="1" i="0" u="none" dirty="0">
                <a:solidFill>
                  <a:srgbClr val="38BDF8"/>
                </a:solidFill>
                <a:latin typeface="Plus Jakarta Sans"/>
              </a:rPr>
              <a:t>P</a:t>
            </a:r>
            <a:r>
              <a:rPr sz="1350" b="1" i="0" u="none" dirty="0">
                <a:solidFill>
                  <a:srgbClr val="38BDF8"/>
                </a:solidFill>
                <a:latin typeface="Plus Jakarta Sans"/>
              </a:rPr>
              <a:t>) • PLC ALAPISMERETEK – 23.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276" y="3022252"/>
            <a:ext cx="11581447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Plus Jakarta Sans"/>
              </a:rPr>
              <a:t>PLC kommunikációs hálózatok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883223"/>
            <a:ext cx="85725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38BDF8"/>
                </a:solidFill>
                <a:latin typeface="Plus Jakarta Sans Medium"/>
              </a:rPr>
              <a:t>Az ipari berendezések közös nyelve – Adatcsere és protokollok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43200"/>
            <a:ext cx="5324475" cy="2152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43200"/>
            <a:ext cx="5324475" cy="2152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08610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🎯 A hét mottója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524250"/>
            <a:ext cx="46386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>
                <a:solidFill>
                  <a:srgbClr val="F8FAFC"/>
                </a:solidFill>
                <a:latin typeface="Plus Jakarta Sans"/>
              </a:rPr>
              <a:t>„Egy PLC önmagában is képes vezérelni egy gépet, bu az iparban az igazi érték akkor születik meg, amikor a berendezések együtt dolgoznak.”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08610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🌍 A világ nagy kérdése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24250"/>
            <a:ext cx="46386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Hogyan kommunikál egymással egy PLC, HMI, frekvenciaváltó, robot és SCADA rendszer egy modern gyárban?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A hét fókuszpontjai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36018"/>
            <a:ext cx="5324475" cy="27670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36018"/>
            <a:ext cx="5324475" cy="27670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778918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📖 A technika története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217068"/>
            <a:ext cx="463867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Az önálló PLC-ket fokozatosan felváltották a hálózatba kötött rendszerek. Először az RS-232, majd az RS-485 és a Modbus RTU, később pedig az Ethernet alapú ipari hálózatok terjedtek el világszerte.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778918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👨‍🔬 Ismerjük meg a fejlesztőket!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217068"/>
            <a:ext cx="46386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Az ipari kommunikáció fejlődésében meghatározó szerepet játszottak a piacon: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731418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Modicon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(Modbus protokoll)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107656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Siemens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(Profibus, Profinet)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483893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ODVA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(EtherNet/IP) &amp; </a:t>
            </a:r>
            <a:r>
              <a:rPr sz="1275" b="1" i="0" u="none">
                <a:solidFill>
                  <a:srgbClr val="CBD5E1"/>
                </a:solidFill>
                <a:latin typeface="Plus Jakarta Sans"/>
              </a:rPr>
              <a:t>OPC Foundation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(OPC UA)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702843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079081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455318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Háttér és Hálózati Evolúció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24137"/>
            <a:ext cx="3486150" cy="2390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624137"/>
            <a:ext cx="3486150" cy="2390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624137"/>
            <a:ext cx="3486150" cy="2390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3538537"/>
            <a:ext cx="304038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Alapfogalmak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919537"/>
            <a:ext cx="289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Megismerni a hálózati topológiákat, adatáramlást és a kommunikáció alapelveit.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8200" y="3538537"/>
            <a:ext cx="304038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Soros vs Ethernet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919537"/>
            <a:ext cx="289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Átlátni a soros (RS-485) és az ipari Ethernet hálózatok felépítését és különbségeit.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0100" y="3538537"/>
            <a:ext cx="304038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Protokollok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0100" y="3919537"/>
            <a:ext cx="289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Megérteni a Modbus, Profinet és egyéb szabványos protokollok szerepét.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976562"/>
            <a:ext cx="4286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976562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976562"/>
            <a:ext cx="257175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Tanulási célok ezen a héten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00350"/>
            <a:ext cx="5324475" cy="2038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00350"/>
            <a:ext cx="5324475" cy="2038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14325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📚 Elméleti alapok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581400"/>
            <a:ext cx="463867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A kommunikáció célja az adatok, parancsok és diagnosztikai információk cseréje. A fizikai kapcsolat önmagában nem elegendő; az eszközöknek azonos kommunikációs protokollt kell használniuk a megértéshez.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4325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⚙️ Adatfolyamat a háttérben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581400"/>
            <a:ext cx="4638675" cy="647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Elméleti alapok és Adatfolyamat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900362"/>
            <a:ext cx="5324475" cy="1838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00362"/>
            <a:ext cx="5324475" cy="1838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243262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🖥️ Mit lát a PLC? – Mit lát a HMI?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681412"/>
            <a:ext cx="46386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A PLC belső memóriaregisztereket és biteket kezel, míg a HMI ezeket vizuális elemekként (fordulatszám, nyomás, hőmérséklet, riasztás) jeleníti meg a hálózaton keresztüli adatolvasással.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243262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💻 PLC kommunikációs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681412"/>
            <a:ext cx="46386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A PLC ciklikusan olvas és ír adatokat. Fontos, hogy a program kezelni tudja a hálózati megszakításokat és a kommunikációs hibákat is (pl. watchdog időzítőkkel).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Feladatmegosztás: PLC és HMI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00350"/>
            <a:ext cx="5324475" cy="2038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00350"/>
            <a:ext cx="5324475" cy="2038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14325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🏭 Ipari esettanulmány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581400"/>
            <a:ext cx="463867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Egy szivattyútelepen a PLC hálózaton keresztül kommunikál a frekvenciaváltóval, a HMI-vel és a SCADA rendszerrel. Hálózati hiba esetén a PLC automatikusan biztonságos állapota állítja a rendszert.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4325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🧪 Laborfeladat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81400"/>
            <a:ext cx="46386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Tervezzenek meg egy ipari hálózatot, amely összeköt egy PLC-t, HMI-t, frekvenciaváltót, távoli I/O szigetet és egy mérnöki laptopot!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Gyakorlati Alkalmazás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81262"/>
            <a:ext cx="5324475" cy="2676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81262"/>
            <a:ext cx="5324475" cy="2676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824162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📊 Tervezési példa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262312"/>
            <a:ext cx="46386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Hasonlítsuk össze az RS-232 és RS-485 rendszereket: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824162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🔧 Műhelytitok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262312"/>
            <a:ext cx="463867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Medium"/>
              </a:rPr>
              <a:t>„A legtöbb ipari hálózati hiba oka egyszerű: hibás címzés, eltérő baud rate, nem megfelelő paritás vagy rossz kábelezés (árnyékolás hiánya).”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576637"/>
            <a:ext cx="44100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RS-232: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Max. 15 m, 1-to-1 kapcsolat, alacsonyabb zavartűrés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195762"/>
            <a:ext cx="44100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RS-485: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Max. 1200 m, multipoint (több eszköz), kiváló zavartűrés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548062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167187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Mérnöki Számítások és Tippek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93193"/>
            <a:ext cx="5324475" cy="2252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93193"/>
            <a:ext cx="5324475" cy="2252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036093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⚠️ Tipikus hibák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036093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🎓 IAA Mesterfeladat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474243"/>
            <a:ext cx="4638675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"/>
              </a:rPr>
              <a:t>Tervezzen komplex hálózati architektúrát egy gyártósorhoz: PLC fővezérlő, HMI panel, 2 db frekvenciaváltó, távoli I/O blokk és SCADA szerver részvételével!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3474243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Rossz slave cím beállítás az eszközökön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850481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Hibás átviteli sebesség (baud rate) vagy paritás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226718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Fordított A/B vezetékek, hiányzó lezáró ellenállások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445668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821906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198143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Minőségellenőrzés és Elemzés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2568178"/>
            <a:ext cx="5324475" cy="2026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sz="2850" b="1" i="0" u="none">
                <a:solidFill>
                  <a:srgbClr val="F8FAFC"/>
                </a:solidFill>
                <a:latin typeface="Plus Jakarta Sans"/>
              </a:rPr>
              <a:t>„A kommunikációs hálózat ugyanúgy a gép kritikus része, mint maga a motor vagy az érzékelő.”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33562" y="4832746"/>
            <a:ext cx="28194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38BDF8"/>
                </a:solidFill>
                <a:latin typeface="Plus Jakarta Sans Medium"/>
              </a:rPr>
              <a:t>— Gondolkodjunk mérnökként!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568178"/>
            <a:ext cx="5324475" cy="1519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sz="2850" b="1" i="0" u="none">
                <a:solidFill>
                  <a:srgbClr val="F8FAFC"/>
                </a:solidFill>
                <a:latin typeface="Plus Jakarta Sans"/>
              </a:rPr>
              <a:t>„Az ipari automatizálás valódi közös nyelve a szabványos hálózati kommunikáció.”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15287" y="4326135"/>
            <a:ext cx="18669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38BDF8"/>
                </a:solidFill>
                <a:latin typeface="Plus Jakarta Sans Medium"/>
              </a:rPr>
              <a:t>— IAA mérnöki idézet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Mérnöki Filozófia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2124075"/>
            <a:ext cx="11029950" cy="3390900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124075"/>
          <a:ext cx="11020423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4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3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2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Időszak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Fejlődési mérföldkő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Jelentőség az automatizálásban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1970-es évek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Önálló PLC-k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Szigetüzemű vezérlők, pontszerű hardveres bekötések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1980-as évek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RS-232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Kezdeti soros kommunikáció pont-pont kapcsolatban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1990-es évek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RS-485 és Modbus RTU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Többeszközös hálózatok, robusztus ipari soros buszok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2000-es évek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Industrial Ethernet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Gyors, determinisztikus hálózatok (Profinet, EtherNet/IP)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2010+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OPC UA és IIoT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Biztonságos vertikális integráció az üzemi szinttől a felhőig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5787" y="2690812"/>
            <a:ext cx="20041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89907" y="2690812"/>
            <a:ext cx="28238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13771" y="2690812"/>
            <a:ext cx="619244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5787" y="3252787"/>
            <a:ext cx="20041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89907" y="3252787"/>
            <a:ext cx="28238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13771" y="3252787"/>
            <a:ext cx="619244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787" y="3814762"/>
            <a:ext cx="20041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89907" y="3814762"/>
            <a:ext cx="28238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13771" y="3814762"/>
            <a:ext cx="619244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5787" y="4376737"/>
            <a:ext cx="20041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89907" y="4376737"/>
            <a:ext cx="28238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13771" y="4376737"/>
            <a:ext cx="619244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787" y="4938712"/>
            <a:ext cx="20041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589907" y="4938712"/>
            <a:ext cx="28238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13771" y="4938712"/>
            <a:ext cx="619244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A Hálózati Kommunikáció Evolúciója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93193"/>
            <a:ext cx="5324475" cy="2252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93193"/>
            <a:ext cx="5324475" cy="2252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036093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❓ Önellenőrző kérdések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036093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🔜 Következő hét (24. hét)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474243"/>
            <a:ext cx="463867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PLC és frekvenciaváltó Modbus RTU</a:t>
            </a:r>
            <a:r>
              <a:t>
</a:t>
            </a:r>
            <a:r>
              <a:rPr sz="1350" b="0" i="0" u="none">
                <a:solidFill>
                  <a:srgbClr val="F8FAFC"/>
                </a:solidFill>
                <a:latin typeface="Plus Jakarta Sans"/>
              </a:rPr>
              <a:t> Gyakorlati kommunikáció megvalósítása Modbus RTU protokoll használatával frekvenciaváltó vezérléséhez.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3474243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Mi a különbség az RS-232 és RS-485 között?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850481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Mit jelent a kommunikációs protokoll?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226718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Miért fontos a lezáró ellenállás RS-485-nél?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445668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821906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198143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Önellenőrzés és Kilátások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694</Words>
  <Application>Microsoft Office PowerPoint</Application>
  <PresentationFormat>Szélesvásznú</PresentationFormat>
  <Paragraphs>93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Arial</vt:lpstr>
      <vt:lpstr>Calibri</vt:lpstr>
      <vt:lpstr>Plus Jakarta Sans</vt:lpstr>
      <vt:lpstr>Plus Jakarta Sans Medium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2026-08-02T13:55:59Z</dcterms:modified>
  <cp:category/>
</cp:coreProperties>
</file>