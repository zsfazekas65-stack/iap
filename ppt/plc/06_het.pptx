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49" d="100"/>
          <a:sy n="49" d="100"/>
        </p:scale>
        <p:origin x="965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Relationship Id="rId9" Type="http://schemas.openxmlformats.org/officeDocument/2006/relationships/image" Target="../media/image1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6.png"/><Relationship Id="rId7" Type="http://schemas.openxmlformats.org/officeDocument/2006/relationships/image" Target="../media/image1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.png"/><Relationship Id="rId5" Type="http://schemas.openxmlformats.org/officeDocument/2006/relationships/image" Target="../media/image8.png"/><Relationship Id="rId4" Type="http://schemas.openxmlformats.org/officeDocument/2006/relationships/image" Target="../media/image7.png"/><Relationship Id="rId9" Type="http://schemas.openxmlformats.org/officeDocument/2006/relationships/image" Target="../media/image2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7" Type="http://schemas.openxmlformats.org/officeDocument/2006/relationships/image" Target="../media/image3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png"/><Relationship Id="rId3" Type="http://schemas.openxmlformats.org/officeDocument/2006/relationships/image" Target="../media/image33.png"/><Relationship Id="rId7" Type="http://schemas.openxmlformats.org/officeDocument/2006/relationships/image" Target="../media/image3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image" Target="../media/image34.png"/><Relationship Id="rId9" Type="http://schemas.openxmlformats.org/officeDocument/2006/relationships/image" Target="../media/image3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957762" y="2662237"/>
            <a:ext cx="2276475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1" i="0" u="none">
                <a:solidFill>
                  <a:srgbClr val="047857"/>
                </a:solidFill>
                <a:latin typeface="Plus Jakarta Sans"/>
              </a:rPr>
              <a:t>PLC ALAPISMERETEK • 6. HÉT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5275" y="3100387"/>
            <a:ext cx="11601450" cy="666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4200" b="1" i="0" u="none">
                <a:solidFill>
                  <a:srgbClr val="0F172A"/>
                </a:solidFill>
                <a:latin typeface="Plus Jakarta Sans"/>
              </a:rPr>
              <a:t>Számlálók a PLC-programozásban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09750" y="3957637"/>
            <a:ext cx="8572500" cy="3143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475"/>
              </a:lnSpc>
            </a:pPr>
            <a:r>
              <a:rPr sz="1650" b="0" i="0" u="none">
                <a:solidFill>
                  <a:srgbClr val="475569"/>
                </a:solidFill>
                <a:latin typeface="Plus Jakarta Sans"/>
              </a:rPr>
              <a:t>CTU, CTD és RESET utasítások elmélete és ipari alkalmazása (Óraszám: 5 óra)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7762" y="2690812"/>
            <a:ext cx="114300" cy="13335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0175" y="2292697"/>
            <a:ext cx="9391650" cy="227260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895475" y="2787997"/>
            <a:ext cx="8401050" cy="8533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3359"/>
              </a:lnSpc>
            </a:pPr>
            <a:r>
              <a:rPr sz="2400" b="1" i="0" u="none">
                <a:solidFill>
                  <a:srgbClr val="0F172A"/>
                </a:solidFill>
                <a:latin typeface="Plus Jakarta Sans"/>
              </a:rPr>
              <a:t>„Amit nem tudunk megszámolni, azt nem tudjuk irányítani.”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857750" y="3831877"/>
            <a:ext cx="2476500" cy="238125"/>
          </a:xfrm>
          <a:prstGeom prst="rect">
            <a:avLst/>
          </a:prstGeom>
          <a:noFill/>
        </p:spPr>
        <p:txBody>
          <a:bodyPr wrap="square" lIns="171450" tIns="0" rIns="0" bIns="0" anchor="t">
            <a:spAutoFit/>
          </a:bodyPr>
          <a:lstStyle/>
          <a:p>
            <a:pPr algn="ctr"/>
            <a:r>
              <a:rPr sz="1500" b="1" i="0" u="none">
                <a:solidFill>
                  <a:srgbClr val="047857"/>
                </a:solidFill>
                <a:latin typeface="Plus Jakarta Sans"/>
              </a:rPr>
              <a:t>Heti mérnöki gondolat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57750" y="3869977"/>
            <a:ext cx="171450" cy="1905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62800" y="3869977"/>
            <a:ext cx="171450" cy="1905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667000"/>
            <a:ext cx="3530649" cy="24003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30749" y="2667000"/>
            <a:ext cx="3530649" cy="24003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89999" y="2667000"/>
            <a:ext cx="3530649" cy="24003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533400"/>
            <a:ext cx="361950" cy="3619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66775" y="3619500"/>
            <a:ext cx="3087104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0F172A"/>
                </a:solidFill>
                <a:latin typeface="Plus Jakarta Sans"/>
              </a:rPr>
              <a:t>Számlálók működése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6775" y="4000500"/>
            <a:ext cx="2940099" cy="7715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334155"/>
                </a:solidFill>
                <a:latin typeface="Plus Jakarta Sans"/>
              </a:rPr>
              <a:t>Megérti a PLC-s számlálók szerepét a gyártósorok és darabszámok folyamatos követésében.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26024" y="3619500"/>
            <a:ext cx="3087104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0F172A"/>
                </a:solidFill>
                <a:latin typeface="Plus Jakarta Sans"/>
              </a:rPr>
              <a:t>CTU, CTD és RESET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26024" y="4000500"/>
            <a:ext cx="2940099" cy="7715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334155"/>
                </a:solidFill>
                <a:latin typeface="Plus Jakarta Sans"/>
              </a:rPr>
              <a:t>Magabiztosan ismeri a felfelé, lefelé számlálókat, valamint a nullázó (RESET) utasítást.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85274" y="3619500"/>
            <a:ext cx="3087104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0F172A"/>
                </a:solidFill>
                <a:latin typeface="Plus Jakarta Sans"/>
              </a:rPr>
              <a:t>Gyakorlati ellenőrzés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85274" y="4000500"/>
            <a:ext cx="2940099" cy="7715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334155"/>
                </a:solidFill>
                <a:latin typeface="Plus Jakarta Sans"/>
              </a:rPr>
              <a:t>Egyszerű darabszámláló programokat ír, és online monitorral ellenőrzi azok valós idejű állapotát.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66775" y="3057525"/>
            <a:ext cx="295275" cy="34290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626024" y="3057525"/>
            <a:ext cx="219075" cy="34290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385274" y="3057525"/>
            <a:ext cx="428625" cy="3429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571500" y="476250"/>
            <a:ext cx="11601450" cy="476250"/>
          </a:xfrm>
          <a:prstGeom prst="rect">
            <a:avLst/>
          </a:prstGeom>
          <a:noFill/>
        </p:spPr>
        <p:txBody>
          <a:bodyPr wrap="square" lIns="361950" tIns="0" rIns="0" bIns="0" anchor="t">
            <a:spAutoFit/>
          </a:bodyPr>
          <a:lstStyle/>
          <a:p>
            <a:pPr algn="l"/>
            <a:r>
              <a:rPr sz="2850" b="1" i="0" u="none">
                <a:solidFill>
                  <a:srgbClr val="0F172A"/>
                </a:solidFill>
                <a:latin typeface="Plus Jakarta Sans"/>
              </a:rPr>
              <a:t>Tanulási célok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71500" y="1038225"/>
            <a:ext cx="11049000" cy="28575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947987"/>
            <a:ext cx="5334000" cy="183832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0" y="2947987"/>
            <a:ext cx="5334000" cy="183832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533400"/>
            <a:ext cx="409575" cy="3619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66775" y="3243262"/>
            <a:ext cx="4980622" cy="219075"/>
          </a:xfrm>
          <a:prstGeom prst="rect">
            <a:avLst/>
          </a:prstGeom>
          <a:noFill/>
        </p:spPr>
        <p:txBody>
          <a:bodyPr wrap="square" lIns="200025" tIns="0" rIns="0" bIns="0" anchor="t">
            <a:spAutoFit/>
          </a:bodyPr>
          <a:lstStyle/>
          <a:p>
            <a:pPr algn="l"/>
            <a:r>
              <a:rPr sz="1404" b="1" i="0" u="none">
                <a:solidFill>
                  <a:srgbClr val="047857"/>
                </a:solidFill>
                <a:latin typeface="Plus Jakarta Sans"/>
              </a:rPr>
              <a:t>Gyártósori Igények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6775" y="3462337"/>
            <a:ext cx="4743450" cy="1028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334155"/>
                </a:solidFill>
                <a:latin typeface="Plus Jakarta Sans"/>
              </a:rPr>
              <a:t>A gyártósorokon folyamatosan szükség van a munkadarabok, dobozok, palackok vagy ciklusszámok pontos nyilvántartására a minőségbiztosítás és a logisztika érdekében.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1775" y="3243262"/>
            <a:ext cx="4980622" cy="219075"/>
          </a:xfrm>
          <a:prstGeom prst="rect">
            <a:avLst/>
          </a:prstGeom>
          <a:noFill/>
        </p:spPr>
        <p:txBody>
          <a:bodyPr wrap="square" lIns="180975" tIns="0" rIns="0" bIns="0" anchor="t">
            <a:spAutoFit/>
          </a:bodyPr>
          <a:lstStyle/>
          <a:p>
            <a:pPr algn="l"/>
            <a:r>
              <a:rPr sz="1404" b="1" i="0" u="none">
                <a:solidFill>
                  <a:srgbClr val="0284C7"/>
                </a:solidFill>
                <a:latin typeface="Plus Jakarta Sans"/>
              </a:rPr>
              <a:t>A PLC Számláló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1775" y="3462337"/>
            <a:ext cx="4743450" cy="7715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334155"/>
                </a:solidFill>
                <a:latin typeface="Plus Jakarta Sans"/>
              </a:rPr>
              <a:t>A PLC számláló utasításai minden beérkező impulzus hatására növelik vagy csökkentik a regiszter értékét, kiváltva a hagyományos mechanikus számlálókat.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6775" y="3271837"/>
            <a:ext cx="200025" cy="178296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81775" y="3271837"/>
            <a:ext cx="180975" cy="17829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71500" y="476250"/>
            <a:ext cx="11601450" cy="476250"/>
          </a:xfrm>
          <a:prstGeom prst="rect">
            <a:avLst/>
          </a:prstGeom>
          <a:noFill/>
        </p:spPr>
        <p:txBody>
          <a:bodyPr wrap="square" lIns="409575" tIns="0" rIns="0" bIns="0" anchor="t">
            <a:spAutoFit/>
          </a:bodyPr>
          <a:lstStyle/>
          <a:p>
            <a:pPr algn="l"/>
            <a:r>
              <a:rPr sz="2850" b="1" i="0" u="none">
                <a:solidFill>
                  <a:srgbClr val="0F172A"/>
                </a:solidFill>
                <a:latin typeface="Plus Jakarta Sans"/>
              </a:rPr>
              <a:t>Bevezetés a számlálás világába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71500" y="1038225"/>
            <a:ext cx="11049000" cy="28575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667000"/>
            <a:ext cx="3530649" cy="24003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30749" y="2667000"/>
            <a:ext cx="3530649" cy="24003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89999" y="2667000"/>
            <a:ext cx="3530649" cy="24003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533400"/>
            <a:ext cx="409575" cy="3619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66775" y="3619500"/>
            <a:ext cx="3087104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0F172A"/>
                </a:solidFill>
                <a:latin typeface="Plus Jakarta Sans"/>
              </a:rPr>
              <a:t>CTU (Count Up)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6775" y="4000500"/>
            <a:ext cx="2940099" cy="7715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334155"/>
                </a:solidFill>
                <a:latin typeface="Plus Jakarta Sans"/>
              </a:rPr>
              <a:t>Minden új bemeneti impulzusra (élre) eggyel növeli a számláló aktuális értékét a preset limithatárig.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26024" y="3619500"/>
            <a:ext cx="3087104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0F172A"/>
                </a:solidFill>
                <a:latin typeface="Plus Jakarta Sans"/>
              </a:rPr>
              <a:t>CTD (Count Down)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26024" y="4000500"/>
            <a:ext cx="2940099" cy="7715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334155"/>
                </a:solidFill>
                <a:latin typeface="Plus Jakarta Sans"/>
              </a:rPr>
              <a:t>A beállított kezdőértéktől lefelé számol. Gyakran használják készlet- vagy adagolási folyamatokhoz.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85274" y="3619500"/>
            <a:ext cx="3087104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0F172A"/>
                </a:solidFill>
                <a:latin typeface="Plus Jakarta Sans"/>
              </a:rPr>
              <a:t>RESET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85274" y="4000500"/>
            <a:ext cx="2940099" cy="7715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334155"/>
                </a:solidFill>
                <a:latin typeface="Plus Jakarta Sans"/>
              </a:rPr>
              <a:t>A számláló aktuális értékét nullára állítja, például új műszak vagy új gyártási tétel indításakor.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66775" y="3057525"/>
            <a:ext cx="257175" cy="34290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626024" y="3057525"/>
            <a:ext cx="257175" cy="34290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385274" y="3057525"/>
            <a:ext cx="342900" cy="3429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571500" y="476250"/>
            <a:ext cx="11601450" cy="476250"/>
          </a:xfrm>
          <a:prstGeom prst="rect">
            <a:avLst/>
          </a:prstGeom>
          <a:noFill/>
        </p:spPr>
        <p:txBody>
          <a:bodyPr wrap="square" lIns="409575" tIns="0" rIns="0" bIns="0" anchor="t">
            <a:spAutoFit/>
          </a:bodyPr>
          <a:lstStyle/>
          <a:p>
            <a:pPr algn="l"/>
            <a:r>
              <a:rPr sz="2850" b="1" i="0" u="none">
                <a:solidFill>
                  <a:srgbClr val="0F172A"/>
                </a:solidFill>
                <a:latin typeface="Plus Jakarta Sans"/>
              </a:rPr>
              <a:t>Főbb utasítások: CTU, CTD, RESET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71500" y="1038225"/>
            <a:ext cx="11049000" cy="28575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819400"/>
            <a:ext cx="5334000" cy="20955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0" y="2819400"/>
            <a:ext cx="5334000" cy="20955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533400"/>
            <a:ext cx="361950" cy="3619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66775" y="3114675"/>
            <a:ext cx="4980622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4" b="1" i="0" u="none">
                <a:solidFill>
                  <a:srgbClr val="0284C7"/>
                </a:solidFill>
                <a:latin typeface="Plus Jakarta Sans"/>
              </a:rPr>
              <a:t>Ipari Felhasználás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6775" y="3333750"/>
            <a:ext cx="4743450" cy="1285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334155"/>
                </a:solidFill>
                <a:latin typeface="Plus Jakarta Sans"/>
              </a:rPr>
              <a:t>• </a:t>
            </a:r>
            <a:r>
              <a:rPr sz="1350" b="1" i="0" u="none">
                <a:solidFill>
                  <a:srgbClr val="334155"/>
                </a:solidFill>
                <a:latin typeface="Plus Jakarta Sans"/>
              </a:rPr>
              <a:t>Palackozó gépek:</a:t>
            </a:r>
            <a:r>
              <a:rPr sz="1350" b="0" i="0" u="none">
                <a:solidFill>
                  <a:srgbClr val="334155"/>
                </a:solidFill>
                <a:latin typeface="Plus Jakarta Sans"/>
              </a:rPr>
              <a:t> Töltött palackok számolása dobozonként.</a:t>
            </a:r>
            <a:r>
              <a:t>
</a:t>
            </a:r>
            <a:r>
              <a:rPr sz="1350" b="0" i="0" u="none">
                <a:solidFill>
                  <a:srgbClr val="334155"/>
                </a:solidFill>
                <a:latin typeface="Plus Jakarta Sans"/>
              </a:rPr>
              <a:t> • </a:t>
            </a:r>
            <a:r>
              <a:rPr sz="1350" b="1" i="0" u="none">
                <a:solidFill>
                  <a:srgbClr val="334155"/>
                </a:solidFill>
                <a:latin typeface="Plus Jakarta Sans"/>
              </a:rPr>
              <a:t>Csomagolósorok:</a:t>
            </a:r>
            <a:r>
              <a:rPr sz="1350" b="0" i="0" u="none">
                <a:solidFill>
                  <a:srgbClr val="334155"/>
                </a:solidFill>
                <a:latin typeface="Plus Jakarta Sans"/>
              </a:rPr>
              <a:t> Összesen feladott csomagok napi listája.</a:t>
            </a:r>
            <a:r>
              <a:t>
</a:t>
            </a:r>
            <a:r>
              <a:rPr sz="1350" b="0" i="0" u="none">
                <a:solidFill>
                  <a:srgbClr val="334155"/>
                </a:solidFill>
                <a:latin typeface="Plus Jakarta Sans"/>
              </a:rPr>
              <a:t> • </a:t>
            </a:r>
            <a:r>
              <a:rPr sz="1350" b="1" i="0" u="none">
                <a:solidFill>
                  <a:srgbClr val="334155"/>
                </a:solidFill>
                <a:latin typeface="Plus Jakarta Sans"/>
              </a:rPr>
              <a:t>Alkatrészgyártás:</a:t>
            </a:r>
            <a:r>
              <a:rPr sz="1350" b="0" i="0" u="none">
                <a:solidFill>
                  <a:srgbClr val="334155"/>
                </a:solidFill>
                <a:latin typeface="Plus Jakarta Sans"/>
              </a:rPr>
              <a:t> Készre szerelt darabok nyilvántartása.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1775" y="3114675"/>
            <a:ext cx="4980622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4" b="1" i="0" u="none">
                <a:solidFill>
                  <a:srgbClr val="059669"/>
                </a:solidFill>
                <a:latin typeface="Plus Jakarta Sans"/>
              </a:rPr>
              <a:t>Logikai Működés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1775" y="3333750"/>
            <a:ext cx="4743450" cy="7715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334155"/>
                </a:solidFill>
                <a:latin typeface="Plus Jakarta Sans"/>
              </a:rPr>
              <a:t>A számláló mindaddig növeli az értéket, amíg a bemeneten impulzus érkezik. Ha az érték eléri a megadott célt ($PV$), a számláló kimenete aktívvá válik, jelezve a kötegelés végét.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1500" y="476250"/>
            <a:ext cx="11601450" cy="476250"/>
          </a:xfrm>
          <a:prstGeom prst="rect">
            <a:avLst/>
          </a:prstGeom>
          <a:noFill/>
        </p:spPr>
        <p:txBody>
          <a:bodyPr wrap="square" lIns="361950" tIns="0" rIns="0" bIns="0" anchor="t">
            <a:spAutoFit/>
          </a:bodyPr>
          <a:lstStyle/>
          <a:p>
            <a:pPr algn="l"/>
            <a:r>
              <a:rPr sz="2850" b="1" i="0" u="none">
                <a:solidFill>
                  <a:srgbClr val="0F172A"/>
                </a:solidFill>
                <a:latin typeface="Plus Jakarta Sans"/>
              </a:rPr>
              <a:t>CTU (Felfelé számláló) területei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71500" y="1038225"/>
            <a:ext cx="11049000" cy="28575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905125"/>
            <a:ext cx="3867150" cy="19240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533400"/>
            <a:ext cx="314325" cy="3619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71550" y="3305175"/>
            <a:ext cx="3067050" cy="809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6375"/>
              </a:lnSpc>
            </a:pPr>
            <a:r>
              <a:rPr sz="6375" b="1" i="0" u="none">
                <a:solidFill>
                  <a:srgbClr val="047857"/>
                </a:solidFill>
                <a:latin typeface="JetBrains Mono"/>
              </a:rPr>
              <a:t>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71550" y="4210050"/>
            <a:ext cx="3067050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50" b="1" i="0" u="none">
                <a:solidFill>
                  <a:srgbClr val="065F46"/>
                </a:solidFill>
                <a:latin typeface="Plus Jakarta Sans"/>
              </a:rPr>
              <a:t>Darabszámlálási küszöb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819650" y="3171825"/>
            <a:ext cx="7140892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4" b="1" i="0" u="none">
                <a:solidFill>
                  <a:srgbClr val="0F172A"/>
                </a:solidFill>
                <a:latin typeface="Plus Jakarta Sans"/>
              </a:rPr>
              <a:t>Hardveres tesztek és feladatok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19650" y="3533775"/>
            <a:ext cx="6800850" cy="1028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334155"/>
                </a:solidFill>
                <a:latin typeface="Plus Jakarta Sans"/>
              </a:rPr>
              <a:t>• </a:t>
            </a:r>
            <a:r>
              <a:rPr sz="1350" b="1" i="0" u="none">
                <a:solidFill>
                  <a:srgbClr val="334155"/>
                </a:solidFill>
                <a:latin typeface="Plus Jakarta Sans"/>
              </a:rPr>
              <a:t>Eaton easy:</a:t>
            </a:r>
            <a:r>
              <a:rPr sz="1350" b="0" i="0" u="none">
                <a:solidFill>
                  <a:srgbClr val="334155"/>
                </a:solidFill>
                <a:latin typeface="Plus Jakarta Sans"/>
              </a:rPr>
              <a:t> Számoljunk 10 nyomógomb-impulzusig.</a:t>
            </a:r>
            <a:r>
              <a:t>
</a:t>
            </a:r>
            <a:r>
              <a:rPr sz="1350" b="0" i="0" u="none">
                <a:solidFill>
                  <a:srgbClr val="334155"/>
                </a:solidFill>
                <a:latin typeface="Plus Jakarta Sans"/>
              </a:rPr>
              <a:t> • </a:t>
            </a:r>
            <a:r>
              <a:rPr sz="1350" b="1" i="0" u="none">
                <a:solidFill>
                  <a:srgbClr val="334155"/>
                </a:solidFill>
                <a:latin typeface="Plus Jakarta Sans"/>
              </a:rPr>
              <a:t>LG PLC:</a:t>
            </a:r>
            <a:r>
              <a:rPr sz="1350" b="0" i="0" u="none">
                <a:solidFill>
                  <a:srgbClr val="334155"/>
                </a:solidFill>
                <a:latin typeface="Plus Jakarta Sans"/>
              </a:rPr>
              <a:t> Fotocella jelének bekötése és számlálása.</a:t>
            </a:r>
            <a:r>
              <a:t>
</a:t>
            </a:r>
            <a:r>
              <a:rPr sz="1350" b="0" i="0" u="none">
                <a:solidFill>
                  <a:srgbClr val="334155"/>
                </a:solidFill>
                <a:latin typeface="Plus Jakarta Sans"/>
              </a:rPr>
              <a:t> • </a:t>
            </a:r>
            <a:r>
              <a:rPr sz="1350" b="1" i="0" u="none">
                <a:solidFill>
                  <a:srgbClr val="334155"/>
                </a:solidFill>
                <a:latin typeface="Plus Jakarta Sans"/>
              </a:rPr>
              <a:t>Omron PLC:</a:t>
            </a:r>
            <a:r>
              <a:rPr sz="1350" b="0" i="0" u="none">
                <a:solidFill>
                  <a:srgbClr val="334155"/>
                </a:solidFill>
                <a:latin typeface="Plus Jakarta Sans"/>
              </a:rPr>
              <a:t> 20 darab elérésekor jelzőlámpa aktiválása.</a:t>
            </a:r>
            <a:r>
              <a:t>
</a:t>
            </a:r>
            <a:r>
              <a:rPr sz="1350" b="0" i="0" u="none">
                <a:solidFill>
                  <a:srgbClr val="334155"/>
                </a:solidFill>
                <a:latin typeface="Plus Jakarta Sans"/>
              </a:rPr>
              <a:t> • </a:t>
            </a:r>
            <a:r>
              <a:rPr sz="1350" b="1" i="0" u="none">
                <a:solidFill>
                  <a:srgbClr val="334155"/>
                </a:solidFill>
                <a:latin typeface="Plus Jakarta Sans"/>
              </a:rPr>
              <a:t>RESET gomb:</a:t>
            </a:r>
            <a:r>
              <a:rPr sz="1350" b="0" i="0" u="none">
                <a:solidFill>
                  <a:srgbClr val="334155"/>
                </a:solidFill>
                <a:latin typeface="Plus Jakarta Sans"/>
              </a:rPr>
              <a:t> Aktuális érték nullázási tesztje.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1500" y="476250"/>
            <a:ext cx="11601450" cy="476250"/>
          </a:xfrm>
          <a:prstGeom prst="rect">
            <a:avLst/>
          </a:prstGeom>
          <a:noFill/>
        </p:spPr>
        <p:txBody>
          <a:bodyPr wrap="square" lIns="314325" tIns="0" rIns="0" bIns="0" anchor="t">
            <a:spAutoFit/>
          </a:bodyPr>
          <a:lstStyle/>
          <a:p>
            <a:pPr algn="l"/>
            <a:r>
              <a:rPr sz="2850" b="1" i="0" u="none">
                <a:solidFill>
                  <a:srgbClr val="0F172A"/>
                </a:solidFill>
                <a:latin typeface="Plus Jakarta Sans"/>
              </a:rPr>
              <a:t>Laboratóriumi gyakorlatok</a:t>
            </a:r>
          </a:p>
        </p:txBody>
      </p:sp>
      <p:sp>
        <p:nvSpPr>
          <p:cNvPr id="10" name="Rectangle 9"/>
          <p:cNvSpPr/>
          <p:nvPr/>
        </p:nvSpPr>
        <p:spPr>
          <a:xfrm>
            <a:off x="571500" y="1038225"/>
            <a:ext cx="11049000" cy="28575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533400"/>
            <a:ext cx="361950" cy="36195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571500" y="2833687"/>
            <a:ext cx="11049000" cy="2066925"/>
          </a:xfrm>
          <a:prstGeom prst="roundRect">
            <a:avLst>
              <a:gd name="adj" fmla="val 0"/>
            </a:avLst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71500" y="2833687"/>
          <a:ext cx="11039474" cy="20669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5751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459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1018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92581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16731"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FFFFFF"/>
                          </a:solidFill>
                          <a:latin typeface="Plus Jakarta Sans"/>
                        </a:rPr>
                        <a:t>Utasítás / Elem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FFFFFF"/>
                          </a:solidFill>
                          <a:latin typeface="Plus Jakarta Sans"/>
                        </a:rPr>
                        <a:t>Működési irány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FFFFFF"/>
                          </a:solidFill>
                          <a:latin typeface="Plus Jakarta Sans"/>
                        </a:rPr>
                        <a:t>Kezdeti / Alapállapot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FFFFFF"/>
                          </a:solidFill>
                          <a:latin typeface="Plus Jakarta Sans"/>
                        </a:rPr>
                        <a:t>Fő ipari feladat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6731"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000000"/>
                          </a:solidFill>
                          <a:latin typeface="Plus Jakarta Sans"/>
                        </a:rPr>
                        <a:t>CTU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10B981"/>
                          </a:solidFill>
                          <a:latin typeface="Plus Jakarta Sans"/>
                        </a:rPr>
                        <a:t>Felfelé (Count Up)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000000"/>
                          </a:solidFill>
                          <a:latin typeface="Plus Jakarta Sans"/>
                        </a:rPr>
                        <a:t>Nulláról indul ($0 \rightarrow PV$)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000000"/>
                          </a:solidFill>
                          <a:latin typeface="Plus Jakarta Sans"/>
                        </a:rPr>
                        <a:t>Darabszámlálás, palackozás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6731"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000000"/>
                          </a:solidFill>
                          <a:latin typeface="Plus Jakarta Sans"/>
                        </a:rPr>
                        <a:t>CTD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0EA5E9"/>
                          </a:solidFill>
                          <a:latin typeface="Plus Jakarta Sans"/>
                        </a:rPr>
                        <a:t>Lefelé (Count Down)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000000"/>
                          </a:solidFill>
                          <a:latin typeface="Plus Jakarta Sans"/>
                        </a:rPr>
                        <a:t>Beállított értékről indul ($PV \rightarrow 0$)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000000"/>
                          </a:solidFill>
                          <a:latin typeface="Plus Jakarta Sans"/>
                        </a:rPr>
                        <a:t>Adagolás, készletfigyelés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6732"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000000"/>
                          </a:solidFill>
                          <a:latin typeface="Plus Jakarta Sans"/>
                        </a:rPr>
                        <a:t>RESET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F59E0B"/>
                          </a:solidFill>
                          <a:latin typeface="Plus Jakarta Sans"/>
                        </a:rPr>
                        <a:t>Nullázás / Törlés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000000"/>
                          </a:solidFill>
                          <a:latin typeface="Plus Jakarta Sans"/>
                        </a:rPr>
                        <a:t>Aktuális érték $\rightarrow 0$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000000"/>
                          </a:solidFill>
                          <a:latin typeface="Plus Jakarta Sans"/>
                        </a:rPr>
                        <a:t>Műszakváltás, új tétel indítása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576262" y="3343275"/>
            <a:ext cx="175751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2333773" y="3343275"/>
            <a:ext cx="224596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579739" y="3343275"/>
            <a:ext cx="4110186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8689925" y="3343275"/>
            <a:ext cx="292581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76262" y="3857625"/>
            <a:ext cx="175751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2333773" y="3857625"/>
            <a:ext cx="224596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579739" y="3857625"/>
            <a:ext cx="4110186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8689925" y="3857625"/>
            <a:ext cx="292581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76262" y="4371975"/>
            <a:ext cx="175751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2333773" y="4371975"/>
            <a:ext cx="224596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4579739" y="4371975"/>
            <a:ext cx="4110186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689925" y="4371975"/>
            <a:ext cx="292581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576262" y="4886325"/>
            <a:ext cx="175751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2333773" y="4886325"/>
            <a:ext cx="224596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4579739" y="4886325"/>
            <a:ext cx="4110186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8689925" y="4886325"/>
            <a:ext cx="292581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71500" y="476250"/>
            <a:ext cx="11601450" cy="476250"/>
          </a:xfrm>
          <a:prstGeom prst="rect">
            <a:avLst/>
          </a:prstGeom>
          <a:noFill/>
        </p:spPr>
        <p:txBody>
          <a:bodyPr wrap="square" lIns="361950" tIns="0" rIns="0" bIns="0" anchor="t">
            <a:spAutoFit/>
          </a:bodyPr>
          <a:lstStyle/>
          <a:p>
            <a:pPr algn="l"/>
            <a:r>
              <a:rPr sz="2850" b="1" i="0" u="none">
                <a:solidFill>
                  <a:srgbClr val="0F172A"/>
                </a:solidFill>
                <a:latin typeface="Plus Jakarta Sans"/>
              </a:rPr>
              <a:t>Számláló funkciók mátrixa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71500" y="1038225"/>
            <a:ext cx="11049000" cy="28575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533400"/>
            <a:ext cx="361950" cy="36195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571500" y="2247900"/>
            <a:ext cx="11049000" cy="657225"/>
          </a:xfrm>
          <a:prstGeom prst="roundRect">
            <a:avLst>
              <a:gd name="adj" fmla="val 11594"/>
            </a:avLst>
          </a:prstGeom>
          <a:solidFill>
            <a:srgbClr val="FFFFFF"/>
          </a:solidFill>
          <a:ln w="9525">
            <a:solidFill>
              <a:srgbClr val="FEE2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43000" y="2438400"/>
            <a:ext cx="10287000" cy="2762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>
                <a:solidFill>
                  <a:srgbClr val="334155"/>
                </a:solidFill>
                <a:latin typeface="Plus Jakarta Sans"/>
              </a:rPr>
              <a:t>Érintkezőpergés:</a:t>
            </a:r>
            <a:r>
              <a:rPr sz="1350" b="0" i="0" u="none">
                <a:solidFill>
                  <a:srgbClr val="334155"/>
                </a:solidFill>
                <a:latin typeface="Plus Jakarta Sans"/>
              </a:rPr>
              <a:t> Mechanikus gombok záráskor többszörös impulzust adhatnak, ami halmozott hibás számlálást okoz.</a:t>
            </a:r>
          </a:p>
        </p:txBody>
      </p:sp>
      <p:sp>
        <p:nvSpPr>
          <p:cNvPr id="6" name="Rectangle 5"/>
          <p:cNvSpPr/>
          <p:nvPr/>
        </p:nvSpPr>
        <p:spPr>
          <a:xfrm>
            <a:off x="571500" y="2895600"/>
            <a:ext cx="11049000" cy="9525"/>
          </a:xfrm>
          <a:prstGeom prst="rect">
            <a:avLst/>
          </a:prstGeom>
          <a:solidFill>
            <a:srgbClr val="FEE2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71500" y="2247900"/>
            <a:ext cx="11049000" cy="9525"/>
          </a:xfrm>
          <a:prstGeom prst="rect">
            <a:avLst/>
          </a:prstGeom>
          <a:solidFill>
            <a:srgbClr val="FEE2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71500" y="2247900"/>
            <a:ext cx="47625" cy="657225"/>
          </a:xfrm>
          <a:prstGeom prst="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11610975" y="2247900"/>
            <a:ext cx="9525" cy="657225"/>
          </a:xfrm>
          <a:prstGeom prst="rect">
            <a:avLst/>
          </a:prstGeom>
          <a:solidFill>
            <a:srgbClr val="FEE2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571500" y="3057525"/>
            <a:ext cx="11049000" cy="657225"/>
          </a:xfrm>
          <a:prstGeom prst="roundRect">
            <a:avLst>
              <a:gd name="adj" fmla="val 11594"/>
            </a:avLst>
          </a:prstGeom>
          <a:solidFill>
            <a:srgbClr val="FFFFFF"/>
          </a:solidFill>
          <a:ln w="9525">
            <a:solidFill>
              <a:srgbClr val="FEE2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143000" y="3248025"/>
            <a:ext cx="10287000" cy="2762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>
                <a:solidFill>
                  <a:srgbClr val="334155"/>
                </a:solidFill>
                <a:latin typeface="Plus Jakarta Sans"/>
              </a:rPr>
              <a:t>Hibás RESET feltétel:</a:t>
            </a:r>
            <a:r>
              <a:rPr sz="1350" b="0" i="0" u="none">
                <a:solidFill>
                  <a:srgbClr val="334155"/>
                </a:solidFill>
                <a:latin typeface="Plus Jakarta Sans"/>
              </a:rPr>
              <a:t> Ha a nullázó feltétel túl korán vagy folyamatosan aktív, a számláló képtelen növekedni.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71500" y="3705225"/>
            <a:ext cx="11049000" cy="9525"/>
          </a:xfrm>
          <a:prstGeom prst="rect">
            <a:avLst/>
          </a:prstGeom>
          <a:solidFill>
            <a:srgbClr val="FEE2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571500" y="3057525"/>
            <a:ext cx="11049000" cy="9525"/>
          </a:xfrm>
          <a:prstGeom prst="rect">
            <a:avLst/>
          </a:prstGeom>
          <a:solidFill>
            <a:srgbClr val="FEE2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71500" y="3057525"/>
            <a:ext cx="47625" cy="657225"/>
          </a:xfrm>
          <a:prstGeom prst="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11610975" y="3057525"/>
            <a:ext cx="9525" cy="657225"/>
          </a:xfrm>
          <a:prstGeom prst="rect">
            <a:avLst/>
          </a:prstGeom>
          <a:solidFill>
            <a:srgbClr val="FEE2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571500" y="3867150"/>
            <a:ext cx="11049000" cy="657225"/>
          </a:xfrm>
          <a:prstGeom prst="roundRect">
            <a:avLst>
              <a:gd name="adj" fmla="val 11594"/>
            </a:avLst>
          </a:prstGeom>
          <a:solidFill>
            <a:srgbClr val="FFFFFF"/>
          </a:solidFill>
          <a:ln w="9525">
            <a:solidFill>
              <a:srgbClr val="FEE2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143000" y="4057650"/>
            <a:ext cx="10287000" cy="2762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>
                <a:solidFill>
                  <a:srgbClr val="334155"/>
                </a:solidFill>
                <a:latin typeface="Plus Jakarta Sans"/>
              </a:rPr>
              <a:t>Nem megfelelő preset:</a:t>
            </a:r>
            <a:r>
              <a:rPr sz="1350" b="0" i="0" u="none">
                <a:solidFill>
                  <a:srgbClr val="334155"/>
                </a:solidFill>
                <a:latin typeface="Plus Jakarta Sans"/>
              </a:rPr>
              <a:t> Rosszul megadott előválasztási érték ($PV$), ami miatt a kimenet nem kapcsol át.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71500" y="4514850"/>
            <a:ext cx="11049000" cy="9525"/>
          </a:xfrm>
          <a:prstGeom prst="rect">
            <a:avLst/>
          </a:prstGeom>
          <a:solidFill>
            <a:srgbClr val="FEE2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571500" y="3867150"/>
            <a:ext cx="11049000" cy="9525"/>
          </a:xfrm>
          <a:prstGeom prst="rect">
            <a:avLst/>
          </a:prstGeom>
          <a:solidFill>
            <a:srgbClr val="FEE2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71500" y="3867150"/>
            <a:ext cx="47625" cy="657225"/>
          </a:xfrm>
          <a:prstGeom prst="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11610975" y="3867150"/>
            <a:ext cx="9525" cy="657225"/>
          </a:xfrm>
          <a:prstGeom prst="rect">
            <a:avLst/>
          </a:prstGeom>
          <a:solidFill>
            <a:srgbClr val="FEE2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571500" y="4676775"/>
            <a:ext cx="11049000" cy="657225"/>
          </a:xfrm>
          <a:prstGeom prst="roundRect">
            <a:avLst>
              <a:gd name="adj" fmla="val 11594"/>
            </a:avLst>
          </a:prstGeom>
          <a:solidFill>
            <a:srgbClr val="FFFFFF"/>
          </a:solidFill>
          <a:ln w="9525">
            <a:solidFill>
              <a:srgbClr val="FEE2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143000" y="4867275"/>
            <a:ext cx="10287000" cy="2762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>
                <a:solidFill>
                  <a:srgbClr val="334155"/>
                </a:solidFill>
                <a:latin typeface="Plus Jakarta Sans"/>
              </a:rPr>
              <a:t>Online monitor elhanyagolása:</a:t>
            </a:r>
            <a:r>
              <a:rPr sz="1350" b="0" i="0" u="none">
                <a:solidFill>
                  <a:srgbClr val="334155"/>
                </a:solidFill>
                <a:latin typeface="Plus Jakarta Sans"/>
              </a:rPr>
              <a:t> Hibakeresés vizuális visszajelzés (regiszterek értéke) nélkül.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71500" y="5324475"/>
            <a:ext cx="11049000" cy="9525"/>
          </a:xfrm>
          <a:prstGeom prst="rect">
            <a:avLst/>
          </a:prstGeom>
          <a:solidFill>
            <a:srgbClr val="FEE2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571500" y="4676775"/>
            <a:ext cx="11049000" cy="9525"/>
          </a:xfrm>
          <a:prstGeom prst="rect">
            <a:avLst/>
          </a:prstGeom>
          <a:solidFill>
            <a:srgbClr val="FEE2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571500" y="4676775"/>
            <a:ext cx="47625" cy="657225"/>
          </a:xfrm>
          <a:prstGeom prst="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11610975" y="4676775"/>
            <a:ext cx="9525" cy="657225"/>
          </a:xfrm>
          <a:prstGeom prst="rect">
            <a:avLst/>
          </a:prstGeom>
          <a:solidFill>
            <a:srgbClr val="FEE2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571500" y="2895600"/>
            <a:ext cx="11049000" cy="9525"/>
          </a:xfrm>
          <a:prstGeom prst="rect">
            <a:avLst/>
          </a:prstGeom>
          <a:solidFill>
            <a:srgbClr val="FEE2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571500" y="3705225"/>
            <a:ext cx="11049000" cy="9525"/>
          </a:xfrm>
          <a:prstGeom prst="rect">
            <a:avLst/>
          </a:prstGeom>
          <a:solidFill>
            <a:srgbClr val="FEE2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571500" y="4514850"/>
            <a:ext cx="11049000" cy="9525"/>
          </a:xfrm>
          <a:prstGeom prst="rect">
            <a:avLst/>
          </a:prstGeom>
          <a:solidFill>
            <a:srgbClr val="FEE2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571500" y="5324475"/>
            <a:ext cx="11049000" cy="9525"/>
          </a:xfrm>
          <a:prstGeom prst="rect">
            <a:avLst/>
          </a:prstGeom>
          <a:solidFill>
            <a:srgbClr val="FEE2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9625" y="2462212"/>
            <a:ext cx="209550" cy="219075"/>
          </a:xfrm>
          <a:prstGeom prst="rect">
            <a:avLst/>
          </a:prstGeom>
        </p:spPr>
      </p:pic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9625" y="3271837"/>
            <a:ext cx="209550" cy="219075"/>
          </a:xfrm>
          <a:prstGeom prst="rect">
            <a:avLst/>
          </a:prstGeom>
        </p:spPr>
      </p:pic>
      <p:pic>
        <p:nvPicPr>
          <p:cNvPr id="34" name="Picture 3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9625" y="4081462"/>
            <a:ext cx="209550" cy="219075"/>
          </a:xfrm>
          <a:prstGeom prst="rect">
            <a:avLst/>
          </a:prstGeom>
        </p:spPr>
      </p:pic>
      <p:pic>
        <p:nvPicPr>
          <p:cNvPr id="35" name="Picture 3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9625" y="4891087"/>
            <a:ext cx="209550" cy="219075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571500" y="476250"/>
            <a:ext cx="11601450" cy="476250"/>
          </a:xfrm>
          <a:prstGeom prst="rect">
            <a:avLst/>
          </a:prstGeom>
          <a:noFill/>
        </p:spPr>
        <p:txBody>
          <a:bodyPr wrap="square" lIns="361950" tIns="0" rIns="0" bIns="0" anchor="t">
            <a:spAutoFit/>
          </a:bodyPr>
          <a:lstStyle/>
          <a:p>
            <a:pPr algn="l"/>
            <a:r>
              <a:rPr sz="2850" b="1" i="0" u="none">
                <a:solidFill>
                  <a:srgbClr val="0F172A"/>
                </a:solidFill>
                <a:latin typeface="Plus Jakarta Sans"/>
              </a:rPr>
              <a:t>Gyakoribb hibák a programozásban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71500" y="1038225"/>
            <a:ext cx="11049000" cy="28575"/>
          </a:xfrm>
          <a:prstGeom prst="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947987"/>
            <a:ext cx="5334000" cy="183832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0" y="2947987"/>
            <a:ext cx="5334000" cy="183832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533400"/>
            <a:ext cx="361950" cy="3619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66775" y="3243262"/>
            <a:ext cx="4980622" cy="219075"/>
          </a:xfrm>
          <a:prstGeom prst="rect">
            <a:avLst/>
          </a:prstGeom>
          <a:noFill/>
        </p:spPr>
        <p:txBody>
          <a:bodyPr wrap="square" lIns="219075" tIns="0" rIns="0" bIns="0" anchor="t">
            <a:spAutoFit/>
          </a:bodyPr>
          <a:lstStyle/>
          <a:p>
            <a:pPr algn="l"/>
            <a:r>
              <a:rPr sz="1404" b="1" i="0" u="none">
                <a:solidFill>
                  <a:srgbClr val="059669"/>
                </a:solidFill>
                <a:latin typeface="Plus Jakarta Sans"/>
              </a:rPr>
              <a:t>Mérnöki Gondolkodás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6775" y="3462337"/>
            <a:ext cx="4743450" cy="1028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334155"/>
                </a:solidFill>
                <a:latin typeface="Plus Jakarta Sans"/>
              </a:rPr>
              <a:t>A mechanikus nyomógombok pergésének kiküszöbölésére mindig </a:t>
            </a:r>
            <a:r>
              <a:rPr sz="1350" b="1" i="0" u="none">
                <a:solidFill>
                  <a:srgbClr val="334155"/>
                </a:solidFill>
                <a:latin typeface="Plus Jakarta Sans"/>
              </a:rPr>
              <a:t>élérzékelést</a:t>
            </a:r>
            <a:r>
              <a:rPr sz="1350" b="0" i="0" u="none">
                <a:solidFill>
                  <a:srgbClr val="334155"/>
                </a:solidFill>
                <a:latin typeface="Plus Jakarta Sans"/>
              </a:rPr>
              <a:t> (Rising Edge / Falling Edge) vagy szoftveres bemeneti szűrést alkalmazunk, hogy egy gombnyomás pontosan egy impulzus legyen.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1775" y="3243262"/>
            <a:ext cx="4980622" cy="219075"/>
          </a:xfrm>
          <a:prstGeom prst="rect">
            <a:avLst/>
          </a:prstGeom>
          <a:noFill/>
        </p:spPr>
        <p:txBody>
          <a:bodyPr wrap="square" lIns="180975" tIns="0" rIns="0" bIns="0" anchor="t">
            <a:spAutoFit/>
          </a:bodyPr>
          <a:lstStyle/>
          <a:p>
            <a:pPr algn="l"/>
            <a:r>
              <a:rPr sz="1404" b="1" i="0" u="none">
                <a:solidFill>
                  <a:srgbClr val="7C3AED"/>
                </a:solidFill>
                <a:latin typeface="Plus Jakarta Sans"/>
              </a:rPr>
              <a:t>IAA Extra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1775" y="3462337"/>
            <a:ext cx="4743450" cy="7715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334155"/>
                </a:solidFill>
                <a:latin typeface="Plus Jakarta Sans"/>
              </a:rPr>
              <a:t>A modern ipari PLC-k memóriájában egyszerre </a:t>
            </a:r>
            <a:r>
              <a:rPr sz="1350" b="1" i="0" u="none">
                <a:solidFill>
                  <a:srgbClr val="334155"/>
                </a:solidFill>
                <a:latin typeface="Plus Jakarta Sans"/>
              </a:rPr>
              <a:t>több ezer számláló</a:t>
            </a:r>
            <a:r>
              <a:rPr sz="1350" b="0" i="0" u="none">
                <a:solidFill>
                  <a:srgbClr val="334155"/>
                </a:solidFill>
                <a:latin typeface="Plus Jakarta Sans"/>
              </a:rPr>
              <a:t> kaphat helyet, így teljes körű gyártási statisztika és adatgyűjtés valósítható meg külső eszközök nélkül.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6775" y="3271837"/>
            <a:ext cx="219075" cy="178296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81775" y="3271837"/>
            <a:ext cx="180975" cy="17829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71500" y="476250"/>
            <a:ext cx="11601450" cy="476250"/>
          </a:xfrm>
          <a:prstGeom prst="rect">
            <a:avLst/>
          </a:prstGeom>
          <a:noFill/>
        </p:spPr>
        <p:txBody>
          <a:bodyPr wrap="square" lIns="361950" tIns="0" rIns="0" bIns="0" anchor="t">
            <a:spAutoFit/>
          </a:bodyPr>
          <a:lstStyle/>
          <a:p>
            <a:pPr algn="l"/>
            <a:r>
              <a:rPr sz="2850" b="1" i="0" u="none">
                <a:solidFill>
                  <a:srgbClr val="0F172A"/>
                </a:solidFill>
                <a:latin typeface="Plus Jakarta Sans"/>
              </a:rPr>
              <a:t>Mérnöki megközelítés &amp; IAA Extra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71500" y="1038225"/>
            <a:ext cx="11049000" cy="28575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538412"/>
            <a:ext cx="3530649" cy="265747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30749" y="2538412"/>
            <a:ext cx="3530649" cy="265747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89999" y="2538412"/>
            <a:ext cx="3530649" cy="265747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533400"/>
            <a:ext cx="276225" cy="3619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66775" y="3490912"/>
            <a:ext cx="3087104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0F172A"/>
                </a:solidFill>
                <a:latin typeface="Plus Jakarta Sans"/>
              </a:rPr>
              <a:t>Alapfogalmak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6775" y="3871912"/>
            <a:ext cx="2940099" cy="7715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334155"/>
                </a:solidFill>
                <a:latin typeface="Plus Jakarta Sans"/>
              </a:rPr>
              <a:t>• Mi a számláló feladata?</a:t>
            </a:r>
            <a:r>
              <a:t>
</a:t>
            </a:r>
            <a:r>
              <a:rPr sz="1350" b="0" i="0" u="none">
                <a:solidFill>
                  <a:srgbClr val="334155"/>
                </a:solidFill>
                <a:latin typeface="Plus Jakarta Sans"/>
              </a:rPr>
              <a:t> • Mit jelent a CTU és a CTD?</a:t>
            </a:r>
            <a:r>
              <a:t>
</a:t>
            </a:r>
            <a:r>
              <a:rPr sz="1350" b="0" i="0" u="none">
                <a:solidFill>
                  <a:srgbClr val="334155"/>
                </a:solidFill>
                <a:latin typeface="Plus Jakarta Sans"/>
              </a:rPr>
              <a:t> • Mire szolgál a RESET utasítás?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26024" y="3490912"/>
            <a:ext cx="3087104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0F172A"/>
                </a:solidFill>
                <a:latin typeface="Plus Jakarta Sans"/>
              </a:rPr>
              <a:t>Technológia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26024" y="3871912"/>
            <a:ext cx="2940099" cy="1028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334155"/>
                </a:solidFill>
                <a:latin typeface="Plus Jakarta Sans"/>
              </a:rPr>
              <a:t>• Mi az az érintkezőpergés?</a:t>
            </a:r>
            <a:r>
              <a:t>
</a:t>
            </a:r>
            <a:r>
              <a:rPr sz="1350" b="0" i="0" u="none">
                <a:solidFill>
                  <a:srgbClr val="334155"/>
                </a:solidFill>
                <a:latin typeface="Plus Jakarta Sans"/>
              </a:rPr>
              <a:t> • Miért fontos a bemeneti szűrés?</a:t>
            </a:r>
            <a:r>
              <a:t>
</a:t>
            </a:r>
            <a:r>
              <a:rPr sz="1350" b="0" i="0" u="none">
                <a:solidFill>
                  <a:srgbClr val="334155"/>
                </a:solidFill>
                <a:latin typeface="Plus Jakarta Sans"/>
              </a:rPr>
              <a:t> • Hogyan küszöbölhető ki a téves számlálás?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85274" y="3490912"/>
            <a:ext cx="3087104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0F172A"/>
                </a:solidFill>
                <a:latin typeface="Plus Jakarta Sans"/>
              </a:rPr>
              <a:t>Alkalmazás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85274" y="3871912"/>
            <a:ext cx="2940099" cy="7715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334155"/>
                </a:solidFill>
                <a:latin typeface="Plus Jakarta Sans"/>
              </a:rPr>
              <a:t>• Nevezzen meg két ipari példát!</a:t>
            </a:r>
            <a:r>
              <a:t>
</a:t>
            </a:r>
            <a:r>
              <a:rPr sz="1350" b="0" i="0" u="none">
                <a:solidFill>
                  <a:srgbClr val="334155"/>
                </a:solidFill>
                <a:latin typeface="Plus Jakarta Sans"/>
              </a:rPr>
              <a:t> • Hogyan történik a nullázás?</a:t>
            </a:r>
            <a:r>
              <a:t>
</a:t>
            </a:r>
            <a:r>
              <a:rPr sz="1350" b="0" i="0" u="none">
                <a:solidFill>
                  <a:srgbClr val="334155"/>
                </a:solidFill>
                <a:latin typeface="Plus Jakarta Sans"/>
              </a:rPr>
              <a:t> • Mi a szerepe az online monitornak?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66775" y="2928937"/>
            <a:ext cx="219075" cy="34290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626024" y="2928937"/>
            <a:ext cx="342900" cy="34290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385274" y="2928937"/>
            <a:ext cx="390525" cy="3429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571500" y="476250"/>
            <a:ext cx="11601450" cy="476250"/>
          </a:xfrm>
          <a:prstGeom prst="rect">
            <a:avLst/>
          </a:prstGeom>
          <a:noFill/>
        </p:spPr>
        <p:txBody>
          <a:bodyPr wrap="square" lIns="276225" tIns="0" rIns="0" bIns="0" anchor="t">
            <a:spAutoFit/>
          </a:bodyPr>
          <a:lstStyle/>
          <a:p>
            <a:pPr algn="l"/>
            <a:r>
              <a:rPr sz="2850" b="1" i="0" u="none">
                <a:solidFill>
                  <a:srgbClr val="0F172A"/>
                </a:solidFill>
                <a:latin typeface="Plus Jakarta Sans"/>
              </a:rPr>
              <a:t>Önellenőrző kérdések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71500" y="1038225"/>
            <a:ext cx="11049000" cy="28575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0175" y="2040284"/>
            <a:ext cx="9391650" cy="277743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895475" y="2535584"/>
            <a:ext cx="8401050" cy="8533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3359"/>
              </a:lnSpc>
            </a:pPr>
            <a:r>
              <a:rPr sz="2400" b="1" i="0" u="none">
                <a:solidFill>
                  <a:srgbClr val="0F172A"/>
                </a:solidFill>
                <a:latin typeface="Plus Jakarta Sans"/>
              </a:rPr>
              <a:t>„A modern automatizálás alapja a megbízható adatgyűjtés, és ennek első lépése a pontos számlálás.”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76737" y="3579465"/>
            <a:ext cx="3438525" cy="7334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1" i="0" u="none">
                <a:solidFill>
                  <a:srgbClr val="047857"/>
                </a:solidFill>
                <a:latin typeface="Plus Jakarta Sans"/>
              </a:rPr>
              <a:t>— IAA mérnöki alapelv</a:t>
            </a:r>
            <a:r>
              <a:t>
</a:t>
            </a:r>
            <a:r>
              <a:rPr sz="1500" b="1" i="0" u="none">
                <a:solidFill>
                  <a:srgbClr val="10B981"/>
                </a:solidFill>
                <a:latin typeface="Plus Jakarta Sans"/>
              </a:rPr>
              <a:t>Köszönöm a figyelmet! Kérdések?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641</Words>
  <Application>Microsoft Office PowerPoint</Application>
  <PresentationFormat>Szélesvásznú</PresentationFormat>
  <Paragraphs>70</Paragraphs>
  <Slides>12</Slides>
  <Notes>0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4</vt:i4>
      </vt:variant>
      <vt:variant>
        <vt:lpstr>Téma</vt:lpstr>
      </vt:variant>
      <vt:variant>
        <vt:i4>1</vt:i4>
      </vt:variant>
      <vt:variant>
        <vt:lpstr>Diacímek</vt:lpstr>
      </vt:variant>
      <vt:variant>
        <vt:i4>12</vt:i4>
      </vt:variant>
    </vt:vector>
  </HeadingPairs>
  <TitlesOfParts>
    <vt:vector size="17" baseType="lpstr">
      <vt:lpstr>Arial</vt:lpstr>
      <vt:lpstr>Calibri</vt:lpstr>
      <vt:lpstr>JetBrains Mono</vt:lpstr>
      <vt:lpstr>Plus Jakarta Sans</vt:lpstr>
      <vt:lpstr>Office Theme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PowerPoint-bemutató</dc:title>
  <dc:subject/>
  <dc:creator>Fazekas Zsolt</dc:creator>
  <cp:keywords/>
  <dc:description>generated using python-pptx</dc:description>
  <cp:lastModifiedBy>zsolt Fazekas</cp:lastModifiedBy>
  <cp:revision>1</cp:revision>
  <dcterms:created xsi:type="dcterms:W3CDTF">2013-01-27T09:14:16Z</dcterms:created>
  <dcterms:modified xsi:type="dcterms:W3CDTF">2026-08-02T05:23:53Z</dcterms:modified>
  <cp:category/>
</cp:coreProperties>
</file>