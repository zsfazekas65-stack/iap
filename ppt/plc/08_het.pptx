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4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919662" y="2662237"/>
            <a:ext cx="2352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F766E"/>
                </a:solidFill>
                <a:latin typeface="Plus Jakarta Sans"/>
              </a:rPr>
              <a:t>PLC ALAPISMERETEK • 8.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5275" y="3100387"/>
            <a:ext cx="1160145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200" b="1" i="0" u="none">
                <a:solidFill>
                  <a:srgbClr val="0F172A"/>
                </a:solidFill>
                <a:latin typeface="Plus Jakarta Sans"/>
              </a:rPr>
              <a:t>Analóg jelek és analóg bemenetek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9750" y="3957637"/>
            <a:ext cx="85725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475569"/>
                </a:solidFill>
                <a:latin typeface="Plus Jakarta Sans"/>
              </a:rPr>
              <a:t>A folyamatos fizikai mennyiségek mérése és feldolgozása (Óraszám: 5 óra)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662" y="2690812"/>
            <a:ext cx="180975" cy="133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079277"/>
            <a:ext cx="9391650" cy="26992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5475" y="2574577"/>
            <a:ext cx="8401050" cy="12800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„A digitális jel azt mondja meg, hogy történt-e valami. Az analóg jel azt is megmutatja, milyen mértékben történt.”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57750" y="4045148"/>
            <a:ext cx="2476500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766E"/>
                </a:solidFill>
                <a:latin typeface="Plus Jakarta Sans"/>
              </a:rPr>
              <a:t>Heti mérnöki gondolat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7750" y="4083248"/>
            <a:ext cx="17145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2800" y="4083248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33650"/>
            <a:ext cx="3530649" cy="2667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533650"/>
            <a:ext cx="3530649" cy="2667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533650"/>
            <a:ext cx="3530649" cy="2667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86150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Digitális vs. Analóg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867150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Megérti a két jelformátum közötti alapvető különbséget és a valós folyamatok követelményeit.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486150"/>
            <a:ext cx="3087104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Szabványok (0-10V, 4-20mA)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4133850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Megismeri az ipari szabványos feszültség- és áramjeleket, valamint a 4-20 mA üzembiztonságát.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274" y="3486150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Gyakorlati feldolgozás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274" y="3867150"/>
            <a:ext cx="29400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Analóg szenzorok és potenciométerek jeleinek beolvasása, határérték-vizsgálata PLC-ben.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924175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2924175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274" y="2924175"/>
            <a:ext cx="428625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Tanulási célok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833687"/>
            <a:ext cx="1104900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833687"/>
          <a:ext cx="11039473" cy="2066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57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0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93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Jellegzetesség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Digitális jel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Analóg jel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Értékkészlet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0 vagy 1 (Kétállapotú)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Folyamatos érték (Végtelen variáció)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Példa eszköz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Nyomógomb, Végálláskapcsoló, Relé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Hőmérséklet-érzékelő, Nyomástávadó, Szintérzékelő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3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Feldolgozás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Egyszerű bitműveletek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A/D átalakítás, skálázás, küszöbérték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3343275"/>
            <a:ext cx="1855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32000" y="3343275"/>
            <a:ext cx="3890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322665" y="3343275"/>
            <a:ext cx="5293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6262" y="3857625"/>
            <a:ext cx="1855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32000" y="3857625"/>
            <a:ext cx="3890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22665" y="3857625"/>
            <a:ext cx="5293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262" y="4371975"/>
            <a:ext cx="1855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432000" y="4371975"/>
            <a:ext cx="3890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22665" y="4371975"/>
            <a:ext cx="5293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262" y="4886325"/>
            <a:ext cx="185573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432000" y="4886325"/>
            <a:ext cx="3890664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22665" y="4886325"/>
            <a:ext cx="5293072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Digitális és analóg jelek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9825"/>
            <a:ext cx="3530649" cy="2914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09825"/>
            <a:ext cx="3530649" cy="2914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09825"/>
            <a:ext cx="3530649" cy="2914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62325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0–10 V Feszültségjel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43325"/>
            <a:ext cx="29400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Egyszerű kezelhetőség.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Frekvenciaváltók és világítás-szabályozás.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Érzékenyebb az elektromos zajokra hosszabb kábeleknél.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362325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4–20 mA Áramjel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3743325"/>
            <a:ext cx="29400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Ipari standard folyamatirányítás.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Nyomás-, hőmérséklet- és szintmérés.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Hosszú távolságra is zajmentesen továbbítható.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274" y="3362325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Miért 4–20 mA?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274" y="3743325"/>
            <a:ext cx="29400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4 mA jelenti a mérési tartomány alsó határát. Ha a jel 0 mA, az azonnal vezetékszakadásra vagy táphibára utal.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800350"/>
            <a:ext cx="3048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2800350"/>
            <a:ext cx="4286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274" y="2800350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Leggyakoribb analóg szabványok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76575"/>
            <a:ext cx="5334000" cy="15811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076575"/>
            <a:ext cx="5334000" cy="15811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371850"/>
            <a:ext cx="4980622" cy="21907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3B82F6"/>
                </a:solidFill>
                <a:latin typeface="Plus Jakarta Sans"/>
              </a:rPr>
              <a:t>A/D Átalakítás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590925"/>
            <a:ext cx="4743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Az analóg bemeneti modul a beérkező folyamatos feszültséget vagy áramot digitális számmá (pl. 0–1023 vagy 0–27648) alakítja át, amelyet a PLC belső regisztere tárol.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371850"/>
            <a:ext cx="4980622" cy="219075"/>
          </a:xfrm>
          <a:prstGeom prst="rect">
            <a:avLst/>
          </a:prstGeom>
          <a:noFill/>
        </p:spPr>
        <p:txBody>
          <a:bodyPr wrap="square" lIns="2190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D9488"/>
                </a:solidFill>
                <a:latin typeface="Plus Jakarta Sans"/>
              </a:rPr>
              <a:t>Szoftveres Skálázás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590925"/>
            <a:ext cx="47434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 PLC programjában ezt a nyers digitális értéket vissza kell számítani (skálázni) a valós mérnöki egységekre (pl. 0–100 °C vagy 0–10 bar).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400425"/>
            <a:ext cx="219075" cy="1782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400425"/>
            <a:ext cx="219075" cy="1782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Analóg bemenet működése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52750"/>
            <a:ext cx="3867150" cy="1828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533400"/>
            <a:ext cx="314325" cy="3619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3352800"/>
            <a:ext cx="306705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625"/>
              </a:lnSpc>
            </a:pPr>
            <a:r>
              <a:rPr sz="5625" b="1" i="0" u="none">
                <a:solidFill>
                  <a:srgbClr val="0F766E"/>
                </a:solidFill>
                <a:latin typeface="JetBrains Mono"/>
              </a:rPr>
              <a:t>300-700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162425"/>
            <a:ext cx="3067050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115E59"/>
                </a:solidFill>
                <a:latin typeface="Plus Jakarta Sans"/>
              </a:rPr>
              <a:t>Határérték teszt tartomány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9650" y="3171825"/>
            <a:ext cx="7140892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F172A"/>
                </a:solidFill>
                <a:latin typeface="Plus Jakarta Sans"/>
              </a:rPr>
              <a:t>Hardveres mérések és tesztek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9650" y="3533775"/>
            <a:ext cx="68008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Potenciométer: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Csatlakoztatás analóg bemenetre feszültségváltoztatáshoz.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Online monitor: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Nyers értékek folyamatos megfigyelése.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Küszöbök: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Határértékek beállítása 300 és 700 között.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</a:t>
            </a:r>
            <a:r>
              <a:rPr sz="1350" b="1" i="0" u="none">
                <a:solidFill>
                  <a:srgbClr val="334155"/>
                </a:solidFill>
                <a:latin typeface="Plus Jakarta Sans"/>
              </a:rPr>
              <a:t>Dinamika: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A jel változásának tesztelése lassú tekerés közben.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14325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Laboratóriumi gyakorlatok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833687"/>
            <a:ext cx="11049000" cy="20669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833687"/>
          <a:ext cx="11039473" cy="20669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5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7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92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Szint tartomány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Analóg küszöb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Vezérelt kimenet / Jelzés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Rendszerállapot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&lt; 30%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Nyers érték &lt; 300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Sárga jelzés be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Alacsony szint figyelmeztetés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731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30% – 80%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300 – 800 között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Normál üzem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Optimális folyamat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6732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&gt; 95%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Nyers érték &gt; 950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Piros sziréna / Riasztás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Plus Jakarta Sans"/>
                        </a:rPr>
                        <a:t>Túlfolyás veszély / STOP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3343275"/>
            <a:ext cx="21458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22066" y="3343275"/>
            <a:ext cx="2337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59263" y="3343275"/>
            <a:ext cx="3063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122741" y="3343275"/>
            <a:ext cx="3492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3857625"/>
            <a:ext cx="21458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22066" y="3857625"/>
            <a:ext cx="2337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59263" y="3857625"/>
            <a:ext cx="3063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122741" y="3857625"/>
            <a:ext cx="3492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371975"/>
            <a:ext cx="21458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22066" y="4371975"/>
            <a:ext cx="2337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59263" y="4371975"/>
            <a:ext cx="3063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122741" y="4371975"/>
            <a:ext cx="3492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76262" y="4886325"/>
            <a:ext cx="214580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22066" y="4886325"/>
            <a:ext cx="23371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59263" y="4886325"/>
            <a:ext cx="30634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22741" y="4886325"/>
            <a:ext cx="349299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Gyakorlati feladat: Tartályszint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71500" y="2247900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43000" y="2438400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Digitális és analóg keverése: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Analóg szenzor bekötése digitális bemenetre (vagy fordítva), ami jelhiányt okoz.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2895600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247900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247900"/>
            <a:ext cx="47625" cy="6572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610975" y="2247900"/>
            <a:ext cx="9525" cy="6572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71500" y="3057525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43000" y="3248025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Hibás mérési tartomány: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Feszültséges jel (0–10V) konfigurálása árambemenetre (4–20mA).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3705225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3057525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1500" y="3057525"/>
            <a:ext cx="47625" cy="6572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610975" y="3057525"/>
            <a:ext cx="9525" cy="6572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71500" y="3867150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057650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Rossz skálázás: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Helytelenül megadott alsó-felső határértékek a szoftveres átváltás során.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4514850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71500" y="3867150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3867150"/>
            <a:ext cx="47625" cy="6572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610975" y="3867150"/>
            <a:ext cx="9525" cy="6572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571500" y="4676775"/>
            <a:ext cx="11049000" cy="657225"/>
          </a:xfrm>
          <a:prstGeom prst="roundRect">
            <a:avLst>
              <a:gd name="adj" fmla="val 11594"/>
            </a:avLst>
          </a:prstGeom>
          <a:solidFill>
            <a:srgbClr val="FFFFFF"/>
          </a:solidFill>
          <a:ln w="9525">
            <a:solidFill>
              <a:srgbClr val="FFE4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4867275"/>
            <a:ext cx="102870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334155"/>
                </a:solidFill>
                <a:latin typeface="Plus Jakarta Sans"/>
              </a:rPr>
              <a:t>Árnyékolás hiánya: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Elektromos zavarok, frekvenciaváltók miatti ugráló, zajos analóg értékek az online monitorban.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71500" y="5324475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71500" y="4676775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1500" y="4676775"/>
            <a:ext cx="47625" cy="65722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1610975" y="4676775"/>
            <a:ext cx="9525" cy="6572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1500" y="2895600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71500" y="3705225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1500" y="4514850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71500" y="5324475"/>
            <a:ext cx="11049000" cy="9525"/>
          </a:xfrm>
          <a:prstGeom prst="rect">
            <a:avLst/>
          </a:prstGeom>
          <a:solidFill>
            <a:srgbClr val="FFE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462212"/>
            <a:ext cx="209550" cy="2190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3271837"/>
            <a:ext cx="209550" cy="2190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081462"/>
            <a:ext cx="209550" cy="2190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4891087"/>
            <a:ext cx="209550" cy="21907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Gyakoribb hibák az analóg mérésekben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47987"/>
            <a:ext cx="5334000" cy="1838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47987"/>
            <a:ext cx="5334000" cy="18383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533400"/>
            <a:ext cx="361950" cy="361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6775" y="3243262"/>
            <a:ext cx="4980622" cy="2190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D9488"/>
                </a:solidFill>
                <a:latin typeface="Plus Jakarta Sans"/>
              </a:rPr>
              <a:t>Mérnöki Gondolkodás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6775" y="346233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Az analóg jelek pontossága nagymértékben függ a megfelelő kábelezéstől. Mindig árnyékolt csavart érpárat használunk, és az árnyékolást csak egy oldalon kötjük földre a földhurkok elkerülése végett.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1775" y="3243262"/>
            <a:ext cx="4980622" cy="2190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3B82F6"/>
                </a:solidFill>
                <a:latin typeface="Plus Jakarta Sans"/>
              </a:rPr>
              <a:t>IAA Extra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1775" y="3462337"/>
            <a:ext cx="4743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Az analóg adatok pontos feldolgozása teremti meg a modern PID szabályozástechnika alapját, lehetővé téve a hőmérséklet, nyomás vagy fordulatszám precíz, automatikus tartását.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3271837"/>
            <a:ext cx="180975" cy="1782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271837"/>
            <a:ext cx="180975" cy="1782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Mérnöki megközelítés &amp; IAA Extra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9825"/>
            <a:ext cx="3530649" cy="2914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409825"/>
            <a:ext cx="3530649" cy="2914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409825"/>
            <a:ext cx="3530649" cy="2914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533400"/>
            <a:ext cx="276225" cy="3619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362325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Alapfogalmak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6775" y="3743325"/>
            <a:ext cx="2940099" cy="1285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Mi a különbség digitális és analóg között?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Melyek a legfőbb ipari szabványok?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Miért előnyös a 4–20 mA?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26024" y="3362325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Feldolgozás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024" y="3743325"/>
            <a:ext cx="294009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Mi az A/D átalakító feladata?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Miért szükséges a skálázás?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Hogyan működik a potenciométer teszt?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5274" y="3362325"/>
            <a:ext cx="3087104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Hibák és Védelem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5274" y="3743325"/>
            <a:ext cx="29400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334155"/>
                </a:solidFill>
                <a:latin typeface="Plus Jakarta Sans"/>
              </a:rPr>
              <a:t>• Milyen hibák fordulhatnak elő?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Miért fontos az árnyékolás?</a:t>
            </a:r>
            <a:r>
              <a:t>
</a:t>
            </a:r>
            <a:r>
              <a:rPr sz="1350" b="0" i="0" u="none">
                <a:solidFill>
                  <a:srgbClr val="334155"/>
                </a:solidFill>
                <a:latin typeface="Plus Jakarta Sans"/>
              </a:rPr>
              <a:t> • Hogyan szűrhetők ki a zajok?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800350"/>
            <a:ext cx="219075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6024" y="2800350"/>
            <a:ext cx="342900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85274" y="2800350"/>
            <a:ext cx="342900" cy="3429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71500" y="476250"/>
            <a:ext cx="11601450" cy="476250"/>
          </a:xfrm>
          <a:prstGeom prst="rect">
            <a:avLst/>
          </a:prstGeom>
          <a:noFill/>
        </p:spPr>
        <p:txBody>
          <a:bodyPr wrap="square" lIns="276225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lus Jakarta Sans"/>
              </a:rPr>
              <a:t>Önellenőrző kérdések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500" y="1038225"/>
            <a:ext cx="11049000" cy="28575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253555"/>
            <a:ext cx="9391650" cy="23507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5475" y="2748855"/>
            <a:ext cx="8401050" cy="4266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„A pontos mérés a jó szabályozás alapja.”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76737" y="3366045"/>
            <a:ext cx="3438525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 u="none">
                <a:solidFill>
                  <a:srgbClr val="0F766E"/>
                </a:solidFill>
                <a:latin typeface="Plus Jakarta Sans"/>
              </a:rPr>
              <a:t>— IAA mérnöki alapelv</a:t>
            </a:r>
            <a:r>
              <a:t>
</a:t>
            </a:r>
            <a:r>
              <a:rPr sz="1500" b="1" i="0" u="none">
                <a:solidFill>
                  <a:srgbClr val="14B8A6"/>
                </a:solidFill>
                <a:latin typeface="Plus Jakarta Sans"/>
              </a:rPr>
              <a:t>Köszönöm a figyelmet! Kérdések?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634</Words>
  <Application>Microsoft Office PowerPoint</Application>
  <PresentationFormat>Szélesvásznú</PresentationFormat>
  <Paragraphs>78</Paragraphs>
  <Slides>12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12</vt:i4>
      </vt:variant>
    </vt:vector>
  </HeadingPairs>
  <TitlesOfParts>
    <vt:vector size="17" baseType="lpstr">
      <vt:lpstr>Arial</vt:lpstr>
      <vt:lpstr>Calibri</vt:lpstr>
      <vt:lpstr>JetBrains Mono</vt:lpstr>
      <vt:lpstr>Plus Jakarta Sans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1</cp:revision>
  <dcterms:created xsi:type="dcterms:W3CDTF">2013-01-27T09:14:16Z</dcterms:created>
  <dcterms:modified xsi:type="dcterms:W3CDTF">2026-08-02T05:31:43Z</dcterms:modified>
  <cp:category/>
</cp:coreProperties>
</file>