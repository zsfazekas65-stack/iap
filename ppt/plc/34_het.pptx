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49" d="100"/>
          <a:sy n="49" d="100"/>
        </p:scale>
        <p:origin x="96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5775" y="2339429"/>
            <a:ext cx="11220450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 dirty="0">
                <a:solidFill>
                  <a:srgbClr val="34D399"/>
                </a:solidFill>
                <a:latin typeface="Plus Jakarta Sans SemiBold"/>
              </a:rPr>
              <a:t>INTEGRÁLT AUTOMATIKA </a:t>
            </a:r>
            <a:r>
              <a:rPr lang="hu-HU" sz="1500" dirty="0">
                <a:solidFill>
                  <a:srgbClr val="34D399"/>
                </a:solidFill>
                <a:latin typeface="Plus Jakarta Sans SemiBold"/>
              </a:rPr>
              <a:t>PROGRAM</a:t>
            </a:r>
            <a:r>
              <a:rPr sz="1500" b="0" i="0" u="none" dirty="0">
                <a:solidFill>
                  <a:srgbClr val="34D399"/>
                </a:solidFill>
                <a:latin typeface="Plus Jakarta Sans SemiBold"/>
              </a:rPr>
              <a:t>(IA</a:t>
            </a:r>
            <a:r>
              <a:rPr lang="hu-HU" sz="1500" b="0" i="0" u="none" dirty="0">
                <a:solidFill>
                  <a:srgbClr val="34D399"/>
                </a:solidFill>
                <a:latin typeface="Plus Jakarta Sans SemiBold"/>
              </a:rPr>
              <a:t>P)</a:t>
            </a:r>
            <a:r>
              <a:rPr sz="1500" b="0" i="0" u="none" dirty="0">
                <a:solidFill>
                  <a:srgbClr val="34D399"/>
                </a:solidFill>
                <a:latin typeface="Plus Jakarta Sans SemiBold"/>
              </a:rPr>
              <a:t> • 34.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5775" y="2720429"/>
            <a:ext cx="11706225" cy="1131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455"/>
              </a:lnSpc>
            </a:pPr>
            <a:r>
              <a:rPr sz="4050" b="1" i="0" u="none">
                <a:solidFill>
                  <a:srgbClr val="F8FAFC"/>
                </a:solidFill>
                <a:latin typeface="Space Grotesk"/>
              </a:rPr>
              <a:t>Fenntartható automatizálás és energiahatékonyság az iparban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775" y="4089945"/>
            <a:ext cx="8572500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„A legolcsóbb energia az, amelyet nem kell felhasználni.”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02706"/>
            <a:ext cx="5419725" cy="239553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02706"/>
            <a:ext cx="5419725" cy="2395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897981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🌍 Alapkérdés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17056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Hogyan segíti az automatizálás az energiafogyasztás csökkentését a termelés hatékonyságának megtartása mellett?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4036218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Tanulási célok: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Az energiahatékonyság, az energiamenedzsment és a PLC kulcsszerepének megismerése.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2897981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📖 A technika fejlődése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117056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Az állandó fordulatszámú hajtásoktól eljutottunk a frekvenciaváltókig, energiamenedzsment-rendszerekig és az ISO 50001 szabvány alkalmazásáig.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6550" y="398621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2275" y="398859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Múlt: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Fix fordulatszám, mechanikus fojtások, veszteségek.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6550" y="4343400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2275" y="4345781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Jelen: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VFD szabályozás, intelligens PLC-k, valós idejű EMS.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A világ nagy kérdése és története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85775" y="1838325"/>
            <a:ext cx="11220450" cy="3924300"/>
          </a:xfrm>
          <a:prstGeom prst="roundRect">
            <a:avLst>
              <a:gd name="adj" fmla="val 0"/>
            </a:avLst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85775" y="1838325"/>
          <a:ext cx="11210923" cy="3924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3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41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37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8FAFC"/>
                          </a:solidFill>
                          <a:latin typeface="Space Grotesk SemiBold"/>
                        </a:rPr>
                        <a:t>Évszám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8FAFC"/>
                          </a:solidFill>
                          <a:latin typeface="Space Grotesk SemiBold"/>
                        </a:rPr>
                        <a:t>Fejlődési Mérföldkő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F8FAFC"/>
                          </a:solidFill>
                          <a:latin typeface="Space Grotesk SemiBold"/>
                        </a:rPr>
                        <a:t>Fő Jellemzők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1973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Olajválság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Kezdeti globális figyelem az energiatakarékosság és az ipari hatékonyság felé.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1990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Frekvenciaváltók elterjedése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A váltakozó áramú motorok fordulatszámának szabályozhatósága ipari szinten.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PLC-alapú energiamonitoring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A fogyasztási adatok közvetlen integrálása a vezérlőrendszerekbe.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2011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ISO 50001 szabvány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Nemzetközi keretrendszer az energiagazdálkodási rendszerek kiépítésére.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614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2020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AI alapú optimalizálás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Mesterséges intelligencia alkalmazása a csúcsterhelések csökkentésére.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616">
                <a:tc>
                  <a:txBody>
                    <a:bodyPr/>
                    <a:lstStyle/>
                    <a:p>
                      <a:pPr algn="l"/>
                      <a:r>
                        <a:rPr sz="1275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Napjaink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Smart Energy Factory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75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Teljes körű zöld gyárak megújuló energiaforrások integrálásával.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0537" y="2405062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673572" y="2405062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607718" y="2405062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90537" y="2962275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673572" y="2962275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07718" y="2962275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0537" y="3519487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73572" y="3519487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07718" y="3519487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0537" y="4076700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673572" y="4076700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07718" y="4076700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90537" y="4633912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673572" y="4633912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07718" y="4633912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90537" y="5191125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673572" y="5191125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07718" y="5191125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90537" y="5748337"/>
            <a:ext cx="1183034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673572" y="5748337"/>
            <a:ext cx="293414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607718" y="5748337"/>
            <a:ext cx="709374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Technológiai Idővonal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74131"/>
            <a:ext cx="5467350" cy="24526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574131"/>
            <a:ext cx="5467350" cy="24526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3507581"/>
            <a:ext cx="512064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Hajtások &amp; Védelem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888581"/>
            <a:ext cx="48768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Siemens, Schneider Electric, ABB, Danfoss, Eaton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– frekvenciaváltók, nagy hatékonyságú villanymotorok, energiamérők és kapcsolókészülékek gyártói.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4150" y="3507581"/>
            <a:ext cx="512064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Automatizálás &amp; Szoftver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4150" y="3888581"/>
            <a:ext cx="48768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Omron, Phoenix Contact, Rockwell Automation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– intelligens vezérlők, szenzorok, EMS szoftverek és felügyeleti rendszerek fejlesztői.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926556"/>
            <a:ext cx="314325" cy="3619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4150" y="2926556"/>
            <a:ext cx="457200" cy="3619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Kulcsszereplők az Energiahatékonyságban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438400"/>
            <a:ext cx="5419725" cy="27241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438400"/>
            <a:ext cx="5419725" cy="2724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733675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⚡ Energiahatékonyság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2952750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Ugyanaz a termelési eredmény (vagy több) kisebb energiafelhasználással. Nem jelent termeléskiesést, hanem az erőforrások optimális elosztását.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3824287"/>
            <a:ext cx="48291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1" u="none">
                <a:solidFill>
                  <a:srgbClr val="CBD5E1"/>
                </a:solidFill>
                <a:latin typeface="Plus Jakarta Sans"/>
              </a:rPr>
              <a:t>„A fenntarthatóság a jó műszaki döntések következménye.”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2733675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🔍 Hol takarítható meg energia?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6550" y="295036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2275" y="2952750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Motorok &amp; Szivattyúk: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VFD alapú lágyindítás és szabályozás.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550" y="3550443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2275" y="3552825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Kompresszorok: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Sűrített levegő szivárgások megszüntetése.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6550" y="415051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2275" y="4152900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Szállítószalagok: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Igényvezérelt futás (Auto-stop).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6550" y="4507706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4510087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Világítás: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LED és jelenlétalapú fényvezérlés.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Elméleti Alapok és Fő Megtakarítási Pontok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59843"/>
            <a:ext cx="5419725" cy="24812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59843"/>
            <a:ext cx="5419725" cy="24812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8551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🔄 Frekvenciaváltó (VFD)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074193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 fordulatszám pontosan az aktuális technológiai igényhez igazodik. Ezzel drasztikusan csökken az energiafogyasztás (kockázatos fojtások nélkül) és a mechanikai kopás.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28551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⚙️ PLC az Energiamenedzsmentben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6550" y="307181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2275" y="307419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Energiafogyasztás valós idejű mérése és gyűjtése.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6550" y="3429000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2275" y="3431381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Csúcsterhelés-kezelés (Peak Shaving) a büntetések elkerülésére.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6550" y="4029075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2275" y="4031456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Fogyasztók intelligens ütemezése és vezérlése.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438626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2275" y="438864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Adatok továbbítása SCADA / Historian rendszerekbe.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A Frekvenciaváltó (VFD) és a PLC Szerepe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81287"/>
            <a:ext cx="5419725" cy="22383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81287"/>
            <a:ext cx="5419725" cy="2238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976562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📈 Energiamonitoring (EMS)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95637"/>
            <a:ext cx="48291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Folyamatos mérés és analízis: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2976562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🌱 Fenntartható Gyár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195637"/>
            <a:ext cx="48291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Előnyök a környezet és a vállalat számára: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825" y="3550443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552825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Villamos energia és meddő teljesítmény.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907631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910012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Víz, gáz és sűrített levegő fogyasztás.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426481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267200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Hőenergia és gőzáramlás mérése.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6550" y="3550443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3552825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Alacsonyabb CO₂-kibocsátás és zöldebb imázs.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6550" y="3907631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2275" y="3910012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Csökkentett rezsiköltségek és magasabb nyereség.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6550" y="4264818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2275" y="4267200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Hosszabb gépélettartam a kímélő üzemmódok révén.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Energiamonitoring és a Fenntartható Gyár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674143"/>
            <a:ext cx="5419725" cy="22526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74143"/>
            <a:ext cx="5419725" cy="2252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9694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🏭 Esettanulmány: Szállítószalagok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188493"/>
            <a:ext cx="4829175" cy="12144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Egy logisztikai központban a szállítószalagokat frekvenciaváltós vezérléssel és jelenlét-érzékelőkkel látták el. Eredmény: a motorok csak akkor futnak teljesítheti sebességgel, ha áru van rajtuk, 35% energiamegtakarítást érve 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29694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🧪 Laborfeladat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188493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Rendszertervezés: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Tervezzen energiatakarékos PLC – VFD – HMI rendszert nyomásérzékelővel és energiamérővel egy szivattyús állomáshoz.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4031456"/>
            <a:ext cx="4829175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Programozza be a PID szabályzót a hatékony folyadékszállítás érdekében!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Ipari Esettanulmány &amp; Laborfeladat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852737"/>
            <a:ext cx="5419725" cy="18954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852737"/>
            <a:ext cx="5419725" cy="1895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3148012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📊 15 kW-os Motor Vizsgálata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367087"/>
            <a:ext cx="4829175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CBD5E1"/>
                </a:solidFill>
                <a:latin typeface="Plus Jakarta Sans"/>
              </a:rPr>
              <a:t>Képlet &amp; Kalkuláció:</a:t>
            </a:r>
            <a:r>
              <a:rPr sz="1275" b="0" i="0" u="none">
                <a:solidFill>
                  <a:srgbClr val="CBD5E1"/>
                </a:solidFill>
                <a:latin typeface="Plus Jakarta Sans"/>
              </a:rPr>
              <a:t> Éves üzemidő (4000 óra) esetén egy rosszul méretezett vagy fojtott motor jelentős veszteséget termel. Frekvenciaváltóval és optimalizált profillal akár 25-40% energia-megtakarítás érhető el évente.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3148012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🔧 Műhelytitok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367087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„A legnagyobb megtakarítás gyakran a meglévő rendszerek intelligensebb szabályozásával érhető el – nem kell minden gépet útra cserélni, elég a vezérlést felokosítani.”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Tervezési Példa &amp; Műhelytitok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59843"/>
            <a:ext cx="5419725" cy="24812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59843"/>
            <a:ext cx="5419725" cy="24812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8551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⚠️ Tipikus Hibák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775" y="285511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🎓 IAA Mesterfeladat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3074193"/>
            <a:ext cx="4829175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Tervezzen komplex energiatakarékos automatizálási rendszert PLC, VFD, ipari energiamérők, SCADA és Historian alkalmazásával egy teljes gyártósor számára, beleértve a csúcsterhelés-kezelési stratégiát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" y="307181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074193"/>
            <a:ext cx="4638675" cy="48577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Állandó fordulatszámú hajtások alkalmazása változó terhelésnél.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671887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674268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Túlméretezett motorok és kompresszorok használata.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4029075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4031456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Feleslegesen üresen járó gépsorok lekapcsolásának hiánya.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38626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50" y="438864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Energiaadatok mérésének és elemzésének teljes hiánya.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Tipikus Hibák &amp; IAA Mesterfeladat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502693"/>
            <a:ext cx="5419725" cy="25955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502693"/>
            <a:ext cx="5419725" cy="2595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279796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💬 Mérnöki Idézet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775" y="2797968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❓ Önellenőrző Kérdések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" y="3017043"/>
            <a:ext cx="4829175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sz="1650" b="0" i="0" u="none">
                <a:solidFill>
                  <a:srgbClr val="F8FAFC"/>
                </a:solidFill>
                <a:latin typeface="Space Grotesk SemiBold"/>
              </a:rPr>
              <a:t>„A jövő gyára nemcsak intelligens, hanem energiatudatos is.”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0" y="3746599"/>
            <a:ext cx="2952750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94A3B8"/>
                </a:solidFill>
                <a:latin typeface="Plus Jakarta Sans"/>
              </a:rPr>
              <a:t>— Integrált Automatika Akadémia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6550" y="301466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2275" y="301704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Mit jelent az energiahatékonyság?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6550" y="3371850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2275" y="3374231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Milyen előnyei vannak a frekvenciaváltónak?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6550" y="3729037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2275" y="3731418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 a PLC szerepe az energiamenedzsmentben?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6550" y="4086225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4088606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Mi az ISO 50001 szabvány lényege?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6550" y="4443412"/>
            <a:ext cx="857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75" b="0" i="0" u="none">
                <a:solidFill>
                  <a:srgbClr val="CBD5E1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2275" y="4445793"/>
            <a:ext cx="4638675" cy="242887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Hogyan támogatja a Smart Factory a fenntarthatóságot?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Mérnöki Szemlélet &amp; Önellenőrzés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2759868"/>
            <a:ext cx="5419725" cy="20812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759868"/>
            <a:ext cx="5419725" cy="20812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050" y="3055143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📖 Szótár (Rövidítések)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050" y="3274218"/>
            <a:ext cx="4829175" cy="933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1" i="0" u="none">
                <a:solidFill>
                  <a:srgbClr val="CBD5E1"/>
                </a:solidFill>
                <a:latin typeface="Plus Jakarta Sans"/>
              </a:rPr>
              <a:t>EMS:</a:t>
            </a:r>
            <a:r>
              <a:rPr sz="1050" b="0" i="0" u="none">
                <a:solidFill>
                  <a:srgbClr val="CBD5E1"/>
                </a:solidFill>
                <a:latin typeface="Plus Jakarta Sans"/>
              </a:rPr>
              <a:t> Energy Management System</a:t>
            </a:r>
            <a:r>
              <a:t>
</a:t>
            </a:r>
            <a:r>
              <a:rPr sz="1050" b="1" i="0" u="none">
                <a:solidFill>
                  <a:srgbClr val="CBD5E1"/>
                </a:solidFill>
                <a:latin typeface="Plus Jakarta Sans"/>
              </a:rPr>
              <a:t>ISO 50001:</a:t>
            </a:r>
            <a:r>
              <a:rPr sz="1050" b="0" i="0" u="none">
                <a:solidFill>
                  <a:srgbClr val="CBD5E1"/>
                </a:solidFill>
                <a:latin typeface="Plus Jakarta Sans"/>
              </a:rPr>
              <a:t> Energiagazdálkodási szabvány</a:t>
            </a:r>
            <a:r>
              <a:t>
</a:t>
            </a:r>
            <a:r>
              <a:rPr sz="1050" b="1" i="0" u="none">
                <a:solidFill>
                  <a:srgbClr val="CBD5E1"/>
                </a:solidFill>
                <a:latin typeface="Plus Jakarta Sans"/>
              </a:rPr>
              <a:t>VFD:</a:t>
            </a:r>
            <a:r>
              <a:rPr sz="1050" b="0" i="0" u="none">
                <a:solidFill>
                  <a:srgbClr val="CBD5E1"/>
                </a:solidFill>
                <a:latin typeface="Plus Jakarta Sans"/>
              </a:rPr>
              <a:t> Variable Frequency Drive</a:t>
            </a:r>
            <a:r>
              <a:t>
</a:t>
            </a:r>
            <a:r>
              <a:rPr sz="1050" b="1" i="0" u="none">
                <a:solidFill>
                  <a:srgbClr val="CBD5E1"/>
                </a:solidFill>
                <a:latin typeface="Plus Jakarta Sans"/>
              </a:rPr>
              <a:t>Historian:</a:t>
            </a:r>
            <a:r>
              <a:rPr sz="1050" b="0" i="0" u="none">
                <a:solidFill>
                  <a:srgbClr val="CBD5E1"/>
                </a:solidFill>
                <a:latin typeface="Plus Jakarta Sans"/>
              </a:rPr>
              <a:t> Történeti adatbázis</a:t>
            </a:r>
            <a:r>
              <a:t>
</a:t>
            </a:r>
            <a:r>
              <a:rPr sz="1050" b="1" i="0" u="none">
                <a:solidFill>
                  <a:srgbClr val="CBD5E1"/>
                </a:solidFill>
                <a:latin typeface="Plus Jakarta Sans"/>
              </a:rPr>
              <a:t>IIoT / AI:</a:t>
            </a:r>
            <a:r>
              <a:rPr sz="1050" b="0" i="0" u="none">
                <a:solidFill>
                  <a:srgbClr val="CBD5E1"/>
                </a:solidFill>
                <a:latin typeface="Plus Jakarta Sans"/>
              </a:rPr>
              <a:t> Ipar 4.0 eszközök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3055143"/>
            <a:ext cx="5070633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F8FAFC"/>
                </a:solidFill>
                <a:latin typeface="Space Grotesk"/>
              </a:rPr>
              <a:t>🔜 Következő Hét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1775" y="3274218"/>
            <a:ext cx="48291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34D399"/>
                </a:solidFill>
                <a:latin typeface="Plus Jakarta Sans SemiBold"/>
              </a:rPr>
              <a:t>35. hét: A jövő automatizálási mérnöke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1775" y="3702843"/>
            <a:ext cx="48291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CBD5E1"/>
                </a:solidFill>
                <a:latin typeface="Plus Jakarta Sans"/>
              </a:rPr>
              <a:t>Megvizsgáljuk a modern mérnöki kompetenciákat, a globális ipari trendeket, a karrierutakat és a jövő technológiai kihívásait az automatizálásban.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775" y="485775"/>
            <a:ext cx="11706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Space Grotesk"/>
              </a:rPr>
              <a:t>Szakkifejezések és Következő Hét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804</Words>
  <Application>Microsoft Office PowerPoint</Application>
  <PresentationFormat>Szélesvásznú</PresentationFormat>
  <Paragraphs>126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9" baseType="lpstr">
      <vt:lpstr>Arial</vt:lpstr>
      <vt:lpstr>Calibri</vt:lpstr>
      <vt:lpstr>Plus Jakarta Sans</vt:lpstr>
      <vt:lpstr>Plus Jakarta Sans SemiBold</vt:lpstr>
      <vt:lpstr>Space Grotesk</vt:lpstr>
      <vt:lpstr>Space Grotesk SemiBold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Fazekas Zsolt</dc:creator>
  <cp:keywords/>
  <dc:description>generated using python-pptx</dc:description>
  <cp:lastModifiedBy>zsolt Fazekas</cp:lastModifiedBy>
  <cp:revision>2</cp:revision>
  <dcterms:created xsi:type="dcterms:W3CDTF">2013-01-27T09:14:16Z</dcterms:created>
  <dcterms:modified xsi:type="dcterms:W3CDTF">2026-08-02T13:42:51Z</dcterms:modified>
  <cp:category/>
</cp:coreProperties>
</file>