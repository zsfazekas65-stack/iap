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IAP • 9. ÉVFOLYAM • 34.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8412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Villamos rendszer
tervezése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CDDEEE"/>
                </a:solidFill>
                <a:latin typeface="Aptos"/>
              </a:rPr>
              <a:t>A feladattól a működő kapcsolásig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1097280" cy="65836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938528"/>
            <a:ext cx="1005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2832" y="1938528"/>
            <a:ext cx="3474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828800"/>
            <a:ext cx="1097280" cy="65836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938528"/>
            <a:ext cx="1005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RAJZ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0152" y="1938528"/>
            <a:ext cx="3474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BED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0" y="1828800"/>
            <a:ext cx="1097280" cy="65836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1938528"/>
            <a:ext cx="1005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PRÓBA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71800"/>
            <a:ext cx="39319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GONDOLD ÁT
RAJZOLD LE
ÉPÍTSD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0BED2"/>
                </a:solidFill>
                <a:latin typeface="Aptos"/>
              </a:rPr>
              <a:t>A jó kapcsolás először a tervben működik.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INDÍTÁS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Mi történik a bekötés előtt?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szakember nem a vezetékkel kezdi - hanem a feladattal.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657600" cy="35661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„NYOMD MEG → VILÁGÍT”</a:t>
            </a:r>
          </a:p>
        </p:txBody>
      </p:sp>
      <p:sp>
        <p:nvSpPr>
          <p:cNvPr id="8" name="Oval 7"/>
          <p:cNvSpPr/>
          <p:nvPr/>
        </p:nvSpPr>
        <p:spPr>
          <a:xfrm>
            <a:off x="1874519" y="3108960"/>
            <a:ext cx="1234440" cy="123444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3108960"/>
            <a:ext cx="1234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0BED2"/>
                </a:solidFill>
                <a:latin typeface="Aptos"/>
              </a:rPr>
              <a:t>Ez már terv?</a:t>
            </a:r>
          </a:p>
        </p:txBody>
      </p:sp>
      <p:sp>
        <p:nvSpPr>
          <p:cNvPr id="11" name="Oval 10"/>
          <p:cNvSpPr/>
          <p:nvPr/>
        </p:nvSpPr>
        <p:spPr>
          <a:xfrm>
            <a:off x="5166360" y="192024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92024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0195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Mit kell tudnia?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29260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92608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0779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Miből épül fel?</a:t>
            </a:r>
          </a:p>
        </p:txBody>
      </p:sp>
      <p:sp>
        <p:nvSpPr>
          <p:cNvPr id="17" name="Oval 16"/>
          <p:cNvSpPr/>
          <p:nvPr/>
        </p:nvSpPr>
        <p:spPr>
          <a:xfrm>
            <a:off x="5166360" y="393192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93192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1363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Hogyan kötjük?</a:t>
            </a:r>
          </a:p>
        </p:txBody>
      </p:sp>
      <p:sp>
        <p:nvSpPr>
          <p:cNvPr id="20" name="Oval 19"/>
          <p:cNvSpPr/>
          <p:nvPr/>
        </p:nvSpPr>
        <p:spPr>
          <a:xfrm>
            <a:off x="5166360" y="493776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493776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1947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03B"/>
                </a:solidFill>
                <a:latin typeface="Aptos"/>
              </a:rPr>
              <a:t>Hogyan ellenőrizzük?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TERVEZÉSI 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Hat lépés a működő rendszerig</a:t>
            </a:r>
          </a:p>
        </p:txBody>
      </p:sp>
      <p:sp>
        <p:nvSpPr>
          <p:cNvPr id="5" name="Oval 4"/>
          <p:cNvSpPr/>
          <p:nvPr/>
        </p:nvSpPr>
        <p:spPr>
          <a:xfrm>
            <a:off x="850392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FELADAT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3352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88920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BED2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KÖVETELMÉNY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27448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0992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RAJZ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65976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23741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ESZKÖZ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88936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04504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4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A69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MEGÉPÍTÉS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7464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543032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ELLENŐRZÉS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069080"/>
            <a:ext cx="9875520" cy="10515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251960"/>
            <a:ext cx="9326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Ha egy lépés kimarad, a hiba gyakran csak az építésnél derül ki.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1.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homályos ötletből mérhető követelmény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„Legyen egy lámpa” helyett pontos működést írunk 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114800" cy="35661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BED2"/>
                </a:solidFill>
                <a:latin typeface="Aptos"/>
              </a:rPr>
              <a:t>MINTAFELADAT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4747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S1 megnyomásakor
H1 világítson.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83080"/>
            <a:ext cx="5120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883664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88366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37943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24 V 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32888"/>
            <a:ext cx="5120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63347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6334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87752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alaphelyzet: KI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282696"/>
            <a:ext cx="5120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3383279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38327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337560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S1 megnyomva: 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032504"/>
            <a:ext cx="5120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4133088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1330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087368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elengedve: KI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782312"/>
            <a:ext cx="5120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69280" y="4882896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8828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37175"/>
            <a:ext cx="4023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védett tápág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2.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követelményből kapcsolási rajz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rajz megmutatja az energia útját és az eszközök sorrendjét.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291840"/>
            <a:ext cx="941832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761488"/>
            <a:ext cx="822960" cy="1060704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944368"/>
            <a:ext cx="7680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0128"/>
            <a:ext cx="7680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0BED2"/>
                </a:solidFill>
                <a:latin typeface="Aptos"/>
              </a:rPr>
              <a:t>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3108960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363931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F1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320954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320954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785615" y="2999232"/>
            <a:ext cx="512065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6160" y="3639312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S1 NO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8803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001000" y="306324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001000" y="306324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54112" y="3794760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H1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63931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17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4248" y="4700016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ptos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700016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védelem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617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4700016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ptos"/>
              </a:rPr>
              <a:t>S1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00016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záró nyomógomb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617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4700016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ptos"/>
              </a:rPr>
              <a:t>H1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700016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24 V jelzőlámpa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ESZKÖZVÁLASZTÁS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Nem elég, hogy „nyomógomb” vagy „lámpa”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névleges adatok és az érintkező funkciója dönt.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057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F6FEB"/>
                </a:solidFill>
                <a:latin typeface="Aptos"/>
              </a:rPr>
              <a:t>24 V 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TÁP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3566160"/>
            <a:ext cx="1691640" cy="0"/>
          </a:xfrm>
          <a:prstGeom prst="line">
            <a:avLst/>
          </a:prstGeom>
          <a:ln w="127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59" y="384048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A rendszer feszültsége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057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0BED2"/>
                </a:solidFill>
                <a:latin typeface="Aptos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S1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566160"/>
            <a:ext cx="1691640" cy="0"/>
          </a:xfrm>
          <a:prstGeom prst="line">
            <a:avLst/>
          </a:prstGeom>
          <a:ln w="127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384048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Záró érintkező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2057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09926"/>
                </a:solidFill>
                <a:latin typeface="Aptos"/>
              </a:rPr>
              <a:t>24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H1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75120" y="3566160"/>
            <a:ext cx="1691640" cy="0"/>
          </a:xfrm>
          <a:prstGeom prst="line">
            <a:avLst/>
          </a:prstGeom>
          <a:ln w="127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2240" y="384048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Jelzőlámpa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48840"/>
            <a:ext cx="2057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23741"/>
                </a:solidFill>
                <a:latin typeface="Aptos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632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VÉDELEM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0" y="3566160"/>
            <a:ext cx="1691640" cy="0"/>
          </a:xfrm>
          <a:prstGeom prst="line">
            <a:avLst/>
          </a:prstGeom>
          <a:ln w="127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0" y="384048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03B"/>
                </a:solidFill>
                <a:latin typeface="Aptos"/>
              </a:rPr>
              <a:t>A vezetékhez illesztve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77840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03B"/>
                </a:solidFill>
                <a:latin typeface="Aptos"/>
              </a:rPr>
              <a:t>Tervezési kérdés: megfelel az eszköz a feszültségnek, funkciónak és terhelésnek?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BIZTONSÁGI PERC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bekapcsolás nem az első ellenőrzés.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4708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Rajz ↔ bekötés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4708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MEGEGYEZIK?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5292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Kapcsok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5292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RÖGZÍTVE?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587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Rövidzár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5876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KIZÁRHATÓ?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64607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2E6"/>
                </a:solidFill>
                <a:latin typeface="Aptos"/>
              </a:rPr>
              <a:t>Eszközadatok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64607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MEGFELELŐK?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0BED2"/>
                </a:solidFill>
                <a:latin typeface="Aptos"/>
              </a:rPr>
              <a:t>Csak ellenőrzés után: oktatói engedély → 24 V bekapcsolás → működési próba.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3.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Az ellenőrzési terv bizonyítja a működést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2996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2024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S1 nincs megnyomva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297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5B6978"/>
                </a:solidFill>
                <a:latin typeface="Aptos"/>
              </a:rPr>
              <a:t>H1 NEM világít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26440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9A69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5468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S1 megnyomva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297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69A69"/>
                </a:solidFill>
                <a:latin typeface="Aptos"/>
              </a:rPr>
              <a:t>H1 VILÁGÍT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498848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38912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S1 elengedve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4297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ptos"/>
              </a:rPr>
              <a:t>H1 KIALSZIK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486400"/>
            <a:ext cx="8503920" cy="5943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55595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 teszt akkor jó, ha az elvárt eredmény előre le van írva.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IAP MINI 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Két nyomógomb - egy lámpa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S1 VAGY S2 megnyomása kapcsolja be H1-et.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429000"/>
            <a:ext cx="941832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898648"/>
            <a:ext cx="822960" cy="1060704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81528"/>
            <a:ext cx="7680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447288"/>
            <a:ext cx="7680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0BED2"/>
                </a:solidFill>
                <a:latin typeface="Aptos"/>
              </a:rPr>
              <a:t>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3246120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377647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F1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46120" y="2788920"/>
            <a:ext cx="0" cy="64008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46120" y="3429000"/>
            <a:ext cx="0" cy="64008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2788920"/>
            <a:ext cx="22402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46120" y="4069080"/>
            <a:ext cx="22402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2788920"/>
            <a:ext cx="0" cy="128016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86200" y="270662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98848" y="270662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968496" y="2496312"/>
            <a:ext cx="512064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231343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S1 NO</a:t>
            </a:r>
          </a:p>
        </p:txBody>
      </p:sp>
      <p:sp>
        <p:nvSpPr>
          <p:cNvPr id="21" name="Oval 20"/>
          <p:cNvSpPr/>
          <p:nvPr/>
        </p:nvSpPr>
        <p:spPr>
          <a:xfrm>
            <a:off x="3886200" y="39867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98848" y="39867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968496" y="3776472"/>
            <a:ext cx="512064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03320" y="359359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S2 NO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301752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001000" y="320040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001000" y="320040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3931920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H1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77647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074920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184648"/>
            <a:ext cx="9692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Logikai kapcsolat: VAGY → a két záró érintkező párhuzamosan kapcsolódik.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Tervezz → építs → bizonyíts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ptos"/>
              </a:rPr>
              <a:t>KÖVETELMÉNY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Írd le a működést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19856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ptos"/>
              </a:rPr>
              <a:t>RAJZ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Készíts kapcsolási rajzot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24144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4144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ptos"/>
              </a:rPr>
              <a:t>ELLENŐRZÉS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Vizsgáld át feszültségmentesen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8432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ptos"/>
              </a:rPr>
              <a:t>PRÓBA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Teszteld a működési állapotokat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0072" y="1920240"/>
            <a:ext cx="193852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32720" y="217627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17627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203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4664" y="3108960"/>
            <a:ext cx="16093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ptos"/>
              </a:rPr>
              <a:t>DOKUMENTÁLÁS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3657600"/>
            <a:ext cx="160934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Rögzítsd az eredményt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63040" y="5440680"/>
            <a:ext cx="9235440" cy="0"/>
          </a:xfrm>
          <a:prstGeom prst="line">
            <a:avLst/>
          </a:prstGeom>
          <a:ln w="38100">
            <a:solidFill>
              <a:srgbClr val="2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91840" y="5596128"/>
            <a:ext cx="5577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03B"/>
                </a:solidFill>
                <a:latin typeface="Aptos"/>
              </a:rPr>
              <a:t>CÉL: a rajz, a bekötés és a működés egyezzen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tervező előre gondolkodik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FELADAT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01568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BE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KÖVETELMÉNY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24528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705856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0992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RAJZ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28816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010144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23741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MEGÉPÍTÉS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2340864"/>
            <a:ext cx="82296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314432" y="196596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4432" y="196596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A69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880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ELLENŐRZÉS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069080"/>
            <a:ext cx="10058400" cy="105156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25196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 jó villamos rendszer nem a véletlentől működik.
A működését már a terv meghatározza.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IAP szakmai kihívás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EEE"/>
                </a:solidFill>
                <a:latin typeface="Aptos"/>
              </a:rPr>
              <a:t>Tervezés + építés + mérés + hibakeresés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228600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4279392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TERVEZD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160520"/>
            <a:ext cx="228600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4279392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ÉPÍTSD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60520"/>
            <a:ext cx="228600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4279392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MÉRD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4160520"/>
            <a:ext cx="228600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1" y="4279392"/>
            <a:ext cx="21396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KERESD A HIBÁT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607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0BED2"/>
                </a:solidFill>
                <a:latin typeface="Aptos"/>
              </a:rPr>
              <a:t>A 35. héten minden eddigi készség egyetlen komplex feladatban találkozik.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