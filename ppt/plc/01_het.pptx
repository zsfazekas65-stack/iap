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al" panose="020B0604020202020204" pitchFamily="34" charset="0"/>
      <p:regular r:id="rId15"/>
    </p:embeddedFont>
    <p:embeddedFont>
      <p:font typeface="Arial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A felhasználó által feltöltött: 1._Miért van szükség asPLC-re(2).docx</a:t>
            </a:r>
          </a:p>
          <a:p>
            <a:r>
              <a:rPr lang="en-US"/>
              <a:t>- Vizuális sablon: 36_IAP_Zaroprojekt_analog_rendszer_tervezese_36_het.pptx</a:t>
            </a:r>
          </a:p>
          <a:p>
            <a:r>
              <a:rPr lang="en-US"/>
              <a:t>- Témakör: PLC szerepe, scan cycle, fő részek, relés összehasonlítás és alaplabor</a:t>
            </a:r>
          </a:p>
          <a:p>
            <a:r>
              <a:rPr lang="en-US"/>
              <a:t>- Külső webes forrás nem került felhasználásra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590550"/>
            <a:ext cx="10001250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1. HÉT • 5 × 45 PERC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2419350"/>
            <a:ext cx="15144750" cy="296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5"/>
              </a:lnSpc>
            </a:pPr>
            <a:r>
              <a:rPr lang="en-US" sz="753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Miért van szükség PLC-re?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75" y="6257925"/>
            <a:ext cx="142875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 programozható ipari vezérlés alapgondolata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0075" y="8001000"/>
            <a:ext cx="17087850" cy="142875"/>
            <a:chOff x="0" y="0"/>
            <a:chExt cx="22783800" cy="19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83800" cy="190500"/>
            </a:xfrm>
            <a:custGeom>
              <a:avLst/>
              <a:gdLst/>
              <a:ahLst/>
              <a:cxnLst/>
              <a:rect l="l" t="t" r="r" b="b"/>
              <a:pathLst>
                <a:path w="22783800" h="190500">
                  <a:moveTo>
                    <a:pt x="0" y="0"/>
                  </a:moveTo>
                  <a:lnTo>
                    <a:pt x="22783800" y="0"/>
                  </a:lnTo>
                  <a:lnTo>
                    <a:pt x="227838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28C28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00075" y="8477250"/>
            <a:ext cx="1471612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hét célja: felismerni • megérteni • azonosítani • bekötni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PLC jelet olvas, dönt és kimenetet vezérel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4438" y="4267200"/>
            <a:ext cx="3571875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781" b="1">
                <a:solidFill>
                  <a:srgbClr val="4B5563"/>
                </a:solidFill>
                <a:latin typeface="Arial Bold"/>
                <a:ea typeface="Arial Bold"/>
                <a:cs typeface="Arial Bold"/>
                <a:sym typeface="Arial Bold"/>
              </a:rPr>
              <a:t>ÉRZÉKELŐK</a:t>
            </a:r>
          </a:p>
          <a:p>
            <a:pPr algn="l">
              <a:lnSpc>
                <a:spcPts val="2137"/>
              </a:lnSpc>
            </a:pPr>
            <a:r>
              <a:rPr lang="en-US" sz="1781" b="1">
                <a:solidFill>
                  <a:srgbClr val="4B5563"/>
                </a:solidFill>
                <a:latin typeface="Arial Bold"/>
                <a:ea typeface="Arial Bold"/>
                <a:cs typeface="Arial Bold"/>
                <a:sym typeface="Arial Bold"/>
              </a:rPr>
              <a:t>ÉS BEMENETEK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71875" y="5214938"/>
            <a:ext cx="2571750" cy="57150"/>
            <a:chOff x="0" y="0"/>
            <a:chExt cx="3429000" cy="76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0" y="0"/>
                  </a:moveTo>
                  <a:lnTo>
                    <a:pt x="3429000" y="0"/>
                  </a:lnTo>
                  <a:lnTo>
                    <a:pt x="3429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136481" y="4064794"/>
            <a:ext cx="4300538" cy="2371725"/>
            <a:chOff x="0" y="0"/>
            <a:chExt cx="5734050" cy="3162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34050" cy="3162300"/>
            </a:xfrm>
            <a:custGeom>
              <a:avLst/>
              <a:gdLst/>
              <a:ahLst/>
              <a:cxnLst/>
              <a:rect l="l" t="t" r="r" b="b"/>
              <a:pathLst>
                <a:path w="5734050" h="3162300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5580761" y="0"/>
                  </a:lnTo>
                  <a:cubicBezTo>
                    <a:pt x="5665470" y="0"/>
                    <a:pt x="5734050" y="68580"/>
                    <a:pt x="5734050" y="153289"/>
                  </a:cubicBezTo>
                  <a:lnTo>
                    <a:pt x="5734050" y="3009011"/>
                  </a:lnTo>
                  <a:cubicBezTo>
                    <a:pt x="5734050" y="3093720"/>
                    <a:pt x="5665470" y="3162300"/>
                    <a:pt x="5580761" y="3162300"/>
                  </a:cubicBezTo>
                  <a:lnTo>
                    <a:pt x="153289" y="3162300"/>
                  </a:lnTo>
                  <a:cubicBezTo>
                    <a:pt x="68580" y="3162300"/>
                    <a:pt x="0" y="3093720"/>
                    <a:pt x="0" y="3009011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715125" y="4776787"/>
            <a:ext cx="314325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24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</a:t>
            </a:r>
          </a:p>
          <a:p>
            <a:pPr algn="ctr">
              <a:lnSpc>
                <a:spcPts val="2699"/>
              </a:lnSpc>
            </a:pPr>
            <a:r>
              <a:rPr lang="en-US" sz="224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PROGRAMLOGIKA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29875" y="5214938"/>
            <a:ext cx="2571750" cy="57150"/>
            <a:chOff x="0" y="0"/>
            <a:chExt cx="3429000" cy="76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0" y="0"/>
                  </a:moveTo>
                  <a:lnTo>
                    <a:pt x="3429000" y="0"/>
                  </a:lnTo>
                  <a:lnTo>
                    <a:pt x="3429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858750" y="4267200"/>
            <a:ext cx="3857625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37"/>
              </a:lnSpc>
            </a:pPr>
            <a:r>
              <a:rPr lang="en-US" sz="1781" b="1">
                <a:solidFill>
                  <a:srgbClr val="4B5563"/>
                </a:solidFill>
                <a:latin typeface="Arial Bold"/>
                <a:ea typeface="Arial Bold"/>
                <a:cs typeface="Arial Bold"/>
                <a:sym typeface="Arial Bold"/>
              </a:rPr>
              <a:t>BEAVATKOZÓK</a:t>
            </a:r>
          </a:p>
          <a:p>
            <a:pPr algn="r">
              <a:lnSpc>
                <a:spcPts val="2137"/>
              </a:lnSpc>
            </a:pPr>
            <a:r>
              <a:rPr lang="en-US" sz="1781" b="1">
                <a:solidFill>
                  <a:srgbClr val="4B5563"/>
                </a:solidFill>
                <a:latin typeface="Arial Bold"/>
                <a:ea typeface="Arial Bold"/>
                <a:cs typeface="Arial Bold"/>
                <a:sym typeface="Arial Bold"/>
              </a:rPr>
              <a:t>ÉS KIMENETEK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4500" y="7481888"/>
            <a:ext cx="614362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2" b="1">
                <a:solidFill>
                  <a:srgbClr val="2E9D67"/>
                </a:solidFill>
                <a:latin typeface="Arial Bold"/>
                <a:ea typeface="Arial Bold"/>
                <a:cs typeface="Arial Bold"/>
                <a:sym typeface="Arial Bold"/>
              </a:rPr>
              <a:t>kiindulás: a gép állapota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01250" y="7481888"/>
            <a:ext cx="671512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2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eredmény: irányított működés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Az autóipar gyors átállása hívta életre a PLC-t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8669" y="3850481"/>
            <a:ext cx="3871912" cy="3371850"/>
            <a:chOff x="0" y="0"/>
            <a:chExt cx="5162550" cy="4495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62550" cy="4495800"/>
            </a:xfrm>
            <a:custGeom>
              <a:avLst/>
              <a:gdLst/>
              <a:ahLst/>
              <a:cxnLst/>
              <a:rect l="l" t="t" r="r" b="b"/>
              <a:pathLst>
                <a:path w="5162550" h="449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5009515" y="0"/>
                  </a:lnTo>
                  <a:cubicBezTo>
                    <a:pt x="5094097" y="0"/>
                    <a:pt x="5162550" y="68580"/>
                    <a:pt x="5162550" y="153035"/>
                  </a:cubicBezTo>
                  <a:lnTo>
                    <a:pt x="5162550" y="4342765"/>
                  </a:lnTo>
                  <a:cubicBezTo>
                    <a:pt x="5162550" y="4427347"/>
                    <a:pt x="5093970" y="4495800"/>
                    <a:pt x="5009515" y="4495800"/>
                  </a:cubicBezTo>
                  <a:lnTo>
                    <a:pt x="153035" y="4495800"/>
                  </a:lnTo>
                  <a:cubicBezTo>
                    <a:pt x="68580" y="4495800"/>
                    <a:pt x="0" y="4427220"/>
                    <a:pt x="0" y="4342765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71562" y="4481512"/>
            <a:ext cx="3286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AUTÓIPARI IGÉNY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5862" y="5776913"/>
            <a:ext cx="3057525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gyors átállás</a:t>
            </a:r>
          </a:p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új modellekre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36356" y="3850481"/>
            <a:ext cx="3871912" cy="3371850"/>
            <a:chOff x="0" y="0"/>
            <a:chExt cx="5162550" cy="4495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62550" cy="4495800"/>
            </a:xfrm>
            <a:custGeom>
              <a:avLst/>
              <a:gdLst/>
              <a:ahLst/>
              <a:cxnLst/>
              <a:rect l="l" t="t" r="r" b="b"/>
              <a:pathLst>
                <a:path w="5162550" h="449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5009515" y="0"/>
                  </a:lnTo>
                  <a:cubicBezTo>
                    <a:pt x="5094097" y="0"/>
                    <a:pt x="5162550" y="68580"/>
                    <a:pt x="5162550" y="153035"/>
                  </a:cubicBezTo>
                  <a:lnTo>
                    <a:pt x="5162550" y="4342765"/>
                  </a:lnTo>
                  <a:cubicBezTo>
                    <a:pt x="5162550" y="4427347"/>
                    <a:pt x="5093970" y="4495800"/>
                    <a:pt x="5009515" y="4495800"/>
                  </a:cubicBezTo>
                  <a:lnTo>
                    <a:pt x="153035" y="4495800"/>
                  </a:lnTo>
                  <a:cubicBezTo>
                    <a:pt x="68580" y="4495800"/>
                    <a:pt x="0" y="4427220"/>
                    <a:pt x="0" y="4342765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429250" y="4481512"/>
            <a:ext cx="3286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RELÉS VEZÉRLÉS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3550" y="5776913"/>
            <a:ext cx="3057525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sok vezeték,</a:t>
            </a:r>
          </a:p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nehéz módosítás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94044" y="3850481"/>
            <a:ext cx="3871912" cy="3371850"/>
            <a:chOff x="0" y="0"/>
            <a:chExt cx="5162550" cy="4495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62550" cy="4495800"/>
            </a:xfrm>
            <a:custGeom>
              <a:avLst/>
              <a:gdLst/>
              <a:ahLst/>
              <a:cxnLst/>
              <a:rect l="l" t="t" r="r" b="b"/>
              <a:pathLst>
                <a:path w="5162550" h="449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5009515" y="0"/>
                  </a:lnTo>
                  <a:cubicBezTo>
                    <a:pt x="5094097" y="0"/>
                    <a:pt x="5162550" y="68580"/>
                    <a:pt x="5162550" y="153035"/>
                  </a:cubicBezTo>
                  <a:lnTo>
                    <a:pt x="5162550" y="4342765"/>
                  </a:lnTo>
                  <a:cubicBezTo>
                    <a:pt x="5162550" y="4427347"/>
                    <a:pt x="5093970" y="4495800"/>
                    <a:pt x="5009515" y="4495800"/>
                  </a:cubicBezTo>
                  <a:lnTo>
                    <a:pt x="153035" y="4495800"/>
                  </a:lnTo>
                  <a:cubicBezTo>
                    <a:pt x="68580" y="4495800"/>
                    <a:pt x="0" y="4427220"/>
                    <a:pt x="0" y="4342765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2E9D6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786938" y="4481512"/>
            <a:ext cx="3286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E9D67"/>
                </a:solidFill>
                <a:latin typeface="Arial Bold"/>
                <a:ea typeface="Arial Bold"/>
                <a:cs typeface="Arial Bold"/>
                <a:sym typeface="Arial Bold"/>
              </a:rPr>
              <a:t>ELSŐ PLC-K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01238" y="5776913"/>
            <a:ext cx="3057525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programozható</a:t>
            </a:r>
          </a:p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vezérlési logika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851731" y="3850481"/>
            <a:ext cx="3871912" cy="3371850"/>
            <a:chOff x="0" y="0"/>
            <a:chExt cx="5162550" cy="4495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62550" cy="4495800"/>
            </a:xfrm>
            <a:custGeom>
              <a:avLst/>
              <a:gdLst/>
              <a:ahLst/>
              <a:cxnLst/>
              <a:rect l="l" t="t" r="r" b="b"/>
              <a:pathLst>
                <a:path w="5162550" h="449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5009515" y="0"/>
                  </a:lnTo>
                  <a:cubicBezTo>
                    <a:pt x="5094097" y="0"/>
                    <a:pt x="5162550" y="68580"/>
                    <a:pt x="5162550" y="153035"/>
                  </a:cubicBezTo>
                  <a:lnTo>
                    <a:pt x="5162550" y="4342765"/>
                  </a:lnTo>
                  <a:cubicBezTo>
                    <a:pt x="5162550" y="4427347"/>
                    <a:pt x="5093970" y="4495800"/>
                    <a:pt x="5009515" y="4495800"/>
                  </a:cubicBezTo>
                  <a:lnTo>
                    <a:pt x="153035" y="4495800"/>
                  </a:lnTo>
                  <a:cubicBezTo>
                    <a:pt x="68580" y="4495800"/>
                    <a:pt x="0" y="4427220"/>
                    <a:pt x="0" y="4342765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D9534F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4144625" y="4481512"/>
            <a:ext cx="3286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D9534F"/>
                </a:solidFill>
                <a:latin typeface="Arial Bold"/>
                <a:ea typeface="Arial Bold"/>
                <a:cs typeface="Arial Bold"/>
                <a:sym typeface="Arial Bold"/>
              </a:rPr>
              <a:t>MAI ÖRÖKSÉG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58925" y="5776913"/>
            <a:ext cx="3057525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rugalmas és jól</a:t>
            </a:r>
          </a:p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karbantartható gépek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86250" y="8277225"/>
            <a:ext cx="97155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7"/>
              </a:lnSpc>
            </a:pPr>
            <a:r>
              <a:rPr lang="en-US" sz="2139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gyártósort így nem kellett minden modellváltáskor teljesen újrakábelezni.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Az automatizálás növeli a teljesítményt és a biztonságot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4625" y="2900363"/>
            <a:ext cx="128587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5"/>
              </a:lnSpc>
            </a:pPr>
            <a:r>
              <a:rPr lang="en-US" sz="483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GYORS → PONTOS → BIZTONSÁGOS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4481" y="5064919"/>
            <a:ext cx="4300538" cy="2300288"/>
            <a:chOff x="0" y="0"/>
            <a:chExt cx="5734050" cy="3067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34050" cy="3067050"/>
            </a:xfrm>
            <a:custGeom>
              <a:avLst/>
              <a:gdLst/>
              <a:ahLst/>
              <a:cxnLst/>
              <a:rect l="l" t="t" r="r" b="b"/>
              <a:pathLst>
                <a:path w="5734050" h="3067050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5580634" y="0"/>
                  </a:lnTo>
                  <a:cubicBezTo>
                    <a:pt x="5665343" y="0"/>
                    <a:pt x="5734050" y="68707"/>
                    <a:pt x="5734050" y="153289"/>
                  </a:cubicBezTo>
                  <a:lnTo>
                    <a:pt x="5734050" y="2913634"/>
                  </a:lnTo>
                  <a:cubicBezTo>
                    <a:pt x="5734050" y="2998343"/>
                    <a:pt x="5665343" y="3067050"/>
                    <a:pt x="5580634" y="3067050"/>
                  </a:cubicBezTo>
                  <a:lnTo>
                    <a:pt x="153289" y="3067050"/>
                  </a:lnTo>
                  <a:cubicBezTo>
                    <a:pt x="68707" y="3067050"/>
                    <a:pt x="0" y="2998343"/>
                    <a:pt x="0" y="2913634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000250" y="5776913"/>
            <a:ext cx="3429000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gyorsabb és</a:t>
            </a:r>
          </a:p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egyenletesebb termelés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93731" y="5064919"/>
            <a:ext cx="4300538" cy="2300288"/>
            <a:chOff x="0" y="0"/>
            <a:chExt cx="5734050" cy="3067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4050" cy="3067050"/>
            </a:xfrm>
            <a:custGeom>
              <a:avLst/>
              <a:gdLst/>
              <a:ahLst/>
              <a:cxnLst/>
              <a:rect l="l" t="t" r="r" b="b"/>
              <a:pathLst>
                <a:path w="5734050" h="3067050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5580634" y="0"/>
                  </a:lnTo>
                  <a:cubicBezTo>
                    <a:pt x="5665343" y="0"/>
                    <a:pt x="5734050" y="68707"/>
                    <a:pt x="5734050" y="153289"/>
                  </a:cubicBezTo>
                  <a:lnTo>
                    <a:pt x="5734050" y="2913634"/>
                  </a:lnTo>
                  <a:cubicBezTo>
                    <a:pt x="5734050" y="2998343"/>
                    <a:pt x="5665343" y="3067050"/>
                    <a:pt x="5580634" y="3067050"/>
                  </a:cubicBezTo>
                  <a:lnTo>
                    <a:pt x="153289" y="3067050"/>
                  </a:lnTo>
                  <a:cubicBezTo>
                    <a:pt x="68707" y="3067050"/>
                    <a:pt x="0" y="2998343"/>
                    <a:pt x="0" y="2913634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429500" y="5776913"/>
            <a:ext cx="3429000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állandóbb minőség,</a:t>
            </a:r>
          </a:p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kevesebb emberi hiba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422981" y="4707731"/>
            <a:ext cx="4300538" cy="3014662"/>
            <a:chOff x="0" y="0"/>
            <a:chExt cx="5734050" cy="4019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34050" cy="4019550"/>
            </a:xfrm>
            <a:custGeom>
              <a:avLst/>
              <a:gdLst/>
              <a:ahLst/>
              <a:cxnLst/>
              <a:rect l="l" t="t" r="r" b="b"/>
              <a:pathLst>
                <a:path w="573405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5580888" y="0"/>
                  </a:lnTo>
                  <a:cubicBezTo>
                    <a:pt x="5665470" y="0"/>
                    <a:pt x="5734050" y="68580"/>
                    <a:pt x="5734050" y="153162"/>
                  </a:cubicBezTo>
                  <a:lnTo>
                    <a:pt x="5734050" y="3866388"/>
                  </a:lnTo>
                  <a:cubicBezTo>
                    <a:pt x="5734050" y="3950970"/>
                    <a:pt x="5665470" y="4019550"/>
                    <a:pt x="558088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FFF1E6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858750" y="5624512"/>
            <a:ext cx="342900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518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biztonságosabb</a:t>
            </a:r>
          </a:p>
          <a:p>
            <a:pPr algn="ctr">
              <a:lnSpc>
                <a:spcPts val="3022"/>
              </a:lnSpc>
            </a:pPr>
            <a:r>
              <a:rPr lang="en-US" sz="2518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felügyelet és működés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43250" y="8410575"/>
            <a:ext cx="12001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504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vezérlés feladata nem csupán a működtetés, hanem a kiszámítható működés.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PLC programmal, a relés vezérlés vezetékkel módosul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43625" y="2981325"/>
            <a:ext cx="4286250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303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RELÉS VEZÉRLÉS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15750" y="2981325"/>
            <a:ext cx="4572000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3037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PLC-S VEZÉRLÉS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875" y="42672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Vezetékezés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43625" y="4276725"/>
            <a:ext cx="428625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437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sok relé és sok összekötő vezeték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15750" y="4267200"/>
            <a:ext cx="4572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kevesebb külső vezetékezés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5229225"/>
            <a:ext cx="15430500" cy="28575"/>
            <a:chOff x="0" y="0"/>
            <a:chExt cx="20574000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85875" y="569595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Módosítás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43625" y="569595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átkötés és rajzmódosítás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15750" y="5695950"/>
            <a:ext cx="4572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a program átírása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43000" y="6657975"/>
            <a:ext cx="15430500" cy="28575"/>
            <a:chOff x="0" y="0"/>
            <a:chExt cx="20574000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85875" y="71247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Hibakeresés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43625" y="71247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kapcsolatonként kell követni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15750" y="7124700"/>
            <a:ext cx="4572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az állapotok megfigyelhetők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43000" y="8086725"/>
            <a:ext cx="15430500" cy="28575"/>
            <a:chOff x="0" y="0"/>
            <a:chExt cx="20574000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PLC működése négy lépésben ismétlődik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4625" y="2900363"/>
            <a:ext cx="128587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5"/>
              </a:lnSpc>
            </a:pPr>
            <a:r>
              <a:rPr lang="en-US" sz="483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BEOLVAS → DÖNT → KAPCSOL → ÚJRA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4481" y="5064919"/>
            <a:ext cx="4300538" cy="2300288"/>
            <a:chOff x="0" y="0"/>
            <a:chExt cx="5734050" cy="3067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34050" cy="3067050"/>
            </a:xfrm>
            <a:custGeom>
              <a:avLst/>
              <a:gdLst/>
              <a:ahLst/>
              <a:cxnLst/>
              <a:rect l="l" t="t" r="r" b="b"/>
              <a:pathLst>
                <a:path w="5734050" h="3067050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5580634" y="0"/>
                  </a:lnTo>
                  <a:cubicBezTo>
                    <a:pt x="5665343" y="0"/>
                    <a:pt x="5734050" y="68707"/>
                    <a:pt x="5734050" y="153289"/>
                  </a:cubicBezTo>
                  <a:lnTo>
                    <a:pt x="5734050" y="2913634"/>
                  </a:lnTo>
                  <a:cubicBezTo>
                    <a:pt x="5734050" y="2998343"/>
                    <a:pt x="5665343" y="3067050"/>
                    <a:pt x="5580634" y="3067050"/>
                  </a:cubicBezTo>
                  <a:lnTo>
                    <a:pt x="153289" y="3067050"/>
                  </a:lnTo>
                  <a:cubicBezTo>
                    <a:pt x="68707" y="3067050"/>
                    <a:pt x="0" y="2998343"/>
                    <a:pt x="0" y="2913634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000250" y="5776913"/>
            <a:ext cx="3429000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1. az érzékelők</a:t>
            </a:r>
          </a:p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jeleit beolvassa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93731" y="5064919"/>
            <a:ext cx="4300538" cy="2300288"/>
            <a:chOff x="0" y="0"/>
            <a:chExt cx="5734050" cy="3067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4050" cy="3067050"/>
            </a:xfrm>
            <a:custGeom>
              <a:avLst/>
              <a:gdLst/>
              <a:ahLst/>
              <a:cxnLst/>
              <a:rect l="l" t="t" r="r" b="b"/>
              <a:pathLst>
                <a:path w="5734050" h="3067050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5580634" y="0"/>
                  </a:lnTo>
                  <a:cubicBezTo>
                    <a:pt x="5665343" y="0"/>
                    <a:pt x="5734050" y="68707"/>
                    <a:pt x="5734050" y="153289"/>
                  </a:cubicBezTo>
                  <a:lnTo>
                    <a:pt x="5734050" y="2913634"/>
                  </a:lnTo>
                  <a:cubicBezTo>
                    <a:pt x="5734050" y="2998343"/>
                    <a:pt x="5665343" y="3067050"/>
                    <a:pt x="5580634" y="3067050"/>
                  </a:cubicBezTo>
                  <a:lnTo>
                    <a:pt x="153289" y="3067050"/>
                  </a:lnTo>
                  <a:cubicBezTo>
                    <a:pt x="68707" y="3067050"/>
                    <a:pt x="0" y="2998343"/>
                    <a:pt x="0" y="2913634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429500" y="5776913"/>
            <a:ext cx="3429000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2. a programlogikát</a:t>
            </a:r>
          </a:p>
          <a:p>
            <a:pPr algn="ctr">
              <a:lnSpc>
                <a:spcPts val="2531"/>
              </a:lnSpc>
            </a:pPr>
            <a:r>
              <a:rPr lang="en-US" sz="2109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végrehajtja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422981" y="4707731"/>
            <a:ext cx="4300538" cy="3014662"/>
            <a:chOff x="0" y="0"/>
            <a:chExt cx="5734050" cy="4019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34050" cy="4019550"/>
            </a:xfrm>
            <a:custGeom>
              <a:avLst/>
              <a:gdLst/>
              <a:ahLst/>
              <a:cxnLst/>
              <a:rect l="l" t="t" r="r" b="b"/>
              <a:pathLst>
                <a:path w="573405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5580888" y="0"/>
                  </a:lnTo>
                  <a:cubicBezTo>
                    <a:pt x="5665470" y="0"/>
                    <a:pt x="5734050" y="68580"/>
                    <a:pt x="5734050" y="153162"/>
                  </a:cubicBezTo>
                  <a:lnTo>
                    <a:pt x="5734050" y="3866388"/>
                  </a:lnTo>
                  <a:cubicBezTo>
                    <a:pt x="5734050" y="3950970"/>
                    <a:pt x="5665470" y="4019550"/>
                    <a:pt x="558088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FFF1E6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858750" y="5634037"/>
            <a:ext cx="3429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453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3. frissíti a kimeneteket</a:t>
            </a:r>
          </a:p>
          <a:p>
            <a:pPr algn="ctr">
              <a:lnSpc>
                <a:spcPts val="2944"/>
              </a:lnSpc>
            </a:pPr>
            <a:r>
              <a:rPr lang="en-US" sz="2453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4. újrakezdi a ciklust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43250" y="8410575"/>
            <a:ext cx="12001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2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Ezt az ismétlődő folyamatot nevezzük scan cycle-nak.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scan cycle folyamatosan újraindul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57350"/>
            <a:ext cx="17830800" cy="797242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286250" y="8696325"/>
            <a:ext cx="971550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1 = bemenet • 2 = program • 3 = kimenet • majd újra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PLC minden részegysége külön feladatot végez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43625" y="2981325"/>
            <a:ext cx="4286250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303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FŐ RÉSZEGYSÉG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15750" y="2990850"/>
            <a:ext cx="4572000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562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FELADATA A VEZÉRLÉSBEN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875" y="42672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Feldolgozás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43625" y="42672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CPU + memória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15750" y="4276725"/>
            <a:ext cx="45720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437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program futtatása és adatok tárolása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5229225"/>
            <a:ext cx="15430500" cy="28575"/>
            <a:chOff x="0" y="0"/>
            <a:chExt cx="20574000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85875" y="569595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Jelkapcsolat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43625" y="569595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digitális be- és kimenetek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15750" y="5705475"/>
            <a:ext cx="45720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437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érzékelők és beavatkozók csatlakoztatása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43000" y="6657975"/>
            <a:ext cx="15430500" cy="28575"/>
            <a:chOff x="0" y="0"/>
            <a:chExt cx="20574000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85875" y="71247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Kapcsolat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43625" y="7124700"/>
            <a:ext cx="42862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97C5"/>
                </a:solidFill>
                <a:latin typeface="Arial"/>
                <a:ea typeface="Arial"/>
                <a:cs typeface="Arial"/>
                <a:sym typeface="Arial"/>
              </a:rPr>
              <a:t>kommunikációs portok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15750" y="7124700"/>
            <a:ext cx="4572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programozás és adatcsere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43000" y="8086725"/>
            <a:ext cx="15430500" cy="28575"/>
            <a:chOff x="0" y="0"/>
            <a:chExt cx="20574000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574000" cy="38100"/>
            </a:xfrm>
            <a:custGeom>
              <a:avLst/>
              <a:gdLst/>
              <a:ahLst/>
              <a:cxnLst/>
              <a:rect l="l" t="t" r="r" b="b"/>
              <a:pathLst>
                <a:path w="20574000" h="38100">
                  <a:moveTo>
                    <a:pt x="0" y="0"/>
                  </a:moveTo>
                  <a:lnTo>
                    <a:pt x="20574000" y="0"/>
                  </a:lnTo>
                  <a:lnTo>
                    <a:pt x="2057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Az első PLC-labort öt ellenőrzött lépésben végezzük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7206" y="3707606"/>
            <a:ext cx="3086100" cy="3514725"/>
            <a:chOff x="0" y="0"/>
            <a:chExt cx="4114800" cy="4686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77152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Biztonság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1538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sz="1954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táp kikapcsolva,</a:t>
            </a:r>
          </a:p>
          <a:p>
            <a:pPr algn="ctr">
              <a:lnSpc>
                <a:spcPts val="2345"/>
              </a:lnSpc>
            </a:pPr>
            <a:r>
              <a:rPr lang="en-US" sz="1954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kapcsolás ellenőrizve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21931" y="3707606"/>
            <a:ext cx="3086100" cy="3514725"/>
            <a:chOff x="0" y="0"/>
            <a:chExt cx="4114800" cy="4686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4286250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6325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Azonosítás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86262" y="5734050"/>
            <a:ext cx="23574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2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Eaton easy, LG és Omron csatlakozói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536656" y="3707606"/>
            <a:ext cx="3086100" cy="3514725"/>
            <a:chOff x="0" y="0"/>
            <a:chExt cx="4114800" cy="4686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80097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105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Bemenet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00988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nyomógomb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bekötése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051381" y="3707606"/>
            <a:ext cx="3086100" cy="3514725"/>
            <a:chOff x="0" y="0"/>
            <a:chExt cx="4114800" cy="4686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315700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15775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Kimenet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5712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jelzőlámpa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bekötése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566106" y="3707606"/>
            <a:ext cx="3086100" cy="3514725"/>
            <a:chOff x="0" y="0"/>
            <a:chExt cx="4114800" cy="4686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FFF1E6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483042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43050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Próba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30438" y="5734050"/>
            <a:ext cx="23574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sz="2154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bekapcsolás és</a:t>
            </a:r>
          </a:p>
          <a:p>
            <a:pPr algn="ctr">
              <a:lnSpc>
                <a:spcPts val="2585"/>
              </a:lnSpc>
            </a:pPr>
            <a:r>
              <a:rPr lang="en-US" sz="2154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működésellenőrzés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29125" y="8277225"/>
            <a:ext cx="94297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2144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Feszültség alá helyezni csak oktatói ellenőrzés és engedély után szabad.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 PLC a lifttől a szivattyútelepig mindenütt dolgozik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07231" y="4064794"/>
            <a:ext cx="2943225" cy="3014662"/>
            <a:chOff x="0" y="0"/>
            <a:chExt cx="3924300" cy="40195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24300" cy="4019550"/>
            </a:xfrm>
            <a:custGeom>
              <a:avLst/>
              <a:gdLst/>
              <a:ahLst/>
              <a:cxnLst/>
              <a:rect l="l" t="t" r="r" b="b"/>
              <a:pathLst>
                <a:path w="392430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771138" y="0"/>
                  </a:lnTo>
                  <a:cubicBezTo>
                    <a:pt x="3855720" y="0"/>
                    <a:pt x="3924300" y="68580"/>
                    <a:pt x="3924300" y="153162"/>
                  </a:cubicBezTo>
                  <a:lnTo>
                    <a:pt x="3924300" y="3866388"/>
                  </a:lnTo>
                  <a:cubicBezTo>
                    <a:pt x="3924300" y="3950970"/>
                    <a:pt x="3855720" y="4019550"/>
                    <a:pt x="377113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00125" y="4624388"/>
            <a:ext cx="23574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Lift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125" y="5900737"/>
            <a:ext cx="2357438" cy="67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83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ajtók, emeletválasztás és biztonsági feltételek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36231" y="4064794"/>
            <a:ext cx="2943225" cy="3014662"/>
            <a:chOff x="0" y="0"/>
            <a:chExt cx="3924300" cy="4019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24300" cy="4019550"/>
            </a:xfrm>
            <a:custGeom>
              <a:avLst/>
              <a:gdLst/>
              <a:ahLst/>
              <a:cxnLst/>
              <a:rect l="l" t="t" r="r" b="b"/>
              <a:pathLst>
                <a:path w="392430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771138" y="0"/>
                  </a:lnTo>
                  <a:cubicBezTo>
                    <a:pt x="3855720" y="0"/>
                    <a:pt x="3924300" y="68580"/>
                    <a:pt x="3924300" y="153162"/>
                  </a:cubicBezTo>
                  <a:lnTo>
                    <a:pt x="3924300" y="3866388"/>
                  </a:lnTo>
                  <a:cubicBezTo>
                    <a:pt x="3924300" y="3950970"/>
                    <a:pt x="3855720" y="4019550"/>
                    <a:pt x="377113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29125" y="4624388"/>
            <a:ext cx="23574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Autómosó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29125" y="5929312"/>
            <a:ext cx="2357438" cy="64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989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programozott lépések és érzékelők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565231" y="4064794"/>
            <a:ext cx="2943225" cy="3014662"/>
            <a:chOff x="0" y="0"/>
            <a:chExt cx="3924300" cy="4019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24300" cy="4019550"/>
            </a:xfrm>
            <a:custGeom>
              <a:avLst/>
              <a:gdLst/>
              <a:ahLst/>
              <a:cxnLst/>
              <a:rect l="l" t="t" r="r" b="b"/>
              <a:pathLst>
                <a:path w="392430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771138" y="0"/>
                  </a:lnTo>
                  <a:cubicBezTo>
                    <a:pt x="3855720" y="0"/>
                    <a:pt x="3924300" y="68580"/>
                    <a:pt x="3924300" y="153162"/>
                  </a:cubicBezTo>
                  <a:lnTo>
                    <a:pt x="3924300" y="3866388"/>
                  </a:lnTo>
                  <a:cubicBezTo>
                    <a:pt x="3924300" y="3950970"/>
                    <a:pt x="3855720" y="4019550"/>
                    <a:pt x="377113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2E9D6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7858125" y="4624388"/>
            <a:ext cx="23574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1">
                <a:solidFill>
                  <a:srgbClr val="2E9D67"/>
                </a:solidFill>
                <a:latin typeface="Arial Bold"/>
                <a:ea typeface="Arial Bold"/>
                <a:cs typeface="Arial Bold"/>
                <a:sym typeface="Arial Bold"/>
              </a:rPr>
              <a:t>Csomagolás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8125" y="5910262"/>
            <a:ext cx="2357438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2088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darabszám, sorrend és gépmozgások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994231" y="4064794"/>
            <a:ext cx="2943225" cy="3014662"/>
            <a:chOff x="0" y="0"/>
            <a:chExt cx="3924300" cy="40195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24300" cy="4019550"/>
            </a:xfrm>
            <a:custGeom>
              <a:avLst/>
              <a:gdLst/>
              <a:ahLst/>
              <a:cxnLst/>
              <a:rect l="l" t="t" r="r" b="b"/>
              <a:pathLst>
                <a:path w="392430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771138" y="0"/>
                  </a:lnTo>
                  <a:cubicBezTo>
                    <a:pt x="3855720" y="0"/>
                    <a:pt x="3924300" y="68580"/>
                    <a:pt x="3924300" y="153162"/>
                  </a:cubicBezTo>
                  <a:lnTo>
                    <a:pt x="3924300" y="3866388"/>
                  </a:lnTo>
                  <a:cubicBezTo>
                    <a:pt x="3924300" y="3950970"/>
                    <a:pt x="3855720" y="4019550"/>
                    <a:pt x="377113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D9534F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287125" y="4624388"/>
            <a:ext cx="23574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1">
                <a:solidFill>
                  <a:srgbClr val="D9534F"/>
                </a:solidFill>
                <a:latin typeface="Arial Bold"/>
                <a:ea typeface="Arial Bold"/>
                <a:cs typeface="Arial Bold"/>
                <a:sym typeface="Arial Bold"/>
              </a:rPr>
              <a:t>Kazánház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87125" y="5910262"/>
            <a:ext cx="2357438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96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hőmérséklet, szivattyúk és riasztás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423231" y="4064794"/>
            <a:ext cx="2943225" cy="3014662"/>
            <a:chOff x="0" y="0"/>
            <a:chExt cx="3924300" cy="4019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24300" cy="4019550"/>
            </a:xfrm>
            <a:custGeom>
              <a:avLst/>
              <a:gdLst/>
              <a:ahLst/>
              <a:cxnLst/>
              <a:rect l="l" t="t" r="r" b="b"/>
              <a:pathLst>
                <a:path w="3924300" h="401955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771138" y="0"/>
                  </a:lnTo>
                  <a:cubicBezTo>
                    <a:pt x="3855720" y="0"/>
                    <a:pt x="3924300" y="68580"/>
                    <a:pt x="3924300" y="153162"/>
                  </a:cubicBezTo>
                  <a:lnTo>
                    <a:pt x="3924300" y="3866388"/>
                  </a:lnTo>
                  <a:cubicBezTo>
                    <a:pt x="3924300" y="3950970"/>
                    <a:pt x="3855720" y="4019550"/>
                    <a:pt x="3771138" y="4019550"/>
                  </a:cubicBezTo>
                  <a:lnTo>
                    <a:pt x="153162" y="4019550"/>
                  </a:lnTo>
                  <a:cubicBezTo>
                    <a:pt x="68580" y="4019550"/>
                    <a:pt x="0" y="3950970"/>
                    <a:pt x="0" y="386638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4716125" y="4624388"/>
            <a:ext cx="23574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Szivattyútelep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16125" y="5919787"/>
            <a:ext cx="2357438" cy="65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109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szintfigyelés és váltott üzem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43250" y="8277225"/>
            <a:ext cx="120015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446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Közös bennük: jeleket fogadnak, logikai döntést hoznak és kimenetet vezérelnek.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Öt tanóra: az ipari ötlettől az első bekötésig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7206" y="3707606"/>
            <a:ext cx="3086100" cy="3514725"/>
            <a:chOff x="0" y="0"/>
            <a:chExt cx="4114800" cy="4686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77152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968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1. óra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241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Automatizálás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1538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célok és ipari példák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21931" y="3707606"/>
            <a:ext cx="3086100" cy="3514725"/>
            <a:chOff x="0" y="0"/>
            <a:chExt cx="4114800" cy="4686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4286250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968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2. óra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6325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PLC és relé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86262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előnyök és scan cycle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536656" y="3707606"/>
            <a:ext cx="3086100" cy="3514725"/>
            <a:chOff x="0" y="0"/>
            <a:chExt cx="4114800" cy="4686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80097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968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3. óra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105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Eszközök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00988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Eaton easy, LG és Omron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051381" y="3707606"/>
            <a:ext cx="3086100" cy="3514725"/>
            <a:chOff x="0" y="0"/>
            <a:chExt cx="4114800" cy="4686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315700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968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4. óra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15775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Bekötés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5712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nyomógomb és jelzőlámpa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566106" y="3707606"/>
            <a:ext cx="3086100" cy="3514725"/>
            <a:chOff x="0" y="0"/>
            <a:chExt cx="4114800" cy="4686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4686300"/>
            </a:xfrm>
            <a:custGeom>
              <a:avLst/>
              <a:gdLst/>
              <a:ahLst/>
              <a:cxnLst/>
              <a:rect l="l" t="t" r="r" b="b"/>
              <a:pathLst>
                <a:path w="4114800" h="46863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3961638" y="0"/>
                  </a:lnTo>
                  <a:cubicBezTo>
                    <a:pt x="4046220" y="0"/>
                    <a:pt x="4114800" y="68580"/>
                    <a:pt x="4114800" y="153162"/>
                  </a:cubicBezTo>
                  <a:lnTo>
                    <a:pt x="4114800" y="4533138"/>
                  </a:lnTo>
                  <a:cubicBezTo>
                    <a:pt x="4114800" y="4617720"/>
                    <a:pt x="4046220" y="4686300"/>
                    <a:pt x="3961638" y="4686300"/>
                  </a:cubicBezTo>
                  <a:lnTo>
                    <a:pt x="153162" y="4686300"/>
                  </a:lnTo>
                  <a:cubicBezTo>
                    <a:pt x="68580" y="4686300"/>
                    <a:pt x="0" y="4617720"/>
                    <a:pt x="0" y="4533138"/>
                  </a:cubicBezTo>
                  <a:close/>
                </a:path>
              </a:pathLst>
            </a:custGeom>
            <a:solidFill>
              <a:srgbClr val="FFF1E6"/>
            </a:solidFill>
            <a:ln w="14288" cap="sq">
              <a:solidFill>
                <a:srgbClr val="F28C28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4830425" y="4124325"/>
            <a:ext cx="6000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968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5. óra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430500" y="4176713"/>
            <a:ext cx="19288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Próba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30438" y="5724525"/>
            <a:ext cx="235743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működés és hibakeresés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29125" y="8277225"/>
            <a:ext cx="94297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lang="en-US" sz="213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A tanuló az elméleti jelútból működő, ellenőrizhető alapkapcsolást készít.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90525"/>
            <a:ext cx="12858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PLC ALAPISMERETEK • 12. ÉVFOLYAM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866775"/>
            <a:ext cx="1657350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>
                <a:solidFill>
                  <a:srgbClr val="111827"/>
                </a:solidFill>
                <a:latin typeface="Arial Bold"/>
                <a:ea typeface="Arial Bold"/>
                <a:cs typeface="Arial Bold"/>
                <a:sym typeface="Arial Bold"/>
              </a:rPr>
              <a:t>Az első héten a PLC ipari szerepét tesszük érthetővé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14550"/>
            <a:ext cx="17087850" cy="42862"/>
            <a:chOff x="0" y="0"/>
            <a:chExt cx="2278380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83800" cy="57150"/>
            </a:xfrm>
            <a:custGeom>
              <a:avLst/>
              <a:gdLst/>
              <a:ahLst/>
              <a:cxnLst/>
              <a:rect l="l" t="t" r="r" b="b"/>
              <a:pathLst>
                <a:path w="22783800" h="57150">
                  <a:moveTo>
                    <a:pt x="0" y="0"/>
                  </a:moveTo>
                  <a:lnTo>
                    <a:pt x="22783800" y="0"/>
                  </a:lnTo>
                  <a:lnTo>
                    <a:pt x="22783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597C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930688" y="9477375"/>
            <a:ext cx="77152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75" y="2705100"/>
            <a:ext cx="78581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ÖNELLENŐRZŐ KÉRDÉSEK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3552825"/>
            <a:ext cx="8715375" cy="409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Mit jelent a PLC rövidítés?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Mi az automatizálás négy célja?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Mi a scan cycle négy lépése?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Nevezz meg öt PLC-alkalmazást!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Miért egyszerűbb a PLC módosítása?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79856" y="2921794"/>
            <a:ext cx="7158038" cy="4800600"/>
            <a:chOff x="0" y="0"/>
            <a:chExt cx="9544050" cy="640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44050" cy="6400800"/>
            </a:xfrm>
            <a:custGeom>
              <a:avLst/>
              <a:gdLst/>
              <a:ahLst/>
              <a:cxnLst/>
              <a:rect l="l" t="t" r="r" b="b"/>
              <a:pathLst>
                <a:path w="9544050" h="6400800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9391142" y="0"/>
                  </a:lnTo>
                  <a:cubicBezTo>
                    <a:pt x="9475598" y="0"/>
                    <a:pt x="9544050" y="68453"/>
                    <a:pt x="9544050" y="152908"/>
                  </a:cubicBezTo>
                  <a:lnTo>
                    <a:pt x="9544050" y="6247892"/>
                  </a:lnTo>
                  <a:cubicBezTo>
                    <a:pt x="9544050" y="6332347"/>
                    <a:pt x="9475598" y="6400800"/>
                    <a:pt x="9391142" y="6400800"/>
                  </a:cubicBezTo>
                  <a:lnTo>
                    <a:pt x="152908" y="6400800"/>
                  </a:lnTo>
                  <a:cubicBezTo>
                    <a:pt x="68453" y="6400800"/>
                    <a:pt x="0" y="6332347"/>
                    <a:pt x="0" y="6247892"/>
                  </a:cubicBezTo>
                  <a:close/>
                </a:path>
              </a:pathLst>
            </a:custGeom>
            <a:solidFill>
              <a:srgbClr val="EDF5F8"/>
            </a:solidFill>
            <a:ln w="14288" cap="sq">
              <a:solidFill>
                <a:srgbClr val="1597C5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787062" y="3481388"/>
            <a:ext cx="61436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1597C5"/>
                </a:solidFill>
                <a:latin typeface="Arial Bold"/>
                <a:ea typeface="Arial Bold"/>
                <a:cs typeface="Arial Bold"/>
                <a:sym typeface="Arial Bold"/>
              </a:rPr>
              <a:t>A hét öt eredménye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87062" y="4776787"/>
            <a:ext cx="5857875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 PLC ipari szerepének felismerése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relés és PLC-s vezérlés összevetése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 fő részek azonosítása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 scan cycle értelmezése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biztonságos alapbekötés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4500" y="8696325"/>
            <a:ext cx="1485900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28C28"/>
                </a:solidFill>
                <a:latin typeface="Arial Bold"/>
                <a:ea typeface="Arial Bold"/>
                <a:cs typeface="Arial Bold"/>
                <a:sym typeface="Arial Bold"/>
              </a:rPr>
              <a:t>Következő hét: A PLC felépítése és működése részletesebben.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1374</Words>
  <Application>Microsoft Office PowerPoint</Application>
  <PresentationFormat>Egyéni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 Bold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1_het_Miert_van_szukseg_PLC_re.pptx</dc:title>
  <dc:creator>Fazekas Zsolt</dc:creator>
  <cp:lastModifiedBy>zsolt Fazekas</cp:lastModifiedBy>
  <cp:revision>1</cp:revision>
  <dcterms:created xsi:type="dcterms:W3CDTF">2006-08-16T00:00:00Z</dcterms:created>
  <dcterms:modified xsi:type="dcterms:W3CDTF">2026-08-18T04:49:46Z</dcterms:modified>
  <dc:identifier>DAHQ-3Zo3z8</dc:identifier>
</cp:coreProperties>
</file>