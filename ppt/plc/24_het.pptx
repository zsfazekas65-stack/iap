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71850" y="2419350"/>
            <a:ext cx="54483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 dirty="0">
                <a:solidFill>
                  <a:srgbClr val="38BDF8"/>
                </a:solidFill>
                <a:latin typeface="Roboto"/>
              </a:rPr>
              <a:t>INTEGRÁLT AUTOMATIKA </a:t>
            </a:r>
            <a:r>
              <a:rPr lang="hu-HU">
                <a:solidFill>
                  <a:srgbClr val="38BDF8"/>
                </a:solidFill>
                <a:latin typeface="Roboto"/>
              </a:rPr>
              <a:t>PROGRAM</a:t>
            </a:r>
            <a:r>
              <a:rPr sz="1800" b="0" i="0" u="none">
                <a:solidFill>
                  <a:srgbClr val="38BDF8"/>
                </a:solidFill>
                <a:latin typeface="Roboto"/>
              </a:rPr>
              <a:t> </a:t>
            </a:r>
            <a:r>
              <a:rPr sz="1800" b="0" i="0" u="none" dirty="0">
                <a:solidFill>
                  <a:srgbClr val="38BDF8"/>
                </a:solidFill>
                <a:latin typeface="Roboto"/>
              </a:rPr>
              <a:t>(IA</a:t>
            </a:r>
            <a:r>
              <a:rPr lang="hu-HU" sz="1800" b="0" i="0" u="none" dirty="0">
                <a:solidFill>
                  <a:srgbClr val="38BDF8"/>
                </a:solidFill>
                <a:latin typeface="Roboto"/>
              </a:rPr>
              <a:t>P</a:t>
            </a:r>
            <a:r>
              <a:rPr sz="1800" b="0" i="0" u="none" dirty="0">
                <a:solidFill>
                  <a:srgbClr val="38BDF8"/>
                </a:solidFill>
                <a:latin typeface="Roboto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5439" y="2924175"/>
            <a:ext cx="8961120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8FAFC"/>
                </a:solidFill>
                <a:latin typeface="Orbitron"/>
              </a:rPr>
              <a:t>PLC Alapismeretek – 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38475" y="3933825"/>
            <a:ext cx="61150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Roboto"/>
              </a:rPr>
              <a:t>PLC ↔ Frekvenciaváltó kommunikáció Modbus RTU használatával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005137"/>
            <a:ext cx="5429250" cy="1581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90850"/>
            <a:ext cx="5429250" cy="16097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Alapvetések &amp; Kilátások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3290887"/>
            <a:ext cx="5050631" cy="2286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F43F5E"/>
                </a:solidFill>
                <a:latin typeface="Orbitron"/>
              </a:rPr>
              <a:t>A hét mottója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614737"/>
            <a:ext cx="48101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1" u="none">
                <a:solidFill>
                  <a:srgbClr val="F8FAFC"/>
                </a:solidFill>
                <a:latin typeface="Roboto"/>
              </a:rPr>
              <a:t>„A jó vezérlő nemcsak parancsot ad, hanem folyamatosan figyeli is a hajtást.”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238500"/>
            <a:ext cx="5180647" cy="25717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A világ nagy kérdése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3667125"/>
            <a:ext cx="4933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Hogyan képes egy PLC néhány vezetéken keresztül teljes körűen vezérelni és felügyelni egy frekvenciaváltót?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319462"/>
            <a:ext cx="180975" cy="178296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3267075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862262"/>
            <a:ext cx="5429250" cy="1866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7500"/>
            <a:ext cx="5429250" cy="1876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Technikatörténet &amp; Fejlesztők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109912"/>
            <a:ext cx="5180647" cy="257175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A technika története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538537"/>
            <a:ext cx="4933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Az analóg 0–10 V és 4–20 mA vezérlést fokozatosan felváltotta az RS-485 alapú Modbus RTU kommunikáció, amely kétirányú digitális adatcserét tesz lehetővé.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105150"/>
            <a:ext cx="5180647" cy="2667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Ismerjük meg a fejlesztőket!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3543300"/>
            <a:ext cx="4933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A Modbus protokollt a Modicon fejlesztette ki. A Siemens, Omron, ABB, Danfoss, Schneider Electric és Yaskawa jelentős szerepet játszott a digitális hajtásvezérlés fejlődésében.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3138487"/>
            <a:ext cx="23812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3133725"/>
            <a:ext cx="18097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862262"/>
            <a:ext cx="3587799" cy="1866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174" y="2862262"/>
            <a:ext cx="3587799" cy="1866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862262"/>
            <a:ext cx="3587799" cy="1866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Tanulási Célok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109912"/>
            <a:ext cx="3247124" cy="257175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Architektúra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3538537"/>
            <a:ext cx="30924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• Master–Slave működés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• RS-485 fizikai busz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• Hálózati topológia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9824" y="3109912"/>
            <a:ext cx="3247124" cy="257175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Adatkezelés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9824" y="3538537"/>
            <a:ext cx="30924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• Modbus RTU alapjai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• Regiszterek olvasása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• Regiszterek írása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75749" y="3109912"/>
            <a:ext cx="3247124" cy="25717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Üzemeltetés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5749" y="3538537"/>
            <a:ext cx="30924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• Hibakeresési technikák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• Diagnosztika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• Biztonsági leállások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3138487"/>
            <a:ext cx="26670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824" y="3138487"/>
            <a:ext cx="180975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749" y="3138487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81212"/>
            <a:ext cx="542925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Elméleti Alapok &amp; Architektúra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90737"/>
            <a:ext cx="5410200" cy="3409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938462"/>
            <a:ext cx="5143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Master vezérlő: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A PLC kérdez és parancsokat küld a hálózaton.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338512"/>
            <a:ext cx="5143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Slave eszköz: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A frekvenciaváltó válaszol a kérésekre, végrehajtja a parancsokat.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995737"/>
            <a:ext cx="5143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Regiszter alapú: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Az adatok memóriaterületeken (Holding/Input registers) keresztül cserélődnek.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971800"/>
            <a:ext cx="17145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371850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02907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1209675"/>
            <a:ext cx="8572500" cy="5172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Hogyan Működik a Háttérben?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5488" y="1600200"/>
            <a:ext cx="818102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F8FAFC"/>
                </a:solidFill>
                <a:latin typeface="Orbitron"/>
              </a:rPr>
              <a:t>Ciklikus Adatcsere Láncolat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0275" y="2190750"/>
            <a:ext cx="7791450" cy="314325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38BDF8"/>
                </a:solidFill>
                <a:latin typeface="Roboto"/>
              </a:rPr>
              <a:t>PLC Modbus kérés RS-485 Frekvenciaváltó Válasz PLC HMI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625" y="2238375"/>
            <a:ext cx="180975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775" y="2238375"/>
            <a:ext cx="18097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225" y="2238375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300" y="2238375"/>
            <a:ext cx="18097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8650" y="2238375"/>
            <a:ext cx="18097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6350" y="2238375"/>
            <a:ext cx="18097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862262"/>
            <a:ext cx="5429250" cy="1866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862262"/>
            <a:ext cx="5429250" cy="1866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Mit Lát a PLC és a HMI?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109912"/>
            <a:ext cx="5180647" cy="257175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PLC &amp; HMI Szerepe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538537"/>
            <a:ext cx="4933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A PLC regiszterértékeket kezel (frekvencia, áram, hibakód), míg a HMI ezeket emberi fogyasztásra alkalmas mérnöki egységekben (Hz, A, RPM) jeleníti meg.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109912"/>
            <a:ext cx="5180647" cy="257175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PLC Ciklikus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3538537"/>
            <a:ext cx="4933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A program ciklikusan írja a referenciafrekvenciát, olvassa az állapotot, ellenőrzi a hibakódokat, és kommunikációs hiba esetén biztonságosan leállítja a rendszert.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3138487"/>
            <a:ext cx="23812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3138487"/>
            <a:ext cx="26670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81212"/>
            <a:ext cx="542925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Ipari Esettanulmány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90737"/>
            <a:ext cx="5410200" cy="3409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3067050"/>
            <a:ext cx="5143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Alkalmazás: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Intelligens szállítósor hajtásvezérlése.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467100"/>
            <a:ext cx="5143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Hálózat: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Modbus RTU buszrendszer több eszközre kiterjesztve.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867150"/>
            <a:ext cx="5143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Felügyelet: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HMI valós idejű üzemállapot-kijelzéssel és hibajelzéssel.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100387"/>
            <a:ext cx="19050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500437"/>
            <a:ext cx="219075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3900487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862262"/>
            <a:ext cx="5429250" cy="1866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862262"/>
            <a:ext cx="5429250" cy="1866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Laborfeladat &amp; Tervezési Példa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109912"/>
            <a:ext cx="5180647" cy="257175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Laborfeladat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538537"/>
            <a:ext cx="4933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Tervezzen RS-485 Modbus RTU hálózatot PLC, HMI és egy frekvenciaváltó között. Határozza meg a kommunikációs paramétereket (Baud rate, Paritás).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109912"/>
            <a:ext cx="5180647" cy="25717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Címzési Terv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3538537"/>
            <a:ext cx="4933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Készítsen címzési tervet három frekvenciaváltó számára, és tervezze meg a lekérdezési ütemezési ciklust a buszterhelés optimalizálásához.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3138487"/>
            <a:ext cx="18097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3138487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857500"/>
            <a:ext cx="5429250" cy="1876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62262"/>
            <a:ext cx="5429250" cy="1866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Műhelytitok &amp; Hibaelhárítás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105150"/>
            <a:ext cx="5180647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Műhelytitok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543300"/>
            <a:ext cx="4933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A legtöbb kommunikációs hiba oka hibás slave cím, nem megfelelő baud rate vagy paritás, esetleg felcserélt A/B adatvezeték.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109912"/>
            <a:ext cx="5180647" cy="25717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43F5E"/>
                </a:solidFill>
                <a:latin typeface="Orbitron"/>
              </a:rPr>
              <a:t>Tipikus hibák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3538537"/>
            <a:ext cx="4933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Rossz címzés, hibás sebesség, hiányzó lezáró ellenállás (termination resistor), és nem megfelelő árnyékolás miatti zavarok.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3133725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3138487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IAA Mesterfeladat &amp; Mérnöki Szemlélet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95637"/>
            <a:ext cx="109537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IAA Mesterfeladat: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Tervezzen teljes Modbus RTU rendszert PLC-vel, HMI-vel, három frekvenciaváltóval és távoli I/O modullal.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595687"/>
            <a:ext cx="109537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Gondolkodjunk mérnökként!: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„A kommunikáció értékét nem a sebessége, hanem a megbízhatósága adja.”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995737"/>
            <a:ext cx="109537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IAA mérnöki idézet: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„A visszacsatolt hajtásvezérlés a modern automatizálás egyik alapköve.”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228975"/>
            <a:ext cx="13335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629025"/>
            <a:ext cx="17145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029075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690812"/>
            <a:ext cx="5429250" cy="2209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Önellenőrzés &amp; Történeti Idővonal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2938462"/>
            <a:ext cx="5180647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Önellenőrző kérdések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357562"/>
            <a:ext cx="49339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Roboto"/>
              </a:rPr>
              <a:t>1. Mi a Master és Slave szerepe?</a:t>
            </a:r>
            <a:r>
              <a:t>
</a:t>
            </a:r>
            <a:r>
              <a:rPr sz="1200" b="0" i="0" u="none">
                <a:solidFill>
                  <a:srgbClr val="94A3B8"/>
                </a:solidFill>
                <a:latin typeface="Roboto"/>
              </a:rPr>
              <a:t> 2. Mire szolgál a slave cím?</a:t>
            </a:r>
            <a:r>
              <a:t>
</a:t>
            </a:r>
            <a:r>
              <a:rPr sz="1200" b="0" i="0" u="none">
                <a:solidFill>
                  <a:srgbClr val="94A3B8"/>
                </a:solidFill>
                <a:latin typeface="Roboto"/>
              </a:rPr>
              <a:t> 3. Miért előnyös az RS-485?</a:t>
            </a:r>
            <a:r>
              <a:t>
</a:t>
            </a:r>
            <a:r>
              <a:rPr sz="1200" b="0" i="0" u="none">
                <a:solidFill>
                  <a:srgbClr val="94A3B8"/>
                </a:solidFill>
                <a:latin typeface="Roboto"/>
              </a:rPr>
              <a:t> 4. Milyen adatokat olvas a PLC?</a:t>
            </a:r>
            <a:r>
              <a:t>
</a:t>
            </a:r>
            <a:r>
              <a:rPr sz="1200" b="0" i="0" u="none">
                <a:solidFill>
                  <a:srgbClr val="94A3B8"/>
                </a:solidFill>
                <a:latin typeface="Roboto"/>
              </a:rPr>
              <a:t> 5. Melyek a leggyakoribb Modbus hibák?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6500" y="2371725"/>
            <a:ext cx="5429250" cy="2847975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86500" y="2371725"/>
          <a:ext cx="5429249" cy="2847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0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959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Orbitron"/>
                        </a:rPr>
                        <a:t>Év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Orbitron"/>
                        </a:rPr>
                        <a:t>Fejlődési mérföldkő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59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4A3B8"/>
                          </a:solidFill>
                          <a:latin typeface="Roboto"/>
                        </a:rPr>
                        <a:t>1980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4A3B8"/>
                          </a:solidFill>
                          <a:latin typeface="Roboto"/>
                        </a:rPr>
                        <a:t>Analóg vezérlés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59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4A3B8"/>
                          </a:solidFill>
                          <a:latin typeface="Roboto"/>
                        </a:rPr>
                        <a:t>1990 / 1995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4A3B8"/>
                          </a:solidFill>
                          <a:latin typeface="Roboto"/>
                        </a:rPr>
                        <a:t>RS-232 / RS-485 átállás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59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4A3B8"/>
                          </a:solidFill>
                          <a:latin typeface="Roboto"/>
                        </a:rPr>
                        <a:t>1998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4A3B8"/>
                          </a:solidFill>
                          <a:latin typeface="Roboto"/>
                        </a:rPr>
                        <a:t>Modbus RTU szabvány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59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4A3B8"/>
                          </a:solidFill>
                          <a:latin typeface="Roboto"/>
                        </a:rPr>
                        <a:t>2005 - 2015+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4A3B8"/>
                          </a:solidFill>
                          <a:latin typeface="Roboto"/>
                        </a:rPr>
                        <a:t>Industrial Ethernet &amp; IIoT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2967037"/>
            <a:ext cx="209550" cy="2095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86500" y="2928937"/>
            <a:ext cx="204847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334970" y="2928937"/>
            <a:ext cx="33807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86500" y="3500437"/>
            <a:ext cx="204847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34970" y="3500437"/>
            <a:ext cx="33807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86500" y="4071937"/>
            <a:ext cx="204847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34970" y="4071937"/>
            <a:ext cx="33807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86500" y="4643437"/>
            <a:ext cx="204847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34970" y="4643437"/>
            <a:ext cx="33807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Image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047875" y="3028950"/>
            <a:ext cx="80962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47875" y="3790950"/>
            <a:ext cx="8096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47875" y="3790950"/>
            <a:ext cx="8096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875" y="3171825"/>
            <a:ext cx="857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43250" y="3178968"/>
            <a:ext cx="70008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Roboto"/>
              </a:rPr>
              <a:t>https://www.sevensensor.com/files/2026/05/Basic-characteristics-of-communication-cables-1-scaled.webp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3250" y="3412331"/>
            <a:ext cx="7000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Robo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Roboto"/>
              </a:rPr>
              <a:t>www.sevensensor.com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7875" y="3943350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143250" y="3950493"/>
            <a:ext cx="70008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Roboto"/>
              </a:rPr>
              <a:t>https://gnsems.com/wp-content/uploads/2026/05/PLC-Communication-System-Inspection-in-Industrial-Automation-Facility.webp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3250" y="4183856"/>
            <a:ext cx="7000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Robo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Roboto"/>
              </a:rPr>
              <a:t>gnsems.com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603</Words>
  <Application>Microsoft Office PowerPoint</Application>
  <PresentationFormat>Szélesvásznú</PresentationFormat>
  <Paragraphs>68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8" baseType="lpstr">
      <vt:lpstr>Arial</vt:lpstr>
      <vt:lpstr>Calibri</vt:lpstr>
      <vt:lpstr>Orbitron</vt:lpstr>
      <vt:lpstr>Roboto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2</cp:revision>
  <dcterms:created xsi:type="dcterms:W3CDTF">2013-01-27T09:14:16Z</dcterms:created>
  <dcterms:modified xsi:type="dcterms:W3CDTF">2026-08-02T13:54:53Z</dcterms:modified>
  <cp:category/>
</cp:coreProperties>
</file>