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49" d="100"/>
          <a:sy n="49" d="100"/>
        </p:scale>
        <p:origin x="965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0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81025" y="2503140"/>
            <a:ext cx="11029950" cy="20774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50" b="1" i="0" u="none" dirty="0">
                <a:solidFill>
                  <a:srgbClr val="38BDF8"/>
                </a:solidFill>
                <a:latin typeface="Plus Jakarta Sans"/>
              </a:rPr>
              <a:t>INTEGRÁLT AUTOMATIKA </a:t>
            </a:r>
            <a:r>
              <a:rPr lang="hu-HU" sz="1350" b="1" dirty="0">
                <a:solidFill>
                  <a:srgbClr val="38BDF8"/>
                </a:solidFill>
                <a:latin typeface="Plus Jakarta Sans"/>
              </a:rPr>
              <a:t>PROGRAM </a:t>
            </a:r>
            <a:r>
              <a:rPr sz="1350" b="1" i="0" u="none" dirty="0">
                <a:solidFill>
                  <a:srgbClr val="38BDF8"/>
                </a:solidFill>
                <a:latin typeface="Plus Jakarta Sans"/>
              </a:rPr>
              <a:t>(IA</a:t>
            </a:r>
            <a:r>
              <a:rPr lang="hu-HU" sz="1350" b="1" i="0" u="none" dirty="0">
                <a:solidFill>
                  <a:srgbClr val="38BDF8"/>
                </a:solidFill>
                <a:latin typeface="Plus Jakarta Sans"/>
              </a:rPr>
              <a:t>P</a:t>
            </a:r>
            <a:r>
              <a:rPr sz="1350" b="1" i="0" u="none" dirty="0">
                <a:solidFill>
                  <a:srgbClr val="38BDF8"/>
                </a:solidFill>
                <a:latin typeface="Plus Jakarta Sans"/>
              </a:rPr>
              <a:t>) • PLC ALAPISMERETEK – 22. HÉT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05276" y="2865090"/>
            <a:ext cx="11581447" cy="6704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5280"/>
              </a:lnSpc>
            </a:pPr>
            <a:r>
              <a:rPr sz="4800" b="1" i="0" u="none">
                <a:solidFill>
                  <a:srgbClr val="F8FAFC"/>
                </a:solidFill>
                <a:latin typeface="Plus Jakarta Sans"/>
              </a:rPr>
              <a:t>Jogosultságok és Audit Trail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09750" y="3726060"/>
            <a:ext cx="8572500" cy="628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475"/>
              </a:lnSpc>
            </a:pPr>
            <a:r>
              <a:rPr sz="1650" b="0" i="0" u="none">
                <a:solidFill>
                  <a:srgbClr val="38BDF8"/>
                </a:solidFill>
                <a:latin typeface="Plus Jakarta Sans Medium"/>
              </a:rPr>
              <a:t>Felhasználói jogosultságok, eseménynaplózás és hozzáférés-kezelés ipari rendszerekben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2743200"/>
            <a:ext cx="5324475" cy="21526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0" y="2743200"/>
            <a:ext cx="5324475" cy="21526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23925" y="3086100"/>
            <a:ext cx="4870608" cy="2952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F8FAFC"/>
                </a:solidFill>
                <a:latin typeface="Plus Jakarta Sans"/>
              </a:rPr>
              <a:t>🎯 A hét mottója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23925" y="3524250"/>
            <a:ext cx="4638675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1" u="none">
                <a:solidFill>
                  <a:srgbClr val="F8FAFC"/>
                </a:solidFill>
                <a:latin typeface="Plus Jakarta Sans"/>
              </a:rPr>
              <a:t>„A biztonság nemcsak a gépek védelméről szól, hanem arról is, hogy ki és mit változtathat meg a rendszerben.”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29400" y="3086100"/>
            <a:ext cx="4870608" cy="2952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F8FAFC"/>
                </a:solidFill>
                <a:latin typeface="Plus Jakarta Sans"/>
              </a:rPr>
              <a:t>🌍 A világ nagy kérdése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29400" y="3524250"/>
            <a:ext cx="4638675" cy="5485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CBD5E1"/>
                </a:solidFill>
                <a:latin typeface="Plus Jakarta Sans"/>
              </a:rPr>
              <a:t>Ki módosította a technológiai paramétert, mikor történt a változás, és hogyan követhető vissza az esemény?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1025" y="581025"/>
            <a:ext cx="11581447" cy="4476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50" b="1" i="0" u="none">
                <a:solidFill>
                  <a:srgbClr val="38BDF8"/>
                </a:solidFill>
                <a:latin typeface="Plus Jakarta Sans"/>
              </a:rPr>
              <a:t>A hét fókuszpontjai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2336006"/>
            <a:ext cx="5324475" cy="2967037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0" y="2336006"/>
            <a:ext cx="5324475" cy="296703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23925" y="2678906"/>
            <a:ext cx="4870608" cy="2952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F8FAFC"/>
                </a:solidFill>
                <a:latin typeface="Plus Jakarta Sans"/>
              </a:rPr>
              <a:t>📖 A technika története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23925" y="3117056"/>
            <a:ext cx="4638675" cy="8001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94A3B8"/>
                </a:solidFill>
                <a:latin typeface="Plus Jakarta Sans"/>
              </a:rPr>
              <a:t>A mechanikus kulcsos kapcsolóktól eljutottunk a szerepkör-alapú HMI-bejelentkezésekig és a szigorú szabványoknak (pl. FDA 21 CFR Part 11) megfeleltetett Audit Trail naplózó rendszerekig.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29400" y="2678906"/>
            <a:ext cx="4870608" cy="2952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F8FAFC"/>
                </a:solidFill>
                <a:latin typeface="Plus Jakarta Sans"/>
              </a:rPr>
              <a:t>👨‍🔬 Ismerjük meg a fejlesztőket!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29400" y="3117056"/>
            <a:ext cx="4638675" cy="600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94A3B8"/>
                </a:solidFill>
                <a:latin typeface="Plus Jakarta Sans"/>
              </a:rPr>
              <a:t>A hozzáférés-kezelés és naplózás terén kiemelkedő szabványokat biztosítanak a piacvezető automatizálási szereplők: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0" y="3831431"/>
            <a:ext cx="4410075" cy="242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1" i="0" u="none">
                <a:solidFill>
                  <a:srgbClr val="CBD5E1"/>
                </a:solidFill>
                <a:latin typeface="Plus Jakarta Sans"/>
              </a:rPr>
              <a:t>Siemens &amp; Rockwell</a:t>
            </a:r>
            <a:r>
              <a:rPr sz="1275" b="0" i="0" u="none">
                <a:solidFill>
                  <a:srgbClr val="CBD5E1"/>
                </a:solidFill>
                <a:latin typeface="Plus Jakarta Sans"/>
              </a:rPr>
              <a:t> (Security &amp; Audit Trail)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4207668"/>
            <a:ext cx="4410075" cy="242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1" i="0" u="none">
                <a:solidFill>
                  <a:srgbClr val="CBD5E1"/>
                </a:solidFill>
                <a:latin typeface="Plus Jakarta Sans"/>
              </a:rPr>
              <a:t>Schneider &amp; AVEVA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0" y="4583906"/>
            <a:ext cx="4410075" cy="242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1" i="0" u="none">
                <a:solidFill>
                  <a:srgbClr val="CBD5E1"/>
                </a:solidFill>
                <a:latin typeface="Plus Jakarta Sans"/>
              </a:rPr>
              <a:t>Inductive Automation</a:t>
            </a:r>
            <a:r>
              <a:rPr sz="1275" b="0" i="0" u="none">
                <a:solidFill>
                  <a:srgbClr val="CBD5E1"/>
                </a:solidFill>
                <a:latin typeface="Plus Jakarta Sans"/>
              </a:rPr>
              <a:t> (Ignition Access Control)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29400" y="3802856"/>
            <a:ext cx="123825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sz="1800" b="0" i="0" u="none">
                <a:solidFill>
                  <a:srgbClr val="38BDF8"/>
                </a:solidFill>
                <a:latin typeface="Plus Jakarta Sans"/>
              </a:rPr>
              <a:t>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9400" y="4179093"/>
            <a:ext cx="123825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sz="1800" b="0" i="0" u="none">
                <a:solidFill>
                  <a:srgbClr val="38BDF8"/>
                </a:solidFill>
                <a:latin typeface="Plus Jakarta Sans"/>
              </a:rP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29400" y="4555331"/>
            <a:ext cx="123825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sz="1800" b="0" i="0" u="none">
                <a:solidFill>
                  <a:srgbClr val="38BDF8"/>
                </a:solidFill>
                <a:latin typeface="Plus Jakarta Sans"/>
              </a:rPr>
              <a:t>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1025" y="581025"/>
            <a:ext cx="11581447" cy="4476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50" b="1" i="0" u="none">
                <a:solidFill>
                  <a:srgbClr val="38BDF8"/>
                </a:solidFill>
                <a:latin typeface="Plus Jakarta Sans"/>
              </a:rPr>
              <a:t>Háttér és Biztonsági Evolúció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2624137"/>
            <a:ext cx="3486150" cy="239077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52925" y="2624137"/>
            <a:ext cx="3486150" cy="239077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24825" y="2624137"/>
            <a:ext cx="3486150" cy="239077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76300" y="3538537"/>
            <a:ext cx="3040380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F8FAFC"/>
                </a:solidFill>
                <a:latin typeface="Plus Jakarta Sans"/>
              </a:rPr>
              <a:t>Jogosultsági szintek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6300" y="3919537"/>
            <a:ext cx="289560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94A3B8"/>
                </a:solidFill>
                <a:latin typeface="Plus Jakarta Sans"/>
              </a:rPr>
              <a:t>Megismerni a szerepkör-alapú hozzáférés-kezelés (RBAC) tervezését és elveit.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48200" y="3538537"/>
            <a:ext cx="3040380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F8FAFC"/>
                </a:solidFill>
                <a:latin typeface="Plus Jakarta Sans"/>
              </a:rPr>
              <a:t>Audit Trail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48200" y="3919537"/>
            <a:ext cx="289560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94A3B8"/>
                </a:solidFill>
                <a:latin typeface="Plus Jakarta Sans"/>
              </a:rPr>
              <a:t>Átlátni a műveletek naplózásának és a visszakövethetőségnek a technikai hátterét.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20100" y="3538537"/>
            <a:ext cx="3040380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F8FAFC"/>
                </a:solidFill>
                <a:latin typeface="Plus Jakarta Sans"/>
              </a:rPr>
              <a:t>Biztonságos védelem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20100" y="3919537"/>
            <a:ext cx="289560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94A3B8"/>
                </a:solidFill>
                <a:latin typeface="Plus Jakarta Sans"/>
              </a:rPr>
              <a:t>Elkerülni a tipikus hibákat, mint a közös jelszavak vagy a gyári admin fiókok meghagyása.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6300" y="2976562"/>
            <a:ext cx="428625" cy="3429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48200" y="2976562"/>
            <a:ext cx="342900" cy="34290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20100" y="2976562"/>
            <a:ext cx="304800" cy="3429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81025" y="581025"/>
            <a:ext cx="11581447" cy="4476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50" b="1" i="0" u="none">
                <a:solidFill>
                  <a:srgbClr val="38BDF8"/>
                </a:solidFill>
                <a:latin typeface="Plus Jakarta Sans"/>
              </a:rPr>
              <a:t>Tanulási célok ezen a héten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2876550"/>
            <a:ext cx="5324475" cy="18859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0" y="2876550"/>
            <a:ext cx="5324475" cy="18859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23925" y="3219450"/>
            <a:ext cx="4870608" cy="2952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F8FAFC"/>
                </a:solidFill>
                <a:latin typeface="Plus Jakarta Sans"/>
              </a:rPr>
              <a:t>📚 Elméleti alapok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23925" y="3657600"/>
            <a:ext cx="4638675" cy="600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94A3B8"/>
                </a:solidFill>
                <a:latin typeface="Plus Jakarta Sans"/>
              </a:rPr>
              <a:t>A különböző felhasználói szerepkörök (Operatórok, Karbantartók, Mérnökök, Adminisztrátorok) eltérő funkciókat érhetnek el. A kritikus módosítások kizárólag hitelesítés után hajthatók végre.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29400" y="3219450"/>
            <a:ext cx="4870608" cy="2952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F8FAFC"/>
                </a:solidFill>
                <a:latin typeface="Plus Jakarta Sans"/>
              </a:rPr>
              <a:t>⚙️ Adatfolyamat a háttérben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29400" y="3657600"/>
            <a:ext cx="4638675" cy="6477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81025" y="581025"/>
            <a:ext cx="11581447" cy="4476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50" b="1" i="0" u="none">
                <a:solidFill>
                  <a:srgbClr val="38BDF8"/>
                </a:solidFill>
                <a:latin typeface="Plus Jakarta Sans"/>
              </a:rPr>
              <a:t>Elméleti alapok és Adatfolyamat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2900362"/>
            <a:ext cx="5324475" cy="183832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0" y="2900362"/>
            <a:ext cx="5324475" cy="183832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23925" y="3243262"/>
            <a:ext cx="4870608" cy="2952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F8FAFC"/>
                </a:solidFill>
                <a:latin typeface="Plus Jakarta Sans"/>
              </a:rPr>
              <a:t>🖥️ Mit lát a PLC? – Mit lát a HMI?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23925" y="3681412"/>
            <a:ext cx="4638675" cy="600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94A3B8"/>
                </a:solidFill>
                <a:latin typeface="Plus Jakarta Sans"/>
              </a:rPr>
              <a:t>A HMI kezelői felülete felhasználóneveket és szerepköröket kezel, míg a PLC a beérkező parancsok mögött bitváltozók vagy hitelesítési flag-ek alapján hoz döntést a gépvezérlésről.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29400" y="3243262"/>
            <a:ext cx="4870608" cy="2952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F8FAFC"/>
                </a:solidFill>
                <a:latin typeface="Plus Jakarta Sans"/>
              </a:rPr>
              <a:t>💻 PLC biztonsági program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29400" y="3681412"/>
            <a:ext cx="4638675" cy="600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94A3B8"/>
                </a:solidFill>
                <a:latin typeface="Plus Jakarta Sans"/>
              </a:rPr>
              <a:t>A PLC a kritikus parancsok (pl. kézi kényszerítés, receptmódosítás) végrehajtása előtt belső logikával is ellenőrzi, hogy a feljogosított módban van-e a rendszer.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1025" y="581025"/>
            <a:ext cx="11581447" cy="4476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50" b="1" i="0" u="none">
                <a:solidFill>
                  <a:srgbClr val="38BDF8"/>
                </a:solidFill>
                <a:latin typeface="Plus Jakarta Sans"/>
              </a:rPr>
              <a:t>Feladatmegosztás: PLC és HMI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2900362"/>
            <a:ext cx="5324475" cy="183832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0" y="2900362"/>
            <a:ext cx="5324475" cy="183832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23925" y="3243262"/>
            <a:ext cx="4870608" cy="2952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F8FAFC"/>
                </a:solidFill>
                <a:latin typeface="Plus Jakarta Sans"/>
              </a:rPr>
              <a:t>🏭 Ipari esettanulmány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23925" y="3681412"/>
            <a:ext cx="4638675" cy="600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94A3B8"/>
                </a:solidFill>
                <a:latin typeface="Plus Jakarta Sans"/>
              </a:rPr>
              <a:t>Egy gyártósoron feltárt hibás paraméterbeállítást az </a:t>
            </a:r>
            <a:r>
              <a:rPr sz="1200" b="1" i="0" u="none">
                <a:solidFill>
                  <a:srgbClr val="94A3B8"/>
                </a:solidFill>
                <a:latin typeface="Plus Jakarta Sans"/>
              </a:rPr>
              <a:t>Audit Trail napló</a:t>
            </a:r>
            <a:r>
              <a:rPr sz="1200" b="0" i="0" u="none">
                <a:solidFill>
                  <a:srgbClr val="94A3B8"/>
                </a:solidFill>
                <a:latin typeface="Plus Jakarta Sans"/>
              </a:rPr>
              <a:t> segítségével pontosan azonosítani tudták, így megakadályozták a további selejt gyártását.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29400" y="3243262"/>
            <a:ext cx="4870608" cy="2952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F8FAFC"/>
                </a:solidFill>
                <a:latin typeface="Plus Jakarta Sans"/>
              </a:rPr>
              <a:t>🧪 Laborfeladat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29400" y="3681412"/>
            <a:ext cx="4638675" cy="600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94A3B8"/>
                </a:solidFill>
                <a:latin typeface="Plus Jakarta Sans"/>
              </a:rPr>
              <a:t>Tervezzenek meg négy különböző felhasználói szintet és egy részletes jogosultsági mátrixot egy szimulált ipari HMI berendezéshez.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1025" y="581025"/>
            <a:ext cx="11581447" cy="4476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50" b="1" i="0" u="none">
                <a:solidFill>
                  <a:srgbClr val="38BDF8"/>
                </a:solidFill>
                <a:latin typeface="Plus Jakarta Sans"/>
              </a:rPr>
              <a:t>Gyakorlati Alkalmazás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2436018"/>
            <a:ext cx="5324475" cy="2767012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0" y="2436018"/>
            <a:ext cx="5324475" cy="276701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23925" y="2778918"/>
            <a:ext cx="4870608" cy="2952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F8FAFC"/>
                </a:solidFill>
                <a:latin typeface="Plus Jakarta Sans"/>
              </a:rPr>
              <a:t>📊 Tervezési példa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23925" y="3217068"/>
            <a:ext cx="4638675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94A3B8"/>
                </a:solidFill>
                <a:latin typeface="Plus Jakarta Sans"/>
              </a:rPr>
              <a:t>Készítsünk jogosultsági mátrixot egy automatizált csomagológéphez: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29400" y="2778918"/>
            <a:ext cx="4870608" cy="2952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F8FAFC"/>
                </a:solidFill>
                <a:latin typeface="Plus Jakarta Sans"/>
              </a:rPr>
              <a:t>🔧 Műhelytitok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29400" y="3217068"/>
            <a:ext cx="4638675" cy="6572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F8FAFC"/>
                </a:solidFill>
                <a:latin typeface="Plus Jakarta Sans Medium"/>
              </a:rPr>
              <a:t>„A PLC oldali jogosultság-ellenőrzés mindig nagyobb biztonságot nyújt, mint a kizárólag HMI oldali védelem, mert az utóbbi szoftveresen megkerülhető lehet.”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52525" y="3731418"/>
            <a:ext cx="4410075" cy="242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1" i="0" u="none">
                <a:solidFill>
                  <a:srgbClr val="CBD5E1"/>
                </a:solidFill>
                <a:latin typeface="Plus Jakarta Sans"/>
              </a:rPr>
              <a:t>Operátor:</a:t>
            </a:r>
            <a:r>
              <a:rPr sz="1275" b="0" i="0" u="none">
                <a:solidFill>
                  <a:srgbClr val="CBD5E1"/>
                </a:solidFill>
                <a:latin typeface="Plus Jakarta Sans"/>
              </a:rPr>
              <a:t> Indítás, leállítás, riasztás nyugtázás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52525" y="4107656"/>
            <a:ext cx="4410075" cy="242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1" i="0" u="none">
                <a:solidFill>
                  <a:srgbClr val="CBD5E1"/>
                </a:solidFill>
                <a:latin typeface="Plus Jakarta Sans"/>
              </a:rPr>
              <a:t>Karbantartó:</a:t>
            </a:r>
            <a:r>
              <a:rPr sz="1275" b="0" i="0" u="none">
                <a:solidFill>
                  <a:srgbClr val="CBD5E1"/>
                </a:solidFill>
                <a:latin typeface="Plus Jakarta Sans"/>
              </a:rPr>
              <a:t> Kézi vezérlés, szenzor kalibrálás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52525" y="4483893"/>
            <a:ext cx="4410075" cy="242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1" i="0" u="none">
                <a:solidFill>
                  <a:srgbClr val="CBD5E1"/>
                </a:solidFill>
                <a:latin typeface="Plus Jakarta Sans"/>
              </a:rPr>
              <a:t>Mérnök:</a:t>
            </a:r>
            <a:r>
              <a:rPr sz="1275" b="0" i="0" u="none">
                <a:solidFill>
                  <a:srgbClr val="CBD5E1"/>
                </a:solidFill>
                <a:latin typeface="Plus Jakarta Sans"/>
              </a:rPr>
              <a:t> Receptmódosítás, időzítés paraméterek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23925" y="3702843"/>
            <a:ext cx="123825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sz="1800" b="0" i="0" u="none">
                <a:solidFill>
                  <a:srgbClr val="38BDF8"/>
                </a:solidFill>
                <a:latin typeface="Plus Jakarta Sans"/>
              </a:rPr>
              <a:t>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3925" y="4079081"/>
            <a:ext cx="123825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sz="1800" b="0" i="0" u="none">
                <a:solidFill>
                  <a:srgbClr val="38BDF8"/>
                </a:solidFill>
                <a:latin typeface="Plus Jakarta Sans"/>
              </a:rP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3925" y="4455318"/>
            <a:ext cx="123825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sz="1800" b="0" i="0" u="none">
                <a:solidFill>
                  <a:srgbClr val="38BDF8"/>
                </a:solidFill>
                <a:latin typeface="Plus Jakarta Sans"/>
              </a:rPr>
              <a:t>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1025" y="581025"/>
            <a:ext cx="11581447" cy="4476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50" b="1" i="0" u="none">
                <a:solidFill>
                  <a:srgbClr val="38BDF8"/>
                </a:solidFill>
                <a:latin typeface="Plus Jakarta Sans"/>
              </a:rPr>
              <a:t>Mérnöki Számítások és Tippek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2571750"/>
            <a:ext cx="5324475" cy="24955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0" y="2571750"/>
            <a:ext cx="5324475" cy="24955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23925" y="2914650"/>
            <a:ext cx="4870608" cy="2952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F8FAFC"/>
                </a:solidFill>
                <a:latin typeface="Plus Jakarta Sans"/>
              </a:rPr>
              <a:t>⚠️ Tipikus hibák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29400" y="2914650"/>
            <a:ext cx="4870608" cy="2952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F8FAFC"/>
                </a:solidFill>
                <a:latin typeface="Plus Jakarta Sans"/>
              </a:rPr>
              <a:t>🎓 IAA Mesterfeladat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29400" y="3352800"/>
            <a:ext cx="4638675" cy="6572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F8FAFC"/>
                </a:solidFill>
                <a:latin typeface="Plus Jakarta Sans"/>
              </a:rPr>
              <a:t>Tervezzen teljes körű jogosultsági rendszert és Audit Trail eseménylistát egy szigorú minőségbiztosítási igénnyel bíró gyógyszeripari berendezéshez!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2525" y="3352800"/>
            <a:ext cx="4410075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0" i="0" u="none">
                <a:solidFill>
                  <a:srgbClr val="CBD5E1"/>
                </a:solidFill>
                <a:latin typeface="Plus Jakarta Sans"/>
              </a:rPr>
              <a:t>Mindenki által használt közös jelszavak (pl. „admin/admin”)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52525" y="3971925"/>
            <a:ext cx="4410075" cy="242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0" i="0" u="none">
                <a:solidFill>
                  <a:srgbClr val="CBD5E1"/>
                </a:solidFill>
                <a:latin typeface="Plus Jakarta Sans"/>
              </a:rPr>
              <a:t>Hiányzó eseménynaplózás vagy túl rövid megőrzési idő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52525" y="4348162"/>
            <a:ext cx="4410075" cy="242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0" i="0" u="none">
                <a:solidFill>
                  <a:srgbClr val="CBD5E1"/>
                </a:solidFill>
                <a:latin typeface="Plus Jakarta Sans"/>
              </a:rPr>
              <a:t>Dokumentálatlan, manuális felülírások a gép mellett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925" y="3324225"/>
            <a:ext cx="123825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sz="1800" b="0" i="0" u="none">
                <a:solidFill>
                  <a:srgbClr val="38BDF8"/>
                </a:solidFill>
                <a:latin typeface="Plus Jakarta Sans"/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23925" y="3943350"/>
            <a:ext cx="123825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sz="1800" b="0" i="0" u="none">
                <a:solidFill>
                  <a:srgbClr val="38BDF8"/>
                </a:solidFill>
                <a:latin typeface="Plus Jakarta Sans"/>
              </a:rPr>
              <a:t>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3925" y="4319587"/>
            <a:ext cx="123825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sz="1800" b="0" i="0" u="none">
                <a:solidFill>
                  <a:srgbClr val="38BDF8"/>
                </a:solidFill>
                <a:latin typeface="Plus Jakarta Sans"/>
              </a:rP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1025" y="581025"/>
            <a:ext cx="11581447" cy="4476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50" b="1" i="0" u="none">
                <a:solidFill>
                  <a:srgbClr val="38BDF8"/>
                </a:solidFill>
                <a:latin typeface="Plus Jakarta Sans"/>
              </a:rPr>
              <a:t>Minőségellenőrzés és Elemzés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81025" y="2568178"/>
            <a:ext cx="5324475" cy="20264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3990"/>
              </a:lnSpc>
            </a:pPr>
            <a:r>
              <a:rPr sz="2850" b="1" i="0" u="none">
                <a:solidFill>
                  <a:srgbClr val="F8FAFC"/>
                </a:solidFill>
                <a:latin typeface="Plus Jakarta Sans"/>
              </a:rPr>
              <a:t>„A jó rendszer nemcsak működik, hanem minden fontos változtatás visszakövethető benne.”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33562" y="4832746"/>
            <a:ext cx="2819400" cy="238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0" i="0" u="none">
                <a:solidFill>
                  <a:srgbClr val="38BDF8"/>
                </a:solidFill>
                <a:latin typeface="Plus Jakarta Sans Medium"/>
              </a:rPr>
              <a:t>— Gondolkodjunk mérnökként!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86500" y="2568178"/>
            <a:ext cx="5324475" cy="20264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3990"/>
              </a:lnSpc>
            </a:pPr>
            <a:r>
              <a:rPr sz="2850" b="1" i="0" u="none">
                <a:solidFill>
                  <a:srgbClr val="F8FAFC"/>
                </a:solidFill>
                <a:latin typeface="Plus Jakarta Sans"/>
              </a:rPr>
              <a:t>„A nyomon követhetőség a modern minőségbiztosítás egyik legfontosabb alapköve.”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15287" y="4832746"/>
            <a:ext cx="1866900" cy="238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0" i="0" u="none">
                <a:solidFill>
                  <a:srgbClr val="38BDF8"/>
                </a:solidFill>
                <a:latin typeface="Plus Jakarta Sans Medium"/>
              </a:rPr>
              <a:t>— IAA mérnöki idézet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1025" y="581025"/>
            <a:ext cx="11581447" cy="4476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50" b="1" i="0" u="none">
                <a:solidFill>
                  <a:srgbClr val="38BDF8"/>
                </a:solidFill>
                <a:latin typeface="Plus Jakarta Sans"/>
              </a:rPr>
              <a:t>Mérnöki Filozófia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581025" y="2124075"/>
            <a:ext cx="11029950" cy="3390900"/>
          </a:xfrm>
          <a:prstGeom prst="roundRect">
            <a:avLst>
              <a:gd name="adj" fmla="val 0"/>
            </a:avLst>
          </a:prstGeom>
          <a:solidFill>
            <a:srgbClr val="0F172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81025" y="2124075"/>
          <a:ext cx="11020423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675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4995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85370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65150"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F8FAFC"/>
                          </a:solidFill>
                          <a:latin typeface="Plus Jakarta Sans"/>
                        </a:rPr>
                        <a:t>Időszak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F8FAFC"/>
                          </a:solidFill>
                          <a:latin typeface="Plus Jakarta Sans"/>
                        </a:rPr>
                        <a:t>Fejlődési lépés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F8FAFC"/>
                          </a:solidFill>
                          <a:latin typeface="Plus Jakarta Sans"/>
                        </a:rPr>
                        <a:t>Jelentőség az automatizálásban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5150">
                <a:tc>
                  <a:txBody>
                    <a:bodyPr/>
                    <a:lstStyle/>
                    <a:p>
                      <a:pPr algn="l"/>
                      <a:r>
                        <a:rPr sz="1275" b="1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1970-es évek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75" b="0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Kulcsos üzemmód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75" b="0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Fizikai kulcsos kapcsolók (Auto / Manual / Setup)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5150">
                <a:tc>
                  <a:txBody>
                    <a:bodyPr/>
                    <a:lstStyle/>
                    <a:p>
                      <a:pPr algn="l"/>
                      <a:r>
                        <a:rPr sz="1275" b="1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1980-as évek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75" b="0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Jelszavas HMI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75" b="0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Alapvető, szöveges jelszavas védelem a HMI panelen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5150">
                <a:tc>
                  <a:txBody>
                    <a:bodyPr/>
                    <a:lstStyle/>
                    <a:p>
                      <a:pPr algn="l"/>
                      <a:r>
                        <a:rPr sz="1275" b="1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1990-es évek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75" b="0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Jogosultsági szintek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75" b="0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Szerepkörök szerinti menüpontok és funkciók korlátozása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5150">
                <a:tc>
                  <a:txBody>
                    <a:bodyPr/>
                    <a:lstStyle/>
                    <a:p>
                      <a:pPr algn="l"/>
                      <a:r>
                        <a:rPr sz="1275" b="1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2000-es évek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75" b="0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Audit Trail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75" b="0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Műveletek automatikus, tamper-proof naplózása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5150">
                <a:tc>
                  <a:txBody>
                    <a:bodyPr/>
                    <a:lstStyle/>
                    <a:p>
                      <a:pPr algn="l"/>
                      <a:r>
                        <a:rPr sz="1275" b="1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2010+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75" b="0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Központi felhasználó-kezelés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75" b="0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Aktív könyvtár (Active Directory) integráció ipari szinten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585787" y="2690812"/>
            <a:ext cx="1916757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2502544" y="2690812"/>
            <a:ext cx="3249959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752504" y="2690812"/>
            <a:ext cx="5853707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85787" y="3252787"/>
            <a:ext cx="1916757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2502544" y="3252787"/>
            <a:ext cx="3249959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752504" y="3252787"/>
            <a:ext cx="5853707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85787" y="3814762"/>
            <a:ext cx="1916757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2502544" y="3814762"/>
            <a:ext cx="3249959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5752504" y="3814762"/>
            <a:ext cx="5853707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85787" y="4376737"/>
            <a:ext cx="1916757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2502544" y="4376737"/>
            <a:ext cx="3249959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5752504" y="4376737"/>
            <a:ext cx="5853707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585787" y="4938712"/>
            <a:ext cx="1916757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2502544" y="4938712"/>
            <a:ext cx="3249959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5752504" y="4938712"/>
            <a:ext cx="5853707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81025" y="581025"/>
            <a:ext cx="11581447" cy="4476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50" b="1" i="0" u="none">
                <a:solidFill>
                  <a:srgbClr val="38BDF8"/>
                </a:solidFill>
                <a:latin typeface="Plus Jakarta Sans"/>
              </a:rPr>
              <a:t>A Hozzáférés-kezelés Evolúciója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2693193"/>
            <a:ext cx="5324475" cy="2252662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0" y="2693193"/>
            <a:ext cx="5324475" cy="225266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23925" y="3036093"/>
            <a:ext cx="4870608" cy="2952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F8FAFC"/>
                </a:solidFill>
                <a:latin typeface="Plus Jakarta Sans"/>
              </a:rPr>
              <a:t>❓ Önellenőrző kérdések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29400" y="3036093"/>
            <a:ext cx="4870608" cy="2952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F8FAFC"/>
                </a:solidFill>
                <a:latin typeface="Plus Jakarta Sans"/>
              </a:rPr>
              <a:t>🔜 Következő hét (23. hét)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29400" y="3474243"/>
            <a:ext cx="4638675" cy="6572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F8FAFC"/>
                </a:solidFill>
                <a:latin typeface="Plus Jakarta Sans"/>
              </a:rPr>
              <a:t>PLC kommunikációs hálózatok</a:t>
            </a:r>
            <a:r>
              <a:t>
</a:t>
            </a:r>
            <a:r>
              <a:rPr sz="1350" b="0" i="0" u="none">
                <a:solidFill>
                  <a:srgbClr val="F8FAFC"/>
                </a:solidFill>
                <a:latin typeface="Plus Jakarta Sans"/>
              </a:rPr>
              <a:t> Ipari buszrendszerek (Profibus, Profinet, Modbus, Ethernet/IP) működése és adatáramlása.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2525" y="3474243"/>
            <a:ext cx="4410075" cy="242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0" i="0" u="none">
                <a:solidFill>
                  <a:srgbClr val="CBD5E1"/>
                </a:solidFill>
                <a:latin typeface="Plus Jakarta Sans"/>
              </a:rPr>
              <a:t>Mit jelent pontosan az Audit Trail?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52525" y="3850481"/>
            <a:ext cx="4410075" cy="242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0" i="0" u="none">
                <a:solidFill>
                  <a:srgbClr val="CBD5E1"/>
                </a:solidFill>
                <a:latin typeface="Plus Jakarta Sans"/>
              </a:rPr>
              <a:t>Mi a szerepkör-alapú hozzáférés előnye?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52525" y="4226718"/>
            <a:ext cx="4410075" cy="242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0" i="0" u="none">
                <a:solidFill>
                  <a:srgbClr val="CBD5E1"/>
                </a:solidFill>
                <a:latin typeface="Plus Jakarta Sans"/>
              </a:rPr>
              <a:t>Miért szükséges a PLC oldali ellenőrzés?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925" y="3445668"/>
            <a:ext cx="123825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sz="1800" b="0" i="0" u="none">
                <a:solidFill>
                  <a:srgbClr val="38BDF8"/>
                </a:solidFill>
                <a:latin typeface="Plus Jakarta Sans"/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23925" y="3821906"/>
            <a:ext cx="123825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sz="1800" b="0" i="0" u="none">
                <a:solidFill>
                  <a:srgbClr val="38BDF8"/>
                </a:solidFill>
                <a:latin typeface="Plus Jakarta Sans"/>
              </a:rPr>
              <a:t>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3925" y="4198143"/>
            <a:ext cx="123825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sz="1800" b="0" i="0" u="none">
                <a:solidFill>
                  <a:srgbClr val="38BDF8"/>
                </a:solidFill>
                <a:latin typeface="Plus Jakarta Sans"/>
              </a:rP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1025" y="581025"/>
            <a:ext cx="11581447" cy="4476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50" b="1" i="0" u="none">
                <a:solidFill>
                  <a:srgbClr val="38BDF8"/>
                </a:solidFill>
                <a:latin typeface="Plus Jakarta Sans"/>
              </a:rPr>
              <a:t>Önellenőrzés és Kilátások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642</Words>
  <Application>Microsoft Office PowerPoint</Application>
  <PresentationFormat>Szélesvásznú</PresentationFormat>
  <Paragraphs>95</Paragraphs>
  <Slides>12</Slides>
  <Notes>0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4</vt:i4>
      </vt:variant>
      <vt:variant>
        <vt:lpstr>Téma</vt:lpstr>
      </vt:variant>
      <vt:variant>
        <vt:i4>1</vt:i4>
      </vt:variant>
      <vt:variant>
        <vt:lpstr>Diacímek</vt:lpstr>
      </vt:variant>
      <vt:variant>
        <vt:i4>12</vt:i4>
      </vt:variant>
    </vt:vector>
  </HeadingPairs>
  <TitlesOfParts>
    <vt:vector size="17" baseType="lpstr">
      <vt:lpstr>Arial</vt:lpstr>
      <vt:lpstr>Calibri</vt:lpstr>
      <vt:lpstr>Plus Jakarta Sans</vt:lpstr>
      <vt:lpstr>Plus Jakarta Sans Medium</vt:lpstr>
      <vt:lpstr>Office Theme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PowerPoint-bemutató</dc:title>
  <dc:subject/>
  <dc:creator>Fazekas Zsolt</dc:creator>
  <cp:keywords/>
  <dc:description>generated using python-pptx</dc:description>
  <cp:lastModifiedBy>zsolt Fazekas</cp:lastModifiedBy>
  <cp:revision>2</cp:revision>
  <dcterms:created xsi:type="dcterms:W3CDTF">2013-01-27T09:14:16Z</dcterms:created>
  <dcterms:modified xsi:type="dcterms:W3CDTF">2026-08-02T13:57:02Z</dcterms:modified>
  <cp:category/>
</cp:coreProperties>
</file>