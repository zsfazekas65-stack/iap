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IAP · IRÁNYÍTÁSTECHNIKA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PLC számlálók – CTU, CTD, CTUD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3CAE2"/>
                </a:solidFill>
                <a:latin typeface="Aptos"/>
              </a:defRPr>
            </a:pPr>
            <a:r>
              <a:t>Működés • változódeklaráció • GMWIN-szimuláció • hibakeresés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10652760" cy="141732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547872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5F9FF"/>
                </a:solidFill>
                <a:latin typeface="Aptos"/>
              </a:defRPr>
            </a:pPr>
            <a:r>
              <a:t>Egy impulzus nem egy másodperc!</a:t>
            </a:r>
          </a:p>
          <a:p>
            <a:pPr>
              <a:spcAft>
                <a:spcPts val="1000"/>
              </a:spcAft>
              <a:defRPr sz="2500" b="1">
                <a:solidFill>
                  <a:srgbClr val="F5F9FF"/>
                </a:solidFill>
                <a:latin typeface="Aptos"/>
              </a:defRPr>
            </a:pPr>
            <a:r>
              <a:t>A számláló eseményeket számol, nem önmagában időt mér.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Tanulási célok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303520" cy="19202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20824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Megértem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87168"/>
            <a:ext cx="48920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Mi a felfutó él, a PV, a CV és a Q kimenet?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303520" cy="19202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020824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Alkalmazom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487168"/>
            <a:ext cx="48920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CTU, CTD és CTUD bekötése változókkal.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5303520" cy="19202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169664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Ellenőrzöm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636008"/>
            <a:ext cx="48920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Szimuláció, értékfigyelés, hibakeresés.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023360"/>
            <a:ext cx="5303520" cy="19202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4169664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Alkotok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636008"/>
            <a:ext cx="48920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Darabszámláló és parkolóhely-számláló.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Mit számol a PLC?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303520" cy="19202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20824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Felfutó él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87168"/>
            <a:ext cx="48920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0 → 1 állapotváltozáskor történik számlálás.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303520" cy="19202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020824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Nyomva tartás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487168"/>
            <a:ext cx="48920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A tartós TRUE nem jelent újabb impulzust.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BB41"/>
                </a:solidFill>
                <a:latin typeface="Aptos"/>
              </a:defRPr>
            </a:pPr>
            <a:r>
              <a:t>CU:  0  0  1  1  1  0  1  0 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47D998"/>
                </a:solidFill>
                <a:latin typeface="Aptos"/>
              </a:defRPr>
            </a:pPr>
            <a:r>
              <a:t>Számlálás:      +1          +1      +1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CTU – felfelé számláló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6583680" cy="14630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66544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Lényeg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32888"/>
            <a:ext cx="6172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Nulláról indul, minden CU felfutó élre eggyel növekszik.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6583680" cy="155448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849624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R és PV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315968"/>
            <a:ext cx="617220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R = TRUE → CV = 0.  PV a küszöbérték; Q igaz, ha CV ≥ PV.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965960"/>
            <a:ext cx="3291840" cy="3383280"/>
          </a:xfrm>
          <a:prstGeom prst="roundRect">
            <a:avLst/>
          </a:prstGeom>
          <a:solidFill>
            <a:srgbClr val="1A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11226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600" b="1">
                <a:solidFill>
                  <a:srgbClr val="FFBB41"/>
                </a:solidFill>
                <a:latin typeface="Aptos"/>
              </a:defRPr>
            </a:pPr>
            <a:r>
              <a:t>CTU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72491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CU  ← FEL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31546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R    ← NULLAZ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358444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PV ← HATAR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7" y="27249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7D998"/>
                </a:solidFill>
                <a:latin typeface="Aptos"/>
              </a:defRPr>
            </a:pPr>
            <a:r>
              <a:t>Q → KESZ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7" y="3154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7D998"/>
                </a:solidFill>
                <a:latin typeface="Aptos"/>
              </a:defRPr>
            </a:pPr>
            <a:r>
              <a:t>CV → ERTEK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CTU – öt impulzus nyomon követése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FBB41"/>
                </a:solidFill>
                <a:latin typeface="Aptos"/>
              </a:defRPr>
            </a:pPr>
            <a:r>
              <a:t>PV = 5  |  indulás: CV 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97480"/>
            <a:ext cx="1554480" cy="1024128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163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947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Kezdet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0008" y="2697480"/>
            <a:ext cx="1554480" cy="1024128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0008" y="28163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37947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1. impulzus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14215" y="2697480"/>
            <a:ext cx="1554480" cy="1024128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14215" y="28163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14215" y="37947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2. impulzus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78423" y="2697480"/>
            <a:ext cx="1554480" cy="1024128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78423" y="28163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78423" y="37947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3. impulzus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42631" y="2697480"/>
            <a:ext cx="1554480" cy="1024128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2631" y="28163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1" y="37947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4. impulzus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2697480"/>
            <a:ext cx="1554480" cy="1024128"/>
          </a:xfrm>
          <a:prstGeom prst="roundRect">
            <a:avLst/>
          </a:prstGeom>
          <a:solidFill>
            <a:srgbClr val="47D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28163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0A1F3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7947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5. impulzus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92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47D998"/>
                </a:solidFill>
                <a:latin typeface="Aptos"/>
              </a:defRPr>
            </a:pPr>
            <a:r>
              <a:t>Q: FALSE     FALSE     FALSE     FALSE     FALSE     TRUE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CTU – bemenetek és kimenetek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228600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56815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Jel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3511" y="1874519"/>
            <a:ext cx="438912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39" y="1956815"/>
            <a:ext cx="4251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Feladat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0063" y="1874519"/>
            <a:ext cx="411480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1" y="1956815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Típus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32303"/>
            <a:ext cx="228600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514600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CU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53511" y="2432303"/>
            <a:ext cx="438912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39" y="2514600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Felfelé impulzus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3" y="2432303"/>
            <a:ext cx="411480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1" y="2514600"/>
            <a:ext cx="3968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BOOL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53511"/>
            <a:ext cx="228600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35808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53511" y="2953511"/>
            <a:ext cx="438912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39" y="3035808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Nullázás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0063" y="2953511"/>
            <a:ext cx="411480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9791" y="3035808"/>
            <a:ext cx="3968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BOOL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74720"/>
            <a:ext cx="228600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557015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PV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1" y="3474720"/>
            <a:ext cx="438912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3239" y="3557015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Határérték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0063" y="3474720"/>
            <a:ext cx="411480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9791" y="3557015"/>
            <a:ext cx="3968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995927"/>
            <a:ext cx="228600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078224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53511" y="3995927"/>
            <a:ext cx="438912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39" y="4078224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Határérték elérése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0063" y="3995927"/>
            <a:ext cx="411480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9791" y="4078224"/>
            <a:ext cx="3968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BOOL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517136"/>
            <a:ext cx="228600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4599431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CV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1" y="4517136"/>
            <a:ext cx="438912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63239" y="4599431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Aktuális érték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70063" y="4517136"/>
            <a:ext cx="411480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9791" y="4599431"/>
            <a:ext cx="3968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CTU – gyakorlati példa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303520" cy="19202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20824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Dobozszámláló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87168"/>
            <a:ext cx="48920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A fotocella minden áthaladó doboznál egy impulzust 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303520" cy="19202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020824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Cél: 5 darab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487168"/>
            <a:ext cx="48920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PV = 5. Az ötödik doboznál Q = TRUE.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5303520" cy="19202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169664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Új ciklus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636008"/>
            <a:ext cx="48920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A RESET nyomógomb nullázza a számlálót.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023360"/>
            <a:ext cx="5303520" cy="19202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4169664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Figyeld meg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636008"/>
            <a:ext cx="48920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A PV elérése nem feltétlenül állítja le a számlálást.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CTD – lefelé számláló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6583680" cy="150876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66544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LD =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32888"/>
            <a:ext cx="617220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LD = TRUE esetén a PV értékét tölti a CV-be.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30752"/>
            <a:ext cx="6583680" cy="155448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877056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CD impulzus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343400"/>
            <a:ext cx="617220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Minden felfutó él csökkenti a CV-t; Q igaz, ha CV ≤ 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965960"/>
            <a:ext cx="3291840" cy="3383280"/>
          </a:xfrm>
          <a:prstGeom prst="roundRect">
            <a:avLst/>
          </a:prstGeom>
          <a:solidFill>
            <a:srgbClr val="1A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11226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600" b="1">
                <a:solidFill>
                  <a:srgbClr val="FFBB41"/>
                </a:solidFill>
                <a:latin typeface="Aptos"/>
              </a:defRPr>
            </a:pPr>
            <a:r>
              <a:t>CTD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72491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CD ← 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31546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LD ← BETOLT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358444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PV ← HATAR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7" y="27249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7D998"/>
                </a:solidFill>
                <a:latin typeface="Aptos"/>
              </a:defRPr>
            </a:pPr>
            <a:r>
              <a:t>Q → KESZ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7" y="3154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7D998"/>
                </a:solidFill>
                <a:latin typeface="Aptos"/>
              </a:defRPr>
            </a:pPr>
            <a:r>
              <a:t>CV → ERTEK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CTD – betöltés után visszaszámolás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647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FBB41"/>
                </a:solidFill>
                <a:latin typeface="Aptos"/>
              </a:defRPr>
            </a:pPr>
            <a:r>
              <a:t>LD impulzus → CV = PV =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43200"/>
            <a:ext cx="1554480" cy="1024128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404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0008" y="2743200"/>
            <a:ext cx="1554480" cy="1024128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0008" y="286207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38404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1. CD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14215" y="2743200"/>
            <a:ext cx="1554480" cy="1024128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14215" y="286207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14215" y="38404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2. 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78423" y="2743200"/>
            <a:ext cx="1554480" cy="1024128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78423" y="286207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78423" y="38404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3. CD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42631" y="2743200"/>
            <a:ext cx="1554480" cy="1024128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2631" y="286207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1" y="38404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4. CD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2743200"/>
            <a:ext cx="1554480" cy="1024128"/>
          </a:xfrm>
          <a:prstGeom prst="roundRect">
            <a:avLst/>
          </a:prstGeom>
          <a:solidFill>
            <a:srgbClr val="47D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286207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0A1F3E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8404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5. CD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7D998"/>
                </a:solidFill>
                <a:latin typeface="Aptos"/>
              </a:defRPr>
            </a:pPr>
            <a:r>
              <a:t>A Q a nulla elérésekor TRUE.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CTD – miért kell az LD?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03520" cy="19202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112264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LD nélkül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78608"/>
            <a:ext cx="48920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Nem biztosított az elvárt kezdőérték. Először töltsük be a PV-t.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5303520" cy="19202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112264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LD tartós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578608"/>
            <a:ext cx="48920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A blokk újratöltést végez; nem tud szabadon visszaszámolni.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10835640" cy="141732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215384"/>
            <a:ext cx="10469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Helyes sorrend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681728"/>
            <a:ext cx="10424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LD = TRUE → LD = FALSE → CD impulzusok.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CTUD – kétirányú számláló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212080" cy="137160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7510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41448"/>
            <a:ext cx="4800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Belépő darab/autó: CV növekszik.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5212080" cy="137160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52958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995928"/>
            <a:ext cx="4800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Kilépő darab/autó: CV csökken.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37760"/>
            <a:ext cx="5212080" cy="10058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508406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R és 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555040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R nulláz, LD a PV-t tölti be.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920240"/>
            <a:ext cx="3291840" cy="3383280"/>
          </a:xfrm>
          <a:prstGeom prst="roundRect">
            <a:avLst/>
          </a:prstGeom>
          <a:solidFill>
            <a:srgbClr val="1A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0665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600" b="1">
                <a:solidFill>
                  <a:srgbClr val="FFBB41"/>
                </a:solidFill>
                <a:latin typeface="Aptos"/>
              </a:defRPr>
            </a:pPr>
            <a:r>
              <a:t>CTUD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26791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CU  FEL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310896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CD  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35387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R   NULLAZ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3968496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LD BETOLT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4398264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PV HATAR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67919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7D998"/>
                </a:solidFill>
                <a:latin typeface="Aptos"/>
              </a:defRPr>
            </a:pPr>
            <a:r>
              <a:t>QU FELSO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31089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7D998"/>
                </a:solidFill>
                <a:latin typeface="Aptos"/>
              </a:defRPr>
            </a:pPr>
            <a:r>
              <a:t>QD ALSO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35387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7D998"/>
                </a:solidFill>
                <a:latin typeface="Aptos"/>
              </a:defRPr>
            </a:pPr>
            <a:r>
              <a:t>CV ERTEK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CTUD – QU és QD értelmezése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292608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56815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Feltétel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93591" y="1874519"/>
            <a:ext cx="292608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956815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47104" y="1874519"/>
            <a:ext cx="466344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1956815"/>
            <a:ext cx="4526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Jelentés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32303"/>
            <a:ext cx="292608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514600"/>
            <a:ext cx="2779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CV ≥ PV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93591" y="2432303"/>
            <a:ext cx="292608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514600"/>
            <a:ext cx="2779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QU = TRUE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47104" y="2432303"/>
            <a:ext cx="466344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514600"/>
            <a:ext cx="4517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Felső határ elérve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53511"/>
            <a:ext cx="292608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35808"/>
            <a:ext cx="2779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CV ≤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93591" y="2953511"/>
            <a:ext cx="292608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035808"/>
            <a:ext cx="2779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QD = TRUE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47104" y="2953511"/>
            <a:ext cx="466344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3035808"/>
            <a:ext cx="4517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Nulla / alsó határ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74720"/>
            <a:ext cx="292608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557015"/>
            <a:ext cx="2779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R = TRUE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93591" y="3474720"/>
            <a:ext cx="292608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557015"/>
            <a:ext cx="2779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CV =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47104" y="3474720"/>
            <a:ext cx="466344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3557015"/>
            <a:ext cx="4517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Nullázás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995927"/>
            <a:ext cx="292608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078224"/>
            <a:ext cx="2779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LD = TRUE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93591" y="3995927"/>
            <a:ext cx="292608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4078224"/>
            <a:ext cx="2779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CV = PV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47104" y="3995927"/>
            <a:ext cx="466344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4078224"/>
            <a:ext cx="4517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Betöltés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0749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BB41"/>
                </a:solidFill>
                <a:latin typeface="Aptos"/>
              </a:defRPr>
            </a:pPr>
            <a:r>
              <a:t>A QU jelzés nem automatikus tiltás: a további számlálást külön logikával kell korlátozni.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CTUD – parkolóhelyek számlálása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FBB41"/>
                </a:solidFill>
                <a:latin typeface="Aptos"/>
              </a:defRPr>
            </a:pPr>
            <a:r>
              <a:t>PV = 5  |  indulás CV = 0  |  belépés: +1  |  kilépés: −1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80360"/>
            <a:ext cx="1447364" cy="1024128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99232"/>
            <a:ext cx="14473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77639"/>
            <a:ext cx="14473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2892" y="2880360"/>
            <a:ext cx="1447364" cy="1024128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2892" y="2999232"/>
            <a:ext cx="14473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2892" y="3977639"/>
            <a:ext cx="14473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Be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9985" y="2880360"/>
            <a:ext cx="1447364" cy="1024128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9985" y="2999232"/>
            <a:ext cx="14473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9985" y="3977639"/>
            <a:ext cx="14473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57077" y="2880360"/>
            <a:ext cx="1447364" cy="1024128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7077" y="2999232"/>
            <a:ext cx="14473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7077" y="3977639"/>
            <a:ext cx="14473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Be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14170" y="2880360"/>
            <a:ext cx="1447364" cy="1024128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14170" y="2999232"/>
            <a:ext cx="14473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4170" y="3977639"/>
            <a:ext cx="14473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Ki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71262" y="2880360"/>
            <a:ext cx="1447364" cy="1024128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1262" y="2999232"/>
            <a:ext cx="14473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1262" y="3977639"/>
            <a:ext cx="14473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Ki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28355" y="2880360"/>
            <a:ext cx="1447364" cy="1024128"/>
          </a:xfrm>
          <a:prstGeom prst="roundRect">
            <a:avLst/>
          </a:prstGeom>
          <a:solidFill>
            <a:srgbClr val="47D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28355" y="2999232"/>
            <a:ext cx="14473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900" b="1">
                <a:solidFill>
                  <a:srgbClr val="0A1F3E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28355" y="3977639"/>
            <a:ext cx="14473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0">
                <a:solidFill>
                  <a:srgbClr val="B3CAE2"/>
                </a:solidFill>
                <a:latin typeface="Aptos"/>
              </a:defRPr>
            </a:pPr>
            <a:r>
              <a:t>Ki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303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47D998"/>
                </a:solidFill>
                <a:latin typeface="Aptos"/>
              </a:defRPr>
            </a:pPr>
            <a:r>
              <a:t>Feladat: hogyan tiltanád a behajtást, ha QU = TRUE?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Változódeklaráció – GMWIN 4.18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402336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56815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Név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90872" y="1874519"/>
            <a:ext cx="365760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956815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Kapcsolat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75904" y="1874519"/>
            <a:ext cx="283464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956815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Típus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32303"/>
            <a:ext cx="402336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514600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FEL / 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90872" y="2432303"/>
            <a:ext cx="365760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2514600"/>
            <a:ext cx="3511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CU / CD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75904" y="2432303"/>
            <a:ext cx="283464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514600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BOOL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53511"/>
            <a:ext cx="402336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35808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NULLAZ / BETOLT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90872" y="2953511"/>
            <a:ext cx="365760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035808"/>
            <a:ext cx="3511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R / 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75904" y="2953511"/>
            <a:ext cx="283464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3035808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BOOL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74720"/>
            <a:ext cx="402336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557015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HATAR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90872" y="3474720"/>
            <a:ext cx="365760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3557015"/>
            <a:ext cx="3511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PV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75904" y="3474720"/>
            <a:ext cx="283464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3557015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995927"/>
            <a:ext cx="402336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078224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FELSO / ALSO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3995927"/>
            <a:ext cx="365760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4078224"/>
            <a:ext cx="3511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QU / QD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904" y="3995927"/>
            <a:ext cx="283464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5632" y="4078224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BOOL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517136"/>
            <a:ext cx="402336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4599431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AKTUALIS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4517136"/>
            <a:ext cx="365760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600" y="4599431"/>
            <a:ext cx="3511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CV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75904" y="4517136"/>
            <a:ext cx="283464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85632" y="4599431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2578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FBB41"/>
                </a:solidFill>
                <a:latin typeface="Aptos"/>
              </a:defRPr>
            </a:pPr>
            <a:r>
              <a:t>Példa: HATAR kezdeti értéke 5; szimulációban a BOOL jelek 0→1 átmeneteit figyeld.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PV értékének megadása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03520" cy="19202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112264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1. Deklarálás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78608"/>
            <a:ext cx="48920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Name: HATAR</a:t>
            </a:r>
          </a:p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Type: INT</a:t>
            </a:r>
          </a:p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Initial Value: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5303520" cy="19202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112264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2. Csatlakoztatás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578608"/>
            <a:ext cx="48920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A számláló PV bemenetéhez a HATAR változó kerül.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10835640" cy="141732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215384"/>
            <a:ext cx="10469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3. Ellenőrzés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681728"/>
            <a:ext cx="10424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Szimulációban ellenőrizd a PV és CV értéket. Ha típushiba van, vizsgáld meg a blokk változatát.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BOOL bemenetek – mit állítsunk?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310896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56815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76472" y="1874519"/>
            <a:ext cx="301752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956815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Kezdőállapot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21423" y="1874519"/>
            <a:ext cx="411480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1" y="1956815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Aktiválás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32303"/>
            <a:ext cx="310896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514600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CU / CD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76472" y="2432303"/>
            <a:ext cx="301752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2514600"/>
            <a:ext cx="28712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FALSE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21423" y="2432303"/>
            <a:ext cx="411480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1" y="2514600"/>
            <a:ext cx="3968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Rövid TRUE impulzus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53511"/>
            <a:ext cx="310896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35808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76472" y="2953511"/>
            <a:ext cx="301752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3035808"/>
            <a:ext cx="28712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FALSE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21423" y="2953511"/>
            <a:ext cx="411480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1" y="3035808"/>
            <a:ext cx="3968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TRUE: nullázás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74720"/>
            <a:ext cx="310896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557015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76472" y="3474720"/>
            <a:ext cx="301752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3557015"/>
            <a:ext cx="28712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FALSE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21423" y="3474720"/>
            <a:ext cx="411480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1" y="3557015"/>
            <a:ext cx="3968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TRUE: PV betöltése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572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BB41"/>
                </a:solidFill>
                <a:latin typeface="Aptos"/>
              </a:defRPr>
            </a:pPr>
            <a:r>
              <a:t>Az LD és az R vezérlőjel; nem a számlálási határértéket tartalmazza.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1 másodperces órajel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10835640" cy="160020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157984"/>
            <a:ext cx="10469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Órajel vs. idő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624328"/>
            <a:ext cx="10424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A CTU felfutó éleket számol. 1 Hz-es négyszögjel esetén másodpercenként egy felfutó él keletkezik.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10835640" cy="150876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123944"/>
            <a:ext cx="10469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GMWIN ellenőrzés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590288"/>
            <a:ext cx="1042416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A megfelelő rendszerjelző pontos neve és címe CPU-/projektfüggő: a GMWIN rendszerjelző-listájában ellenőrizd.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Szimuláció – CTU lépésről lépésre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46304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56815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Lépés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0552" y="1874519"/>
            <a:ext cx="676656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956815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Művelet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24544" y="1874519"/>
            <a:ext cx="201168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4272" y="1956815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Elvárt 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32303"/>
            <a:ext cx="146304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514600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30552" y="2432303"/>
            <a:ext cx="676656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2514600"/>
            <a:ext cx="6620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HATAR = 5; RESET = TRUE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24544" y="2432303"/>
            <a:ext cx="201168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4272" y="2514600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53511"/>
            <a:ext cx="146304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35808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30552" y="2953511"/>
            <a:ext cx="676656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0280" y="3035808"/>
            <a:ext cx="6620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RESET = FALSE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2953511"/>
            <a:ext cx="201168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4272" y="3035808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74720"/>
            <a:ext cx="146304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557015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30552" y="3474720"/>
            <a:ext cx="676656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0280" y="3557015"/>
            <a:ext cx="6620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FEL: FALSE → TRUE → FALSE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24544" y="3474720"/>
            <a:ext cx="201168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34272" y="3557015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995927"/>
            <a:ext cx="146304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078224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30552" y="3995927"/>
            <a:ext cx="676656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40280" y="4078224"/>
            <a:ext cx="6620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Ismételd meg négyszer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24544" y="3995927"/>
            <a:ext cx="201168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34272" y="4078224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517136"/>
            <a:ext cx="146304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4599431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30552" y="4517136"/>
            <a:ext cx="676656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40280" y="4599431"/>
            <a:ext cx="6620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Ellenőrizd Q állapotát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24544" y="4517136"/>
            <a:ext cx="201168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34272" y="4599431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TRUE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Szimuláció – CTD és CTUD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835640" cy="14630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66544"/>
            <a:ext cx="10469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CTD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32888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PV = 5 → LD impulzus → 5 CD impulzus → Q = TRUE.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35640" cy="14630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803904"/>
            <a:ext cx="10469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CTUD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270248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R impulzus → 4 CU impulzus → 2 CD impulzus → CV = 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864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BB41"/>
                </a:solidFill>
                <a:latin typeface="Aptos"/>
              </a:defRPr>
            </a:pPr>
            <a:r>
              <a:t>Minden lépés után jegyezd fel a CV, Q / QU / QD értéket!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Hibakeresés – miért nem számol?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292608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56815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Jelenség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93591" y="1874519"/>
            <a:ext cx="3749039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956815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Lehetséges 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0063" y="1874519"/>
            <a:ext cx="3749039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1" y="1956815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32303"/>
            <a:ext cx="292608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514600"/>
            <a:ext cx="2779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CV nem nő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93591" y="2432303"/>
            <a:ext cx="3749039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514600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CU állandó TRUE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3" y="2432303"/>
            <a:ext cx="3749039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1" y="2514600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0→1 él legyen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53511"/>
            <a:ext cx="292608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35808"/>
            <a:ext cx="2779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CV mindig nulla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93591" y="2953511"/>
            <a:ext cx="3749039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035808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R aktív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0063" y="2953511"/>
            <a:ext cx="3749039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9791" y="3035808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R = FALSE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74720"/>
            <a:ext cx="292608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557015"/>
            <a:ext cx="2779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CTD nem csökken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93591" y="3474720"/>
            <a:ext cx="3749039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557015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LD aktív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0063" y="3474720"/>
            <a:ext cx="3749039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9791" y="3557015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LD = FALSE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995927"/>
            <a:ext cx="292608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078224"/>
            <a:ext cx="2779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Q nem kapcsol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93591" y="3995927"/>
            <a:ext cx="3749039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4078224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PV / típus eltér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0063" y="3995927"/>
            <a:ext cx="3749039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9791" y="4078224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PV, CV, típus ellenőrzése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Tanulói feladat – számold ki!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FBB41"/>
                </a:solidFill>
                <a:latin typeface="Aptos"/>
              </a:defRPr>
            </a:pPr>
            <a:r>
              <a:t>PV = 5. Induláskor R = TRUE, majd FALSE.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5303520" cy="19202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889504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355848"/>
            <a:ext cx="48920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CU bemeneten 3 felfutó él érkezik. Mennyi a CV és Q?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743200"/>
            <a:ext cx="5303520" cy="192024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2889504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355848"/>
            <a:ext cx="48920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Újabb 2 felfutó él érkezik. Mi változik?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47D998"/>
                </a:solidFill>
                <a:latin typeface="Aptos"/>
              </a:defRPr>
            </a:pPr>
            <a:r>
              <a:t>Megoldás: A) CV = 3, Q = FALSE.   B) CV = 5, Q = TRUE.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IAP kihívás – mini parkoló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835640" cy="150876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66544"/>
            <a:ext cx="10469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Tervezési feladat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32888"/>
            <a:ext cx="1042416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Maximum 5 autó. Két érzékelő: belépés és kilépés. A tele jelzés QU alapján működjön.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94760"/>
            <a:ext cx="10835640" cy="1600200"/>
          </a:xfrm>
          <a:prstGeom prst="round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941064"/>
            <a:ext cx="10469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C0D5"/>
                </a:solidFill>
                <a:latin typeface="Aptos"/>
              </a:defRPr>
            </a:pPr>
            <a:r>
              <a:t>Bővítés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407408"/>
            <a:ext cx="104241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9FF"/>
                </a:solidFill>
                <a:latin typeface="Aptos"/>
              </a:defRPr>
            </a:pPr>
            <a:r>
              <a:t>Gátold a további behajtást tele parkolónál. Gondold át, hogyan kezeled az egyszerre érkező CU és CD jeleket.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C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7C0D5"/>
                </a:solidFill>
                <a:latin typeface="Aptos"/>
              </a:defRPr>
            </a:pPr>
            <a:r>
              <a:t>LG GLOFA · GMWIN 4.18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5F9FF"/>
                </a:solidFill>
                <a:latin typeface="Aptos"/>
              </a:defRPr>
            </a:pPr>
            <a:r>
              <a:t>Összefoglalás – három számláló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064240" cy="10972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IAP  |  Tanulj! Alkalmazz! Alkoss!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3CAE2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347472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56815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CTU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2231" y="1874519"/>
            <a:ext cx="347472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1956815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CTD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44383" y="1874519"/>
            <a:ext cx="3474720" cy="502920"/>
          </a:xfrm>
          <a:prstGeom prst="rect">
            <a:avLst/>
          </a:prstGeom>
          <a:solidFill>
            <a:srgbClr val="16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1" y="1956815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CTUD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32303"/>
            <a:ext cx="347472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514600"/>
            <a:ext cx="3328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Felfelé számol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42231" y="2432303"/>
            <a:ext cx="347472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59" y="2514600"/>
            <a:ext cx="3328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Lefelé számol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44383" y="2432303"/>
            <a:ext cx="347472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1" y="2514600"/>
            <a:ext cx="3328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Mindkét irány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53511"/>
            <a:ext cx="347472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35808"/>
            <a:ext cx="3328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R: nullázás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42231" y="2953511"/>
            <a:ext cx="347472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3035808"/>
            <a:ext cx="3328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LD: PV betöltése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44383" y="2953511"/>
            <a:ext cx="3474720" cy="493776"/>
          </a:xfrm>
          <a:prstGeom prst="rect">
            <a:avLst/>
          </a:prstGeom>
          <a:solidFill>
            <a:srgbClr val="1C4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1" y="3035808"/>
            <a:ext cx="3328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R és LD is van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74720"/>
            <a:ext cx="347472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557015"/>
            <a:ext cx="3328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Q: CV ≥ PV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42231" y="3474720"/>
            <a:ext cx="347472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59" y="3557015"/>
            <a:ext cx="3328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Q: CV ≤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44383" y="3474720"/>
            <a:ext cx="3474720" cy="493776"/>
          </a:xfrm>
          <a:prstGeom prst="rect">
            <a:avLst/>
          </a:prstGeom>
          <a:solidFill>
            <a:srgbClr val="14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1" y="3557015"/>
            <a:ext cx="3328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9FF"/>
                </a:solidFill>
                <a:latin typeface="Aptos"/>
              </a:defRPr>
            </a:pPr>
            <a:r>
              <a:t>QU és QD jelzések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5303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7C0D5"/>
                </a:solidFill>
                <a:latin typeface="Aptos"/>
              </a:defRPr>
            </a:pPr>
            <a:r>
              <a:t>Tanulj!  Alkalmazz! 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