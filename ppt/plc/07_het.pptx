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9" d="100"/>
          <a:sy n="49" d="100"/>
        </p:scale>
        <p:origin x="96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29187" y="2171700"/>
            <a:ext cx="23336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7C3AED"/>
                </a:solidFill>
                <a:latin typeface="Plus Jakarta Sans"/>
              </a:rPr>
              <a:t>PLC ALAPISMERETEK • 7.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5275" y="2609850"/>
            <a:ext cx="1160145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 u="none">
                <a:solidFill>
                  <a:srgbClr val="0F172A"/>
                </a:solidFill>
                <a:latin typeface="Plus Jakarta Sans"/>
              </a:rPr>
              <a:t>Komparátorok és összehasonlító műveletek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9750" y="4133850"/>
            <a:ext cx="85725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475569"/>
                </a:solidFill>
                <a:latin typeface="Plus Jakarta Sans"/>
              </a:rPr>
              <a:t>A döntéshozatal és határérték-vizsgálat elmélete és gyakorlati alkalmazása (Óraszám: 5 óra)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187" y="2200275"/>
            <a:ext cx="180975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175" y="2292697"/>
            <a:ext cx="9391650" cy="22726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95475" y="2787997"/>
            <a:ext cx="8401050" cy="85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„Az automatizálás alapja nem az, hogy a gép működik, hanem hogy tudja, mikor kell működnie.”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7750" y="3831877"/>
            <a:ext cx="2476500" cy="2381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7C3AED"/>
                </a:solidFill>
                <a:latin typeface="Plus Jakarta Sans"/>
              </a:rPr>
              <a:t>Heti mérnöki gondolat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0" y="3869977"/>
            <a:ext cx="171450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2800" y="3869977"/>
            <a:ext cx="171450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67000"/>
            <a:ext cx="3530649" cy="2400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667000"/>
            <a:ext cx="3530649" cy="2400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2667000"/>
            <a:ext cx="3530649" cy="2400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33400"/>
            <a:ext cx="361950" cy="361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619500"/>
            <a:ext cx="308710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Összehasonlítás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4000500"/>
            <a:ext cx="2940099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Megérti az összehasonlító műveletek alapvető szerepét a logikai döntéshozatalban.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024" y="3619500"/>
            <a:ext cx="308710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Operátorok ($=, &lt;&gt;, &gt;, &lt;$)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024" y="4000500"/>
            <a:ext cx="2940099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Magabiztosan ismeri a relációs operátorokat és azok alkalmazását a programokban.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274" y="3619500"/>
            <a:ext cx="308710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Gyakorlati döntések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274" y="4000500"/>
            <a:ext cx="2940099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Számlálók és analóg értékek összehasonlításán alapuló döntési programokat készít.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3057525"/>
            <a:ext cx="342900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6024" y="3057525"/>
            <a:ext cx="342900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5274" y="3057525"/>
            <a:ext cx="428625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Tanulási célok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47987"/>
            <a:ext cx="5334000" cy="1838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947987"/>
            <a:ext cx="5334000" cy="1838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33400"/>
            <a:ext cx="361950" cy="361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243262"/>
            <a:ext cx="4980622" cy="219075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7C3AED"/>
                </a:solidFill>
                <a:latin typeface="Plus Jakarta Sans"/>
              </a:rPr>
              <a:t>A PLC Döntési Képessége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462337"/>
            <a:ext cx="474345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A PLC nemcsak kapcsolni és számolni tud, hanem aktív döntéseket is képes hozni a mért adatok függvényében. Ezen döntések alapja a különböző változók összehasonlítása.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243262"/>
            <a:ext cx="4980622" cy="219075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284C7"/>
                </a:solidFill>
                <a:latin typeface="Plus Jakarta Sans"/>
              </a:rPr>
              <a:t>Határérték-vizsgálat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462337"/>
            <a:ext cx="47434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A gyártási folyamatok során szinte mindenhol kritikus küszöbértékeket kell figyelnünk, amiket a komparátorok tesznek lehetővé.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3271837"/>
            <a:ext cx="180975" cy="1782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3271837"/>
            <a:ext cx="180975" cy="178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Bevezetés a döntéshozatalba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33400"/>
            <a:ext cx="361950" cy="3619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1500" y="2319337"/>
            <a:ext cx="11049000" cy="3095625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" y="2319337"/>
          <a:ext cx="11039473" cy="3095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6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16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640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9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Operátor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Elnevezés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Logikai feltétel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Példa alkalmazás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=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Egyenlő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$A = B$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Pontos darabszám elérése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&lt;&gt;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Nem egyenlő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$A \neq B$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Eltérés detektálása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&gt;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Nagyobb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$A &gt; B$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Túllépési riasztás ($&gt;70^\circ\text{C}$)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&lt;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Kisebb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$A &lt; B$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Alacsony nyomás ($&lt;2\text{ bar}$)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4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$\ge$ / $\le$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Nagyobb/Kisebb vagy egyenlő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$A \ge B$ vagy $A \le B$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Biztonsági tartományok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6262" y="2828925"/>
            <a:ext cx="16161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92387" y="2828925"/>
            <a:ext cx="31316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324028" y="2828925"/>
            <a:ext cx="252769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51725" y="2828925"/>
            <a:ext cx="37640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76262" y="3343275"/>
            <a:ext cx="16161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92387" y="3343275"/>
            <a:ext cx="31316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24028" y="3343275"/>
            <a:ext cx="252769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51725" y="3343275"/>
            <a:ext cx="37640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6262" y="3857625"/>
            <a:ext cx="16161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192387" y="3857625"/>
            <a:ext cx="31316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24028" y="3857625"/>
            <a:ext cx="252769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51725" y="3857625"/>
            <a:ext cx="37640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6262" y="4371975"/>
            <a:ext cx="16161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192387" y="4371975"/>
            <a:ext cx="31316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24028" y="4371975"/>
            <a:ext cx="252769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51725" y="4371975"/>
            <a:ext cx="37640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76262" y="4886325"/>
            <a:ext cx="16161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192387" y="4886325"/>
            <a:ext cx="31316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324028" y="4886325"/>
            <a:ext cx="252769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51725" y="4886325"/>
            <a:ext cx="37640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76262" y="5400675"/>
            <a:ext cx="16161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192387" y="5400675"/>
            <a:ext cx="313164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324028" y="5400675"/>
            <a:ext cx="252769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851725" y="5400675"/>
            <a:ext cx="37640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A legfontosabb komparátorok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47987"/>
            <a:ext cx="5334000" cy="1838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947987"/>
            <a:ext cx="5334000" cy="18383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33400"/>
            <a:ext cx="361950" cy="361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243262"/>
            <a:ext cx="498062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284C7"/>
                </a:solidFill>
                <a:latin typeface="Plus Jakarta Sans"/>
              </a:rPr>
              <a:t>Darabszám és Hőmérséklet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462337"/>
            <a:ext cx="474345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Darabszám: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Ha a legyártott darab $&gt;20$, kapcsoljon be a zöld jelzőlámpa.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Hőmérséklet: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Ha a kazán hőmérséklete $&gt;70\ ^\circ\text{C}$, induljon el a hűtőventilátor.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243262"/>
            <a:ext cx="498062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7C3AED"/>
                </a:solidFill>
                <a:latin typeface="Plus Jakarta Sans"/>
              </a:rPr>
              <a:t>Nyomás és Biztonság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462337"/>
            <a:ext cx="474345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Nyomásfelügyelet: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Ha a rendszer nyomása $&lt;2\text{ bar}$, aktiválódjon az akusztikus riasztás.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Skálázott értékek: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Analóg szenzorok skálázott értékeinek összehasonlítása.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Gyakorlati relációs példák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05125"/>
            <a:ext cx="3867150" cy="1924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33400"/>
            <a:ext cx="314325" cy="36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71550" y="3305175"/>
            <a:ext cx="3067050" cy="809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375"/>
              </a:lnSpc>
            </a:pPr>
            <a:r>
              <a:rPr sz="6375" b="1" i="0" u="none">
                <a:solidFill>
                  <a:srgbClr val="7C3AED"/>
                </a:solidFill>
                <a:latin typeface="JetBrains Mono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4210050"/>
            <a:ext cx="306705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5B21B6"/>
                </a:solidFill>
                <a:latin typeface="Plus Jakarta Sans"/>
              </a:rPr>
              <a:t>Zöld lámpa küszöb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9650" y="3171825"/>
            <a:ext cx="714089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F172A"/>
                </a:solidFill>
                <a:latin typeface="Plus Jakarta Sans"/>
              </a:rPr>
              <a:t>Hardveres tesztek és feladatok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19650" y="3533775"/>
            <a:ext cx="680085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Eaton easy: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Számláló összehasonlítása beállított konstanssal.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LG PLC: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10 darab feletti jelzőlámpa kapcsolási logika.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Omron PLC: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Analóg érték határérték-vizsgálata.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Online Monitor: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Változók pillanatnyi állapota a futás során.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Laboratóriumi gyakorlatok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33400"/>
            <a:ext cx="457200" cy="3619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1500" y="2833687"/>
            <a:ext cx="11049000" cy="2066925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" y="2833687"/>
          <a:ext cx="11039473" cy="2066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8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2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95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6731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Aktuális érték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Komparátor feltétel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Vezérelt kimenet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FFFFFF"/>
                          </a:solidFill>
                          <a:latin typeface="Plus Jakarta Sans"/>
                        </a:rPr>
                        <a:t>Rendszerállapot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731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Darabszám $&lt; 25$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$Count &lt; 25$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Sárga LED (Futás)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Normál gyártási folyamat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731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Darabszám $= 25$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$Count = 25$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Zöld lámpa be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Első mérföldkő elérése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732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Darabszám $\ge 30$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$Count \ge 30$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Hangjelző (Sziréna)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000000"/>
                          </a:solidFill>
                          <a:latin typeface="Plus Jakarta Sans"/>
                        </a:rPr>
                        <a:t>Csomagolási küszöb / Tétel kész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6262" y="3343275"/>
            <a:ext cx="25686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44887" y="3343275"/>
            <a:ext cx="24985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43413" y="3343275"/>
            <a:ext cx="233273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76145" y="3343275"/>
            <a:ext cx="36395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76262" y="3857625"/>
            <a:ext cx="25686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44887" y="3857625"/>
            <a:ext cx="24985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43413" y="3857625"/>
            <a:ext cx="233273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76145" y="3857625"/>
            <a:ext cx="36395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6262" y="4371975"/>
            <a:ext cx="25686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44887" y="4371975"/>
            <a:ext cx="24985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43413" y="4371975"/>
            <a:ext cx="233273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76145" y="4371975"/>
            <a:ext cx="36395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6262" y="4886325"/>
            <a:ext cx="256862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4887" y="4886325"/>
            <a:ext cx="24985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43413" y="4886325"/>
            <a:ext cx="233273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76145" y="4886325"/>
            <a:ext cx="363959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45720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Összetett döntési feladat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33400"/>
            <a:ext cx="361950" cy="3619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1500" y="2247900"/>
            <a:ext cx="11049000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438400"/>
            <a:ext cx="102870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Plus Jakarta Sans"/>
              </a:rPr>
              <a:t>Hibás operátor választása: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A $\ge$ helyett véletlenül $\le$ vagy pontatlan irányú reláció megadása.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2895600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1500" y="2247900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1500" y="2247900"/>
            <a:ext cx="47625" cy="6572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610975" y="2247900"/>
            <a:ext cx="9525" cy="6572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1500" y="3057525"/>
            <a:ext cx="11049000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248025"/>
            <a:ext cx="102870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Plus Jakarta Sans"/>
              </a:rPr>
              <a:t>Rossz változó hivatkozás: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Nem a megfelelő regiszter vagy számláló címének beállítása az összehasonlításban.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3705225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1500" y="3057525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1500" y="3057525"/>
            <a:ext cx="47625" cy="6572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10975" y="3057525"/>
            <a:ext cx="9525" cy="6572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71500" y="3867150"/>
            <a:ext cx="11049000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4057650"/>
            <a:ext cx="102870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Plus Jakarta Sans"/>
              </a:rPr>
              <a:t>Eltérő adattípusok: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Egész (INT) és valós (REAL) vagy bájtok keverése a komparátor két oldalán.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4514850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1500" y="3867150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71500" y="3867150"/>
            <a:ext cx="47625" cy="6572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610975" y="3867150"/>
            <a:ext cx="9525" cy="6572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1500" y="4676775"/>
            <a:ext cx="11049000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9525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4867275"/>
            <a:ext cx="102870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Plus Jakarta Sans"/>
              </a:rPr>
              <a:t>Online monitor elhanyagolása: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Hibakeresés valós idejű logikai állapotok ellenőrzése nélkül.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5324475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71500" y="4676775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71500" y="4676775"/>
            <a:ext cx="47625" cy="65722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610975" y="4676775"/>
            <a:ext cx="9525" cy="6572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1500" y="2895600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71500" y="3705225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71500" y="4514850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71500" y="5324475"/>
            <a:ext cx="11049000" cy="9525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2462212"/>
            <a:ext cx="209550" cy="21907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3271837"/>
            <a:ext cx="209550" cy="21907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081462"/>
            <a:ext cx="209550" cy="2190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891087"/>
            <a:ext cx="209550" cy="219075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Gyakoribb hibák a programozásban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819400"/>
            <a:ext cx="5334000" cy="2095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819400"/>
            <a:ext cx="5334000" cy="2095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33400"/>
            <a:ext cx="361950" cy="361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114675"/>
            <a:ext cx="4980622" cy="219075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59669"/>
                </a:solidFill>
                <a:latin typeface="Plus Jakarta Sans"/>
              </a:rPr>
              <a:t>Mérnöki Gondolkodás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333750"/>
            <a:ext cx="4743450" cy="1285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Az ipari rendszerek biztonsága nagyban függ a határértékek pontos ellenőrzésétől. A komparátorok segítségével a PLC folyamatosan felügyeli, hogy a fizikai folyamatok biztonságos üzemi tartományon belül maradjanak.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114675"/>
            <a:ext cx="4980622" cy="219075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7C3AED"/>
                </a:solidFill>
                <a:latin typeface="Plus Jakarta Sans"/>
              </a:rPr>
              <a:t>IAA Extra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333750"/>
            <a:ext cx="47434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A modern automatizált rendszerekben másodpercenként </a:t>
            </a:r>
            <a:r>
              <a:rPr sz="1350" b="1" i="0" u="none">
                <a:solidFill>
                  <a:srgbClr val="334155"/>
                </a:solidFill>
                <a:latin typeface="Plus Jakarta Sans"/>
              </a:rPr>
              <a:t>több ezer összehasonlítás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történik a háttérben, amelyek biztosítják a gépsorok intelligens, önműködő vezérlését.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3143250"/>
            <a:ext cx="180975" cy="1782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3143250"/>
            <a:ext cx="180975" cy="178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Mérnöki megközelítés &amp; IAA Extra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09825"/>
            <a:ext cx="3530649" cy="2914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409825"/>
            <a:ext cx="3530649" cy="2914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2409825"/>
            <a:ext cx="3530649" cy="2914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33400"/>
            <a:ext cx="276225" cy="361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362325"/>
            <a:ext cx="308710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Alapfogalmak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743325"/>
            <a:ext cx="2940099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• Mi a komparátor feladata?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Mit jelent a $&gt;$ és $\le$ operátor?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Mikor használunk $=$ összehasonlítást?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024" y="3362325"/>
            <a:ext cx="308710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Adattípusok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024" y="3743325"/>
            <a:ext cx="2940099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• Miért fontos a megfelelő adattípus?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Milyen hibák fordulhatnak elő?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Hogyan segít az online monitor?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5274" y="3362325"/>
            <a:ext cx="3087104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Alkalmazás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5274" y="3743325"/>
            <a:ext cx="2940099" cy="1285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• Nevezzen meg három ipari példát!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Hogyan működik a tartályszint-felügyelet?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• Mi a különbség $=$ és $\ge$ között?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2800350"/>
            <a:ext cx="219075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6024" y="2800350"/>
            <a:ext cx="428625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5274" y="2800350"/>
            <a:ext cx="390525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500" y="476250"/>
            <a:ext cx="11601450" cy="476250"/>
          </a:xfrm>
          <a:prstGeom prst="rect">
            <a:avLst/>
          </a:prstGeom>
          <a:noFill/>
        </p:spPr>
        <p:txBody>
          <a:bodyPr wrap="square" lIns="276225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Önellenőrző kérdések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175" y="2040284"/>
            <a:ext cx="9391650" cy="27774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95475" y="2535584"/>
            <a:ext cx="8401050" cy="85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„A jó PLC nem találgat – minden döntését mért adatok alapján hozza meg.”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76737" y="3579465"/>
            <a:ext cx="3438525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7C3AED"/>
                </a:solidFill>
                <a:latin typeface="Plus Jakarta Sans"/>
              </a:rPr>
              <a:t>— IAA mérnöki alapelv</a:t>
            </a:r>
            <a:r>
              <a:t>
</a:t>
            </a:r>
            <a:r>
              <a:rPr sz="1500" b="1" i="0" u="none">
                <a:solidFill>
                  <a:srgbClr val="8B5CF6"/>
                </a:solidFill>
                <a:latin typeface="Plus Jakarta Sans"/>
              </a:rPr>
              <a:t>Köszönöm a figyelmet! Kérdések?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668</Words>
  <Application>Microsoft Office PowerPoint</Application>
  <PresentationFormat>Szélesvásznú</PresentationFormat>
  <Paragraphs>88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7" baseType="lpstr">
      <vt:lpstr>Arial</vt:lpstr>
      <vt:lpstr>Calibri</vt:lpstr>
      <vt:lpstr>JetBrains Mono</vt:lpstr>
      <vt:lpstr>Plus Jakarta Sans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Fazekas Zsolt</dc:creator>
  <cp:keywords/>
  <dc:description>generated using python-pptx</dc:description>
  <cp:lastModifiedBy>zsolt Fazekas</cp:lastModifiedBy>
  <cp:revision>1</cp:revision>
  <dcterms:created xsi:type="dcterms:W3CDTF">2013-01-27T09:14:16Z</dcterms:created>
  <dcterms:modified xsi:type="dcterms:W3CDTF">2026-08-02T05:28:51Z</dcterms:modified>
  <cp:category/>
</cp:coreProperties>
</file>