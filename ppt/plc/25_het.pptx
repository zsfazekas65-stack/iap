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2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0.png"/><Relationship Id="rId4" Type="http://schemas.openxmlformats.org/officeDocument/2006/relationships/image" Target="../media/image19.png"/><Relationship Id="rId9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30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6858000"/>
            <a:ext cx="4572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6858000"/>
            <a:ext cx="304800" cy="15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71850" y="2419350"/>
            <a:ext cx="54483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38BDF8"/>
                </a:solidFill>
                <a:latin typeface="Roboto"/>
              </a:rPr>
              <a:t>INTEGRÁLT AUTOMATIKA </a:t>
            </a:r>
            <a:r>
              <a:rPr lang="hu-HU" dirty="0">
                <a:solidFill>
                  <a:srgbClr val="38BDF8"/>
                </a:solidFill>
                <a:latin typeface="Roboto"/>
              </a:rPr>
              <a:t>PROGRAM</a:t>
            </a:r>
            <a:r>
              <a:rPr sz="1800" b="0" i="0" u="none" dirty="0">
                <a:solidFill>
                  <a:srgbClr val="38BDF8"/>
                </a:solidFill>
                <a:latin typeface="Roboto"/>
              </a:rPr>
              <a:t> (IA</a:t>
            </a:r>
            <a:r>
              <a:rPr lang="hu-HU" sz="1800" b="0" i="0" u="none" dirty="0">
                <a:solidFill>
                  <a:srgbClr val="38BDF8"/>
                </a:solidFill>
                <a:latin typeface="Roboto"/>
              </a:rPr>
              <a:t>P</a:t>
            </a:r>
            <a:r>
              <a:rPr sz="1800" b="0" i="0" u="none" dirty="0">
                <a:solidFill>
                  <a:srgbClr val="38BDF8"/>
                </a:solidFill>
                <a:latin typeface="Roboto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0436" y="2924175"/>
            <a:ext cx="9011126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Orbitron"/>
              </a:rPr>
              <a:t>PLC Alapismeretek – 25.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5312" y="3933825"/>
            <a:ext cx="33813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Roboto"/>
              </a:rPr>
              <a:t>SCADA rendszerek és ipari felügyelet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685800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33687"/>
            <a:ext cx="5429250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90850"/>
            <a:ext cx="5429250" cy="1609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6858000"/>
            <a:ext cx="4572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Alapvetések &amp; Kilátások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6858000"/>
            <a:ext cx="3048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6858000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3119437"/>
            <a:ext cx="5050631" cy="2286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43F5E"/>
                </a:solidFill>
                <a:latin typeface="Orbitron"/>
              </a:rPr>
              <a:t>A hét mottója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443287"/>
            <a:ext cx="481012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1" u="none">
                <a:solidFill>
                  <a:srgbClr val="F8FAFC"/>
                </a:solidFill>
                <a:latin typeface="Roboto"/>
              </a:rPr>
              <a:t>„A jó vezérlés működteti a gépet, a jó felügyeleti rendszer pedig láthatóvá teszi a teljes folyamatot.”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238500"/>
            <a:ext cx="5180647" cy="25717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A világ nagy kérdése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667125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Hogyan lehet egy teljes üzem állapotát egyetlen képernyőn áttekinteni?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148012"/>
            <a:ext cx="180975" cy="178296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3267075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62262"/>
            <a:ext cx="5429250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86087"/>
            <a:ext cx="5429250" cy="1619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6858000"/>
            <a:ext cx="4572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Technikatörténet &amp; Szoftverek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6858000"/>
            <a:ext cx="3048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6858000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3109912"/>
            <a:ext cx="5180647" cy="25717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A technika története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3538537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A helyi kezelőpanelektől a grafikus SCADA rendszereken át eljutottunk a felhőkapcsolatot és digitális ikreket használó modern felügyeleti rendszerekig.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233737"/>
            <a:ext cx="5180647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Kulcsszereplők &amp; Szoftverek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671887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Siemens WinCC, AVEVA System Platform, Ignition, Rockwell FactoryTalk View, Schneider EcoStruxure, GE iFIX és zenon.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138487"/>
            <a:ext cx="23812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3262312"/>
            <a:ext cx="1809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62262"/>
            <a:ext cx="3587799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862262"/>
            <a:ext cx="3587799" cy="1866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862262"/>
            <a:ext cx="3587799" cy="1866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6858000"/>
            <a:ext cx="4572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Tanulási Célok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0" y="6858000"/>
            <a:ext cx="3048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6858000"/>
            <a:ext cx="1524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3109912"/>
            <a:ext cx="3247124" cy="25717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Architektúra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538537"/>
            <a:ext cx="30924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• A SCADA szerepe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PLC–HMI–SCADA kapcsolat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Adatgyűjtés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9824" y="3109912"/>
            <a:ext cx="3247124" cy="2571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Adatkezelés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9824" y="3538537"/>
            <a:ext cx="30924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• Trendek kezelése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Riasztási rendszerek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Historian adatbázis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749" y="3109912"/>
            <a:ext cx="3247124" cy="25717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Üzemeltetés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749" y="3538537"/>
            <a:ext cx="30924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• Folyamatképek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Hibakeresés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Felügyeleti logikák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3138487"/>
            <a:ext cx="26670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9824" y="3138487"/>
            <a:ext cx="180975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5749" y="3138487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2071687"/>
            <a:ext cx="5133975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297" y="76200"/>
            <a:ext cx="1066502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6858000"/>
            <a:ext cx="4572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Elméleti Alapok &amp; Architektúra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6229350"/>
            <a:ext cx="4572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6858000"/>
            <a:ext cx="3048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5519737"/>
            <a:ext cx="4572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6229350"/>
            <a:ext cx="3048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6858000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1766887"/>
            <a:ext cx="5429250" cy="37528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0" y="5519737"/>
            <a:ext cx="3048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6229350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014787"/>
            <a:ext cx="4572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1919287"/>
            <a:ext cx="5286375" cy="3600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5519737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3243262"/>
            <a:ext cx="285750" cy="7429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4014787"/>
            <a:ext cx="3048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1919287"/>
            <a:ext cx="5133975" cy="3581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3538537"/>
            <a:ext cx="285750" cy="4476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4014787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250" y="3276600"/>
            <a:ext cx="17145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250" y="3833812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8425" y="2081212"/>
            <a:ext cx="5114925" cy="34099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250" y="3429000"/>
            <a:ext cx="171450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250" y="372427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123950"/>
            <a:ext cx="8572500" cy="5257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315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2400"/>
            <a:ext cx="12192000" cy="7162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4800"/>
            <a:ext cx="12192000" cy="701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476250"/>
            <a:ext cx="11715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sz="2850" b="1" i="0" u="none">
                <a:solidFill>
                  <a:srgbClr val="38BDF8"/>
                </a:solidFill>
                <a:latin typeface="Orbitron"/>
              </a:rPr>
              <a:t>Hogyan Működik a Háttérben?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5488" y="1514475"/>
            <a:ext cx="818102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950" b="1" i="0" u="none">
                <a:solidFill>
                  <a:srgbClr val="F8FAFC"/>
                </a:solidFill>
                <a:latin typeface="Orbitron"/>
              </a:rPr>
              <a:t>Üzemi Adatáramlási Láncolat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0275" y="2047875"/>
            <a:ext cx="7791450" cy="285750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Roboto Black"/>
              </a:rPr>
              <a:t>Érzékelők PLC HMI SCADA szerver Historian Operátor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8612" y="2095500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212" y="2095500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862" y="2095500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9437" y="2095500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7662" y="2095500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971800"/>
            <a:ext cx="5429250" cy="1562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71800"/>
            <a:ext cx="5429250" cy="1562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315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2400"/>
            <a:ext cx="12192000" cy="7162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4800"/>
            <a:ext cx="12192000" cy="701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476250"/>
            <a:ext cx="11715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sz="2850" b="1" i="0" u="none">
                <a:solidFill>
                  <a:srgbClr val="38BDF8"/>
                </a:solidFill>
                <a:latin typeface="Orbitron"/>
              </a:rPr>
              <a:t>Mit Lát a PLC? – Mit lát a SCADA?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219450"/>
            <a:ext cx="5180647" cy="20955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Orbitron"/>
              </a:rPr>
              <a:t>PLC Feladata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3600450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 Black"/>
              </a:rPr>
              <a:t>A PLC kizárólag a valós idejű, kritikus vezérlést, bitek és regiszterek kezelését végzi a terepen.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219450"/>
            <a:ext cx="5180647" cy="20955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Orbitron"/>
              </a:rPr>
              <a:t>SCADA Feladata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600450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 Black"/>
              </a:rPr>
              <a:t>A SCADA a PLC adataiból folyamatábrákat, trendeket, jelentéseket, és operátori riasztásokat készít.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219450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219450"/>
            <a:ext cx="2381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38350"/>
            <a:ext cx="5429250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297" y="76200"/>
            <a:ext cx="1066502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315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2400"/>
            <a:ext cx="12192000" cy="7162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4800"/>
            <a:ext cx="12192000" cy="701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476250"/>
            <a:ext cx="11715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sz="2850" b="1" i="0" u="none">
                <a:solidFill>
                  <a:srgbClr val="38BDF8"/>
                </a:solidFill>
                <a:latin typeface="Orbitron"/>
              </a:rPr>
              <a:t>Ipari Esettanulmány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2047875"/>
            <a:ext cx="5410200" cy="3409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2895600"/>
            <a:ext cx="5143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Alkalmazás:</a:t>
            </a:r>
            <a:r>
              <a:rPr sz="1350" b="0" i="0" u="none">
                <a:solidFill>
                  <a:srgbClr val="94A3B8"/>
                </a:solidFill>
                <a:latin typeface="Roboto Black"/>
              </a:rPr>
              <a:t> Vízmű felügyeleti rendszer.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295650"/>
            <a:ext cx="5143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Feladat:</a:t>
            </a:r>
            <a:r>
              <a:rPr sz="1350" b="0" i="0" u="none">
                <a:solidFill>
                  <a:srgbClr val="94A3B8"/>
                </a:solidFill>
                <a:latin typeface="Roboto Black"/>
              </a:rPr>
              <a:t> Szivattyúk, tartályszintek és riasztások felügyelete egy központi helyről.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952875"/>
            <a:ext cx="5143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Eredmény:</a:t>
            </a:r>
            <a:r>
              <a:rPr sz="1350" b="0" i="0" u="none">
                <a:solidFill>
                  <a:srgbClr val="94A3B8"/>
                </a:solidFill>
                <a:latin typeface="Roboto Black"/>
              </a:rPr>
              <a:t> Automatizált jelentéskészítés és azonnali beavatkozási lehetőség.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2928937"/>
            <a:ext cx="1905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3328987"/>
            <a:ext cx="1905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3986212"/>
            <a:ext cx="1333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971800"/>
            <a:ext cx="5429250" cy="1562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71800"/>
            <a:ext cx="5429250" cy="1562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315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2400"/>
            <a:ext cx="12192000" cy="7162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4800"/>
            <a:ext cx="12192000" cy="701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476250"/>
            <a:ext cx="11715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sz="2850" b="1" i="0" u="none">
                <a:solidFill>
                  <a:srgbClr val="38BDF8"/>
                </a:solidFill>
                <a:latin typeface="Orbitron"/>
              </a:rPr>
              <a:t>Laborfeladat &amp; Tervezési Példa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219450"/>
            <a:ext cx="5180647" cy="20955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Orbitron"/>
              </a:rPr>
              <a:t>Laborfeladat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3600450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 Black"/>
              </a:rPr>
              <a:t>Tervezzen SCADA képernyőt tartályszinttel, szivattyúval, motorral, trendgrafikonnal és riasztási ablakkal.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219450"/>
            <a:ext cx="5180647" cy="20955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Orbitron"/>
              </a:rPr>
              <a:t>Tervezési Példa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600450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 Black"/>
              </a:rPr>
              <a:t>Készítsen SCADA architektúrát egy tíz PLC-vel működő, komplex gyártósor felügyeletéhez és adatbázis-kapcsolatához.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219450"/>
            <a:ext cx="18097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219450"/>
            <a:ext cx="2381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971800"/>
            <a:ext cx="5429250" cy="1562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71800"/>
            <a:ext cx="5429250" cy="1562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315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2400"/>
            <a:ext cx="12192000" cy="7162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4800"/>
            <a:ext cx="12192000" cy="701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476250"/>
            <a:ext cx="11715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sz="2850" b="1" i="0" u="none">
                <a:solidFill>
                  <a:srgbClr val="38BDF8"/>
                </a:solidFill>
                <a:latin typeface="Orbitron"/>
              </a:rPr>
              <a:t>Műhelytitok &amp; Hibaelhárítás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219450"/>
            <a:ext cx="5180647" cy="20955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Orbitron"/>
              </a:rPr>
              <a:t>Műhelytitok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3600450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 Black"/>
              </a:rPr>
              <a:t>Az áttekinthető grafikus felület sokszor nagyságrendekkel gyorsabban segít hibát találni, mint a nyers adatok vizsgálata.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219450"/>
            <a:ext cx="5180647" cy="20955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F43F5E"/>
                </a:solidFill>
                <a:latin typeface="Orbitron"/>
              </a:rPr>
              <a:t>Tipikus hibák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600450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 Black"/>
              </a:rPr>
              <a:t>Zsúfolt képernyők, riasztásözön (alarm flood), rossz színhasználat, valamint hiányos vagy nem mentett archiválás.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219450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3219450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00"/>
            <a:ext cx="12192000" cy="7162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800"/>
            <a:ext cx="12192000" cy="701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476250"/>
            <a:ext cx="11715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sz="2850" b="1" i="0" u="none">
                <a:solidFill>
                  <a:srgbClr val="38BDF8"/>
                </a:solidFill>
                <a:latin typeface="Orbitron"/>
              </a:rPr>
              <a:t>IAA Mesterfeladat &amp; Mérnöki Szemlélet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024187"/>
            <a:ext cx="10953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IAA Mesterfeladat:</a:t>
            </a:r>
            <a:r>
              <a:rPr sz="1350" b="0" i="0" u="none">
                <a:solidFill>
                  <a:srgbClr val="94A3B8"/>
                </a:solidFill>
                <a:latin typeface="Roboto Black"/>
              </a:rPr>
              <a:t> Tervezzen teljes SCADA rendszert egy palackozó üzemhez folyamatképekkel, trendekkel, riasztásokkal és jogosultsági szintekkel.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681412"/>
            <a:ext cx="109537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Gondolkodjunk mérnökként!:</a:t>
            </a:r>
            <a:r>
              <a:rPr sz="1350" b="0" i="0" u="none">
                <a:solidFill>
                  <a:srgbClr val="94A3B8"/>
                </a:solidFill>
                <a:latin typeface="Roboto Black"/>
              </a:rPr>
              <a:t> „A jól megjelenített információ gyorsabb és biztonságosabb döntéseket eredményez.”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081462"/>
            <a:ext cx="109537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IAA mérnöki idézet:</a:t>
            </a:r>
            <a:r>
              <a:rPr sz="1350" b="0" i="0" u="none">
                <a:solidFill>
                  <a:srgbClr val="94A3B8"/>
                </a:solidFill>
                <a:latin typeface="Roboto Black"/>
              </a:rPr>
              <a:t> „Az adat értékét az adja, hogy időben és érthetően jut el a megfelelő emberhez.”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057525"/>
            <a:ext cx="1333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714750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114800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76525"/>
            <a:ext cx="5429250" cy="2152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315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2400"/>
            <a:ext cx="12192000" cy="7162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4800"/>
            <a:ext cx="12192000" cy="701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476250"/>
            <a:ext cx="11715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sz="2850" b="1" i="0" u="none">
                <a:solidFill>
                  <a:srgbClr val="38BDF8"/>
                </a:solidFill>
                <a:latin typeface="Orbitron"/>
              </a:rPr>
              <a:t>Önellenőrzés &amp; Történeti Idővonal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2924175"/>
            <a:ext cx="5180647" cy="20955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Orbitron"/>
              </a:rPr>
              <a:t>Önellenőrző kérdések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3286125"/>
            <a:ext cx="49339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Roboto Black"/>
              </a:rPr>
              <a:t>1. Mit jelent a SCADA?</a:t>
            </a:r>
            <a:r>
              <a:t>
</a:t>
            </a:r>
            <a:r>
              <a:rPr sz="1200" b="0" i="0" u="none">
                <a:solidFill>
                  <a:srgbClr val="94A3B8"/>
                </a:solidFill>
                <a:latin typeface="Roboto Black"/>
              </a:rPr>
              <a:t> 2. Mi a különbség PLC és SCADA között?</a:t>
            </a:r>
            <a:r>
              <a:t>
</a:t>
            </a:r>
            <a:r>
              <a:rPr sz="1200" b="0" i="0" u="none">
                <a:solidFill>
                  <a:srgbClr val="94A3B8"/>
                </a:solidFill>
                <a:latin typeface="Roboto Black"/>
              </a:rPr>
              <a:t> 3. Mi a Historian szerepe?</a:t>
            </a:r>
            <a:r>
              <a:t>
</a:t>
            </a:r>
            <a:r>
              <a:rPr sz="1200" b="0" i="0" u="none">
                <a:solidFill>
                  <a:srgbClr val="94A3B8"/>
                </a:solidFill>
                <a:latin typeface="Roboto Black"/>
              </a:rPr>
              <a:t> 4. Mire jó a trend?</a:t>
            </a:r>
            <a:r>
              <a:t>
</a:t>
            </a:r>
            <a:r>
              <a:rPr sz="1200" b="0" i="0" u="none">
                <a:solidFill>
                  <a:srgbClr val="94A3B8"/>
                </a:solidFill>
                <a:latin typeface="Roboto Black"/>
              </a:rPr>
              <a:t> 5. Hogyan segíti a SCADA a hibakeresést?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0" y="2328862"/>
            <a:ext cx="5429250" cy="284797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86500" y="2328862"/>
          <a:ext cx="5429249" cy="2847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rbitron"/>
                        </a:rPr>
                        <a:t>Év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8BDF8"/>
                          </a:solidFill>
                          <a:latin typeface="Orbitron"/>
                        </a:rPr>
                        <a:t>Fejlődési mérföldkő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 Black"/>
                        </a:rPr>
                        <a:t>1970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 Black"/>
                        </a:rPr>
                        <a:t>Helyi kezelőpanelek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 Black"/>
                        </a:rPr>
                        <a:t>1985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 Black"/>
                        </a:rPr>
                        <a:t>Első SCADA rendszerek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 Black"/>
                        </a:rPr>
                        <a:t>1995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 Black"/>
                        </a:rPr>
                        <a:t>Grafikus felügyelet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59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 Black"/>
                        </a:rPr>
                        <a:t>2005 - Napjaink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94A3B8"/>
                          </a:solidFill>
                          <a:latin typeface="Roboto Black"/>
                        </a:rPr>
                        <a:t>Webes SCADA, IIoT &amp; Digitális iker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924175"/>
            <a:ext cx="209550" cy="2095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286500" y="2886075"/>
            <a:ext cx="18689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55483" y="2886075"/>
            <a:ext cx="356026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86500" y="3457575"/>
            <a:ext cx="18689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55483" y="3457575"/>
            <a:ext cx="356026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86500" y="4029075"/>
            <a:ext cx="18689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55483" y="4029075"/>
            <a:ext cx="356026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86500" y="4600575"/>
            <a:ext cx="18689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55483" y="4600575"/>
            <a:ext cx="356026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00"/>
            <a:ext cx="12192000" cy="7162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800"/>
            <a:ext cx="12192000" cy="701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476250"/>
            <a:ext cx="11715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sz="2850" b="1" i="0" u="none">
                <a:solidFill>
                  <a:srgbClr val="38BDF8"/>
                </a:solidFill>
                <a:latin typeface="Orbitron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057525" y="2986087"/>
            <a:ext cx="60769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57525" y="3748087"/>
            <a:ext cx="6076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57525" y="3748087"/>
            <a:ext cx="6076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525" y="3128962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52900" y="3136106"/>
            <a:ext cx="4981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Roboto Black"/>
              </a:rPr>
              <a:t>http://googleusercontent.com/image_collection/image_retrieval/18247009850968387194_0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2900" y="3369468"/>
            <a:ext cx="4981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Roboto Black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Roboto Black"/>
              </a:rPr>
              <a:t>googleusercontent.com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7525" y="3900487"/>
            <a:ext cx="857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52900" y="3907631"/>
            <a:ext cx="4981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Roboto Black"/>
              </a:rPr>
              <a:t>http://googleusercontent.com/image_collection/image_retrieval/4272111184120451766_0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2900" y="4140993"/>
            <a:ext cx="4981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Roboto Black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Roboto Black"/>
              </a:rPr>
              <a:t>googleusercontent.com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0"/>
            <a:ext cx="457200" cy="152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0"/>
            <a:ext cx="304800" cy="15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Image Sources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0"/>
            <a:ext cx="152400" cy="152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6775" y="3028950"/>
            <a:ext cx="104584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6775" y="3790950"/>
            <a:ext cx="104584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6775" y="3790950"/>
            <a:ext cx="104584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317182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2150" y="3178968"/>
            <a:ext cx="93630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Roboto"/>
              </a:rPr>
              <a:t>https://ifactoryapp.com/industries/steel-plant/manage-post-2k26/uploads/scada-ai-driven-integration-for-steel-plants-real-time-equipment-monitoring-to-analytics-action.png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2150" y="3412331"/>
            <a:ext cx="93630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Robo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Roboto"/>
              </a:rPr>
              <a:t>ifactoryapp.com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3943350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62150" y="3950493"/>
            <a:ext cx="93630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Roboto"/>
              </a:rPr>
              <a:t>https://compiledsuccessfully.in/assets/images/services/ai-quality-inspection-ahmedabad.png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2150" y="4183856"/>
            <a:ext cx="93630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Robo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Roboto"/>
              </a:rPr>
              <a:t>compiledsuccessfully.in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547</Words>
  <Application>Microsoft Office PowerPoint</Application>
  <PresentationFormat>Szélesvásznú</PresentationFormat>
  <Paragraphs>70</Paragraphs>
  <Slides>14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20" baseType="lpstr">
      <vt:lpstr>Arial</vt:lpstr>
      <vt:lpstr>Calibri</vt:lpstr>
      <vt:lpstr>Orbitron</vt:lpstr>
      <vt:lpstr>Roboto</vt:lpstr>
      <vt:lpstr>Roboto Black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2026-08-02T13:54:19Z</dcterms:modified>
  <cp:category/>
</cp:coreProperties>
</file>