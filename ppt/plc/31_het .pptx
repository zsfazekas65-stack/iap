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710" y="4619625"/>
            <a:ext cx="9578429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0523" y="1600200"/>
            <a:ext cx="7630953" cy="665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sz="3750" b="1" i="0" u="none" dirty="0">
                <a:solidFill>
                  <a:srgbClr val="58A6FF"/>
                </a:solidFill>
                <a:latin typeface="Rajdhani"/>
              </a:rPr>
              <a:t>Integrált Automatika </a:t>
            </a:r>
            <a:r>
              <a:rPr lang="hu-HU" sz="3750" b="1">
                <a:solidFill>
                  <a:srgbClr val="58A6FF"/>
                </a:solidFill>
                <a:latin typeface="Rajdhani"/>
              </a:rPr>
              <a:t>Program</a:t>
            </a:r>
            <a:r>
              <a:rPr sz="3750" b="1" i="0" u="none">
                <a:solidFill>
                  <a:srgbClr val="58A6FF"/>
                </a:solidFill>
                <a:latin typeface="Rajdhani"/>
              </a:rPr>
              <a:t> </a:t>
            </a:r>
            <a:r>
              <a:rPr sz="3750" b="1" i="0" u="none" dirty="0">
                <a:solidFill>
                  <a:srgbClr val="58A6FF"/>
                </a:solidFill>
                <a:latin typeface="Rajdhani"/>
              </a:rPr>
              <a:t>(IA</a:t>
            </a:r>
            <a:r>
              <a:rPr lang="hu-HU" sz="3750" b="1" i="0" u="none" dirty="0">
                <a:solidFill>
                  <a:srgbClr val="58A6FF"/>
                </a:solidFill>
                <a:latin typeface="Rajdhani"/>
              </a:rPr>
              <a:t>P</a:t>
            </a:r>
            <a:r>
              <a:rPr sz="3750" b="1" i="0" u="none" dirty="0">
                <a:solidFill>
                  <a:srgbClr val="58A6FF"/>
                </a:solidFill>
                <a:latin typeface="Rajdhan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733675"/>
            <a:ext cx="85725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8B949E"/>
                </a:solidFill>
                <a:latin typeface="Share Tech Mono"/>
              </a:rPr>
              <a:t>PLC Alapismeretek – 31. hét</a:t>
            </a:r>
            <a:r>
              <a:t>
</a:t>
            </a:r>
            <a:r>
              <a:rPr sz="1800" b="1" i="0" u="none">
                <a:solidFill>
                  <a:srgbClr val="58A6FF"/>
                </a:solidFill>
                <a:latin typeface="Share Tech Mono"/>
              </a:rPr>
              <a:t>Az ipari kommunikáció jövője – 5G, Edge Computing és mesterséges intelligencia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Fő kérdés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43980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Hol érdemes feldolgozni a gyártás során keletkező adatokat: PLC-ben, Edge eszközön vagy a felhőben?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596455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Fő fejlesztők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3068835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Siemens, Nokia, Ericsson, Cisco, Beckhoff, Phoenix Contact, Schneider Electric úttörő megoldásai.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Evolúció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84398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RS-232 kommunikációtól eljutottunk az ipari Etherneten, az OPC UA-n és az IIoT-n keresztül az Edge Computing és az 5G korszakáig.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7869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78695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Hagyományos: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Egyszerű soros portok, vezetékes buszok.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31584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158430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Modern kor: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Valós idejű vezeték nélküli hálózatok és intelligens helyi feldolgozás.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A világ nagy kérdése és a technika története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752600"/>
            <a:ext cx="1682948" cy="119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156" y="1752600"/>
            <a:ext cx="1682948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537" y="1752600"/>
            <a:ext cx="1682948" cy="1190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918" y="1752600"/>
            <a:ext cx="1682948" cy="1190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0" y="1752600"/>
            <a:ext cx="1682948" cy="1190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2681" y="1752600"/>
            <a:ext cx="1682948" cy="11906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5775" y="2338387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721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1990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Ethernet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1102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5556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Ipari Ethernet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483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2937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OPC 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5865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0318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IIoT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3246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5G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0627" y="1905000"/>
            <a:ext cx="14470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Napjaink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5081" y="2362200"/>
            <a:ext cx="13781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Edge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Az ipari kommunikáció idővonala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1203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120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Edge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2139255"/>
            <a:ext cx="4829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Edge Computing a gépek közelében végzi az adatfeldolgozást, így radikálisan csökkenti a késleltetést és a hálózati terhelést.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5G az iparban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139255"/>
            <a:ext cx="4829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Magas megbízhatóságú, alacsony késleltetésű vezeték nélküli technológia (URLLC).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822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08223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Helyi adatelemzés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537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453705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Gyorsabb döntéshozatal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251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82518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Kevesebb felhő-sávszélesség igény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2825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2825055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Nagy sávszélesség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31965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19653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Sok egyidejű eszköz kezelése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35680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275" y="3568005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Mobil robotok (AGV) és drónok támogatása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Elméleti alapok: Edge Computing és 5G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815405"/>
            <a:ext cx="5419725" cy="23200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Kommunikációs lánc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PLC vagy Edge?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18439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két technológia kiegészíti egymást: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2726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272605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PLC: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Milliszekundumos determinisztikus vezérlés, biztonságkritikus feladatok.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9012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901255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Edge: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Nagyobb számítási teljesítmény, gépi tanulási modellek futtatása, adatintegráció.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Adatáramlás és Architektúra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1203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1203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891730"/>
            <a:ext cx="4829175" cy="819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Fő alkalmazási területek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139255"/>
            <a:ext cx="4829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AI forradalmasítja a gyárak működését: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Előnyök a gyártásban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139255"/>
            <a:ext cx="4829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gépi tanulás segít megérteni a komplex folyamatokat: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5678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56788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Minőségellenőrzés: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Kamerás képfeldolgozás hibák szűrésére.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1965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9653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Prediktív karbantartás: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Alkatrészek meghibásodásának előrejelzése.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251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82518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Energiaoptimalizálás: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Fogyasztás minimalizálása.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3072705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58A6FF"/>
                </a:solidFill>
                <a:latin typeface="Share Tech Mono"/>
              </a:rPr>
              <a:t>Mérnöki szemlélet: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Mesterséges Intelligencia az iparban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71600"/>
            <a:ext cx="5419725" cy="233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Forgatókönyv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1843980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Autóipari szerelősoron nagy sebességű kamerarendszer figyeli a hegesztési varratokat.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5297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2529780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képfeldolgozást és az AI modell futtatását egy helyi </a:t>
            </a:r>
            <a:r>
              <a:rPr sz="1350" b="1" i="0" u="none">
                <a:solidFill>
                  <a:srgbClr val="C9D1D9"/>
                </a:solidFill>
                <a:latin typeface="Share Tech Mono"/>
              </a:rPr>
              <a:t>Edge számítógép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végzi.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1584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158430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kapott eredményt azonnal átadja a </a:t>
            </a:r>
            <a:r>
              <a:rPr sz="1350" b="1" i="0" u="none">
                <a:solidFill>
                  <a:srgbClr val="C9D1D9"/>
                </a:solidFill>
                <a:latin typeface="Share Tech Mono"/>
              </a:rPr>
              <a:t>PLC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-nek, amely a hibás darabot kiszelektálja a sorról.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1619250"/>
            <a:ext cx="5170646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Miért Edge?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091630"/>
            <a:ext cx="49244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Ha a képeket felhőbe küldenénk, a hálózati késleltetés miatt a PLC már túl későn kapná meg a jelzést a selejtezéshez.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34605"/>
            <a:ext cx="4924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8B949E"/>
                </a:solidFill>
                <a:latin typeface="Share Tech Mono"/>
              </a:rPr>
              <a:t>Az Edge biztosítja a valós idejű válaszidőt.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Ipari esettanulmány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0060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006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Laborfeladat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2139255"/>
            <a:ext cx="4829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Tervezzen teljes körű kommunikációs architektúrát PLC, HMI, Edge, SCADA, MES és ERP rétegek bevonásával, és jelölje az adatáramlást!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Tervezési példa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139255"/>
            <a:ext cx="4829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Adatok szűrése nagy adatmennyiséget termelő gyártósoron: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825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82505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Edge-en feldolgozva: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Rezgéselemzés, gyors hibajelzések, helyi statisztika.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4537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45370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Felhőbe továbbítva: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Hosszútávú trendek, éves riportok, ERP integráció.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Laborfeladat és Tervezési Példa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0822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0822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358455"/>
            <a:ext cx="4829175" cy="800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85149"/>
                </a:solidFill>
                <a:latin typeface="Rajdhani"/>
              </a:rPr>
              <a:t>⚠️ Tipikus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139255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„Nem minden adat értékes.” Az intelligens Edge eszközök legfontosabb feladata, hogy csak a releváns, szűrt információt továbbítsák a felsőbb szintek felé.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1106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11068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PLC túlterhelése összetett elemzési és adatelemzési feladatokkal.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7393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273933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Túl sok nyers adat küldése a felhőbe (magas hálózati költségek).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679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36798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Elégtelen hálózati sávszélesség vagy rosszul tervezett Wi-Fi / 5G lefedettség.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Műhelytitok és Tipikus Hibák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IAA Mesterfeladat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4398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Tervezzen intelligens kommunikációs architektúrát egy teljesen automatizált raktár számára 5G, Edge, AI és PLC rendszerek összehangolásával!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Gondolkodjunk mérnökként!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375" y="1815405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C9D1D9"/>
                </a:solidFill>
                <a:latin typeface="Share Tech Mono"/>
              </a:rPr>
              <a:t> „A megfelelő adat a megfelelő helyen többet ér, mint a rengeteg feldolgozatlan információ.” 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1815405"/>
            <a:ext cx="28575" cy="5715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6500" y="2558355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8B949E"/>
                </a:solidFill>
                <a:latin typeface="Share Tech Mono"/>
              </a:rPr>
              <a:t>Modern mérnökként ne csak vezéreljünk, hanem optimalizáljunk is!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IAA Mesterfeladat és Mérnöki Szemlélet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❓ Önellenőrző kérdések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📖 Főbb szakkifejezések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17677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1767780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 az Edge Computing lényege?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213925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2139255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Milyen fő előnyei vannak az 5G-nek az iparban?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251073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510730"/>
            <a:ext cx="5229225" cy="5143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Miért nem célszerű minden adatot közvetlenül a felhőbe küldeni?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31393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139380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Miben különbözik a PLC és az AI szerepe?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351085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510855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Mire használható az AI az ipari kommunikációban?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7677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5G: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Ötödik generációs mobilhálózat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39255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Edge Computing: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Helyi adatfeldolgozás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51073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AI: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Artificial Intelligence (Mesterséges Intelligencia)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2882205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AGV: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Automated Guided Vehicle (Önjáró jármű)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2536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MES / ERP: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Gyártás- és vállalatirányítás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Önellenőrző kérdések és Szakkifejezések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40668" y="2228850"/>
            <a:ext cx="53106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3600" b="1" i="0" u="none">
                <a:solidFill>
                  <a:srgbClr val="3FB950"/>
                </a:solidFill>
                <a:latin typeface="Rajdhani"/>
              </a:rPr>
              <a:t>🔜 Következő hét (32. hét)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86930" y="3295650"/>
            <a:ext cx="701813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C9D1D9"/>
                </a:solidFill>
                <a:latin typeface="Share Tech Mono"/>
              </a:rPr>
              <a:t>Felhőalapú ipari rendszerek (Cloud Manufacturing)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5725" y="4343400"/>
            <a:ext cx="4400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8B949E"/>
                </a:solidFill>
                <a:latin typeface="Share Tech Mono"/>
              </a:rPr>
              <a:t>Integrált Automatika Akadémia (IAA)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685</Words>
  <Application>Microsoft Office PowerPoint</Application>
  <PresentationFormat>Szélesvásznú</PresentationFormat>
  <Paragraphs>119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Rajdhani</vt:lpstr>
      <vt:lpstr>Share Tech Mono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2026-08-02T13:46:48Z</dcterms:modified>
  <cp:category/>
</cp:coreProperties>
</file>