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hu-H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Scan cycle</c:v>
          </c:tx>
          <c:spPr>
            <a:ln w="38100">
              <a:solidFill>
                <a:srgbClr val="1597C5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Bemenet 1</c:v>
              </c:pt>
              <c:pt idx="1">
                <c:v>Program 1</c:v>
              </c:pt>
              <c:pt idx="2">
                <c:v>Kimenet 1</c:v>
              </c:pt>
              <c:pt idx="3">
                <c:v>Bemenet 2</c:v>
              </c:pt>
              <c:pt idx="4">
                <c:v>Program 2</c:v>
              </c:pt>
              <c:pt idx="5">
                <c:v>Kimenet 2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1</c:v>
              </c:pt>
              <c:pt idx="4">
                <c:v>2</c:v>
              </c:pt>
              <c:pt idx="5">
                <c:v>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E1E-46C1-91B3-D106A5D04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hu-H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hu-HU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 felhasználó által feltöltött: 1._Miért van szükség asPLC-re(2).docx</a:t>
            </a:r>
          </a:p>
          <a:p>
            <a:r>
              <a:t>- Vizuális sablon: 36_IAP_Zaroprojekt_analog_rendszer_tervezese_36_het.pptx</a:t>
            </a:r>
          </a:p>
          <a:p>
            <a:r>
              <a:t>- Témakör: PLC szerepe, scan cycle, fő részek, relés összehasonlítás és alaplabor</a:t>
            </a:r>
          </a:p>
          <a:p>
            <a:r>
              <a:t>- Külső webes forrás nem került felhasználásra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">
            <a:extLst>
              <a:ext uri="{FF2B5EF4-FFF2-40B4-BE49-F238E27FC236}">
                <a16:creationId xmlns:a16="http://schemas.microsoft.com/office/drawing/2014/main" id="{69F78EF6-A873-4618-85EA-89BB32788F90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2. HÉT • 5 × 45 PERC</a:t>
            </a:r>
          </a:p>
        </p:txBody>
      </p:sp>
      <p:sp>
        <p:nvSpPr>
          <p:cNvPr id="2" name="h">
            <a:extLst>
              <a:ext uri="{FF2B5EF4-FFF2-40B4-BE49-F238E27FC236}">
                <a16:creationId xmlns:a16="http://schemas.microsoft.com/office/drawing/2014/main" id="{3C613CC8-A7BA-4DB0-94B1-FBAF43B9AB70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0096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5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PLC felépítése és működése</a:t>
            </a:r>
          </a:p>
        </p:txBody>
      </p:sp>
      <p:sp>
        <p:nvSpPr>
          <p:cNvPr id="3" name="sub">
            <a:extLst>
              <a:ext uri="{FF2B5EF4-FFF2-40B4-BE49-F238E27FC236}">
                <a16:creationId xmlns:a16="http://schemas.microsoft.com/office/drawing/2014/main" id="{4504827E-88DF-49B5-834B-103E3E4E3083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Tápegység • CPU • memória • I/O • kommunikáció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3F80694C-10EB-4E74-BA35-E1067A8201FB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11391900" cy="95250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5" name="m">
            <a:extLst>
              <a:ext uri="{FF2B5EF4-FFF2-40B4-BE49-F238E27FC236}">
                <a16:creationId xmlns:a16="http://schemas.microsoft.com/office/drawing/2014/main" id="{F7285E8D-381D-499A-BA4D-2799872D8A6C}"/>
              </a:ext>
            </a:extLst>
          </p:cNvPr>
          <p:cNvSpPr>
            <a:spLocks noGrp="1"/>
          </p:cNvSpPr>
          <p:nvPr/>
        </p:nvSpPr>
        <p:spPr>
          <a:xfrm>
            <a:off x="400050" y="5657850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hét célja: részegységeket felismerni • működést megérteni • biztonságosan bekötni</a:t>
            </a:r>
          </a:p>
        </p:txBody>
      </p:sp>
    </p:spTree>
    <p:extLst>
      <p:ext uri="{BB962C8B-B14F-4D97-AF65-F5344CB8AC3E}">
        <p14:creationId xmlns:p14="http://schemas.microsoft.com/office/powerpoint/2010/main" val="105697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">
            <a:extLst>
              <a:ext uri="{FF2B5EF4-FFF2-40B4-BE49-F238E27FC236}">
                <a16:creationId xmlns:a16="http://schemas.microsoft.com/office/drawing/2014/main" id="{7AD7F523-14F8-49DF-B067-372C045D6A2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FAE602F3-9806-4C87-8E87-088533229EF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PLC részegységei együtt alakítják vezérléssé a jeleket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DB803327-2617-463C-817E-A706CC5AA606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314D6372-4E69-4314-8207-726F0B838144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in">
            <a:extLst>
              <a:ext uri="{FF2B5EF4-FFF2-40B4-BE49-F238E27FC236}">
                <a16:creationId xmlns:a16="http://schemas.microsoft.com/office/drawing/2014/main" id="{FF39882E-DD4A-4601-A6F9-5AAB10841875}"/>
              </a:ext>
            </a:extLst>
          </p:cNvPr>
          <p:cNvSpPr>
            <a:spLocks noGrp="1"/>
          </p:cNvSpPr>
          <p:nvPr/>
        </p:nvSpPr>
        <p:spPr>
          <a:xfrm>
            <a:off x="809625" y="28575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5972"/>
          </a:bodyPr>
          <a:lstStyle/>
          <a:p>
            <a:pPr algn="l">
              <a:buNone/>
              <a:defRPr sz="180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TÁPEGYSÉG</a:t>
            </a:r>
          </a:p>
          <a:p>
            <a:r>
              <a:t>ÉS BEMENETEK</a:t>
            </a:r>
          </a:p>
        </p:txBody>
      </p:sp>
      <p:sp>
        <p:nvSpPr>
          <p:cNvPr id="6" name="w1">
            <a:extLst>
              <a:ext uri="{FF2B5EF4-FFF2-40B4-BE49-F238E27FC236}">
                <a16:creationId xmlns:a16="http://schemas.microsoft.com/office/drawing/2014/main" id="{83BF1623-330C-4A0D-B2A0-7F4FA25D4C28}"/>
              </a:ext>
            </a:extLst>
          </p:cNvPr>
          <p:cNvSpPr>
            <a:spLocks noGrp="1"/>
          </p:cNvSpPr>
          <p:nvPr/>
        </p:nvSpPr>
        <p:spPr>
          <a:xfrm>
            <a:off x="2381250" y="3476625"/>
            <a:ext cx="1714500" cy="381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7" name="f">
            <a:extLst>
              <a:ext uri="{FF2B5EF4-FFF2-40B4-BE49-F238E27FC236}">
                <a16:creationId xmlns:a16="http://schemas.microsoft.com/office/drawing/2014/main" id="{C922F674-F886-4986-84E0-13B1EC00C97A}"/>
              </a:ext>
            </a:extLst>
          </p:cNvPr>
          <p:cNvSpPr>
            <a:spLocks noGrp="1"/>
          </p:cNvSpPr>
          <p:nvPr/>
        </p:nvSpPr>
        <p:spPr>
          <a:xfrm>
            <a:off x="4095750" y="2714625"/>
            <a:ext cx="2857500" cy="1571625"/>
          </a:xfrm>
          <a:prstGeom prst="roundRect">
            <a:avLst>
              <a:gd name="adj" fmla="val 4848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8" name="ft">
            <a:extLst>
              <a:ext uri="{FF2B5EF4-FFF2-40B4-BE49-F238E27FC236}">
                <a16:creationId xmlns:a16="http://schemas.microsoft.com/office/drawing/2014/main" id="{A01AB56B-C901-4C1A-9A60-84B321C700F1}"/>
              </a:ext>
            </a:extLst>
          </p:cNvPr>
          <p:cNvSpPr>
            <a:spLocks noGrp="1"/>
          </p:cNvSpPr>
          <p:nvPr/>
        </p:nvSpPr>
        <p:spPr>
          <a:xfrm>
            <a:off x="4476750" y="319087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4516"/>
          </a:bodyPr>
          <a:lstStyle/>
          <a:p>
            <a:pPr algn="ctr">
              <a:buNone/>
              <a:defRPr sz="232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CPU</a:t>
            </a:r>
          </a:p>
          <a:p>
            <a:r>
              <a:t>PROGRAMLOGIKA</a:t>
            </a:r>
          </a:p>
        </p:txBody>
      </p:sp>
      <p:sp>
        <p:nvSpPr>
          <p:cNvPr id="9" name="w2">
            <a:extLst>
              <a:ext uri="{FF2B5EF4-FFF2-40B4-BE49-F238E27FC236}">
                <a16:creationId xmlns:a16="http://schemas.microsoft.com/office/drawing/2014/main" id="{70E7A964-39A8-4FF8-A37E-58D614338124}"/>
              </a:ext>
            </a:extLst>
          </p:cNvPr>
          <p:cNvSpPr>
            <a:spLocks noGrp="1"/>
          </p:cNvSpPr>
          <p:nvPr/>
        </p:nvSpPr>
        <p:spPr>
          <a:xfrm>
            <a:off x="6953250" y="3476625"/>
            <a:ext cx="1714500" cy="381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0" name="out">
            <a:extLst>
              <a:ext uri="{FF2B5EF4-FFF2-40B4-BE49-F238E27FC236}">
                <a16:creationId xmlns:a16="http://schemas.microsoft.com/office/drawing/2014/main" id="{FC654BBE-E040-410D-A46C-A9FD94E428A0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5972"/>
          </a:bodyPr>
          <a:lstStyle/>
          <a:p>
            <a:pPr algn="r">
              <a:buNone/>
              <a:defRPr sz="180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KIMENETEK</a:t>
            </a:r>
          </a:p>
          <a:p>
            <a:r>
              <a:t>ÉS AKTOROK</a:t>
            </a:r>
          </a:p>
        </p:txBody>
      </p:sp>
      <p:sp>
        <p:nvSpPr>
          <p:cNvPr id="11" name="keep">
            <a:extLst>
              <a:ext uri="{FF2B5EF4-FFF2-40B4-BE49-F238E27FC236}">
                <a16:creationId xmlns:a16="http://schemas.microsoft.com/office/drawing/2014/main" id="{513485A9-8C3F-4E52-B4F4-ABAAE2754D05}"/>
              </a:ext>
            </a:extLst>
          </p:cNvPr>
          <p:cNvSpPr>
            <a:spLocks noGrp="1"/>
          </p:cNvSpPr>
          <p:nvPr/>
        </p:nvSpPr>
        <p:spPr>
          <a:xfrm>
            <a:off x="1143000" y="50006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75" b="1">
                <a:solidFill>
                  <a:srgbClr val="2E9D67"/>
                </a:solidFill>
                <a:latin typeface="Arial"/>
                <a:ea typeface="Arial"/>
                <a:cs typeface="Arial"/>
              </a:defRPr>
            </a:pPr>
            <a:r>
              <a:t>kiindulás: érzékelők jelei</a:t>
            </a:r>
          </a:p>
        </p:txBody>
      </p:sp>
      <p:sp>
        <p:nvSpPr>
          <p:cNvPr id="12" name="cut">
            <a:extLst>
              <a:ext uri="{FF2B5EF4-FFF2-40B4-BE49-F238E27FC236}">
                <a16:creationId xmlns:a16="http://schemas.microsoft.com/office/drawing/2014/main" id="{A4D0700D-63E5-4825-AC4D-A47C4C3EFD49}"/>
              </a:ext>
            </a:extLst>
          </p:cNvPr>
          <p:cNvSpPr>
            <a:spLocks noGrp="1"/>
          </p:cNvSpPr>
          <p:nvPr/>
        </p:nvSpPr>
        <p:spPr>
          <a:xfrm>
            <a:off x="6667500" y="500062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7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eredmény: irányított működés</a:t>
            </a:r>
          </a:p>
        </p:txBody>
      </p:sp>
    </p:spTree>
    <p:extLst>
      <p:ext uri="{BB962C8B-B14F-4D97-AF65-F5344CB8AC3E}">
        <p14:creationId xmlns:p14="http://schemas.microsoft.com/office/powerpoint/2010/main" val="1894622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">
            <a:extLst>
              <a:ext uri="{FF2B5EF4-FFF2-40B4-BE49-F238E27FC236}">
                <a16:creationId xmlns:a16="http://schemas.microsoft.com/office/drawing/2014/main" id="{C4B69D31-7C29-46BA-97E8-654532F660C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84D9DE36-9375-4216-8132-6A28983EF600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PLC fő részegységei egy vezérlési láncot alkotnak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853E1FF3-2CA8-48F1-BEEE-ECF70434948F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61E3A4AB-C7DA-4EBD-A4B2-A6D11CF032FC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b0">
            <a:extLst>
              <a:ext uri="{FF2B5EF4-FFF2-40B4-BE49-F238E27FC236}">
                <a16:creationId xmlns:a16="http://schemas.microsoft.com/office/drawing/2014/main" id="{33CE7818-681B-4993-9E5F-726EF5A4B23F}"/>
              </a:ext>
            </a:extLst>
          </p:cNvPr>
          <p:cNvSpPr>
            <a:spLocks noGrp="1"/>
          </p:cNvSpPr>
          <p:nvPr/>
        </p:nvSpPr>
        <p:spPr>
          <a:xfrm>
            <a:off x="523875" y="2571750"/>
            <a:ext cx="2571750" cy="2238375"/>
          </a:xfrm>
          <a:prstGeom prst="roundRect">
            <a:avLst>
              <a:gd name="adj" fmla="val 3404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6" name="h0">
            <a:extLst>
              <a:ext uri="{FF2B5EF4-FFF2-40B4-BE49-F238E27FC236}">
                <a16:creationId xmlns:a16="http://schemas.microsoft.com/office/drawing/2014/main" id="{837F5534-60F7-46DA-9D00-CFAE7E291D86}"/>
              </a:ext>
            </a:extLst>
          </p:cNvPr>
          <p:cNvSpPr>
            <a:spLocks noGrp="1"/>
          </p:cNvSpPr>
          <p:nvPr/>
        </p:nvSpPr>
        <p:spPr>
          <a:xfrm>
            <a:off x="714375" y="30003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TÁPEGYSÉG</a:t>
            </a:r>
          </a:p>
        </p:txBody>
      </p:sp>
      <p:sp>
        <p:nvSpPr>
          <p:cNvPr id="7" name="btxt0">
            <a:extLst>
              <a:ext uri="{FF2B5EF4-FFF2-40B4-BE49-F238E27FC236}">
                <a16:creationId xmlns:a16="http://schemas.microsoft.com/office/drawing/2014/main" id="{6844911F-7A8B-43C4-BA7E-BF8CF8786102}"/>
              </a:ext>
            </a:extLst>
          </p:cNvPr>
          <p:cNvSpPr>
            <a:spLocks noGrp="1"/>
          </p:cNvSpPr>
          <p:nvPr/>
        </p:nvSpPr>
        <p:spPr>
          <a:xfrm>
            <a:off x="790575" y="3857625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stabil 24 V DC</a:t>
            </a:r>
          </a:p>
          <a:p>
            <a:r>
              <a:t>az elektronikának</a:t>
            </a:r>
          </a:p>
        </p:txBody>
      </p:sp>
      <p:sp>
        <p:nvSpPr>
          <p:cNvPr id="8" name="b1">
            <a:extLst>
              <a:ext uri="{FF2B5EF4-FFF2-40B4-BE49-F238E27FC236}">
                <a16:creationId xmlns:a16="http://schemas.microsoft.com/office/drawing/2014/main" id="{B0E8056A-FE65-4090-8D34-D86ABB1C1DD0}"/>
              </a:ext>
            </a:extLst>
          </p:cNvPr>
          <p:cNvSpPr>
            <a:spLocks noGrp="1"/>
          </p:cNvSpPr>
          <p:nvPr/>
        </p:nvSpPr>
        <p:spPr>
          <a:xfrm>
            <a:off x="3429000" y="2571750"/>
            <a:ext cx="2571750" cy="2238375"/>
          </a:xfrm>
          <a:prstGeom prst="roundRect">
            <a:avLst>
              <a:gd name="adj" fmla="val 3404"/>
            </a:avLst>
          </a:prstGeom>
          <a:solidFill>
            <a:srgbClr val="EDF5F8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9" name="h1">
            <a:extLst>
              <a:ext uri="{FF2B5EF4-FFF2-40B4-BE49-F238E27FC236}">
                <a16:creationId xmlns:a16="http://schemas.microsoft.com/office/drawing/2014/main" id="{DE990A88-14C0-4C74-83FD-CC648C64AB7B}"/>
              </a:ext>
            </a:extLst>
          </p:cNvPr>
          <p:cNvSpPr>
            <a:spLocks noGrp="1"/>
          </p:cNvSpPr>
          <p:nvPr/>
        </p:nvSpPr>
        <p:spPr>
          <a:xfrm>
            <a:off x="3619500" y="30003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CPU</a:t>
            </a:r>
          </a:p>
        </p:txBody>
      </p:sp>
      <p:sp>
        <p:nvSpPr>
          <p:cNvPr id="10" name="btxt1">
            <a:extLst>
              <a:ext uri="{FF2B5EF4-FFF2-40B4-BE49-F238E27FC236}">
                <a16:creationId xmlns:a16="http://schemas.microsoft.com/office/drawing/2014/main" id="{7942654B-4E25-40EE-8EAF-CDFB1B8D2202}"/>
              </a:ext>
            </a:extLst>
          </p:cNvPr>
          <p:cNvSpPr>
            <a:spLocks noGrp="1"/>
          </p:cNvSpPr>
          <p:nvPr/>
        </p:nvSpPr>
        <p:spPr>
          <a:xfrm>
            <a:off x="3695700" y="3857625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beolvas, dönt</a:t>
            </a:r>
          </a:p>
          <a:p>
            <a:r>
              <a:t>és vezérel</a:t>
            </a:r>
          </a:p>
        </p:txBody>
      </p:sp>
      <p:sp>
        <p:nvSpPr>
          <p:cNvPr id="11" name="b2">
            <a:extLst>
              <a:ext uri="{FF2B5EF4-FFF2-40B4-BE49-F238E27FC236}">
                <a16:creationId xmlns:a16="http://schemas.microsoft.com/office/drawing/2014/main" id="{45763202-C43C-473C-B7F0-36B1A7289652}"/>
              </a:ext>
            </a:extLst>
          </p:cNvPr>
          <p:cNvSpPr>
            <a:spLocks noGrp="1"/>
          </p:cNvSpPr>
          <p:nvPr/>
        </p:nvSpPr>
        <p:spPr>
          <a:xfrm>
            <a:off x="6334125" y="2571750"/>
            <a:ext cx="2571750" cy="2238375"/>
          </a:xfrm>
          <a:prstGeom prst="roundRect">
            <a:avLst>
              <a:gd name="adj" fmla="val 3404"/>
            </a:avLst>
          </a:prstGeom>
          <a:solidFill>
            <a:srgbClr val="EDF5F8"/>
          </a:solidFill>
          <a:ln w="9525">
            <a:solidFill>
              <a:srgbClr val="2E9D67"/>
            </a:solidFill>
            <a:prstDash val="solid"/>
          </a:ln>
        </p:spPr>
      </p:sp>
      <p:sp>
        <p:nvSpPr>
          <p:cNvPr id="12" name="h2">
            <a:extLst>
              <a:ext uri="{FF2B5EF4-FFF2-40B4-BE49-F238E27FC236}">
                <a16:creationId xmlns:a16="http://schemas.microsoft.com/office/drawing/2014/main" id="{E976561C-49C1-4595-8FB5-B132FBCFDDEF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2E9D67"/>
                </a:solidFill>
                <a:latin typeface="Arial"/>
                <a:ea typeface="Arial"/>
                <a:cs typeface="Arial"/>
              </a:defRPr>
            </a:pPr>
            <a:r>
              <a:t>MEMÓRIA</a:t>
            </a:r>
          </a:p>
        </p:txBody>
      </p:sp>
      <p:sp>
        <p:nvSpPr>
          <p:cNvPr id="13" name="btxt2">
            <a:extLst>
              <a:ext uri="{FF2B5EF4-FFF2-40B4-BE49-F238E27FC236}">
                <a16:creationId xmlns:a16="http://schemas.microsoft.com/office/drawing/2014/main" id="{00752B84-AC2F-4DD0-9052-17BD785C9FD6}"/>
              </a:ext>
            </a:extLst>
          </p:cNvPr>
          <p:cNvSpPr>
            <a:spLocks noGrp="1"/>
          </p:cNvSpPr>
          <p:nvPr/>
        </p:nvSpPr>
        <p:spPr>
          <a:xfrm>
            <a:off x="6600825" y="3857625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program, változók</a:t>
            </a:r>
          </a:p>
          <a:p>
            <a:r>
              <a:t>időzítők, számlálók</a:t>
            </a:r>
          </a:p>
        </p:txBody>
      </p:sp>
      <p:sp>
        <p:nvSpPr>
          <p:cNvPr id="14" name="b3">
            <a:extLst>
              <a:ext uri="{FF2B5EF4-FFF2-40B4-BE49-F238E27FC236}">
                <a16:creationId xmlns:a16="http://schemas.microsoft.com/office/drawing/2014/main" id="{C1315633-A217-4A8B-BCC3-361F1AC42418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2571750" cy="2238375"/>
          </a:xfrm>
          <a:prstGeom prst="roundRect">
            <a:avLst>
              <a:gd name="adj" fmla="val 3404"/>
            </a:avLst>
          </a:prstGeom>
          <a:solidFill>
            <a:srgbClr val="EDF5F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15" name="h3">
            <a:extLst>
              <a:ext uri="{FF2B5EF4-FFF2-40B4-BE49-F238E27FC236}">
                <a16:creationId xmlns:a16="http://schemas.microsoft.com/office/drawing/2014/main" id="{D4992826-3465-4D60-AC19-E283B0D89620}"/>
              </a:ext>
            </a:extLst>
          </p:cNvPr>
          <p:cNvSpPr>
            <a:spLocks noGrp="1"/>
          </p:cNvSpPr>
          <p:nvPr/>
        </p:nvSpPr>
        <p:spPr>
          <a:xfrm>
            <a:off x="9429750" y="30003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t>I/O ÉS PORTOK</a:t>
            </a:r>
          </a:p>
        </p:txBody>
      </p:sp>
      <p:sp>
        <p:nvSpPr>
          <p:cNvPr id="16" name="btxt3">
            <a:extLst>
              <a:ext uri="{FF2B5EF4-FFF2-40B4-BE49-F238E27FC236}">
                <a16:creationId xmlns:a16="http://schemas.microsoft.com/office/drawing/2014/main" id="{13A59433-1338-4D58-8151-58ECA690371B}"/>
              </a:ext>
            </a:extLst>
          </p:cNvPr>
          <p:cNvSpPr>
            <a:spLocks noGrp="1"/>
          </p:cNvSpPr>
          <p:nvPr/>
        </p:nvSpPr>
        <p:spPr>
          <a:xfrm>
            <a:off x="9505950" y="3857625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bemenetek, kimenetek</a:t>
            </a:r>
          </a:p>
          <a:p>
            <a:r>
              <a:t>és adatkapcsolat</a:t>
            </a:r>
          </a:p>
        </p:txBody>
      </p:sp>
      <p:sp>
        <p:nvSpPr>
          <p:cNvPr id="17" name="m">
            <a:extLst>
              <a:ext uri="{FF2B5EF4-FFF2-40B4-BE49-F238E27FC236}">
                <a16:creationId xmlns:a16="http://schemas.microsoft.com/office/drawing/2014/main" id="{EE76F206-B3D5-43F1-B19E-2EC922FA9CCF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3136"/>
          </a:bodyPr>
          <a:lstStyle/>
          <a:p>
            <a:pPr algn="ctr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PLC nem egyetlen alkatrész, hanem együttműködő hardveregységek rendszere.</a:t>
            </a:r>
          </a:p>
        </p:txBody>
      </p:sp>
    </p:spTree>
    <p:extLst>
      <p:ext uri="{BB962C8B-B14F-4D97-AF65-F5344CB8AC3E}">
        <p14:creationId xmlns:p14="http://schemas.microsoft.com/office/powerpoint/2010/main" val="138613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">
            <a:extLst>
              <a:ext uri="{FF2B5EF4-FFF2-40B4-BE49-F238E27FC236}">
                <a16:creationId xmlns:a16="http://schemas.microsoft.com/office/drawing/2014/main" id="{A0CBF04B-DF90-4B53-8D21-B04964DC988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EB1821DC-4A5A-4701-AEAD-2F0BFCC6DDF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tápegység adja a stabil működés alapját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0799F8F7-EAF2-4BBB-9E40-C0AD4EA87B12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88298279-A3C0-473D-94D5-8A491D7049F5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f">
            <a:extLst>
              <a:ext uri="{FF2B5EF4-FFF2-40B4-BE49-F238E27FC236}">
                <a16:creationId xmlns:a16="http://schemas.microsoft.com/office/drawing/2014/main" id="{21387441-4852-4F0B-968D-29082FF9BFB9}"/>
              </a:ext>
            </a:extLst>
          </p:cNvPr>
          <p:cNvSpPr>
            <a:spLocks noGrp="1"/>
          </p:cNvSpPr>
          <p:nvPr/>
        </p:nvSpPr>
        <p:spPr>
          <a:xfrm>
            <a:off x="1809750" y="1952625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322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230 V AC → 24 V DC → BIZTONSÁGOS VEZÉRLÉS</a:t>
            </a:r>
          </a:p>
        </p:txBody>
      </p:sp>
      <p:sp>
        <p:nvSpPr>
          <p:cNvPr id="6" name="rbox">
            <a:extLst>
              <a:ext uri="{FF2B5EF4-FFF2-40B4-BE49-F238E27FC236}">
                <a16:creationId xmlns:a16="http://schemas.microsoft.com/office/drawing/2014/main" id="{48F40E92-D051-4382-8D64-59D6C5B53DA6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2857500" cy="1524000"/>
          </a:xfrm>
          <a:prstGeom prst="roundRect">
            <a:avLst>
              <a:gd name="adj" fmla="val 5000"/>
            </a:avLst>
          </a:prstGeom>
          <a:solidFill>
            <a:srgbClr val="EDF5F8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7" name="rt">
            <a:extLst>
              <a:ext uri="{FF2B5EF4-FFF2-40B4-BE49-F238E27FC236}">
                <a16:creationId xmlns:a16="http://schemas.microsoft.com/office/drawing/2014/main" id="{B10DFE24-ADD1-4527-8555-22BD568ACCED}"/>
              </a:ext>
            </a:extLst>
          </p:cNvPr>
          <p:cNvSpPr>
            <a:spLocks noGrp="1"/>
          </p:cNvSpPr>
          <p:nvPr/>
        </p:nvSpPr>
        <p:spPr>
          <a:xfrm>
            <a:off x="1333500" y="3857625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4655"/>
          </a:bodyPr>
          <a:lstStyle/>
          <a:p>
            <a:pPr algn="ctr">
              <a:buNone/>
              <a:defRPr sz="217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stabil táp</a:t>
            </a:r>
          </a:p>
          <a:p>
            <a:r>
              <a:t>az elektronikának</a:t>
            </a:r>
          </a:p>
        </p:txBody>
      </p:sp>
      <p:sp>
        <p:nvSpPr>
          <p:cNvPr id="8" name="cbox">
            <a:extLst>
              <a:ext uri="{FF2B5EF4-FFF2-40B4-BE49-F238E27FC236}">
                <a16:creationId xmlns:a16="http://schemas.microsoft.com/office/drawing/2014/main" id="{4A8914D2-8129-44ED-A394-CF4060DDDA03}"/>
              </a:ext>
            </a:extLst>
          </p:cNvPr>
          <p:cNvSpPr>
            <a:spLocks noGrp="1"/>
          </p:cNvSpPr>
          <p:nvPr/>
        </p:nvSpPr>
        <p:spPr>
          <a:xfrm>
            <a:off x="4667250" y="3381375"/>
            <a:ext cx="2857500" cy="1524000"/>
          </a:xfrm>
          <a:prstGeom prst="roundRect">
            <a:avLst>
              <a:gd name="adj" fmla="val 5000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9" name="ct">
            <a:extLst>
              <a:ext uri="{FF2B5EF4-FFF2-40B4-BE49-F238E27FC236}">
                <a16:creationId xmlns:a16="http://schemas.microsoft.com/office/drawing/2014/main" id="{279CAF61-9272-46BB-BB35-072678759B79}"/>
              </a:ext>
            </a:extLst>
          </p:cNvPr>
          <p:cNvSpPr>
            <a:spLocks noGrp="1"/>
          </p:cNvSpPr>
          <p:nvPr/>
        </p:nvSpPr>
        <p:spPr>
          <a:xfrm>
            <a:off x="4953000" y="3857625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4655"/>
          </a:bodyPr>
          <a:lstStyle/>
          <a:p>
            <a:pPr algn="ctr">
              <a:buNone/>
              <a:defRPr sz="21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helyes polaritás,</a:t>
            </a:r>
          </a:p>
          <a:p>
            <a:r>
              <a:t>rendezett bekötés</a:t>
            </a:r>
          </a:p>
        </p:txBody>
      </p:sp>
      <p:sp>
        <p:nvSpPr>
          <p:cNvPr id="10" name="fcbox">
            <a:extLst>
              <a:ext uri="{FF2B5EF4-FFF2-40B4-BE49-F238E27FC236}">
                <a16:creationId xmlns:a16="http://schemas.microsoft.com/office/drawing/2014/main" id="{9FA5F7A1-8477-45BA-B20A-1BFD5D988438}"/>
              </a:ext>
            </a:extLst>
          </p:cNvPr>
          <p:cNvSpPr>
            <a:spLocks noGrp="1"/>
          </p:cNvSpPr>
          <p:nvPr/>
        </p:nvSpPr>
        <p:spPr>
          <a:xfrm>
            <a:off x="8286750" y="3143250"/>
            <a:ext cx="2857500" cy="2000250"/>
          </a:xfrm>
          <a:prstGeom prst="roundRect">
            <a:avLst>
              <a:gd name="adj" fmla="val 3810"/>
            </a:avLst>
          </a:prstGeom>
          <a:solidFill>
            <a:srgbClr val="FFF1E6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1" name="fct">
            <a:extLst>
              <a:ext uri="{FF2B5EF4-FFF2-40B4-BE49-F238E27FC236}">
                <a16:creationId xmlns:a16="http://schemas.microsoft.com/office/drawing/2014/main" id="{CBE4F9D5-E592-4C90-B5D9-37FC401678DB}"/>
              </a:ext>
            </a:extLst>
          </p:cNvPr>
          <p:cNvSpPr>
            <a:spLocks noGrp="1"/>
          </p:cNvSpPr>
          <p:nvPr/>
        </p:nvSpPr>
        <p:spPr>
          <a:xfrm>
            <a:off x="8572500" y="376237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2227"/>
          </a:bodyPr>
          <a:lstStyle/>
          <a:p>
            <a:pPr algn="ctr">
              <a:buNone/>
              <a:defRPr sz="232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feszültség alá helyezés</a:t>
            </a:r>
          </a:p>
          <a:p>
            <a:r>
              <a:t>csak ellenőrzés után</a:t>
            </a:r>
          </a:p>
        </p:txBody>
      </p:sp>
      <p:sp>
        <p:nvSpPr>
          <p:cNvPr id="12" name="m">
            <a:extLst>
              <a:ext uri="{FF2B5EF4-FFF2-40B4-BE49-F238E27FC236}">
                <a16:creationId xmlns:a16="http://schemas.microsoft.com/office/drawing/2014/main" id="{A7351F29-CF5D-4C95-BB80-2B6B2B7C7F6D}"/>
              </a:ext>
            </a:extLst>
          </p:cNvPr>
          <p:cNvSpPr>
            <a:spLocks noGrp="1"/>
          </p:cNvSpPr>
          <p:nvPr/>
        </p:nvSpPr>
        <p:spPr>
          <a:xfrm>
            <a:off x="2095500" y="56197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62"/>
          </a:bodyPr>
          <a:lstStyle/>
          <a:p>
            <a:pPr algn="ctr">
              <a:buNone/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Oktatási rendszerekben a PLC tápellátása jellemzően 24 V DC.</a:t>
            </a:r>
          </a:p>
        </p:txBody>
      </p:sp>
    </p:spTree>
    <p:extLst>
      <p:ext uri="{BB962C8B-B14F-4D97-AF65-F5344CB8AC3E}">
        <p14:creationId xmlns:p14="http://schemas.microsoft.com/office/powerpoint/2010/main" val="2457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">
            <a:extLst>
              <a:ext uri="{FF2B5EF4-FFF2-40B4-BE49-F238E27FC236}">
                <a16:creationId xmlns:a16="http://schemas.microsoft.com/office/drawing/2014/main" id="{DE6D9BF4-8E18-4CAD-AE0F-1314A41D750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99EAB86C-E7A8-4480-A29F-8210039B778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CPU és a memória végzi a vezérlés „gondolkodó” részét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E9F0B884-DF6D-441C-A9D3-E27CF0E2ED0A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1DF8ED9E-BC3C-41B9-BBA2-53B6CDBD6897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l">
            <a:extLst>
              <a:ext uri="{FF2B5EF4-FFF2-40B4-BE49-F238E27FC236}">
                <a16:creationId xmlns:a16="http://schemas.microsoft.com/office/drawing/2014/main" id="{505BB50B-B8CB-49B4-8083-AEC578B50B75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CPU</a:t>
            </a:r>
          </a:p>
        </p:txBody>
      </p:sp>
      <p:sp>
        <p:nvSpPr>
          <p:cNvPr id="6" name="h">
            <a:extLst>
              <a:ext uri="{FF2B5EF4-FFF2-40B4-BE49-F238E27FC236}">
                <a16:creationId xmlns:a16="http://schemas.microsoft.com/office/drawing/2014/main" id="{12B3D1E6-0F87-4394-9FAD-02560F954E40}"/>
              </a:ext>
            </a:extLst>
          </p:cNvPr>
          <p:cNvSpPr>
            <a:spLocks noGrp="1"/>
          </p:cNvSpPr>
          <p:nvPr/>
        </p:nvSpPr>
        <p:spPr>
          <a:xfrm>
            <a:off x="7810500" y="2000250"/>
            <a:ext cx="304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MEMÓRIA</a:t>
            </a:r>
          </a:p>
        </p:txBody>
      </p:sp>
      <p:sp>
        <p:nvSpPr>
          <p:cNvPr id="7" name="q0">
            <a:extLst>
              <a:ext uri="{FF2B5EF4-FFF2-40B4-BE49-F238E27FC236}">
                <a16:creationId xmlns:a16="http://schemas.microsoft.com/office/drawing/2014/main" id="{1B009A93-23C0-4E6D-99E8-7DC7A7204466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Feladat</a:t>
            </a:r>
          </a:p>
        </p:txBody>
      </p:sp>
      <p:sp>
        <p:nvSpPr>
          <p:cNvPr id="8" name="a0">
            <a:extLst>
              <a:ext uri="{FF2B5EF4-FFF2-40B4-BE49-F238E27FC236}">
                <a16:creationId xmlns:a16="http://schemas.microsoft.com/office/drawing/2014/main" id="{63DD767E-5694-4529-9853-147FFAE93680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278"/>
          </a:bodyPr>
          <a:lstStyle/>
          <a:p>
            <a:pPr algn="ctr">
              <a:buNone/>
              <a:defRPr sz="1800" b="0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bemenetek feldolgozása</a:t>
            </a:r>
          </a:p>
          <a:p>
            <a:r>
              <a:t>program végrehajtása</a:t>
            </a:r>
          </a:p>
        </p:txBody>
      </p:sp>
      <p:sp>
        <p:nvSpPr>
          <p:cNvPr id="9" name="b0">
            <a:extLst>
              <a:ext uri="{FF2B5EF4-FFF2-40B4-BE49-F238E27FC236}">
                <a16:creationId xmlns:a16="http://schemas.microsoft.com/office/drawing/2014/main" id="{5DD1C2C6-30E1-4B20-86C9-62A7B724CD97}"/>
              </a:ext>
            </a:extLst>
          </p:cNvPr>
          <p:cNvSpPr>
            <a:spLocks noGrp="1"/>
          </p:cNvSpPr>
          <p:nvPr/>
        </p:nvSpPr>
        <p:spPr>
          <a:xfrm>
            <a:off x="7810500" y="28575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program, változók</a:t>
            </a:r>
          </a:p>
          <a:p>
            <a:r>
              <a:t>időzítők és számlálók tárolása</a:t>
            </a:r>
          </a:p>
        </p:txBody>
      </p:sp>
      <p:sp>
        <p:nvSpPr>
          <p:cNvPr id="10" name="ln0">
            <a:extLst>
              <a:ext uri="{FF2B5EF4-FFF2-40B4-BE49-F238E27FC236}">
                <a16:creationId xmlns:a16="http://schemas.microsoft.com/office/drawing/2014/main" id="{DD43DF19-F329-4CFF-B716-0F32E81EC174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10287000" cy="19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q1">
            <a:extLst>
              <a:ext uri="{FF2B5EF4-FFF2-40B4-BE49-F238E27FC236}">
                <a16:creationId xmlns:a16="http://schemas.microsoft.com/office/drawing/2014/main" id="{1B24EB27-1658-473F-A9A0-6A02C6AA266E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Működés</a:t>
            </a:r>
          </a:p>
        </p:txBody>
      </p:sp>
      <p:sp>
        <p:nvSpPr>
          <p:cNvPr id="12" name="a1">
            <a:extLst>
              <a:ext uri="{FF2B5EF4-FFF2-40B4-BE49-F238E27FC236}">
                <a16:creationId xmlns:a16="http://schemas.microsoft.com/office/drawing/2014/main" id="{FC27BD7E-535B-4176-BD4D-E8B0794DCB44}"/>
              </a:ext>
            </a:extLst>
          </p:cNvPr>
          <p:cNvSpPr>
            <a:spLocks noGrp="1"/>
          </p:cNvSpPr>
          <p:nvPr/>
        </p:nvSpPr>
        <p:spPr>
          <a:xfrm>
            <a:off x="4095750" y="3810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döntés a logika alapján</a:t>
            </a:r>
          </a:p>
        </p:txBody>
      </p:sp>
      <p:sp>
        <p:nvSpPr>
          <p:cNvPr id="13" name="b1">
            <a:extLst>
              <a:ext uri="{FF2B5EF4-FFF2-40B4-BE49-F238E27FC236}">
                <a16:creationId xmlns:a16="http://schemas.microsoft.com/office/drawing/2014/main" id="{D92D161F-2F16-4573-8D99-417478555B52}"/>
              </a:ext>
            </a:extLst>
          </p:cNvPr>
          <p:cNvSpPr>
            <a:spLocks noGrp="1"/>
          </p:cNvSpPr>
          <p:nvPr/>
        </p:nvSpPr>
        <p:spPr>
          <a:xfrm>
            <a:off x="7810500" y="38100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állapotok megőrzése</a:t>
            </a:r>
          </a:p>
        </p:txBody>
      </p:sp>
      <p:sp>
        <p:nvSpPr>
          <p:cNvPr id="14" name="ln1">
            <a:extLst>
              <a:ext uri="{FF2B5EF4-FFF2-40B4-BE49-F238E27FC236}">
                <a16:creationId xmlns:a16="http://schemas.microsoft.com/office/drawing/2014/main" id="{7454E041-7417-4653-AB56-5A7B62FE9FF0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287000" cy="19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q2">
            <a:extLst>
              <a:ext uri="{FF2B5EF4-FFF2-40B4-BE49-F238E27FC236}">
                <a16:creationId xmlns:a16="http://schemas.microsoft.com/office/drawing/2014/main" id="{1563CF58-07CC-4A42-82DD-15974E4E0D1E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Gyakorlat</a:t>
            </a:r>
          </a:p>
        </p:txBody>
      </p:sp>
      <p:sp>
        <p:nvSpPr>
          <p:cNvPr id="16" name="a2">
            <a:extLst>
              <a:ext uri="{FF2B5EF4-FFF2-40B4-BE49-F238E27FC236}">
                <a16:creationId xmlns:a16="http://schemas.microsoft.com/office/drawing/2014/main" id="{3F68227F-7571-4621-877E-D69433F9F6A6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RUN, ERR és COM LED-ek figyelése</a:t>
            </a:r>
          </a:p>
        </p:txBody>
      </p:sp>
      <p:sp>
        <p:nvSpPr>
          <p:cNvPr id="17" name="b2">
            <a:extLst>
              <a:ext uri="{FF2B5EF4-FFF2-40B4-BE49-F238E27FC236}">
                <a16:creationId xmlns:a16="http://schemas.microsoft.com/office/drawing/2014/main" id="{2D5BF2E7-42E3-49EA-8DC3-C35AA22FFDF3}"/>
              </a:ext>
            </a:extLst>
          </p:cNvPr>
          <p:cNvSpPr>
            <a:spLocks noGrp="1"/>
          </p:cNvSpPr>
          <p:nvPr/>
        </p:nvSpPr>
        <p:spPr>
          <a:xfrm>
            <a:off x="7810500" y="47625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program- és adatállapotok értelmezése</a:t>
            </a:r>
          </a:p>
        </p:txBody>
      </p:sp>
      <p:sp>
        <p:nvSpPr>
          <p:cNvPr id="18" name="ln2">
            <a:extLst>
              <a:ext uri="{FF2B5EF4-FFF2-40B4-BE49-F238E27FC236}">
                <a16:creationId xmlns:a16="http://schemas.microsoft.com/office/drawing/2014/main" id="{4DAD8FC6-E0C6-41E9-87F1-2D420447B767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287000" cy="19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4147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">
            <a:extLst>
              <a:ext uri="{FF2B5EF4-FFF2-40B4-BE49-F238E27FC236}">
                <a16:creationId xmlns:a16="http://schemas.microsoft.com/office/drawing/2014/main" id="{A0CBF04B-DF90-4B53-8D21-B04964DC988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EB1821DC-4A5A-4701-AEAD-2F0BFCC6DDF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PLC működése négy lépésben ismétlődik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0799F8F7-EAF2-4BBB-9E40-C0AD4EA87B12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88298279-A3C0-473D-94D5-8A491D7049F5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f">
            <a:extLst>
              <a:ext uri="{FF2B5EF4-FFF2-40B4-BE49-F238E27FC236}">
                <a16:creationId xmlns:a16="http://schemas.microsoft.com/office/drawing/2014/main" id="{21387441-4852-4F0B-968D-29082FF9BFB9}"/>
              </a:ext>
            </a:extLst>
          </p:cNvPr>
          <p:cNvSpPr>
            <a:spLocks noGrp="1"/>
          </p:cNvSpPr>
          <p:nvPr/>
        </p:nvSpPr>
        <p:spPr>
          <a:xfrm>
            <a:off x="1809750" y="1952625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322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BEOLVAS → VÉGREHAJT → KIMENETET FRISSÍT → ÚJRA</a:t>
            </a:r>
          </a:p>
        </p:txBody>
      </p:sp>
      <p:sp>
        <p:nvSpPr>
          <p:cNvPr id="6" name="rbox">
            <a:extLst>
              <a:ext uri="{FF2B5EF4-FFF2-40B4-BE49-F238E27FC236}">
                <a16:creationId xmlns:a16="http://schemas.microsoft.com/office/drawing/2014/main" id="{48F40E92-D051-4382-8D64-59D6C5B53DA6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2857500" cy="1524000"/>
          </a:xfrm>
          <a:prstGeom prst="roundRect">
            <a:avLst>
              <a:gd name="adj" fmla="val 5000"/>
            </a:avLst>
          </a:prstGeom>
          <a:solidFill>
            <a:srgbClr val="EDF5F8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7" name="rt">
            <a:extLst>
              <a:ext uri="{FF2B5EF4-FFF2-40B4-BE49-F238E27FC236}">
                <a16:creationId xmlns:a16="http://schemas.microsoft.com/office/drawing/2014/main" id="{B10DFE24-ADD1-4527-8555-22BD568ACCED}"/>
              </a:ext>
            </a:extLst>
          </p:cNvPr>
          <p:cNvSpPr>
            <a:spLocks noGrp="1"/>
          </p:cNvSpPr>
          <p:nvPr/>
        </p:nvSpPr>
        <p:spPr>
          <a:xfrm>
            <a:off x="1333500" y="3857625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4655"/>
          </a:bodyPr>
          <a:lstStyle/>
          <a:p>
            <a:pPr algn="ctr">
              <a:buNone/>
              <a:defRPr sz="217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1. bemeneti jelek</a:t>
            </a:r>
          </a:p>
          <a:p>
            <a:r>
              <a:t>beolvasása</a:t>
            </a:r>
          </a:p>
        </p:txBody>
      </p:sp>
      <p:sp>
        <p:nvSpPr>
          <p:cNvPr id="8" name="cbox">
            <a:extLst>
              <a:ext uri="{FF2B5EF4-FFF2-40B4-BE49-F238E27FC236}">
                <a16:creationId xmlns:a16="http://schemas.microsoft.com/office/drawing/2014/main" id="{4A8914D2-8129-44ED-A394-CF4060DDDA03}"/>
              </a:ext>
            </a:extLst>
          </p:cNvPr>
          <p:cNvSpPr>
            <a:spLocks noGrp="1"/>
          </p:cNvSpPr>
          <p:nvPr/>
        </p:nvSpPr>
        <p:spPr>
          <a:xfrm>
            <a:off x="4667250" y="3381375"/>
            <a:ext cx="2857500" cy="1524000"/>
          </a:xfrm>
          <a:prstGeom prst="roundRect">
            <a:avLst>
              <a:gd name="adj" fmla="val 5000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9" name="ct">
            <a:extLst>
              <a:ext uri="{FF2B5EF4-FFF2-40B4-BE49-F238E27FC236}">
                <a16:creationId xmlns:a16="http://schemas.microsoft.com/office/drawing/2014/main" id="{279CAF61-9272-46BB-BB35-072678759B79}"/>
              </a:ext>
            </a:extLst>
          </p:cNvPr>
          <p:cNvSpPr>
            <a:spLocks noGrp="1"/>
          </p:cNvSpPr>
          <p:nvPr/>
        </p:nvSpPr>
        <p:spPr>
          <a:xfrm>
            <a:off x="4953000" y="3857625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4655"/>
          </a:bodyPr>
          <a:lstStyle/>
          <a:p>
            <a:pPr algn="ctr">
              <a:buNone/>
              <a:defRPr sz="21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2. programlogika</a:t>
            </a:r>
          </a:p>
          <a:p>
            <a:r>
              <a:t>végrehajtása</a:t>
            </a:r>
          </a:p>
        </p:txBody>
      </p:sp>
      <p:sp>
        <p:nvSpPr>
          <p:cNvPr id="10" name="fcbox">
            <a:extLst>
              <a:ext uri="{FF2B5EF4-FFF2-40B4-BE49-F238E27FC236}">
                <a16:creationId xmlns:a16="http://schemas.microsoft.com/office/drawing/2014/main" id="{9FA5F7A1-8477-45BA-B20A-1BFD5D988438}"/>
              </a:ext>
            </a:extLst>
          </p:cNvPr>
          <p:cNvSpPr>
            <a:spLocks noGrp="1"/>
          </p:cNvSpPr>
          <p:nvPr/>
        </p:nvSpPr>
        <p:spPr>
          <a:xfrm>
            <a:off x="8286750" y="3143250"/>
            <a:ext cx="2857500" cy="2000250"/>
          </a:xfrm>
          <a:prstGeom prst="roundRect">
            <a:avLst>
              <a:gd name="adj" fmla="val 3810"/>
            </a:avLst>
          </a:prstGeom>
          <a:solidFill>
            <a:srgbClr val="FFF1E6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1" name="fct">
            <a:extLst>
              <a:ext uri="{FF2B5EF4-FFF2-40B4-BE49-F238E27FC236}">
                <a16:creationId xmlns:a16="http://schemas.microsoft.com/office/drawing/2014/main" id="{CBE4F9D5-E592-4C90-B5D9-37FC401678DB}"/>
              </a:ext>
            </a:extLst>
          </p:cNvPr>
          <p:cNvSpPr>
            <a:spLocks noGrp="1"/>
          </p:cNvSpPr>
          <p:nvPr/>
        </p:nvSpPr>
        <p:spPr>
          <a:xfrm>
            <a:off x="8572500" y="376237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363"/>
          </a:bodyPr>
          <a:lstStyle/>
          <a:p>
            <a:pPr algn="ctr">
              <a:buNone/>
              <a:defRPr sz="232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3. kimenetek frissítése</a:t>
            </a:r>
          </a:p>
          <a:p>
            <a:r>
              <a:t>4. ciklus újraindítása</a:t>
            </a:r>
          </a:p>
        </p:txBody>
      </p:sp>
      <p:sp>
        <p:nvSpPr>
          <p:cNvPr id="12" name="m">
            <a:extLst>
              <a:ext uri="{FF2B5EF4-FFF2-40B4-BE49-F238E27FC236}">
                <a16:creationId xmlns:a16="http://schemas.microsoft.com/office/drawing/2014/main" id="{A7351F29-CF5D-4C95-BB80-2B6B2B7C7F6D}"/>
              </a:ext>
            </a:extLst>
          </p:cNvPr>
          <p:cNvSpPr>
            <a:spLocks noGrp="1"/>
          </p:cNvSpPr>
          <p:nvPr/>
        </p:nvSpPr>
        <p:spPr>
          <a:xfrm>
            <a:off x="2095500" y="56197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vezérlés kis ciklusokból áll: a PLC folyamatosan figyeli a gép állapotát.</a:t>
            </a:r>
          </a:p>
        </p:txBody>
      </p:sp>
    </p:spTree>
    <p:extLst>
      <p:ext uri="{BB962C8B-B14F-4D97-AF65-F5344CB8AC3E}">
        <p14:creationId xmlns:p14="http://schemas.microsoft.com/office/powerpoint/2010/main" val="2457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">
            <a:extLst>
              <a:ext uri="{FF2B5EF4-FFF2-40B4-BE49-F238E27FC236}">
                <a16:creationId xmlns:a16="http://schemas.microsoft.com/office/drawing/2014/main" id="{F9ECAB45-8A0F-49E0-99DD-122E1FA3079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433E06CF-871A-4872-A7AD-4EE33E46BBF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Szenzor → bemenet → CPU → kimenet → aktor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E9EEA8C6-490C-40EF-B9DF-468891414882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2D50401D-4F7E-42E1-B523-8067268BF8DC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143000" y="2095500"/>
          <a:ext cx="9906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note">
            <a:extLst>
              <a:ext uri="{FF2B5EF4-FFF2-40B4-BE49-F238E27FC236}">
                <a16:creationId xmlns:a16="http://schemas.microsoft.com/office/drawing/2014/main" id="{4F5685ED-BF28-471D-AC3D-66A0A17EE35E}"/>
              </a:ext>
            </a:extLst>
          </p:cNvPr>
          <p:cNvSpPr>
            <a:spLocks noGrp="1"/>
          </p:cNvSpPr>
          <p:nvPr/>
        </p:nvSpPr>
        <p:spPr>
          <a:xfrm>
            <a:off x="2857500" y="5810250"/>
            <a:ext cx="647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= érzékelő jel • 2 = programdöntés • 3 = beavatkozó vezérlése • majd újra 1</a:t>
            </a:r>
          </a:p>
        </p:txBody>
      </p:sp>
    </p:spTree>
    <p:extLst>
      <p:ext uri="{BB962C8B-B14F-4D97-AF65-F5344CB8AC3E}">
        <p14:creationId xmlns:p14="http://schemas.microsoft.com/office/powerpoint/2010/main" val="13038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">
            <a:extLst>
              <a:ext uri="{FF2B5EF4-FFF2-40B4-BE49-F238E27FC236}">
                <a16:creationId xmlns:a16="http://schemas.microsoft.com/office/drawing/2014/main" id="{DE6D9BF4-8E18-4CAD-AE0F-1314A41D750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99EAB86C-E7A8-4480-A29F-8210039B778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PLC minden részegysége külön feladatot végez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E9F0B884-DF6D-441C-A9D3-E27CF0E2ED0A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1DF8ED9E-BC3C-41B9-BBA2-53B6CDBD6897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l">
            <a:extLst>
              <a:ext uri="{FF2B5EF4-FFF2-40B4-BE49-F238E27FC236}">
                <a16:creationId xmlns:a16="http://schemas.microsoft.com/office/drawing/2014/main" id="{505BB50B-B8CB-49B4-8083-AEC578B50B75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RÉSZEGYSÉG</a:t>
            </a:r>
          </a:p>
        </p:txBody>
      </p:sp>
      <p:sp>
        <p:nvSpPr>
          <p:cNvPr id="6" name="h">
            <a:extLst>
              <a:ext uri="{FF2B5EF4-FFF2-40B4-BE49-F238E27FC236}">
                <a16:creationId xmlns:a16="http://schemas.microsoft.com/office/drawing/2014/main" id="{12B3D1E6-0F87-4394-9FAD-02560F954E40}"/>
              </a:ext>
            </a:extLst>
          </p:cNvPr>
          <p:cNvSpPr>
            <a:spLocks noGrp="1"/>
          </p:cNvSpPr>
          <p:nvPr/>
        </p:nvSpPr>
        <p:spPr>
          <a:xfrm>
            <a:off x="7810500" y="2000250"/>
            <a:ext cx="304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376"/>
          </a:bodyPr>
          <a:lstStyle/>
          <a:p>
            <a:pPr algn="ctr">
              <a:buNone/>
              <a:defRPr sz="202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SZEREPE A VEZÉRLÉSBEN</a:t>
            </a:r>
          </a:p>
        </p:txBody>
      </p:sp>
      <p:sp>
        <p:nvSpPr>
          <p:cNvPr id="7" name="q0">
            <a:extLst>
              <a:ext uri="{FF2B5EF4-FFF2-40B4-BE49-F238E27FC236}">
                <a16:creationId xmlns:a16="http://schemas.microsoft.com/office/drawing/2014/main" id="{1B009A93-23C0-4E6D-99E8-7DC7A7204466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Energia</a:t>
            </a:r>
          </a:p>
        </p:txBody>
      </p:sp>
      <p:sp>
        <p:nvSpPr>
          <p:cNvPr id="8" name="a0">
            <a:extLst>
              <a:ext uri="{FF2B5EF4-FFF2-40B4-BE49-F238E27FC236}">
                <a16:creationId xmlns:a16="http://schemas.microsoft.com/office/drawing/2014/main" id="{63DD767E-5694-4529-9853-147FFAE93680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tápegység</a:t>
            </a:r>
          </a:p>
        </p:txBody>
      </p:sp>
      <p:sp>
        <p:nvSpPr>
          <p:cNvPr id="9" name="b0">
            <a:extLst>
              <a:ext uri="{FF2B5EF4-FFF2-40B4-BE49-F238E27FC236}">
                <a16:creationId xmlns:a16="http://schemas.microsoft.com/office/drawing/2014/main" id="{5DD1C2C6-30E1-4B20-86C9-62A7B724CD97}"/>
              </a:ext>
            </a:extLst>
          </p:cNvPr>
          <p:cNvSpPr>
            <a:spLocks noGrp="1"/>
          </p:cNvSpPr>
          <p:nvPr/>
        </p:nvSpPr>
        <p:spPr>
          <a:xfrm>
            <a:off x="7810500" y="28575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278"/>
          </a:bodyPr>
          <a:lstStyle/>
          <a:p>
            <a:pPr algn="ctr">
              <a:buNone/>
              <a:defRPr sz="1800" b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stabil tápfeszültség biztosítása</a:t>
            </a:r>
          </a:p>
        </p:txBody>
      </p:sp>
      <p:sp>
        <p:nvSpPr>
          <p:cNvPr id="10" name="ln0">
            <a:extLst>
              <a:ext uri="{FF2B5EF4-FFF2-40B4-BE49-F238E27FC236}">
                <a16:creationId xmlns:a16="http://schemas.microsoft.com/office/drawing/2014/main" id="{DD43DF19-F329-4CFF-B716-0F32E81EC174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10287000" cy="19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q1">
            <a:extLst>
              <a:ext uri="{FF2B5EF4-FFF2-40B4-BE49-F238E27FC236}">
                <a16:creationId xmlns:a16="http://schemas.microsoft.com/office/drawing/2014/main" id="{1B24EB27-1658-473F-A9A0-6A02C6AA266E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Feldolgozás</a:t>
            </a:r>
          </a:p>
        </p:txBody>
      </p:sp>
      <p:sp>
        <p:nvSpPr>
          <p:cNvPr id="12" name="a1">
            <a:extLst>
              <a:ext uri="{FF2B5EF4-FFF2-40B4-BE49-F238E27FC236}">
                <a16:creationId xmlns:a16="http://schemas.microsoft.com/office/drawing/2014/main" id="{FC27BD7E-535B-4176-BD4D-E8B0794DCB44}"/>
              </a:ext>
            </a:extLst>
          </p:cNvPr>
          <p:cNvSpPr>
            <a:spLocks noGrp="1"/>
          </p:cNvSpPr>
          <p:nvPr/>
        </p:nvSpPr>
        <p:spPr>
          <a:xfrm>
            <a:off x="4095750" y="3810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CPU + memória</a:t>
            </a:r>
          </a:p>
        </p:txBody>
      </p:sp>
      <p:sp>
        <p:nvSpPr>
          <p:cNvPr id="13" name="b1">
            <a:extLst>
              <a:ext uri="{FF2B5EF4-FFF2-40B4-BE49-F238E27FC236}">
                <a16:creationId xmlns:a16="http://schemas.microsoft.com/office/drawing/2014/main" id="{D92D161F-2F16-4573-8D99-417478555B52}"/>
              </a:ext>
            </a:extLst>
          </p:cNvPr>
          <p:cNvSpPr>
            <a:spLocks noGrp="1"/>
          </p:cNvSpPr>
          <p:nvPr/>
        </p:nvSpPr>
        <p:spPr>
          <a:xfrm>
            <a:off x="7810500" y="38100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278"/>
          </a:bodyPr>
          <a:lstStyle/>
          <a:p>
            <a:pPr algn="ctr">
              <a:buNone/>
              <a:defRPr sz="1800" b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program futtatása és adatok tárolása</a:t>
            </a:r>
          </a:p>
        </p:txBody>
      </p:sp>
      <p:sp>
        <p:nvSpPr>
          <p:cNvPr id="14" name="ln1">
            <a:extLst>
              <a:ext uri="{FF2B5EF4-FFF2-40B4-BE49-F238E27FC236}">
                <a16:creationId xmlns:a16="http://schemas.microsoft.com/office/drawing/2014/main" id="{7454E041-7417-4653-AB56-5A7B62FE9FF0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287000" cy="19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q2">
            <a:extLst>
              <a:ext uri="{FF2B5EF4-FFF2-40B4-BE49-F238E27FC236}">
                <a16:creationId xmlns:a16="http://schemas.microsoft.com/office/drawing/2014/main" id="{1563CF58-07CC-4A42-82DD-15974E4E0D1E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Jelkapcsolat</a:t>
            </a:r>
          </a:p>
        </p:txBody>
      </p:sp>
      <p:sp>
        <p:nvSpPr>
          <p:cNvPr id="16" name="a2">
            <a:extLst>
              <a:ext uri="{FF2B5EF4-FFF2-40B4-BE49-F238E27FC236}">
                <a16:creationId xmlns:a16="http://schemas.microsoft.com/office/drawing/2014/main" id="{3F68227F-7571-4621-877E-D69433F9F6A6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digitális bemenetek és kimenetek</a:t>
            </a:r>
          </a:p>
        </p:txBody>
      </p:sp>
      <p:sp>
        <p:nvSpPr>
          <p:cNvPr id="17" name="b2">
            <a:extLst>
              <a:ext uri="{FF2B5EF4-FFF2-40B4-BE49-F238E27FC236}">
                <a16:creationId xmlns:a16="http://schemas.microsoft.com/office/drawing/2014/main" id="{2D5BF2E7-42E3-49EA-8DC3-C35AA22FFDF3}"/>
              </a:ext>
            </a:extLst>
          </p:cNvPr>
          <p:cNvSpPr>
            <a:spLocks noGrp="1"/>
          </p:cNvSpPr>
          <p:nvPr/>
        </p:nvSpPr>
        <p:spPr>
          <a:xfrm>
            <a:off x="7810500" y="47625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érzékelők és beavatkozók csatlakoztatása</a:t>
            </a:r>
          </a:p>
        </p:txBody>
      </p:sp>
      <p:sp>
        <p:nvSpPr>
          <p:cNvPr id="18" name="ln2">
            <a:extLst>
              <a:ext uri="{FF2B5EF4-FFF2-40B4-BE49-F238E27FC236}">
                <a16:creationId xmlns:a16="http://schemas.microsoft.com/office/drawing/2014/main" id="{4DAD8FC6-E0C6-41E9-87F1-2D420447B767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287000" cy="19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414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k">
            <a:extLst>
              <a:ext uri="{FF2B5EF4-FFF2-40B4-BE49-F238E27FC236}">
                <a16:creationId xmlns:a16="http://schemas.microsoft.com/office/drawing/2014/main" id="{5E1F9808-7CAE-4B57-A416-1C2968C9F40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EE57B8D9-98BB-4E45-8A8D-EA1BCFD741D8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laborban először azonosítunk, csak utána kapcsolunk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235D21C4-2262-4734-97E6-7FA8B7B8FAFE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F046584A-4DB0-48C9-95D5-0A6D3AD3B9B7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s0">
            <a:extLst>
              <a:ext uri="{FF2B5EF4-FFF2-40B4-BE49-F238E27FC236}">
                <a16:creationId xmlns:a16="http://schemas.microsoft.com/office/drawing/2014/main" id="{5DDC2209-8C6C-4627-BA10-18DC6DD18D06}"/>
              </a:ext>
            </a:extLst>
          </p:cNvPr>
          <p:cNvSpPr>
            <a:spLocks noGrp="1"/>
          </p:cNvSpPr>
          <p:nvPr/>
        </p:nvSpPr>
        <p:spPr>
          <a:xfrm>
            <a:off x="342900" y="2476500"/>
            <a:ext cx="2047875" cy="2333625"/>
          </a:xfrm>
          <a:prstGeom prst="roundRect">
            <a:avLst>
              <a:gd name="adj" fmla="val 3721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6" name="n0">
            <a:extLst>
              <a:ext uri="{FF2B5EF4-FFF2-40B4-BE49-F238E27FC236}">
                <a16:creationId xmlns:a16="http://schemas.microsoft.com/office/drawing/2014/main" id="{AAEF480E-9102-481A-999B-05F67BD85033}"/>
              </a:ext>
            </a:extLst>
          </p:cNvPr>
          <p:cNvSpPr>
            <a:spLocks noGrp="1"/>
          </p:cNvSpPr>
          <p:nvPr/>
        </p:nvSpPr>
        <p:spPr>
          <a:xfrm>
            <a:off x="514350" y="2762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h0">
            <a:extLst>
              <a:ext uri="{FF2B5EF4-FFF2-40B4-BE49-F238E27FC236}">
                <a16:creationId xmlns:a16="http://schemas.microsoft.com/office/drawing/2014/main" id="{1B5A765D-6FAC-4096-9CD9-5FB6B98E5863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128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Biztonság</a:t>
            </a:r>
          </a:p>
        </p:txBody>
      </p:sp>
      <p:sp>
        <p:nvSpPr>
          <p:cNvPr id="8" name="b0">
            <a:extLst>
              <a:ext uri="{FF2B5EF4-FFF2-40B4-BE49-F238E27FC236}">
                <a16:creationId xmlns:a16="http://schemas.microsoft.com/office/drawing/2014/main" id="{AE843047-B5EB-407C-B24B-30CEC6E20930}"/>
              </a:ext>
            </a:extLst>
          </p:cNvPr>
          <p:cNvSpPr>
            <a:spLocks noGrp="1"/>
          </p:cNvSpPr>
          <p:nvPr/>
        </p:nvSpPr>
        <p:spPr>
          <a:xfrm>
            <a:off x="581025" y="38290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872"/>
          </a:bodyPr>
          <a:lstStyle/>
          <a:p>
            <a:pPr algn="ctr">
              <a:buNone/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táp kikapcsolva,</a:t>
            </a:r>
          </a:p>
          <a:p>
            <a:r>
              <a:t>kapcsolás ellenőrizve</a:t>
            </a:r>
          </a:p>
        </p:txBody>
      </p:sp>
      <p:sp>
        <p:nvSpPr>
          <p:cNvPr id="9" name="s1">
            <a:extLst>
              <a:ext uri="{FF2B5EF4-FFF2-40B4-BE49-F238E27FC236}">
                <a16:creationId xmlns:a16="http://schemas.microsoft.com/office/drawing/2014/main" id="{CD0B4409-85C3-49BB-8251-7743A68A4CD1}"/>
              </a:ext>
            </a:extLst>
          </p:cNvPr>
          <p:cNvSpPr>
            <a:spLocks noGrp="1"/>
          </p:cNvSpPr>
          <p:nvPr/>
        </p:nvSpPr>
        <p:spPr>
          <a:xfrm>
            <a:off x="2686050" y="2476500"/>
            <a:ext cx="2047875" cy="2333625"/>
          </a:xfrm>
          <a:prstGeom prst="roundRect">
            <a:avLst>
              <a:gd name="adj" fmla="val 3721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10" name="n1">
            <a:extLst>
              <a:ext uri="{FF2B5EF4-FFF2-40B4-BE49-F238E27FC236}">
                <a16:creationId xmlns:a16="http://schemas.microsoft.com/office/drawing/2014/main" id="{9D13DD42-2D22-4704-8A19-718F02FF4E33}"/>
              </a:ext>
            </a:extLst>
          </p:cNvPr>
          <p:cNvSpPr>
            <a:spLocks noGrp="1"/>
          </p:cNvSpPr>
          <p:nvPr/>
        </p:nvSpPr>
        <p:spPr>
          <a:xfrm>
            <a:off x="2857500" y="2762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1" name="h1">
            <a:extLst>
              <a:ext uri="{FF2B5EF4-FFF2-40B4-BE49-F238E27FC236}">
                <a16:creationId xmlns:a16="http://schemas.microsoft.com/office/drawing/2014/main" id="{7E632563-834A-456A-8346-185AD7CAA8D1}"/>
              </a:ext>
            </a:extLst>
          </p:cNvPr>
          <p:cNvSpPr>
            <a:spLocks noGrp="1"/>
          </p:cNvSpPr>
          <p:nvPr/>
        </p:nvSpPr>
        <p:spPr>
          <a:xfrm>
            <a:off x="3257550" y="2790825"/>
            <a:ext cx="128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Azonosítás</a:t>
            </a:r>
          </a:p>
        </p:txBody>
      </p:sp>
      <p:sp>
        <p:nvSpPr>
          <p:cNvPr id="12" name="b1">
            <a:extLst>
              <a:ext uri="{FF2B5EF4-FFF2-40B4-BE49-F238E27FC236}">
                <a16:creationId xmlns:a16="http://schemas.microsoft.com/office/drawing/2014/main" id="{8A01A4D7-C76F-421F-B5D6-19D5D41490C2}"/>
              </a:ext>
            </a:extLst>
          </p:cNvPr>
          <p:cNvSpPr>
            <a:spLocks noGrp="1"/>
          </p:cNvSpPr>
          <p:nvPr/>
        </p:nvSpPr>
        <p:spPr>
          <a:xfrm>
            <a:off x="2924175" y="38290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87"/>
          </a:bodyPr>
          <a:lstStyle/>
          <a:p>
            <a:pPr algn="ctr">
              <a:buNone/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Eaton easy, LG</a:t>
            </a:r>
          </a:p>
          <a:p>
            <a:r>
              <a:t>és Omron csatlakozók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B7C22596-BF11-4058-A486-A87954C170CD}"/>
              </a:ext>
            </a:extLst>
          </p:cNvPr>
          <p:cNvSpPr>
            <a:spLocks noGrp="1"/>
          </p:cNvSpPr>
          <p:nvPr/>
        </p:nvSpPr>
        <p:spPr>
          <a:xfrm>
            <a:off x="5029200" y="2476500"/>
            <a:ext cx="2047875" cy="2333625"/>
          </a:xfrm>
          <a:prstGeom prst="roundRect">
            <a:avLst>
              <a:gd name="adj" fmla="val 3721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14" name="n2">
            <a:extLst>
              <a:ext uri="{FF2B5EF4-FFF2-40B4-BE49-F238E27FC236}">
                <a16:creationId xmlns:a16="http://schemas.microsoft.com/office/drawing/2014/main" id="{E4BFE061-83DA-4230-B3EC-D0886D55A78A}"/>
              </a:ext>
            </a:extLst>
          </p:cNvPr>
          <p:cNvSpPr>
            <a:spLocks noGrp="1"/>
          </p:cNvSpPr>
          <p:nvPr/>
        </p:nvSpPr>
        <p:spPr>
          <a:xfrm>
            <a:off x="5200650" y="2762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h2">
            <a:extLst>
              <a:ext uri="{FF2B5EF4-FFF2-40B4-BE49-F238E27FC236}">
                <a16:creationId xmlns:a16="http://schemas.microsoft.com/office/drawing/2014/main" id="{E76004AB-6F40-44EB-8F28-67B67151152B}"/>
              </a:ext>
            </a:extLst>
          </p:cNvPr>
          <p:cNvSpPr>
            <a:spLocks noGrp="1"/>
          </p:cNvSpPr>
          <p:nvPr/>
        </p:nvSpPr>
        <p:spPr>
          <a:xfrm>
            <a:off x="5600700" y="2790825"/>
            <a:ext cx="128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Bemenet</a:t>
            </a:r>
          </a:p>
        </p:txBody>
      </p:sp>
      <p:sp>
        <p:nvSpPr>
          <p:cNvPr id="16" name="b2">
            <a:extLst>
              <a:ext uri="{FF2B5EF4-FFF2-40B4-BE49-F238E27FC236}">
                <a16:creationId xmlns:a16="http://schemas.microsoft.com/office/drawing/2014/main" id="{044F161C-93B4-4795-B77B-0C3E85D5CBD4}"/>
              </a:ext>
            </a:extLst>
          </p:cNvPr>
          <p:cNvSpPr>
            <a:spLocks noGrp="1"/>
          </p:cNvSpPr>
          <p:nvPr/>
        </p:nvSpPr>
        <p:spPr>
          <a:xfrm>
            <a:off x="5267325" y="38290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nyomógomb</a:t>
            </a:r>
          </a:p>
          <a:p>
            <a:r>
              <a:t>és érzékelő jel</a:t>
            </a:r>
          </a:p>
        </p:txBody>
      </p:sp>
      <p:sp>
        <p:nvSpPr>
          <p:cNvPr id="17" name="s3">
            <a:extLst>
              <a:ext uri="{FF2B5EF4-FFF2-40B4-BE49-F238E27FC236}">
                <a16:creationId xmlns:a16="http://schemas.microsoft.com/office/drawing/2014/main" id="{C2E9C858-D093-4D59-9F12-94DB10A16261}"/>
              </a:ext>
            </a:extLst>
          </p:cNvPr>
          <p:cNvSpPr>
            <a:spLocks noGrp="1"/>
          </p:cNvSpPr>
          <p:nvPr/>
        </p:nvSpPr>
        <p:spPr>
          <a:xfrm>
            <a:off x="7372350" y="2476500"/>
            <a:ext cx="2047875" cy="2333625"/>
          </a:xfrm>
          <a:prstGeom prst="roundRect">
            <a:avLst>
              <a:gd name="adj" fmla="val 3721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18" name="n3">
            <a:extLst>
              <a:ext uri="{FF2B5EF4-FFF2-40B4-BE49-F238E27FC236}">
                <a16:creationId xmlns:a16="http://schemas.microsoft.com/office/drawing/2014/main" id="{FBBC2CBB-5719-4DD7-84D9-41BE9381C0F4}"/>
              </a:ext>
            </a:extLst>
          </p:cNvPr>
          <p:cNvSpPr>
            <a:spLocks noGrp="1"/>
          </p:cNvSpPr>
          <p:nvPr/>
        </p:nvSpPr>
        <p:spPr>
          <a:xfrm>
            <a:off x="7543800" y="2762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9" name="h3">
            <a:extLst>
              <a:ext uri="{FF2B5EF4-FFF2-40B4-BE49-F238E27FC236}">
                <a16:creationId xmlns:a16="http://schemas.microsoft.com/office/drawing/2014/main" id="{B3CFD456-2AEE-4753-ACBC-02523FA3188E}"/>
              </a:ext>
            </a:extLst>
          </p:cNvPr>
          <p:cNvSpPr>
            <a:spLocks noGrp="1"/>
          </p:cNvSpPr>
          <p:nvPr/>
        </p:nvSpPr>
        <p:spPr>
          <a:xfrm>
            <a:off x="7943850" y="2790825"/>
            <a:ext cx="128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Kimenet</a:t>
            </a:r>
          </a:p>
        </p:txBody>
      </p:sp>
      <p:sp>
        <p:nvSpPr>
          <p:cNvPr id="20" name="b3">
            <a:extLst>
              <a:ext uri="{FF2B5EF4-FFF2-40B4-BE49-F238E27FC236}">
                <a16:creationId xmlns:a16="http://schemas.microsoft.com/office/drawing/2014/main" id="{DA6D207D-8337-48A0-9305-8034BA5D9C0C}"/>
              </a:ext>
            </a:extLst>
          </p:cNvPr>
          <p:cNvSpPr>
            <a:spLocks noGrp="1"/>
          </p:cNvSpPr>
          <p:nvPr/>
        </p:nvSpPr>
        <p:spPr>
          <a:xfrm>
            <a:off x="7610475" y="38290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relé, jelzőlámpa,</a:t>
            </a:r>
          </a:p>
          <a:p>
            <a:r>
              <a:t>mágneskapcsoló</a:t>
            </a:r>
          </a:p>
        </p:txBody>
      </p:sp>
      <p:sp>
        <p:nvSpPr>
          <p:cNvPr id="21" name="s4">
            <a:extLst>
              <a:ext uri="{FF2B5EF4-FFF2-40B4-BE49-F238E27FC236}">
                <a16:creationId xmlns:a16="http://schemas.microsoft.com/office/drawing/2014/main" id="{B045E65F-CBAE-44FA-8977-8A3C5A6084C5}"/>
              </a:ext>
            </a:extLst>
          </p:cNvPr>
          <p:cNvSpPr>
            <a:spLocks noGrp="1"/>
          </p:cNvSpPr>
          <p:nvPr/>
        </p:nvSpPr>
        <p:spPr>
          <a:xfrm>
            <a:off x="9715500" y="2476500"/>
            <a:ext cx="2047875" cy="2333625"/>
          </a:xfrm>
          <a:prstGeom prst="roundRect">
            <a:avLst>
              <a:gd name="adj" fmla="val 3721"/>
            </a:avLst>
          </a:prstGeom>
          <a:solidFill>
            <a:srgbClr val="FFF1E6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22" name="n4">
            <a:extLst>
              <a:ext uri="{FF2B5EF4-FFF2-40B4-BE49-F238E27FC236}">
                <a16:creationId xmlns:a16="http://schemas.microsoft.com/office/drawing/2014/main" id="{D9C3D1FF-BF40-4028-B005-210C6D1F9F0F}"/>
              </a:ext>
            </a:extLst>
          </p:cNvPr>
          <p:cNvSpPr>
            <a:spLocks noGrp="1"/>
          </p:cNvSpPr>
          <p:nvPr/>
        </p:nvSpPr>
        <p:spPr>
          <a:xfrm>
            <a:off x="9886950" y="2762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3" name="h4">
            <a:extLst>
              <a:ext uri="{FF2B5EF4-FFF2-40B4-BE49-F238E27FC236}">
                <a16:creationId xmlns:a16="http://schemas.microsoft.com/office/drawing/2014/main" id="{0C605B27-AFEB-48AE-97F9-8E0C98A1F0EF}"/>
              </a:ext>
            </a:extLst>
          </p:cNvPr>
          <p:cNvSpPr>
            <a:spLocks noGrp="1"/>
          </p:cNvSpPr>
          <p:nvPr/>
        </p:nvSpPr>
        <p:spPr>
          <a:xfrm>
            <a:off x="10287000" y="2790825"/>
            <a:ext cx="128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Próba</a:t>
            </a:r>
          </a:p>
        </p:txBody>
      </p:sp>
      <p:sp>
        <p:nvSpPr>
          <p:cNvPr id="24" name="b4">
            <a:extLst>
              <a:ext uri="{FF2B5EF4-FFF2-40B4-BE49-F238E27FC236}">
                <a16:creationId xmlns:a16="http://schemas.microsoft.com/office/drawing/2014/main" id="{BFE163D2-C94D-4275-B751-30139CA76325}"/>
              </a:ext>
            </a:extLst>
          </p:cNvPr>
          <p:cNvSpPr>
            <a:spLocks noGrp="1"/>
          </p:cNvSpPr>
          <p:nvPr/>
        </p:nvSpPr>
        <p:spPr>
          <a:xfrm>
            <a:off x="9953625" y="38290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77"/>
          </a:bodyPr>
          <a:lstStyle/>
          <a:p>
            <a:pPr algn="ctr">
              <a:buNone/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bekapcsolás és</a:t>
            </a:r>
          </a:p>
          <a:p>
            <a:r>
              <a:t>működésellenőrzés</a:t>
            </a:r>
          </a:p>
        </p:txBody>
      </p:sp>
      <p:sp>
        <p:nvSpPr>
          <p:cNvPr id="25" name="m">
            <a:extLst>
              <a:ext uri="{FF2B5EF4-FFF2-40B4-BE49-F238E27FC236}">
                <a16:creationId xmlns:a16="http://schemas.microsoft.com/office/drawing/2014/main" id="{655C7867-1246-4A5B-B66F-9F0352D72958}"/>
              </a:ext>
            </a:extLst>
          </p:cNvPr>
          <p:cNvSpPr>
            <a:spLocks noGrp="1"/>
          </p:cNvSpPr>
          <p:nvPr/>
        </p:nvSpPr>
        <p:spPr>
          <a:xfrm>
            <a:off x="2952750" y="5524500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6250"/>
          </a:bodyPr>
          <a:lstStyle/>
          <a:p>
            <a:pPr algn="ctr">
              <a:buNone/>
              <a:defRPr sz="18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Feszültség alá helyezni csak oktatói ellenőrzés és engedély után szabad.</a:t>
            </a:r>
          </a:p>
        </p:txBody>
      </p:sp>
    </p:spTree>
    <p:extLst>
      <p:ext uri="{BB962C8B-B14F-4D97-AF65-F5344CB8AC3E}">
        <p14:creationId xmlns:p14="http://schemas.microsoft.com/office/powerpoint/2010/main" val="1955023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">
            <a:extLst>
              <a:ext uri="{FF2B5EF4-FFF2-40B4-BE49-F238E27FC236}">
                <a16:creationId xmlns:a16="http://schemas.microsoft.com/office/drawing/2014/main" id="{5438D5C1-FB2F-4304-A54D-D6DD3BF576E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97C5"/>
                </a:solidFill>
                <a:latin typeface="Arial"/>
                <a:ea typeface="Arial"/>
                <a:cs typeface="Arial"/>
              </a:rPr>
              <a:t>PLC ALAPISMERETEK • 11. ÉVFOLYAM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C87A7CFE-889D-48AB-94D8-D3DA571FF96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PLC kimenete vezérel, de nem teljesítménykapcsoló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B2C4EB8E-764E-4BC1-ADCD-A28211F3DF66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28575"/>
          </a:xfrm>
          <a:prstGeom prst="rect">
            <a:avLst/>
          </a:prstGeom>
          <a:solidFill>
            <a:srgbClr val="1597C5"/>
          </a:solidFill>
          <a:ln w="0">
            <a:noFill/>
            <a:prstDash val="solid"/>
          </a:ln>
        </p:spPr>
      </p:sp>
      <p:sp>
        <p:nvSpPr>
          <p:cNvPr id="4" name="p">
            <a:extLst>
              <a:ext uri="{FF2B5EF4-FFF2-40B4-BE49-F238E27FC236}">
                <a16:creationId xmlns:a16="http://schemas.microsoft.com/office/drawing/2014/main" id="{EC5C6D7C-97AA-48FD-BD2B-542520FB6A5A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d0">
            <a:extLst>
              <a:ext uri="{FF2B5EF4-FFF2-40B4-BE49-F238E27FC236}">
                <a16:creationId xmlns:a16="http://schemas.microsoft.com/office/drawing/2014/main" id="{F30F91DB-27FA-4438-BF96-25703D8722BF}"/>
              </a:ext>
            </a:extLst>
          </p:cNvPr>
          <p:cNvSpPr>
            <a:spLocks noGrp="1"/>
          </p:cNvSpPr>
          <p:nvPr/>
        </p:nvSpPr>
        <p:spPr>
          <a:xfrm>
            <a:off x="476250" y="2714625"/>
            <a:ext cx="1952625" cy="2000250"/>
          </a:xfrm>
          <a:prstGeom prst="roundRect">
            <a:avLst>
              <a:gd name="adj" fmla="val 3902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6" name="h0">
            <a:extLst>
              <a:ext uri="{FF2B5EF4-FFF2-40B4-BE49-F238E27FC236}">
                <a16:creationId xmlns:a16="http://schemas.microsoft.com/office/drawing/2014/main" id="{BAD47E30-DB9F-4499-A63E-2C1A55337A8A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Nyomógomb</a:t>
            </a:r>
          </a:p>
        </p:txBody>
      </p:sp>
      <p:sp>
        <p:nvSpPr>
          <p:cNvPr id="7" name="b0">
            <a:extLst>
              <a:ext uri="{FF2B5EF4-FFF2-40B4-BE49-F238E27FC236}">
                <a16:creationId xmlns:a16="http://schemas.microsoft.com/office/drawing/2014/main" id="{792E2C4D-F176-4EC7-A665-EF7CD816353E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571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755"/>
          </a:bodyPr>
          <a:lstStyle/>
          <a:p>
            <a:pPr algn="ctr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bemeneti jel a PLC felé</a:t>
            </a:r>
          </a:p>
        </p:txBody>
      </p:sp>
      <p:sp>
        <p:nvSpPr>
          <p:cNvPr id="8" name="d1">
            <a:extLst>
              <a:ext uri="{FF2B5EF4-FFF2-40B4-BE49-F238E27FC236}">
                <a16:creationId xmlns:a16="http://schemas.microsoft.com/office/drawing/2014/main" id="{9055395A-84C6-40A1-8A53-A4DABECAF3F8}"/>
              </a:ext>
            </a:extLst>
          </p:cNvPr>
          <p:cNvSpPr>
            <a:spLocks noGrp="1"/>
          </p:cNvSpPr>
          <p:nvPr/>
        </p:nvSpPr>
        <p:spPr>
          <a:xfrm>
            <a:off x="2762250" y="2714625"/>
            <a:ext cx="1952625" cy="2000250"/>
          </a:xfrm>
          <a:prstGeom prst="roundRect">
            <a:avLst>
              <a:gd name="adj" fmla="val 3902"/>
            </a:avLst>
          </a:prstGeom>
          <a:solidFill>
            <a:srgbClr val="EDF5F8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9" name="h1">
            <a:extLst>
              <a:ext uri="{FF2B5EF4-FFF2-40B4-BE49-F238E27FC236}">
                <a16:creationId xmlns:a16="http://schemas.microsoft.com/office/drawing/2014/main" id="{00D2F139-E408-4E0C-B6DA-119DB0F38E58}"/>
              </a:ext>
            </a:extLst>
          </p:cNvPr>
          <p:cNvSpPr>
            <a:spLocks noGrp="1"/>
          </p:cNvSpPr>
          <p:nvPr/>
        </p:nvSpPr>
        <p:spPr>
          <a:xfrm>
            <a:off x="2952750" y="3095625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t>PLC</a:t>
            </a:r>
          </a:p>
        </p:txBody>
      </p:sp>
      <p:sp>
        <p:nvSpPr>
          <p:cNvPr id="10" name="b1">
            <a:extLst>
              <a:ext uri="{FF2B5EF4-FFF2-40B4-BE49-F238E27FC236}">
                <a16:creationId xmlns:a16="http://schemas.microsoft.com/office/drawing/2014/main" id="{29EA461E-B98F-41B5-B313-87A52E01E5CC}"/>
              </a:ext>
            </a:extLst>
          </p:cNvPr>
          <p:cNvSpPr>
            <a:spLocks noGrp="1"/>
          </p:cNvSpPr>
          <p:nvPr/>
        </p:nvSpPr>
        <p:spPr>
          <a:xfrm>
            <a:off x="2952750" y="3952875"/>
            <a:ext cx="1571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226"/>
          </a:bodyPr>
          <a:lstStyle/>
          <a:p>
            <a:pPr algn="ctr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logikai döntés a program alapján</a:t>
            </a:r>
          </a:p>
        </p:txBody>
      </p:sp>
      <p:sp>
        <p:nvSpPr>
          <p:cNvPr id="11" name="d2">
            <a:extLst>
              <a:ext uri="{FF2B5EF4-FFF2-40B4-BE49-F238E27FC236}">
                <a16:creationId xmlns:a16="http://schemas.microsoft.com/office/drawing/2014/main" id="{FF01D8E6-4B35-4257-8185-7211B1DCDDFE}"/>
              </a:ext>
            </a:extLst>
          </p:cNvPr>
          <p:cNvSpPr>
            <a:spLocks noGrp="1"/>
          </p:cNvSpPr>
          <p:nvPr/>
        </p:nvSpPr>
        <p:spPr>
          <a:xfrm>
            <a:off x="5048250" y="2714625"/>
            <a:ext cx="1952625" cy="2000250"/>
          </a:xfrm>
          <a:prstGeom prst="roundRect">
            <a:avLst>
              <a:gd name="adj" fmla="val 3902"/>
            </a:avLst>
          </a:prstGeom>
          <a:solidFill>
            <a:srgbClr val="EDF5F8"/>
          </a:solidFill>
          <a:ln w="9525">
            <a:solidFill>
              <a:srgbClr val="2E9D67"/>
            </a:solidFill>
            <a:prstDash val="solid"/>
          </a:ln>
        </p:spPr>
      </p:sp>
      <p:sp>
        <p:nvSpPr>
          <p:cNvPr id="12" name="h2">
            <a:extLst>
              <a:ext uri="{FF2B5EF4-FFF2-40B4-BE49-F238E27FC236}">
                <a16:creationId xmlns:a16="http://schemas.microsoft.com/office/drawing/2014/main" id="{F8124EE9-5DB7-4C53-8771-9E3F77C0EB31}"/>
              </a:ext>
            </a:extLst>
          </p:cNvPr>
          <p:cNvSpPr>
            <a:spLocks noGrp="1"/>
          </p:cNvSpPr>
          <p:nvPr/>
        </p:nvSpPr>
        <p:spPr>
          <a:xfrm>
            <a:off x="5238750" y="3095625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2E9D67"/>
                </a:solidFill>
                <a:latin typeface="Arial"/>
                <a:ea typeface="Arial"/>
                <a:cs typeface="Arial"/>
              </a:defRPr>
            </a:pPr>
            <a:r>
              <a:t>Relé</a:t>
            </a:r>
          </a:p>
        </p:txBody>
      </p:sp>
      <p:sp>
        <p:nvSpPr>
          <p:cNvPr id="13" name="b2">
            <a:extLst>
              <a:ext uri="{FF2B5EF4-FFF2-40B4-BE49-F238E27FC236}">
                <a16:creationId xmlns:a16="http://schemas.microsoft.com/office/drawing/2014/main" id="{7F95185A-D081-491A-B56D-DCF1888AA4C6}"/>
              </a:ext>
            </a:extLst>
          </p:cNvPr>
          <p:cNvSpPr>
            <a:spLocks noGrp="1"/>
          </p:cNvSpPr>
          <p:nvPr/>
        </p:nvSpPr>
        <p:spPr>
          <a:xfrm>
            <a:off x="5238750" y="3952875"/>
            <a:ext cx="1571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393"/>
          </a:bodyPr>
          <a:lstStyle/>
          <a:p>
            <a:pPr algn="ctr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kis teljesítményű leválasztás</a:t>
            </a:r>
          </a:p>
        </p:txBody>
      </p:sp>
      <p:sp>
        <p:nvSpPr>
          <p:cNvPr id="14" name="d3">
            <a:extLst>
              <a:ext uri="{FF2B5EF4-FFF2-40B4-BE49-F238E27FC236}">
                <a16:creationId xmlns:a16="http://schemas.microsoft.com/office/drawing/2014/main" id="{7C6A6B9A-AD30-4D3E-8ACB-80B3CED2F5C3}"/>
              </a:ext>
            </a:extLst>
          </p:cNvPr>
          <p:cNvSpPr>
            <a:spLocks noGrp="1"/>
          </p:cNvSpPr>
          <p:nvPr/>
        </p:nvSpPr>
        <p:spPr>
          <a:xfrm>
            <a:off x="7334250" y="2714625"/>
            <a:ext cx="1952625" cy="2000250"/>
          </a:xfrm>
          <a:prstGeom prst="roundRect">
            <a:avLst>
              <a:gd name="adj" fmla="val 3902"/>
            </a:avLst>
          </a:prstGeom>
          <a:solidFill>
            <a:srgbClr val="EDF5F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15" name="h3">
            <a:extLst>
              <a:ext uri="{FF2B5EF4-FFF2-40B4-BE49-F238E27FC236}">
                <a16:creationId xmlns:a16="http://schemas.microsoft.com/office/drawing/2014/main" id="{61F5F17C-D6E8-43F1-AFD1-230398A90D66}"/>
              </a:ext>
            </a:extLst>
          </p:cNvPr>
          <p:cNvSpPr>
            <a:spLocks noGrp="1"/>
          </p:cNvSpPr>
          <p:nvPr/>
        </p:nvSpPr>
        <p:spPr>
          <a:xfrm>
            <a:off x="7524750" y="3095625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t>Mágneskapcsoló</a:t>
            </a:r>
          </a:p>
        </p:txBody>
      </p:sp>
      <p:sp>
        <p:nvSpPr>
          <p:cNvPr id="16" name="b3">
            <a:extLst>
              <a:ext uri="{FF2B5EF4-FFF2-40B4-BE49-F238E27FC236}">
                <a16:creationId xmlns:a16="http://schemas.microsoft.com/office/drawing/2014/main" id="{EBE94368-40AF-40B6-B5FF-1965C31602C2}"/>
              </a:ext>
            </a:extLst>
          </p:cNvPr>
          <p:cNvSpPr>
            <a:spLocks noGrp="1"/>
          </p:cNvSpPr>
          <p:nvPr/>
        </p:nvSpPr>
        <p:spPr>
          <a:xfrm>
            <a:off x="7524750" y="3952875"/>
            <a:ext cx="1571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183"/>
          </a:bodyPr>
          <a:lstStyle/>
          <a:p>
            <a:pPr algn="ctr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motor vagy nagyobb fogyasztó kapcsolása</a:t>
            </a:r>
          </a:p>
        </p:txBody>
      </p:sp>
      <p:sp>
        <p:nvSpPr>
          <p:cNvPr id="17" name="d4">
            <a:extLst>
              <a:ext uri="{FF2B5EF4-FFF2-40B4-BE49-F238E27FC236}">
                <a16:creationId xmlns:a16="http://schemas.microsoft.com/office/drawing/2014/main" id="{8D308BF0-B82F-4A48-9C64-94DB9EDF3083}"/>
              </a:ext>
            </a:extLst>
          </p:cNvPr>
          <p:cNvSpPr>
            <a:spLocks noGrp="1"/>
          </p:cNvSpPr>
          <p:nvPr/>
        </p:nvSpPr>
        <p:spPr>
          <a:xfrm>
            <a:off x="9620250" y="2714625"/>
            <a:ext cx="1952625" cy="2000250"/>
          </a:xfrm>
          <a:prstGeom prst="roundRect">
            <a:avLst>
              <a:gd name="adj" fmla="val 3902"/>
            </a:avLst>
          </a:prstGeom>
          <a:solidFill>
            <a:srgbClr val="EDF5F8"/>
          </a:solidFill>
          <a:ln w="9525">
            <a:solidFill>
              <a:srgbClr val="1597C5"/>
            </a:solidFill>
            <a:prstDash val="solid"/>
          </a:ln>
        </p:spPr>
      </p:sp>
      <p:sp>
        <p:nvSpPr>
          <p:cNvPr id="18" name="h4">
            <a:extLst>
              <a:ext uri="{FF2B5EF4-FFF2-40B4-BE49-F238E27FC236}">
                <a16:creationId xmlns:a16="http://schemas.microsoft.com/office/drawing/2014/main" id="{0CE844BA-61F2-4E4A-AF39-A52D8003E088}"/>
              </a:ext>
            </a:extLst>
          </p:cNvPr>
          <p:cNvSpPr>
            <a:spLocks noGrp="1"/>
          </p:cNvSpPr>
          <p:nvPr/>
        </p:nvSpPr>
        <p:spPr>
          <a:xfrm>
            <a:off x="9810750" y="3095625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97C5"/>
                </a:solidFill>
                <a:latin typeface="Arial"/>
                <a:ea typeface="Arial"/>
                <a:cs typeface="Arial"/>
              </a:defRPr>
            </a:pPr>
            <a:r>
              <a:t>Önellenőrzés</a:t>
            </a:r>
          </a:p>
        </p:txBody>
      </p:sp>
      <p:sp>
        <p:nvSpPr>
          <p:cNvPr id="19" name="b4">
            <a:extLst>
              <a:ext uri="{FF2B5EF4-FFF2-40B4-BE49-F238E27FC236}">
                <a16:creationId xmlns:a16="http://schemas.microsoft.com/office/drawing/2014/main" id="{55222C9A-025B-43DE-8F5B-0D0CD9FE9A44}"/>
              </a:ext>
            </a:extLst>
          </p:cNvPr>
          <p:cNvSpPr>
            <a:spLocks noGrp="1"/>
          </p:cNvSpPr>
          <p:nvPr/>
        </p:nvSpPr>
        <p:spPr>
          <a:xfrm>
            <a:off x="9810750" y="3952875"/>
            <a:ext cx="1571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/>
          </a:bodyPr>
          <a:lstStyle/>
          <a:p>
            <a:pPr algn="ctr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Mi a CPU feladata?</a:t>
            </a:r>
          </a:p>
          <a:p>
            <a:r>
              <a:t>Mi a bemenet és kimenet különbsége?</a:t>
            </a:r>
          </a:p>
        </p:txBody>
      </p:sp>
      <p:sp>
        <p:nvSpPr>
          <p:cNvPr id="20" name="m">
            <a:extLst>
              <a:ext uri="{FF2B5EF4-FFF2-40B4-BE49-F238E27FC236}">
                <a16:creationId xmlns:a16="http://schemas.microsoft.com/office/drawing/2014/main" id="{E2E1A968-6506-42B3-856A-43EBA7CA53F4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998"/>
          </a:bodyPr>
          <a:lstStyle/>
          <a:p>
            <a:pPr algn="ctr">
              <a:buNone/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Következő hét: Digitális bemenetek részletesen.</a:t>
            </a:r>
          </a:p>
        </p:txBody>
      </p:sp>
    </p:spTree>
    <p:extLst>
      <p:ext uri="{BB962C8B-B14F-4D97-AF65-F5344CB8AC3E}">
        <p14:creationId xmlns:p14="http://schemas.microsoft.com/office/powerpoint/2010/main" val="12919518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Microsoft Office PowerPoint</Application>
  <DocSecurity>0</DocSecurity>
  <PresentationFormat>Szélesvásznú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hét – A PLC felépítése és működése</dc:title>
  <dc:subject>PLC alapismeretek</dc:subject>
  <dc:creator>Walnut Exporter</dc:creator>
  <cp:lastModifiedBy>zsolt Fazekas</cp:lastModifiedBy>
  <cp:revision>1</cp:revision>
  <dcterms:created xsi:type="dcterms:W3CDTF">2026-07-31T09:36:17Z</dcterms:created>
  <dcterms:modified xsi:type="dcterms:W3CDTF">2026-08-01T04:38:48Z</dcterms:modified>
</cp:coreProperties>
</file>