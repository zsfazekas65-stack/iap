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1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7.png"/><Relationship Id="rId7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7.png"/><Relationship Id="rId7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485775"/>
            <a:ext cx="11220450" cy="5886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62387" y="2085082"/>
            <a:ext cx="44672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>
                <a:solidFill>
                  <a:srgbClr val="3B82F6"/>
                </a:solidFill>
                <a:latin typeface="Plus Jakarta Sans SemiBold"/>
              </a:rPr>
              <a:t>INTEGRÁLT AUTOMATIKA </a:t>
            </a:r>
            <a:r>
              <a:rPr lang="hu-HU" sz="1500">
                <a:solidFill>
                  <a:srgbClr val="3B82F6"/>
                </a:solidFill>
                <a:latin typeface="Plus Jakarta Sans SemiBold"/>
              </a:rPr>
              <a:t>PROGRAM </a:t>
            </a:r>
            <a:r>
              <a:rPr sz="1500" b="0" i="0" u="none">
                <a:solidFill>
                  <a:srgbClr val="3B82F6"/>
                </a:solidFill>
                <a:latin typeface="Plus Jakarta Sans SemiBold"/>
              </a:rPr>
              <a:t>(</a:t>
            </a:r>
            <a:r>
              <a:rPr sz="1500" b="0" i="0" u="none" dirty="0">
                <a:solidFill>
                  <a:srgbClr val="3B82F6"/>
                </a:solidFill>
                <a:latin typeface="Plus Jakarta Sans SemiBold"/>
              </a:rPr>
              <a:t>IA</a:t>
            </a:r>
            <a:r>
              <a:rPr lang="hu-HU" sz="1500" b="0" i="0" u="none" dirty="0">
                <a:solidFill>
                  <a:srgbClr val="3B82F6"/>
                </a:solidFill>
                <a:latin typeface="Plus Jakarta Sans SemiBold"/>
              </a:rPr>
              <a:t>P</a:t>
            </a:r>
            <a:r>
              <a:rPr sz="1500" b="0" i="0" u="none" dirty="0">
                <a:solidFill>
                  <a:srgbClr val="3B82F6"/>
                </a:solidFill>
                <a:latin typeface="Plus Jakarta Sans SemiBold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05551" y="2466082"/>
            <a:ext cx="7180897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1" i="0" u="none">
                <a:solidFill>
                  <a:srgbClr val="FFFFFF"/>
                </a:solidFill>
                <a:latin typeface="Outfit"/>
              </a:rPr>
              <a:t>PLC Alapismeretek – 29.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2250" y="3296542"/>
            <a:ext cx="6667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D1D5DB"/>
                </a:solidFill>
                <a:latin typeface="Plus Jakarta Sans"/>
              </a:rPr>
              <a:t>Prediktív karbantartás és mesterséges intelligencia az iparban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62262" y="4153792"/>
            <a:ext cx="6467475" cy="6191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48012" y="4344292"/>
            <a:ext cx="589597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 u="none">
                <a:solidFill>
                  <a:srgbClr val="93C5FD"/>
                </a:solidFill>
                <a:latin typeface="Plus Jakarta Sans"/>
              </a:rPr>
              <a:t> „A legjobb javítás az, amelyre még a meghibásodás előtt sor kerül.” </a:t>
            </a:r>
          </a:p>
        </p:txBody>
      </p:sp>
      <p:sp>
        <p:nvSpPr>
          <p:cNvPr id="9" name="Rectangle 8"/>
          <p:cNvSpPr/>
          <p:nvPr/>
        </p:nvSpPr>
        <p:spPr>
          <a:xfrm>
            <a:off x="2862262" y="4153792"/>
            <a:ext cx="38100" cy="6191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049660"/>
            <a:ext cx="5491162" cy="2105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2049660"/>
            <a:ext cx="5491162" cy="2105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533400"/>
            <a:ext cx="36195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1390650"/>
            <a:ext cx="112204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0" i="0" u="none">
                <a:solidFill>
                  <a:srgbClr val="FFFFFF"/>
                </a:solidFill>
                <a:latin typeface="Plus Jakarta Sans"/>
              </a:rPr>
              <a:t>Hogyan lehet a gépek meghibásodását még a bekövetkezése előtt előre jelezni?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2297310"/>
            <a:ext cx="5245655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Hagyományos megközelítés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2712" y="2297310"/>
            <a:ext cx="5245655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Prediktív megközelítés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325885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2712" y="2325885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9175" y="2706885"/>
            <a:ext cx="471011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Csak a hiba bekövetkezte utáni javítás (Reactive)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3106935"/>
            <a:ext cx="471011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Fix időszakon alapuló megelőző csere (Preventive)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3506985"/>
            <a:ext cx="471011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Váratlan leállások és magas költségek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462" y="2706885"/>
            <a:ext cx="471011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Valós idejű állapotfelügyelet (Condition Monitoring)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462" y="3106935"/>
            <a:ext cx="471011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Mesterséges intelligencia alapú mintázatfelismerés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462" y="3506985"/>
            <a:ext cx="471011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Optimalizált, ütemezett karbantartási beavatkozás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85775"/>
            <a:ext cx="112014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A világ nagy kérdése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2725935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125985"/>
            <a:ext cx="17145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526035"/>
            <a:ext cx="17145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2712" y="2725935"/>
            <a:ext cx="17145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2712" y="3125985"/>
            <a:ext cx="17145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2712" y="352603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533400"/>
            <a:ext cx="361950" cy="361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85775" y="1390650"/>
            <a:ext cx="11220450" cy="3657600"/>
          </a:xfrm>
          <a:prstGeom prst="roundRect">
            <a:avLst>
              <a:gd name="adj" fmla="val 0"/>
            </a:avLst>
          </a:prstGeom>
          <a:solidFill>
            <a:srgbClr val="1F29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5775" y="1390650"/>
          <a:ext cx="1122044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4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0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Időszak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Karbantartási stratégia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Fő jellemzők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1950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Hibajavító (Run-to-Failure)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Addig működtetni, amíg el nem romlik; magas leállási kockázat.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1980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Megelőző (Preventative)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Időalapú vagy üzemóra-alapú alkatrészcserék, gyakran feleslegesen.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2000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Állapotfüggő (Condition-Based)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Érzékelők figyelik a kopást, küszöbérték elérésekor riasztás.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2015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Prediktív (Predictive)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Adatvezérelt trendelemzés és élettartam-előrejelzés.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Napjaink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AI-alapú előrejelzés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CA3AF"/>
                          </a:solidFill>
                          <a:latin typeface="Plus Jakarta Sans"/>
                        </a:rPr>
                        <a:t>Öntanuló neurális hálók és autonóm ipari döntéstámogatás.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85775" y="1985962"/>
            <a:ext cx="12954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81175" y="1985962"/>
            <a:ext cx="33743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55555" y="1985962"/>
            <a:ext cx="65506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5775" y="2595562"/>
            <a:ext cx="12954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81175" y="2595562"/>
            <a:ext cx="33743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55555" y="2595562"/>
            <a:ext cx="65506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5775" y="3205162"/>
            <a:ext cx="12954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81175" y="3205162"/>
            <a:ext cx="33743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55555" y="3205162"/>
            <a:ext cx="65506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5775" y="3814762"/>
            <a:ext cx="12954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81175" y="3814762"/>
            <a:ext cx="33743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55555" y="3814762"/>
            <a:ext cx="65506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5775" y="4424362"/>
            <a:ext cx="12954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781175" y="4424362"/>
            <a:ext cx="33743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555" y="4424362"/>
            <a:ext cx="65506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5775" y="5033962"/>
            <a:ext cx="12954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781175" y="5033962"/>
            <a:ext cx="33743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55555" y="5033962"/>
            <a:ext cx="655066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0600" y="485775"/>
            <a:ext cx="112014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A karbantartási stratégiák idővonala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885950"/>
            <a:ext cx="3581400" cy="1933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1885950"/>
            <a:ext cx="3581400" cy="1933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885950"/>
            <a:ext cx="3581400" cy="1933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533400"/>
            <a:ext cx="36195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1390650"/>
            <a:ext cx="11220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Az ipari automatizálás és digitalizáció élvonalbeli vállalatai fejlett prediktív ökoszisztémákat biztosítanak: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2133600"/>
            <a:ext cx="3240405" cy="26670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Siemens &amp; ABB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2543175"/>
            <a:ext cx="30861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CA3AF"/>
                </a:solidFill>
                <a:latin typeface="Plus Jakarta Sans"/>
              </a:rPr>
              <a:t>Siemens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 (MindSphere / Industrial Edge) és </a:t>
            </a:r>
            <a:r>
              <a:rPr sz="1350" b="1" i="0" u="none">
                <a:solidFill>
                  <a:srgbClr val="9CA3AF"/>
                </a:solidFill>
                <a:latin typeface="Plus Jakarta Sans"/>
              </a:rPr>
              <a:t>ABB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 (Ability) integrált felhőalapú és helyi állapotfelügyeleti platformok.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2950" y="2133600"/>
            <a:ext cx="3240405" cy="26670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Schneider &amp; Bosch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2950" y="2543175"/>
            <a:ext cx="30861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CA3AF"/>
                </a:solidFill>
                <a:latin typeface="Plus Jakarta Sans"/>
              </a:rPr>
              <a:t>Schneider Electric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 (EcoStruxure) és </a:t>
            </a:r>
            <a:r>
              <a:rPr sz="1350" b="1" i="0" u="none">
                <a:solidFill>
                  <a:srgbClr val="9CA3AF"/>
                </a:solidFill>
                <a:latin typeface="Plus Jakarta Sans"/>
              </a:rPr>
              <a:t>Bosch Rexroth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 a gépi tanuláson alapuló rezgés- és hőmérséklet-elemzésért.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2475" y="2133600"/>
            <a:ext cx="3240405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Rockwell &amp; Honeywell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2475" y="2543175"/>
            <a:ext cx="30861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CA3AF"/>
                </a:solidFill>
                <a:latin typeface="Plus Jakarta Sans"/>
              </a:rPr>
              <a:t>Rockwell Automation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, </a:t>
            </a:r>
            <a:r>
              <a:rPr sz="1350" b="1" i="0" u="none">
                <a:solidFill>
                  <a:srgbClr val="9CA3AF"/>
                </a:solidFill>
                <a:latin typeface="Plus Jakarta Sans"/>
              </a:rPr>
              <a:t>Honeywell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 és </a:t>
            </a:r>
            <a:r>
              <a:rPr sz="1350" b="1" i="0" u="none">
                <a:solidFill>
                  <a:srgbClr val="9CA3AF"/>
                </a:solidFill>
                <a:latin typeface="Plus Jakarta Sans"/>
              </a:rPr>
              <a:t>Emerson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 fejlett ipari diagnosztikai és Historian rendszerek.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2162175"/>
            <a:ext cx="23812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950" y="2162175"/>
            <a:ext cx="26670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2475" y="2162175"/>
            <a:ext cx="180975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0600" y="485775"/>
            <a:ext cx="112014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Ismerjük meg a fejlesztőket!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90650"/>
            <a:ext cx="5419725" cy="4981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90650"/>
            <a:ext cx="5419725" cy="498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533400"/>
            <a:ext cx="36195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3425" y="1638300"/>
            <a:ext cx="5170646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Főbb tanulási célok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1638300"/>
            <a:ext cx="5170646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Elméleti definíció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047875"/>
            <a:ext cx="492442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 </a:t>
            </a:r>
            <a:r>
              <a:rPr sz="1350" b="1" i="0" u="none">
                <a:solidFill>
                  <a:srgbClr val="9CA3AF"/>
                </a:solidFill>
                <a:latin typeface="Plus Jakarta Sans"/>
              </a:rPr>
              <a:t>prediktív karbantartás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 olyan proaktív stratégia, amely a berendezésekre telepített szenzorok adatait elemzi, és előre jelezi a meghibásodás pontos idejét, így kizárólag a legszükségesebb pillanatban avatkoznak be.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666875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1666875"/>
            <a:ext cx="18097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9175" y="20478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 prediktív karbantartás alapelveinek megértése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244792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Állapotfelügyeleti (Condition Monitoring) metódusok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28479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 mesterséges intelligencia szerepe az iparban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324802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Adatgyűjtési és Historian architektúrák ismerete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485775"/>
            <a:ext cx="112014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Tanulási célok és elméleti alapok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206692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2466975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2867025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26707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90650"/>
            <a:ext cx="3581400" cy="1933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1390650"/>
            <a:ext cx="3581400" cy="1933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390650"/>
            <a:ext cx="3581400" cy="1933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533400"/>
            <a:ext cx="36195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3425" y="1638300"/>
            <a:ext cx="3240405" cy="26670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Rezgés &amp; Ütések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2047875"/>
            <a:ext cx="30861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 csapágyak kopása, kiegyensúlyozatlanság és mechanikai rezonanciák detektálása gyorsulásérzékelőkkel.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950" y="1638300"/>
            <a:ext cx="3240405" cy="26670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Hőmérséklet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2950" y="2047875"/>
            <a:ext cx="30861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Motorok, hajtóművek, csapágyak és elektronikai egységek túlmelegedésének folyamatos nyomon követése.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2475" y="1638300"/>
            <a:ext cx="3240405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Villamos adatok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2475" y="2047875"/>
            <a:ext cx="30861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Motoráram-felvétel (MCA), feszültségingadozások és teljesítménytényező változásainak elemzése.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1666875"/>
            <a:ext cx="26670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950" y="1666875"/>
            <a:ext cx="23812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2475" y="1666875"/>
            <a:ext cx="180975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0600" y="485775"/>
            <a:ext cx="112014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Mit figyel a rendszer?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519362"/>
            <a:ext cx="11220450" cy="895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390650"/>
            <a:ext cx="1774775" cy="8429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4850" y="1390650"/>
            <a:ext cx="1774775" cy="8429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3925" y="1390650"/>
            <a:ext cx="1774775" cy="8429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001" y="1390650"/>
            <a:ext cx="1774924" cy="84296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2225" y="1390650"/>
            <a:ext cx="1774775" cy="84296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1300" y="1390650"/>
            <a:ext cx="1774775" cy="84296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533400"/>
            <a:ext cx="457200" cy="361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275" y="2709862"/>
            <a:ext cx="10839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Az adatáramlás a fizikai szenzoroktól a PLC-n és az OPC UA buszon át eljut a nagy kapacitású Historian adatbázisba, ahol a mesterséges intelligencia algoritmusai kiszűrik az anomáliákat.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421" y="1514475"/>
            <a:ext cx="1603481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60A5FA"/>
                </a:solidFill>
                <a:latin typeface="Outfit"/>
              </a:rPr>
              <a:t>Szenzorok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924050"/>
            <a:ext cx="15271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CA3AF"/>
                </a:solidFill>
                <a:latin typeface="Plus Jakarta Sans"/>
              </a:rPr>
              <a:t>Fizikai jelek gyűjtése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0497" y="1514475"/>
            <a:ext cx="1603481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60A5FA"/>
                </a:solidFill>
                <a:latin typeface="Outfit"/>
              </a:rPr>
              <a:t>PLC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8675" y="1924050"/>
            <a:ext cx="15271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CA3AF"/>
                </a:solidFill>
                <a:latin typeface="Plus Jakarta Sans"/>
              </a:rPr>
              <a:t>Előfeldolgozás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9572" y="1514475"/>
            <a:ext cx="1603481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Outfit"/>
              </a:rPr>
              <a:t>OPC UA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7750" y="1924050"/>
            <a:ext cx="15271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E5E7EB"/>
                </a:solidFill>
                <a:latin typeface="Plus Jakarta Sans"/>
              </a:rPr>
              <a:t>Adatátvitel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8644" y="1514475"/>
            <a:ext cx="1603637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60A5FA"/>
                </a:solidFill>
                <a:latin typeface="Outfit"/>
              </a:rPr>
              <a:t>Historian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6826" y="1924050"/>
            <a:ext cx="1527274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CA3AF"/>
                </a:solidFill>
                <a:latin typeface="Plus Jakarta Sans"/>
              </a:rPr>
              <a:t>Történeti adatok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872" y="1514475"/>
            <a:ext cx="1603481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60A5FA"/>
                </a:solidFill>
                <a:latin typeface="Outfit"/>
              </a:rPr>
              <a:t>AI &amp;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6050" y="1924050"/>
            <a:ext cx="15271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CA3AF"/>
                </a:solidFill>
                <a:latin typeface="Plus Jakarta Sans"/>
              </a:rPr>
              <a:t>Modell elemzés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6947" y="1514475"/>
            <a:ext cx="1603481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60A5FA"/>
                </a:solidFill>
                <a:latin typeface="Outfit"/>
              </a:rPr>
              <a:t>Riasztás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5125" y="1924050"/>
            <a:ext cx="15271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CA3AF"/>
                </a:solidFill>
                <a:latin typeface="Plus Jakarta Sans"/>
              </a:rPr>
              <a:t>Javaslat küldése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675" y="1543050"/>
            <a:ext cx="209550" cy="2095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47838" y="1543050"/>
            <a:ext cx="209550" cy="2095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1651" y="1543050"/>
            <a:ext cx="209550" cy="2095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3725" y="1543050"/>
            <a:ext cx="180975" cy="2095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53288" y="1543050"/>
            <a:ext cx="209550" cy="2095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85214" y="1543050"/>
            <a:ext cx="209550" cy="2095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85850" y="485775"/>
            <a:ext cx="1110615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Hogyan működik a háttérben?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90650"/>
            <a:ext cx="5419725" cy="4981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90650"/>
            <a:ext cx="5419725" cy="498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533400"/>
            <a:ext cx="45720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3425" y="1638300"/>
            <a:ext cx="5170646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Mit lát a PLC?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1638300"/>
            <a:ext cx="5170646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Mit lát az AI?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666875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1666875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9175" y="20478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Pillanatnyi fizikai értékeket (pl. 75.4 °C)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244792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Azonnali beavatkozást igénylő küszöbértékeket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28479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Gépindulási és leállási digitális állapotokat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324802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Gyors védelmi logikákat (vészleállítás)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9900" y="20478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Hosszú távú trendeket és lassú romlási folyamatokat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9900" y="244792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Összetett, több-szenzoros mintázatokat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9900" y="2847975"/>
            <a:ext cx="46386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Becsült hátralévő élettartamot (RUL - Remaining Useful Life)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9900" y="3505200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Optimalizált karbantartási ütemezési javaslatot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850" y="485775"/>
            <a:ext cx="1110615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Mit lát a PLC? – Mit lát az AI?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2066925"/>
            <a:ext cx="17145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2466975"/>
            <a:ext cx="17145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2867025"/>
            <a:ext cx="17145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267075"/>
            <a:ext cx="17145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2066925"/>
            <a:ext cx="17145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2466975"/>
            <a:ext cx="17145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2867025"/>
            <a:ext cx="171450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3524250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90650"/>
            <a:ext cx="3581400" cy="1933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1390650"/>
            <a:ext cx="3581400" cy="1933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390650"/>
            <a:ext cx="3581400" cy="1933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533400"/>
            <a:ext cx="45720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3425" y="1638300"/>
            <a:ext cx="324040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1. Adatgyűjtés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2047875"/>
            <a:ext cx="30861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 PLC magas frekvenciájú mintatételezéssel gyűjti az analóg szenzorjeleket és szűri a zajokat.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950" y="1638300"/>
            <a:ext cx="324040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2. Bufferezés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2950" y="2047875"/>
            <a:ext cx="30861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Hálózati kapcsolatvesztés esetén a PLC belső memóriájában (buffer) tárolja az adatokat az adatvesztés elkerülése érdekében.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2475" y="1638300"/>
            <a:ext cx="324040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3. Továbbítás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2475" y="2047875"/>
            <a:ext cx="30861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Az OPC UA protokollon keresztül a Historian adatbázisba küldi a strukturált folyamatváltozókat.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" y="485775"/>
            <a:ext cx="1110615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PLC program &amp; Adatnaplózási feladatok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90650"/>
            <a:ext cx="5419725" cy="4981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90650"/>
            <a:ext cx="5419725" cy="498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533400"/>
            <a:ext cx="409575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3425" y="1638300"/>
            <a:ext cx="5170646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Nagynyomású szivattyú csapágycsere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2047875"/>
            <a:ext cx="49244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Egy vegyipari üzemben a főszivattyú rezgés- és hőmérsékletadatait folyamatosan elemző AI anomáliát jelzett.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1400175"/>
            <a:ext cx="5400675" cy="4962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1666875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9175" y="28479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Előre jelzett hiba: belső csapágykopás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324802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Időbeli nyereség: 3 hét a váratlan leállás előtt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36480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Megtakarított költség: milliós nagyságrendű leállási kár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485775"/>
            <a:ext cx="11153775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Ipari esettanulmány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2867025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267075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66712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90650"/>
            <a:ext cx="5419725" cy="4981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90650"/>
            <a:ext cx="5419725" cy="498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533400"/>
            <a:ext cx="314325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3425" y="1638300"/>
            <a:ext cx="5170646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Laborfeladat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2047875"/>
            <a:ext cx="492442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CA3AF"/>
                </a:solidFill>
                <a:latin typeface="Plus Jakarta Sans"/>
              </a:rPr>
              <a:t>Villanymotor felügyelet: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 Tervezzen állapotfelügyeleti rendszert egy 3 fázisú aszinkron motorhoz. Határozza meg a rezgés- és hőmérséklet-szenzorok helyét, valamint a PLC riasztási küszöböket.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1638300"/>
            <a:ext cx="5170646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Tervezési példa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047875"/>
            <a:ext cx="49244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CA3AF"/>
                </a:solidFill>
                <a:latin typeface="Plus Jakarta Sans"/>
              </a:rPr>
              <a:t>100 motoros üzem: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 Készítsen koncepciótervet egy közepes méretű gyártósor 100 villanymotorjának prediktív karbantartási hálózatára, az adatgyűjtéstől a felhős elemzésig.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666875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1666875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2975" y="485775"/>
            <a:ext cx="11249025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Laborfeladat &amp; Tervezési példa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90650"/>
            <a:ext cx="5419725" cy="4981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90650"/>
            <a:ext cx="5419725" cy="498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533400"/>
            <a:ext cx="276225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638300"/>
            <a:ext cx="5140642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Műhelytitok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47875"/>
            <a:ext cx="48958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 mesterséges intelligencia nem "lát előre" varázsütésre: minél tisztább és több történelmi hibaadat áll rendelkezésre a tanuláshoz, annál pontosabb lesz az előrejelzés.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1638300"/>
            <a:ext cx="5140642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Tipikus hibák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666875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1666875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48475" y="2047875"/>
            <a:ext cx="4610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Rosszul elhelyezett vagy rosszul rögzített szenzorok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475" y="2447925"/>
            <a:ext cx="4610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Túl ritka mintavételezés (zajos vagy hiányos adatok)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8475" y="2847975"/>
            <a:ext cx="4610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Történeti adatok (Historian) hiánya a betanításhoz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475" y="3248025"/>
            <a:ext cx="4610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Személyzet általi téves riasztás-kezelés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75" y="485775"/>
            <a:ext cx="11287125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Műhelytitok és tipikus hibák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206692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2466975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2867025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326707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90650"/>
            <a:ext cx="5419725" cy="4981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90650"/>
            <a:ext cx="5419725" cy="498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533400"/>
            <a:ext cx="45720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3425" y="1638300"/>
            <a:ext cx="5170646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IAA Mesterfeladat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2047875"/>
            <a:ext cx="492442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Tervezzen teljes körű prediktív karbantartási láncot egy nagysebességű szállítószalag-hajtáshoz. Készítse el a PLC adatgyűjtési programját és az AI anomália-detektálási logikai tervét!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1638300"/>
            <a:ext cx="5170646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Gondolkodjunk mérnökként!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4150" y="2047875"/>
            <a:ext cx="4924425" cy="819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9900" y="2238375"/>
            <a:ext cx="43529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1" u="none">
                <a:solidFill>
                  <a:srgbClr val="93C5FD"/>
                </a:solidFill>
                <a:latin typeface="Plus Jakarta Sans"/>
              </a:rPr>
              <a:t> „A jó karbantartó nemcsak megjavítja a hibát, hanem megérti annak okát is.”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4150" y="2047875"/>
            <a:ext cx="38100" cy="819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4150" y="3152775"/>
            <a:ext cx="49244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Az igazi érték nem a hiba gyors elhárítása, hanem annak megelőzése a rendszer intelligens felügyeletével.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666875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1666875"/>
            <a:ext cx="20955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5850" y="485775"/>
            <a:ext cx="1110615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IAA Mesterfeladat &amp; Mérnöki szemlélet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390650"/>
            <a:ext cx="5419725" cy="4981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533400"/>
            <a:ext cx="36195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5775" y="1390650"/>
            <a:ext cx="5419725" cy="4981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B82F6"/>
                </a:solidFill>
                <a:latin typeface="Plus Jakarta Sans SemiBold"/>
              </a:rPr>
              <a:t>— IAA Mérnöki Idézet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1390650"/>
            <a:ext cx="5419725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2700" b="0" i="1" u="none">
                <a:solidFill>
                  <a:srgbClr val="F3F4F6"/>
                </a:solidFill>
                <a:latin typeface="Outfit"/>
              </a:rPr>
              <a:t> „Az ipar jövőjének egyik legfontosabb alapanyaga az adat.”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3137" y="2588716"/>
            <a:ext cx="19050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B82F6"/>
                </a:solidFill>
                <a:latin typeface="Plus Jakarta Sans SemiBold"/>
              </a:rPr>
              <a:t>— IAA Mérnöki Idézet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1638300"/>
            <a:ext cx="517064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60A5FA"/>
                </a:solidFill>
                <a:latin typeface="Outfit"/>
              </a:rPr>
              <a:t>Gyakorlati kérdések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9900" y="20478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Mi a prediktív karbantartás lényege?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9900" y="244792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Miben különbözik a megelőzőtől?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9900" y="28479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Milyen fizikai jellemzőket figyel a rendszer?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900" y="324802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Mi a Historian adatbázis szerepe?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9900" y="36480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Hogyan támogatja az AI a döntéshozatalt?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485775"/>
            <a:ext cx="112014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Önellenőrző kérdések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2066925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246697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2867025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3267075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366712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90650"/>
            <a:ext cx="3644800" cy="866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3450" y="1390650"/>
            <a:ext cx="3644949" cy="866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275" y="1390650"/>
            <a:ext cx="3644800" cy="866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2400300"/>
            <a:ext cx="3644800" cy="866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3450" y="2400300"/>
            <a:ext cx="3644949" cy="8667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1275" y="2400300"/>
            <a:ext cx="3644800" cy="8667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533400"/>
            <a:ext cx="314325" cy="361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8175" y="1543050"/>
            <a:ext cx="35070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0A5FA"/>
                </a:solidFill>
                <a:latin typeface="Outfit"/>
              </a:rPr>
              <a:t>AI &amp; Condition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1905000"/>
            <a:ext cx="3340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Mesterséges intelligencia &amp; Állapotfelügyelet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850" y="1543050"/>
            <a:ext cx="350715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0A5FA"/>
                </a:solidFill>
                <a:latin typeface="Outfit"/>
              </a:rPr>
              <a:t>Predictive Maintenance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850" y="1905000"/>
            <a:ext cx="334014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Prediktív karbantartás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3675" y="1543050"/>
            <a:ext cx="35070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0A5FA"/>
                </a:solidFill>
                <a:latin typeface="Outfit"/>
              </a:rPr>
              <a:t>Historian &amp; SCADA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3675" y="1905000"/>
            <a:ext cx="3340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Történeti adatbázis &amp; Felügyelet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" y="2552700"/>
            <a:ext cx="35070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0A5FA"/>
                </a:solidFill>
                <a:latin typeface="Outfit"/>
              </a:rPr>
              <a:t>PLC / MES / ERP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" y="2914650"/>
            <a:ext cx="3340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Vezérlés &amp; Irányítási rendszerek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850" y="2552700"/>
            <a:ext cx="350715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0A5FA"/>
                </a:solidFill>
                <a:latin typeface="Outfit"/>
              </a:rPr>
              <a:t>IIoT &amp; OPC UA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850" y="2914650"/>
            <a:ext cx="334014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Ipar 4.0 hálózat &amp; Kommunikáció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3675" y="2552700"/>
            <a:ext cx="35070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0A5FA"/>
                </a:solidFill>
                <a:latin typeface="Outfit"/>
              </a:rPr>
              <a:t>RUL (Remaining Useful Life)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3675" y="2914650"/>
            <a:ext cx="3340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Hátralévő hasznos élettartam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975" y="485775"/>
            <a:ext cx="11249025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Szakkifejezések és rövidítések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485775"/>
            <a:ext cx="11220450" cy="5886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29150" y="2026890"/>
            <a:ext cx="2933700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3B82F6"/>
                </a:solidFill>
                <a:latin typeface="Plus Jakarta Sans SemiBold"/>
              </a:rPr>
              <a:t>ELŐZETES TÁJÉKOZTATÓ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0731" y="2407890"/>
            <a:ext cx="4290536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sz="3150" b="1" i="0" u="none">
                <a:solidFill>
                  <a:srgbClr val="FFFFFF"/>
                </a:solidFill>
                <a:latin typeface="Outfit"/>
              </a:rPr>
              <a:t>Következő hét: 30.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078360"/>
            <a:ext cx="76200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60A5FA"/>
                </a:solidFill>
                <a:latin typeface="Plus Jakarta Sans"/>
              </a:rPr>
              <a:t>Kiberbiztonság az ipari automatizálásban (Industrial Cybersecurity)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2250" y="4316610"/>
            <a:ext cx="6667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Hogyan védjük meg az ipari hálózatokat, a PLC-ket és a kritikus infrastruktúrákat a kiberfenyegetésektől és támadásoktól?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0" y="206499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53352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81150" y="1540668"/>
            <a:ext cx="101250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CA3AF"/>
                </a:solidFill>
                <a:latin typeface="Plus Jakarta Sans"/>
              </a:rPr>
              <a:t>https://smartdev.com/wp-content/uploads/2024/09/1708931920144.jpeg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1150" y="1774031"/>
            <a:ext cx="101250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CA3AF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smartdev.com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485775"/>
            <a:ext cx="11706225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Outfit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5775" y="1085850"/>
            <a:ext cx="1122045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913</Words>
  <Application>Microsoft Office PowerPoint</Application>
  <PresentationFormat>Szélesvásznú</PresentationFormat>
  <Paragraphs>143</Paragraphs>
  <Slides>17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4" baseType="lpstr">
      <vt:lpstr>Arial</vt:lpstr>
      <vt:lpstr>Calibri</vt:lpstr>
      <vt:lpstr>Outfit</vt:lpstr>
      <vt:lpstr>Outfit SemiBold</vt:lpstr>
      <vt:lpstr>Plus Jakarta Sans</vt:lpstr>
      <vt:lpstr>Plus Jakarta Sans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2026-08-02T13:47:35Z</dcterms:modified>
  <cp:category/>
</cp:coreProperties>
</file>