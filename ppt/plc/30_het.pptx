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455" y="4619625"/>
            <a:ext cx="8523089" cy="63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0523" y="1600200"/>
            <a:ext cx="7630953" cy="665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sz="3750" b="1" i="0" u="none" dirty="0">
                <a:solidFill>
                  <a:srgbClr val="58A6FF"/>
                </a:solidFill>
                <a:latin typeface="Rajdhani"/>
              </a:rPr>
              <a:t>Integrált Automatika </a:t>
            </a:r>
            <a:r>
              <a:rPr lang="hu-HU" sz="3750" b="1">
                <a:solidFill>
                  <a:srgbClr val="58A6FF"/>
                </a:solidFill>
                <a:latin typeface="Rajdhani"/>
              </a:rPr>
              <a:t>Program</a:t>
            </a:r>
            <a:r>
              <a:rPr sz="3750" b="1" i="0" u="none">
                <a:solidFill>
                  <a:srgbClr val="58A6FF"/>
                </a:solidFill>
                <a:latin typeface="Rajdhani"/>
              </a:rPr>
              <a:t> </a:t>
            </a:r>
            <a:r>
              <a:rPr sz="3750" b="1" i="0" u="none" dirty="0">
                <a:solidFill>
                  <a:srgbClr val="58A6FF"/>
                </a:solidFill>
                <a:latin typeface="Rajdhani"/>
              </a:rPr>
              <a:t>(IA</a:t>
            </a:r>
            <a:r>
              <a:rPr lang="hu-HU" sz="3750" b="1" i="0" u="none" dirty="0">
                <a:solidFill>
                  <a:srgbClr val="58A6FF"/>
                </a:solidFill>
                <a:latin typeface="Rajdhani"/>
              </a:rPr>
              <a:t>P</a:t>
            </a:r>
            <a:r>
              <a:rPr sz="3750" b="1" i="0" u="none" dirty="0">
                <a:solidFill>
                  <a:srgbClr val="58A6FF"/>
                </a:solidFill>
                <a:latin typeface="Rajdhani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2733675"/>
            <a:ext cx="85725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8B949E"/>
                </a:solidFill>
                <a:latin typeface="Share Tech Mono"/>
              </a:rPr>
              <a:t>PLC Alapismeretek – 30. hét</a:t>
            </a:r>
            <a:r>
              <a:t>
</a:t>
            </a:r>
            <a:r>
              <a:rPr sz="1800" b="1" i="0" u="none">
                <a:solidFill>
                  <a:srgbClr val="58A6FF"/>
                </a:solidFill>
                <a:latin typeface="Share Tech Mono"/>
              </a:rPr>
              <a:t>Kiberbiztonság az ipari automatizálásban – Zero Trust és IEC 62443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Fő kérdés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4398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Hogyan védhetők meg a PLC-k, HMI-k és SCADA rendszerek a kibertámadásokkal szemben a mai nyitott, összekapcsolt ipari környezetben?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85363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Fő fejlesztők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5775" y="332601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IEC, ISA, Siemens, Schneider Electric, Rockwell Automation, Cisco és Fortinet szabványosítási és technológiai úttörői.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Evolúció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84398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zárt PLC-hálózatoktól eljutottunk a felhőkapcsolattal rendelkező intelligens üzemekig, ahol a kiberbiztonság már nem extra funkció, hanem alapkövetelmény.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27869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78695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Elszigetelt rendszerek: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Fizikai védelemre hagyatkozás.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0" y="31584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3158430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Modern kor: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IP-alapú kommunikáció, külső elérések, fejlett kártevők (pl. Stuxnet).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A világ nagy kérdése és a technika története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752600"/>
            <a:ext cx="2019597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913" y="1752600"/>
            <a:ext cx="2019597" cy="1962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052" y="1752600"/>
            <a:ext cx="2019597" cy="1962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91" y="1752600"/>
            <a:ext cx="2019597" cy="1962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329" y="1752600"/>
            <a:ext cx="2019597" cy="19621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85775" y="272415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305" y="1905000"/>
            <a:ext cx="1800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1970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" y="2362200"/>
            <a:ext cx="1714797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Zárt PLC-rendszerek (légtér-szigetelés)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5443" y="1905000"/>
            <a:ext cx="1800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1990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38313" y="2362200"/>
            <a:ext cx="171479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Ethernet megjelenése az iparban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5582" y="1905000"/>
            <a:ext cx="1800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8452" y="2362200"/>
            <a:ext cx="171479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Célzott ipari kiber-támadások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5721" y="1905000"/>
            <a:ext cx="1800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2013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8591" y="2362200"/>
            <a:ext cx="171479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IEC 62443 szabvány elterjedése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859" y="1905000"/>
            <a:ext cx="180053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>
                <a:solidFill>
                  <a:srgbClr val="F0883E"/>
                </a:solidFill>
                <a:latin typeface="Rajdhani"/>
              </a:rPr>
              <a:t>Napjaink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38729" y="2362200"/>
            <a:ext cx="1714797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Zero Trust architektúra bevezetése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Az ipari kiberbiztonság idővonala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8918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8918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148905"/>
            <a:ext cx="4829175" cy="1076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Célok és Alapelvek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139255"/>
            <a:ext cx="4829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ipari rendszerek biztonságának három alappillére: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Tanulási célok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139255"/>
            <a:ext cx="4829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ipari kiberbiztonság, a Zero Trust szemlélet és az IEC 62443 szabvány alapelveinek teljes körű megismerése és mérnöki szintű alkalmazása.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25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282505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Bizalmasság (Confidentiality):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Az adatokhoz csak az arra jogosultak férhetnek hozzá.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4537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45370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Sértetlenség (Integrity):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 vezérlési parancsok és adatok megmásíthatatlansága.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823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082355"/>
            <a:ext cx="4638675" cy="77152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Rendelkezésre állás (Availability):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A gyártás folyamatos, leállásmentes biztosítása (kritikus az OT-ben!).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3329880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58A6FF"/>
                </a:solidFill>
                <a:latin typeface="Share Tech Mono"/>
              </a:rPr>
              <a:t>Fókuszban: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Elméleti alapok: A CIA Triász az iparban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371600"/>
            <a:ext cx="5419725" cy="2910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1543050"/>
            <a:ext cx="54197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hagyományos kerületvédelmi (perimeter-based) biztonság ma már nem elegendő. A Zero Trust modell alapelve, hogy semmit sem tekintünk megbízhatónak alapértelmezés szerint – még a belső hálózaton belül sem.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276225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Fő elemek: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0631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063180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Hitelesítés és szigorú MFA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4346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43465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Jogosultságkezelés (Least Privilege)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8061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806130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Folyamatos munkamenet-ellenőrzés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150" y="1619250"/>
            <a:ext cx="5170646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Architekturális elemek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348930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8B949E"/>
                </a:solidFill>
                <a:latin typeface="Share Tech Mono"/>
              </a:rPr>
              <a:t>Minden felhasználót és eszközt minden hozzáféréskor hitelesíteni és vizsgálni kell.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63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4650" y="2063055"/>
            <a:ext cx="47339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Mikro-szegmentálás: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Hálózatok szétválasztása zónákra, közvetlen átjárások tiltása.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6917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4650" y="2691705"/>
            <a:ext cx="47339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Naplózás és monitorozás: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Minden esemény valós idejű elemzése, anomália-detekció.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Zero Trust szemlélet: „Soha ne bízz, mindig ellenőrizz!”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682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682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Fő területek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2139255"/>
            <a:ext cx="482917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 ipari automatizálási és vezérlőrendszerek (IACS) kiberbiztonságának nemzetközi szabványa.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Hét alapvető követelmény (FR)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825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2825055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Általános alapelvek és fogalmak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1965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19653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Biztonsági folyamatok (Policy &amp; Management)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5680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3568005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Rendszerszintű követelmények (System)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9394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3939480"/>
            <a:ext cx="463867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Ezközszintű követelmények (Component)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212020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2120205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Azonosítás és hitelesítés (UA)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24916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2491680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Jogosultságkezelés (UC)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286315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2863155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Rendszerintegritás (SI)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1775" y="323463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2275" y="3234630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Adatbizalmasság (DC)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360610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2275" y="3606105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Adatforgalom korlátozása (RDF)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39775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2275" y="3977580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Eseménykezelés (TRE)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434905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4349055"/>
            <a:ext cx="463867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Rendelkezésre állás (RA)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IEC 62443 szabványcsalád részletesen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815405"/>
            <a:ext cx="5419725" cy="23200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Ajánlott hálózati felépítés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Szegmentálás előnyei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1843980"/>
            <a:ext cx="54197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zónákra osztás (Zoning) és csatornák korlátozása (Conduits) gátat szab a támadások oldalirányú terjedésének (lateral movement).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27869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2786955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Ha egy vállalati gép fertőződik, a PLC-k védve maradnak.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1750" y="34156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415605"/>
            <a:ext cx="522922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kritikus folyamatok elkülönülnek az irodai hálózattól.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Zónák és kommunikációs csatornák (Zones &amp; Conduits)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5203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520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Hogyan működik a háttérben?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2139255"/>
            <a:ext cx="4829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Biztonságos távelérés folyamata: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567880"/>
            <a:ext cx="4829175" cy="876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050" y="3596580"/>
            <a:ext cx="48291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Minden hozzáférést hitelesíteni és naplózni kell!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Ipari esettanulmány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139255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Forgatókönyv: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Egy külsős karbantartó csak VPN-en keresztül, többfaktoros hitelesítéssel (MFA) és időbélyeggel ellátott jogosultsággal érheti el a kritikus PLC-t.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3394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333940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Minden módosítás automatikus naplózásra kerül a SIEM rendszerben.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39680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2275" y="3968055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munkamenet végeztével a hozzáférés azonnal megszűnik.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Biztonság a gyakorlatban: Esettanulmány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Laborfeladat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43980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Tervezzen biztonságos hálózati architektúrát egy gyártósor számára, amely tartalmazza: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Tervezési példa – Zónák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18439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Osszon fel egy üzemet alábbi zónákra: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387030"/>
            <a:ext cx="54197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8B949E"/>
                </a:solidFill>
                <a:latin typeface="Share Tech Mono"/>
              </a:rPr>
              <a:t>Jelölje a közöttük lévő szűrőket (Firewall / Conduits).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5297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2529780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PLC és HMI eszközök elszigetelését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29012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290125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SCADA felügyeleti réteget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32727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272730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Központi tűzfalat és DMZ-t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227260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227260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Zóna 1: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Vállalati irodák (Enterprise)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26440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2644080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Zóna 2: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Felügyelet és Historian (SCADA)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015555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015555"/>
            <a:ext cx="5229225" cy="2571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Zóna 3: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Vezérlési sziget (PLC, I/O busz)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Laborfeladat és Tervezési Példa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371600"/>
            <a:ext cx="5419725" cy="35489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71600"/>
            <a:ext cx="5419725" cy="35489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101280"/>
            <a:ext cx="4829175" cy="1057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050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85149"/>
                </a:solidFill>
                <a:latin typeface="Rajdhani"/>
              </a:rPr>
              <a:t>⚠️ Tipikus hibák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1666875"/>
            <a:ext cx="5070633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139255"/>
            <a:ext cx="482917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legtöbb ipari biztonsági incidens nem "High-Tech" hackertámadás, hanem egyszerű konfigurációs, jogosultsági vagy emberi hibára vezethető vissza.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1106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211068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Gyári alapértelmezett jelszavak használata a PLC-n és HMI-n.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7393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273933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Minden kezelő "rendszergazda" jogosultsággal bír.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36798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336798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Hiányzó firmware frissítések (ismeretlen sebezhetőségek).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9966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3996630"/>
            <a:ext cx="4638675" cy="514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A PLC közvetlen, védelem nélküli internetkapcsolata.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Műhelytitok és Tipikus Hibák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58A6FF"/>
                </a:solidFill>
                <a:latin typeface="Rajdhani"/>
              </a:rPr>
              <a:t>IAA Mesterfeladat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5775" y="1843980"/>
            <a:ext cx="54197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Tervezzen IEC 62443 elvei szerint felépített biztonságos PLC-hálózatot egy vegyipari reaktor vezérléséhez, és részletesen mutassa be, hogyan érvényesül benne a Zero Trust szemlélet!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Gondolkodjunk mérnökként!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29375" y="1815405"/>
            <a:ext cx="52768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1" u="none">
                <a:solidFill>
                  <a:srgbClr val="C9D1D9"/>
                </a:solidFill>
                <a:latin typeface="Share Tech Mono"/>
              </a:rPr>
              <a:t> „A biztonság nem egy egyszeri termék, hanem egy folyamatos mérnöki tevékenység.” </a:t>
            </a:r>
          </a:p>
        </p:txBody>
      </p:sp>
      <p:sp>
        <p:nvSpPr>
          <p:cNvPr id="7" name="Rectangle 6"/>
          <p:cNvSpPr/>
          <p:nvPr/>
        </p:nvSpPr>
        <p:spPr>
          <a:xfrm>
            <a:off x="6286500" y="1815405"/>
            <a:ext cx="28575" cy="5715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6500" y="2558355"/>
            <a:ext cx="54197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1" u="none">
                <a:solidFill>
                  <a:srgbClr val="8B949E"/>
                </a:solidFill>
                <a:latin typeface="Share Tech Mono"/>
              </a:rPr>
              <a:t>„A digitalizáció csak akkor érték, ha a rendszereinket ugyanolyan tudatosan védjük 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IAA Mesterfeladat és Mérnöki Szemlélet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5775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F0883E"/>
                </a:solidFill>
                <a:latin typeface="Rajdhani"/>
              </a:rPr>
              <a:t>❓ Önellenőrző kérdések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1371600"/>
            <a:ext cx="5690711" cy="300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9"/>
              </a:lnSpc>
            </a:pPr>
            <a:r>
              <a:rPr sz="1579" b="1" i="0" u="none">
                <a:solidFill>
                  <a:srgbClr val="3FB950"/>
                </a:solidFill>
                <a:latin typeface="Rajdhani"/>
              </a:rPr>
              <a:t>📖 Főbb szakkifejezések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17677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275" y="1767780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Mit jelent a Zero Trust modell?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5775" y="213925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275" y="2139255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 az IEC 62443 szabvány célja?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251073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275" y="2510730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 a DMZ szerepe az ipari hálózatban?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2882205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2882205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Miért fontos a hálózati szegmentálás?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775" y="3253680"/>
            <a:ext cx="190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C9D1D9"/>
                </a:solidFill>
                <a:latin typeface="Share Tech Mono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3253680"/>
            <a:ext cx="5229225" cy="25717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9D1D9"/>
                </a:solidFill>
                <a:latin typeface="Share Tech Mono"/>
              </a:rPr>
              <a:t>Mi az MFA és miért kritikus?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17677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IEC 62443: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Ipari kiberbiztonsági szabványsorozat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139255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Zero Trust: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Soha ne bízz, mindig ellenőrizz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251073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DMZ: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Demilitarizált zóna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2882205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VPN: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Virtual Private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253680"/>
            <a:ext cx="541972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C9D1D9"/>
                </a:solidFill>
                <a:latin typeface="Share Tech Mono"/>
              </a:rPr>
              <a:t>MFA:</a:t>
            </a:r>
            <a:r>
              <a:rPr sz="1350" b="0" i="0" u="none">
                <a:solidFill>
                  <a:srgbClr val="C9D1D9"/>
                </a:solidFill>
                <a:latin typeface="Share Tech Mono"/>
              </a:rPr>
              <a:t> Multi-Factor 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5775" y="485775"/>
            <a:ext cx="117062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58A6FF"/>
                </a:solidFill>
                <a:latin typeface="Rajdhani"/>
              </a:rPr>
              <a:t>Önellenőrző kérdések és Szakkifejezések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5775" y="1066800"/>
            <a:ext cx="11220450" cy="1905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0673" y="2228850"/>
            <a:ext cx="523065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3600" b="1" i="0" u="none">
                <a:solidFill>
                  <a:srgbClr val="3FB950"/>
                </a:solidFill>
                <a:latin typeface="Rajdhani"/>
              </a:rPr>
              <a:t>🔜 Következő hét (31. hét)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242" y="3295650"/>
            <a:ext cx="1116151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C9D1D9"/>
                </a:solidFill>
                <a:latin typeface="Share Tech Mono"/>
              </a:rPr>
              <a:t>Az ipari kommunikáció jövője – 5G, Edge Computing és mesterséges intelligencia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5725" y="4343400"/>
            <a:ext cx="4400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8B949E"/>
                </a:solidFill>
                <a:latin typeface="Share Tech Mono"/>
              </a:rPr>
              <a:t>Integrált Automatika Akadémia (IAA)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886</Words>
  <Application>Microsoft Office PowerPoint</Application>
  <PresentationFormat>Szélesvásznú</PresentationFormat>
  <Paragraphs>152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Rajdhani</vt:lpstr>
      <vt:lpstr>Share Tech Mono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2026-08-02T13:19:14Z</dcterms:modified>
  <cp:category/>
</cp:coreProperties>
</file>