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9" d="100"/>
          <a:sy n="49" d="100"/>
        </p:scale>
        <p:origin x="96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5775" y="2119312"/>
            <a:ext cx="11220450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38BDF8"/>
                </a:solidFill>
                <a:latin typeface="Plus Jakarta Sans SemiBold"/>
              </a:rPr>
              <a:t>INTEGRÁLT AUTOMATIKA </a:t>
            </a:r>
            <a:r>
              <a:rPr lang="hu-HU" sz="1500" dirty="0">
                <a:solidFill>
                  <a:srgbClr val="38BDF8"/>
                </a:solidFill>
                <a:latin typeface="Plus Jakarta Sans SemiBold"/>
              </a:rPr>
              <a:t>PROGRAM </a:t>
            </a:r>
            <a:r>
              <a:rPr sz="1500" b="0" i="0" u="none" dirty="0">
                <a:solidFill>
                  <a:srgbClr val="38BDF8"/>
                </a:solidFill>
                <a:latin typeface="Plus Jakarta Sans SemiBold"/>
              </a:rPr>
              <a:t>(IA</a:t>
            </a:r>
            <a:r>
              <a:rPr lang="hu-HU" sz="1500" b="0" i="0" u="none" dirty="0">
                <a:solidFill>
                  <a:srgbClr val="38BDF8"/>
                </a:solidFill>
                <a:latin typeface="Plus Jakarta Sans SemiBold"/>
              </a:rPr>
              <a:t>P</a:t>
            </a:r>
            <a:r>
              <a:rPr sz="1500" b="0" i="0" u="none" dirty="0">
                <a:solidFill>
                  <a:srgbClr val="38BDF8"/>
                </a:solidFill>
                <a:latin typeface="Plus Jakarta Sans SemiBold"/>
              </a:rPr>
              <a:t>) • 32.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5775" y="2500312"/>
            <a:ext cx="11706225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950"/>
              </a:lnSpc>
            </a:pPr>
            <a:r>
              <a:rPr sz="4500" b="1" i="0" u="none">
                <a:solidFill>
                  <a:srgbClr val="F8FAFC"/>
                </a:solidFill>
                <a:latin typeface="Space Grotesk"/>
              </a:rPr>
              <a:t>Cloud Manufacturing – Felhőalapú ipari rendszerek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775" y="3995737"/>
            <a:ext cx="85725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94A3B8"/>
                </a:solidFill>
                <a:latin typeface="Plus Jakarta Sans"/>
              </a:rPr>
              <a:t>„A modern gyár nem ér véget a gyártócsarnok falainál – működése bárhonnan biztonságosan felügyelhető.”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481262"/>
            <a:ext cx="5419725" cy="26384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481262"/>
            <a:ext cx="5419725" cy="2638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776537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🌍 Alapkérdés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2995612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Hogyan lehet több gyár termelési adatait egyetlen egységes rendszerben kezelni, elemezni és optimalizálni a globális versenyképesség érdekében?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3914775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Tanulási célok: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A Cloud Manufacturing működésének, előnyeinek és szoros kapcsolatának megértése a PLC-vel és az Edge Computinggal.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2776537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📖 A technika fejlődése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2995612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A helyi PLC-rendszerektől és szigetüzemektől a virtualizáción át eljutottunk a modern, skálázható felhőalapú ipari szolgáltatásokig.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6550" y="3864768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2275" y="3867150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Helyi szint: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Valós idejű, determinisztikus vezérlés (PLC).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6550" y="4221956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2275" y="4224337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Felhő szint: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Hosszútávú elemzés, prediktív karbantartás és konszolidáció.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A világ nagy kérdése és története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85775" y="1838325"/>
            <a:ext cx="11220450" cy="3924300"/>
          </a:xfrm>
          <a:prstGeom prst="roundRect">
            <a:avLst>
              <a:gd name="adj" fmla="val 0"/>
            </a:avLst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85775" y="1838325"/>
          <a:ext cx="11210924" cy="3924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6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71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7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8FAFC"/>
                          </a:solidFill>
                          <a:latin typeface="Space Grotesk SemiBold"/>
                        </a:rPr>
                        <a:t>Évszám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8FAFC"/>
                          </a:solidFill>
                          <a:latin typeface="Space Grotesk SemiBold"/>
                        </a:rPr>
                        <a:t>Fejlődési Mérföldkő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8FAFC"/>
                          </a:solidFill>
                          <a:latin typeface="Space Grotesk SemiBold"/>
                        </a:rPr>
                        <a:t>Fő Jellemzők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1990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Helyi szerverek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Szigetüzemű rendszerek, helyi adatbázisok, minimális külső elérés.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2005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Virtualizáció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Szerverek konszolidációja, rugalmasabb IT infrastruktúra gyári szinten.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2010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Ipari felhő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Megjelennek az első dedikált ipari felhőalapú adattárolók és vizualizációk.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2015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IIoT (Industrial IoT)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Milliónyi érzékelő csatlakoztatása szabványos protokollokon keresztül.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2020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Edge + Cloud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Helyi előszűrés (Edge) és globális elemzés (Cloud) harmonikus együttműködése.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616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Napjaink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Multi-Cloud és AI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Mesterséges intelligencia, több felhőszolgáltató integrációja, autonóm gyárak.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0537" y="2405062"/>
            <a:ext cx="12561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746646" y="2405062"/>
            <a:ext cx="236711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3758" y="2405062"/>
            <a:ext cx="758770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90537" y="2962275"/>
            <a:ext cx="12561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746646" y="2962275"/>
            <a:ext cx="236711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3758" y="2962275"/>
            <a:ext cx="758770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0537" y="3519487"/>
            <a:ext cx="12561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746646" y="3519487"/>
            <a:ext cx="236711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3758" y="3519487"/>
            <a:ext cx="758770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0537" y="4076700"/>
            <a:ext cx="12561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746646" y="4076700"/>
            <a:ext cx="236711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3758" y="4076700"/>
            <a:ext cx="758770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90537" y="4633912"/>
            <a:ext cx="12561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746646" y="4633912"/>
            <a:ext cx="236711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13758" y="4633912"/>
            <a:ext cx="758770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90537" y="5191125"/>
            <a:ext cx="12561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746646" y="5191125"/>
            <a:ext cx="236711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3758" y="5191125"/>
            <a:ext cx="758770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90537" y="5748337"/>
            <a:ext cx="12561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746646" y="5748337"/>
            <a:ext cx="236711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13758" y="5748337"/>
            <a:ext cx="758770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Technológiai Idővonal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574131"/>
            <a:ext cx="5467350" cy="24526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574131"/>
            <a:ext cx="5467350" cy="24526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3507581"/>
            <a:ext cx="512064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Ipari Automatizálás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888581"/>
            <a:ext cx="48768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Siemens, Schneider Electric, ABB, Rockwell Automation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– hardverek, SCADA rendszerek, PLC-k és helyi terepi kapcsolatok biztosítói.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3507581"/>
            <a:ext cx="512064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Felhőplatform Gyártók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3888581"/>
            <a:ext cx="48768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Microsoft Azure, Amazon Web Services (AWS), Google Cloud, IBM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– nagy teljesítményű számítási kapacitás, adattárolás és AI szolgáltatások.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926556"/>
            <a:ext cx="409575" cy="3619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4150" y="2926556"/>
            <a:ext cx="457200" cy="3619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Kulcsszereplők az Ipari Ökoszisztémában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59856"/>
            <a:ext cx="5419725" cy="228123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59856"/>
            <a:ext cx="5419725" cy="22812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955131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⚙️ PLC vs. Felhő Megosztás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174206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A </a:t>
            </a:r>
            <a:r>
              <a:rPr sz="1275" b="1" i="0" u="none">
                <a:solidFill>
                  <a:srgbClr val="CBD5E1"/>
                </a:solidFill>
                <a:latin typeface="Plus Jakarta Sans"/>
              </a:rPr>
              <a:t>PLC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lokalitásban vezérel valós időben, míg a </a:t>
            </a:r>
            <a:r>
              <a:rPr sz="1275" b="1" i="0" u="none">
                <a:solidFill>
                  <a:srgbClr val="CBD5E1"/>
                </a:solidFill>
                <a:latin typeface="Plus Jakarta Sans"/>
              </a:rPr>
              <a:t>Felhő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nagy mennyiségű adatot gyűjt, tárol, elemez és vezetői döntéstámogatást készít.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4045743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1" u="none">
                <a:solidFill>
                  <a:srgbClr val="CBD5E1"/>
                </a:solidFill>
                <a:latin typeface="Plus Jakarta Sans"/>
              </a:rPr>
              <a:t>„A felhő nem helyettesíti a vezérlést – összekapcsolja az információkat.”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2955131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☁️ Szolgáltatási Modellek (XaaS)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6550" y="3171825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2275" y="3174206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IaaS: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Infrastruktúra (virtuális szerverek, tárhelyek, hálózat).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6550" y="352901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2275" y="353139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PaaS: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Fejlesztői platform (alkalmazásfejlesztés, IoT hubok).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6550" y="3886200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2275" y="3888581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SaaS: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Kész alkalmazások böngészőből (pl. OEE dashboardok, ERP).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Elméleti Alapok és Felhőszolgáltatások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9150" y="2971800"/>
            <a:ext cx="108870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Érzékelők &amp; PLC: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A fizikai folyamatok mérése és determinisztikus helyi vezérlése milliszekundumos ciklusidővel.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" y="3386137"/>
            <a:ext cx="108870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Edge Számítástechnika: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Helyi adatszűrés, aggregálás, sávszélesség-optimalizálás és azonnali vészreakciók.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" y="3800475"/>
            <a:ext cx="108870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SCADA &amp; OPC UA: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Helyi vizualizáció és biztonságos, szabványosított ipari adatközvetítő protokoll.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" y="4214812"/>
            <a:ext cx="108870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Cloud Platform &amp; MES / ERP / AI: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Globális adattárház, üzleti logikai rendszerek és gépi tanulás alapú előrejelzések.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995612"/>
            <a:ext cx="1905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3409950"/>
            <a:ext cx="238125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75" y="3824287"/>
            <a:ext cx="219075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" y="4238625"/>
            <a:ext cx="238125" cy="200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Hogyan működik a háttérben? (Adatáramlás)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559843"/>
            <a:ext cx="5419725" cy="24812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559843"/>
            <a:ext cx="5419725" cy="24812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8551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⚡ Edge vagy Cloud?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074193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Edge: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Gyors, helyi döntések, alacsony késleltetés (latencia), internetfüggetlen vészleállások.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3674268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Cloud: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Hosszú távú adattárolás, komplex Big Data elemzés, globális konszolidált hozzáférés.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28551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🔐 Felhőbiztonság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074193"/>
            <a:ext cx="48291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Ipari környezetben elengedhetetlen a védelem: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6550" y="3429000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2275" y="3431381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Titkosított kommunikáció (TLS / VPN).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6550" y="3786187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2275" y="3788568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Többlépcsős azonosítás (MFA) és szerepkör alapú jogosultságkezelés.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438626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2275" y="438864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Rendszeres naplózás, biztonsági mentések és adatvédelem.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Edge vs. Cloud és Rendszerbiztonság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74143"/>
            <a:ext cx="5419725" cy="22526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74143"/>
            <a:ext cx="5419725" cy="2252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9694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🏭 Többtelephelyes Esettanulmány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188493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Egy nemzetközi gyártóvállalat központi felhőből monitorozza 5 gyár valós idejű OEE mutatóit, energiafogyasztását és kritikus gépállapotait, csökkentve a nem tervezett állásidőt.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29694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🧪 Laborfeladat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188493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Architektúra tervezése: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Készítsen átfogó modellt az alábbi elemek összekapcsolásával: </a:t>
            </a:r>
            <a:r>
              <a:rPr sz="1275" b="0" i="1" u="none">
                <a:solidFill>
                  <a:srgbClr val="CBD5E1"/>
                </a:solidFill>
                <a:latin typeface="Plus Jakarta Sans"/>
              </a:rPr>
              <a:t>PLC – HMI – SCADA – Edge – Cloud – MES – ERP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4031456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Jelölje meg nyilakkal az adatáramlás irányát és a protokollokat (pl. OPC UA, MQTT).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Ipari Esettanulmány &amp; Laborfeladat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59856"/>
            <a:ext cx="5419725" cy="228123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59856"/>
            <a:ext cx="5419725" cy="22812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955131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📊 Napi 2 TB adat kezelése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174206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Helyben marad: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Magas frekvenciájú tengelyvezérlési adatok, biztonsági interlockok (milliszekundumos igény).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3774281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Felhőbe kerül: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Trendek, energiagörbék, minőségellenőrzési statisztikák, karbantartási logok.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2955131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🔧 Műhelytitok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174206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„A jól megtervezett rendszerben a felhő nem váltja ki a PLC-t, hanem kiegészíti annak működését.”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1775" y="3802856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A hálózati kapcsolat megszakadása esetén a gyárnak önállóan, biztonságosan tovább kell tudnia termelni (Local Autonomous Operation).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Tervezési Példa &amp; Műhelytitok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438400"/>
            <a:ext cx="5419725" cy="2724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438400"/>
            <a:ext cx="5419725" cy="2724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733675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⚠️ Tipikus Hibák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775" y="2733675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🎓 IAA Mesterfeladat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2952750"/>
            <a:ext cx="4829175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Tervezzen teljes körű felhőalapú gyártásfelügyeleti rendszert PLC, Edge, SCADA, OPC UA, Cloud, MES, ERP és AI modulok integrálásával egy komplex autóipari alkatrészgyártó sor számára.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" y="2950368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2952750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Minden nyers adat válogatás nélküli felhőbe küldése (sávszélesség-pazarlás).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550443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552825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Gyenge, alapértelmezett jelszavakon alapuló jogosultságkezelés.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4150518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4152900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Internethálózattól függő, kritikus gépi vezérlések.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507706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550" y="4510087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Hiányzó offline mentési stratégiák.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Tipikus Hibák &amp; IAA Mesterfeladat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502693"/>
            <a:ext cx="5419725" cy="25955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502693"/>
            <a:ext cx="5419725" cy="2595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79796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💬 Mérnöki Idézet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775" y="279796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❓ Önellenőrző Kérdések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3017043"/>
            <a:ext cx="4829175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F8FAFC"/>
                </a:solidFill>
                <a:latin typeface="Space Grotesk SemiBold"/>
              </a:rPr>
              <a:t>„Az intelligens gyár ereje a rendszerek együttműködésében rejlik.”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" y="3799879"/>
            <a:ext cx="2952750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94A3B8"/>
                </a:solidFill>
                <a:latin typeface="Plus Jakarta Sans"/>
              </a:rPr>
              <a:t>— Integrált Automatika Akadémia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6550" y="301466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2275" y="301704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Mit jelent a Cloud Manufacturing?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6550" y="3371850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2275" y="3374231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 a különbség az Edge és a Cloud között?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6550" y="3729037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2275" y="3731418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Mit jelent az IaaS, PaaS és SaaS?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6550" y="4086225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4088606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Miért marad a PLC helyi vezérlő?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6550" y="444341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2275" y="444579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Milyen előnyei vannak a felhőalapú gyártásnak?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Mérnöki Szemlélet &amp; Önellenőrzés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16993"/>
            <a:ext cx="5419725" cy="23669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16993"/>
            <a:ext cx="5419725" cy="23669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91226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📖 Szótár (Rövidítések)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131343"/>
            <a:ext cx="4829175" cy="1000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1" i="0" u="none">
                <a:solidFill>
                  <a:srgbClr val="CBD5E1"/>
                </a:solidFill>
                <a:latin typeface="Plus Jakarta Sans"/>
              </a:rPr>
              <a:t>Cloud: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Felhőalapú számítástechnika</a:t>
            </a:r>
            <a:r>
              <a:t>
</a:t>
            </a:r>
            <a:r>
              <a:rPr sz="1125" b="1" i="0" u="none">
                <a:solidFill>
                  <a:srgbClr val="CBD5E1"/>
                </a:solidFill>
                <a:latin typeface="Plus Jakarta Sans"/>
              </a:rPr>
              <a:t>IaaS / PaaS / SaaS: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Szolgáltatási modellek</a:t>
            </a:r>
            <a:r>
              <a:t>
</a:t>
            </a:r>
            <a:r>
              <a:rPr sz="1125" b="1" i="0" u="none">
                <a:solidFill>
                  <a:srgbClr val="CBD5E1"/>
                </a:solidFill>
                <a:latin typeface="Plus Jakarta Sans"/>
              </a:rPr>
              <a:t>Edge Computing: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Helyi adatfeldolgozás</a:t>
            </a:r>
            <a:r>
              <a:t>
</a:t>
            </a:r>
            <a:r>
              <a:rPr sz="1125" b="1" i="0" u="none">
                <a:solidFill>
                  <a:srgbClr val="CBD5E1"/>
                </a:solidFill>
                <a:latin typeface="Plus Jakarta Sans"/>
              </a:rPr>
              <a:t>OPC UA: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Ipari interoperabilitási protokoll</a:t>
            </a:r>
            <a:r>
              <a:t>
</a:t>
            </a:r>
            <a:r>
              <a:rPr sz="1125" b="1" i="0" u="none">
                <a:solidFill>
                  <a:srgbClr val="CBD5E1"/>
                </a:solidFill>
                <a:latin typeface="Plus Jakarta Sans"/>
              </a:rPr>
              <a:t>MES / ERP:</a:t>
            </a:r>
            <a:r>
              <a:rPr sz="1125" b="0" i="0" u="none">
                <a:solidFill>
                  <a:srgbClr val="CBD5E1"/>
                </a:solidFill>
                <a:latin typeface="Plus Jakarta Sans"/>
              </a:rPr>
              <a:t> Vállalatirányítási szintek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291226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🔜 Következő Hét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131343"/>
            <a:ext cx="4829175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33. hét: Smart Factory – Az intelligens gyár működése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845718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Megvizsgáljuk az ipar 4.0 csúcsát, az autonóm logisztikát, a digitális ikreket (Digital Twin) és a teljesen automatizált gyártósorokat.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Szakkifejezések és Következő Hét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878</Words>
  <Application>Microsoft Office PowerPoint</Application>
  <PresentationFormat>Szélesvásznú</PresentationFormat>
  <Paragraphs>114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9" baseType="lpstr">
      <vt:lpstr>Arial</vt:lpstr>
      <vt:lpstr>Calibri</vt:lpstr>
      <vt:lpstr>Plus Jakarta Sans</vt:lpstr>
      <vt:lpstr>Plus Jakarta Sans SemiBold</vt:lpstr>
      <vt:lpstr>Space Grotesk</vt:lpstr>
      <vt:lpstr>Space Grotesk SemiBold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>Fazekas Zsolt</dc:creator>
  <cp:keywords/>
  <dc:description>generated using python-pptx</dc:description>
  <cp:lastModifiedBy>zsolt Fazekas</cp:lastModifiedBy>
  <cp:revision>2</cp:revision>
  <dcterms:created xsi:type="dcterms:W3CDTF">2013-01-27T09:14:16Z</dcterms:created>
  <dcterms:modified xsi:type="dcterms:W3CDTF">2026-08-02T13:46:16Z</dcterms:modified>
  <cp:category/>
</cp:coreProperties>
</file>