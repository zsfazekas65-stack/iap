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109728" cy="438912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60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FDDF2"/>
                </a:solidFill>
                <a:latin typeface="Aptos"/>
              </a:defRPr>
            </a:pPr>
            <a:r>
              <a:t>17. HÉT • 49–51. TANÓRA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08760"/>
            <a:ext cx="9875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"/>
              </a:defRPr>
            </a:pPr>
            <a:r>
              <a:t>Földelés,</a:t>
            </a:r>
            <a:br/>
            <a:r>
              <a:t>folytonosság és hibahurok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FDDF2"/>
                </a:solidFill>
                <a:latin typeface="Aptos"/>
              </a:defRPr>
            </a:pPr>
            <a:r>
              <a:t>Hibavédelem 5/6.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9319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Nem az alkatrészeket tanuljuk külön.</a:t>
            </a:r>
            <a:br/>
            <a:r>
              <a:t>A teljes védelmi láncot értjük meg.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080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FDDF2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6AB"/>
                </a:solidFill>
                <a:latin typeface="Aptos"/>
              </a:defRPr>
            </a:pPr>
            <a:r>
              <a:t>KAPCSOLÓDÁS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741"/>
                </a:solidFill>
                <a:latin typeface="Aptos"/>
              </a:defRPr>
            </a:pPr>
            <a:r>
              <a:t>Hol tartunk a hibavédelemben?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8"/>
                </a:solidFill>
                <a:latin typeface="Aptos"/>
              </a:defRPr>
            </a:pPr>
            <a:r>
              <a:t>A 15–17. hét egyetlen gondolatmenet.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8"/>
                </a:solidFill>
                <a:latin typeface="Aptos"/>
              </a:defRPr>
            </a:pPr>
            <a:r>
              <a:t>IAP • Villamos szerelések • 11. évfolyam • 17.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C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337560" cy="242316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64008" cy="242316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3134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15. hét – Automatikus lekapcsolás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743200"/>
            <a:ext cx="2971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hibaáram • Zₛ • védelmi készülék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337560" cy="242316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64008" cy="242316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3134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16. hét – ÁVK / RCD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43200"/>
            <a:ext cx="2971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maradékáram • IΔn • N–PE hibák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337560" cy="242316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148840"/>
            <a:ext cx="64008" cy="242316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3134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6D6"/>
                </a:solidFill>
                <a:latin typeface="Aptos"/>
              </a:defRPr>
            </a:pPr>
            <a:r>
              <a:t>17. hét – Védővezetői út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743200"/>
            <a:ext cx="2971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földelés • folytonosság • hibahurok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6AB"/>
                </a:solidFill>
                <a:latin typeface="Aptos"/>
              </a:defRPr>
            </a:pPr>
            <a:r>
              <a:t>RENDSZERSZEMLÉLET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741"/>
                </a:solidFill>
                <a:latin typeface="Aptos"/>
              </a:defRPr>
            </a:pPr>
            <a:r>
              <a:t>Mi történik testzárlatkor?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8"/>
                </a:solidFill>
                <a:latin typeface="Aptos"/>
              </a:defRPr>
            </a:pPr>
            <a:r>
              <a:t>A védelem csak zárt, ellenőrizhető hibaáramúttal működik.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8"/>
                </a:solidFill>
                <a:latin typeface="Aptos"/>
              </a:defRPr>
            </a:pPr>
            <a:r>
              <a:t>IAP • Villamos szerelések • 11. évfolyam • 17.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C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965960" cy="150876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64008" cy="150876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49631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926079"/>
            <a:ext cx="160020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FORRÁS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803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A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331720"/>
            <a:ext cx="1965960" cy="150876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331720"/>
            <a:ext cx="64008" cy="150876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49631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HIBAHELY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926079"/>
            <a:ext cx="160020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fémtest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8803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A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331720"/>
            <a:ext cx="1965960" cy="150876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331720"/>
            <a:ext cx="64008" cy="150876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49631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PE / 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926079"/>
            <a:ext cx="160020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védővezető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803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A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2331720"/>
            <a:ext cx="1965960" cy="150876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2331720"/>
            <a:ext cx="64008" cy="150876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249631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FORRÁS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2926079"/>
            <a:ext cx="160020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visszatérés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434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2741"/>
                </a:solidFill>
                <a:latin typeface="Aptos"/>
              </a:defRPr>
            </a:pPr>
            <a:r>
              <a:t>Ha a PE útja megszakad vagy az impedancia túl nagy, a veszélyes állapot fennmaradhat.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6AB"/>
                </a:solidFill>
                <a:latin typeface="Aptos"/>
              </a:defRPr>
            </a:pPr>
            <a:r>
              <a:t>ALAPFOGALMAK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741"/>
                </a:solidFill>
                <a:latin typeface="Aptos"/>
              </a:defRPr>
            </a:pPr>
            <a:r>
              <a:t>Földelés: négy elem, amit nem szabad összekeverni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8"/>
                </a:solidFill>
                <a:latin typeface="Aptos"/>
              </a:defRPr>
            </a:pPr>
            <a:r>
              <a:t>IAP • Villamos szerelések • 11. évfolyam • 17.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C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57800" cy="150876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64008" cy="150876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Földelő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68879"/>
            <a:ext cx="48920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A talajjal villamos kapcsolatban álló vezetőképes rész.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257800" cy="150876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64008" cy="150876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0391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6D6"/>
                </a:solidFill>
                <a:latin typeface="Aptos"/>
              </a:defRPr>
            </a:pPr>
            <a:r>
              <a:t>Földelővezető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468879"/>
            <a:ext cx="48920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A földelőt a fő földelőkapocshoz kapcsolja.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5257800" cy="150876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94760"/>
            <a:ext cx="64008" cy="1508760"/>
          </a:xfrm>
          <a:prstGeom prst="rect">
            <a:avLst/>
          </a:prstGeom>
          <a:solidFill>
            <a:srgbClr val="26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9593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875B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389120"/>
            <a:ext cx="48920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A testek hibavédelmi összekötésének alapvető vezetője.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94760"/>
            <a:ext cx="5257800" cy="150876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794760"/>
            <a:ext cx="64008" cy="1508760"/>
          </a:xfrm>
          <a:prstGeom prst="rect">
            <a:avLst/>
          </a:prstGeom>
          <a:solidFill>
            <a:srgbClr val="DB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9593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B7E2B"/>
                </a:solidFill>
                <a:latin typeface="Aptos"/>
              </a:defRPr>
            </a:pPr>
            <a:r>
              <a:t>EPH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4389120"/>
            <a:ext cx="48920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Veszélyes potenciálkülönbségek csökkentését segíti.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6AB"/>
                </a:solidFill>
                <a:latin typeface="Aptos"/>
              </a:defRPr>
            </a:pPr>
            <a:r>
              <a:t>KULCSGONDOLAT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741"/>
                </a:solidFill>
                <a:latin typeface="Aptos"/>
              </a:defRPr>
            </a:pPr>
            <a:r>
              <a:t>A készülék működhet hibás PE mellett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8"/>
                </a:solidFill>
                <a:latin typeface="Aptos"/>
              </a:defRPr>
            </a:pPr>
            <a:r>
              <a:t>Ezért a védővezető hibája különösen alattomos.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8"/>
                </a:solidFill>
                <a:latin typeface="Aptos"/>
              </a:defRPr>
            </a:pPr>
            <a:r>
              <a:t>IAP • Villamos szerelések • 11. évfolyam • 17.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C7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120640" cy="246888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64008" cy="2468880"/>
          </a:xfrm>
          <a:prstGeom prst="rect">
            <a:avLst/>
          </a:prstGeom>
          <a:solidFill>
            <a:srgbClr val="26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875B"/>
                </a:solidFill>
                <a:latin typeface="Aptos"/>
              </a:defRPr>
            </a:pPr>
            <a:r>
              <a:t>NORMÁL ÜZEM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06040"/>
            <a:ext cx="47548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L → fogyasztó → N</a:t>
            </a:r>
            <a:br/>
            <a:br/>
            <a:r>
              <a:t>Az üzemi áram útja ép, ezért a készülék működik.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5120640" cy="246888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011680"/>
            <a:ext cx="64008" cy="2468880"/>
          </a:xfrm>
          <a:prstGeom prst="rect">
            <a:avLst/>
          </a:prstGeom>
          <a:solidFill>
            <a:srgbClr val="DB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76272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B7E2B"/>
                </a:solidFill>
                <a:latin typeface="Aptos"/>
              </a:defRPr>
            </a:pPr>
            <a:r>
              <a:t>TESTZÁRLAT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606040"/>
            <a:ext cx="47548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L → test → PE → forrás</a:t>
            </a:r>
            <a:br/>
            <a:br/>
            <a:r>
              <a:t>Ha a PE szakadt, a tervezett hibaáramút megszűnik.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2741"/>
                </a:solidFill>
                <a:latin typeface="Aptos"/>
              </a:defRPr>
            </a:pPr>
            <a:r>
              <a:t>A „működik” nem ugyanaz, mint a „villamosan biztonságos”.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6AB"/>
                </a:solidFill>
                <a:latin typeface="Aptos"/>
              </a:defRPr>
            </a:pPr>
            <a:r>
              <a:t>HIBAHUROK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741"/>
                </a:solidFill>
                <a:latin typeface="Aptos"/>
              </a:defRPr>
            </a:pPr>
            <a:r>
              <a:t>Zₛ: a teljes hibaáramút impedanciája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8"/>
                </a:solidFill>
                <a:latin typeface="Aptos"/>
              </a:defRPr>
            </a:pPr>
            <a:r>
              <a:t>Nem egyetlen vezető ellenállását nézzük.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8"/>
                </a:solidFill>
                <a:latin typeface="Aptos"/>
              </a:defRPr>
            </a:pPr>
            <a:r>
              <a:t>IAP • Villamos szerelések • 11. évfolyam • 17.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C7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10607040" cy="1234440"/>
          </a:xfrm>
          <a:prstGeom prst="roundRect">
            <a:avLst/>
          </a:prstGeom>
          <a:solidFill>
            <a:srgbClr val="10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Iₓ  ≈  U₀ / Zₛ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03320"/>
            <a:ext cx="4800600" cy="141732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703320"/>
            <a:ext cx="64008" cy="1417320"/>
          </a:xfrm>
          <a:prstGeom prst="rect">
            <a:avLst/>
          </a:prstGeom>
          <a:solidFill>
            <a:srgbClr val="26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867911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875B"/>
                </a:solidFill>
                <a:latin typeface="Aptos"/>
              </a:defRPr>
            </a:pPr>
            <a:r>
              <a:t>Zₛ CSÖKKEN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297680"/>
            <a:ext cx="4434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Iₓ nő → kedvezőbb lehet a gyors lekapcsolás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703320"/>
            <a:ext cx="4800600" cy="141732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3703320"/>
            <a:ext cx="64008" cy="1417320"/>
          </a:xfrm>
          <a:prstGeom prst="rect">
            <a:avLst/>
          </a:prstGeom>
          <a:solidFill>
            <a:srgbClr val="DB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3867911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B7E2B"/>
                </a:solidFill>
                <a:latin typeface="Aptos"/>
              </a:defRPr>
            </a:pPr>
            <a:r>
              <a:t>Zₛ NŐ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4297680"/>
            <a:ext cx="4434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Iₓ csökken → romolhat a lekapcsolási feltétel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6AB"/>
                </a:solidFill>
                <a:latin typeface="Aptos"/>
              </a:defRPr>
            </a:pPr>
            <a:r>
              <a:t>SZÁMÍTÁS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741"/>
                </a:solidFill>
                <a:latin typeface="Aptos"/>
              </a:defRPr>
            </a:pPr>
            <a:r>
              <a:t>230 V / 1,84 Ω =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8"/>
                </a:solidFill>
                <a:latin typeface="Aptos"/>
              </a:defRPr>
            </a:pPr>
            <a:r>
              <a:t>A számítás után mindig jön a szakmai értékelés.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8"/>
                </a:solidFill>
                <a:latin typeface="Aptos"/>
              </a:defRPr>
            </a:pPr>
            <a:r>
              <a:t>IAP • Villamos szerelések • 11. évfolyam • 17.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C7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200400" cy="228600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64008" cy="228600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305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ADATOK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6032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U₀ = 230 V</a:t>
            </a:r>
            <a:br/>
            <a:r>
              <a:t>Zₛ = 1,84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965960"/>
            <a:ext cx="3200400" cy="228600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965960"/>
            <a:ext cx="64008" cy="228600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1305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6D6"/>
                </a:solidFill>
                <a:latin typeface="Aptos"/>
              </a:defRPr>
            </a:pPr>
            <a:r>
              <a:t>SZÁMÍTÁS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56032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Iₓ ≈ U₀ / Zₛ</a:t>
            </a:r>
            <a:br/>
            <a:r>
              <a:t>Iₓ ≈ 230 / 1,84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65960"/>
            <a:ext cx="3200400" cy="228600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65960"/>
            <a:ext cx="64008" cy="2286000"/>
          </a:xfrm>
          <a:prstGeom prst="rect">
            <a:avLst/>
          </a:prstGeom>
          <a:solidFill>
            <a:srgbClr val="26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21305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875B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56032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Iₓ ≈ 125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006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2741"/>
                </a:solidFill>
                <a:latin typeface="Aptos"/>
              </a:defRPr>
            </a:pPr>
            <a:r>
              <a:t>Kérdés: a beépített védelmi készülék 125 A mellett megfelelő időn belül lekapcsol?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6AB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741"/>
                </a:solidFill>
                <a:latin typeface="Aptos"/>
              </a:defRPr>
            </a:pPr>
            <a:r>
              <a:t>Folytonosságvizsgálat – nem csak „sípoltatás”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8"/>
                </a:solidFill>
                <a:latin typeface="Aptos"/>
              </a:defRPr>
            </a:pPr>
            <a:r>
              <a:t>Feszültségmentes oktatási modellen, tanári felügyelettel.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8"/>
                </a:solidFill>
                <a:latin typeface="Aptos"/>
              </a:defRPr>
            </a:pPr>
            <a:r>
              <a:t>IAP • Villamos szerelések • 11. évfolyam • 17.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C7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429000" cy="132588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64008" cy="132588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848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6D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Feszültségmentesítés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429000" cy="132588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20240"/>
            <a:ext cx="64008" cy="132588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0848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6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51460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Visszakapcsolás megakadályozása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20240"/>
            <a:ext cx="3429000" cy="132588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64008" cy="132588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20848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6D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51460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Feszültségmentesség ellenőrzése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49039"/>
            <a:ext cx="3429000" cy="132588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749039"/>
            <a:ext cx="64008" cy="132588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91363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34340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Műszer ellenőrzése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749039"/>
            <a:ext cx="3429000" cy="132588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749039"/>
            <a:ext cx="64008" cy="132588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91363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434340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Folytonosságmérés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749039"/>
            <a:ext cx="3429000" cy="132588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749039"/>
            <a:ext cx="64008" cy="132588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391363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434340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Értékelés + dokumentálás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6AB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741"/>
                </a:solidFill>
                <a:latin typeface="Aptos"/>
              </a:defRPr>
            </a:pPr>
            <a:r>
              <a:t>Négy hiba – négy következmény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8"/>
                </a:solidFill>
                <a:latin typeface="Aptos"/>
              </a:defRPr>
            </a:pPr>
            <a:r>
              <a:t>IAP • Villamos szerelések • 11. évfolyam • 17.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C7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212080" cy="155448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4008" cy="1554480"/>
          </a:xfrm>
          <a:prstGeom prst="rect">
            <a:avLst/>
          </a:prstGeom>
          <a:solidFill>
            <a:srgbClr val="DB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B7E2B"/>
                </a:solidFill>
                <a:latin typeface="Aptos"/>
              </a:defRPr>
            </a:pPr>
            <a:r>
              <a:t>Szakadt 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23160"/>
            <a:ext cx="4846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megszakad a védelmi út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12080" cy="155448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64008" cy="1554480"/>
          </a:xfrm>
          <a:prstGeom prst="rect">
            <a:avLst/>
          </a:prstGeom>
          <a:solidFill>
            <a:srgbClr val="DB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9933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B7E2B"/>
                </a:solidFill>
                <a:latin typeface="Aptos"/>
              </a:defRPr>
            </a:pPr>
            <a:r>
              <a:t>Laza kötés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423160"/>
            <a:ext cx="4846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nőhet az átmeneti ellenállás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94760"/>
            <a:ext cx="5212080" cy="155448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794760"/>
            <a:ext cx="64008" cy="1554480"/>
          </a:xfrm>
          <a:prstGeom prst="rect">
            <a:avLst/>
          </a:prstGeom>
          <a:solidFill>
            <a:srgbClr val="DB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959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B7E2B"/>
                </a:solidFill>
                <a:latin typeface="Aptos"/>
              </a:defRPr>
            </a:pPr>
            <a:r>
              <a:t>Korrózió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389120"/>
            <a:ext cx="4846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bizonytalan, nagyobb ellenállású kötés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94760"/>
            <a:ext cx="5212080" cy="155448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794760"/>
            <a:ext cx="64008" cy="155448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959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Hibás N–PE kapcsolat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389120"/>
            <a:ext cx="4846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ÁVK után hibás működést okozhat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6AB"/>
                </a:solidFill>
                <a:latin typeface="Aptos"/>
              </a:defRPr>
            </a:pPr>
            <a:r>
              <a:t>ÓRASZERKEZET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741"/>
                </a:solidFill>
                <a:latin typeface="Aptos"/>
              </a:defRPr>
            </a:pPr>
            <a:r>
              <a:t>A 17. hét három tanórája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8"/>
                </a:solidFill>
                <a:latin typeface="Aptos"/>
              </a:defRPr>
            </a:pPr>
            <a:r>
              <a:t>IAP • Villamos szerelések • 11. évfolyam • 17.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C7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3383280" cy="274320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64008" cy="274320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2219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49. óra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6517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FÖLDELÉS</a:t>
            </a:r>
            <a:br/>
            <a:r>
              <a:t>földelő • PE • EPH • rendszerkép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057400"/>
            <a:ext cx="3383280" cy="274320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057400"/>
            <a:ext cx="64008" cy="274320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2219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6D6"/>
                </a:solidFill>
                <a:latin typeface="Aptos"/>
              </a:defRPr>
            </a:pPr>
            <a:r>
              <a:t>50. óra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6517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FOLYTONOSSÁG</a:t>
            </a:r>
            <a:br/>
            <a:r>
              <a:t>védővezetői út • mérési sorrend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2057400"/>
            <a:ext cx="3383280" cy="274320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2057400"/>
            <a:ext cx="64008" cy="2743200"/>
          </a:xfrm>
          <a:prstGeom prst="rect">
            <a:avLst/>
          </a:prstGeom>
          <a:solidFill>
            <a:srgbClr val="26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22219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875B"/>
                </a:solidFill>
                <a:latin typeface="Aptos"/>
              </a:defRPr>
            </a:pPr>
            <a:r>
              <a:t>51. óra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6517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HIBAHUROK</a:t>
            </a:r>
            <a:br/>
            <a:r>
              <a:t>Zₛ • Iₓ • számítás • értékelés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6AB"/>
                </a:solidFill>
                <a:latin typeface="Aptos"/>
              </a:defRPr>
            </a:pPr>
            <a:r>
              <a:t>IAP MŰHELYHELYZET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741"/>
                </a:solidFill>
                <a:latin typeface="Aptos"/>
              </a:defRPr>
            </a:pPr>
            <a:r>
              <a:t>A fogyasztó működik. A PE-kapocs viszont laza.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8"/>
                </a:solidFill>
                <a:latin typeface="Aptos"/>
              </a:defRPr>
            </a:pPr>
            <a:r>
              <a:t>Mit vizsgálnál és hogyan indokolnád?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8"/>
                </a:solidFill>
                <a:latin typeface="Aptos"/>
              </a:defRPr>
            </a:pPr>
            <a:r>
              <a:t>IAP • Villamos szerelések • 11. évfolyam • 17.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C7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46120" cy="237744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64008" cy="2377440"/>
          </a:xfrm>
          <a:prstGeom prst="rect">
            <a:avLst/>
          </a:prstGeom>
          <a:solidFill>
            <a:srgbClr val="DB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B7E2B"/>
                </a:solidFill>
                <a:latin typeface="Aptos"/>
              </a:defRPr>
            </a:pPr>
            <a:r>
              <a:t>1. FELISMERÉS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0604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Miért veszélyes a laza PE akkor is, ha a készülék működik?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011680"/>
            <a:ext cx="3246120" cy="237744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011680"/>
            <a:ext cx="64008" cy="237744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17627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2. RAJZ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60604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Rajzold fel a testzárlati hibaáram útját!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246120" cy="237744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011680"/>
            <a:ext cx="64008" cy="2377440"/>
          </a:xfrm>
          <a:prstGeom prst="rect">
            <a:avLst/>
          </a:prstGeom>
          <a:solidFill>
            <a:srgbClr val="26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217627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875B"/>
                </a:solidFill>
                <a:latin typeface="Aptos"/>
              </a:defRPr>
            </a:pPr>
            <a:r>
              <a:t>3. MÉRÉS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60604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Milyen vizsgálattal ellenőriznéd a védővezető útját?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6AB"/>
                </a:solidFill>
                <a:latin typeface="Aptos"/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741"/>
                </a:solidFill>
                <a:latin typeface="Aptos"/>
              </a:defRPr>
            </a:pPr>
            <a:r>
              <a:t>U₀ = 230 V • két különböző Zₛ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8"/>
                </a:solidFill>
                <a:latin typeface="Aptos"/>
              </a:defRPr>
            </a:pPr>
            <a:r>
              <a:t>Ne csak számolj – értelmezd is!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8"/>
                </a:solidFill>
                <a:latin typeface="Aptos"/>
              </a:defRPr>
            </a:pPr>
            <a:r>
              <a:t>IAP • Villamos szerelések • 11. évfolyam • 17.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C7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4937760" cy="214884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64008" cy="2148840"/>
          </a:xfrm>
          <a:prstGeom prst="rect">
            <a:avLst/>
          </a:prstGeom>
          <a:solidFill>
            <a:srgbClr val="16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30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66AB"/>
                </a:solidFill>
                <a:latin typeface="Aptos"/>
              </a:defRPr>
            </a:pPr>
            <a:r>
              <a:t>A ÁRAMKÖR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60320"/>
            <a:ext cx="4572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Zₛ = 1,0 Ω</a:t>
            </a:r>
            <a:br/>
            <a:r>
              <a:t>Iₓ =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65960"/>
            <a:ext cx="4937760" cy="214884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965960"/>
            <a:ext cx="64008" cy="214884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130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6D6"/>
                </a:solidFill>
                <a:latin typeface="Aptos"/>
              </a:defRPr>
            </a:pPr>
            <a:r>
              <a:t>B ÁRAMKÖR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560320"/>
            <a:ext cx="4572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C3C"/>
                </a:solidFill>
                <a:latin typeface="Aptos"/>
              </a:defRPr>
            </a:pPr>
            <a:r>
              <a:t>Zₛ = 2,5 Ω</a:t>
            </a:r>
            <a:br/>
            <a:r>
              <a:t>Iₓ =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17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2741"/>
                </a:solidFill>
                <a:latin typeface="Aptos"/>
              </a:defRPr>
            </a:pPr>
            <a:r>
              <a:t>Melyik áramkörnél kedvezőbb a gyors lekapcsolás feltétele – és miért?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6AB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02741"/>
                </a:solidFill>
                <a:latin typeface="Aptos"/>
              </a:defRPr>
            </a:pPr>
            <a:r>
              <a:t>A 17. hét öt mondata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8"/>
                </a:solidFill>
                <a:latin typeface="Aptos"/>
              </a:defRPr>
            </a:pPr>
            <a:r>
              <a:t>IAP • Villamos szerelések • 11. évfolyam • 17.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C7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02920" cy="411480"/>
          </a:xfrm>
          <a:prstGeom prst="rect">
            <a:avLst/>
          </a:prstGeom>
          <a:solidFill>
            <a:srgbClr val="1666A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190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2741"/>
                </a:solidFill>
                <a:latin typeface="Aptos"/>
              </a:defRPr>
            </a:pPr>
            <a:r>
              <a:t>A PE hibája normál üzemben rejtve maradhat.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502920" cy="411480"/>
          </a:xfrm>
          <a:prstGeom prst="rect">
            <a:avLst/>
          </a:prstGeom>
          <a:solidFill>
            <a:srgbClr val="1666A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6887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2741"/>
                </a:solidFill>
                <a:latin typeface="Aptos"/>
              </a:defRPr>
            </a:pPr>
            <a:r>
              <a:t>A folytonosságot mérni és dokumentálni kell.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36976"/>
            <a:ext cx="502920" cy="411480"/>
          </a:xfrm>
          <a:prstGeom prst="rect">
            <a:avLst/>
          </a:prstGeom>
          <a:solidFill>
            <a:srgbClr val="1666A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218687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2741"/>
                </a:solidFill>
                <a:latin typeface="Aptos"/>
              </a:defRPr>
            </a:pPr>
            <a:r>
              <a:t>Zₛ a teljes hibahurok impedanciája.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502920" cy="411480"/>
          </a:xfrm>
          <a:prstGeom prst="rect">
            <a:avLst/>
          </a:prstGeom>
          <a:solidFill>
            <a:srgbClr val="1666A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9684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2741"/>
                </a:solidFill>
                <a:latin typeface="Aptos"/>
              </a:defRPr>
            </a:pPr>
            <a:r>
              <a:t>Nagyobb Zₛ → kisebb várható hibaáram.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36592"/>
            <a:ext cx="502920" cy="411480"/>
          </a:xfrm>
          <a:prstGeom prst="rect">
            <a:avLst/>
          </a:prstGeom>
          <a:solidFill>
            <a:srgbClr val="1666A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71830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741"/>
                </a:solidFill>
                <a:latin typeface="Aptos"/>
              </a:defRPr>
            </a:pPr>
            <a:r>
              <a:t>A számítás csak akkor ér valamit, ha a védelmi készülék működésével együtt értékeljük.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66AB"/>
                </a:solidFill>
                <a:latin typeface="Aptos"/>
              </a:defRPr>
            </a:pPr>
            <a:r>
              <a:t>Következő hét: Hibavédelem összefoglalása, ellenőrző mérések és komplex hibakeresés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