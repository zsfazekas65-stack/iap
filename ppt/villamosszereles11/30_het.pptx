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06D"/>
                </a:solidFill>
              </a:defRPr>
            </a:pPr>
            <a: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D47A1"/>
                </a:solidFill>
              </a:defRPr>
            </a:pPr>
            <a:r>
              <a:t>30. hét - Szerelési dokumentáció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2606D"/>
                </a:solidFill>
              </a:defRPr>
            </a:pPr>
            <a:r>
              <a:t>88-90. óra | A jó szerelés visszakereshető, ellenőrizhető és javítható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32918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56816"/>
            <a:ext cx="3054096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RAJZ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Megmutatja a kapcsolás logikáját és a fizikai elrendezést.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32918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956816"/>
            <a:ext cx="3054096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JELÖLÉS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Összeköti a rajzot a valós készülékkel, kapoccsal és vezetékkel.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32918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956816"/>
            <a:ext cx="3054096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JEGYZŐKÖNYV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Rögzíti az ellenőrzés, mérés és átadás bizonyítható adatait.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06D"/>
                </a:solidFill>
              </a:defRPr>
            </a:pPr>
            <a: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D47A1"/>
                </a:solidFill>
              </a:defRPr>
            </a:pPr>
            <a:r>
              <a:t>Miért dokumentálunk?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7393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Biztonság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A következő szakember tudja, mit talál a berendezésben.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64592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1" y="177393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Hibakeresés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A rajz lerövidíti a jelút és a hibás szakasz követését.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92277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Karbantartás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A módosítások és cserék visszakövethetők.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379476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1" y="392277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Átadás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A kész munka nemcsak működik, hanem ellenőrizhető 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06D"/>
                </a:solidFill>
              </a:defRPr>
            </a:pPr>
            <a: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D47A1"/>
                </a:solidFill>
              </a:defRPr>
            </a:pPr>
            <a:r>
              <a:t>A dokumentációs csomag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37560" cy="160020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73936"/>
            <a:ext cx="3008376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01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Kapcsolási rajz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645920"/>
            <a:ext cx="3337560" cy="160020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1" y="1773936"/>
            <a:ext cx="3008376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02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Szerelési / elrendezési rajz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645920"/>
            <a:ext cx="3337560" cy="160020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773936"/>
            <a:ext cx="3008376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03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Kapocs- és vezetékjegyzék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94760"/>
            <a:ext cx="3337560" cy="160020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922776"/>
            <a:ext cx="3008376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04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Darabjegyzék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3794760"/>
            <a:ext cx="3337560" cy="160020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1" y="3922776"/>
            <a:ext cx="3008376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05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Mérési jegyzőkönyv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794760"/>
            <a:ext cx="3337560" cy="160020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3922776"/>
            <a:ext cx="3008376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06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Módosítási napló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06D"/>
                </a:solidFill>
              </a:defRPr>
            </a:pPr>
            <a: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D47A1"/>
                </a:solidFill>
              </a:defRPr>
            </a:pPr>
            <a:r>
              <a:t>Rajz ↔ valós berendezés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2606D"/>
                </a:solidFill>
              </a:defRPr>
            </a:pPr>
            <a:r>
              <a:t>A dokumentáció akkor jó, ha ugyanazt a rendszert írja 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017520" cy="23774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56816"/>
            <a:ext cx="2688336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RAJZ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Q1 → K1 → X1:1</a:t>
            </a:r>
            <a:br/>
            <a:r>
              <a:t>Azonosítók és kapcsok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3017520" cy="23774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36592" y="1956816"/>
            <a:ext cx="2688336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VALÓSÁG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Feliratozott készülékek</a:t>
            </a:r>
            <a:br/>
            <a:r>
              <a:t>Azonos vezeték- és kapocsjelek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828800"/>
            <a:ext cx="3017520" cy="23774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956816"/>
            <a:ext cx="2688336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ELLENŐRZÉS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Egyezés?</a:t>
            </a:r>
            <a:br/>
            <a:r>
              <a:t>Eltérés esetén javítás és dokumentált módosítás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06D"/>
                </a:solidFill>
              </a:defRPr>
            </a:pPr>
            <a: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D47A1"/>
                </a:solidFill>
              </a:defRPr>
            </a:pPr>
            <a:r>
              <a:t>Jelölési fegyelem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7393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Készülék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Egy elem = egy azonosító minden dokumentumban.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64592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1" y="177393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Kapocs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A bekötési pont egyértelműen visszakereshető.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92277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Vezeték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A vezeték két vége ugyanahhoz az áramköri kapcsolathoz vezet.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379476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1" y="392277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Kábel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A kábel és erei külön is azonosíthatók.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06D"/>
                </a:solidFill>
              </a:defRPr>
            </a:pPr>
            <a: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D47A1"/>
                </a:solidFill>
              </a:defRPr>
            </a:pPr>
            <a:r>
              <a:t>Dokumentálási munkafolyamat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331720"/>
            <a:ext cx="1417320" cy="1234440"/>
          </a:xfrm>
          <a:prstGeom prst="roundRect">
            <a:avLst/>
          </a:prstGeom>
          <a:solidFill>
            <a:srgbClr val="EAF3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2560320"/>
            <a:ext cx="127101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D47A1"/>
                </a:solidFill>
              </a:defRPr>
            </a:pPr>
            <a:r>
              <a:t>1.</a:t>
            </a:r>
            <a:br/>
            <a:r>
              <a:t>Azonosítás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75688" y="2331720"/>
            <a:ext cx="1417320" cy="1234440"/>
          </a:xfrm>
          <a:prstGeom prst="roundRect">
            <a:avLst/>
          </a:prstGeom>
          <a:solidFill>
            <a:srgbClr val="EAF3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40" y="2560320"/>
            <a:ext cx="127101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D47A1"/>
                </a:solidFill>
              </a:defRPr>
            </a:pPr>
            <a:r>
              <a:t>2.</a:t>
            </a:r>
            <a:br/>
            <a:r>
              <a:t>Rajz ellenőrzése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39896" y="2331720"/>
            <a:ext cx="1417320" cy="1234440"/>
          </a:xfrm>
          <a:prstGeom prst="roundRect">
            <a:avLst/>
          </a:prstGeom>
          <a:solidFill>
            <a:srgbClr val="EAF3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3048" y="2560320"/>
            <a:ext cx="127101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D47A1"/>
                </a:solidFill>
              </a:defRPr>
            </a:pPr>
            <a:r>
              <a:t>3.</a:t>
            </a:r>
            <a:br/>
            <a:r>
              <a:t>Szerelés + jelölés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4104" y="2331720"/>
            <a:ext cx="1417320" cy="1234440"/>
          </a:xfrm>
          <a:prstGeom prst="roundRect">
            <a:avLst/>
          </a:prstGeom>
          <a:solidFill>
            <a:srgbClr val="EAF3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77256" y="2560320"/>
            <a:ext cx="127101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D47A1"/>
                </a:solidFill>
              </a:defRPr>
            </a:pPr>
            <a:r>
              <a:t>4.</a:t>
            </a:r>
            <a:br/>
            <a:r>
              <a:t>Eltérés átvezetése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68312" y="2331720"/>
            <a:ext cx="1417320" cy="1234440"/>
          </a:xfrm>
          <a:prstGeom prst="roundRect">
            <a:avLst/>
          </a:prstGeom>
          <a:solidFill>
            <a:srgbClr val="EAF3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41464" y="2560320"/>
            <a:ext cx="127101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D47A1"/>
                </a:solidFill>
              </a:defRPr>
            </a:pPr>
            <a:r>
              <a:t>5.</a:t>
            </a:r>
            <a:br/>
            <a:r>
              <a:t>Mérés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19" y="2331720"/>
            <a:ext cx="1417320" cy="1234440"/>
          </a:xfrm>
          <a:prstGeom prst="roundRect">
            <a:avLst/>
          </a:prstGeom>
          <a:solidFill>
            <a:srgbClr val="EAF3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05672" y="2560320"/>
            <a:ext cx="127101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D47A1"/>
                </a:solidFill>
              </a:defRPr>
            </a:pPr>
            <a:r>
              <a:t>6.</a:t>
            </a:r>
            <a:br/>
            <a:r>
              <a:t>Dátum + készítő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96728" y="2331720"/>
            <a:ext cx="1417320" cy="1234440"/>
          </a:xfrm>
          <a:prstGeom prst="roundRect">
            <a:avLst/>
          </a:prstGeom>
          <a:solidFill>
            <a:srgbClr val="EAF3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69880" y="2560320"/>
            <a:ext cx="127101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D47A1"/>
                </a:solidFill>
              </a:defRPr>
            </a:pPr>
            <a:r>
              <a:t>7.</a:t>
            </a:r>
            <a:br/>
            <a:r>
              <a:t>Átadás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06D"/>
                </a:solidFill>
              </a:defRPr>
            </a:pPr>
            <a: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D47A1"/>
                </a:solidFill>
              </a:defRPr>
            </a:pPr>
            <a:r>
              <a:t>Mérési jegyzőkönyv - mit rögzítünk?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383280" cy="164592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728216"/>
            <a:ext cx="305409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Mit?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A mérés megnevezése és mérési pont.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600200"/>
            <a:ext cx="3383280" cy="164592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728216"/>
            <a:ext cx="305409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Mivel?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Műszer típusa / azonosítója.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600200"/>
            <a:ext cx="3383280" cy="164592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39912" y="1728216"/>
            <a:ext cx="305409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Mennyi?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Mért érték + mértékegység.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94760"/>
            <a:ext cx="3383280" cy="164592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305409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Mikor?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Dátum és körülmények.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794760"/>
            <a:ext cx="3383280" cy="164592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3922776"/>
            <a:ext cx="305409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Ki?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Mérést végző / ellenőrző.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3794760"/>
            <a:ext cx="3383280" cy="164592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2" y="3922776"/>
            <a:ext cx="305409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Eredmény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Megfelelt / további vizsgálat szükséges.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06D"/>
                </a:solidFill>
              </a:defRPr>
            </a:pPr>
            <a: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D47A1"/>
                </a:solidFill>
              </a:defRPr>
            </a:pPr>
            <a:r>
              <a:t>Tipikus dokumentációs hibák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7393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ELAVULT RAJZ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A valós bekötés már más.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64592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1" y="177393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HIÁNYZÓ JELÖLÉS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Nem követhető a vezeték vagy kapocs.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92277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MÉRTÉKEGYSÉG NÉLKÜL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A mérési adat félreérthető.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379476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1" y="392277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NINCS MÓDOSÍTÁSI NYOM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Nem tudható, mikor és mi változott.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06D"/>
                </a:solidFill>
              </a:defRPr>
            </a:pPr>
            <a: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D47A1"/>
                </a:solidFill>
              </a:defRPr>
            </a:pPr>
            <a:r>
              <a:t>Műhelyfeladat - dokumentációs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301752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56816"/>
            <a:ext cx="2139696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1. állomás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Készülék- és kapocsazonosítás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1828800"/>
            <a:ext cx="2468880" cy="301752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5031" y="1956816"/>
            <a:ext cx="2139696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2. állomás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Rajz és valós bekötés összevetése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828800"/>
            <a:ext cx="2468880" cy="301752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1" y="1956816"/>
            <a:ext cx="2139696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3. állomás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Darabjegyzék + vezetékjegyzék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1828800"/>
            <a:ext cx="2468880" cy="301752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62872" y="1956816"/>
            <a:ext cx="2139696" cy="2761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4. állomás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Mérési adatlap és páros ellenőrzés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06D"/>
                </a:solidFill>
              </a:defRPr>
            </a:pPr>
            <a: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D47A1"/>
                </a:solidFill>
              </a:defRPr>
            </a:pPr>
            <a:r>
              <a:t>IAP heti kihívás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332720" cy="182880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865376"/>
            <a:ext cx="10003536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ÁLLÍTÁS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Ha a berendezés működik, a szerelés közben végzett változtatásokat nem szükséges átvezetni a rajzra.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3977639"/>
            <a:ext cx="6309360" cy="12344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90672" y="4105655"/>
            <a:ext cx="5980176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VÁLASZ: NEM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A dokumentációnak a tényleges állapotot kell tükröznie.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606D"/>
                </a:solidFill>
              </a:defRPr>
            </a:pPr>
            <a:r>
              <a:t>IAP - Integrált Automatika Program | Villamos szerelések 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D47A1"/>
                </a:solidFill>
              </a:defRPr>
            </a:pPr>
            <a:r>
              <a:t>Összefoglalás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2606D"/>
                </a:solidFill>
              </a:defRPr>
            </a:pPr>
            <a:r>
              <a:t>A dokumentáció a szerelés része - nem utólagos papírmunka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7393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Pontos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A valós állapotot mutatja.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64592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1" y="177393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Egységes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Következetes jelöléseket használ.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92277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Mérhető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Az ellenőrzések eredményeit rögzíti.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3794760"/>
            <a:ext cx="5120640" cy="1691640"/>
          </a:xfrm>
          <a:prstGeom prst="roundRect">
            <a:avLst/>
          </a:prstGeom>
          <a:solidFill>
            <a:srgbClr val="EAF3FF"/>
          </a:solidFill>
          <a:ln>
            <a:solidFill>
              <a:srgbClr val="BE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1" y="3922776"/>
            <a:ext cx="4791455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D47A1"/>
                </a:solidFill>
              </a:defRPr>
            </a:pPr>
            <a:r>
              <a:t>Naprakész</a:t>
            </a:r>
          </a:p>
          <a:p>
            <a:pPr>
              <a:spcBef>
                <a:spcPts val="600"/>
              </a:spcBef>
              <a:defRPr sz="1200">
                <a:solidFill>
                  <a:srgbClr val="102A43"/>
                </a:solidFill>
              </a:defRPr>
            </a:pPr>
            <a:r>
              <a:t>A módosítások át vannak vezetve.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58064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0D47A1"/>
                </a:solidFill>
              </a:defRPr>
            </a:pPr>
            <a:r>
              <a:t>Következő hét: 31. hét - Hibakeresési módszerek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