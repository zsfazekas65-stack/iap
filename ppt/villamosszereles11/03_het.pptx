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7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5B8E6"/>
                </a:solidFill>
                <a:latin typeface="Aptos"/>
              </a:rPr>
              <a:t>IAP • INTEGRÁLT AUTOMATIKA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VILLAMOS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5B8E6"/>
                </a:solidFill>
                <a:latin typeface="Aptos"/>
              </a:rPr>
              <a:t>BIZTONSÁGTECHNIKA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8E8F3"/>
                </a:solidFill>
                <a:latin typeface="Aptos"/>
              </a:rPr>
              <a:t>03. hét  |  Feszültségmentes munkavégzés</a:t>
            </a:r>
          </a:p>
        </p:txBody>
      </p:sp>
      <p:sp>
        <p:nvSpPr>
          <p:cNvPr id="6" name="Hexagon 5"/>
          <p:cNvSpPr/>
          <p:nvPr/>
        </p:nvSpPr>
        <p:spPr>
          <a:xfrm>
            <a:off x="9784080" y="1188720"/>
            <a:ext cx="1508760" cy="1737360"/>
          </a:xfrm>
          <a:prstGeom prst="hexagon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94392" y="1600200"/>
            <a:ext cx="1097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ptos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B8E6"/>
                </a:solidFill>
                <a:latin typeface="Aptos"/>
              </a:rPr>
              <a:t>TUDÁS  •  BIZTONSÁG  •  GYAKORLAT  •  JÖVŐ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FC4D3"/>
                </a:solidFill>
                <a:latin typeface="Aptos"/>
              </a:rPr>
              <a:t>11. évfolyam • Villamos szerelések • 3 tanóra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28C28"/>
                </a:solidFill>
                <a:latin typeface="Aptos"/>
              </a:rPr>
              <a:t>INDÍTÁS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Egyetlen kérdés az egész hétre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2742"/>
                </a:solidFill>
                <a:latin typeface="Aptos"/>
              </a:rPr>
              <a:t>„Mikor tekinthető egy munkaterület valóban biztonságosnak?”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886200"/>
            <a:ext cx="8138160" cy="1143000"/>
          </a:xfrm>
          <a:prstGeom prst="roundRect">
            <a:avLst/>
          </a:prstGeom>
          <a:solidFill>
            <a:srgbClr val="FFF7EC"/>
          </a:solidFill>
          <a:ln>
            <a:solidFill>
              <a:srgbClr val="F4D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4160520"/>
            <a:ext cx="749807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28C28"/>
                </a:solidFill>
                <a:latin typeface="Aptos"/>
              </a:rPr>
              <a:t>Nem akkor, amikor lekapcsoltuk - hanem akkor, amikor szabályosan ellenőriztük és biztosítottuk.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28C28"/>
                </a:solidFill>
                <a:latin typeface="Aptos"/>
              </a:rPr>
              <a:t>TÖRTÉNELMI NYITÓ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A villamos munka biztonsági kultúrája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51560" y="3246120"/>
            <a:ext cx="10012680" cy="0"/>
          </a:xfrm>
          <a:prstGeom prst="line">
            <a:avLst/>
          </a:prstGeom>
          <a:ln>
            <a:solidFill>
              <a:srgbClr val="D7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914400" y="2926080"/>
            <a:ext cx="621792" cy="621792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92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28C28"/>
                </a:solidFill>
                <a:latin typeface="Aptos"/>
              </a:rPr>
              <a:t>HÁLÓZATOK TERJEDÉSE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B2742"/>
                </a:solidFill>
                <a:latin typeface="Aptos"/>
              </a:rPr>
              <a:t>Új veszélyek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605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9364D"/>
                </a:solidFill>
                <a:latin typeface="Aptos"/>
              </a:rPr>
              <a:t>A szerelés és karbantartás kockázata nő.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2926080"/>
            <a:ext cx="621792" cy="621792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9992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14884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28C28"/>
                </a:solidFill>
                <a:latin typeface="Aptos"/>
              </a:rPr>
              <a:t>SZABÁLYOK MEGJELENÉSE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B2742"/>
                </a:solidFill>
                <a:latin typeface="Aptos"/>
              </a:rPr>
              <a:t>Munkaterület előkészítése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1605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9364D"/>
                </a:solidFill>
                <a:latin typeface="Aptos"/>
              </a:rPr>
              <a:t>A balesetek megelőzése szervezett folyamattá válik.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2926080"/>
            <a:ext cx="621792" cy="621792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992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14884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28C28"/>
                </a:solidFill>
                <a:latin typeface="Aptos"/>
              </a:rPr>
              <a:t>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B2742"/>
                </a:solidFill>
                <a:latin typeface="Aptos"/>
              </a:rPr>
              <a:t>5 biztonsági szabály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1605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9364D"/>
                </a:solidFill>
                <a:latin typeface="Aptos"/>
              </a:rPr>
              <a:t>Leválasztás, biztosítás, ellenőrzés, elhatárolás.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0" y="2926080"/>
            <a:ext cx="621792" cy="621792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14884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28C28"/>
                </a:solidFill>
                <a:latin typeface="Aptos"/>
              </a:rPr>
              <a:t>SZAKMAI ALAP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B2742"/>
                </a:solidFill>
                <a:latin typeface="Aptos"/>
              </a:rPr>
              <a:t>Nem feltételezünk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605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9364D"/>
                </a:solidFill>
                <a:latin typeface="Aptos"/>
              </a:rPr>
              <a:t>Mérünk, ellenőrzünk, dokumentálunk.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677C8"/>
                </a:solidFill>
                <a:latin typeface="Aptos"/>
              </a:rPr>
              <a:t>HALADÁSI TÉRKÉP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A hét 3 tanórája – egymásra építve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342900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6968" y="2039112"/>
            <a:ext cx="621792" cy="621792"/>
          </a:xfrm>
          <a:prstGeom prst="ellipse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1226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29968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Feszültségmentes munkavégzés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87168"/>
            <a:ext cx="219456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Mit jelent a biztonságos munkaterület?
Kimenet: veszély felismerése + munkakezdési logika.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28800"/>
            <a:ext cx="342900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90288" y="2039112"/>
            <a:ext cx="621792" cy="621792"/>
          </a:xfrm>
          <a:prstGeom prst="ellipse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11226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029968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Az 5 biztonsági szabály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487168"/>
            <a:ext cx="219456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Leválasztás, biztosítás, ellenőrzés, földelés/rövidzár, elhatárolás.
Kimenet: szabályok sorrendje.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28800"/>
            <a:ext cx="342900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93608" y="2039112"/>
            <a:ext cx="621792" cy="621792"/>
          </a:xfrm>
          <a:prstGeom prst="ellipse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211226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029968"/>
            <a:ext cx="2240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Ellenőrzőlista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87168"/>
            <a:ext cx="2194559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Hogyan induljon egy villamos munka?
Kimenet: saját munkakezdési lista.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677C8"/>
                </a:solidFill>
                <a:latin typeface="Aptos"/>
              </a:rPr>
              <a:t>1.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Mit jelent a feszültségmentes munkavégzés?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57400"/>
            <a:ext cx="3749039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23160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B2742"/>
                </a:solidFill>
                <a:latin typeface="Aptos"/>
              </a:rPr>
              <a:t>VESZÉLYHELYZET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71800"/>
            <a:ext cx="2926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D64045"/>
                </a:solidFill>
                <a:latin typeface="Aptos"/>
              </a:rPr>
              <a:t>A lekapcsolt berendezés még nem bizonyítottan biztonságos.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30175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253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Azonosítás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441448"/>
            <a:ext cx="2487168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Biztosan ezen az áramkörön dolgozunk?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30175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544568"/>
            <a:ext cx="2532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Leválasztás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001768"/>
            <a:ext cx="2487168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Minden betáplálási pontról.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1783080"/>
            <a:ext cx="30175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1984248"/>
            <a:ext cx="25328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Biztosítás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4232" y="2441448"/>
            <a:ext cx="2487168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Ne lehessen tévesen visszakapcsolni.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4343400"/>
            <a:ext cx="30175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14232" y="4544568"/>
            <a:ext cx="25328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Ellenőrzés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4232" y="5001768"/>
            <a:ext cx="2487168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Feszültségmentes állapot igazolása.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D64045"/>
                </a:solidFill>
                <a:latin typeface="Aptos"/>
              </a:rPr>
              <a:t>1.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Gondolkodj láncban: FELISMERÉS → LEVÁLASZTÁS → ELLENŐRZÉS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331720"/>
            <a:ext cx="2743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060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28C28"/>
                </a:solidFill>
                <a:latin typeface="Aptos"/>
              </a:rPr>
              <a:t>VESZÉLY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546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B2742"/>
                </a:solidFill>
                <a:latin typeface="Aptos"/>
              </a:rPr>
              <a:t>Több áramkörös elosztó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834640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647B8D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2743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6060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64045"/>
                </a:solidFill>
                <a:latin typeface="Aptos"/>
              </a:rPr>
              <a:t>HIBA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1546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B2742"/>
                </a:solidFill>
                <a:latin typeface="Aptos"/>
              </a:rPr>
              <a:t>Találgatással lekapcsolt kismegszakító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834640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>
                <a:solidFill>
                  <a:srgbClr val="647B8D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331720"/>
            <a:ext cx="2743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60604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B2742"/>
                </a:solidFill>
                <a:latin typeface="Aptos"/>
              </a:rPr>
              <a:t>KÖVETKEZMÉNY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1546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B2742"/>
                </a:solidFill>
                <a:latin typeface="Aptos"/>
              </a:rPr>
              <a:t>Feszültség alatt maradó rész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8006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D64045"/>
                </a:solidFill>
                <a:latin typeface="Aptos"/>
              </a:rPr>
              <a:t>Szakmai szabály: „ez lesz az” helyett azonosítás és ellenőrzés.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9A67"/>
                </a:solidFill>
                <a:latin typeface="Aptos"/>
              </a:rPr>
              <a:t>1. TANÓRA • GYAKORLAT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Munkaterület azonosítása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691640"/>
            <a:ext cx="621792" cy="621792"/>
          </a:xfrm>
          <a:prstGeom prst="ellipse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6479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64792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B2742"/>
                </a:solidFill>
                <a:latin typeface="Aptos"/>
              </a:rPr>
              <a:t>Olvasd le az áramkör megnevezését.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743200"/>
            <a:ext cx="621792" cy="621792"/>
          </a:xfrm>
          <a:prstGeom prst="ellipse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816352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2742"/>
                </a:solidFill>
                <a:latin typeface="Aptos"/>
              </a:rPr>
              <a:t>Keresd meg a leválasztási pontot.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794760"/>
            <a:ext cx="621792" cy="621792"/>
          </a:xfrm>
          <a:prstGeom prst="ellipse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6791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867912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2742"/>
                </a:solidFill>
                <a:latin typeface="Aptos"/>
              </a:rPr>
              <a:t>Nevezd meg a visszakapcsolás veszélyét.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846320"/>
            <a:ext cx="621792" cy="621792"/>
          </a:xfrm>
          <a:prstGeom prst="ellipse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919472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2742"/>
                </a:solidFill>
                <a:latin typeface="Aptos"/>
              </a:rPr>
              <a:t>Írd le az ellenőrzés módját.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5349240"/>
            <a:ext cx="2468880" cy="64008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55321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9A67"/>
                </a:solidFill>
                <a:latin typeface="Aptos"/>
              </a:rPr>
              <a:t>8–10 perc • páros munka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D64045"/>
                </a:solidFill>
                <a:latin typeface="Aptos"/>
              </a:rPr>
              <a:t>2.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Az 5 biztonsági szabály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5532120" y="1828800"/>
            <a:ext cx="621792" cy="621792"/>
          </a:xfrm>
          <a:prstGeom prst="ellipse">
            <a:avLst/>
          </a:prstGeom>
          <a:solidFill>
            <a:srgbClr val="0B2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190195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43016" y="2450592"/>
            <a:ext cx="0" cy="1618488"/>
          </a:xfrm>
          <a:prstGeom prst="line">
            <a:avLst/>
          </a:prstGeom>
          <a:ln>
            <a:solidFill>
              <a:srgbClr val="0B2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00600" y="2971800"/>
            <a:ext cx="2103120" cy="0"/>
          </a:xfrm>
          <a:prstGeom prst="line">
            <a:avLst/>
          </a:prstGeom>
          <a:ln>
            <a:solidFill>
              <a:srgbClr val="0B2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166360" y="4069080"/>
            <a:ext cx="676656" cy="1005840"/>
          </a:xfrm>
          <a:prstGeom prst="line">
            <a:avLst/>
          </a:prstGeom>
          <a:ln>
            <a:solidFill>
              <a:srgbClr val="0B2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43016" y="4069080"/>
            <a:ext cx="694944" cy="1005840"/>
          </a:xfrm>
          <a:prstGeom prst="line">
            <a:avLst/>
          </a:prstGeom>
          <a:ln>
            <a:solidFill>
              <a:srgbClr val="0B2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20574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D64045"/>
                </a:solidFill>
                <a:latin typeface="Aptos"/>
              </a:rPr>
              <a:t>LEVÁLASZTÁS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0574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677C8"/>
                </a:solidFill>
                <a:latin typeface="Aptos"/>
              </a:rPr>
              <a:t>VISSZAKAPCSOLÁS ELLENI BIZTOSÍTÁS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34924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D64045"/>
                </a:solidFill>
                <a:latin typeface="Aptos"/>
              </a:rPr>
              <a:t>FESZÜLTSÉGMENTESSÉG ELLENŐRZÉSE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06240" y="2971800"/>
            <a:ext cx="594360" cy="0"/>
          </a:xfrm>
          <a:prstGeom prst="line">
            <a:avLst/>
          </a:prstGeom>
          <a:ln>
            <a:solidFill>
              <a:srgbClr val="D640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03720" y="2971800"/>
            <a:ext cx="1097280" cy="0"/>
          </a:xfrm>
          <a:prstGeom prst="line">
            <a:avLst/>
          </a:prstGeom>
          <a:ln>
            <a:solidFill>
              <a:srgbClr val="1677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D64045"/>
                </a:solidFill>
                <a:latin typeface="Aptos"/>
              </a:rPr>
              <a:t>2.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Miért fontos a sorrend?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49377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938528"/>
            <a:ext cx="44531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LEVÁLASZTÁS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395728"/>
            <a:ext cx="4407408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A veszélyes energiaforrás megszüntetése.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49377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938528"/>
            <a:ext cx="44531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BIZTOSÍTÁS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395728"/>
            <a:ext cx="4407408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Más ne kapcsolhassa vissza tévedésből.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931920"/>
            <a:ext cx="49377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133087"/>
            <a:ext cx="44531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ELLENŐRZÉS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4407408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Nem feltételezzük: igazoljuk.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49377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133087"/>
            <a:ext cx="44531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ELHATÁROLÁS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4590288"/>
            <a:ext cx="4407408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A közeli veszélyes részeket leválasztjuk vagy letakarjuk.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5B8E6"/>
                </a:solidFill>
                <a:latin typeface="Aptos"/>
              </a:rPr>
              <a:t>2.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Két gyakori szakmai hiba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25B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6636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38528"/>
            <a:ext cx="4681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„LEKAPCSOLTAM, TEHÁT JÓ”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95728"/>
            <a:ext cx="4636008" cy="2578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A lekapcsolás önmagában nem bizonyítja a feszültségmentes állapotot.
Ellenőrizni kell.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16636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38528"/>
            <a:ext cx="4681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„EZ LESZ AZ ÁRAMKÖR”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395728"/>
            <a:ext cx="4636008" cy="2578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A találgatás életveszélyes lehet.
Az áramkört azonosítani kell.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B2742"/>
                </a:solidFill>
                <a:latin typeface="Aptos"/>
              </a:rPr>
              <a:t>Kulcs: azonosítás + biztosítás + ellenőrzés.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D64045"/>
                </a:solidFill>
                <a:latin typeface="Aptos"/>
              </a:rPr>
              <a:t>BIZTONSÁGI ALAPELV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A munkaterületet előbb biztonságossá tesszük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783080"/>
            <a:ext cx="10149840" cy="3337560"/>
          </a:xfrm>
          <a:prstGeom prst="roundRect">
            <a:avLst/>
          </a:prstGeom>
          <a:solidFill>
            <a:srgbClr val="FFF1F1"/>
          </a:solidFill>
          <a:ln>
            <a:solidFill>
              <a:srgbClr val="F2C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148840"/>
            <a:ext cx="93268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D64045"/>
                </a:solidFill>
                <a:latin typeface="Aptos"/>
              </a:rPr>
              <a:t>⚠  A FESZÜLTSÉGMENTES ÁLLAPOTOT NEM FELTÉTELEZZÜK, HANEM ELLENŐRIZZÜK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063240"/>
            <a:ext cx="8595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364D"/>
                </a:solidFill>
                <a:latin typeface="Aptos"/>
              </a:defRPr>
            </a:pPr>
            <a:r>
              <a:t>•  A munkaterületet azonosítani kell.
•  A visszakapcsolást meg kell akadályozni.
•  Csak ellenőrzés után kezdhető meg a munka.</a:t>
            </a:r>
          </a:p>
          <a:p>
            <a:pPr>
              <a:spcAft>
                <a:spcPts val="800"/>
              </a:spcAft>
              <a:defRPr sz="1600">
                <a:solidFill>
                  <a:srgbClr val="19364D"/>
                </a:solidFill>
                <a:latin typeface="Aptos"/>
              </a:defRPr>
            </a:pPr>
            <a:r>
              <a:t>•  Feszültség alatt álló részen nincs emberi testtel végzett kísérlet.</a:t>
            </a:r>
          </a:p>
          <a:p>
            <a:pPr>
              <a:spcAft>
                <a:spcPts val="800"/>
              </a:spcAft>
              <a:defRPr sz="1600">
                <a:solidFill>
                  <a:srgbClr val="19364D"/>
                </a:solidFill>
                <a:latin typeface="Aptos"/>
              </a:defRPr>
            </a:pPr>
            <a:r>
              <a:t>•  A biztonsági szabály nem demonstrációs ötlet – hanem munkafeltétel.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9A67"/>
                </a:solidFill>
                <a:latin typeface="Aptos"/>
              </a:rPr>
              <a:t>3.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Munkakezdési ellenőrzőlista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24231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2240280"/>
            <a:ext cx="621792" cy="621792"/>
          </a:xfrm>
          <a:prstGeom prst="ellipse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23134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677C8"/>
                </a:solidFill>
                <a:latin typeface="Aptos"/>
              </a:rPr>
              <a:t>AZONOSÍTÁS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19364D"/>
                </a:solidFill>
                <a:latin typeface="Aptos"/>
              </a:rPr>
              <a:t>Melyik áramkörön dolgozunk?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880360"/>
            <a:ext cx="38404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7B8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1965960"/>
            <a:ext cx="24231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34840" y="2240280"/>
            <a:ext cx="621792" cy="621792"/>
          </a:xfrm>
          <a:prstGeom prst="ellipse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3134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306324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28C28"/>
                </a:solidFill>
                <a:latin typeface="Aptos"/>
              </a:rPr>
              <a:t>LEVÁLASZTÁS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365760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19364D"/>
                </a:solidFill>
                <a:latin typeface="Aptos"/>
              </a:rPr>
              <a:t>Minden betáplálási pontról.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2880360"/>
            <a:ext cx="38404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7B8D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1965960"/>
            <a:ext cx="24231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87768" y="2240280"/>
            <a:ext cx="621792" cy="621792"/>
          </a:xfrm>
          <a:prstGeom prst="ellipse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768" y="23134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306324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64045"/>
                </a:solidFill>
                <a:latin typeface="Aptos"/>
              </a:rPr>
              <a:t>BIZTOSÍTÁS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365760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19364D"/>
                </a:solidFill>
                <a:latin typeface="Aptos"/>
              </a:rPr>
              <a:t>Visszakapcsolás ellen.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3104" y="2880360"/>
            <a:ext cx="38404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647B8D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44584" y="1965960"/>
            <a:ext cx="24231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40696" y="2240280"/>
            <a:ext cx="621792" cy="621792"/>
          </a:xfrm>
          <a:prstGeom prst="ellipse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0696" y="2313432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7463" y="3063240"/>
            <a:ext cx="2057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2D9A67"/>
                </a:solidFill>
                <a:latin typeface="Aptos"/>
              </a:rPr>
              <a:t>ELLENŐRZÉS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3657600"/>
            <a:ext cx="1965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19364D"/>
                </a:solidFill>
                <a:latin typeface="Aptos"/>
              </a:rPr>
              <a:t>Feszültségmentesség igazolása.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9A67"/>
                </a:solidFill>
                <a:latin typeface="Aptos"/>
              </a:rPr>
              <a:t>3. TANÓRA • GYAKORLAT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Ellenőrzőlista készítése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2D9A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502920" cy="50292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55064"/>
            <a:ext cx="393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D9A67"/>
                </a:solidFill>
                <a:latin typeface="Apto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550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9364D"/>
                </a:solidFill>
                <a:latin typeface="Aptos"/>
              </a:rPr>
              <a:t>Áramkör azonosítva.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13432"/>
            <a:ext cx="502920" cy="50292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368296"/>
            <a:ext cx="393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D9A67"/>
                </a:solidFill>
                <a:latin typeface="Apto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6829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9364D"/>
                </a:solidFill>
                <a:latin typeface="Aptos"/>
              </a:rPr>
              <a:t>Leválasztási pont megnevezve.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26664"/>
            <a:ext cx="502920" cy="50292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081528"/>
            <a:ext cx="393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D9A67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9364D"/>
                </a:solidFill>
                <a:latin typeface="Aptos"/>
              </a:rPr>
              <a:t>Visszakapcsolás elleni védelem megoldva.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39896"/>
            <a:ext cx="502920" cy="50292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794759"/>
            <a:ext cx="393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D9A67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94759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9364D"/>
                </a:solidFill>
                <a:latin typeface="Aptos"/>
              </a:rPr>
              <a:t>Feszültségmentes állapot ellenőrizve.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453128"/>
            <a:ext cx="502920" cy="50292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507992"/>
            <a:ext cx="393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D9A67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079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9364D"/>
                </a:solidFill>
                <a:latin typeface="Aptos"/>
              </a:rPr>
              <a:t>Szomszédos veszélyes részek elhatárolva.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166360"/>
            <a:ext cx="502920" cy="502920"/>
          </a:xfrm>
          <a:prstGeom prst="roundRect">
            <a:avLst/>
          </a:prstGeom>
          <a:solidFill>
            <a:srgbClr val="E9F7F0"/>
          </a:solidFill>
          <a:ln>
            <a:solidFill>
              <a:srgbClr val="B9E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221224"/>
            <a:ext cx="393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D9A67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22122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9364D"/>
                </a:solidFill>
                <a:latin typeface="Aptos"/>
              </a:rPr>
              <a:t>Munkakezdés engedélyezve.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D64045"/>
                </a:solidFill>
                <a:latin typeface="Aptos"/>
              </a:rPr>
              <a:t>TIPIKUS TÉVHITEK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A mondatok, amelyeknél fel kell kapcsolnia a „piros lámpának”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D64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600200"/>
            <a:ext cx="103327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55648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64045"/>
                </a:solidFill>
                <a:latin typeface="Aptos"/>
              </a:rPr>
              <a:t>„Csak ezt az egy kismegszakítót kapcsoltam le.”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60320"/>
            <a:ext cx="103327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15768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64045"/>
                </a:solidFill>
                <a:latin typeface="Aptos"/>
              </a:rPr>
              <a:t>„Biztosan ez az áramkör.”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520440"/>
            <a:ext cx="103327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675888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2742"/>
                </a:solidFill>
                <a:latin typeface="Aptos"/>
              </a:rPr>
              <a:t>„Mérés nélkül is látszik.”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480560"/>
            <a:ext cx="103327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636008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B2742"/>
                </a:solidFill>
                <a:latin typeface="Aptos"/>
              </a:rPr>
              <a:t>„Mindjárt visszakapcsolom, csak gyorsan megnézem.”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677C8"/>
                </a:solidFill>
                <a:latin typeface="Aptos"/>
              </a:rPr>
              <a:t>ELLENŐRZÉS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0B2742"/>
                </a:solidFill>
                <a:latin typeface="Aptos"/>
              </a:rPr>
              <a:t>4 kérdés – 4 kulcslépés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53312"/>
            <a:ext cx="914400" cy="50292"/>
          </a:xfrm>
          <a:prstGeom prst="rect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47B8D"/>
                </a:solidFill>
                <a:latin typeface="Aptos"/>
              </a:rPr>
              <a:t>IAP • 11. évfolyam • Villamos szerelések • 03.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2823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647B8D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621792" cy="621792"/>
          </a:xfrm>
          <a:prstGeom prst="ellipse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082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38528"/>
            <a:ext cx="3886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Mit jelent a feszültségmentes munkavégzés?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95728"/>
            <a:ext cx="384048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Válaszolj szakmai kifejezésekkel.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64807" y="1947672"/>
            <a:ext cx="621792" cy="621792"/>
          </a:xfrm>
          <a:prstGeom prst="ellipse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7" y="202082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59" y="1938528"/>
            <a:ext cx="3886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Miért kell visszakapcsolás ellen biztosítani?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59" y="2395728"/>
            <a:ext cx="384048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Válaszolj szakmai kifejezésekkel.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49039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88" y="3959352"/>
            <a:ext cx="621792" cy="621792"/>
          </a:xfrm>
          <a:prstGeom prst="ellipse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03250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950207"/>
            <a:ext cx="3886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Miért kell ellenőrizni a feszültségmentes állapotot?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407407"/>
            <a:ext cx="384048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Válaszolj szakmai kifejezésekkel.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7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64807" y="3959352"/>
            <a:ext cx="621792" cy="621792"/>
          </a:xfrm>
          <a:prstGeom prst="ellipse">
            <a:avLst/>
          </a:prstGeom>
          <a:solidFill>
            <a:srgbClr val="16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4032504"/>
            <a:ext cx="621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950207"/>
            <a:ext cx="3886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742"/>
                </a:solidFill>
                <a:latin typeface="Aptos"/>
              </a:rPr>
              <a:t>Sorold fel az 5 biztonsági szabályt!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59" y="4407407"/>
            <a:ext cx="384048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9364D"/>
                </a:solidFill>
                <a:latin typeface="Aptos"/>
              </a:rPr>
              <a:t>Válaszolj szakmai kifejezésekkel.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7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5B8E6"/>
                </a:solidFill>
                <a:latin typeface="Aptos"/>
              </a:rPr>
              <a:t>03. HÉT • ZÁRÁS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ptos"/>
              </a:rPr>
              <a:t>A hét 4 mondata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5B8E6"/>
                </a:solidFill>
                <a:latin typeface="Apto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9659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 feszültségmentes munkavégzés szabályozott folyamat.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39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5B8E6"/>
                </a:solidFill>
                <a:latin typeface="Apto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834639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 lekapcsolás önmagában nem bizonyíték.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5B8E6"/>
                </a:solidFill>
                <a:latin typeface="Apto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70332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 visszakapcsolást meg kell akadályozni.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25B8E6"/>
                </a:solidFill>
                <a:latin typeface="Aptos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5720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 feszültségmentes állapotot ellenőrizni kell.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80644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BBD7E8"/>
                </a:solidFill>
                <a:latin typeface="Aptos"/>
              </a:rPr>
              <a:t>Következő hét: Egyéni védőeszközök és biztonságos műhelymunka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