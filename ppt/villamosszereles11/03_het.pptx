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image" Target="../media/image-14-2.png"/><Relationship Id="rId5" Type="http://schemas.openxmlformats.org/officeDocument/2006/relationships/image" Target="../media/image-14-3.svg"/><Relationship Id="rId6" Type="http://schemas.openxmlformats.org/officeDocument/2006/relationships/image" Target="../media/image-14-2.png"/><Relationship Id="rId7" Type="http://schemas.openxmlformats.org/officeDocument/2006/relationships/image" Target="../media/image-14-3.svg"/><Relationship Id="rId8" Type="http://schemas.openxmlformats.org/officeDocument/2006/relationships/image" Target="../media/image-14-2.png"/><Relationship Id="rId9" Type="http://schemas.openxmlformats.org/officeDocument/2006/relationships/image" Target="../media/image-14-3.svg"/><Relationship Id="rId10" Type="http://schemas.openxmlformats.org/officeDocument/2006/relationships/image" Target="../media/image-14-2.png"/><Relationship Id="rId11" Type="http://schemas.openxmlformats.org/officeDocument/2006/relationships/image" Target="../media/image-14-3.svg"/><Relationship Id="rId12" Type="http://schemas.openxmlformats.org/officeDocument/2006/relationships/image" Target="../media/image-14-2.png"/><Relationship Id="rId13" Type="http://schemas.openxmlformats.org/officeDocument/2006/relationships/image" Target="../media/image-14-3.svg"/><Relationship Id="rId14" Type="http://schemas.openxmlformats.org/officeDocument/2006/relationships/image" Target="../media/image-14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svg"/><Relationship Id="rId4" Type="http://schemas.openxmlformats.org/officeDocument/2006/relationships/image" Target="../media/image-15-4.png"/><Relationship Id="rId5" Type="http://schemas.openxmlformats.org/officeDocument/2006/relationships/image" Target="../media/image-15-5.sv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cdn.gamma.app/zhbarj5mkuql04w/3558f69279aa44e2872942cadccf68a4/file/IAP_feszultsegmentesites_3_het.pdf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45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82316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IAP A Feszültségmentesítés Szabályai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1475" y="2663825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Villamos biztonságtechnika • 3. hét • 2 tanóra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3114477"/>
            <a:ext cx="3065783" cy="1230213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3119" y="3286125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Téma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3119" y="3643809"/>
            <a:ext cx="272249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öt biztonsági szabály a feszültségmentesítéshez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92552" y="3114477"/>
            <a:ext cx="3065783" cy="1230213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64196" y="3286125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Szabvány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64196" y="3643809"/>
            <a:ext cx="272249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50110 és VDE alapelvek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4509988"/>
            <a:ext cx="6296860" cy="965597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3119" y="4681637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3119" y="5039320"/>
            <a:ext cx="59535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Biztonságos munkavégzés villamos berendezéseken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45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21866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Kulcsgondolat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909516" y="2072680"/>
            <a:ext cx="604881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kikapcsolt berendezés nem feltétlenül feszültségmentes. A feszültségmentességet nem feltételezzük – meggyőződünk róla.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1886645"/>
            <a:ext cx="19050" cy="901303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973983"/>
            <a:ext cx="6296860" cy="27621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69803" y="4826276"/>
            <a:ext cx="951664" cy="340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Biztonsági szabályok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569803" y="5215547"/>
            <a:ext cx="951664" cy="272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Öt alapvető szabály kidolgozása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593014" y="4996676"/>
            <a:ext cx="951665" cy="17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 gyakorlat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593014" y="5215547"/>
            <a:ext cx="951665" cy="272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Feszültségmentesség ellenőrzése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091519" y="3222237"/>
            <a:ext cx="951664" cy="17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1903 VDE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091519" y="3441108"/>
            <a:ext cx="951664" cy="272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VDE alapítás és kezdetek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102613" y="3222237"/>
            <a:ext cx="951664" cy="340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50110 bevezetés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102613" y="3611508"/>
            <a:ext cx="951664" cy="272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Szakmai szabvány megjelenése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877" y="120055"/>
            <a:ext cx="4411751" cy="66177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6121"/>
            <a:ext cx="6296860" cy="100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Történelmi nyitó – Több mint 120 év tapasztalata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790204"/>
            <a:ext cx="6296860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Amikor a XX. század elején a villamos energia megjelent a gyárakban és műhelyekben, hamar kiderült, hogy egy gép kikapcsolása még nem jelenti azt, hogy azon biztonságosan lehet dolgozni.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6086" y="2721670"/>
            <a:ext cx="3183751" cy="3580110"/>
          </a:xfrm>
          <a:prstGeom prst="roundRect">
            <a:avLst>
              <a:gd name="adj" fmla="val 362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06221" y="2876848"/>
            <a:ext cx="2863481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VDE gyökerei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06221" y="3282355"/>
            <a:ext cx="2863481" cy="1766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német VDE villamos biztonsági szabályozásának gyökerei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1903-ig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nyúlnak vissza. A több évtizedes üzemi és baleset-megelőzési tapasztalatból fokozatosan alakult ki az öt alapvető biztonsági szabály, amelyet ma az EN 50110 szabványrendszer is alkalmaz.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11711" y="2876848"/>
            <a:ext cx="295297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öt lépés logikája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011711" y="3282355"/>
            <a:ext cx="2952974" cy="1478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Levágás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Visszakapcsolás megakadályozása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Feszültség nélküli állapot ellenőrzése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Font typeface="+mj-lt"/>
              <a:buAutoNum type="arabicPeriod" startAt="4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Földelés és rövidre zárás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Font typeface="+mj-lt"/>
              <a:buAutoNum type="arabicPeriod" startAt="5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Védelem a közeli aktív részek ellen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11711" y="4900612"/>
            <a:ext cx="2952974" cy="12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technika azóta óriásit változott, de az alapelv nem: mielőtt dolgozni kezdünk, meg kell győződnünk arról, hogy a munkaterület villamos szempontból biztonságos.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848" y="106561"/>
            <a:ext cx="4429808" cy="6644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09488"/>
            <a:ext cx="6296860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jelent a feszültségmentesítés?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1136749"/>
            <a:ext cx="6296860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feszültségmentesítés olyan biztonsági műveletsor, amelynek célja, hogy a villamos berendezésen vagy annak közelében a munka biztonságosan elvégezhető legyen.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96938"/>
            <a:ext cx="6296860" cy="1040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8800" y="1858070"/>
            <a:ext cx="5898407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Kikapcsolás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98800" y="2153345"/>
            <a:ext cx="5898407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berendezés működését megszüntetjük. Ettől még bizonyos részei </a:t>
            </a:r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feszültség alatt maradhatnak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59484"/>
            <a:ext cx="6296860" cy="1040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8800" y="3020616"/>
            <a:ext cx="5898407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Levágás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98800" y="3315891"/>
            <a:ext cx="5898407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berendezést megfelelő kapcsoló- vagy levágóeszközzel </a:t>
            </a:r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elválasztjuk a villamos energiaforrástól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022030"/>
            <a:ext cx="6296860" cy="10404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8800" y="4183162"/>
            <a:ext cx="5898407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Feszültségmentesítés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98800" y="4478437"/>
            <a:ext cx="5898407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levágáson túl megtegyük az összes szükséges biztonsági intézkedést, és </a:t>
            </a:r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ellenőrizzük a feszültség nélküli állapotot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61475" y="5199757"/>
            <a:ext cx="6296860" cy="1148755"/>
          </a:xfrm>
          <a:prstGeom prst="roundRect">
            <a:avLst>
              <a:gd name="adj" fmla="val 5197"/>
            </a:avLst>
          </a:prstGeom>
          <a:solidFill>
            <a:srgbClr val="FCF2B5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553" y="5379145"/>
            <a:ext cx="177597" cy="14208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23227" y="5357416"/>
            <a:ext cx="5693029" cy="8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Tanórai példa: Egy háromfázisú motor a STOP nyomógomb megnyomása után megáll. A motor nem tekinthető feszültségmentesnek, hiszen a mágneskapcsoló előtt, a vezérlőáramkörben vagy akár a motorhoz vezető rendszer más részein továbbra is jelen lehet veszélyes feszültség.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007" y="114300"/>
            <a:ext cx="4419489" cy="6629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61268"/>
            <a:ext cx="6296860" cy="952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5 biztonsági szabály – helyes sorrend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61475" y="1625005"/>
            <a:ext cx="6906444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sorrendnek biztonsági jelentősége van.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017514"/>
            <a:ext cx="3148430" cy="6097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3871" y="2767806"/>
            <a:ext cx="2843637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13871" y="3090366"/>
            <a:ext cx="2843637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Teljes leválasztás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05" y="2017514"/>
            <a:ext cx="3148430" cy="6097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62301" y="2767806"/>
            <a:ext cx="2843637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3962301" y="3090366"/>
            <a:ext cx="2843637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Visszakapcsolás megakadályozása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477220"/>
            <a:ext cx="3148430" cy="6097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3871" y="4227513"/>
            <a:ext cx="2843637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813871" y="4550073"/>
            <a:ext cx="2843637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Feszültség nélküli állapot ellenőrzése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05" y="3477220"/>
            <a:ext cx="3148430" cy="60979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962301" y="4227513"/>
            <a:ext cx="2843637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3962301" y="4550073"/>
            <a:ext cx="2843637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Földelés és rövidre zárás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936927"/>
            <a:ext cx="3148430" cy="60979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13871" y="5687219"/>
            <a:ext cx="2843637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813871" y="6009779"/>
            <a:ext cx="2843637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Védelem a közeli aktív részek ellen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4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93663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Teljes leválasztás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33360" y="1658441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munkaterületet minden olyan energiaforrásról le kell választani, amely veszélyes feszültséget juttathat rá.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33360" y="2539008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Leválasztás módszerei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33360" y="2962771"/>
            <a:ext cx="2946723" cy="2348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Leválasztókapcsoló működtetésével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Megszakító kikapcsolásával, ha az alkalmas a szükséges leválasztásra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Biztosítóbétét eltávolításával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Csatlakozó kihúzásával megfelelő esetben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Több betáplálás esetén valamennyi energiaforrás leválasztásával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70787" y="2373709"/>
            <a:ext cx="3184842" cy="3590627"/>
          </a:xfrm>
          <a:prstGeom prst="roundRect">
            <a:avLst>
              <a:gd name="adj" fmla="val 373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636082" y="2539008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Különösen figyelni kell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36082" y="2962771"/>
            <a:ext cx="34638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 vezérlőszekrényben lehet: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36082" y="3376216"/>
            <a:ext cx="2854254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3×400 V teljesítményáramkör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230 V vezérlés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V DC tápegység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36082" y="4757043"/>
            <a:ext cx="285425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egyik főkapcsoló kikapcsolása önmagában nem bizonyítja, hogy minden érintett rész feszültségmentes.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4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34678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Visszakapcsolás megakadályozása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33360" y="2516188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leválasztott berendezést biztosítani kell a véletlen vagy illetéktelen visszakapcsolás ellen.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114301" y="3231455"/>
            <a:ext cx="3184842" cy="2970510"/>
          </a:xfrm>
          <a:prstGeom prst="roundRect">
            <a:avLst>
              <a:gd name="adj" fmla="val 400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279595" y="3396754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LOTO – Lockout/Tagout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79595" y="3820517"/>
            <a:ext cx="285425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Ennek ismert módszere 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LOTO – Lockout/Tagout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eljárás: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79595" y="4498578"/>
            <a:ext cx="2854254" cy="1645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Lockout: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mechanikai reteszelés, például lakattal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Tagout: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jól látható figyelmeztető jelzés elhelyezése – pl. „BEKAPCSOLNI TILOS! A BERENDEZÉSEN DOLGOZNAK!"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89847" y="3396754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lényeg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89847" y="3820517"/>
            <a:ext cx="294672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Nem egyszerűen a tábla kihelyezéséről van szó. A visszakapcsolás lehetőségét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ténylegesen meg kell akadályozni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fizikai reteszeléssel, hogy illetéktelen személy ne tudja visszakapcsolni a berendezést a munkavégzés ideje alatt.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877" y="120055"/>
            <a:ext cx="4411751" cy="66177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74365"/>
            <a:ext cx="6296860" cy="100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Feszültség nélküli állapot ellenőrzése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708448"/>
            <a:ext cx="6296860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Ez a feszültségmentesítés egyik legfontosabb mozzanata. Nem feltételezzük, hogy nincs feszültség – ellenőrizzük.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87600"/>
            <a:ext cx="3070843" cy="21726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00706" y="2507754"/>
            <a:ext cx="192182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40659" y="3028454"/>
            <a:ext cx="271247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Eszköz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40659" y="3371850"/>
            <a:ext cx="2712474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Kisfeszültségű berendezéseknél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kétpólusú feszültségvizsgálót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alkalmazunk.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7492" y="2387600"/>
            <a:ext cx="3070843" cy="21726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26723" y="2507754"/>
            <a:ext cx="192182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066676" y="3028454"/>
            <a:ext cx="271247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Mérési pontok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4066676" y="3371850"/>
            <a:ext cx="2712474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Háromfázisú hálózatnál: L1–L2, L2–L3, L3–L1, valamint az aktív és földpotenciálhoz kapcsolódó vezetékek között is.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715470"/>
            <a:ext cx="6296860" cy="166806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713764" y="4835624"/>
            <a:ext cx="192182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840659" y="5356324"/>
            <a:ext cx="593849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Módszer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840659" y="5699720"/>
            <a:ext cx="5938490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ELLENŐRZÉS → MÉRÉS → ELLENŐRZÉS</a:t>
            </a:r>
            <a:endParaRPr lang="en-US" sz="12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vizsgálóeszköz működését a mérés előtt és után is igazolni kell.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4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78136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Földelés és rövidre zárás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33360" y="2042914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Ahol a berendezés és a munkavégzés jellege ezt szükségessé teszi, a leválasztott vezetékeket földelni és rövidre zárni kell.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33360" y="2923480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Célja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33360" y="3347244"/>
            <a:ext cx="294672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Veszélyes feszültség ne maradhasson vagy ne jelenhessen meg a munkaterületen: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33360" y="4289921"/>
            <a:ext cx="2946723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Téves visszakapcsolás esetén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Indukált feszültség miatt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Visszatáplálás következtében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energiaforrásból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70787" y="2758182"/>
            <a:ext cx="3184842" cy="2821583"/>
          </a:xfrm>
          <a:prstGeom prst="roundRect">
            <a:avLst>
              <a:gd name="adj" fmla="val 422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636082" y="2923480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Fontos megjegyzés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36082" y="3347244"/>
            <a:ext cx="285425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Kisfeszültségű környezetben ez a lépés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nem automatikusan minden munkánál ugyanúgy végrehajtandó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az adott berendezésre, munkamódszerre és szabályokra kell alkalmazni.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4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28787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Védelem a közeli feszültség alatt álló részek ellen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33360" y="2210296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Előfordulhat, hogy a javítandó berendezést feszültségmentesítettük, de közvetlen közelében más berendezés továbbra is feszültség alatt marad.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33360" y="3090863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Megfelelő védelmi módszerek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33360" y="3514626"/>
            <a:ext cx="2946723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Elhatárolással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Letakarással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Szigetelő védőelemekkel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Biztonságos távolság biztosításával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70787" y="2925564"/>
            <a:ext cx="3184842" cy="3003649"/>
          </a:xfrm>
          <a:prstGeom prst="roundRect">
            <a:avLst>
              <a:gd name="adj" fmla="val 396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636082" y="3090863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Gyakorlati példa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36082" y="3514626"/>
            <a:ext cx="2854254" cy="226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 kapcsolószekrény egyik mezőjén dolgozunk. A mezőt megfelelően feszültségmentesítettük, de a mellette lévő mező üzemben maradt.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munkaterület tehát attól még nem feltétlenül biztonságos, hogy az általunk javított áramkör feszültségmentes.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981" y="81260"/>
            <a:ext cx="4463541" cy="6695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74663"/>
            <a:ext cx="6296860" cy="67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Gyakorlati példa – háromfázisú motor karbantartása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61475" y="1259681"/>
            <a:ext cx="6906444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 3×400 V-os aszinkron motor csapágát kell cserélni. A STOP gomb megnyomására a motor megáll.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661475" y="1483519"/>
            <a:ext cx="6296860" cy="333177"/>
          </a:xfrm>
          <a:prstGeom prst="roundRect">
            <a:avLst>
              <a:gd name="adj" fmla="val 13682"/>
            </a:avLst>
          </a:prstGeom>
          <a:solidFill>
            <a:srgbClr val="FFB3B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18" y="1588393"/>
            <a:ext cx="135629" cy="1084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13990" y="1581745"/>
            <a:ext cx="6445486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Kérdés: elkezdhető a munka? – Nem.</a:t>
            </a:r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STOP nyomógomb csak működési parancsot adhat a vezérlésnek.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61475" y="1896765"/>
            <a:ext cx="216986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61475" y="2068413"/>
            <a:ext cx="6296860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7"/>
          <p:cNvSpPr/>
          <p:nvPr/>
        </p:nvSpPr>
        <p:spPr>
          <a:xfrm>
            <a:off x="661475" y="2147987"/>
            <a:ext cx="6296860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STOP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61475" y="2360116"/>
            <a:ext cx="6296860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motor leállítása a nyomógombbal – ez még nem elegendő.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61475" y="2656384"/>
            <a:ext cx="216986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61475" y="2828032"/>
            <a:ext cx="6296860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1"/>
          <p:cNvSpPr/>
          <p:nvPr/>
        </p:nvSpPr>
        <p:spPr>
          <a:xfrm>
            <a:off x="661475" y="2907605"/>
            <a:ext cx="6296860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Leválasztás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61475" y="3119735"/>
            <a:ext cx="6296860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motor teljes leválasztása minden energiaforrástól.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61475" y="3416002"/>
            <a:ext cx="216986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61475" y="3587651"/>
            <a:ext cx="6296860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5"/>
          <p:cNvSpPr/>
          <p:nvPr/>
        </p:nvSpPr>
        <p:spPr>
          <a:xfrm>
            <a:off x="661475" y="3667224"/>
            <a:ext cx="6296860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Visszakapcsolás megakadályozása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61475" y="3879354"/>
            <a:ext cx="6296860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LOTO eljárás alkalmazása, reteszelés és jelzés.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61475" y="4175621"/>
            <a:ext cx="216986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61475" y="4347270"/>
            <a:ext cx="6296860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19"/>
          <p:cNvSpPr/>
          <p:nvPr/>
        </p:nvSpPr>
        <p:spPr>
          <a:xfrm>
            <a:off x="661475" y="4426843"/>
            <a:ext cx="6296860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Feszültség nélküli állapot ellenőrzése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661475" y="4638973"/>
            <a:ext cx="6296860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Kétpólusú feszültségvizsgálóval, minden fázison.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661475" y="4935240"/>
            <a:ext cx="216986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61475" y="5106888"/>
            <a:ext cx="6296860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3"/>
          <p:cNvSpPr/>
          <p:nvPr/>
        </p:nvSpPr>
        <p:spPr>
          <a:xfrm>
            <a:off x="661475" y="5186462"/>
            <a:ext cx="6296860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További biztonsági intézkedések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61475" y="5398591"/>
            <a:ext cx="6296860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Szükség szerint földelés, rövidre zárás, védelem.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61475" y="5694859"/>
            <a:ext cx="216986" cy="135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61475" y="5866507"/>
            <a:ext cx="6296860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1" name="Text 27"/>
          <p:cNvSpPr/>
          <p:nvPr/>
        </p:nvSpPr>
        <p:spPr>
          <a:xfrm>
            <a:off x="661475" y="5946080"/>
            <a:ext cx="6296860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Munkavégzés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661475" y="6158210"/>
            <a:ext cx="6296860" cy="14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Csak ezt követően kezdhető el a csapágycsere.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8269" y="102691"/>
            <a:ext cx="4434967" cy="66526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2853"/>
            <a:ext cx="6296860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Különleges veszély: tárolt energia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61475" y="1200845"/>
            <a:ext cx="6906444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tápfeszültség leválasztása után is maradhat veszélyes energia a rendszerben.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66853" y="1656259"/>
            <a:ext cx="6091482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Tipikus példa: frekvenciaváltó DC-köre</a:t>
            </a:r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 közbensőköri kondenzátorok a hálózati feszültség lekapcsolása után még egy ideig töltöttek lehetnek.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Frekvenciaváltó kikapcsolva ≠ azonnal feszültségmentes.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61475" y="1528663"/>
            <a:ext cx="19050" cy="855861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2512120"/>
            <a:ext cx="6296860" cy="768747"/>
          </a:xfrm>
          <a:prstGeom prst="roundRect">
            <a:avLst>
              <a:gd name="adj" fmla="val 748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743" y="2655391"/>
            <a:ext cx="6010323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Kondenzátortelep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743" y="2937371"/>
            <a:ext cx="6010323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Töltött állapotban maradhat lekapcsolás után.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1475" y="3394273"/>
            <a:ext cx="6296860" cy="768747"/>
          </a:xfrm>
          <a:prstGeom prst="roundRect">
            <a:avLst>
              <a:gd name="adj" fmla="val 748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743" y="3537545"/>
            <a:ext cx="6010323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UPS / Akkumulátor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4743" y="3819525"/>
            <a:ext cx="6010323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Folyamatos energiaforrás, független a hálózattól.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1475" y="4276427"/>
            <a:ext cx="6296860" cy="768747"/>
          </a:xfrm>
          <a:prstGeom prst="roundRect">
            <a:avLst>
              <a:gd name="adj" fmla="val 748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743" y="4419699"/>
            <a:ext cx="6010323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Napelemes rendszer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743" y="4701679"/>
            <a:ext cx="6010323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Fény hatására folyamatosan termel feszültséget.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61475" y="5158581"/>
            <a:ext cx="6296860" cy="768747"/>
          </a:xfrm>
          <a:prstGeom prst="roundRect">
            <a:avLst>
              <a:gd name="adj" fmla="val 748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743" y="5301853"/>
            <a:ext cx="6010323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Generátor / Visszatáplálás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4743" y="5583833"/>
            <a:ext cx="6010323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Visszatáplálásra képes hajtás veszélyes feszültséget juttathat a leválasztott körbe.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61475" y="6054923"/>
            <a:ext cx="6906444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Mindig figyelembe kell venni a gyártó által előírt kisülési/várakozási időt és az előírt ellenőrzési eljárást.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" y="114300"/>
            <a:ext cx="4419489" cy="6629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462459"/>
            <a:ext cx="6296860" cy="952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munka befejezése és visszakapcsolás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233360" y="1626195"/>
            <a:ext cx="6296860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munkavégzés végén sem egyszerűen „felkapcsoljuk a biztosítékot". Meg kell győződni arról, hogy minden feltétel teljesül.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233360" y="2253159"/>
            <a:ext cx="342991" cy="342999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6841" y="2305546"/>
            <a:ext cx="5813379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munka befejeződött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16841" y="2628106"/>
            <a:ext cx="5813379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Minden tervezett feladat elvégzésre került, nincs befejezetlen beavatkozás.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33360" y="3143647"/>
            <a:ext cx="342991" cy="342999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6841" y="3196034"/>
            <a:ext cx="5813379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Szerszámok és személyek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16841" y="3518595"/>
            <a:ext cx="5813379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szerszámokat eltávolították, a munkaterületen lévők biztonságban vannak.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33360" y="4034135"/>
            <a:ext cx="342991" cy="342999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6841" y="4086523"/>
            <a:ext cx="5813379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Burkolatok visszaszerelve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716841" y="4409083"/>
            <a:ext cx="5813379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burkolatok és védőelemek megfelelően visszakerültek az eredeti helyükre.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33360" y="4924623"/>
            <a:ext cx="342991" cy="342999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6841" y="4977011"/>
            <a:ext cx="5813379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Biztonsági intézkedések megszüntetése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716841" y="5299571"/>
            <a:ext cx="5813379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ideiglenes biztonsági intézkedések az előírt sorrendben megszüntethetők, a berendezés visszaadható üzemre.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33360" y="5926534"/>
            <a:ext cx="6296860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visszakapcsolást mindig az adott munkára és berendezésre vonatkozó eljárás szerint kell elvégezni.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848" y="106561"/>
            <a:ext cx="4429808" cy="6644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65336"/>
            <a:ext cx="6296860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Tipikus hibák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1092597"/>
            <a:ext cx="6296860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balesetek jelentős része megelőzhető lett volna, ha az alábbi tévhiteket nem alkalmazzák a gyakorlatban.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52786"/>
            <a:ext cx="6296860" cy="5443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8800" y="1813917"/>
            <a:ext cx="5898407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✗ „Lenyomtam a STOP-ot, tehát nincs benne áram."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319238"/>
            <a:ext cx="6296860" cy="5443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8800" y="2480370"/>
            <a:ext cx="5898407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✗ „A megszakító lent van, biztosan jó."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2985691"/>
            <a:ext cx="6296860" cy="5443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8800" y="3146822"/>
            <a:ext cx="5898407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✗ „A kollégám azt mondta, hogy lekapcsolta."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3652143"/>
            <a:ext cx="6296860" cy="54431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98800" y="3813274"/>
            <a:ext cx="5898407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✗ „A motor nem forog, tehát nincs feszültség."</a:t>
            </a:r>
            <a:endParaRPr lang="en-US" sz="13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318595"/>
            <a:ext cx="6296860" cy="54431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98800" y="4479727"/>
            <a:ext cx="5898407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✗ „Egyszer rámértem, elég lesz."</a:t>
            </a:r>
            <a:endParaRPr lang="en-US" sz="13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1475" y="4985048"/>
            <a:ext cx="6296860" cy="54431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98800" y="5146179"/>
            <a:ext cx="5898407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✗ „Csak két percig tart a javítás."</a:t>
            </a:r>
            <a:endParaRPr lang="en-US" sz="1350" dirty="0"/>
          </a:p>
        </p:txBody>
      </p:sp>
      <p:sp>
        <p:nvSpPr>
          <p:cNvPr id="18" name="Shape 9"/>
          <p:cNvSpPr/>
          <p:nvPr/>
        </p:nvSpPr>
        <p:spPr>
          <a:xfrm>
            <a:off x="661475" y="5666680"/>
            <a:ext cx="6296860" cy="725884"/>
          </a:xfrm>
          <a:prstGeom prst="roundRect">
            <a:avLst>
              <a:gd name="adj" fmla="val 8224"/>
            </a:avLst>
          </a:prstGeom>
          <a:solidFill>
            <a:srgbClr val="E1E1EA"/>
          </a:solidFill>
          <a:ln/>
        </p:spPr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3553" y="5846068"/>
            <a:ext cx="177597" cy="14208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123227" y="5824339"/>
            <a:ext cx="569302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Ezek helyett a helyes szemlélet: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LEVÁLASZTOM → BIZTOSÍTOM → ELLENŐRZÖM → VÉDEM → CSAK EZUTÁN DOLGOZOM.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399" y="96838"/>
            <a:ext cx="4442706" cy="66642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11274"/>
            <a:ext cx="6296860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Összefoglalás – Az öt biztonsági szabály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855244" y="1389459"/>
            <a:ext cx="2904060" cy="129183"/>
          </a:xfrm>
          <a:prstGeom prst="roundRect">
            <a:avLst>
              <a:gd name="adj" fmla="val 4200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654" y="1748730"/>
            <a:ext cx="2839570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TELJES LEVÁLASZTÁS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0654" y="2011164"/>
            <a:ext cx="2839570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Minden energiaforrásról, minden betáplálásról.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054076" y="1195685"/>
            <a:ext cx="2904159" cy="129183"/>
          </a:xfrm>
          <a:prstGeom prst="roundRect">
            <a:avLst>
              <a:gd name="adj" fmla="val 4200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89486" y="1554956"/>
            <a:ext cx="2839669" cy="40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VISSZAKAPCSOLÁS MEGAKADÁLYOZÁSA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989486" y="2019300"/>
            <a:ext cx="2839669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LOTO eljárással, mechanikai reteszeléssel.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55244" y="2756396"/>
            <a:ext cx="2904060" cy="129183"/>
          </a:xfrm>
          <a:prstGeom prst="roundRect">
            <a:avLst>
              <a:gd name="adj" fmla="val 4200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654" y="3115667"/>
            <a:ext cx="2839570" cy="40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FESZÜLTSÉG NÉLKÜLI ÁLLAPOT ELLENŐRZÉSE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90654" y="3580011"/>
            <a:ext cx="2839570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Kétpólusú vizsgálóval, ellenőrzés–mérés–ellenőrzés.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54076" y="2562622"/>
            <a:ext cx="2904159" cy="129183"/>
          </a:xfrm>
          <a:prstGeom prst="roundRect">
            <a:avLst>
              <a:gd name="adj" fmla="val 4200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89486" y="2921893"/>
            <a:ext cx="2839669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FÖLDELÉS ÉS RÖVIDRE ZÁRÁS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989486" y="3184327"/>
            <a:ext cx="2839669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Ahol a berendezés és a munkavégzés jellege megköveteli.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55244" y="4501158"/>
            <a:ext cx="2904060" cy="129183"/>
          </a:xfrm>
          <a:prstGeom prst="roundRect">
            <a:avLst>
              <a:gd name="adj" fmla="val 4200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0654" y="4860429"/>
            <a:ext cx="2839570" cy="40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VÉDELEM A KÖZELI AKTÍV RÉSZEK ELLEN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90654" y="5324773"/>
            <a:ext cx="2839570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Elhatárolással, letakarással, biztonságos távolsággal.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55244" y="6049070"/>
            <a:ext cx="6712675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Amit mindenkinek meg kell jegyeznie: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feszültségmentességet nem feltételezzük. Meggyőződünk róla.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61475" y="5935563"/>
            <a:ext cx="19050" cy="411063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22" name="Shape 19"/>
          <p:cNvSpPr/>
          <p:nvPr/>
        </p:nvSpPr>
        <p:spPr>
          <a:xfrm>
            <a:off x="661475" y="1260277"/>
            <a:ext cx="387539" cy="387548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310" y="1357213"/>
            <a:ext cx="193769" cy="193774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860307" y="1066502"/>
            <a:ext cx="387539" cy="387548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7142" y="1163439"/>
            <a:ext cx="193769" cy="193774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61475" y="2627213"/>
            <a:ext cx="387539" cy="387548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10" y="2724150"/>
            <a:ext cx="193769" cy="19377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3860307" y="2433439"/>
            <a:ext cx="387539" cy="387548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57142" y="2530376"/>
            <a:ext cx="193769" cy="193774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661475" y="4371975"/>
            <a:ext cx="387539" cy="387548"/>
          </a:xfrm>
          <a:prstGeom prst="ellipse">
            <a:avLst/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8310" y="4468912"/>
            <a:ext cx="193769" cy="1937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848" y="106561"/>
            <a:ext cx="4429808" cy="6644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12564"/>
            <a:ext cx="6296860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Ellenőrző kérdések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1139825"/>
            <a:ext cx="6906444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tananyag elsajátításának ellenőrzésére szolgáló kérdések: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1475" y="1625898"/>
            <a:ext cx="284255" cy="177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61475" y="1848346"/>
            <a:ext cx="29750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1957487"/>
            <a:ext cx="297509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 a különbség a kikapcsolás és a feszültségmentesítés között?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1475" y="2609056"/>
            <a:ext cx="284255" cy="177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1475" y="2831505"/>
            <a:ext cx="29750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8"/>
          <p:cNvSpPr/>
          <p:nvPr/>
        </p:nvSpPr>
        <p:spPr>
          <a:xfrm>
            <a:off x="661475" y="2940645"/>
            <a:ext cx="297509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Sorold fel sorrendben az öt biztonsági szabályt!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1475" y="3592215"/>
            <a:ext cx="284255" cy="177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1475" y="3814663"/>
            <a:ext cx="29750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3923804"/>
            <a:ext cx="2975099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Miért kell megakadályozni a visszakapcsolást?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1475" y="4363938"/>
            <a:ext cx="284255" cy="177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1475" y="4586387"/>
            <a:ext cx="29750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4"/>
          <p:cNvSpPr/>
          <p:nvPr/>
        </p:nvSpPr>
        <p:spPr>
          <a:xfrm>
            <a:off x="661475" y="4695527"/>
            <a:ext cx="2975099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jelent a LOTO?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1475" y="5135662"/>
            <a:ext cx="284255" cy="177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61475" y="5358110"/>
            <a:ext cx="29750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7"/>
          <p:cNvSpPr/>
          <p:nvPr/>
        </p:nvSpPr>
        <p:spPr>
          <a:xfrm>
            <a:off x="661475" y="5467251"/>
            <a:ext cx="297509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Miért nem elegendő egy STOP nyomógomb működtetése?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989585" y="1625898"/>
            <a:ext cx="284255" cy="177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989585" y="1848346"/>
            <a:ext cx="29750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20"/>
          <p:cNvSpPr/>
          <p:nvPr/>
        </p:nvSpPr>
        <p:spPr>
          <a:xfrm>
            <a:off x="3989585" y="1957487"/>
            <a:ext cx="297509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Mivel ellenőrizzük a feszültség nélküli állapotot?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989585" y="2609056"/>
            <a:ext cx="284255" cy="177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989585" y="2831505"/>
            <a:ext cx="29750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23"/>
          <p:cNvSpPr/>
          <p:nvPr/>
        </p:nvSpPr>
        <p:spPr>
          <a:xfrm>
            <a:off x="3989585" y="2940645"/>
            <a:ext cx="2975099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Miért kell a feszültségvizsgálatot is ellenőrizni?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989585" y="3380780"/>
            <a:ext cx="284255" cy="177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989585" y="3603228"/>
            <a:ext cx="29750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9" name="Text 26"/>
          <p:cNvSpPr/>
          <p:nvPr/>
        </p:nvSpPr>
        <p:spPr>
          <a:xfrm>
            <a:off x="3989585" y="3712369"/>
            <a:ext cx="297509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Miért veszélyes egy frekvenciaváltó közbenső köre kikapcsolás után?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989585" y="4363938"/>
            <a:ext cx="284255" cy="177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989585" y="4586387"/>
            <a:ext cx="29750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2" name="Text 29"/>
          <p:cNvSpPr/>
          <p:nvPr/>
        </p:nvSpPr>
        <p:spPr>
          <a:xfrm>
            <a:off x="3989585" y="4695527"/>
            <a:ext cx="297509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Miért lehet veszélyes egy több betáplálással rendelkező kapcsolószekrény?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989585" y="5347097"/>
            <a:ext cx="284255" cy="177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989585" y="5569545"/>
            <a:ext cx="2975099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5" name="Text 32"/>
          <p:cNvSpPr/>
          <p:nvPr/>
        </p:nvSpPr>
        <p:spPr>
          <a:xfrm>
            <a:off x="3989585" y="5678686"/>
            <a:ext cx="297509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kell tenni a közelben maradó feszültség alatt álló részekkel?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45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914253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Források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1475" y="3679031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IAP_feszultsegmentesites_3_het.pdf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2026-09-16T03:15:26Z</dcterms:created>
  <dcterms:modified xsi:type="dcterms:W3CDTF">2026-09-16T03:15:26Z</dcterms:modified>
</cp:coreProperties>
</file>