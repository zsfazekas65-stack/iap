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embeddedFontLst>
    <p:embeddedFont>
      <p:font typeface="Raleway Bold"/>
      <p:regular r:id="rId201314"/>
    </p:embeddedFont>
    <p:embeddedFont>
      <p:font typeface="Raleway"/>
      <p:regular r:id="rId201315"/>
    </p:embeddedFont>
    <p:embeddedFont>
      <p:font typeface="Roboto"/>
      <p:regular r:id="rId201316"/>
    </p:embeddedFont>
    <p:embeddedFont>
      <p:font typeface="Roboto Bold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1.png"/><Relationship Id="rId4" Type="http://schemas.openxmlformats.org/officeDocument/2006/relationships/image" Target="../media/image-4-2.svg"/><Relationship Id="rId5" Type="http://schemas.openxmlformats.org/officeDocument/2006/relationships/image" Target="../media/image-4-1.png"/><Relationship Id="rId6" Type="http://schemas.openxmlformats.org/officeDocument/2006/relationships/image" Target="../media/image-4-2.sv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3.png"/><Relationship Id="rId6" Type="http://schemas.openxmlformats.org/officeDocument/2006/relationships/image" Target="../media/image-8-4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1.png"/><Relationship Id="rId4" Type="http://schemas.openxmlformats.org/officeDocument/2006/relationships/image" Target="../media/image-14-2.svg"/><Relationship Id="rId5" Type="http://schemas.openxmlformats.org/officeDocument/2006/relationships/image" Target="../media/image-14-1.png"/><Relationship Id="rId6" Type="http://schemas.openxmlformats.org/officeDocument/2006/relationships/image" Target="../media/image-14-2.svg"/><Relationship Id="rId7" Type="http://schemas.openxmlformats.org/officeDocument/2006/relationships/image" Target="../media/image-14-1.png"/><Relationship Id="rId8" Type="http://schemas.openxmlformats.org/officeDocument/2006/relationships/image" Target="../media/image-14-2.svg"/><Relationship Id="rId9" Type="http://schemas.openxmlformats.org/officeDocument/2006/relationships/image" Target="../media/image-14-1.png"/><Relationship Id="rId10" Type="http://schemas.openxmlformats.org/officeDocument/2006/relationships/image" Target="../media/image-14-2.svg"/><Relationship Id="rId11" Type="http://schemas.openxmlformats.org/officeDocument/2006/relationships/image" Target="../media/image-14-1.png"/><Relationship Id="rId12" Type="http://schemas.openxmlformats.org/officeDocument/2006/relationships/image" Target="../media/image-14-2.svg"/><Relationship Id="rId13" Type="http://schemas.openxmlformats.org/officeDocument/2006/relationships/image" Target="../media/image-1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cdn.gamma.app/zhbarj5mkuql04w/3558f69279aa44e2872942cadccf68a4/file/IAP_feszultsegmentesites_3_het.pdf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164854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IAPA Feszültségmentesítés Szabályai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3012281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biztonságtechnika • 3. hét • 2 tanóra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3462933"/>
            <a:ext cx="3512653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3119" y="3634581"/>
            <a:ext cx="316936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Téma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3119" y="3992265"/>
            <a:ext cx="316936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öt biztonsági szabály a feszültségmentesítéshez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9422" y="3462933"/>
            <a:ext cx="3512752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11066" y="3634581"/>
            <a:ext cx="316946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Szabvány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11066" y="3992265"/>
            <a:ext cx="316946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 50110 és VDE alapelvek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17468" y="3462933"/>
            <a:ext cx="3512653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9112" y="3634581"/>
            <a:ext cx="316936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89112" y="3992265"/>
            <a:ext cx="316936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Biztonságos munkavégzés villamos berendezéseken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62359"/>
            <a:ext cx="10868745" cy="411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Kulcsgondolat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859114" y="1202333"/>
            <a:ext cx="11280691" cy="189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kikapcsolt berendezés nem feltétlenül feszültségmentes. A feszültségmentességet nem feltételezzük – meggyőződünk róla.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61475" y="1084263"/>
            <a:ext cx="19050" cy="425549"/>
          </a:xfrm>
          <a:prstGeom prst="roundRect">
            <a:avLst>
              <a:gd name="adj" fmla="val 49999"/>
            </a:avLst>
          </a:prstGeom>
          <a:solidFill>
            <a:srgbClr val="1B1B2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627882"/>
            <a:ext cx="10868745" cy="47677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55303" y="4873173"/>
            <a:ext cx="1642671" cy="5882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Biztonsági szabályok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3955303" y="5545095"/>
            <a:ext cx="1642671" cy="422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Öt alapvető szabály kidolgozása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9173680" y="5167302"/>
            <a:ext cx="1642670" cy="294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Mai gyakorlat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9173680" y="5545095"/>
            <a:ext cx="1642670" cy="422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Feszültségmentesség ellenőrzése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403632" y="2056395"/>
            <a:ext cx="1642671" cy="294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1903 VDE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1403632" y="2434188"/>
            <a:ext cx="1642671" cy="422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VDE alapítás és kezdetek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601093" y="2056395"/>
            <a:ext cx="1642670" cy="5882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50110 bevezetés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6601093" y="2728317"/>
            <a:ext cx="1642670" cy="422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Szakmai szabvány megjelenése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30089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Történelmi nyitó – Több mint 120 év tapasztalata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1877516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Amikor a XX. század elején a villamos energia megjelent a gyárakban és műhelyekben, hamar kiderült, hogy egy gép kikapcsolása még nem jelenti azt, hogy azon biztonságosan lehet dolgozni.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2415" y="2592784"/>
            <a:ext cx="5470785" cy="3235027"/>
          </a:xfrm>
          <a:prstGeom prst="roundRect">
            <a:avLst>
              <a:gd name="adj" fmla="val 3681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07710" y="2758083"/>
            <a:ext cx="514019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VDE gyökerei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07710" y="3181846"/>
            <a:ext cx="5140196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német VDE villamos biztonsági szabályozásának gyökerei </a:t>
            </a:r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1903-ig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nyúlnak vissza. A több évtizedes üzemi és baleset-megelőzési tapasztalatból fokozatosan alakult ki az öt alapvető biztonsági szabály, amelyet ma az EN 50110 szabványrendszer is alkalmaz.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3904" y="2758083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Az öt lépés logikája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03904" y="3181846"/>
            <a:ext cx="5232666" cy="155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Levágás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Font typeface="+mj-lt"/>
              <a:buAutoNum type="arabicPeriod" startAt="2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Visszakapcsolás megakadályozása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Feszültség nélküli állapot ellenőrzése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Földelés és rövidre zárás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Védelem a közeli aktív részek ellen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3904" y="4885134"/>
            <a:ext cx="5232666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technika azóta óriásit változott, de az alapelv nem: mielőtt dolgozni kezdünk, meg kell győződnünk arról, hogy a munkaterület villamos szempontból biztonságos.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66899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Mit jelent a feszültségmentesítés?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1914327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feszültségmentesítés olyan biztonsági műveletsor, amelynek célja, hogy a villamos berendezésen vagy annak közelében a munka biztonságosan elvégezhető legyen.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629595"/>
            <a:ext cx="3512653" cy="178484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22017" y="2813943"/>
            <a:ext cx="306776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Kikapcsolás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22017" y="3171627"/>
            <a:ext cx="3067767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berendezés működését megszüntetjük. Ettől még bizonyos részei </a:t>
            </a:r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feszültség alatt maradhatnak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9422" y="2629595"/>
            <a:ext cx="3512752" cy="178484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99964" y="2813943"/>
            <a:ext cx="30678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Levágás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4599964" y="3171627"/>
            <a:ext cx="3067866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berendezést megfelelő kapcsoló- vagy levágóeszközzel </a:t>
            </a:r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elválasztjuk a villamos energiaforrástól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3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17468" y="2629595"/>
            <a:ext cx="3512653" cy="178484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78010" y="2813943"/>
            <a:ext cx="306776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Feszültségmentesítés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8278010" y="3171627"/>
            <a:ext cx="3067767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levágáson túl megtegyük az összes szükséges biztonsági intézkedést, és </a:t>
            </a:r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ellenőrizzük a feszültség nélküli állapotot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61475" y="4600476"/>
            <a:ext cx="10868745" cy="1190526"/>
          </a:xfrm>
          <a:prstGeom prst="roundRect">
            <a:avLst>
              <a:gd name="adj" fmla="val 5835"/>
            </a:avLst>
          </a:prstGeom>
          <a:solidFill>
            <a:srgbClr val="FCF2B5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769" y="4840188"/>
            <a:ext cx="206667" cy="16529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98731" y="4807049"/>
            <a:ext cx="10166195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Tanórai példa: Egy háromfázisú motor a STOP nyomógomb megnyomása után megáll. A motor nem tekinthető feszültségmentesnek, hiszen a mágneskapcsoló előtt, a vezérlőáramkörben vagy akár a motorhoz vezető rendszer más részein továbbra is jelen lehet veszélyes feszültség.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6552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Az 5 biztonsági szabály – helyes sorrend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2012950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sorrendnek biztonsági jelentősége van.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463602"/>
            <a:ext cx="3622882" cy="66149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6769" y="3290391"/>
            <a:ext cx="329229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6769" y="3648075"/>
            <a:ext cx="3292293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Teljes leválasztás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357" y="2463602"/>
            <a:ext cx="3622882" cy="6614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49651" y="3290391"/>
            <a:ext cx="329229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4449651" y="3648075"/>
            <a:ext cx="3292293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Visszakapcsolás megakadályozása</a:t>
            </a:r>
            <a:endParaRPr lang="en-US" sz="13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7239" y="2463602"/>
            <a:ext cx="3622882" cy="66149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72533" y="3290391"/>
            <a:ext cx="329229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8072533" y="3648075"/>
            <a:ext cx="3292293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Feszültség nélküli állapot ellenőrzése</a:t>
            </a:r>
            <a:endParaRPr lang="en-US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4077990"/>
            <a:ext cx="3622882" cy="66149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26769" y="4904780"/>
            <a:ext cx="329229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826769" y="5262463"/>
            <a:ext cx="3292293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Földelés és rövidre zárás</a:t>
            </a:r>
            <a:endParaRPr lang="en-US" sz="13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4357" y="4077990"/>
            <a:ext cx="3622882" cy="661491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449651" y="4904780"/>
            <a:ext cx="329229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4449651" y="5262463"/>
            <a:ext cx="3292293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Védelem a közeli aktív részek ellen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920" y="3340100"/>
            <a:ext cx="146046" cy="177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893663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Teljes leválasztás</a:t>
            </a:r>
            <a:endParaRPr lang="en-US" sz="3250" dirty="0"/>
          </a:p>
        </p:txBody>
      </p:sp>
      <p:sp>
        <p:nvSpPr>
          <p:cNvPr id="5" name="Text 1"/>
          <p:cNvSpPr/>
          <p:nvPr/>
        </p:nvSpPr>
        <p:spPr>
          <a:xfrm>
            <a:off x="5233360" y="1658441"/>
            <a:ext cx="6296860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munkaterületet minden olyan energiaforrásról le kell választani, amely veszélyes feszültséget juttathat rá.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233360" y="2539008"/>
            <a:ext cx="294672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Leválasztás módszerei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233360" y="2962771"/>
            <a:ext cx="2946723" cy="2348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Leválasztókapcsoló működtetésével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Megszakító kikapcsolásával, ha az alkalmas a szükséges leválasztásra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Biztosítóbétét eltávolításával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Csatlakozó kihúzásával megfelelő esetben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Több betáplálás esetén valamennyi energiaforrás leválasztásával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470787" y="2373709"/>
            <a:ext cx="3184842" cy="3590627"/>
          </a:xfrm>
          <a:prstGeom prst="roundRect">
            <a:avLst>
              <a:gd name="adj" fmla="val 3739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9" name="Text 5"/>
          <p:cNvSpPr/>
          <p:nvPr/>
        </p:nvSpPr>
        <p:spPr>
          <a:xfrm>
            <a:off x="8636082" y="2539008"/>
            <a:ext cx="285425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Különösen figyelni kell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36082" y="2962771"/>
            <a:ext cx="3463838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Egy vezérlőszekrényben lehet: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636082" y="3376216"/>
            <a:ext cx="2854254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3×400 V teljesítményáramkör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230 V vezérlés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 V DC tápegység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636082" y="4757043"/>
            <a:ext cx="2854254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egyik főkapcsoló kikapcsolása önmagában nem bizonyítja, hogy minden érintett rész feszültségmentes.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920" y="3343275"/>
            <a:ext cx="146046" cy="171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945356"/>
            <a:ext cx="6296860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Visszakapcsolás megakadályozása</a:t>
            </a:r>
            <a:endParaRPr lang="en-US" sz="3250" dirty="0"/>
          </a:p>
        </p:txBody>
      </p:sp>
      <p:sp>
        <p:nvSpPr>
          <p:cNvPr id="5" name="Text 1"/>
          <p:cNvSpPr/>
          <p:nvPr/>
        </p:nvSpPr>
        <p:spPr>
          <a:xfrm>
            <a:off x="5233360" y="2226866"/>
            <a:ext cx="6296860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leválasztott berendezést biztosítani kell a véletlen vagy illetéktelen visszakapcsolás ellen.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5114301" y="2942134"/>
            <a:ext cx="3184842" cy="2970510"/>
          </a:xfrm>
          <a:prstGeom prst="roundRect">
            <a:avLst>
              <a:gd name="adj" fmla="val 4009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5279595" y="3107432"/>
            <a:ext cx="285425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LOTO – Lockout/Tagout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279595" y="3531195"/>
            <a:ext cx="285425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Ennek ismert módszere a </a:t>
            </a:r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LOTO – Lockout/Tagout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eljárás: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279595" y="4209256"/>
            <a:ext cx="2854254" cy="1645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Lockout:</a:t>
            </a:r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mechanikai reteszelés, például lakattal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Tagout:</a:t>
            </a:r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jól látható figyelmeztető jelzés elhelyezése – pl. „BEKAPCSOLNI TILOS! A BERENDEZÉSEN DOLGOZNAK!"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589847" y="3107432"/>
            <a:ext cx="294672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lényeg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589847" y="3531195"/>
            <a:ext cx="2946723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Nem egyszerűen a tábla kihelyezéséről van szó. A visszakapcsolás lehetőségét </a:t>
            </a:r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ténylegesen meg kell akadályozni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fizikai reteszeléssel, hogy illetéktelen személy ne tudja visszakapcsolni a berendezést a munkavégzés ideje alatt.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2729" y="3340100"/>
            <a:ext cx="146046" cy="177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61475" y="474365"/>
            <a:ext cx="6296860" cy="10013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Feszültség nélküli állapot ellenőrzése</a:t>
            </a:r>
            <a:endParaRPr lang="en-US" sz="3150" dirty="0"/>
          </a:p>
        </p:txBody>
      </p:sp>
      <p:sp>
        <p:nvSpPr>
          <p:cNvPr id="5" name="Text 1"/>
          <p:cNvSpPr/>
          <p:nvPr/>
        </p:nvSpPr>
        <p:spPr>
          <a:xfrm>
            <a:off x="661475" y="1708448"/>
            <a:ext cx="6296860" cy="504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Ez a feszültségmentesítés egyik legfontosabb mozzanata. Nem feltételezzük, hogy nincs feszültség – ellenőrizzük.</a:t>
            </a:r>
            <a:endParaRPr lang="en-US" sz="125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387600"/>
            <a:ext cx="3070843" cy="21726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2100706" y="2507754"/>
            <a:ext cx="192182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3"/>
          <p:cNvSpPr/>
          <p:nvPr/>
        </p:nvSpPr>
        <p:spPr>
          <a:xfrm>
            <a:off x="840659" y="3028454"/>
            <a:ext cx="2712474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Eszköz</a:t>
            </a:r>
            <a:endParaRPr lang="en-US" sz="1550" dirty="0"/>
          </a:p>
        </p:txBody>
      </p:sp>
      <p:sp>
        <p:nvSpPr>
          <p:cNvPr id="9" name="Text 4"/>
          <p:cNvSpPr/>
          <p:nvPr/>
        </p:nvSpPr>
        <p:spPr>
          <a:xfrm>
            <a:off x="840659" y="3371850"/>
            <a:ext cx="2712474" cy="756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Kisfeszültségű berendezéseknél </a:t>
            </a:r>
            <a:pPr algn="l" indent="0" marL="0">
              <a:lnSpc>
                <a:spcPct val="13100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kétpólusú feszültségvizsgálót</a:t>
            </a:r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alkalmazunk.</a:t>
            </a:r>
            <a:endParaRPr lang="en-US" sz="12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87492" y="2387600"/>
            <a:ext cx="3070843" cy="217269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26723" y="2507754"/>
            <a:ext cx="192182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6"/>
          <p:cNvSpPr/>
          <p:nvPr/>
        </p:nvSpPr>
        <p:spPr>
          <a:xfrm>
            <a:off x="4066676" y="3028454"/>
            <a:ext cx="2712474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Mérési pontok</a:t>
            </a:r>
            <a:endParaRPr lang="en-US" sz="1550" dirty="0"/>
          </a:p>
        </p:txBody>
      </p:sp>
      <p:sp>
        <p:nvSpPr>
          <p:cNvPr id="13" name="Text 7"/>
          <p:cNvSpPr/>
          <p:nvPr/>
        </p:nvSpPr>
        <p:spPr>
          <a:xfrm>
            <a:off x="4066676" y="3371850"/>
            <a:ext cx="2712474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Háromfázisú hálózatnál: L1–L2, L2–L3, L3–L1, valamint az aktív és földpotenciálhoz kapcsolódó vezetékek között is.</a:t>
            </a:r>
            <a:endParaRPr lang="en-US" sz="12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4715470"/>
            <a:ext cx="6296860" cy="166806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3713764" y="4835624"/>
            <a:ext cx="192182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840659" y="5356324"/>
            <a:ext cx="5938490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Módszer</a:t>
            </a:r>
            <a:endParaRPr lang="en-US" sz="1550" dirty="0"/>
          </a:p>
        </p:txBody>
      </p:sp>
      <p:sp>
        <p:nvSpPr>
          <p:cNvPr id="17" name="Text 10"/>
          <p:cNvSpPr/>
          <p:nvPr/>
        </p:nvSpPr>
        <p:spPr>
          <a:xfrm>
            <a:off x="840659" y="5699720"/>
            <a:ext cx="5938490" cy="504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ELLENŐRZÉS → MÉRÉS → ELLENŐRZÉS</a:t>
            </a:r>
            <a:endParaRPr lang="en-US" sz="1250" dirty="0"/>
          </a:p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vizsgálóeszköz működését a mérés előtt és után is igazolni kell.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920" y="3340100"/>
            <a:ext cx="146046" cy="177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1278136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Földelés és rövidre zárás</a:t>
            </a:r>
            <a:endParaRPr lang="en-US" sz="3250" dirty="0"/>
          </a:p>
        </p:txBody>
      </p:sp>
      <p:sp>
        <p:nvSpPr>
          <p:cNvPr id="5" name="Text 1"/>
          <p:cNvSpPr/>
          <p:nvPr/>
        </p:nvSpPr>
        <p:spPr>
          <a:xfrm>
            <a:off x="5233360" y="2042914"/>
            <a:ext cx="6296860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Ahol a berendezés és a munkavégzés jellege ezt szükségessé teszi, a leválasztott vezetékeket földelni és rövidre zárni kell.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233360" y="2923480"/>
            <a:ext cx="294672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Célja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233360" y="3347244"/>
            <a:ext cx="2946723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Veszélyes feszültség ne maradhasson vagy ne jelenhessen meg a munkaterületen: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233360" y="4289921"/>
            <a:ext cx="2946723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Téves visszakapcsolás esetén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Indukált feszültség miatt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Visszatáplálás következtében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Más energiaforrásból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8470787" y="2758182"/>
            <a:ext cx="3184842" cy="2821583"/>
          </a:xfrm>
          <a:prstGeom prst="roundRect">
            <a:avLst>
              <a:gd name="adj" fmla="val 4220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10" name="Text 6"/>
          <p:cNvSpPr/>
          <p:nvPr/>
        </p:nvSpPr>
        <p:spPr>
          <a:xfrm>
            <a:off x="8636082" y="2923480"/>
            <a:ext cx="285425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Fontos megjegyzés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636082" y="3347244"/>
            <a:ext cx="2854254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Kisfeszültségű környezetben ez a lépés </a:t>
            </a:r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nem automatikusan minden munkánál ugyanúgy végrehajtandó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az adott berendezésre, munkamódszerre és szabályokra kell alkalmazni.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675011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Védelem a közeli feszültség alatt álló részek ellen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2522438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Előfordulhat, hogy a javítandó berendezést feszültségmentesítettük, de közvetlen közelében más berendezés továbbra is feszültség alatt marad.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61475" y="3138388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Megfelelő védelmi módszerek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61475" y="3562152"/>
            <a:ext cx="5232666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Elhatárolással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Letakarással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Szigetelő védőelemekkel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Biztonságos távolság biztosításával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84844" y="2973090"/>
            <a:ext cx="5470785" cy="2209800"/>
          </a:xfrm>
          <a:prstGeom prst="roundRect">
            <a:avLst>
              <a:gd name="adj" fmla="val 5389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350139" y="3138388"/>
            <a:ext cx="514019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Gyakorlati példa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50139" y="3562152"/>
            <a:ext cx="5140196" cy="1471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15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Egy kapcsolószekrény egyik mezőjén dolgozunk. A mezőt megfelelően feszültségmentesítettük, de a mellette lévő mező üzemben maradt.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munkaterület tehát attól még nem feltétlenül biztonságos, hogy az általunk javított áramkör feszültségmentes.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9748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Gyakorlati példa – háromfázisú motor karbantartása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1344910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Egy 3×400 V-os aszinkron motor csapágát kell cserélni. A STOP gomb megnyomására a motor megáll.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1795562"/>
            <a:ext cx="10868745" cy="661293"/>
          </a:xfrm>
          <a:prstGeom prst="roundRect">
            <a:avLst>
              <a:gd name="adj" fmla="val 10504"/>
            </a:avLst>
          </a:prstGeom>
          <a:solidFill>
            <a:srgbClr val="FFB3B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769" y="2035274"/>
            <a:ext cx="206667" cy="165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98731" y="2002135"/>
            <a:ext cx="1077578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Kérdés: elkezdhető a munka? – Nem.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STOP nyomógomb csak működési parancsot adhat a vezérlésnek.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61475" y="2642890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61475" y="2904827"/>
            <a:ext cx="5351725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9" name="Text 6"/>
          <p:cNvSpPr/>
          <p:nvPr/>
        </p:nvSpPr>
        <p:spPr>
          <a:xfrm>
            <a:off x="661475" y="3025577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STOP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1475" y="3383260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motor leállítása a nyomógombbal – ez még nem elegendő.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78495" y="2642890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78495" y="2904827"/>
            <a:ext cx="5351725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3" name="Text 10"/>
          <p:cNvSpPr/>
          <p:nvPr/>
        </p:nvSpPr>
        <p:spPr>
          <a:xfrm>
            <a:off x="6178495" y="3025577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Leválasztás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178495" y="3383260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motor teljes leválasztása minden energiaforrástól.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61475" y="3937198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61475" y="4199136"/>
            <a:ext cx="5351725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7" name="Text 14"/>
          <p:cNvSpPr/>
          <p:nvPr/>
        </p:nvSpPr>
        <p:spPr>
          <a:xfrm>
            <a:off x="661475" y="4319885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Visszakapcsolás megakadályozása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61475" y="4677569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LOTO eljárás alkalmazása, reteszelés és jelzés.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178495" y="3937198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178495" y="4199136"/>
            <a:ext cx="5351725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1" name="Text 18"/>
          <p:cNvSpPr/>
          <p:nvPr/>
        </p:nvSpPr>
        <p:spPr>
          <a:xfrm>
            <a:off x="6178495" y="4319885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Feszültség nélküli állapot ellenőrzése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178495" y="4677569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Kétpólusú feszültségvizsgálóval, minden fázison.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61475" y="5231507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61475" y="5493445"/>
            <a:ext cx="5351725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5" name="Text 22"/>
          <p:cNvSpPr/>
          <p:nvPr/>
        </p:nvSpPr>
        <p:spPr>
          <a:xfrm>
            <a:off x="661475" y="5614194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További biztonsági intézkedések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61475" y="5971877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Szükség szerint földelés, rövidre zárás, védelem.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178495" y="5231507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06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8495" y="5493445"/>
            <a:ext cx="5351725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9" name="Text 26"/>
          <p:cNvSpPr/>
          <p:nvPr/>
        </p:nvSpPr>
        <p:spPr>
          <a:xfrm>
            <a:off x="6178495" y="5614194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Munkavégzés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178495" y="5971877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Csak ezt követően kezdhető el a csapágycsere.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9810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Különleges veszély: tárolt energia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1545530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tápfeszültség leválasztása után is maradhat veszélyes energia a rendszerben.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09516" y="2182217"/>
            <a:ext cx="10620705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Tipikus példa: frekvenciaváltó DC-köre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a közbensőköri kondenzátorok a hálózati feszültség lekapcsolása után még egy ideig töltöttek lehetnek.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Frekvenciaváltó kikapcsolva ≠ azonnal feszültségmentes.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61475" y="1996182"/>
            <a:ext cx="19050" cy="1165920"/>
          </a:xfrm>
          <a:prstGeom prst="roundRect">
            <a:avLst>
              <a:gd name="adj" fmla="val 49999"/>
            </a:avLst>
          </a:prstGeom>
          <a:solidFill>
            <a:srgbClr val="1B1B27"/>
          </a:solidFill>
          <a:ln/>
        </p:spPr>
      </p:sp>
      <p:sp>
        <p:nvSpPr>
          <p:cNvPr id="6" name="Shape 4"/>
          <p:cNvSpPr/>
          <p:nvPr/>
        </p:nvSpPr>
        <p:spPr>
          <a:xfrm>
            <a:off x="661475" y="3348137"/>
            <a:ext cx="5351725" cy="965597"/>
          </a:xfrm>
          <a:prstGeom prst="roundRect">
            <a:avLst>
              <a:gd name="adj" fmla="val 7194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3119" y="3519785"/>
            <a:ext cx="50084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Kondenzátortelep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3119" y="3877469"/>
            <a:ext cx="5008437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Töltött állapotban maradhat lekapcsolás után.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8495" y="3348137"/>
            <a:ext cx="5351725" cy="965597"/>
          </a:xfrm>
          <a:prstGeom prst="roundRect">
            <a:avLst>
              <a:gd name="adj" fmla="val 7194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50139" y="3519785"/>
            <a:ext cx="50084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UPS / Akkumulátor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50139" y="3877469"/>
            <a:ext cx="5008437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Folyamatos energiaforrás, független a hálózattól.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1475" y="4479032"/>
            <a:ext cx="5351725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119" y="4650680"/>
            <a:ext cx="50084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Napelemes rendszer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3119" y="5008364"/>
            <a:ext cx="5008437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Fény hatására folyamatosan termel feszültséget.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8495" y="4479032"/>
            <a:ext cx="5351725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0139" y="4650680"/>
            <a:ext cx="50084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Generátor / Visszatáplálás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50139" y="5008364"/>
            <a:ext cx="50084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Visszatáplálásra képes hajtás veszélyes feszültséget juttathat a leválasztott körbe.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1475" y="5895280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Mindig figyelembe kell venni a gyártó által előírt kisülési/várakozási időt és az előírt ellenőrzési eljárást.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45518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munka befejezése és visszakapcsolás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2292945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munkavégzés végén sem egyszerűen „felkapcsoljuk a biztosítékot". Meg kell győződni arról, hogy minden feltétel teljesül.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2743597"/>
            <a:ext cx="372061" cy="372070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98830" y="2800449"/>
            <a:ext cx="479363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munka befejeződött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98830" y="3158133"/>
            <a:ext cx="479363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Minden tervezett feladat elvégzésre került, nincs befejezetlen beavatkozás.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132" y="2743597"/>
            <a:ext cx="372061" cy="372070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36487" y="2800449"/>
            <a:ext cx="479373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Szerszámok és személyek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36487" y="3158133"/>
            <a:ext cx="479373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szerszámokat eltávolították, a munkaterületen lévők biztonságban vannak.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1475" y="4018062"/>
            <a:ext cx="372061" cy="372070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98830" y="4074914"/>
            <a:ext cx="479363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Burkolatok visszaszerelve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98830" y="4432598"/>
            <a:ext cx="479363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burkolatok és védőelemek megfelelően visszakerültek az eredeti helyükre.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99132" y="4018062"/>
            <a:ext cx="372061" cy="372070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36487" y="4074914"/>
            <a:ext cx="479373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Biztonsági intézkedések megszüntetése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36487" y="4432598"/>
            <a:ext cx="479373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ideiglenes biztonsági intézkedések az előírt sorrendben megszüntethetők, a berendezés visszaadható üzemre.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1475" y="5147866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visszakapcsolást mindig az adott munkára és berendezésre vonatkozó eljárás szerint kell elvégezni.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50255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Tipikus hibák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2097683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balesetek jelentős része megelőzhető lett volna, ha az alábbi tévhiteket nem alkalmazzák a gyakorlatban.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548334"/>
            <a:ext cx="5351725" cy="627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22017" y="2732683"/>
            <a:ext cx="490684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„Lenyomtam a STOP-ot, tehát nincs benne áram."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8495" y="2548334"/>
            <a:ext cx="5351725" cy="62716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39037" y="2732683"/>
            <a:ext cx="490684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„A megszakító lent van, biztosan jó."</a:t>
            </a:r>
            <a:endParaRPr lang="en-US" sz="16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3340795"/>
            <a:ext cx="5351725" cy="62716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22017" y="3525143"/>
            <a:ext cx="490684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„A kollégám azt mondta, hogy lekapcsolta."</a:t>
            </a:r>
            <a:endParaRPr lang="en-US" sz="16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78495" y="3340795"/>
            <a:ext cx="5351725" cy="62716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439037" y="3525143"/>
            <a:ext cx="490684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„A motor nem forog, tehát nincs feszültség."</a:t>
            </a:r>
            <a:endParaRPr lang="en-US" sz="16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1475" y="4133255"/>
            <a:ext cx="5351725" cy="627162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22017" y="4317603"/>
            <a:ext cx="490684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„Egyszer rámértem, elég lesz."</a:t>
            </a:r>
            <a:endParaRPr lang="en-US" sz="16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178495" y="4133255"/>
            <a:ext cx="5351725" cy="627162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6439037" y="4317603"/>
            <a:ext cx="490684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„Csak két percig tart a javítás."</a:t>
            </a:r>
            <a:endParaRPr lang="en-US" sz="1600" dirty="0"/>
          </a:p>
        </p:txBody>
      </p:sp>
      <p:sp>
        <p:nvSpPr>
          <p:cNvPr id="16" name="Shape 8"/>
          <p:cNvSpPr/>
          <p:nvPr/>
        </p:nvSpPr>
        <p:spPr>
          <a:xfrm>
            <a:off x="661475" y="4946452"/>
            <a:ext cx="10868745" cy="661293"/>
          </a:xfrm>
          <a:prstGeom prst="roundRect">
            <a:avLst>
              <a:gd name="adj" fmla="val 10504"/>
            </a:avLst>
          </a:prstGeom>
          <a:solidFill>
            <a:srgbClr val="E1E1EA"/>
          </a:solidFill>
          <a:ln/>
        </p:spPr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6769" y="5186164"/>
            <a:ext cx="206667" cy="165298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1198731" y="5153025"/>
            <a:ext cx="1077578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Ezek helyett a helyes szemlélet: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LEVÁLASZTOM → BIZTOSÍTOM → ELLENŐRZÖM → VÉDEM → CSAK EZUTÁN DOLGOZOM.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62955"/>
            <a:ext cx="10868745" cy="436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Összefoglalás – Az öt biztonsági szabály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00973" y="1343720"/>
            <a:ext cx="139498" cy="627955"/>
          </a:xfrm>
          <a:prstGeom prst="roundRect">
            <a:avLst>
              <a:gd name="adj" fmla="val 42015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97739" y="1273969"/>
            <a:ext cx="10332481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TELJES LEVÁLASZTÁS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97739" y="1562596"/>
            <a:ext cx="10332481" cy="205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Minden energiaforrásról, minden betáplálásról.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010220" y="2298700"/>
            <a:ext cx="139498" cy="627955"/>
          </a:xfrm>
          <a:prstGeom prst="roundRect">
            <a:avLst>
              <a:gd name="adj" fmla="val 42015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6986" y="2228949"/>
            <a:ext cx="10123234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VISSZAKAPCSOLÁS MEGAKADÁLYOZÁSA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06986" y="2517577"/>
            <a:ext cx="10123234" cy="205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LOTO eljárással, mechanikai reteszeléssel.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219566" y="3253680"/>
            <a:ext cx="139498" cy="627955"/>
          </a:xfrm>
          <a:prstGeom prst="roundRect">
            <a:avLst>
              <a:gd name="adj" fmla="val 42015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16332" y="3183930"/>
            <a:ext cx="9913888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FESZÜLTSÉG NÉLKÜLI ÁLLAPOT ELLENŐRZÉSE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616332" y="3472557"/>
            <a:ext cx="9913888" cy="205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Kétpólusú vizsgálóval, ellenőrzés–mérés–ellenőrzés.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8913" y="4208661"/>
            <a:ext cx="139498" cy="627955"/>
          </a:xfrm>
          <a:prstGeom prst="roundRect">
            <a:avLst>
              <a:gd name="adj" fmla="val 42015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5679" y="4138910"/>
            <a:ext cx="9704542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FÖLDELÉS ÉS RÖVIDRE ZÁRÁS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825679" y="4427538"/>
            <a:ext cx="9704542" cy="205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Ahol a berendezés és a munkavégzés jellege megköveteli.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219566" y="5163641"/>
            <a:ext cx="139498" cy="627955"/>
          </a:xfrm>
          <a:prstGeom prst="roundRect">
            <a:avLst>
              <a:gd name="adj" fmla="val 42015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16332" y="5093891"/>
            <a:ext cx="9913888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VÉDELEM A KÖZELI AKTÍV RÉSZEK ELLEN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616332" y="5382518"/>
            <a:ext cx="9913888" cy="205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Elhatárolással, letakarással, biztonságos távolsággal.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0722" y="6056610"/>
            <a:ext cx="11269083" cy="205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0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Amit mindenkinek meg kell jegyeznie:</a:t>
            </a:r>
            <a:pPr algn="l" indent="0" marL="0">
              <a:lnSpc>
                <a:spcPct val="123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feszültségmentességet nem feltételezzük. Meggyőződünk róla.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1475" y="5924153"/>
            <a:ext cx="19050" cy="470793"/>
          </a:xfrm>
          <a:prstGeom prst="roundRect">
            <a:avLst>
              <a:gd name="adj" fmla="val 49999"/>
            </a:avLst>
          </a:prstGeom>
          <a:solidFill>
            <a:srgbClr val="1B1B27"/>
          </a:solidFill>
          <a:ln/>
        </p:spPr>
      </p:sp>
      <p:sp>
        <p:nvSpPr>
          <p:cNvPr id="20" name="Shape 18"/>
          <p:cNvSpPr/>
          <p:nvPr/>
        </p:nvSpPr>
        <p:spPr>
          <a:xfrm>
            <a:off x="661475" y="1252141"/>
            <a:ext cx="418593" cy="418604"/>
          </a:xfrm>
          <a:prstGeom prst="ellipse">
            <a:avLst/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6148" y="1356816"/>
            <a:ext cx="209247" cy="209252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70722" y="2207121"/>
            <a:ext cx="418593" cy="418604"/>
          </a:xfrm>
          <a:prstGeom prst="ellipse">
            <a:avLst/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5395" y="2311797"/>
            <a:ext cx="209247" cy="209252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080068" y="3162102"/>
            <a:ext cx="418593" cy="418604"/>
          </a:xfrm>
          <a:prstGeom prst="ellipse">
            <a:avLst/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4741" y="3266777"/>
            <a:ext cx="209247" cy="20925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1289415" y="4117082"/>
            <a:ext cx="418593" cy="418604"/>
          </a:xfrm>
          <a:prstGeom prst="ellipse">
            <a:avLst/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94088" y="4221758"/>
            <a:ext cx="209247" cy="209252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1080068" y="5072062"/>
            <a:ext cx="418593" cy="418604"/>
          </a:xfrm>
          <a:prstGeom prst="ellipse">
            <a:avLst/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84741" y="5176738"/>
            <a:ext cx="209247" cy="2092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93824"/>
            <a:ext cx="10868745" cy="484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Ellenőrző kérdések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661475" y="1369020"/>
            <a:ext cx="11478330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tananyag elsajátításának ellenőrzésére szolgáló kérdések: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61475" y="1936353"/>
            <a:ext cx="310051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61475" y="2180729"/>
            <a:ext cx="5245266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6" name="Text 4"/>
          <p:cNvSpPr/>
          <p:nvPr/>
        </p:nvSpPr>
        <p:spPr>
          <a:xfrm>
            <a:off x="661475" y="2296319"/>
            <a:ext cx="5245266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 a különbség a kikapcsolás és a feszültségmentesítés között?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1475" y="2798266"/>
            <a:ext cx="310051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1475" y="3042642"/>
            <a:ext cx="5245266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9" name="Text 7"/>
          <p:cNvSpPr/>
          <p:nvPr/>
        </p:nvSpPr>
        <p:spPr>
          <a:xfrm>
            <a:off x="661475" y="3158232"/>
            <a:ext cx="5245266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Sorold fel sorrendben az öt biztonsági szabályt!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1475" y="3660180"/>
            <a:ext cx="310051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1475" y="3904555"/>
            <a:ext cx="5245266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2" name="Text 10"/>
          <p:cNvSpPr/>
          <p:nvPr/>
        </p:nvSpPr>
        <p:spPr>
          <a:xfrm>
            <a:off x="661475" y="4020145"/>
            <a:ext cx="5245266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Miért kell megakadályozni a visszakapcsolást?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1475" y="4522093"/>
            <a:ext cx="310051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1475" y="4766469"/>
            <a:ext cx="5245266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5" name="Text 13"/>
          <p:cNvSpPr/>
          <p:nvPr/>
        </p:nvSpPr>
        <p:spPr>
          <a:xfrm>
            <a:off x="661475" y="4882059"/>
            <a:ext cx="5245266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Mit jelent a LOTO?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1475" y="5384006"/>
            <a:ext cx="310051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1475" y="5628382"/>
            <a:ext cx="5245266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5743972"/>
            <a:ext cx="5245266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Miért nem elegendő egy STOP nyomógomb működtetése?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91304" y="1936353"/>
            <a:ext cx="310051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91304" y="2180729"/>
            <a:ext cx="5245266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304" y="2296319"/>
            <a:ext cx="5245266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Mivel ellenőrizzük a feszültség nélküli állapotot?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91304" y="2798266"/>
            <a:ext cx="310051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91304" y="3042642"/>
            <a:ext cx="5245266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4" name="Text 22"/>
          <p:cNvSpPr/>
          <p:nvPr/>
        </p:nvSpPr>
        <p:spPr>
          <a:xfrm>
            <a:off x="6291304" y="3158232"/>
            <a:ext cx="5245266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Miért kell a feszültségvizsgálatot is ellenőrizni?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91304" y="3660180"/>
            <a:ext cx="310051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91304" y="3904555"/>
            <a:ext cx="5245266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7" name="Text 25"/>
          <p:cNvSpPr/>
          <p:nvPr/>
        </p:nvSpPr>
        <p:spPr>
          <a:xfrm>
            <a:off x="6291304" y="4020145"/>
            <a:ext cx="5245266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Miért veszélyes egy frekvenciaváltó közbenső köre kikapcsolás után?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91304" y="4522093"/>
            <a:ext cx="310051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1304" y="4766469"/>
            <a:ext cx="5245266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30" name="Text 28"/>
          <p:cNvSpPr/>
          <p:nvPr/>
        </p:nvSpPr>
        <p:spPr>
          <a:xfrm>
            <a:off x="6291304" y="4882059"/>
            <a:ext cx="5245266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Miért lehet veszélyes egy több betáplálással rendelkező kapcsolószekrény?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91304" y="5384006"/>
            <a:ext cx="310051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91304" y="5628382"/>
            <a:ext cx="5245266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304" y="5743972"/>
            <a:ext cx="5245266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Mit kell tenni a közelben maradó feszültség alatt álló részekkel?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872978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Források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3720405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b="1" u="sng" dirty="0">
                <a:solidFill>
                  <a:srgbClr val="1B1B27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IAP_feszultsegmentesites_3_het.pdf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1B1B27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2026-09-16T02:54:28Z</dcterms:created>
  <dcterms:modified xsi:type="dcterms:W3CDTF">2026-09-16T02:54:28Z</dcterms:modified>
</cp:coreProperties>
</file>