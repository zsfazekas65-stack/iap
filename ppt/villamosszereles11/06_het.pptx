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3474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128EDA"/>
                </a:solidFill>
                <a:latin typeface="Aptos"/>
              </a:defRPr>
            </a:pPr>
            <a:r>
              <a:t>IAP • INTEGRÁLT AUTOMATIKA</a:t>
            </a:r>
            <a:br/>
            <a:r>
              <a:t>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34440"/>
            <a:ext cx="5120640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VEZETÉKEK ÉS</a:t>
            </a:r>
            <a:br/>
            <a:r>
              <a:t>KÁBELEK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487168"/>
            <a:ext cx="67665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06. hét  |  Előkészítés, blankolás</a:t>
            </a:r>
            <a:br/>
            <a:r>
              <a:t>és csatlakoztatásra előállítás</a:t>
            </a:r>
          </a:p>
        </p:txBody>
      </p:sp>
      <p:sp>
        <p:nvSpPr>
          <p:cNvPr id="5" name="Hexagon 4"/>
          <p:cNvSpPr/>
          <p:nvPr/>
        </p:nvSpPr>
        <p:spPr>
          <a:xfrm>
            <a:off x="8458200" y="1005840"/>
            <a:ext cx="960120" cy="960120"/>
          </a:xfrm>
          <a:prstGeom prst="hexagon">
            <a:avLst/>
          </a:prstGeom>
          <a:solidFill>
            <a:srgbClr val="F59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152144"/>
            <a:ext cx="96012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Cu</a:t>
            </a:r>
          </a:p>
        </p:txBody>
      </p:sp>
      <p:sp>
        <p:nvSpPr>
          <p:cNvPr id="7" name="Hexagon 6"/>
          <p:cNvSpPr/>
          <p:nvPr/>
        </p:nvSpPr>
        <p:spPr>
          <a:xfrm>
            <a:off x="9738360" y="1828800"/>
            <a:ext cx="960120" cy="960120"/>
          </a:xfrm>
          <a:prstGeom prst="hexagon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60" y="1975104"/>
            <a:ext cx="96012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⌀</a:t>
            </a:r>
          </a:p>
        </p:txBody>
      </p:sp>
      <p:sp>
        <p:nvSpPr>
          <p:cNvPr id="9" name="Hexagon 8"/>
          <p:cNvSpPr/>
          <p:nvPr/>
        </p:nvSpPr>
        <p:spPr>
          <a:xfrm>
            <a:off x="8732520" y="3063240"/>
            <a:ext cx="960120" cy="960120"/>
          </a:xfrm>
          <a:prstGeom prst="hexagon">
            <a:avLst/>
          </a:prstGeom>
          <a:solidFill>
            <a:srgbClr val="E2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3209544"/>
            <a:ext cx="96012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✂</a:t>
            </a:r>
          </a:p>
        </p:txBody>
      </p:sp>
      <p:sp>
        <p:nvSpPr>
          <p:cNvPr id="11" name="Hexagon 10"/>
          <p:cNvSpPr/>
          <p:nvPr/>
        </p:nvSpPr>
        <p:spPr>
          <a:xfrm>
            <a:off x="10012680" y="3931920"/>
            <a:ext cx="960120" cy="960120"/>
          </a:xfrm>
          <a:prstGeom prst="hexagon">
            <a:avLst/>
          </a:prstGeom>
          <a:solidFill>
            <a:srgbClr val="31A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4078224"/>
            <a:ext cx="96012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080760"/>
            <a:ext cx="5029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1">
                <a:solidFill>
                  <a:srgbClr val="128EDA"/>
                </a:solidFill>
                <a:latin typeface="Aptos"/>
              </a:defRPr>
            </a:pPr>
            <a:r>
              <a:t>TUDÁS • BIZTONSÁG • GYAKORLAT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327648"/>
            <a:ext cx="5303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FFFFFF"/>
                </a:solidFill>
                <a:latin typeface="Aptos"/>
              </a:defRPr>
            </a:pPr>
            <a:r>
              <a:t>11. évfolyam • Villamos szerelések • 3 tanóra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2918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INDÍTÁS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Egy vezetővég minősége a kötés biztonságát dönti 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3272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0B2F4B"/>
                </a:solidFill>
                <a:latin typeface="Aptos Display"/>
              </a:defRPr>
            </a:pPr>
            <a:r>
              <a:t>„A jó kötés nem a sorkapocsnál kezdődik, hanem a vezeték előkészítésénél.”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063240"/>
            <a:ext cx="7589520" cy="1143000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F59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3456432"/>
            <a:ext cx="69494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F59722"/>
                </a:solidFill>
                <a:latin typeface="Aptos"/>
              </a:defRPr>
            </a:pPr>
            <a:r>
              <a:t>Pontos méret • sérülésmentes ér • megfelelő blankolási hossz • ellenőrzött vezetővég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2918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Vezeték és kábel - nem ugyanaz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074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1">
                <a:solidFill>
                  <a:srgbClr val="128EDA"/>
                </a:solidFill>
                <a:latin typeface="Aptos"/>
              </a:defRPr>
            </a:pPr>
            <a:r>
              <a:t>VEZETÉK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34340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1">
                <a:solidFill>
                  <a:srgbClr val="0B2F4B"/>
                </a:solidFill>
                <a:latin typeface="Aptos Display"/>
              </a:defRPr>
            </a:pPr>
            <a:r>
              <a:t>Egy vagy több vezetőér szigeteléssel.</a:t>
            </a:r>
            <a:br/>
            <a:r>
              <a:t>Gyakran belső szerelésnél használjuk.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251960"/>
            <a:ext cx="4160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Szakmai döntés: a típus határozza meg a szerszámot és az előkészítést.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17320"/>
            <a:ext cx="5074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399" y="1783080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1">
                <a:solidFill>
                  <a:srgbClr val="F59722"/>
                </a:solidFill>
                <a:latin typeface="Aptos"/>
              </a:defRPr>
            </a:pPr>
            <a:r>
              <a:t>KÁBEL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399" y="2560320"/>
            <a:ext cx="434340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1">
                <a:solidFill>
                  <a:srgbClr val="0B2F4B"/>
                </a:solidFill>
                <a:latin typeface="Aptos Display"/>
              </a:defRPr>
            </a:pPr>
            <a:r>
              <a:t>Több ér, közös köpeny, esetleg árnyékolás vagy mechanikai védelem.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251960"/>
            <a:ext cx="41605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Szakmai döntés: a típus határozza meg a szerszámot és az előkészítést.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2918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HETI TÉRKÉP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A hét 3 tanórája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46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00200"/>
            <a:ext cx="438912" cy="438912"/>
          </a:xfrm>
          <a:prstGeom prst="ellipse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438912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09344"/>
            <a:ext cx="2103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1">
                <a:solidFill>
                  <a:srgbClr val="128EDA"/>
                </a:solidFill>
                <a:latin typeface="Aptos"/>
              </a:defRPr>
            </a:pPr>
            <a:r>
              <a:t>AZONOSÍTÁS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260604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1">
                <a:solidFill>
                  <a:srgbClr val="0B2F4B"/>
                </a:solidFill>
                <a:latin typeface="Aptos Display"/>
              </a:defRPr>
            </a:pPr>
            <a:r>
              <a:t>Típus, keresztmetszet,</a:t>
            </a:r>
            <a:br/>
            <a:r>
              <a:t>felhasználási cél.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26060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0">
                <a:solidFill>
                  <a:srgbClr val="637988"/>
                </a:solidFill>
                <a:latin typeface="Aptos"/>
              </a:defRPr>
            </a:pPr>
            <a:r>
              <a:t>Kimenet: felismerem, mivel dolgozom.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246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40" y="1600200"/>
            <a:ext cx="438912" cy="438912"/>
          </a:xfrm>
          <a:prstGeom prst="ellipse">
            <a:avLst/>
          </a:prstGeom>
          <a:solidFill>
            <a:srgbClr val="F59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00784"/>
            <a:ext cx="438912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1609344"/>
            <a:ext cx="2103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1">
                <a:solidFill>
                  <a:srgbClr val="F59722"/>
                </a:solidFill>
                <a:latin typeface="Aptos"/>
              </a:defRPr>
            </a:pPr>
            <a:r>
              <a:t>ELŐKÉSZÍTÉS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331720"/>
            <a:ext cx="260604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1">
                <a:solidFill>
                  <a:srgbClr val="0B2F4B"/>
                </a:solidFill>
                <a:latin typeface="Aptos Display"/>
              </a:defRPr>
            </a:pPr>
            <a:r>
              <a:t>Mérés, jelölés,</a:t>
            </a:r>
            <a:br/>
            <a:r>
              <a:t>vágás, köpenybontás.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160520"/>
            <a:ext cx="26060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0">
                <a:solidFill>
                  <a:srgbClr val="637988"/>
                </a:solidFill>
                <a:latin typeface="Aptos"/>
              </a:defRPr>
            </a:pPr>
            <a:r>
              <a:t>Kimenet: pontos vezetékdarabot készítek.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25880"/>
            <a:ext cx="32461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1600200"/>
            <a:ext cx="438912" cy="438912"/>
          </a:xfrm>
          <a:prstGeom prst="ellipse">
            <a:avLst/>
          </a:prstGeom>
          <a:solidFill>
            <a:srgbClr val="31A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700784"/>
            <a:ext cx="438912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1609344"/>
            <a:ext cx="2103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1">
                <a:solidFill>
                  <a:srgbClr val="31A668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2331720"/>
            <a:ext cx="260604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1">
                <a:solidFill>
                  <a:srgbClr val="0B2F4B"/>
                </a:solidFill>
                <a:latin typeface="Aptos Display"/>
              </a:defRPr>
            </a:pPr>
            <a:r>
              <a:t>Blankolás, krimpelés,</a:t>
            </a:r>
            <a:br/>
            <a:r>
              <a:t>csatlakoztatásra kész állapot.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160520"/>
            <a:ext cx="26060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0">
                <a:solidFill>
                  <a:srgbClr val="637988"/>
                </a:solidFill>
                <a:latin typeface="Aptos"/>
              </a:defRPr>
            </a:pPr>
            <a:r>
              <a:t>Kimenet: biztonságosan beköthető vezetővég.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2918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Vezetőtípusok a műhelyben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514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1307592" y="1783080"/>
            <a:ext cx="914400" cy="914400"/>
          </a:xfrm>
          <a:prstGeom prst="hexagon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1965960"/>
            <a:ext cx="9144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965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128EDA"/>
                </a:solidFill>
                <a:latin typeface="Aptos"/>
              </a:defRPr>
            </a:pPr>
            <a:r>
              <a:t>TÖMÖR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19659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B2F4B"/>
                </a:solidFill>
                <a:latin typeface="Aptos"/>
              </a:defRPr>
            </a:pPr>
            <a:r>
              <a:t>Egyetlen ér</a:t>
            </a:r>
            <a:br/>
            <a:r>
              <a:t>pontos hajlítás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17320"/>
            <a:ext cx="2514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4187952" y="1783080"/>
            <a:ext cx="914400" cy="914400"/>
          </a:xfrm>
          <a:prstGeom prst="hexagon">
            <a:avLst/>
          </a:prstGeom>
          <a:solidFill>
            <a:srgbClr val="F59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965960"/>
            <a:ext cx="9144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71800"/>
            <a:ext cx="1965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F59722"/>
                </a:solidFill>
                <a:latin typeface="Aptos"/>
              </a:defRPr>
            </a:pPr>
            <a:r>
              <a:t>SODROTT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474720"/>
            <a:ext cx="19659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B2F4B"/>
                </a:solidFill>
                <a:latin typeface="Aptos"/>
              </a:defRPr>
            </a:pPr>
            <a:r>
              <a:t>Több elemi szál</a:t>
            </a:r>
            <a:br/>
            <a:r>
              <a:t>érvéghüvely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2514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7068312" y="1783080"/>
            <a:ext cx="914400" cy="914400"/>
          </a:xfrm>
          <a:prstGeom prst="hexagon">
            <a:avLst/>
          </a:prstGeom>
          <a:solidFill>
            <a:srgbClr val="31A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8312" y="1965960"/>
            <a:ext cx="9144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971800"/>
            <a:ext cx="1965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31A668"/>
                </a:solidFill>
                <a:latin typeface="Aptos"/>
              </a:defRPr>
            </a:pPr>
            <a:r>
              <a:t>KÖPENYES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3474720"/>
            <a:ext cx="19659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B2F4B"/>
                </a:solidFill>
                <a:latin typeface="Aptos"/>
              </a:defRPr>
            </a:pPr>
            <a:r>
              <a:t>Több ér közös</a:t>
            </a:r>
            <a:br/>
            <a:r>
              <a:t>külső védelemmel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417320"/>
            <a:ext cx="2514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9948672" y="1783080"/>
            <a:ext cx="914400" cy="914400"/>
          </a:xfrm>
          <a:prstGeom prst="hexagon">
            <a:avLst/>
          </a:prstGeom>
          <a:solidFill>
            <a:srgbClr val="0B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8672" y="1965960"/>
            <a:ext cx="9144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971800"/>
            <a:ext cx="1965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ÁRNYÉKOLT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474720"/>
            <a:ext cx="19659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B2F4B"/>
                </a:solidFill>
                <a:latin typeface="Aptos"/>
              </a:defRPr>
            </a:pPr>
            <a:r>
              <a:t>Zavarvédelem</a:t>
            </a:r>
            <a:br/>
            <a:r>
              <a:t>árnyékolás kezelése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2918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A helyes előkészítési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965960"/>
            <a:ext cx="1600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5486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128ED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971800"/>
            <a:ext cx="135331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50" b="1">
                <a:solidFill>
                  <a:srgbClr val="0B2F4B"/>
                </a:solidFill>
                <a:latin typeface="Aptos"/>
              </a:defRPr>
            </a:pPr>
            <a:r>
              <a:t>AZONOSÍTÁS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7" y="2633472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6379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21992" y="1965960"/>
            <a:ext cx="1600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2240280"/>
            <a:ext cx="5486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F5972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0864" y="2971800"/>
            <a:ext cx="135331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50" b="1">
                <a:solidFill>
                  <a:srgbClr val="0B2F4B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633472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6379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23944" y="1965960"/>
            <a:ext cx="1600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240280"/>
            <a:ext cx="5486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31A66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2971800"/>
            <a:ext cx="135331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50" b="1">
                <a:solidFill>
                  <a:srgbClr val="0B2F4B"/>
                </a:solidFill>
                <a:latin typeface="Aptos"/>
              </a:defRPr>
            </a:pPr>
            <a:r>
              <a:t>JELÖLÉS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2633472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6379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5896" y="1965960"/>
            <a:ext cx="1600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2240280"/>
            <a:ext cx="5486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0B2F4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971800"/>
            <a:ext cx="135331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50" b="1">
                <a:solidFill>
                  <a:srgbClr val="0B2F4B"/>
                </a:solidFill>
                <a:latin typeface="Aptos"/>
              </a:defRPr>
            </a:pPr>
            <a:r>
              <a:t>VÁGÁS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4" y="2633472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6379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7848" y="1965960"/>
            <a:ext cx="1600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2240280"/>
            <a:ext cx="5486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E24C4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971800"/>
            <a:ext cx="135331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50" b="1">
                <a:solidFill>
                  <a:srgbClr val="0B2F4B"/>
                </a:solidFill>
                <a:latin typeface="Aptos"/>
              </a:defRPr>
            </a:pPr>
            <a:r>
              <a:t>BLANKOLÁS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6" y="2633472"/>
            <a:ext cx="365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63798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965960"/>
            <a:ext cx="1600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2240280"/>
            <a:ext cx="5486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128ED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2971800"/>
            <a:ext cx="135331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50" b="1">
                <a:solidFill>
                  <a:srgbClr val="0B2F4B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709160"/>
            <a:ext cx="96926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F59722"/>
                </a:solidFill>
                <a:latin typeface="Aptos"/>
              </a:defRPr>
            </a:pPr>
            <a:r>
              <a:t>Egy elrontott korai lépés később rossz kötést vagy balesetveszélyt okozhat.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2918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Blankolás: nem vágunk bele a vezetőérbe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212080" cy="429768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31A668"/>
                </a:solidFill>
                <a:latin typeface="Aptos"/>
              </a:defRPr>
            </a:pPr>
            <a:r>
              <a:t>HELYES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5486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6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395728"/>
            <a:ext cx="2468880" cy="164592"/>
          </a:xfrm>
          <a:prstGeom prst="rect">
            <a:avLst/>
          </a:prstGeom>
          <a:solidFill>
            <a:srgbClr val="BE5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2340864"/>
            <a:ext cx="1645920" cy="274320"/>
          </a:xfrm>
          <a:prstGeom prst="rect">
            <a:avLst/>
          </a:prstGeom>
          <a:solidFill>
            <a:srgbClr val="0B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42062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Sértetlen ér, megfelelő hossz,</a:t>
            </a:r>
            <a:br/>
            <a:r>
              <a:t>nincs kilógó szál.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212080" cy="429768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EB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459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E24C4C"/>
                </a:solidFill>
                <a:latin typeface="Aptos"/>
              </a:defRPr>
            </a:pPr>
            <a:r>
              <a:t>HIBÁS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240280"/>
            <a:ext cx="5486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600" b="1">
                <a:solidFill>
                  <a:srgbClr val="E24C4C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148840"/>
            <a:ext cx="3200400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0B2F4B"/>
                </a:solidFill>
                <a:latin typeface="Aptos"/>
              </a:defRPr>
            </a:pPr>
            <a:r>
              <a:t>Megvágott ér</a:t>
            </a:r>
            <a:br/>
            <a:r>
              <a:t>Túl hosszú blankolás</a:t>
            </a:r>
            <a:br/>
            <a:r>
              <a:t>Sérült érszigetelés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069080"/>
            <a:ext cx="438912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637988"/>
                </a:solidFill>
                <a:latin typeface="Aptos"/>
              </a:defRPr>
            </a:pPr>
            <a:r>
              <a:t>Későbbi melegedés, zárlat vagy bizonytalan kötés lehet a következmény.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2918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Köpenybontás: csak a külső köpenyt távolítjuk 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1">
                <a:solidFill>
                  <a:srgbClr val="0B2F4B"/>
                </a:solidFill>
                <a:latin typeface="Aptos"/>
              </a:defRPr>
            </a:pPr>
            <a:r>
              <a:t>Kábelköpeny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331720"/>
            <a:ext cx="9875520" cy="658368"/>
          </a:xfrm>
          <a:prstGeom prst="roundRect">
            <a:avLst/>
          </a:prstGeom>
          <a:solidFill>
            <a:srgbClr val="0B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2523744"/>
            <a:ext cx="960120" cy="274320"/>
          </a:xfrm>
          <a:prstGeom prst="rect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2523744"/>
            <a:ext cx="960120" cy="274320"/>
          </a:xfrm>
          <a:prstGeom prst="rect">
            <a:avLst/>
          </a:prstGeom>
          <a:solidFill>
            <a:srgbClr val="F59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2523744"/>
            <a:ext cx="960120" cy="274320"/>
          </a:xfrm>
          <a:prstGeom prst="rect">
            <a:avLst/>
          </a:prstGeom>
          <a:solidFill>
            <a:srgbClr val="31A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2523744"/>
            <a:ext cx="960120" cy="274320"/>
          </a:xfrm>
          <a:prstGeom prst="rect">
            <a:avLst/>
          </a:prstGeom>
          <a:solidFill>
            <a:srgbClr val="E2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37560"/>
            <a:ext cx="9601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F59722"/>
                </a:solidFill>
                <a:latin typeface="Aptos"/>
              </a:defRPr>
            </a:pPr>
            <a:r>
              <a:t>A köpenybontás után az erek szigetelése ép marad.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60520"/>
            <a:ext cx="96012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E24C4C"/>
                </a:solidFill>
                <a:latin typeface="Aptos"/>
              </a:defRPr>
            </a:pPr>
            <a:r>
              <a:t>Ha az érszigetelés bevágódik: STOP - nem szerelünk tovább vele.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2918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A csatlakozó mondja meg a blankolási hosszt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128EDA"/>
                </a:solidFill>
                <a:latin typeface="Aptos"/>
              </a:defRPr>
            </a:pPr>
            <a:r>
              <a:t>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73352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1">
                <a:solidFill>
                  <a:srgbClr val="0B2F4B"/>
                </a:solidFill>
                <a:latin typeface="Aptos"/>
              </a:defRPr>
            </a:pPr>
            <a:r>
              <a:t>CSAVAROS SORKAPOCS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30552"/>
            <a:ext cx="35204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900" b="0">
                <a:solidFill>
                  <a:srgbClr val="637988"/>
                </a:solidFill>
                <a:latin typeface="Aptos"/>
              </a:defRPr>
            </a:pPr>
            <a:r>
              <a:t>Megfelelő hossz, biztos szorítás.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F59722"/>
                </a:solidFill>
                <a:latin typeface="Aptos"/>
              </a:defRPr>
            </a:pPr>
            <a:r>
              <a:t>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673352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1">
                <a:solidFill>
                  <a:srgbClr val="0B2F4B"/>
                </a:solidFill>
                <a:latin typeface="Aptos"/>
              </a:defRPr>
            </a:pPr>
            <a:r>
              <a:t>RUGÓS SORKAPOCS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130552"/>
            <a:ext cx="35204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900" b="0">
                <a:solidFill>
                  <a:srgbClr val="637988"/>
                </a:solidFill>
                <a:latin typeface="Aptos"/>
              </a:defRPr>
            </a:pPr>
            <a:r>
              <a:t>Pontosan előírt blankolási hossz.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91839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31A668"/>
                </a:solidFill>
                <a:latin typeface="Aptos"/>
              </a:defRPr>
            </a:pPr>
            <a:r>
              <a:t>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47872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1">
                <a:solidFill>
                  <a:srgbClr val="0B2F4B"/>
                </a:solidFill>
                <a:latin typeface="Aptos"/>
              </a:defRPr>
            </a:pPr>
            <a:r>
              <a:t>SARU / HÜVELY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005072"/>
            <a:ext cx="35204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900" b="0">
                <a:solidFill>
                  <a:srgbClr val="637988"/>
                </a:solidFill>
                <a:latin typeface="Aptos"/>
              </a:defRPr>
            </a:pPr>
            <a:r>
              <a:t>Keresztmetszethez illesztett méret.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291839"/>
            <a:ext cx="4983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703320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800" b="1">
                <a:solidFill>
                  <a:srgbClr val="0B2F4B"/>
                </a:solidFill>
                <a:latin typeface="Aptos"/>
              </a:defRPr>
            </a:pPr>
            <a:r>
              <a:t>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547872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000" b="1">
                <a:solidFill>
                  <a:srgbClr val="0B2F4B"/>
                </a:solidFill>
                <a:latin typeface="Aptos"/>
              </a:defRPr>
            </a:pPr>
            <a:r>
              <a:t>DUGASZOLÓ CSATLAKOZÓ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005072"/>
            <a:ext cx="35204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900" b="0">
                <a:solidFill>
                  <a:srgbClr val="637988"/>
                </a:solidFill>
                <a:latin typeface="Aptos"/>
              </a:defRPr>
            </a:pPr>
            <a:r>
              <a:t>Tehermentesítés és érintésvédelem.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2918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Gyakori hibák - ezekből lesz később üzemzavar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46120" cy="141732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EB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E24C4C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057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Túl rövid blankolás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46120" cy="141732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EB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E24C4C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801368"/>
            <a:ext cx="2057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Túl hosszú blankolás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246120" cy="141732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EB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828800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E24C4C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801368"/>
            <a:ext cx="2057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Megvágott vezetőér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91839"/>
            <a:ext cx="3246120" cy="141732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EB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E24C4C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675887"/>
            <a:ext cx="2057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Kilógó elemi szál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291839"/>
            <a:ext cx="3246120" cy="141732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EB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703320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E24C4C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675887"/>
            <a:ext cx="2057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Rossz érvéghüvely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291839"/>
            <a:ext cx="3246120" cy="141732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EB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3703320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E24C4C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675887"/>
            <a:ext cx="2057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"/>
              </a:defRPr>
            </a:pPr>
            <a:r>
              <a:t>Ellenőrzés nélküli bekötés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394960"/>
            <a:ext cx="95097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F59722"/>
                </a:solidFill>
                <a:latin typeface="Aptos"/>
              </a:defRPr>
            </a:pPr>
            <a:r>
              <a:t>A hibát a bekötés előtt kell észrevenni, nem a hiba után magyarázni.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2918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3. TANÓRA •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Gyakorlat - vezeték előkészítése öt lépésben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685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128ED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874519"/>
            <a:ext cx="20116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1645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1">
                <a:solidFill>
                  <a:srgbClr val="0B2F4B"/>
                </a:solidFill>
                <a:latin typeface="Aptos"/>
              </a:defRPr>
            </a:pPr>
            <a:r>
              <a:t>AZONOSÍTSD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1554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Típus, keresztmetszet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417320"/>
            <a:ext cx="685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F5972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874519"/>
            <a:ext cx="20116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286000"/>
            <a:ext cx="1645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1">
                <a:solidFill>
                  <a:srgbClr val="0B2F4B"/>
                </a:solidFill>
                <a:latin typeface="Aptos"/>
              </a:defRPr>
            </a:pPr>
            <a:r>
              <a:t>MÉRD + JELÖLD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971800"/>
            <a:ext cx="1554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Hossz és blankolás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1417320"/>
            <a:ext cx="685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E24C4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79" y="1874519"/>
            <a:ext cx="20116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59" y="2286000"/>
            <a:ext cx="1645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1">
                <a:solidFill>
                  <a:srgbClr val="0B2F4B"/>
                </a:solidFill>
                <a:latin typeface="Aptos"/>
              </a:defRPr>
            </a:pPr>
            <a:r>
              <a:t>VÁGD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2971800"/>
            <a:ext cx="1554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Tiszta vágott vég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417320"/>
            <a:ext cx="685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31A6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199" y="1874519"/>
            <a:ext cx="20116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2286000"/>
            <a:ext cx="1645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1">
                <a:solidFill>
                  <a:srgbClr val="0B2F4B"/>
                </a:solidFill>
                <a:latin typeface="Aptos"/>
              </a:defRPr>
            </a:pPr>
            <a:r>
              <a:t>BLANKOLD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971800"/>
            <a:ext cx="1554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Sérülés nélkül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9" y="1417320"/>
            <a:ext cx="685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0B2F4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19" y="1874519"/>
            <a:ext cx="20116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799" y="2286000"/>
            <a:ext cx="1645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1">
                <a:solidFill>
                  <a:srgbClr val="0B2F4B"/>
                </a:solidFill>
                <a:latin typeface="Aptos"/>
              </a:defRPr>
            </a:pPr>
            <a:r>
              <a:t>ELLENŐRIZD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2971800"/>
            <a:ext cx="1554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637988"/>
                </a:solidFill>
                <a:latin typeface="Aptos"/>
              </a:defRPr>
            </a:pPr>
            <a:r>
              <a:t>Húzópróba, szemrevétel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074920"/>
            <a:ext cx="96012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F59722"/>
                </a:solidFill>
                <a:latin typeface="Aptos"/>
              </a:defRPr>
            </a:pPr>
            <a:r>
              <a:t>A gyakorlat végére legyen legalább három hibátlan, ellenőrzött vezetővég.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2918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3. TANÓRA •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Vezetővég ellenőrzőlista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84048" cy="384048"/>
          </a:xfrm>
          <a:prstGeom prst="roundRect">
            <a:avLst/>
          </a:prstGeom>
          <a:solidFill>
            <a:srgbClr val="E8F8EF"/>
          </a:solidFill>
          <a:ln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16736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289304"/>
            <a:ext cx="81381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0B2F4B"/>
                </a:solidFill>
                <a:latin typeface="Aptos"/>
              </a:defRPr>
            </a:pPr>
            <a:r>
              <a:t>A vezeték típusa azonosított.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37944"/>
            <a:ext cx="384048" cy="384048"/>
          </a:xfrm>
          <a:prstGeom prst="roundRect">
            <a:avLst/>
          </a:prstGeom>
          <a:solidFill>
            <a:srgbClr val="E8F8EF"/>
          </a:solidFill>
          <a:ln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92808"/>
            <a:ext cx="81381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0B2F4B"/>
                </a:solidFill>
                <a:latin typeface="Aptos"/>
              </a:defRPr>
            </a:pPr>
            <a:r>
              <a:t>A méret megfelelő.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41448"/>
            <a:ext cx="384048" cy="384048"/>
          </a:xfrm>
          <a:prstGeom prst="roundRect">
            <a:avLst/>
          </a:prstGeom>
          <a:solidFill>
            <a:srgbClr val="E8F8EF"/>
          </a:solidFill>
          <a:ln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23744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96312"/>
            <a:ext cx="81381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0B2F4B"/>
                </a:solidFill>
                <a:latin typeface="Aptos"/>
              </a:defRPr>
            </a:pPr>
            <a:r>
              <a:t>A köpeny nem sértette az érszigetelést.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384048" cy="384048"/>
          </a:xfrm>
          <a:prstGeom prst="roundRect">
            <a:avLst/>
          </a:prstGeom>
          <a:solidFill>
            <a:srgbClr val="E8F8EF"/>
          </a:solidFill>
          <a:ln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27248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099816"/>
            <a:ext cx="81381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0B2F4B"/>
                </a:solidFill>
                <a:latin typeface="Aptos"/>
              </a:defRPr>
            </a:pPr>
            <a:r>
              <a:t>A blankolt rész hossza megfelelő.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48456"/>
            <a:ext cx="384048" cy="384048"/>
          </a:xfrm>
          <a:prstGeom prst="roundRect">
            <a:avLst/>
          </a:prstGeom>
          <a:solidFill>
            <a:srgbClr val="E8F8EF"/>
          </a:solidFill>
          <a:ln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30752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703320"/>
            <a:ext cx="81381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0B2F4B"/>
                </a:solidFill>
                <a:latin typeface="Aptos"/>
              </a:defRPr>
            </a:pPr>
            <a:r>
              <a:t>A vezetőér vagy elemi szál nem sérült.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51960"/>
            <a:ext cx="384048" cy="384048"/>
          </a:xfrm>
          <a:prstGeom prst="roundRect">
            <a:avLst/>
          </a:prstGeom>
          <a:solidFill>
            <a:srgbClr val="E8F8EF"/>
          </a:solidFill>
          <a:ln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34256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306824"/>
            <a:ext cx="81381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0B2F4B"/>
                </a:solidFill>
                <a:latin typeface="Aptos"/>
              </a:defRPr>
            </a:pPr>
            <a:r>
              <a:t>Az érvéghüvely mérete megfelelő.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384048" cy="384048"/>
          </a:xfrm>
          <a:prstGeom prst="roundRect">
            <a:avLst/>
          </a:prstGeom>
          <a:solidFill>
            <a:srgbClr val="E8F8EF"/>
          </a:solidFill>
          <a:ln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38404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910328"/>
            <a:ext cx="81381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0B2F4B"/>
                </a:solidFill>
                <a:latin typeface="Aptos"/>
              </a:defRPr>
            </a:pPr>
            <a:r>
              <a:t>A kész vezetővég bekötésre alkalmas.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011680"/>
            <a:ext cx="3017520" cy="868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1">
                <a:solidFill>
                  <a:srgbClr val="F59722"/>
                </a:solidFill>
                <a:latin typeface="Aptos"/>
              </a:defRPr>
            </a:pPr>
            <a:r>
              <a:t>Minőség = ismételhető pontosság.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2918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Szakmai döntés: használható vagy újrakészítendő?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074920" cy="3886200"/>
          </a:xfrm>
          <a:prstGeom prst="roundRect">
            <a:avLst/>
          </a:prstGeom>
          <a:solidFill>
            <a:srgbClr val="E8F8EF"/>
          </a:solidFill>
          <a:ln w="12700">
            <a:solidFill>
              <a:srgbClr val="AED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5943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31A668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3200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1">
                <a:solidFill>
                  <a:srgbClr val="31A668"/>
                </a:solidFill>
                <a:latin typeface="Aptos"/>
              </a:defRPr>
            </a:pPr>
            <a:r>
              <a:t>HASZNÁLHATÓ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393192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0B2F4B"/>
                </a:solidFill>
                <a:latin typeface="Aptos Display"/>
              </a:defRPr>
            </a:pPr>
            <a:r>
              <a:t>Sértetlen ér, megfelelő hossz,</a:t>
            </a:r>
            <a:br/>
            <a:r>
              <a:t>stabil előkészítés.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54480"/>
            <a:ext cx="5074920" cy="3886200"/>
          </a:xfrm>
          <a:prstGeom prst="roundRect">
            <a:avLst/>
          </a:prstGeom>
          <a:solidFill>
            <a:srgbClr val="FFEDED"/>
          </a:solidFill>
          <a:ln w="12700">
            <a:solidFill>
              <a:srgbClr val="EB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399" y="1874519"/>
            <a:ext cx="5943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E24C4C"/>
                </a:solidFill>
                <a:latin typeface="Aptos"/>
              </a:defRPr>
            </a:pPr>
            <a: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19" y="1920240"/>
            <a:ext cx="3200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1">
                <a:solidFill>
                  <a:srgbClr val="E24C4C"/>
                </a:solidFill>
                <a:latin typeface="Aptos"/>
              </a:defRPr>
            </a:pPr>
            <a:r>
              <a:t>ÚJRAKÉSZÍTENDŐ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834640"/>
            <a:ext cx="393192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0B2F4B"/>
                </a:solidFill>
                <a:latin typeface="Aptos Display"/>
              </a:defRPr>
            </a:pPr>
            <a:r>
              <a:t>Bevágott ér, szálasodás,</a:t>
            </a:r>
            <a:br/>
            <a:r>
              <a:t>rossz hüvely vagy sérült szigetelés.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2918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34440"/>
            <a:ext cx="10332720" cy="4480560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F59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737360"/>
            <a:ext cx="941832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Egy sodrott vezetőt blankolás után bekötnél, de két elemi szál hiányzik, és a blankolt rész túl hosszú.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971800"/>
            <a:ext cx="94183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1">
                <a:solidFill>
                  <a:srgbClr val="F59722"/>
                </a:solidFill>
                <a:latin typeface="Aptos"/>
              </a:defRPr>
            </a:pPr>
            <a:r>
              <a:t>Mi a szakmailag helyes döntés?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657600"/>
            <a:ext cx="841248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0">
                <a:solidFill>
                  <a:srgbClr val="1E3545"/>
                </a:solidFill>
                <a:latin typeface="Aptos"/>
              </a:defRPr>
            </a:pPr>
            <a:r>
              <a:t>A) Bekötöm, mert csak kevés szál hiányzik.</a:t>
            </a:r>
            <a:br/>
            <a:r>
              <a:t>B) Visszahajtom a kilógó részt.</a:t>
            </a:r>
            <a:br/>
            <a:r>
              <a:t>C) Újrakészítem a vezetővéget megfelelő hosszal és sérülés nélkül.</a:t>
            </a:r>
            <a:br/>
            <a:r>
              <a:t>D) Rászorítok erősebben a sorkapocsra.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2918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4 kérdés - 4 szakmai válasz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4983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828800"/>
            <a:ext cx="438912" cy="438912"/>
          </a:xfrm>
          <a:prstGeom prst="ellipse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38912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37360"/>
            <a:ext cx="361188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1">
                <a:solidFill>
                  <a:srgbClr val="0B2F4B"/>
                </a:solidFill>
                <a:latin typeface="Aptos"/>
              </a:defRPr>
            </a:pPr>
            <a:r>
              <a:t>Miért veszélyes a túl hosszú blankolás?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4983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1828800"/>
            <a:ext cx="438912" cy="438912"/>
          </a:xfrm>
          <a:prstGeom prst="ellipse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38528"/>
            <a:ext cx="438912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737360"/>
            <a:ext cx="361188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1">
                <a:solidFill>
                  <a:srgbClr val="0B2F4B"/>
                </a:solidFill>
                <a:latin typeface="Aptos"/>
              </a:defRPr>
            </a:pPr>
            <a:r>
              <a:t>Mit okozhat a megvágott sodrott vezetőér?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83280"/>
            <a:ext cx="4983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794760"/>
            <a:ext cx="438912" cy="438912"/>
          </a:xfrm>
          <a:prstGeom prst="ellipse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04488"/>
            <a:ext cx="438912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03320"/>
            <a:ext cx="361188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1">
                <a:solidFill>
                  <a:srgbClr val="0B2F4B"/>
                </a:solidFill>
                <a:latin typeface="Aptos"/>
              </a:defRPr>
            </a:pPr>
            <a:r>
              <a:t>Miért kell a csatlakozóhoz igazítani a blankolási hosszt?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83280"/>
            <a:ext cx="4983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794760"/>
            <a:ext cx="438912" cy="438912"/>
          </a:xfrm>
          <a:prstGeom prst="ellipse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04488"/>
            <a:ext cx="438912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703320"/>
            <a:ext cx="361188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1">
                <a:solidFill>
                  <a:srgbClr val="0B2F4B"/>
                </a:solidFill>
                <a:latin typeface="Aptos"/>
              </a:defRPr>
            </a:pPr>
            <a:r>
              <a:t>Mit ellenőrzünk krimpelés után?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700" b="1">
                <a:solidFill>
                  <a:srgbClr val="128EDA"/>
                </a:solidFill>
                <a:latin typeface="Aptos"/>
              </a:defRPr>
            </a:pPr>
            <a:r>
              <a:t>06. HÉT • ZÁRÁS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45720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A hét 4 mondata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128ED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8961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A vezeték típusát először azonosítjuk.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128ED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8961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A blankolási hossz a csatlakozótól függ.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128ED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8961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A vezetőér sérülése nem apró hiba.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3657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128ED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8961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A kész vezetővéget bekötés előtt ellenőrizzük.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800" b="0">
                <a:solidFill>
                  <a:srgbClr val="BBD3E2"/>
                </a:solidFill>
                <a:latin typeface="Aptos"/>
              </a:defRPr>
            </a:pPr>
            <a:r>
              <a:t>Következő hét: Sorkapcsok, kötőelemek és csavaros/rugós csatlakozások biztonságos kialakítása.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73152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600" b="0">
                <a:solidFill>
                  <a:srgbClr val="BBD3E2"/>
                </a:solidFill>
                <a:latin typeface="Aptos"/>
              </a:defRPr>
            </a:pPr>
            <a:r>
              <a:t>IAP • 11. évfolyam • Villamos szerelések • 06. hét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274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700" b="0">
                <a:solidFill>
                  <a:srgbClr val="BBD3E2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