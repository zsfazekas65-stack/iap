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77C9"/>
                </a:solidFill>
              </a:defRPr>
            </a:pPr>
            <a:r>
              <a:t>24. hét</a:t>
            </a:r>
          </a:p>
          <a:p>
            <a:pPr>
              <a:defRPr sz="3300" b="1">
                <a:solidFill>
                  <a:srgbClr val="FFFFFF"/>
                </a:solidFill>
              </a:defRPr>
            </a:pPr>
            <a:r>
              <a:t>Motorvédő kapcsolók és túlterhelés-védelem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11. évfolyam • Villamos szerelések • 70-72. óra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4069080"/>
            <a:ext cx="3246120" cy="1005840"/>
          </a:xfrm>
          <a:prstGeom prst="roundRect">
            <a:avLst/>
          </a:prstGeom>
          <a:solidFill>
            <a:srgbClr val="14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4340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MOTOR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4069080"/>
            <a:ext cx="3246120" cy="1005840"/>
          </a:xfrm>
          <a:prstGeom prst="roundRect">
            <a:avLst/>
          </a:prstGeom>
          <a:solidFill>
            <a:srgbClr val="14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434340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TÚLTERHELÉS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069080"/>
            <a:ext cx="3246120" cy="1005840"/>
          </a:xfrm>
          <a:prstGeom prst="roundRect">
            <a:avLst/>
          </a:prstGeom>
          <a:solidFill>
            <a:srgbClr val="14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34340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VÉDELEM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Mit tanulunk?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Túlterhelés és zárlat megkülönböztetése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Motorvédő kapcsoló szerepe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Túlterhelési relé működése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Áramtartomány és beállítás értelmezése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Motorvédelmi kör szerelése és ellenőrzése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24.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Mi veszélyezteti a motort?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Mechanikai túlterhelés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Szoruló vagy nehezen járó hajtás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Fáziskiesés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Hibás árambeállítás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Nem megfelelő üzemi körülmények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24.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Túlterhelés ≠ zárlat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715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Túlterhelés: tartósan a névlegesnél nagyobb áram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Zárlat: nagyon gyors, nagymértékű áramnövekedés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Eltérő hibajelenség → eltérő védelmi működés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600200"/>
            <a:ext cx="4389120" cy="960120"/>
          </a:xfrm>
          <a:prstGeom prst="roundRect">
            <a:avLst/>
          </a:prstGeom>
          <a:solidFill>
            <a:srgbClr val="EAF5FD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719072"/>
            <a:ext cx="4023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1D35"/>
                </a:solidFill>
              </a:defRPr>
            </a:pPr>
            <a:r>
              <a:t>TÚLTERHELÉS</a:t>
            </a:r>
          </a:p>
          <a:p>
            <a:pPr>
              <a:defRPr sz="1200">
                <a:solidFill>
                  <a:srgbClr val="17324D"/>
                </a:solidFill>
              </a:defRPr>
            </a:pPr>
            <a:r>
              <a:t>hőhatás, időfüggő leoldás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2834640"/>
            <a:ext cx="4389120" cy="960120"/>
          </a:xfrm>
          <a:prstGeom prst="roundRect">
            <a:avLst/>
          </a:prstGeom>
          <a:solidFill>
            <a:srgbClr val="EAF5FD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2953512"/>
            <a:ext cx="4023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1D35"/>
                </a:solidFill>
              </a:defRPr>
            </a:pPr>
            <a:r>
              <a:t>ZÁRLAT</a:t>
            </a:r>
          </a:p>
          <a:p>
            <a:pPr>
              <a:defRPr sz="1200">
                <a:solidFill>
                  <a:srgbClr val="17324D"/>
                </a:solidFill>
              </a:defRPr>
            </a:pPr>
            <a:r>
              <a:t>nagy hibaáram, gyors lekapcsolás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24.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Motorvédő kapcsoló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Kézi kapcsolás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Beállítható túlterhelés-védelem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Típustól függő zárlati védelmi funkció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A tartományt a motor névleges áramához kell választani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24.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Túlterhelési relé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7150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Mágneskapcsolóval együtt alkalmazható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Tartós túláram esetén leold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95-96 NC érintkező megszakíthatja KM1 vezérlőkörét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97-98 NO érintkező jelzésre használható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1600200"/>
            <a:ext cx="4389120" cy="960120"/>
          </a:xfrm>
          <a:prstGeom prst="roundRect">
            <a:avLst/>
          </a:prstGeom>
          <a:solidFill>
            <a:srgbClr val="EAF5FD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719072"/>
            <a:ext cx="4023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1D35"/>
                </a:solidFill>
              </a:defRPr>
            </a:pPr>
            <a:r>
              <a:t>95-96</a:t>
            </a:r>
          </a:p>
          <a:p>
            <a:pPr>
              <a:defRPr sz="1200">
                <a:solidFill>
                  <a:srgbClr val="17324D"/>
                </a:solidFill>
              </a:defRPr>
            </a:pPr>
            <a:r>
              <a:t>NC - leoldáskor nyit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2834640"/>
            <a:ext cx="4389120" cy="960120"/>
          </a:xfrm>
          <a:prstGeom prst="roundRect">
            <a:avLst/>
          </a:prstGeom>
          <a:solidFill>
            <a:srgbClr val="EAF5FD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2953512"/>
            <a:ext cx="4023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71D35"/>
                </a:solidFill>
              </a:defRPr>
            </a:pPr>
            <a:r>
              <a:t>97-98</a:t>
            </a:r>
          </a:p>
          <a:p>
            <a:pPr>
              <a:defRPr sz="1200">
                <a:solidFill>
                  <a:srgbClr val="17324D"/>
                </a:solidFill>
              </a:defRPr>
            </a:pPr>
            <a:r>
              <a:t>NO - leoldáskor zár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24.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A helyes beállítás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Kiindulás: motor adattáblája és gyártói előírás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Túl magas érték → elégtelen védelem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Túl alacsony érték → indokolatlan leoldás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A készülék beállítási tartománya fedje le a szükséges értéket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24.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Motor névleges árama: 2,4 A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Motorvédő kapcsoló tartománya: 1,6-2,5 A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A tartomány alkalmas a 2,4 A érték beállítására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A végleges beállítást mindig a konkrét motor és előírás alapján végezzük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24.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Szerelési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Feszültségmentesítés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Készülék és adattábla ellenőrzése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Mechanikai rögzítés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Főáramkör és vezérlőkör bekötése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Árambeállítás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Kötésellenőrzés és engedélyezett próba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24.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Gyakorlati 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Motorvédő készülék azonosítása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95-96 / 97-98 érintkezők kimérése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DIN-sínes vagy mágneskapcsolóhoz illesztett szerelés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95-96 bekötése KM1 vezérlőkörébe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Beállítás és működési próba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24.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Tipikus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Nem megfelelő áramtartomány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Túl magas beállítás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95-96 helyett hibás érintkező használata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Laza főáramköri kötés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A motor adattáblájának figyelmen kívül hagyása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24. hét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A motor névleges árama 3,1 A.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Melyik motorvédő tartomány a jobb választás?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A) 1,6-2,5 A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B) 2,5-4 A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Helyes válasz: B - a szükséges 3,1 A érték ebben a tartományban állítható 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24. hét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A túlterhelés tartós túláramot jelent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A motorvédelem célja a káros túlmelegedés megelőzése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A motorvédő kapcsolót a motorhoz kell illeszteni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95-96 tipikusan a vezérlőkör lekapcsolására szolgál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A beállítás és dokumentálás ugyanolyan fontos, mint a bekötés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24. hét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6984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25. hét - Kapocslécek, DIN-sínes szerelvények és vezetékezés</a:t>
            </a:r>
          </a:p>
          <a:p>
            <a:pPr>
              <a:spcAft>
                <a:spcPts val="1100"/>
              </a:spcAft>
              <a:defRPr sz="1800">
                <a:solidFill>
                  <a:srgbClr val="17324D"/>
                </a:solidFill>
              </a:defRPr>
            </a:pPr>
            <a:r>
              <a:t>Rendezett ipari szerelés, kapocsazonosítás és vezetékkezelés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24.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