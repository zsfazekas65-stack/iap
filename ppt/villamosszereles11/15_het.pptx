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440680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731520"/>
            <a:ext cx="2743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400" b="1">
                <a:solidFill>
                  <a:srgbClr val="37B8D6"/>
                </a:solidFill>
                <a:latin typeface="Aptos"/>
              </a:defRPr>
            </a:pPr>
            <a:r>
              <a:t>15.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34440"/>
            <a:ext cx="8046720" cy="1417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Automatikus</a:t>
            </a:r>
            <a:br/>
            <a:r>
              <a:t>lekapcsolás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697480"/>
            <a:ext cx="804672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hibavédelemben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703320"/>
            <a:ext cx="87782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0">
                <a:solidFill>
                  <a:srgbClr val="CDDEEB"/>
                </a:solidFill>
                <a:latin typeface="Aptos"/>
              </a:defRPr>
            </a:pPr>
            <a:r>
              <a:t>Hibaáram • hibahurok • Zₛ • védelmi készülék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4617720"/>
            <a:ext cx="1691640" cy="658368"/>
          </a:xfrm>
          <a:prstGeom prst="round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18888"/>
            <a:ext cx="169164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HIBA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1" y="4773168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4617720"/>
            <a:ext cx="1691640" cy="658368"/>
          </a:xfrm>
          <a:prstGeom prst="round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4818888"/>
            <a:ext cx="169164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4773168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4617720"/>
            <a:ext cx="1691640" cy="65836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4818888"/>
            <a:ext cx="169164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Zₛ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4773168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617720"/>
            <a:ext cx="1691640" cy="658368"/>
          </a:xfrm>
          <a:prstGeom prst="roundRect">
            <a:avLst/>
          </a:prstGeom>
          <a:solidFill>
            <a:srgbClr val="3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818888"/>
            <a:ext cx="169164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VÉDELEM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144768"/>
            <a:ext cx="4572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0">
                <a:solidFill>
                  <a:srgbClr val="B5CCDD"/>
                </a:solidFill>
                <a:latin typeface="Aptos"/>
              </a:defRPr>
            </a:pPr>
            <a:r>
              <a:t>IAP • 11. évfolyam • 43–45. 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A hibavédelem egy működő lánc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109728" cy="1143000"/>
          </a:xfrm>
          <a:prstGeom prst="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102A43"/>
                </a:solidFill>
                <a:latin typeface="Aptos"/>
              </a:defRPr>
            </a:pPr>
            <a:r>
              <a:t>TESTZÁRLAT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350008"/>
            <a:ext cx="502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>
                <a:solidFill>
                  <a:srgbClr val="1B69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96596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965960"/>
            <a:ext cx="109728" cy="1143000"/>
          </a:xfrm>
          <a:prstGeom prst="rect">
            <a:avLst/>
          </a:prstGeom>
          <a:solidFill>
            <a:srgbClr val="B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26771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102A43"/>
                </a:solidFill>
                <a:latin typeface="Aptos"/>
              </a:defRPr>
            </a:pPr>
            <a:r>
              <a:t>HIBAÁRAM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2350008"/>
            <a:ext cx="502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>
                <a:solidFill>
                  <a:srgbClr val="1B69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96596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965960"/>
            <a:ext cx="109728" cy="1143000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26771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102A43"/>
                </a:solidFill>
                <a:latin typeface="Aptos"/>
              </a:defRPr>
            </a:pPr>
            <a:r>
              <a:t>PE / 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350008"/>
            <a:ext cx="5029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>
                <a:solidFill>
                  <a:srgbClr val="1B69A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96596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59" y="1965960"/>
            <a:ext cx="109728" cy="1143000"/>
          </a:xfrm>
          <a:prstGeom prst="rect">
            <a:avLst/>
          </a:prstGeom>
          <a:solidFill>
            <a:srgbClr val="3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267712"/>
            <a:ext cx="17373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1">
                <a:solidFill>
                  <a:srgbClr val="102A43"/>
                </a:solidFill>
                <a:latin typeface="Aptos"/>
              </a:defRPr>
            </a:pPr>
            <a:r>
              <a:t>LEKAPCSOLÁS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94760"/>
            <a:ext cx="1024128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000" b="1">
                <a:solidFill>
                  <a:srgbClr val="1F303D"/>
                </a:solidFill>
                <a:latin typeface="Aptos"/>
              </a:defRPr>
            </a:pPr>
            <a:r>
              <a:t>Ha a lánc bármely eleme hibás, a veszélyes érintési állapot fennmaradhat.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Mi történik testzárlatkor?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2560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2423160"/>
            <a:ext cx="182880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102A43"/>
                </a:solidFill>
                <a:latin typeface="Aptos"/>
              </a:defRPr>
            </a:pPr>
            <a:r>
              <a:t>FÉMHÁZAS</a:t>
            </a:r>
            <a:br/>
            <a:r>
              <a:t>FOGYASZTÓ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468880"/>
            <a:ext cx="137160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102A43"/>
                </a:solidFill>
                <a:latin typeface="Aptos"/>
              </a:defRPr>
            </a:pPr>
            <a:r>
              <a:t>230 V</a:t>
            </a:r>
            <a:br/>
            <a:r>
              <a:t>FORRÁS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65960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000" b="1">
                <a:solidFill>
                  <a:srgbClr val="BE4242"/>
                </a:solidFill>
                <a:latin typeface="Aptos"/>
              </a:defRPr>
            </a:pPr>
            <a:r>
              <a:t>L  → → → → → →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423160"/>
            <a:ext cx="10058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E78E37"/>
                </a:solidFill>
                <a:latin typeface="Aptos"/>
              </a:defRPr>
            </a:pPr>
            <a:r>
              <a:t>hibahely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246120"/>
            <a:ext cx="47548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000" b="1">
                <a:solidFill>
                  <a:srgbClr val="37B8D6"/>
                </a:solidFill>
                <a:latin typeface="Aptos"/>
              </a:defRPr>
            </a:pPr>
            <a:r>
              <a:t>← ← ← ← ← ←  PE / 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101498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0">
                <a:solidFill>
                  <a:srgbClr val="1F303D"/>
                </a:solidFill>
                <a:latin typeface="Aptos"/>
              </a:defRPr>
            </a:pPr>
            <a:r>
              <a:t>A hibaáramnak zárt, kis impedanciájú úton kell visszajutnia a forráshoz.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A kulcsösszefüggés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47548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75488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3600" b="1">
                <a:solidFill>
                  <a:srgbClr val="102A43"/>
                </a:solidFill>
                <a:latin typeface="Aptos"/>
              </a:defRPr>
            </a:pPr>
            <a:r>
              <a:t>Iₓ ≈ U₀ / Zₛ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3891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200" b="0">
                <a:solidFill>
                  <a:srgbClr val="5B6F7E"/>
                </a:solidFill>
                <a:latin typeface="Aptos"/>
              </a:defRPr>
            </a:pPr>
            <a:r>
              <a:t>hibaáram = feszültség / hibahurok-impedancia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91640"/>
            <a:ext cx="4663440" cy="960120"/>
          </a:xfrm>
          <a:prstGeom prst="roundRect">
            <a:avLst/>
          </a:prstGeom>
          <a:solidFill>
            <a:srgbClr val="E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6634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500" b="1">
                <a:solidFill>
                  <a:srgbClr val="1B69A6"/>
                </a:solidFill>
                <a:latin typeface="Aptos"/>
              </a:defRPr>
            </a:pPr>
            <a:r>
              <a:t>Zₛ ↓   →   Iₓ 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926080"/>
            <a:ext cx="4663440" cy="960120"/>
          </a:xfrm>
          <a:prstGeom prst="roundRect">
            <a:avLst/>
          </a:prstGeom>
          <a:solidFill>
            <a:srgbClr val="EE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466344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100" b="1">
                <a:solidFill>
                  <a:srgbClr val="3C9669"/>
                </a:solidFill>
                <a:latin typeface="Aptos"/>
              </a:defRPr>
            </a:pPr>
            <a:r>
              <a:t>Iₓ ↑   →   gyorsabb lekapcsolás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343400"/>
            <a:ext cx="438912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600" b="0">
                <a:solidFill>
                  <a:srgbClr val="1F303D"/>
                </a:solidFill>
                <a:latin typeface="Aptos"/>
              </a:defRPr>
            </a:pPr>
            <a:r>
              <a:t>Nem egyetlen vezető ellenállása számít, hanem a teljes hibakör impedanciája.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Számoljunk: mit jelent a Zₛ?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743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>
                <a:solidFill>
                  <a:srgbClr val="1B69A6"/>
                </a:solidFill>
                <a:latin typeface="Aptos"/>
              </a:defRPr>
            </a:pPr>
            <a:r>
              <a:t>U₀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274320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700" b="1">
                <a:solidFill>
                  <a:srgbClr val="102A43"/>
                </a:solidFill>
                <a:latin typeface="Aptos"/>
              </a:defRPr>
            </a:pPr>
            <a:r>
              <a:t>230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74519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084831"/>
            <a:ext cx="2743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>
                <a:solidFill>
                  <a:srgbClr val="E78E37"/>
                </a:solidFill>
                <a:latin typeface="Aptos"/>
              </a:defRPr>
            </a:pPr>
            <a:r>
              <a:t>Zₛ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42032"/>
            <a:ext cx="274320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700" b="1">
                <a:solidFill>
                  <a:srgbClr val="102A43"/>
                </a:solidFill>
                <a:latin typeface="Aptos"/>
              </a:defRPr>
            </a:pPr>
            <a:r>
              <a:t>1,15 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74519"/>
            <a:ext cx="31089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084831"/>
            <a:ext cx="274320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1">
                <a:solidFill>
                  <a:srgbClr val="3C9669"/>
                </a:solidFill>
                <a:latin typeface="Aptos"/>
              </a:defRPr>
            </a:pPr>
            <a:r>
              <a:t>Iₓ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542032"/>
            <a:ext cx="274320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700" b="1">
                <a:solidFill>
                  <a:srgbClr val="102A43"/>
                </a:solidFill>
                <a:latin typeface="Aptos"/>
              </a:defRPr>
            </a:pPr>
            <a:r>
              <a:t>200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069080"/>
            <a:ext cx="841248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800" b="1">
                <a:solidFill>
                  <a:srgbClr val="102A43"/>
                </a:solidFill>
                <a:latin typeface="Aptos"/>
              </a:defRPr>
            </a:pPr>
            <a:r>
              <a:t>230 V ÷ 1,15 Ω = 200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92040"/>
            <a:ext cx="996696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700" b="0">
                <a:solidFill>
                  <a:srgbClr val="1F303D"/>
                </a:solidFill>
                <a:latin typeface="Aptos"/>
              </a:defRPr>
            </a:pPr>
            <a:r>
              <a:t>A 200 A önmagában még nem válasz: össze kell vetni a védelmi készülék működésével.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Nem az a kérdés, hogy leold-e…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4983480" cy="3017520"/>
          </a:xfrm>
          <a:prstGeom prst="roundRect">
            <a:avLst/>
          </a:prstGeom>
          <a:solidFill>
            <a:srgbClr val="FD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3891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BE4242"/>
                </a:solidFill>
                <a:latin typeface="Aptos"/>
              </a:defRPr>
            </a:pPr>
            <a:r>
              <a:t>NEM ELÉG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88920"/>
            <a:ext cx="429768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500" b="1">
                <a:solidFill>
                  <a:srgbClr val="102A43"/>
                </a:solidFill>
                <a:latin typeface="Aptos"/>
              </a:defRPr>
            </a:pPr>
            <a:r>
              <a:t>„Majd egyszer</a:t>
            </a:r>
            <a:br/>
            <a:r>
              <a:t>leold a kismegszakító.”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4983480" cy="3017520"/>
          </a:xfrm>
          <a:prstGeom prst="roundRect">
            <a:avLst/>
          </a:prstGeom>
          <a:solidFill>
            <a:srgbClr val="EC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3891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3C9669"/>
                </a:solidFill>
                <a:latin typeface="Aptos"/>
              </a:defRPr>
            </a:pPr>
            <a:r>
              <a:t>A CÉL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88920"/>
            <a:ext cx="4389120" cy="9144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400" b="1">
                <a:solidFill>
                  <a:srgbClr val="102A43"/>
                </a:solidFill>
                <a:latin typeface="Aptos"/>
              </a:defRPr>
            </a:pPr>
            <a:r>
              <a:t>A veszélyes állapot</a:t>
            </a:r>
            <a:br/>
            <a:r>
              <a:t>kellően gyors megszüntetése.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Mivel történhet a lekapcsolás?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3246120" cy="146304"/>
          </a:xfrm>
          <a:prstGeom prst="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269748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OLVADÓ-</a:t>
            </a:r>
            <a:br/>
            <a:r>
              <a:t>BIZTOSÍTÓ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269748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0">
                <a:solidFill>
                  <a:srgbClr val="1F303D"/>
                </a:solidFill>
                <a:latin typeface="Aptos"/>
              </a:defRPr>
            </a:pPr>
            <a:r>
              <a:t>A betét kiolvad,</a:t>
            </a:r>
            <a:br/>
            <a:r>
              <a:t>megszakítja az áramkört.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828800"/>
            <a:ext cx="3246120" cy="146304"/>
          </a:xfrm>
          <a:prstGeom prst="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240280"/>
            <a:ext cx="269748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KISMEG-</a:t>
            </a:r>
            <a:br/>
            <a:r>
              <a:t>SZAKÍTÓ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246120"/>
            <a:ext cx="269748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0">
                <a:solidFill>
                  <a:srgbClr val="1F303D"/>
                </a:solidFill>
                <a:latin typeface="Aptos"/>
              </a:defRPr>
            </a:pPr>
            <a:r>
              <a:t>Nagy hibaáramnál</a:t>
            </a:r>
            <a:br/>
            <a:r>
              <a:t>gyors mágneses kioldás.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246120" cy="146304"/>
          </a:xfrm>
          <a:prstGeom prst="rect">
            <a:avLst/>
          </a:prstGeom>
          <a:solidFill>
            <a:srgbClr val="3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240280"/>
            <a:ext cx="269748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ÁVK / RCD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246120"/>
            <a:ext cx="2697480" cy="7315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0">
                <a:solidFill>
                  <a:srgbClr val="1F303D"/>
                </a:solidFill>
                <a:latin typeface="Aptos"/>
              </a:defRPr>
            </a:pPr>
            <a:r>
              <a:t>Maradékáramot figyel.</a:t>
            </a:r>
            <a:br/>
            <a:r>
              <a:t>A 16. hét fő témája.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Mi akadályozhatja a gyors lekapcsolást?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737360"/>
            <a:ext cx="502920" cy="502920"/>
          </a:xfrm>
          <a:prstGeom prst="roundRect">
            <a:avLst/>
          </a:prstGeom>
          <a:solidFill>
            <a:srgbClr val="B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029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64792"/>
            <a:ext cx="38404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000" b="1">
                <a:solidFill>
                  <a:srgbClr val="102A43"/>
                </a:solidFill>
                <a:latin typeface="Aptos"/>
              </a:defRPr>
            </a:pPr>
            <a:r>
              <a:t>Szakadt 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783080"/>
            <a:ext cx="53035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0">
                <a:solidFill>
                  <a:srgbClr val="1F303D"/>
                </a:solidFill>
                <a:latin typeface="Aptos"/>
              </a:defRPr>
            </a:pPr>
            <a:r>
              <a:t>megszakad a hibaáram biztonságos útja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697480"/>
            <a:ext cx="502920" cy="502920"/>
          </a:xfrm>
          <a:prstGeom prst="round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5029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724912"/>
            <a:ext cx="38404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000" b="1">
                <a:solidFill>
                  <a:srgbClr val="102A43"/>
                </a:solidFill>
                <a:latin typeface="Aptos"/>
              </a:defRPr>
            </a:pPr>
            <a:r>
              <a:t>Laza / korrodált kötés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743200"/>
            <a:ext cx="53035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0">
                <a:solidFill>
                  <a:srgbClr val="1F303D"/>
                </a:solidFill>
                <a:latin typeface="Aptos"/>
              </a:defRPr>
            </a:pPr>
            <a:r>
              <a:t>megnő a hibakör impedanciája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657600"/>
            <a:ext cx="502920" cy="502920"/>
          </a:xfrm>
          <a:prstGeom prst="round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49039"/>
            <a:ext cx="5029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685032"/>
            <a:ext cx="38404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000" b="1">
                <a:solidFill>
                  <a:srgbClr val="102A43"/>
                </a:solidFill>
                <a:latin typeface="Aptos"/>
              </a:defRPr>
            </a:pPr>
            <a:r>
              <a:t>Nagy Zₛ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703320"/>
            <a:ext cx="53035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0">
                <a:solidFill>
                  <a:srgbClr val="1F303D"/>
                </a:solidFill>
                <a:latin typeface="Aptos"/>
              </a:defRPr>
            </a:pPr>
            <a:r>
              <a:t>lecsökken a kialakuló hibaáram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617720"/>
            <a:ext cx="502920" cy="502920"/>
          </a:xfrm>
          <a:prstGeom prst="roundRect">
            <a:avLst/>
          </a:prstGeom>
          <a:solidFill>
            <a:srgbClr val="BE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09160"/>
            <a:ext cx="5029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645152"/>
            <a:ext cx="384048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000" b="1">
                <a:solidFill>
                  <a:srgbClr val="102A43"/>
                </a:solidFill>
                <a:latin typeface="Aptos"/>
              </a:defRPr>
            </a:pPr>
            <a:r>
              <a:t>Rossz védelemválasztás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663440"/>
            <a:ext cx="53035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600" b="0">
                <a:solidFill>
                  <a:srgbClr val="1F303D"/>
                </a:solidFill>
                <a:latin typeface="Aptos"/>
              </a:defRPr>
            </a:pPr>
            <a:r>
              <a:t>nem megfelelő működési feltétel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A 15. hét három tanórája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103120"/>
            <a:ext cx="685800" cy="685800"/>
          </a:xfrm>
          <a:prstGeom prst="roundRect">
            <a:avLst/>
          </a:prstGeom>
          <a:solidFill>
            <a:srgbClr val="E78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04288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27889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HIBAÁRAM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57600"/>
            <a:ext cx="260604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0">
                <a:solidFill>
                  <a:srgbClr val="1F303D"/>
                </a:solidFill>
                <a:latin typeface="Aptos"/>
              </a:defRPr>
            </a:pPr>
            <a:r>
              <a:t>Testzárlat és a hibakör útja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82880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2103120"/>
            <a:ext cx="685800" cy="685800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304288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17520"/>
            <a:ext cx="27889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Zₛ ÉS Iₓ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657600"/>
            <a:ext cx="260604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0">
                <a:solidFill>
                  <a:srgbClr val="1F303D"/>
                </a:solidFill>
                <a:latin typeface="Aptos"/>
              </a:defRPr>
            </a:pPr>
            <a:r>
              <a:t>Összefüggés + egyszerű számítás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2461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9640" y="2103120"/>
            <a:ext cx="685800" cy="685800"/>
          </a:xfrm>
          <a:prstGeom prst="roundRect">
            <a:avLst/>
          </a:prstGeom>
          <a:solidFill>
            <a:srgbClr val="3C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304288"/>
            <a:ext cx="6858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017520"/>
            <a:ext cx="278892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900" b="1">
                <a:solidFill>
                  <a:srgbClr val="102A43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657600"/>
            <a:ext cx="260604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500" b="0">
                <a:solidFill>
                  <a:srgbClr val="1F303D"/>
                </a:solidFill>
                <a:latin typeface="Aptos"/>
              </a:defRPr>
            </a:pPr>
            <a:r>
              <a:t>Feszültségmentes oktatási modellen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Gyakorlat: kövesd végig a hibakört!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9418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1  Azonosítsd a PE vezetőt.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88920"/>
            <a:ext cx="9418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2  Jelöld a testzárlat helyét.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9418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3  Rajzold be a hibaáram útját.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26280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709160"/>
            <a:ext cx="9418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1">
                <a:solidFill>
                  <a:srgbClr val="BE4242"/>
                </a:solidFill>
                <a:latin typeface="Aptos"/>
              </a:defRPr>
            </a:pPr>
            <a:r>
              <a:t>4  Vizsgáld meg: mi történik szakadt PE esetén?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99669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400" b="1">
                <a:solidFill>
                  <a:srgbClr val="E78E37"/>
                </a:solidFill>
                <a:latin typeface="Aptos"/>
              </a:defRPr>
            </a:pPr>
            <a:r>
              <a:t>Csak feszültségmentes oktatási modellen, tanári felügyelettel.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IAP heti kihívás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10287000" cy="3429000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21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Aptos"/>
              </a:defRPr>
            </a:pPr>
            <a:r>
              <a:t>U₀ = 230 V     Zₛ = 2,3 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93268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000" b="1">
                <a:solidFill>
                  <a:srgbClr val="37B8D6"/>
                </a:solidFill>
                <a:latin typeface="Aptos"/>
              </a:defRPr>
            </a:pPr>
            <a:r>
              <a:t>1. Mekkora a várható hibaáram?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03320"/>
            <a:ext cx="93268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2000" b="1">
                <a:solidFill>
                  <a:srgbClr val="37B8D6"/>
                </a:solidFill>
                <a:latin typeface="Aptos"/>
              </a:defRPr>
            </a:pPr>
            <a:r>
              <a:t>2. Mi történik, ha Zₛ a felére csökken?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572000"/>
            <a:ext cx="9509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400" b="0">
                <a:solidFill>
                  <a:srgbClr val="D3E3EE"/>
                </a:solidFill>
                <a:latin typeface="Aptos"/>
              </a:defRPr>
            </a:pPr>
            <a:r>
              <a:t>Ne csak számolj – fogalmazd meg a hibavédelmi következményt is!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92608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000" b="1">
                <a:solidFill>
                  <a:srgbClr val="37B8D6"/>
                </a:solidFill>
                <a:latin typeface="Aptos"/>
              </a:defRPr>
            </a:pPr>
            <a:r>
              <a:t>15. HÉT • 43–45. ÓRA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06424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2700" b="1">
                <a:solidFill>
                  <a:srgbClr val="102A43"/>
                </a:solidFill>
                <a:latin typeface="Aptos"/>
              </a:defRPr>
            </a:pPr>
            <a:r>
              <a:t>Amit ezen a héten tudnod kell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44168"/>
            <a:ext cx="914400" cy="54864"/>
          </a:xfrm>
          <a:prstGeom prst="rect">
            <a:avLst/>
          </a:prstGeom>
          <a:solidFill>
            <a:srgbClr val="37B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02920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800" b="0">
                <a:solidFill>
                  <a:srgbClr val="5B6F7E"/>
                </a:solidFill>
                <a:latin typeface="Aptos"/>
              </a:defRPr>
            </a:pPr>
            <a:r>
              <a:t>IAP • Villamos szerelések • 11. évfolyam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02920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r">
              <a:defRPr sz="800" b="1">
                <a:solidFill>
                  <a:srgbClr val="5B6F7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475488" cy="47548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09928"/>
            <a:ext cx="47548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45920"/>
            <a:ext cx="923544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Testzárlatkor hibaáram alakulhat ki.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404872"/>
            <a:ext cx="475488" cy="47548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47548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50591"/>
            <a:ext cx="923544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A PE/PEN a hibakör fontos része.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09544"/>
            <a:ext cx="475488" cy="47548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19272"/>
            <a:ext cx="47548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255263"/>
            <a:ext cx="923544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Iₓ ≈ U₀ / Zₛ.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14216"/>
            <a:ext cx="475488" cy="47548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23944"/>
            <a:ext cx="47548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59936"/>
            <a:ext cx="923544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Kisebb Zₛ nagyobb hibaáramot eredményez.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18888"/>
            <a:ext cx="475488" cy="475488"/>
          </a:xfrm>
          <a:prstGeom prst="roundRect">
            <a:avLst/>
          </a:prstGeom>
          <a:solidFill>
            <a:srgbClr val="1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28616"/>
            <a:ext cx="475488" cy="20116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64607"/>
            <a:ext cx="9235440" cy="34747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 sz="1800" b="0">
                <a:solidFill>
                  <a:srgbClr val="1F303D"/>
                </a:solidFill>
                <a:latin typeface="Aptos"/>
              </a:defRPr>
            </a:pPr>
            <a:r>
              <a:t>A védelemnek kellően gyorsan kell lekapcsolnia.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806440"/>
            <a:ext cx="10241280" cy="438912"/>
          </a:xfrm>
          <a:prstGeom prst="roundRect">
            <a:avLst/>
          </a:prstGeom>
          <a:solidFill>
            <a:srgbClr val="E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916168"/>
            <a:ext cx="987552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>
              <a:defRPr sz="1300" b="1">
                <a:solidFill>
                  <a:srgbClr val="102A43"/>
                </a:solidFill>
                <a:latin typeface="Aptos"/>
              </a:defRPr>
            </a:pPr>
            <a:r>
              <a:t>Következő hét: Áram-védőkapcsoló (ÁVK / RCD) a hibavédelemben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