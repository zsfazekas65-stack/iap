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Aptos"/>
              </a:defRPr>
            </a:pPr>
            <a:r>
              <a:t>10. hét • Védővezető, EPH és védelmi összekötések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17089"/>
                </a:solidFill>
                <a:latin typeface="Aptos"/>
              </a:defRPr>
            </a:pPr>
            <a:r>
              <a:t>28–30. óra • 1. témakör: Villamos biztonságtechnika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Aptos"/>
              </a:defRPr>
            </a:pPr>
            <a:r>
              <a:t>VILLAMOS BIZTONSÁGTECHNIKA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48840"/>
            <a:ext cx="6492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61A30"/>
                </a:solidFill>
                <a:latin typeface="Aptos"/>
              </a:defRPr>
            </a:pPr>
            <a:r>
              <a:t>Védővezető, EPH és</a:t>
            </a:r>
            <a:br/>
            <a:r>
              <a:t>védelmi összekötések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737360"/>
            <a:ext cx="3840480" cy="182880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88366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Aptos"/>
              </a:defRPr>
            </a:pPr>
            <a:r>
              <a:t>Heti cél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19" y="2304288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A PE és az egyenpotenciálra hozó összekötések szerepének felismerése, folytonosságuk és helyes alkalmazásuk értelmezése.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840480"/>
            <a:ext cx="3840480" cy="137160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19" y="398678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2A5F5"/>
                </a:solidFill>
                <a:latin typeface="Aptos"/>
              </a:defRPr>
            </a:pPr>
            <a:r>
              <a:t>3 tanóra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19" y="440740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Elmélet • bemutatás • alkalmazás • ellenőrzés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17089"/>
                </a:solidFill>
                <a:latin typeface="Aptos"/>
              </a:defRPr>
            </a:pPr>
            <a:r>
              <a:t>IAP • Villamos szerelések • 11. évfolyam • 10. hét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61A30"/>
                </a:solidFill>
                <a:latin typeface="Aptos"/>
              </a:defRPr>
            </a:pPr>
            <a:r>
              <a:t>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Aptos"/>
              </a:defRPr>
            </a:pPr>
            <a:r>
              <a:t>A védővezető feladata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17089"/>
                </a:solidFill>
                <a:latin typeface="Aptos"/>
              </a:defRPr>
            </a:pPr>
            <a:r>
              <a:t>28–30. óra • 1. témakör: Villamos biztonságtechnika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7D32"/>
                </a:solidFill>
                <a:latin typeface="Aptos"/>
              </a:defRPr>
            </a:pPr>
            <a:r>
              <a:t>Normál üzemben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A PE nem üzemi áramvezető. Feladata a védelem működésének biztosítása hiba esetén.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62828"/>
                </a:solidFill>
                <a:latin typeface="Aptos"/>
              </a:defRPr>
            </a:pPr>
            <a:r>
              <a:t>Hiba esetén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A testzárlati áram számára kis impedanciájú utat segít biztosítani, hogy a védelem gyorsan lekapcsolhasson.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59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Aptos"/>
              </a:defRPr>
            </a:pPr>
            <a:r>
              <a:t>Azonosítás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59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A zöld/sárga vezetőt kizárólag védelmi célra használjuk.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17089"/>
                </a:solidFill>
                <a:latin typeface="Aptos"/>
              </a:defRPr>
            </a:pPr>
            <a:r>
              <a:t>IAP • Villamos szerelések • 11. évfolyam • 10. hét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61A30"/>
                </a:solidFill>
                <a:latin typeface="Aptos"/>
              </a:defRPr>
            </a:pPr>
            <a:r>
              <a:t>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Aptos"/>
              </a:defRPr>
            </a:pPr>
            <a:r>
              <a:t>PE és N – nem ugyanaz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17089"/>
                </a:solidFill>
                <a:latin typeface="Aptos"/>
              </a:defRPr>
            </a:pPr>
            <a:r>
              <a:t>28–30. óra • 1. témakör: Villamos biztonságtechnika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7D32"/>
                </a:solidFill>
                <a:latin typeface="Aptos"/>
              </a:defRPr>
            </a:pPr>
            <a:r>
              <a:t>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Védővezető. Biztonsági funkciót lát 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Nullavezető. Üzemi áramot vezethet.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59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62828"/>
                </a:solidFill>
                <a:latin typeface="Aptos"/>
              </a:defRPr>
            </a:pPr>
            <a:r>
              <a:t>Téves felcserélés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59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A két vezető funkciójának összekeverése súlyos érintésvédelmi hibához vezethet.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17089"/>
                </a:solidFill>
                <a:latin typeface="Aptos"/>
              </a:defRPr>
            </a:pPr>
            <a:r>
              <a:t>IAP • Villamos szerelések • 11. évfolyam • 10. hét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61A30"/>
                </a:solidFill>
                <a:latin typeface="Aptos"/>
              </a:defRPr>
            </a:pPr>
            <a:r>
              <a:t>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Aptos"/>
              </a:defRPr>
            </a:pPr>
            <a:r>
              <a:t>Mi az EPH?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17089"/>
                </a:solidFill>
                <a:latin typeface="Aptos"/>
              </a:defRPr>
            </a:pPr>
            <a:r>
              <a:t>28–30. óra • 1. témakör: Villamos biztonságtechnika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Aptos"/>
              </a:defRPr>
            </a:pPr>
            <a:r>
              <a:t>Cél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A hozzáférhető idegen vezetőképes részek közötti veszélyes potenciálkülönbség csökkentése.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7D32"/>
                </a:solidFill>
                <a:latin typeface="Aptos"/>
              </a:defRPr>
            </a:pPr>
            <a:r>
              <a:t>Összekötés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A védelmi egyenpotenciálra hozó összekötés a kijelölt vezetőképes részeket a védelmi rendszerhez kapcsolja.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59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7C00"/>
                </a:solidFill>
                <a:latin typeface="Aptos"/>
              </a:defRPr>
            </a:pPr>
            <a:r>
              <a:t>Nem díszvezeték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59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Az EPH csak akkor ér valamit, ha folytonos, megfelelően csatlakozik és ellenőrizhető.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17089"/>
                </a:solidFill>
                <a:latin typeface="Aptos"/>
              </a:defRPr>
            </a:pPr>
            <a:r>
              <a:t>IAP • Villamos szerelések • 11. évfolyam • 10. hét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61A30"/>
                </a:solidFill>
                <a:latin typeface="Aptos"/>
              </a:defRPr>
            </a:pPr>
            <a:r>
              <a:t>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Aptos"/>
              </a:defRPr>
            </a:pPr>
            <a:r>
              <a:t>Mit ellenőrzünk?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17089"/>
                </a:solidFill>
                <a:latin typeface="Aptos"/>
              </a:defRPr>
            </a:pPr>
            <a:r>
              <a:t>28–30. óra • 1. témakör: Villamos biztonságtechnika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7D32"/>
                </a:solidFill>
                <a:latin typeface="Aptos"/>
              </a:defRPr>
            </a:pPr>
            <a:r>
              <a:t>Folytonosság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A védelmi vezető útja ne legyen megszakadt.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Aptos"/>
              </a:defRPr>
            </a:pPr>
            <a:r>
              <a:t>Kötések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Legyenek tartósak, mechanikailag stabilak és korróziótól védettek.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59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2A5F5"/>
                </a:solidFill>
                <a:latin typeface="Aptos"/>
              </a:defRPr>
            </a:pPr>
            <a:r>
              <a:t>Azonosíthatóság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59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A vezetők, kapcsok és csatlakozási pontok legyenek egyértelműen felismerhetők.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17089"/>
                </a:solidFill>
                <a:latin typeface="Aptos"/>
              </a:defRPr>
            </a:pPr>
            <a:r>
              <a:t>IAP • Villamos szerelések • 11. évfolyam • 10. hét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61A30"/>
                </a:solidFill>
                <a:latin typeface="Aptos"/>
              </a:defRPr>
            </a:pPr>
            <a:r>
              <a:t>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Aptos"/>
              </a:defRPr>
            </a:pPr>
            <a:r>
              <a:t>Gyakori hibák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17089"/>
                </a:solidFill>
                <a:latin typeface="Aptos"/>
              </a:defRPr>
            </a:pPr>
            <a:r>
              <a:t>28–30. óra • 1. témakör: Villamos biztonságtechnika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62828"/>
                </a:solidFill>
                <a:latin typeface="Aptos"/>
              </a:defRPr>
            </a:pPr>
            <a:r>
              <a:t>Megszakított 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A készülék működhet, de a hibavédelem nem biztos, hogy működni fog.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7C00"/>
                </a:solidFill>
                <a:latin typeface="Aptos"/>
              </a:defRPr>
            </a:pPr>
            <a:r>
              <a:t>Laza EPH-kötés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A védelmi összekötés megbízhatatlanná válik.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508760"/>
            <a:ext cx="329184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59" y="16550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62828"/>
                </a:solidFill>
                <a:latin typeface="Aptos"/>
              </a:defRPr>
            </a:pPr>
            <a:r>
              <a:t>N és PE összekeverése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59" y="2075688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Nem megengedett tetszőleges helyen összekötni vagy felcserélni őket.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17089"/>
                </a:solidFill>
                <a:latin typeface="Aptos"/>
              </a:defRPr>
            </a:pPr>
            <a:r>
              <a:t>IAP • Villamos szerelések • 11. évfolyam • 10. hét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61A30"/>
                </a:solidFill>
                <a:latin typeface="Aptos"/>
              </a:defRPr>
            </a:pPr>
            <a:r>
              <a:t>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Aptos"/>
              </a:defRPr>
            </a:pPr>
            <a:r>
              <a:t>⚡ IAP heti 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17089"/>
                </a:solidFill>
                <a:latin typeface="Aptos"/>
              </a:defRPr>
            </a:pPr>
            <a:r>
              <a:t>28–30. óra • 1. témakör: Villamos biztonságtechnika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4389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55063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Aptos"/>
              </a:defRPr>
            </a:pPr>
            <a:r>
              <a:t>Helyzet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104241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183A5A"/>
                </a:solidFill>
                <a:latin typeface="Aptos"/>
              </a:defRPr>
            </a:pPr>
            <a:r>
              <a:t>Egy fémburkolatú berendezés működik, de a PE folytonossága nem igazolható. A kolléga szerint „ha működik, jó”. Fogalmazz 4-5 mondatos szakmai választ: miért hibás ez a gondolkodás, és mit kell ellenőrizni átadás előtt?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17089"/>
                </a:solidFill>
                <a:latin typeface="Aptos"/>
              </a:defRPr>
            </a:pPr>
            <a:r>
              <a:t>IAP • Villamos szerelések • 11. évfolyam • 10. hét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61A30"/>
                </a:solidFill>
                <a:latin typeface="Aptos"/>
              </a:defRPr>
            </a:pPr>
            <a:r>
              <a:t>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