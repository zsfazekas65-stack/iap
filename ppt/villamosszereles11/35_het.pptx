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26776"/>
                </a:solidFill>
                <a:latin typeface="Liberation Sans"/>
              </a:defRPr>
            </a:pPr>
            <a:r>
              <a:t>IAP • 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Liberation Sans"/>
              </a:defRPr>
            </a:pPr>
            <a:r>
              <a:t>35. hét - Mérés, ellenőrzés és dokumentálás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103-105. óra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3B5D"/>
                </a:solidFill>
                <a:latin typeface="Liberation Sans"/>
              </a:defRPr>
            </a:pPr>
            <a:r>
              <a:t>SZERELÉS KÉSZ  ≠  MUNKA ÁTADVA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977639"/>
            <a:ext cx="9509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123B5D"/>
                </a:solidFill>
                <a:latin typeface="Liberation Sans"/>
              </a:defRPr>
            </a:pPr>
            <a:r>
              <a:t>A szakmai munka akkor kész, ha ellenőrizhető, mérhető és dokumentált.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26776"/>
                </a:solidFill>
                <a:latin typeface="Liberation Sans"/>
              </a:defRPr>
            </a:pPr>
            <a:r>
              <a:t>IAP • 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Liberation Sans"/>
              </a:defRPr>
            </a:pPr>
            <a:r>
              <a:t>Három különböző fogalom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3337560" cy="260604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93391"/>
            <a:ext cx="3026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ELLENŐRZÉS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404872"/>
            <a:ext cx="3026664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Megfelel-e a rajznak és a szerelési követelményeknek?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79" y="1874519"/>
            <a:ext cx="3337560" cy="260604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7" y="1993391"/>
            <a:ext cx="3026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MÉRÉS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7" y="2404872"/>
            <a:ext cx="3026664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Mit mutat a műszer a kijelölt mérési ponton?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19" y="1874519"/>
            <a:ext cx="3337560" cy="260604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0767" y="1993391"/>
            <a:ext cx="3026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MINŐSÍTÉS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7" y="2404872"/>
            <a:ext cx="3026664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Az eredmény alapján átadható, javítandó vagy ismétlendő?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26776"/>
                </a:solidFill>
                <a:latin typeface="Liberation Sans"/>
              </a:defRPr>
            </a:pPr>
            <a:r>
              <a:t>IAP • 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Liberation Sans"/>
              </a:defRPr>
            </a:pPr>
            <a:r>
              <a:t>Helyes ellenőrzési sorrend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3383280" cy="15087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10512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21992"/>
            <a:ext cx="307238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Szemrevételezés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91640"/>
            <a:ext cx="3383280" cy="15087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3128" y="1810512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3128" y="2221992"/>
            <a:ext cx="307238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Feszültségmentes vizsgálat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691640"/>
            <a:ext cx="3383280" cy="15087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810512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221992"/>
            <a:ext cx="307238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Eredmények értékelése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49039"/>
            <a:ext cx="3383280" cy="15087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867911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279392"/>
            <a:ext cx="307238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Engedélyezett bekapcsolás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749039"/>
            <a:ext cx="3383280" cy="15087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3867911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4279392"/>
            <a:ext cx="307238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Működéspróba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749039"/>
            <a:ext cx="3383280" cy="15087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3867911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4279392"/>
            <a:ext cx="307238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Dokumentálás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26776"/>
                </a:solidFill>
                <a:latin typeface="Liberation Sans"/>
              </a:defRPr>
            </a:pPr>
            <a:r>
              <a:t>IAP • 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Liberation Sans"/>
              </a:defRPr>
            </a:pPr>
            <a:r>
              <a:t>Mitől jó egy mérési jegyzőkönyv?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3383280" cy="15087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19072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Mit?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30552"/>
            <a:ext cx="307238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A mérés megnevezése.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00200"/>
            <a:ext cx="3383280" cy="15087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3128" y="1719072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Hol?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3128" y="2130552"/>
            <a:ext cx="307238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Pontos mérési pont.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600200"/>
            <a:ext cx="3383280" cy="15087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719072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Mivel?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130552"/>
            <a:ext cx="307238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Műszer vagy mérési mód.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657600"/>
            <a:ext cx="3383280" cy="15087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776472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Mennyi?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187952"/>
            <a:ext cx="307238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Mért érték + mértékegység.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657600"/>
            <a:ext cx="3383280" cy="15087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3776472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Mit jelent?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4187952"/>
            <a:ext cx="307238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Következtetés és minősítés.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657600"/>
            <a:ext cx="3383280" cy="15087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3776472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Ki és mikor?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4187952"/>
            <a:ext cx="307238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Dátum, készítő, ellenőrző.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26776"/>
                </a:solidFill>
                <a:latin typeface="Liberation Sans"/>
              </a:defRPr>
            </a:pPr>
            <a:r>
              <a:t>IAP • 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Liberation Sans"/>
              </a:defRPr>
            </a:pPr>
            <a:r>
              <a:t>Mért adatból szakmai mondat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256032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947672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GYENGE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359152"/>
            <a:ext cx="3072384" cy="1920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„PE jó.”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383280" cy="256032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947672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JOBB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359152"/>
            <a:ext cx="3072384" cy="1920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„PE folytonosság igazolt.”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383280" cy="256032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2168" y="1947672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SZAKMAI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8" y="2359152"/>
            <a:ext cx="3072384" cy="1920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„PE folytonosság X1-PE és dugalj védőérintkező között igazolt; minősítés: megfelelt.”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26776"/>
                </a:solidFill>
                <a:latin typeface="Liberation Sans"/>
              </a:defRPr>
            </a:pPr>
            <a:r>
              <a:t>IAP • 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Liberation Sans"/>
              </a:defRPr>
            </a:pPr>
            <a:r>
              <a:t>Gyanús mérési eredmény esetén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3383280" cy="15087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19072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30552"/>
            <a:ext cx="307238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Ne fogadd el automatikusan.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00200"/>
            <a:ext cx="3383280" cy="15087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3128" y="1719072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3128" y="2130552"/>
            <a:ext cx="307238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Ellenőrizd a műszert és mérővezetékeket.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600200"/>
            <a:ext cx="3383280" cy="15087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719072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130552"/>
            <a:ext cx="307238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Ellenőrizd a mérési pontot.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657600"/>
            <a:ext cx="3383280" cy="15087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776472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187952"/>
            <a:ext cx="307238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Vesd össze a rajzzal.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657600"/>
            <a:ext cx="3383280" cy="15087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3776472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4187952"/>
            <a:ext cx="307238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Ismételd meg vagy szakaszold a vizsgálatot.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657600"/>
            <a:ext cx="3383280" cy="15087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3776472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4187952"/>
            <a:ext cx="307238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Javítás után mérj újra.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26776"/>
                </a:solidFill>
                <a:latin typeface="Liberation Sans"/>
              </a:defRPr>
            </a:pPr>
            <a:r>
              <a:t>IAP • 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Liberation Sans"/>
              </a:defRPr>
            </a:pPr>
            <a:r>
              <a:t>Átadás: nem csak működéspróba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166360" cy="169164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810512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Szerelési állapot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221992"/>
            <a:ext cx="4855464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Rendezett, stabil, jelölt.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91640"/>
            <a:ext cx="5166360" cy="169164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810512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Biztonsági feltétel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221992"/>
            <a:ext cx="4855464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A szükséges védelmi ellenőrzések rendben.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40480"/>
            <a:ext cx="5166360" cy="169164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3959352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Funkció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4370832"/>
            <a:ext cx="4855464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A kapcsolás az elvárt módon működik.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840480"/>
            <a:ext cx="5166360" cy="169164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3959352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Dokumentáció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4370832"/>
            <a:ext cx="4855464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Minden mérési eredmény és javítás rögzítve.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26776"/>
                </a:solidFill>
                <a:latin typeface="Liberation Sans"/>
              </a:defRPr>
            </a:pPr>
            <a:r>
              <a:t>IAP • 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Liberation Sans"/>
              </a:defRPr>
            </a:pPr>
            <a:r>
              <a:t>Műhelyfeladat - mérési audit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514600" cy="251460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947672"/>
            <a:ext cx="22037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A. Azonosítás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359152"/>
            <a:ext cx="2203704" cy="1874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Berendezés, rajz, mérési pontok.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514600" cy="251460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4448" y="1947672"/>
            <a:ext cx="22037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B. Feszültségmentes ellenőrzés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4448" y="2359152"/>
            <a:ext cx="2203704" cy="1874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Szemrevételezés és folytonosság.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2514600" cy="251460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947672"/>
            <a:ext cx="22037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C. Működéspróba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359152"/>
            <a:ext cx="2203704" cy="1874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Csak engedéllyel, előzetes ellenőrzés után.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828800"/>
            <a:ext cx="2514600" cy="251460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53728" y="1947672"/>
            <a:ext cx="22037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D. Átadás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28" y="2359152"/>
            <a:ext cx="2203704" cy="1874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Jegyzőkönyv + minősítés.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26776"/>
                </a:solidFill>
                <a:latin typeface="Liberation Sans"/>
              </a:defRPr>
            </a:pPr>
            <a:r>
              <a:t>IAP • 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Liberation Sans"/>
              </a:defRPr>
            </a:pPr>
            <a:r>
              <a:t>IAP heti kihívás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23B5D"/>
                </a:solidFill>
                <a:latin typeface="Liberation Sans"/>
              </a:defRPr>
            </a:pPr>
            <a:r>
              <a:t>A kapcsolás működik, de a jegyzőkönyvben nincs mérési pont, mértékegység és minősítés.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971800"/>
            <a:ext cx="7589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23B5D"/>
                </a:solidFill>
                <a:latin typeface="Liberation Sans"/>
              </a:defRPr>
            </a:pPr>
            <a:r>
              <a:t>Elfogadható az átadás?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3886200"/>
            <a:ext cx="2560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23B5D"/>
                </a:solidFill>
                <a:latin typeface="Liberation Sans"/>
              </a:defRPr>
            </a:pPr>
            <a:r>
              <a:t>NEM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4800600"/>
            <a:ext cx="9326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123B5D"/>
                </a:solidFill>
                <a:latin typeface="Liberation Sans"/>
              </a:defRPr>
            </a:pPr>
            <a:r>
              <a:t>A dokumentációból ki kell derülnie: mit, hol, mivel, mennyit és milyen minősítéssel mértek.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26776"/>
                </a:solidFill>
                <a:latin typeface="Liberation Sans"/>
              </a:defRPr>
            </a:pPr>
            <a:r>
              <a:t>IAP • 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Liberation Sans"/>
              </a:defRPr>
            </a:pPr>
            <a:r>
              <a:t>Összefoglalás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2423160" cy="233172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856231"/>
            <a:ext cx="21122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Ellenőrizz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267712"/>
            <a:ext cx="2112264" cy="1691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A szemmel látható hibák sokszor mérés nélkül is felismerhetők.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737360"/>
            <a:ext cx="2423160" cy="233172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4448" y="1856231"/>
            <a:ext cx="21122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Mérj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4448" y="2267712"/>
            <a:ext cx="2112264" cy="1691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A mérés bizonyítja a láthatatlan állapotot.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2423160" cy="233172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856231"/>
            <a:ext cx="21122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Értékelj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267712"/>
            <a:ext cx="2112264" cy="1691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A szám önmagában kevés: következtetés kell.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39" y="1737360"/>
            <a:ext cx="2423160" cy="233172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62287" y="1856231"/>
            <a:ext cx="21122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Dokumentálj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62287" y="2267712"/>
            <a:ext cx="2112264" cy="1691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123B5D"/>
                </a:solidFill>
                <a:latin typeface="Liberation Sans"/>
              </a:defRPr>
            </a:pPr>
            <a:r>
              <a:t>A szakmai felelősség írásban is megjelenik.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892040"/>
            <a:ext cx="10149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23B5D"/>
                </a:solidFill>
                <a:latin typeface="Liberation Sans"/>
              </a:defRPr>
            </a:pPr>
            <a:r>
              <a:t>Következő hét: 36. hét - Év végi összefoglalás és projekt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