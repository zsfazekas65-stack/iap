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b544f281a1432a" /><Relationship Type="http://schemas.openxmlformats.org/officeDocument/2006/relationships/extended-properties" Target="/docProps/app.xml" Id="Rdd8d1d8e89fe4d5d" /><Relationship Type="http://schemas.openxmlformats.org/officeDocument/2006/relationships/officeDocument" Target="/ppt/presentation.xml" Id="R0a25562ca7b74c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a2ad517f2b46f1"/>
  </p:sldMasterIdLst>
  <p:notesMasterIdLst>
    <p:notesMasterId xmlns:r="http://schemas.openxmlformats.org/officeDocument/2006/relationships" r:id="Ra3b1be35e0bb405c"/>
  </p:notesMasterIdLst>
  <p:sldIdLst>
    <p:sldId xmlns:r="http://schemas.openxmlformats.org/officeDocument/2006/relationships" id="256" r:id="R29dc8aa5d74542e9"/>
    <p:sldId xmlns:r="http://schemas.openxmlformats.org/officeDocument/2006/relationships" id="257" r:id="Ra724ca4116934fd8"/>
    <p:sldId xmlns:r="http://schemas.openxmlformats.org/officeDocument/2006/relationships" id="258" r:id="R67bedc495b234028"/>
    <p:sldId xmlns:r="http://schemas.openxmlformats.org/officeDocument/2006/relationships" id="259" r:id="Rf8ea11d209884962"/>
    <p:sldId xmlns:r="http://schemas.openxmlformats.org/officeDocument/2006/relationships" id="260" r:id="Ra4a30ecede9b498f"/>
    <p:sldId xmlns:r="http://schemas.openxmlformats.org/officeDocument/2006/relationships" id="261" r:id="Rb6eae1688e414d11"/>
    <p:sldId xmlns:r="http://schemas.openxmlformats.org/officeDocument/2006/relationships" id="262" r:id="R297aeec29f9d43da"/>
    <p:sldId xmlns:r="http://schemas.openxmlformats.org/officeDocument/2006/relationships" id="263" r:id="Rc3058f0a341b4fe7"/>
    <p:sldId xmlns:r="http://schemas.openxmlformats.org/officeDocument/2006/relationships" id="264" r:id="R2311236f7c554844"/>
    <p:sldId xmlns:r="http://schemas.openxmlformats.org/officeDocument/2006/relationships" id="265" r:id="R4fa3338d32314e1f"/>
    <p:sldId xmlns:r="http://schemas.openxmlformats.org/officeDocument/2006/relationships" id="266" r:id="R91a4f6a90ccb47d8"/>
    <p:sldId xmlns:r="http://schemas.openxmlformats.org/officeDocument/2006/relationships" id="267" r:id="Re6458696bb2f483a"/>
    <p:sldId xmlns:r="http://schemas.openxmlformats.org/officeDocument/2006/relationships" id="268" r:id="Rf31a97bb29aa4992"/>
    <p:sldId xmlns:r="http://schemas.openxmlformats.org/officeDocument/2006/relationships" id="269" r:id="Rb0cf2ea0b77a49b2"/>
    <p:sldId xmlns:r="http://schemas.openxmlformats.org/officeDocument/2006/relationships" id="270" r:id="R2b58c632eabf45e6"/>
    <p:sldId xmlns:r="http://schemas.openxmlformats.org/officeDocument/2006/relationships" id="271" r:id="R88bc9e2331894f65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342887e8184836" /><Relationship Type="http://schemas.openxmlformats.org/officeDocument/2006/relationships/slideMaster" Target="/ppt/slideMasters/slideMaster1.xml" Id="Ra0a2ad517f2b46f1" /><Relationship Type="http://schemas.openxmlformats.org/officeDocument/2006/relationships/notesMaster" Target="/ppt/notesMasters/notesMaster1.xml" Id="Ra3b1be35e0bb405c" /><Relationship Type="http://schemas.openxmlformats.org/officeDocument/2006/relationships/presProps" Target="/ppt/presProps.xml" Id="Rdc8abd0506ae4908" /><Relationship Type="http://schemas.openxmlformats.org/officeDocument/2006/relationships/viewProps" Target="/ppt/viewProps.xml" Id="Rce8279e3bc5d4bc8" /><Relationship Type="http://schemas.openxmlformats.org/officeDocument/2006/relationships/tableStyles" Target="/ppt/tableStyles.xml" Id="Rde590269d1c5478c" /><Relationship Type="http://schemas.openxmlformats.org/officeDocument/2006/relationships/slide" Target="/ppt/slides/slide1.xml" Id="R29dc8aa5d74542e9" /><Relationship Type="http://schemas.openxmlformats.org/officeDocument/2006/relationships/slide" Target="/ppt/slides/slide2.xml" Id="Ra724ca4116934fd8" /><Relationship Type="http://schemas.openxmlformats.org/officeDocument/2006/relationships/slide" Target="/ppt/slides/slide3.xml" Id="R67bedc495b234028" /><Relationship Type="http://schemas.openxmlformats.org/officeDocument/2006/relationships/slide" Target="/ppt/slides/slide4.xml" Id="Rf8ea11d209884962" /><Relationship Type="http://schemas.openxmlformats.org/officeDocument/2006/relationships/slide" Target="/ppt/slides/slide5.xml" Id="Ra4a30ecede9b498f" /><Relationship Type="http://schemas.openxmlformats.org/officeDocument/2006/relationships/slide" Target="/ppt/slides/slide6.xml" Id="Rb6eae1688e414d11" /><Relationship Type="http://schemas.openxmlformats.org/officeDocument/2006/relationships/slide" Target="/ppt/slides/slide7.xml" Id="R297aeec29f9d43da" /><Relationship Type="http://schemas.openxmlformats.org/officeDocument/2006/relationships/slide" Target="/ppt/slides/slide8.xml" Id="Rc3058f0a341b4fe7" /><Relationship Type="http://schemas.openxmlformats.org/officeDocument/2006/relationships/slide" Target="/ppt/slides/slide9.xml" Id="R2311236f7c554844" /><Relationship Type="http://schemas.openxmlformats.org/officeDocument/2006/relationships/slide" Target="/ppt/slides/slide10.xml" Id="R4fa3338d32314e1f" /><Relationship Type="http://schemas.openxmlformats.org/officeDocument/2006/relationships/slide" Target="/ppt/slides/slide11.xml" Id="R91a4f6a90ccb47d8" /><Relationship Type="http://schemas.openxmlformats.org/officeDocument/2006/relationships/slide" Target="/ppt/slides/slide12.xml" Id="Re6458696bb2f483a" /><Relationship Type="http://schemas.openxmlformats.org/officeDocument/2006/relationships/slide" Target="/ppt/slides/slide13.xml" Id="Rf31a97bb29aa4992" /><Relationship Type="http://schemas.openxmlformats.org/officeDocument/2006/relationships/slide" Target="/ppt/slides/slide14.xml" Id="Rb0cf2ea0b77a49b2" /><Relationship Type="http://schemas.openxmlformats.org/officeDocument/2006/relationships/slide" Target="/ppt/slides/slide15.xml" Id="R2b58c632eabf45e6" /><Relationship Type="http://schemas.openxmlformats.org/officeDocument/2006/relationships/slide" Target="/ppt/slides/slide16.xml" Id="R88bc9e2331894f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3302e79fab40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4faf301b714829" /><Relationship Type="http://schemas.openxmlformats.org/officeDocument/2006/relationships/notesMaster" Target="/ppt/notesMasters/notesMaster1.xml" Id="Ra5aeb281aa4c4a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06a265e7ee4c05" /><Relationship Type="http://schemas.openxmlformats.org/officeDocument/2006/relationships/notesMaster" Target="/ppt/notesMasters/notesMaster1.xml" Id="R0e0ee8277acf43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cf471aaacb4a97" /><Relationship Type="http://schemas.openxmlformats.org/officeDocument/2006/relationships/notesMaster" Target="/ppt/notesMasters/notesMaster1.xml" Id="R31ea912e58354c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b9e8d544684f43" /><Relationship Type="http://schemas.openxmlformats.org/officeDocument/2006/relationships/notesMaster" Target="/ppt/notesMasters/notesMaster1.xml" Id="R628aa240bb544a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abfe9ef2d54aec" /><Relationship Type="http://schemas.openxmlformats.org/officeDocument/2006/relationships/notesMaster" Target="/ppt/notesMasters/notesMaster1.xml" Id="Rba308b8ca62c4a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bcf0c54d7b4984" /><Relationship Type="http://schemas.openxmlformats.org/officeDocument/2006/relationships/notesMaster" Target="/ppt/notesMasters/notesMaster1.xml" Id="R466e24b25b6240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c7bf91a09a47bb" /><Relationship Type="http://schemas.openxmlformats.org/officeDocument/2006/relationships/notesMaster" Target="/ppt/notesMasters/notesMaster1.xml" Id="R490d3fb39cbe4b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a251320c634b34" /><Relationship Type="http://schemas.openxmlformats.org/officeDocument/2006/relationships/notesMaster" Target="/ppt/notesMasters/notesMaster1.xml" Id="R6d9ca8edd1e545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0c4e78f3b54811" /><Relationship Type="http://schemas.openxmlformats.org/officeDocument/2006/relationships/notesMaster" Target="/ppt/notesMasters/notesMaster1.xml" Id="R8b8ff92bae074d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4a0b45010b4adf" /><Relationship Type="http://schemas.openxmlformats.org/officeDocument/2006/relationships/notesMaster" Target="/ppt/notesMasters/notesMaster1.xml" Id="R914b587f5ba744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8abc2488324b60" /><Relationship Type="http://schemas.openxmlformats.org/officeDocument/2006/relationships/notesMaster" Target="/ppt/notesMasters/notesMaster1.xml" Id="Re7f169b7a79a40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4fe143fddc4476" /><Relationship Type="http://schemas.openxmlformats.org/officeDocument/2006/relationships/notesMaster" Target="/ppt/notesMasters/notesMaster1.xml" Id="R0b30fa679a904b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3093f6e91546b2" /><Relationship Type="http://schemas.openxmlformats.org/officeDocument/2006/relationships/notesMaster" Target="/ppt/notesMasters/notesMaster1.xml" Id="R1d5c5d978ad94a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3defacf6164014" /><Relationship Type="http://schemas.openxmlformats.org/officeDocument/2006/relationships/notesMaster" Target="/ppt/notesMasters/notesMaster1.xml" Id="Rab7810ce032745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20f3b7747c44c6" /><Relationship Type="http://schemas.openxmlformats.org/officeDocument/2006/relationships/notesMaster" Target="/ppt/notesMasters/notesMaster1.xml" Id="R34429d9ef4d24e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2d1411396c4002" /><Relationship Type="http://schemas.openxmlformats.org/officeDocument/2006/relationships/notesMaster" Target="/ppt/notesMasters/notesMaster1.xml" Id="R464151797a5446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MSZ EN 50110-1:2013 Villamos berendezések üzemeltetése</a:t>
            </a:r>
          </a:p>
          <a:p xmlns:a="http://schemas.openxmlformats.org/drawingml/2006/main">
            <a:r>
              <a:t>- 1993. évi XCIII. törvény a munkavédelemről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e7f66947354e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99e51c1b444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16b5d99a043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ec554ea394d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524bc25ef41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7c2082629475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b22985b7d4cc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a74b015ce497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75986541c41f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fe906c3e9496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354403b4f476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14CDE6-4EE2-47FD-83B2-D529910F458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5ED629F-E9AE-4ED9-AD14-5E3FAAB404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136083-F350-4D4D-B104-6450D20965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92463C-F2BF-4D85-A8FE-DABF2F9E75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5CDFBF-4963-401D-8FA6-D32C8FB43D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033174-1A32-42F5-8739-7BCF3C50F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4D3641-EB72-4B7E-8B87-74684F3BBD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8E0B4B-A613-4AAF-A2C5-2A18372AF7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6540F9-CAAE-4694-B654-5F91545A53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90428-3D3B-4D3E-BC84-DB2AE9F89E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4E926E-56C6-4ED3-95AC-EE6B2EA99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99C4D3-76E5-4824-A7CB-D002B1C71E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66DC17A-A892-4FFA-A820-886AF28575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ABE996-898E-45C1-A3C4-5ECB097E9D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96637E-B393-4EE3-AD52-F74EA77581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70FFE5-478D-4DB0-B9B2-E60E64043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77AED7-1E2C-4788-8788-A9A14D2FB1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8125653-F859-463D-AEAC-3C56502D0F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31BC4A2-0C76-4875-A4BB-1786B40C84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7CBD9B5-7F45-4625-8F1C-37730382ED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94DB6F-553B-4F7D-A300-ACC9E4E304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15BAD0-E562-471B-8259-EAF5CA5266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02450BA-3AC7-4B22-A0A2-A7BD21F95B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A7A975-7D69-419E-A2A8-7EADEBA34D9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826BE33-FDEF-4FBC-AB44-3CC4155C6BE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43FFE94-5737-4034-9C9E-9B7BCAF656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A3FA19A-E602-4969-AD2E-03FA8F28E3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9D15225-624C-45A4-8B93-1C7B7A2C49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7118F61-02FB-4355-B083-C97F7C6ECD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49834F-F731-4F1A-BA7E-0F71805D50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EADDC64-49F7-4619-AF7D-E83B18C8FA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6E760B1-2B98-41B5-88D3-540DA582B8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DE513CB-070E-4ED2-9E04-6553B9647F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359A1BA-4A6A-49FA-A949-71F2D0DBBA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2FB16C2-2DF2-49A3-8345-1C56C26A5B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AAD33B1-135C-492F-9891-6E90D689B5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07079E-B651-41CF-A3E7-76AA6B1E9F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8DF081-275C-42FB-8853-78857AB633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5855720-BC8F-4053-87F7-F1E79EBA8E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FA3EC92-18ED-4421-B64B-44282550B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31D3D0E-6A6D-4E24-AC08-790FC25985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2F283F-CC81-4113-80A6-99BDF76BE9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BE2B1E-78E7-4814-A350-1ADB7C726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B1657B1-1C38-4246-AB8B-B2201984A37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757E1BF-88A0-4463-B55D-AFCF7587A1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E5BB48A-747F-4164-B726-E3E7028C37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5005C3-6839-4CC8-B619-7C29BACB16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279F80-B586-4FB1-855C-30BDEFCF57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460366-CCD7-49C2-81A6-AD09DCABC6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D5FC2F-5093-4DCF-A012-7E8A74E5DF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98C9EB-5130-4723-A407-E709459926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6041B9-C34E-4156-9FBD-ACF2E4A28B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027C369-E18B-4D97-B622-A1292F3004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9463267-91B6-47DC-A9E5-BB29F31B5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49BBDF-6C7A-474F-AE83-EBA485DD68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2880E1-8768-4D8B-BD5C-12F1A97B25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F0789B-BBF2-4F76-8DCE-E1436E20E5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09C92F-55DF-4A91-9037-40E08DE551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f88aba87644a03" /><Relationship Type="http://schemas.openxmlformats.org/officeDocument/2006/relationships/slideLayout" Target="/ppt/slideLayouts/slideLayout1.xml" Id="Rca11b24f319f4f71" /><Relationship Type="http://schemas.openxmlformats.org/officeDocument/2006/relationships/slideLayout" Target="/ppt/slideLayouts/slideLayout2.xml" Id="Rc137fe3426aa4834" /><Relationship Type="http://schemas.openxmlformats.org/officeDocument/2006/relationships/slideLayout" Target="/ppt/slideLayouts/slideLayout3.xml" Id="Raa8eccec8f594258" /><Relationship Type="http://schemas.openxmlformats.org/officeDocument/2006/relationships/slideLayout" Target="/ppt/slideLayouts/slideLayout4.xml" Id="Rdd14664ac6984fd9" /><Relationship Type="http://schemas.openxmlformats.org/officeDocument/2006/relationships/slideLayout" Target="/ppt/slideLayouts/slideLayout5.xml" Id="Re3d14255f5c644e9" /><Relationship Type="http://schemas.openxmlformats.org/officeDocument/2006/relationships/slideLayout" Target="/ppt/slideLayouts/slideLayout6.xml" Id="R64c7baf3ebf14e83" /><Relationship Type="http://schemas.openxmlformats.org/officeDocument/2006/relationships/slideLayout" Target="/ppt/slideLayouts/slideLayout7.xml" Id="R479da347debd467c" /><Relationship Type="http://schemas.openxmlformats.org/officeDocument/2006/relationships/slideLayout" Target="/ppt/slideLayouts/slideLayout8.xml" Id="R451ae1440e674f41" /><Relationship Type="http://schemas.openxmlformats.org/officeDocument/2006/relationships/slideLayout" Target="/ppt/slideLayouts/slideLayout9.xml" Id="R7ee2112f58cb43bf" /><Relationship Type="http://schemas.openxmlformats.org/officeDocument/2006/relationships/slideLayout" Target="/ppt/slideLayouts/slideLayout10.xml" Id="R4fadea1b8df44b7d" /><Relationship Type="http://schemas.openxmlformats.org/officeDocument/2006/relationships/slideLayout" Target="/ppt/slideLayouts/slideLayout11.xml" Id="Rb091190b89a044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5E34274-2F4D-422D-B40E-459536D0BE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F8F5D2-BE34-4581-9CA3-5C623A5FB6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7EA873-61A2-497D-B682-4948EB54C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F75A20-E8B9-4B52-9806-D8AD635BCCF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7F3A43-77C4-4D34-9C5A-7F27A15283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11b24f319f4f71"/>
    <p:sldLayoutId xmlns:r="http://schemas.openxmlformats.org/officeDocument/2006/relationships" id="2147483650" r:id="Rc137fe3426aa4834"/>
    <p:sldLayoutId xmlns:r="http://schemas.openxmlformats.org/officeDocument/2006/relationships" id="2147483651" r:id="Raa8eccec8f594258"/>
    <p:sldLayoutId xmlns:r="http://schemas.openxmlformats.org/officeDocument/2006/relationships" id="2147483652" r:id="Rdd14664ac6984fd9"/>
    <p:sldLayoutId xmlns:r="http://schemas.openxmlformats.org/officeDocument/2006/relationships" id="2147483653" r:id="Re3d14255f5c644e9"/>
    <p:sldLayoutId xmlns:r="http://schemas.openxmlformats.org/officeDocument/2006/relationships" id="2147483654" r:id="R64c7baf3ebf14e83"/>
    <p:sldLayoutId xmlns:r="http://schemas.openxmlformats.org/officeDocument/2006/relationships" id="2147483655" r:id="R479da347debd467c"/>
    <p:sldLayoutId xmlns:r="http://schemas.openxmlformats.org/officeDocument/2006/relationships" id="2147483656" r:id="R451ae1440e674f41"/>
    <p:sldLayoutId xmlns:r="http://schemas.openxmlformats.org/officeDocument/2006/relationships" id="2147483657" r:id="R7ee2112f58cb43bf"/>
    <p:sldLayoutId xmlns:r="http://schemas.openxmlformats.org/officeDocument/2006/relationships" id="2147483658" r:id="R4fadea1b8df44b7d"/>
    <p:sldLayoutId xmlns:r="http://schemas.openxmlformats.org/officeDocument/2006/relationships" id="2147483659" r:id="Rb091190b89a0443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3e5b70f55a4cd9" /><Relationship Type="http://schemas.openxmlformats.org/officeDocument/2006/relationships/notesSlide" Target="/ppt/notesSlides/notesSlide1.xml" Id="R840ee1a59be246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21ad3aa6a24f3b" /><Relationship Type="http://schemas.openxmlformats.org/officeDocument/2006/relationships/notesSlide" Target="/ppt/notesSlides/notesSlide2.xml" Id="R905f8210132a47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add006929d4b0f" /><Relationship Type="http://schemas.openxmlformats.org/officeDocument/2006/relationships/notesSlide" Target="/ppt/notesSlides/notesSlide3.xml" Id="R7b80fb1f61044b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078aa9776643dd" /><Relationship Type="http://schemas.openxmlformats.org/officeDocument/2006/relationships/notesSlide" Target="/ppt/notesSlides/notesSlide4.xml" Id="Ra49a38c335e94e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7f1f445b3f4ad0" /><Relationship Type="http://schemas.openxmlformats.org/officeDocument/2006/relationships/notesSlide" Target="/ppt/notesSlides/notesSlide5.xml" Id="R07c83676235a4d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62a56e1a214350" /><Relationship Type="http://schemas.openxmlformats.org/officeDocument/2006/relationships/notesSlide" Target="/ppt/notesSlides/notesSlide6.xml" Id="Rc1af74f8389440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64193170b64e5d" /><Relationship Type="http://schemas.openxmlformats.org/officeDocument/2006/relationships/notesSlide" Target="/ppt/notesSlides/notesSlide7.xml" Id="Rad1e2765d39646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aa12ae72c24299" /><Relationship Type="http://schemas.openxmlformats.org/officeDocument/2006/relationships/notesSlide" Target="/ppt/notesSlides/notesSlide8.xml" Id="R5a8a0ac959b04f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3415678cea4feb" /><Relationship Type="http://schemas.openxmlformats.org/officeDocument/2006/relationships/notesSlide" Target="/ppt/notesSlides/notesSlide9.xml" Id="R45c9602a13d341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46fd9f6ca54622" /><Relationship Type="http://schemas.openxmlformats.org/officeDocument/2006/relationships/notesSlide" Target="/ppt/notesSlides/notesSlide10.xml" Id="R025cd134bf2945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0e47bb89d049ba" /><Relationship Type="http://schemas.openxmlformats.org/officeDocument/2006/relationships/notesSlide" Target="/ppt/notesSlides/notesSlide11.xml" Id="R4e23296afb6240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184b97f04e49a4" /><Relationship Type="http://schemas.openxmlformats.org/officeDocument/2006/relationships/notesSlide" Target="/ppt/notesSlides/notesSlide12.xml" Id="R0cc1bd9e74de4a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eea3279a164f6b" /><Relationship Type="http://schemas.openxmlformats.org/officeDocument/2006/relationships/notesSlide" Target="/ppt/notesSlides/notesSlide13.xml" Id="Rf0f13985a13349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69804785194516" /><Relationship Type="http://schemas.openxmlformats.org/officeDocument/2006/relationships/notesSlide" Target="/ppt/notesSlides/notesSlide14.xml" Id="R53f3c96b230247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277ce52dc04130" /><Relationship Type="http://schemas.openxmlformats.org/officeDocument/2006/relationships/notesSlide" Target="/ppt/notesSlides/notesSlide15.xml" Id="R32b33a0ffd914d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092a5fdfc344a7" /><Relationship Type="http://schemas.openxmlformats.org/officeDocument/2006/relationships/notesSlide" Target="/ppt/notesSlides/notesSlide16.xml" Id="R655255c403d346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7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EA88F1E-574D-4A5C-8201-DE85DFD5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8912"/>
            <a:ext cx="27432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5B8E6"/>
                </a:solidFill>
                <a:latin typeface="Aptos"/>
                <a:ea typeface="Aptos"/>
                <a:cs typeface="Aptos"/>
              </a:rPr>
              <a:t>IAP • INTEGRÁLT AUTOMATIKA PROGRAM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75DF966-944E-4A68-876D-C9A0BCF2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34440"/>
            <a:ext cx="10607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VILLAMOS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B83946-4D88-4C49-9971-B37415DC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19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25B8E6"/>
                </a:solidFill>
                <a:latin typeface="Aptos"/>
                <a:ea typeface="Aptos"/>
                <a:cs typeface="Aptos"/>
              </a:rPr>
              <a:t>BIZTONSÁGTECHNIKA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44D8A6-D54E-4D66-BE4F-F6CADF2A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8920"/>
            <a:ext cx="9875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D8E8F3"/>
                </a:solidFill>
                <a:latin typeface="Aptos"/>
                <a:ea typeface="Aptos"/>
                <a:cs typeface="Aptos"/>
              </a:rPr>
              <a:t>04. hét  |  Egyéni védőeszközök és műhelybiztonság</a:t>
            </a:r>
          </a:p>
        </p:txBody>
      </p:sp>
      <p:sp>
        <p:nvSpPr>
          <p:cNvPr id="6" name="Hexagon 5">
            <a:extLst xmlns:a="http://schemas.openxmlformats.org/drawingml/2006/main">
              <a:ext uri="{FF2B5EF4-FFF2-40B4-BE49-F238E27FC236}">
                <a16:creationId xmlns:a16="http://schemas.microsoft.com/office/drawing/2014/main" id="{5B68D0A0-1C90-4A2C-B7E3-CB462A96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188720"/>
            <a:ext cx="1508760" cy="173736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48C1469-5689-4B15-8B20-7D7AA432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1600200"/>
            <a:ext cx="109728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⚡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6922F1F-D2D9-4698-BD07-DA96AA73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25B8E6"/>
                </a:solidFill>
                <a:latin typeface="Aptos"/>
                <a:ea typeface="Aptos"/>
                <a:cs typeface="Aptos"/>
              </a:rPr>
              <a:t>TUDÁS  •  BIZTONSÁG  •  GYAKORLAT  •  JÖVŐ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0557EBA-980A-4345-A59F-2F2D1141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FC4D3"/>
                </a:solidFill>
                <a:latin typeface="Aptos"/>
                <a:ea typeface="Aptos"/>
                <a:cs typeface="Aptos"/>
              </a:rPr>
              <a:t>11. évfolyam • Villamos szerelések • 3 tanóra</a:t>
            </a:r>
          </a:p>
        </p:txBody>
      </p:sp>
    </p:spTree>
    <p:extLst>
      <p:ext uri="{BB962C8B-B14F-4D97-AF65-F5344CB8AC3E}">
        <p14:creationId xmlns:p14="http://schemas.microsoft.com/office/powerpoint/2010/main" val="2096470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4E857F4-9E4F-47B2-84F7-52A32904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INDÍTÁS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BEB9206-98D7-4926-9595-63F77988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Egyetlen kérdés az egész hétre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F817E0A-BB3E-4958-BA85-3F5DB838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491BCCA-9781-496A-ACCD-198A16E3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ED27B0-BDD3-4BE2-8972-85B475D7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C6E7344-16AC-4136-ACA9-812BF091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6984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„Mikor véd valóban egy egyéni védőeszköz?”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60A2E47-03D2-4A99-98CD-F5F28A79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886200"/>
            <a:ext cx="81381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C"/>
          </a:solidFill>
          <a:ln xmlns:a="http://schemas.openxmlformats.org/drawingml/2006/main">
            <a:solidFill>
              <a:srgbClr val="F4D2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930D476-871C-4DDE-BA04-C6C1267C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160520"/>
            <a:ext cx="749807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Nem attól, hogy rajtunk van – hanem attól, hogy a feladathoz választottuk, ellenőriztük és helyesen használjuk.</a:t>
            </a:r>
          </a:p>
        </p:txBody>
      </p:sp>
    </p:spTree>
    <p:extLst>
      <p:ext uri="{BB962C8B-B14F-4D97-AF65-F5344CB8AC3E}">
        <p14:creationId xmlns:p14="http://schemas.microsoft.com/office/powerpoint/2010/main" val="1713056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83489C6-3631-4528-8E47-330C00D6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TÖRTÉNELMI NYITÓ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89B8A2-2BF4-48A2-8D95-07DC7024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A műhelybiztonság fejlődése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9EAD19D-D2B7-43F5-B895-13392DF9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8200024-3AA4-4764-A674-93BCD398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00A4524-5392-403B-B00A-ABF80789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B4E1117E-E924-445E-AE57-BA0E8C79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246120"/>
            <a:ext cx="1001268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7274B61-898F-41C0-AFA5-C7B83D32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2987C5B-1C81-4A23-A071-FD8C90C9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923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3261C40-491B-4286-A911-C1C42725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48840"/>
            <a:ext cx="10058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KORAI MŰHELYEK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FCF67C0-5DCB-4ABE-AE88-AB675F3B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9" y="3703320"/>
            <a:ext cx="17373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Tapasztalati védelem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7AB0132-C7A9-413F-9300-B885A005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60520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A veszélyeket főként egyéni tapasztalat alapján kerülték.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1E57095-08A0-4BDB-8F9C-EFDE0E55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608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CE7328A-0325-49DC-82C8-16BDD955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923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576DFC3-2F07-4793-9E33-FAEE82B1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48840"/>
            <a:ext cx="100584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IPAROSODÁS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37F4A78-9E17-4787-A827-6EF90FCE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03320"/>
            <a:ext cx="17373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Szervezett munkavédelem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7AD56F8-B306-426F-B8DE-C8097A66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60520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A gépek és hálózatok terjedésével megjelentek a szabályok.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3810C2CD-7290-4376-B9C3-06261E91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608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ACC73BD-9E15-44AD-B575-25265CDA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923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25E8513-BDA9-45AB-8CE0-61F9890F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148840"/>
            <a:ext cx="100584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SZABVÁNYOSÍTÁS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7C4CE7C-D83B-44D6-9CF3-D7E426B9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703320"/>
            <a:ext cx="17373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Minősített védőeszközök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7806A32-0FD3-46E8-ABDF-526762F4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160520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A védelem feladathoz, kockázathoz és műszaki követelményhez kötődik.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071E90AB-9DA9-42AD-B575-0C35CB85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F144F7-8390-4F57-81FA-4CD3B840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9923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124F4C0-7596-4B0B-80F6-8243A853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148840"/>
            <a:ext cx="100584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SZAKMAI ALAP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62433D7-8B5E-4BCC-B038-C528032F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703320"/>
            <a:ext cx="1737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Nem elég felvenni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4B836D2-9F8D-40DA-AEDE-3342C096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160520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Kiválasztjuk, ellenőrizzük, helyesen használjuk.</a:t>
            </a:r>
          </a:p>
        </p:txBody>
      </p:sp>
    </p:spTree>
    <p:extLst>
      <p:ext uri="{BB962C8B-B14F-4D97-AF65-F5344CB8AC3E}">
        <p14:creationId xmlns:p14="http://schemas.microsoft.com/office/powerpoint/2010/main" val="936478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FBAE0F4-F830-46B3-A5A3-CD469156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677C8"/>
                </a:solidFill>
                <a:latin typeface="Aptos"/>
                <a:ea typeface="Aptos"/>
                <a:cs typeface="Aptos"/>
              </a:rPr>
              <a:t>HALADÁSI TÉRKÉP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B9F8675-B45F-49E4-8C4A-656D421A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A hét 3 tanórája – egymásra építve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95257FC-D09C-48D3-8149-8C50CC14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83FCDE1-8CDA-438C-BEB2-CB0B756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F0CD74B-339A-4BF2-8A2A-084802E9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D013A30-2D52-4C3B-B124-140EC545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42900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7527B3D-B8DC-496E-AE7E-F390477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3911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815249-F747-41BB-A586-C91C6861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12264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161B58-A3CF-45F5-AAA5-709B3E8B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029968"/>
            <a:ext cx="2240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A megfelelő védőeszköz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116E3CF-76A8-478C-B972-51D6565E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487168"/>
            <a:ext cx="2194560" cy="2395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Milyen veszélyhez milyen védelem tartozik?</a:t>
            </a:r>
          </a:p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Kimenet: feladathoz illő választás.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3357E28-AF6E-47E6-AA65-214B5343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342900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C42E51A0-1713-4370-8DCB-95B93DA3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03911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04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9344DB7-1690-40EE-B824-BAB0F21D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112264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CFF1E3F-C4DA-46FE-B546-6372AB81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029968"/>
            <a:ext cx="2240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Használat előtti ellenőrzés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42DA78A-5508-437B-B009-3935815B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487168"/>
            <a:ext cx="2194560" cy="2395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Jelölés, sérülés, tisztaság, illeszkedés.</a:t>
            </a:r>
          </a:p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Kimenet: hibás eszköz felismerése.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F289498-65F9-43DE-A0C4-E266A20D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828800"/>
            <a:ext cx="342900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D1DEEAFD-6B8E-4A09-9FDB-1DC8C860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03911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A6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97173CA-D1B8-4D7F-95C1-49CF7E9B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112264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F6D3625-DD21-4A6F-9F0B-AAFC4543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029968"/>
            <a:ext cx="224027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Biztonságos műhelymunka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D32E344-4DFC-4C57-80D2-74742CC5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487168"/>
            <a:ext cx="2194559" cy="2395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Rend, szerszámok, közlekedési utak, kommunikáció.</a:t>
            </a:r>
          </a:p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Kimenet: műhelyellenőrző lista.</a:t>
            </a:r>
          </a:p>
        </p:txBody>
      </p:sp>
    </p:spTree>
    <p:extLst>
      <p:ext uri="{BB962C8B-B14F-4D97-AF65-F5344CB8AC3E}">
        <p14:creationId xmlns:p14="http://schemas.microsoft.com/office/powerpoint/2010/main" val="999340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CD42638-A572-4074-8D29-184E7DFF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677C8"/>
                </a:solidFill>
                <a:latin typeface="Aptos"/>
                <a:ea typeface="Aptos"/>
                <a:cs typeface="Aptos"/>
              </a:rPr>
              <a:t>1. TANÓRA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3599B94-D342-4372-92A0-22864A77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Milyen veszélyhez milyen védelem tartozik?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EF1AD70-1A92-4C43-BD29-AF4A8D60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38C656-8E8A-46EE-95BE-FD30D371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4A6E3C8-7997-4061-A04C-9C410D7B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068815A-97AB-4754-9B24-8A2CD3CE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057400"/>
            <a:ext cx="3749039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52DB002-C033-4D4D-BD09-5BDB5E93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3160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VESZÉLYHELYZET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7AAF4EE-F98F-45C0-9735-5E7D3C7E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71800"/>
            <a:ext cx="2926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D64045"/>
                </a:solidFill>
                <a:latin typeface="Aptos"/>
                <a:ea typeface="Aptos"/>
                <a:cs typeface="Aptos"/>
              </a:rPr>
              <a:t>A védőeszköz nem általános pajzs: egy meghatározott kockázat ellen véd.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34768C8-03A4-4488-9CCA-27C08526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301752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729E90-E413-46C3-B0D3-E392AEB2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84248"/>
            <a:ext cx="253288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Fejvédelem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4BB342-B54B-4AD8-80A8-3606CB66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41448"/>
            <a:ext cx="248716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Leeső tárgy és mechanikai sérülés ellen.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BF8353C-D487-4B1E-A801-B0900824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01752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BB26723-4650-4EC6-837D-6D01DC2E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544568"/>
            <a:ext cx="253288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Szem- és arcvédelem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C31472F-D87D-4DE9-8B0F-4282E8A1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01768"/>
            <a:ext cx="248716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Repülő részecske, por és ívhatás ellen.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A012C18-A31E-419C-8BD0-999C151E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83080"/>
            <a:ext cx="301752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3A68F97-49D7-4A17-B32B-7839270E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1984248"/>
            <a:ext cx="253288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Kézvédelem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1AE1C88-9AA1-4C47-AEC5-6352E17D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2441448"/>
            <a:ext cx="248716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A feladathoz minősített kesztyűvel.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83EDCB1-6CE8-4C0A-8D40-1327E62F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1752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57FFF29-DE07-4559-8E07-A5BAAB18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4544568"/>
            <a:ext cx="253288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Lábvédelem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0829634-2C9A-49CF-887F-9FE7F38E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5001768"/>
            <a:ext cx="248716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Csúszás, szúrás és mechanikai terhelés ellen.</a:t>
            </a:r>
          </a:p>
        </p:txBody>
      </p:sp>
    </p:spTree>
    <p:extLst>
      <p:ext uri="{BB962C8B-B14F-4D97-AF65-F5344CB8AC3E}">
        <p14:creationId xmlns:p14="http://schemas.microsoft.com/office/powerpoint/2010/main" val="1117922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DDE1C39-32B1-481D-B468-BEA3B322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1. TANÓRA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499F9CE-0966-456A-8D27-2F378A7E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Gondolkodj láncban: VESZÉLY → VÁLASZTÁS → ELLENŐRZÉS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6C96E13-360E-455F-AF60-726EB5DB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04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C338CB-5EDF-4AEB-B3D6-7A439D44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CD263AE-A566-4DD6-8EF9-EF1952E6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7A93B6E-45E8-4130-851F-8E45318E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274320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7357DE7-6BFE-434E-8389-383E25C6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60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VESZÉLY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20CD541-31CB-48DF-B022-86318227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468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Forgácsolás közben repülő részecske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D67CAAD-F003-4E4A-ABF9-FB9A0608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346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F9F994C-1A74-47EE-AA65-7AB53240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1720"/>
            <a:ext cx="274320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7447DF-4348-46B3-A9B2-ABBB0883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060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VÁLASZTÁSI HIBA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A768CAA-A16F-4625-9834-E40F96D4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54680"/>
            <a:ext cx="2286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Nem megfelelő vagy sérült védőszemüveg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FFA02FD-F100-4F0F-ADF0-CB614F1B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46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AF0FBC7-9F24-4537-8F35-6D75286C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31720"/>
            <a:ext cx="274320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CC50E6A-5438-49CD-945B-EC508821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60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KÖVETKEZMÉNY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B69E0AA-10C5-49B7-B6DE-C1E7B794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5468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Szemsérülés veszélye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2E29E62-A578-4B04-B07C-94223EEC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0060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Szakmai szabály: előbb a veszélyt azonosítjuk, utána választunk védelmet.</a:t>
            </a:r>
          </a:p>
        </p:txBody>
      </p:sp>
    </p:spTree>
    <p:extLst>
      <p:ext uri="{BB962C8B-B14F-4D97-AF65-F5344CB8AC3E}">
        <p14:creationId xmlns:p14="http://schemas.microsoft.com/office/powerpoint/2010/main" val="8939821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7BC994C-856D-46CD-8BB6-E08911AB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2D9A67"/>
                </a:solidFill>
                <a:latin typeface="Aptos"/>
                <a:ea typeface="Aptos"/>
                <a:cs typeface="Aptos"/>
              </a:rPr>
              <a:t>1. TANÓRA • GYAKORLAT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43337A3-9E0C-440B-BDB5-1B0FF4D8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Védőeszköz kiválasztása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A5A983E-FDCA-4397-8BAB-E6497C35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A6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AE29129-DB94-4116-8FFC-1677EB11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76DAB14-7D2C-4513-B30D-300BA1BD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C773E79D-4819-498E-A310-A5E209A9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164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A6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64F3148-69CA-482E-B34A-2EB11C7B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479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8338117-D2C9-4F96-B131-6336A92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764792"/>
            <a:ext cx="9052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Nevezd meg a munkafeladat veszélyeit.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6079579D-8680-467A-B883-4F506143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A6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E6E91C5-D38D-48AD-A36A-5EBF9039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635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C4C4D8-A0ED-40ED-A295-149D33DF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816352"/>
            <a:ext cx="9052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0B2742"/>
                </a:solidFill>
                <a:latin typeface="Aptos"/>
                <a:ea typeface="Aptos"/>
                <a:cs typeface="Aptos"/>
              </a:rPr>
              <a:t>Válaszd ki a szükséges védőeszközöket.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45C91C0C-FF51-4EC4-B268-686106F5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A6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0B4EA51-E52A-43E5-9278-3292F995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91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A70586C-167C-454C-97E4-F236D465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867912"/>
            <a:ext cx="9052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0B2742"/>
                </a:solidFill>
                <a:latin typeface="Aptos"/>
                <a:ea typeface="Aptos"/>
                <a:cs typeface="Aptos"/>
              </a:rPr>
              <a:t>Indokold meg minden választásodat.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4DA663CD-3A05-4C4D-9EF2-E3CDCD57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632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A6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B2FEA4A-3A86-48DC-8DA9-BF98B6FA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947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16D1169-3404-4A5B-B044-B662461E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919472"/>
            <a:ext cx="9052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0B2742"/>
                </a:solidFill>
                <a:latin typeface="Aptos"/>
                <a:ea typeface="Aptos"/>
                <a:cs typeface="Aptos"/>
              </a:rPr>
              <a:t>Jelöld, mit kell használat előtt ellenőrizni.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9F05665-D9A7-4BC0-B4BD-BA40CB05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5349240"/>
            <a:ext cx="246888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>
            <a:solidFill>
              <a:srgbClr val="B9E2C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7E4280C-38B6-4311-84AC-BC1628A4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53212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D9A67"/>
                </a:solidFill>
                <a:latin typeface="Aptos"/>
                <a:ea typeface="Aptos"/>
                <a:cs typeface="Aptos"/>
              </a:rPr>
              <a:t>8–10 perc • páros munka</a:t>
            </a:r>
          </a:p>
        </p:txBody>
      </p:sp>
    </p:spTree>
    <p:extLst>
      <p:ext uri="{BB962C8B-B14F-4D97-AF65-F5344CB8AC3E}">
        <p14:creationId xmlns:p14="http://schemas.microsoft.com/office/powerpoint/2010/main" val="847272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78A5840-89FA-4458-B537-EFC6D7A4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2. TANÓRA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E1202A-49AB-4F75-B5E7-A06B8A34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A védőeszköz használat előtti ellenőrzése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658D52-9AEE-48F3-A2E6-C46CE1C8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04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253B8D-F54B-4288-BB66-4A3C4850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F80997-87DD-4880-A64C-5AF70886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3C91160D-D4CB-4BAF-9F1B-80230E0C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82880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ECACF63-7AA8-4C69-A8AB-758CCB10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0195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5DAAFDD1-EAB6-4ACA-A84D-3248A8D7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016" y="2450592"/>
            <a:ext cx="0" cy="1618488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B274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7E6DB705-375B-4D25-93DE-83C4D1E8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71800"/>
            <a:ext cx="210312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B274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8AF4B094-A2E7-4589-8D8F-99FF67E5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66360" y="4069080"/>
            <a:ext cx="676656" cy="100584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B274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48199077-7DFA-4A26-86A5-4FDD9C7D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016" y="4069080"/>
            <a:ext cx="694944" cy="100584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B274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1C226C-9F8D-45EA-847E-40E31F4C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JELÖLÉS ÉS ALKALMASSÁG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9E7395B-7FC1-498C-99E5-96059E44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383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677C8"/>
                </a:solidFill>
                <a:latin typeface="Aptos"/>
                <a:ea typeface="Aptos"/>
                <a:cs typeface="Aptos"/>
              </a:rPr>
              <a:t>ÁLLAPOT ÉS TISZTASÁG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207D9D1-2EEF-4D99-A5B2-B9D771CA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349240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ILLESZKEDÉS ÉS HASZNÁLAT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24791AB1-8B8C-4779-B6EF-E8268F5D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971800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6404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D8B8C550-8268-4D79-8C9B-A8D90B39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971800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1677C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5641962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F537074-3CA8-4205-89C1-C233FB82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2. TANÓRA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8A21E8-F087-457C-A87F-1F0FCF75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Négy ellenőrzés használat előtt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AF340CB-D731-4C77-BAB9-E733DC67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04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115143A-C80B-45D3-9175-5EAA4DE6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6FF730B-3D45-4B3D-840E-76907309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3426CD0-0777-4780-AA99-86B5B711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493776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7F320F-DA92-4BEE-8A20-CC283140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938528"/>
            <a:ext cx="44531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ALKALMASSÁG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076520F-2927-41D3-A215-8BD7934E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395728"/>
            <a:ext cx="4407408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A munkafeladat kockázatához való.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386441C-48FC-4340-8A73-5D0C257E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737360"/>
            <a:ext cx="493776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EFF4C5F-A1D4-4CE9-AE88-438EA20F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4531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ÁLLAPOT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F19BB9C-BA9D-41E7-B04F-F0FF50F7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395728"/>
            <a:ext cx="4407408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Nincs repedés, szakadás vagy deformáció.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E559289-6A09-4792-A498-3FAFE438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1920"/>
            <a:ext cx="493776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3D6DEBA-8DB6-47EB-86AD-C9AC5E79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133087"/>
            <a:ext cx="44531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TISZTASÁG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2B39601-CF21-45D3-AC7E-0E2FBF31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590288"/>
            <a:ext cx="4407408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A szennyeződés nem rontja a védelmet.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6515E70-4B6D-469C-9E3F-721AAD72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31920"/>
            <a:ext cx="493776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E022833-91C7-4762-A575-ABA11EC4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133087"/>
            <a:ext cx="44531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ILLESZKEDÉS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727035A-AEBC-424B-BF60-9083832F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590288"/>
            <a:ext cx="4407408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Stabilan viselhető és nem akadályoz.</a:t>
            </a:r>
          </a:p>
        </p:txBody>
      </p:sp>
    </p:spTree>
    <p:extLst>
      <p:ext uri="{BB962C8B-B14F-4D97-AF65-F5344CB8AC3E}">
        <p14:creationId xmlns:p14="http://schemas.microsoft.com/office/powerpoint/2010/main" val="16250877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638614F-D61E-4475-A047-D3D59E97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25B8E6"/>
                </a:solidFill>
                <a:latin typeface="Aptos"/>
                <a:ea typeface="Aptos"/>
                <a:cs typeface="Aptos"/>
              </a:rPr>
              <a:t>2. TANÓRA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32F333-17E4-4F79-BB79-AF7E59C2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Két gyakori szakmai hiba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79FAEDF-FBD6-4769-BF21-ABD80921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F6BB8B2-B35E-4634-BA3F-89109EE3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AC5F4F-21B6-4A39-A636-36A9EF66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28439C3-9441-4BB1-BAC3-F6DEDDBA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37360"/>
            <a:ext cx="5166360" cy="3383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29EE87A-69D9-46B9-AC8D-93086E39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38528"/>
            <a:ext cx="46817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„EZ A KESZTYŰ MINDENHEZ JÓ”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31D9FBB-129E-41A9-A91D-B15E0CE7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95728"/>
            <a:ext cx="4636008" cy="2578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Nincs minden veszély ellen védő kesztyű.</a:t>
            </a:r>
          </a:p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A feladathoz kell választani.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BA23950-BE40-4C7E-BD28-82A4E049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166360" cy="3383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E10F584-F67E-4571-96FE-6A00F1C8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38528"/>
            <a:ext cx="46817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„KICSIT SÉRÜLT, MÉG HASZNÁLHATÓ”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696272-73B1-43C6-9EFE-578A95D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395728"/>
            <a:ext cx="4636008" cy="2578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A sérülés megszüntetheti a védőképességet.</a:t>
            </a:r>
          </a:p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Ki kell vonni a használatból.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B656A9A-77AE-45D6-B381-BC703D87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10241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Kulcs: megfelelő típus + ép állapot + helyes használat.</a:t>
            </a:r>
          </a:p>
        </p:txBody>
      </p:sp>
    </p:spTree>
    <p:extLst>
      <p:ext uri="{BB962C8B-B14F-4D97-AF65-F5344CB8AC3E}">
        <p14:creationId xmlns:p14="http://schemas.microsoft.com/office/powerpoint/2010/main" val="7095851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755469D-D752-4AC6-9667-F772560C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BIZTONSÁGI ALAPELV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C08977-B93C-49C1-8D0E-1B73E109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A védőeszköz az utolsó védelmi vonal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8423CDC-D7C8-4789-BCDD-3DF1E514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04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F33A6AA-D521-4DE6-B8FE-AE776274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635C4A5-6D92-4CC3-8584-2992AFC5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71B9315-A6B3-43C9-A9ED-4858015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83080"/>
            <a:ext cx="1014984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>
            <a:solidFill>
              <a:srgbClr val="F2C3C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357779E-13EA-466A-8560-2D42AD0A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48840"/>
            <a:ext cx="932688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⚠  A VÉDŐESZKÖZ NEM HELYETTESÍTI A VESZÉLY MEGSZÜNTETÉSÉT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1A1562B-6972-4A6F-A6D9-6BD06AAA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63240"/>
            <a:ext cx="8595360" cy="1717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600">
                <a:solidFill>
                  <a:srgbClr val="19364D"/>
                </a:solidFill>
                <a:latin typeface="Aptos"/>
                <a:ea typeface="Aptos"/>
                <a:cs typeface="Aptos"/>
              </a:defRPr>
            </a:pPr>
            <a:r>
              <a:t>•  Először a veszélyforrást szüntetjük meg vagy csökkentjük.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600">
                <a:solidFill>
                  <a:srgbClr val="19364D"/>
                </a:solidFill>
                <a:latin typeface="Aptos"/>
                <a:ea typeface="Aptos"/>
                <a:cs typeface="Aptos"/>
              </a:defRPr>
            </a:pPr>
            <a:r>
              <a:t>•  A védőeszközt a fennmaradó kockázathoz választjuk.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600">
                <a:solidFill>
                  <a:srgbClr val="19364D"/>
                </a:solidFill>
                <a:latin typeface="Aptos"/>
                <a:ea typeface="Aptos"/>
                <a:cs typeface="Aptos"/>
              </a:defRPr>
            </a:pPr>
            <a:r>
              <a:t>•  Használat előtt minden eszközt ellenőrzünk.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600">
                <a:solidFill>
                  <a:srgbClr val="19364D"/>
                </a:solidFill>
                <a:latin typeface="Aptos"/>
                <a:ea typeface="Aptos"/>
                <a:cs typeface="Aptos"/>
              </a:defRPr>
            </a:pPr>
            <a:r>
              <a:t>•  Hibás védőeszközzel munkát kezdeni tilos.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600">
                <a:solidFill>
                  <a:srgbClr val="19364D"/>
                </a:solidFill>
                <a:latin typeface="Aptos"/>
                <a:ea typeface="Aptos"/>
                <a:cs typeface="Aptos"/>
              </a:defRPr>
            </a:pPr>
            <a:r>
              <a:t>•  A műhely rendje minden dolgozó közös felelőssége.</a:t>
            </a:r>
          </a:p>
        </p:txBody>
      </p:sp>
    </p:spTree>
    <p:extLst>
      <p:ext uri="{BB962C8B-B14F-4D97-AF65-F5344CB8AC3E}">
        <p14:creationId xmlns:p14="http://schemas.microsoft.com/office/powerpoint/2010/main" val="10065581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9AB21C2-BB8F-4553-9CAA-61AF4D48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2D9A67"/>
                </a:solidFill>
                <a:latin typeface="Aptos"/>
                <a:ea typeface="Aptos"/>
                <a:cs typeface="Aptos"/>
              </a:rPr>
              <a:t>3. TANÓRA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DBCCB5-5C89-43EA-9D13-3F146DEE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Biztonságos műhelymunka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A8B71D-3629-4C6B-A55A-4408DB0C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A6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15C4309-7F9D-47FA-88E5-88298BA8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19CAE3-A4D3-41C3-9AAA-51DE3077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70D3C8F-C2AA-4589-88D5-439E115E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BB3B19F-6D8C-42B8-AE5E-6E990750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224028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3B4E308-B824-4A5F-B8EC-D52CAF7F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231343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8746D4A-8E9B-4B89-8418-BDE3C352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63240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677C8"/>
                </a:solidFill>
                <a:latin typeface="Aptos"/>
                <a:ea typeface="Aptos"/>
                <a:cs typeface="Aptos"/>
              </a:rPr>
              <a:t>MUNKATERÜLET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78053DC-767D-416C-BD1C-3DEBF0DF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9659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Tiszta, rendezett, jól megközelíthető.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92108E-D201-4A23-8BC7-D2645D5C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880360"/>
            <a:ext cx="3840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A654F1B-32DE-46C4-8528-B5B652C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1965960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69EE67C-0E19-4D0A-93CF-100A7647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24028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F23CC3E-D57D-4FCA-BA31-A5D89CF2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31343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AF33932-3C2A-41EE-AF8D-357A7FD0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3063240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SZERSZÁMOK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5439C33-504B-40B4-9B8D-50156C17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3657600"/>
            <a:ext cx="1965960" cy="662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Épek, megfelelőek, biztonságosan elhelyezve.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E087455-2EDE-44AA-8CBF-E75B82A9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2880360"/>
            <a:ext cx="3840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E94269A-4768-4FDA-AE3A-E697936F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965960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C1A3902A-9BD5-4772-AC28-37FF267F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24028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04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8A36E72-FA0F-414E-B935-BF1B9477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31343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4F763CD-A711-42A7-B7EA-F772E8F5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63240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VÉDŐESZKÖZÖK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FEEEB11-BD8C-4ACF-80CA-7D78464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657600"/>
            <a:ext cx="19659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Kiválasztva, ellenőrizve, helyesen viselve.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15AA39D-D5EB-4D47-98E4-5464C32C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2880360"/>
            <a:ext cx="3840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133078E-0E40-496F-A112-FEC4A8C7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1965960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84D6D3D-6A2E-4448-82BD-AA89158B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224028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A6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57A557B-2A77-4CDD-98EE-0B41FDA4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2313432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88D4772-C914-435F-A079-42E6E946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3" y="3063240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2D9A67"/>
                </a:solidFill>
                <a:latin typeface="Aptos"/>
                <a:ea typeface="Aptos"/>
                <a:cs typeface="Aptos"/>
              </a:rPr>
              <a:t>EGYEZTETÉS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5021BCC-4197-4F43-8DBC-A5D3864B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657600"/>
            <a:ext cx="19659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A feladat, veszély és felelősség tisztázva.</a:t>
            </a:r>
          </a:p>
        </p:txBody>
      </p:sp>
    </p:spTree>
    <p:extLst>
      <p:ext uri="{BB962C8B-B14F-4D97-AF65-F5344CB8AC3E}">
        <p14:creationId xmlns:p14="http://schemas.microsoft.com/office/powerpoint/2010/main" val="17572973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3FBEB5A-62A3-4E8E-9711-9060E1B6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2D9A67"/>
                </a:solidFill>
                <a:latin typeface="Aptos"/>
                <a:ea typeface="Aptos"/>
                <a:cs typeface="Aptos"/>
              </a:rPr>
              <a:t>3. TANÓRA • GYAKORLAT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26EFFA-14EB-4B50-A060-CEAA824C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Műhelybiztonsági szemle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4816BD5-0D6C-416C-8564-2C38CD71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A6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8E81073-91D6-4D48-BB20-76DF87E9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22F49D-53F9-4A23-9FEC-32513892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A45614E-7BC6-42E4-97AE-AB4F8413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5029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>
            <a:solidFill>
              <a:srgbClr val="B9E2C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CAD6713-A6C3-436E-BEB6-6FCBBEA9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655064"/>
            <a:ext cx="393192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2D9A6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AF2432-42A9-4DA2-A2B4-E90C912D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655064"/>
            <a:ext cx="9509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Közlekedési út szabad.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CDB9C90-24B4-4F70-933F-0C1AC3DC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13432"/>
            <a:ext cx="5029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>
            <a:solidFill>
              <a:srgbClr val="B9E2C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F0851D7-8EBE-48E6-944F-6CBF6BEC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368296"/>
            <a:ext cx="393192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2D9A6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F8D87FE-3167-46B5-9936-9FCC0B67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368296"/>
            <a:ext cx="9509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Munkafelület rendezett és tiszta.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30FFB29-603A-4688-B22D-75BB0B4F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26664"/>
            <a:ext cx="5029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>
            <a:solidFill>
              <a:srgbClr val="B9E2C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88E3C49-A5B5-4B91-80A2-D89DEE15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081528"/>
            <a:ext cx="393192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2D9A6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08D750-99F9-41DF-BE2A-A833717A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081528"/>
            <a:ext cx="9509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Szerszámok állapota megfelelő.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74DCD90-6A80-49A8-A7B0-8EB85E95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39896"/>
            <a:ext cx="5029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>
            <a:solidFill>
              <a:srgbClr val="B9E2C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BEB09EC-3C77-4DFC-A8A5-5BCA3DCE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794759"/>
            <a:ext cx="393192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2D9A6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8103CDE-A4AD-4585-9BEC-371D49D8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794759"/>
            <a:ext cx="9509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Védőeszközök kiválasztva és ellenőrizve.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F957B03-2FFB-4730-B8BB-9204FED0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53128"/>
            <a:ext cx="5029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>
            <a:solidFill>
              <a:srgbClr val="B9E2C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6FE2078-3C44-41D6-98EB-84344823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507992"/>
            <a:ext cx="393192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2D9A6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67B0A7E-80A6-4D0F-A890-667AA71B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07992"/>
            <a:ext cx="9509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Veszélyes terület elhatárolva.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33E85D9-F52C-4EB7-8B73-C94A6139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5029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>
            <a:solidFill>
              <a:srgbClr val="B9E2C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4A06C3E-2F49-41EA-A546-41655D5C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221224"/>
            <a:ext cx="393192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2D9A6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7B81ECA-8787-4435-BB42-84618550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221224"/>
            <a:ext cx="9509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A feladat és a felelősség egyeztetve.</a:t>
            </a:r>
          </a:p>
        </p:txBody>
      </p:sp>
    </p:spTree>
    <p:extLst>
      <p:ext uri="{BB962C8B-B14F-4D97-AF65-F5344CB8AC3E}">
        <p14:creationId xmlns:p14="http://schemas.microsoft.com/office/powerpoint/2010/main" val="11450155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9CC0026-42DE-441B-A17D-9C53630D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TIPIKUS TÉVHITEK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CE4EE57-48F9-4532-AC0E-239A159D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A mondatok, amelyeknél fel kell kapcsolnia a „piros lámpának”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06E8A36-18B4-4DDA-ABAB-560486BD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04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9AA26B4-9FCB-4589-96BD-D8C0B333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3CA8A7-E265-4F27-9381-AF730822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A4B6633-3F12-43D1-9BEB-787E9975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327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5A048C-7A3E-4249-AEFB-44166F68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755648"/>
            <a:ext cx="97840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„Csak egy percre dolgozom, nem kell védőszemüveg.”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F88F515-BCB9-46D2-8CF7-C92ACAB5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0320"/>
            <a:ext cx="103327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3ED1097-9F80-4781-A648-5D82F339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15768"/>
            <a:ext cx="97840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D64045"/>
                </a:solidFill>
                <a:latin typeface="Aptos"/>
                <a:ea typeface="Aptos"/>
                <a:cs typeface="Aptos"/>
              </a:rPr>
              <a:t>„Ez a kesztyű minden villamos munkához jó.”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FE30FD9-30D2-4FE5-93D3-BFE45FB1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0440"/>
            <a:ext cx="103327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CE5F1AD-8894-4EA4-8DFD-6581B3CC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75888"/>
            <a:ext cx="97840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„A repedés kicsi, még használható.”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EE0FF6C-B1FB-4929-BC14-59777A53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0560"/>
            <a:ext cx="103327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1CE25EA-548C-43C4-ADC9-7F1B29B4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636008"/>
            <a:ext cx="97840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„A rendrakás majd a munka végén ráér.”</a:t>
            </a:r>
          </a:p>
        </p:txBody>
      </p:sp>
    </p:spTree>
    <p:extLst>
      <p:ext uri="{BB962C8B-B14F-4D97-AF65-F5344CB8AC3E}">
        <p14:creationId xmlns:p14="http://schemas.microsoft.com/office/powerpoint/2010/main" val="7009131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F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A450DCC-7B4E-44BF-B1DA-DB3592D4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677C8"/>
                </a:solidFill>
                <a:latin typeface="Aptos"/>
                <a:ea typeface="Aptos"/>
                <a:cs typeface="Aptos"/>
              </a:rPr>
              <a:t>ELLENŐRZÉS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6AE2E2F-66AF-4272-BE86-4ADEEEA8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4 kérdés – 4 biztonsági döntés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919E38A-1E1D-4BB2-A821-63D0E425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53312"/>
            <a:ext cx="9144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AA6C8A5-2829-4679-9ED0-F03F804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106984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47B8D"/>
                </a:solidFill>
                <a:latin typeface="Aptos"/>
                <a:ea typeface="Aptos"/>
                <a:cs typeface="Aptos"/>
              </a:rPr>
              <a:t>IAP • 11. évfolyam • Villamos szerelések • 04. hét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564A7C-433E-4C63-94D7-CF70BE93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47B8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DE03E9-C54B-4227-BBA0-D386FB47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37360"/>
            <a:ext cx="507492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B832687-00DF-4A35-BC83-321D2D47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94767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7711699-5F6A-4635-9E7E-04EA02C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69BD92E-109E-454C-83C8-8E85BF2B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38528"/>
            <a:ext cx="3886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Mi alapján választunk egyéni védőeszközt?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F1C759-C60D-4D14-9716-F3974052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395728"/>
            <a:ext cx="3840480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Válaszolj szakmai kifejezésekkel.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227D99B-DC73-4BC4-80FC-F53D8A2D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07492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4E202047-22E4-4613-ACE2-20448A80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7" y="194767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647FA54-0CDC-47BB-80DF-B9030F00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7" y="2020824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A5CCE9F-ED62-4B8D-AB3F-82459B04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1938528"/>
            <a:ext cx="3886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Mit kell használat előtt ellenőrizni?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11A1E1A-C4BF-4713-AC99-A6103FE6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2395728"/>
            <a:ext cx="3840480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Válaszolj szakmai kifejezésekkel.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C1C33D5-C2FB-4E72-82A7-438875D2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39"/>
            <a:ext cx="507492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35706DF1-5680-4671-9695-082E5786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9593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7D6DD5E-0927-4AB0-949E-A34CBBCF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032504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D467AF4-1FCE-41D6-AAAC-99C0B189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950207"/>
            <a:ext cx="3886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Miért utolsó védelmi vonal a védőeszköz?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474D415-068F-4496-8B45-CDA53E10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407407"/>
            <a:ext cx="3840480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Válaszolj szakmai kifejezésekkel.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BF256F0-420C-4AFF-942C-2160EA82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49039"/>
            <a:ext cx="507492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5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0B614521-34B5-42FE-AC04-D3EB2D98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7" y="39593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96708F7-4AB0-44B7-B215-6344377C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7" y="4032504"/>
            <a:ext cx="621792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730560-8F4B-48F0-B004-2DA37ED9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3950207"/>
            <a:ext cx="3886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Sorolj fel négy műhelybiztonsági feltételt!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2655A3F-2BB7-402C-AA4B-9A69DB85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4407407"/>
            <a:ext cx="3840480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19364D"/>
                </a:solidFill>
                <a:latin typeface="Aptos"/>
                <a:ea typeface="Aptos"/>
                <a:cs typeface="Aptos"/>
              </a:rPr>
              <a:t>Válaszolj szakmai kifejezésekkel.</a:t>
            </a:r>
          </a:p>
        </p:txBody>
      </p:sp>
    </p:spTree>
    <p:extLst>
      <p:ext uri="{BB962C8B-B14F-4D97-AF65-F5344CB8AC3E}">
        <p14:creationId xmlns:p14="http://schemas.microsoft.com/office/powerpoint/2010/main" val="7889575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27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D609B9-F2EF-4B83-A679-4F9FDF6A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5B8E6"/>
                </a:solidFill>
                <a:latin typeface="Aptos"/>
                <a:ea typeface="Aptos"/>
                <a:cs typeface="Aptos"/>
              </a:rPr>
              <a:t>04. HÉT • ZÁRÁS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25878E-131D-4BCB-8DB6-A5E6833E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51560"/>
            <a:ext cx="10515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hét 4 mondata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FA3CDF8-8DD0-4F8D-8DD0-FA5AD0A6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502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25B8E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1D4BC7-0BFD-4BB8-85B4-EB26CB19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65960"/>
            <a:ext cx="9692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védőeszközt mindig a veszélyhez és a feladathoz választjuk.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9967E8F-25FC-4102-9FB8-493C9E47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39"/>
            <a:ext cx="502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25B8E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5B97B0C-4474-4CCE-91DC-6955AB71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34639"/>
            <a:ext cx="9692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Használat előtt az alkalmasságot és az állapotot ellenőrizzük.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476388E-8EDA-4FB3-B683-5FFA18DA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03320"/>
            <a:ext cx="502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25B8E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C65F0BD-7CF3-4E28-BBEE-2F0F9450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03320"/>
            <a:ext cx="9692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hibás védőeszközt azonnal kivonjuk a használatból.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C005202-ADBD-402A-BEFA-5B89DA4D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72000"/>
            <a:ext cx="502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25B8E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667D919-C61E-4A65-8CF4-7E2D6079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572000"/>
            <a:ext cx="9692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rendezett műhely a biztonságos munkavégzés része.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4F73E76-131E-4887-9F08-3E0AC17F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BD7E8"/>
                </a:solidFill>
                <a:latin typeface="Aptos"/>
                <a:ea typeface="Aptos"/>
                <a:cs typeface="Aptos"/>
              </a:rPr>
              <a:t>Következő hét: Kéziszerszámok és villamos szerelőszerszámok biztonságos használata</a:t>
            </a:r>
          </a:p>
        </p:txBody>
      </p:sp>
    </p:spTree>
    <p:extLst>
      <p:ext uri="{BB962C8B-B14F-4D97-AF65-F5344CB8AC3E}">
        <p14:creationId xmlns:p14="http://schemas.microsoft.com/office/powerpoint/2010/main" val="26022022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2026-09-02T17:01:31.7710000Z</dcterms:created>
  <dcterms:modified xsi:type="dcterms:W3CDTF">2026-09-02T17:01:31.7710000Z</dcterms:modified>
</coreProperties>
</file>