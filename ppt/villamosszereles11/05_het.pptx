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F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3474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128EDA"/>
                </a:solidFill>
                <a:latin typeface="Aptos"/>
              </a:defRPr>
            </a:pPr>
            <a:r>
              <a:t>IAP • INTEGRÁLT AUTOMATIKA</a:t>
            </a:r>
            <a:br/>
            <a:r>
              <a:t>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34440"/>
            <a:ext cx="484632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VILLAMOS</a:t>
            </a:r>
            <a:br/>
            <a:r>
              <a:t>SZERELÉSEK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423160"/>
            <a:ext cx="68580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05. hét  |  Kéziszerszámok biztonságos használata</a:t>
            </a:r>
            <a:br/>
            <a:r>
              <a:t>és alapvető szerelési műveletek</a:t>
            </a:r>
          </a:p>
        </p:txBody>
      </p:sp>
      <p:sp>
        <p:nvSpPr>
          <p:cNvPr id="5" name="Hexagon 4"/>
          <p:cNvSpPr/>
          <p:nvPr/>
        </p:nvSpPr>
        <p:spPr>
          <a:xfrm>
            <a:off x="8412480" y="1143000"/>
            <a:ext cx="960120" cy="960120"/>
          </a:xfrm>
          <a:prstGeom prst="hexagon">
            <a:avLst/>
          </a:prstGeom>
          <a:solidFill>
            <a:srgbClr val="128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280160"/>
            <a:ext cx="9601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↕</a:t>
            </a:r>
          </a:p>
        </p:txBody>
      </p:sp>
      <p:sp>
        <p:nvSpPr>
          <p:cNvPr id="7" name="Hexagon 6"/>
          <p:cNvSpPr/>
          <p:nvPr/>
        </p:nvSpPr>
        <p:spPr>
          <a:xfrm>
            <a:off x="9646920" y="1920240"/>
            <a:ext cx="960120" cy="960120"/>
          </a:xfrm>
          <a:prstGeom prst="hexagon">
            <a:avLst/>
          </a:prstGeom>
          <a:solidFill>
            <a:srgbClr val="F59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2057400"/>
            <a:ext cx="9601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✂</a:t>
            </a:r>
          </a:p>
        </p:txBody>
      </p:sp>
      <p:sp>
        <p:nvSpPr>
          <p:cNvPr id="9" name="Hexagon 8"/>
          <p:cNvSpPr/>
          <p:nvPr/>
        </p:nvSpPr>
        <p:spPr>
          <a:xfrm>
            <a:off x="8641080" y="3108960"/>
            <a:ext cx="960120" cy="960120"/>
          </a:xfrm>
          <a:prstGeom prst="hexagon">
            <a:avLst/>
          </a:prstGeom>
          <a:solidFill>
            <a:srgbClr val="31A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3246120"/>
            <a:ext cx="9601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⊕</a:t>
            </a:r>
          </a:p>
        </p:txBody>
      </p:sp>
      <p:sp>
        <p:nvSpPr>
          <p:cNvPr id="11" name="Hexagon 10"/>
          <p:cNvSpPr/>
          <p:nvPr/>
        </p:nvSpPr>
        <p:spPr>
          <a:xfrm>
            <a:off x="10058400" y="3977639"/>
            <a:ext cx="960120" cy="960120"/>
          </a:xfrm>
          <a:prstGeom prst="hexagon">
            <a:avLst/>
          </a:prstGeom>
          <a:solidFill>
            <a:srgbClr val="E2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0" y="4114800"/>
            <a:ext cx="9601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080760"/>
            <a:ext cx="5029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1">
                <a:solidFill>
                  <a:srgbClr val="128EDA"/>
                </a:solidFill>
                <a:latin typeface="Aptos"/>
              </a:defRPr>
            </a:pPr>
            <a:r>
              <a:t>TUDÁS • BIZTONSÁG • SZAKMAI REND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327648"/>
            <a:ext cx="5303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FFFFFF"/>
                </a:solidFill>
                <a:latin typeface="Aptos"/>
              </a:defRPr>
            </a:pPr>
            <a:r>
              <a:t>11. évfolyam • Villamos szerelések • 3 tanóra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INDÍTÁS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Egyetlen kérdés az egész hétre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325880"/>
            <a:ext cx="1005840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500" b="1">
                <a:solidFill>
                  <a:srgbClr val="0B2F4B"/>
                </a:solidFill>
                <a:latin typeface="Aptos Display"/>
              </a:defRPr>
            </a:pPr>
            <a:r>
              <a:t>„Mitől lesz egy kéziszerszám valóban jó választás?”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971800"/>
            <a:ext cx="6675120" cy="1143000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F59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3264408"/>
            <a:ext cx="61264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400" b="1">
                <a:solidFill>
                  <a:srgbClr val="F59722"/>
                </a:solidFill>
                <a:latin typeface="Aptos"/>
              </a:defRPr>
            </a:pPr>
            <a:r>
              <a:t>Nem attól, hogy kéznél van – hanem attól, hogy a feladathoz való,</a:t>
            </a:r>
            <a:br/>
            <a:r>
              <a:t>ép állapotú, biztonságos és helyesen használjuk.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TÖRTÉNELMI NYITÓ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A kéziszerszám: egyszerű eszközből precíz munkaeszköz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2286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1">
                <a:solidFill>
                  <a:srgbClr val="F59722"/>
                </a:solidFill>
                <a:latin typeface="Aptos"/>
              </a:defRPr>
            </a:pPr>
            <a:r>
              <a:t>1850</a:t>
            </a:r>
          </a:p>
        </p:txBody>
      </p:sp>
      <p:sp>
        <p:nvSpPr>
          <p:cNvPr id="7" name="Oval 6"/>
          <p:cNvSpPr/>
          <p:nvPr/>
        </p:nvSpPr>
        <p:spPr>
          <a:xfrm>
            <a:off x="1600200" y="1755648"/>
            <a:ext cx="384048" cy="384048"/>
          </a:xfrm>
          <a:prstGeom prst="ellipse">
            <a:avLst/>
          </a:prstGeom>
          <a:solidFill>
            <a:srgbClr val="F59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65960" y="1920240"/>
            <a:ext cx="2423160" cy="32004"/>
          </a:xfrm>
          <a:prstGeom prst="rect">
            <a:avLst/>
          </a:prstGeom>
          <a:solidFill>
            <a:srgbClr val="C9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22860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"/>
              </a:defRPr>
            </a:pPr>
            <a:r>
              <a:t>Kézi szerszámok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228600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00" b="0">
                <a:solidFill>
                  <a:srgbClr val="637988"/>
                </a:solidFill>
                <a:latin typeface="Aptos"/>
              </a:defRPr>
            </a:pPr>
            <a:r>
              <a:t>Egyszerű, általános műhelyeszközök.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325880"/>
            <a:ext cx="2286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1">
                <a:solidFill>
                  <a:srgbClr val="F59722"/>
                </a:solidFill>
                <a:latin typeface="Aptos"/>
              </a:defRPr>
            </a:pPr>
            <a:r>
              <a:t>1900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1755648"/>
            <a:ext cx="384048" cy="384048"/>
          </a:xfrm>
          <a:prstGeom prst="ellipse">
            <a:avLst/>
          </a:prstGeom>
          <a:solidFill>
            <a:srgbClr val="F59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79" y="1920240"/>
            <a:ext cx="2423160" cy="32004"/>
          </a:xfrm>
          <a:prstGeom prst="rect">
            <a:avLst/>
          </a:prstGeom>
          <a:solidFill>
            <a:srgbClr val="C9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331720"/>
            <a:ext cx="22860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"/>
              </a:defRPr>
            </a:pPr>
            <a:r>
              <a:t>Villamos szakma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743200"/>
            <a:ext cx="228600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00" b="0">
                <a:solidFill>
                  <a:srgbClr val="637988"/>
                </a:solidFill>
                <a:latin typeface="Aptos"/>
              </a:defRPr>
            </a:pPr>
            <a:r>
              <a:t>Megjelennek a szakmaspecifikus fogók és csavarhúzók.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325880"/>
            <a:ext cx="2286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1">
                <a:solidFill>
                  <a:srgbClr val="F59722"/>
                </a:solidFill>
                <a:latin typeface="Aptos"/>
              </a:defRPr>
            </a:pPr>
            <a:r>
              <a:t>1970</a:t>
            </a:r>
          </a:p>
        </p:txBody>
      </p:sp>
      <p:sp>
        <p:nvSpPr>
          <p:cNvPr id="17" name="Oval 16"/>
          <p:cNvSpPr/>
          <p:nvPr/>
        </p:nvSpPr>
        <p:spPr>
          <a:xfrm>
            <a:off x="7178040" y="1755648"/>
            <a:ext cx="384048" cy="384048"/>
          </a:xfrm>
          <a:prstGeom prst="ellipse">
            <a:avLst/>
          </a:prstGeom>
          <a:solidFill>
            <a:srgbClr val="F59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43800" y="1920240"/>
            <a:ext cx="2423160" cy="32004"/>
          </a:xfrm>
          <a:prstGeom prst="rect">
            <a:avLst/>
          </a:prstGeom>
          <a:solidFill>
            <a:srgbClr val="C9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331720"/>
            <a:ext cx="22860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"/>
              </a:defRPr>
            </a:pPr>
            <a:r>
              <a:t>Szigetelt kivitel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743200"/>
            <a:ext cx="228600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00" b="0">
                <a:solidFill>
                  <a:srgbClr val="637988"/>
                </a:solidFill>
                <a:latin typeface="Aptos"/>
              </a:defRPr>
            </a:pPr>
            <a:r>
              <a:t>A villamos biztonság külön követelménnyé válik.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1325880"/>
            <a:ext cx="2286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1">
                <a:solidFill>
                  <a:srgbClr val="F59722"/>
                </a:solidFill>
                <a:latin typeface="Aptos"/>
              </a:defRPr>
            </a:pPr>
            <a:r>
              <a:t>Ma</a:t>
            </a:r>
          </a:p>
        </p:txBody>
      </p:sp>
      <p:sp>
        <p:nvSpPr>
          <p:cNvPr id="22" name="Oval 21"/>
          <p:cNvSpPr/>
          <p:nvPr/>
        </p:nvSpPr>
        <p:spPr>
          <a:xfrm>
            <a:off x="9966959" y="1755648"/>
            <a:ext cx="384048" cy="384048"/>
          </a:xfrm>
          <a:prstGeom prst="ellipse">
            <a:avLst/>
          </a:prstGeom>
          <a:solidFill>
            <a:srgbClr val="F59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59" y="2331720"/>
            <a:ext cx="22860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"/>
              </a:defRPr>
            </a:pPr>
            <a:r>
              <a:t>Ergonómia + pontosság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59" y="2743200"/>
            <a:ext cx="228600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00" b="0">
                <a:solidFill>
                  <a:srgbClr val="637988"/>
                </a:solidFill>
                <a:latin typeface="Aptos"/>
              </a:defRPr>
            </a:pPr>
            <a:r>
              <a:t>Blankolás, krimpelés, nyomaték: célfeladatra tervezve.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HETI TÉRKÉP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A hét 3 tanórája – egymásra építve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2461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600200"/>
            <a:ext cx="438912" cy="438912"/>
          </a:xfrm>
          <a:prstGeom prst="ellipse">
            <a:avLst/>
          </a:prstGeom>
          <a:solidFill>
            <a:srgbClr val="128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0784"/>
            <a:ext cx="438912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09344"/>
            <a:ext cx="2103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000" b="1">
                <a:solidFill>
                  <a:srgbClr val="128EDA"/>
                </a:solidFill>
                <a:latin typeface="Aptos"/>
              </a:defRPr>
            </a:pPr>
            <a:r>
              <a:t>FELISMERÉS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260604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0B2F4B"/>
                </a:solidFill>
                <a:latin typeface="Aptos Display"/>
              </a:defRPr>
            </a:pPr>
            <a:r>
              <a:t>Szerszámcsoportok</a:t>
            </a:r>
            <a:br/>
            <a:r>
              <a:t>és feladatuk.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26060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00" b="0">
                <a:solidFill>
                  <a:srgbClr val="637988"/>
                </a:solidFill>
                <a:latin typeface="Aptos"/>
              </a:defRPr>
            </a:pPr>
            <a:r>
              <a:t>Kimenet: felismerem a megfelelő eszközt.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25880"/>
            <a:ext cx="32461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3440" y="1600200"/>
            <a:ext cx="438912" cy="438912"/>
          </a:xfrm>
          <a:prstGeom prst="ellipse">
            <a:avLst/>
          </a:prstGeom>
          <a:solidFill>
            <a:srgbClr val="F59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700784"/>
            <a:ext cx="438912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1609344"/>
            <a:ext cx="2103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000" b="1">
                <a:solidFill>
                  <a:srgbClr val="F59722"/>
                </a:solidFill>
                <a:latin typeface="Aptos"/>
              </a:defRPr>
            </a:pPr>
            <a:r>
              <a:t>MUNKAMÓDSZER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331720"/>
            <a:ext cx="260604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0B2F4B"/>
                </a:solidFill>
                <a:latin typeface="Aptos Display"/>
              </a:defRPr>
            </a:pPr>
            <a:r>
              <a:t>Ellenőrzés, fogás,</a:t>
            </a:r>
            <a:br/>
            <a:r>
              <a:t>biztonságos használat.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4160520"/>
            <a:ext cx="26060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00" b="0">
                <a:solidFill>
                  <a:srgbClr val="637988"/>
                </a:solidFill>
                <a:latin typeface="Aptos"/>
              </a:defRPr>
            </a:pPr>
            <a:r>
              <a:t>Kimenet: használat előtt ellenőrzök.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325880"/>
            <a:ext cx="32461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0" y="1600200"/>
            <a:ext cx="438912" cy="438912"/>
          </a:xfrm>
          <a:prstGeom prst="ellipse">
            <a:avLst/>
          </a:prstGeom>
          <a:solidFill>
            <a:srgbClr val="31A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700784"/>
            <a:ext cx="438912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1609344"/>
            <a:ext cx="2103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000" b="1">
                <a:solidFill>
                  <a:srgbClr val="31A668"/>
                </a:solidFill>
                <a:latin typeface="Aptos"/>
              </a:defRPr>
            </a:pPr>
            <a:r>
              <a:t>GYAKORLAT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2331720"/>
            <a:ext cx="260604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0B2F4B"/>
                </a:solidFill>
                <a:latin typeface="Aptos Display"/>
              </a:defRPr>
            </a:pPr>
            <a:r>
              <a:t>Mérés, vágás,</a:t>
            </a:r>
            <a:br/>
            <a:r>
              <a:t>blankolás, krimpelés.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160520"/>
            <a:ext cx="26060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00" b="0">
                <a:solidFill>
                  <a:srgbClr val="637988"/>
                </a:solidFill>
                <a:latin typeface="Aptos"/>
              </a:defRPr>
            </a:pPr>
            <a:r>
              <a:t>Kimenet: pontos és ellenőrzött munkadarab.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1.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Melyik feladathoz melyik szerszám?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5146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1307592" y="1783080"/>
            <a:ext cx="914400" cy="914400"/>
          </a:xfrm>
          <a:prstGeom prst="hexagon">
            <a:avLst/>
          </a:prstGeom>
          <a:solidFill>
            <a:srgbClr val="128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1947672"/>
            <a:ext cx="914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965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128EDA"/>
                </a:solidFill>
                <a:latin typeface="Aptos"/>
              </a:defRPr>
            </a:pPr>
            <a:r>
              <a:t>MEGFOGÁS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74720"/>
            <a:ext cx="19659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0B2F4B"/>
                </a:solidFill>
                <a:latin typeface="Aptos"/>
              </a:defRPr>
            </a:pPr>
            <a:r>
              <a:t>Kombinált fogó</a:t>
            </a:r>
            <a:br/>
            <a:r>
              <a:t>Hosszúcsőrű fogó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17320"/>
            <a:ext cx="25146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4187952" y="1783080"/>
            <a:ext cx="914400" cy="914400"/>
          </a:xfrm>
          <a:prstGeom prst="hexagon">
            <a:avLst/>
          </a:prstGeom>
          <a:solidFill>
            <a:srgbClr val="E2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947672"/>
            <a:ext cx="914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71800"/>
            <a:ext cx="1965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E24C4C"/>
                </a:solidFill>
                <a:latin typeface="Aptos"/>
              </a:defRPr>
            </a:pPr>
            <a:r>
              <a:t>VÁGÁS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474720"/>
            <a:ext cx="19659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0B2F4B"/>
                </a:solidFill>
                <a:latin typeface="Aptos"/>
              </a:defRPr>
            </a:pPr>
            <a:r>
              <a:t>Oldalcsípő</a:t>
            </a:r>
            <a:br/>
            <a:r>
              <a:t>Kábelvágó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25146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7068312" y="1783080"/>
            <a:ext cx="914400" cy="914400"/>
          </a:xfrm>
          <a:prstGeom prst="hexagon">
            <a:avLst/>
          </a:prstGeom>
          <a:solidFill>
            <a:srgbClr val="F59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68312" y="1947672"/>
            <a:ext cx="914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971800"/>
            <a:ext cx="1965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F59722"/>
                </a:solidFill>
                <a:latin typeface="Aptos"/>
              </a:defRPr>
            </a:pPr>
            <a:r>
              <a:t>SZIGETELÉS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3474720"/>
            <a:ext cx="19659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0B2F4B"/>
                </a:solidFill>
                <a:latin typeface="Aptos"/>
              </a:defRPr>
            </a:pPr>
            <a:r>
              <a:t>Blankoló fogó</a:t>
            </a:r>
            <a:br/>
            <a:r>
              <a:t>Kábelkés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417320"/>
            <a:ext cx="25146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9948672" y="1783080"/>
            <a:ext cx="914400" cy="914400"/>
          </a:xfrm>
          <a:prstGeom prst="hexagon">
            <a:avLst/>
          </a:prstGeom>
          <a:solidFill>
            <a:srgbClr val="31A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8672" y="1947672"/>
            <a:ext cx="914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971800"/>
            <a:ext cx="1965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31A668"/>
                </a:solidFill>
                <a:latin typeface="Aptos"/>
              </a:defRPr>
            </a:pPr>
            <a:r>
              <a:t>KÖTÉS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474720"/>
            <a:ext cx="19659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0B2F4B"/>
                </a:solidFill>
                <a:latin typeface="Aptos"/>
              </a:defRPr>
            </a:pPr>
            <a:r>
              <a:t>Krimpelő fogó</a:t>
            </a:r>
            <a:br/>
            <a:r>
              <a:t>Csavarhúzó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1.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Gondolkodj láncban: FELADAT → SZERSZÁM → 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971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128ED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0312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1">
                <a:solidFill>
                  <a:srgbClr val="128EDA"/>
                </a:solidFill>
                <a:latin typeface="Aptos"/>
              </a:defRPr>
            </a:pPr>
            <a:r>
              <a:t>FELADAT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22402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"/>
              </a:defRPr>
            </a:pPr>
            <a:r>
              <a:t>Mit kell pontosan elvégezni?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514600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200" b="1">
                <a:solidFill>
                  <a:srgbClr val="63798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874519"/>
            <a:ext cx="2971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F5972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59" y="210312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1">
                <a:solidFill>
                  <a:srgbClr val="F59722"/>
                </a:solidFill>
                <a:latin typeface="Aptos"/>
              </a:defRPr>
            </a:pPr>
            <a:r>
              <a:t>SZERSZÁM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880360"/>
            <a:ext cx="22402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"/>
              </a:defRPr>
            </a:pPr>
            <a:r>
              <a:t>Melyik eszköz erre való?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514600"/>
            <a:ext cx="50292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200" b="1">
                <a:solidFill>
                  <a:srgbClr val="63798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74519"/>
            <a:ext cx="2971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4114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31A66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10312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1">
                <a:solidFill>
                  <a:srgbClr val="31A668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880360"/>
            <a:ext cx="22402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"/>
              </a:defRPr>
            </a:pPr>
            <a:r>
              <a:t>Ép, tiszta, biztonságos?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754880"/>
            <a:ext cx="9601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E24C4C"/>
                </a:solidFill>
                <a:latin typeface="Aptos"/>
              </a:defRPr>
            </a:pPr>
            <a:r>
              <a:t>Szakmai szabály: a szerszámválasztás nem megszokás, hanem döntés.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Négy ellenőrzés használat előtt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120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73352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000" b="1">
                <a:solidFill>
                  <a:srgbClr val="0B2F4B"/>
                </a:solidFill>
                <a:latin typeface="Aptos"/>
              </a:defRPr>
            </a:pPr>
            <a:r>
              <a:t>ÉPSÉG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79" y="1664208"/>
            <a:ext cx="23317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000" b="0">
                <a:solidFill>
                  <a:srgbClr val="637988"/>
                </a:solidFill>
                <a:latin typeface="Aptos"/>
              </a:defRPr>
            </a:pPr>
            <a:r>
              <a:t>Nincs repedés,</a:t>
            </a:r>
            <a:br/>
            <a:r>
              <a:t>deformáció.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20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673352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000" b="1">
                <a:solidFill>
                  <a:srgbClr val="0B2F4B"/>
                </a:solidFill>
                <a:latin typeface="Aptos"/>
              </a:defRPr>
            </a:pPr>
            <a:r>
              <a:t>SZIGETELÉS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664208"/>
            <a:ext cx="23317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000" b="0">
                <a:solidFill>
                  <a:srgbClr val="637988"/>
                </a:solidFill>
                <a:latin typeface="Aptos"/>
              </a:defRPr>
            </a:pPr>
            <a:r>
              <a:t>A markolat ép,</a:t>
            </a:r>
            <a:br/>
            <a:r>
              <a:t>nem sérült.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91839"/>
            <a:ext cx="5120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547872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000" b="1">
                <a:solidFill>
                  <a:srgbClr val="0B2F4B"/>
                </a:solidFill>
                <a:latin typeface="Aptos"/>
              </a:defRPr>
            </a:pPr>
            <a:r>
              <a:t>MŰKÖDÉS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79" y="3538727"/>
            <a:ext cx="23317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000" b="0">
                <a:solidFill>
                  <a:srgbClr val="637988"/>
                </a:solidFill>
                <a:latin typeface="Aptos"/>
              </a:defRPr>
            </a:pPr>
            <a:r>
              <a:t>A mozgó rész</a:t>
            </a:r>
            <a:br/>
            <a:r>
              <a:t>nem szorul.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291839"/>
            <a:ext cx="5120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03320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547872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000" b="1">
                <a:solidFill>
                  <a:srgbClr val="0B2F4B"/>
                </a:solidFill>
                <a:latin typeface="Aptos"/>
              </a:defRPr>
            </a:pPr>
            <a:r>
              <a:t>TISZTASÁG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538727"/>
            <a:ext cx="23317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000" b="0">
                <a:solidFill>
                  <a:srgbClr val="637988"/>
                </a:solidFill>
                <a:latin typeface="Aptos"/>
              </a:defRPr>
            </a:pPr>
            <a:r>
              <a:t>Száraz, tiszta,</a:t>
            </a:r>
            <a:br/>
            <a:r>
              <a:t>csúszásmentes.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BIZTONSÁGI ALAPELV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A szigetelt szerszám nem helyettesíti a feszültségmentesítést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789920" cy="4389120"/>
          </a:xfrm>
          <a:prstGeom prst="roundRect">
            <a:avLst/>
          </a:prstGeom>
          <a:solidFill>
            <a:srgbClr val="FFEDED"/>
          </a:solidFill>
          <a:ln w="12700">
            <a:solidFill>
              <a:srgbClr val="EB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6858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800" b="1">
                <a:solidFill>
                  <a:srgbClr val="E24C4C"/>
                </a:solidFill>
                <a:latin typeface="Aptos"/>
              </a:defRPr>
            </a:pPr>
            <a:r>
              <a:t>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737360"/>
            <a:ext cx="86868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E24C4C"/>
                </a:solidFill>
                <a:latin typeface="Aptos"/>
              </a:defRPr>
            </a:pPr>
            <a:r>
              <a:t>NINCS „CSAK EGY PILLANATRA”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514600"/>
            <a:ext cx="9601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0">
                <a:solidFill>
                  <a:srgbClr val="1E3545"/>
                </a:solidFill>
                <a:latin typeface="Aptos"/>
              </a:defRPr>
            </a:pPr>
            <a:r>
              <a:t>•  Először a veszélyforrást szüntetjük meg.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108960"/>
            <a:ext cx="9601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0">
                <a:solidFill>
                  <a:srgbClr val="1E3545"/>
                </a:solidFill>
                <a:latin typeface="Aptos"/>
              </a:defRPr>
            </a:pPr>
            <a:r>
              <a:t>•  A szigetelt szerszám kiegészítő védelem – nem engedély feszültség alatti munkára.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703320"/>
            <a:ext cx="9601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0">
                <a:solidFill>
                  <a:srgbClr val="1E3545"/>
                </a:solidFill>
                <a:latin typeface="Aptos"/>
              </a:defRPr>
            </a:pPr>
            <a:r>
              <a:t>•  Hibás vagy sérült szerszámot azonnal kivonunk a használatból.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97680"/>
            <a:ext cx="9601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0">
                <a:solidFill>
                  <a:srgbClr val="1E3545"/>
                </a:solidFill>
                <a:latin typeface="Aptos"/>
              </a:defRPr>
            </a:pPr>
            <a:r>
              <a:t>•  A munkaterület rendje a biztonság része.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Az öt alapművelet – sorrendben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74519"/>
            <a:ext cx="2011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1508760"/>
            <a:ext cx="566928" cy="566928"/>
          </a:xfrm>
          <a:prstGeom prst="ellipse">
            <a:avLst/>
          </a:prstGeom>
          <a:solidFill>
            <a:srgbClr val="128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664208"/>
            <a:ext cx="566928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1554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128EDA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5544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Méret meghatározása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79" y="1874519"/>
            <a:ext cx="2011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10711" y="1508760"/>
            <a:ext cx="566928" cy="566928"/>
          </a:xfrm>
          <a:prstGeom prst="ellipse">
            <a:avLst/>
          </a:prstGeom>
          <a:solidFill>
            <a:srgbClr val="F59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1" y="1664208"/>
            <a:ext cx="566928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2331720"/>
            <a:ext cx="1554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F59722"/>
                </a:solidFill>
                <a:latin typeface="Aptos"/>
              </a:defRPr>
            </a:pPr>
            <a:r>
              <a:t>VÁGÁS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79" y="2971800"/>
            <a:ext cx="15544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Tiszta, merőleges vágás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874519"/>
            <a:ext cx="2011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42432" y="1508760"/>
            <a:ext cx="566928" cy="566928"/>
          </a:xfrm>
          <a:prstGeom prst="ellipse">
            <a:avLst/>
          </a:prstGeom>
          <a:solidFill>
            <a:srgbClr val="E2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1664208"/>
            <a:ext cx="566928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331720"/>
            <a:ext cx="1554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E24C4C"/>
                </a:solidFill>
                <a:latin typeface="Aptos"/>
              </a:defRPr>
            </a:pPr>
            <a:r>
              <a:t>BLANKOLÁS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971800"/>
            <a:ext cx="15544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Az ér ne sérüljön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19" y="1874519"/>
            <a:ext cx="2011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74151" y="1508760"/>
            <a:ext cx="566928" cy="566928"/>
          </a:xfrm>
          <a:prstGeom prst="ellipse">
            <a:avLst/>
          </a:prstGeom>
          <a:solidFill>
            <a:srgbClr val="31A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4151" y="1664208"/>
            <a:ext cx="566928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2331720"/>
            <a:ext cx="1554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31A668"/>
                </a:solidFill>
                <a:latin typeface="Aptos"/>
              </a:defRPr>
            </a:pPr>
            <a:r>
              <a:t>KRIMPELÉS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19" y="2971800"/>
            <a:ext cx="15544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Megfelelő hüvely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1874519"/>
            <a:ext cx="2011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05872" y="1508760"/>
            <a:ext cx="566928" cy="566928"/>
          </a:xfrm>
          <a:prstGeom prst="ellipse">
            <a:avLst/>
          </a:prstGeom>
          <a:solidFill>
            <a:srgbClr val="0B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05872" y="1664208"/>
            <a:ext cx="566928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331720"/>
            <a:ext cx="1554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0B2F4B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2971800"/>
            <a:ext cx="15544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Szemrevétel + próba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Blankolás: a cél a sértetlen vezetőér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212080" cy="429768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AED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31A668"/>
                </a:solidFill>
                <a:latin typeface="Aptos"/>
              </a:defRPr>
            </a:pPr>
            <a:r>
              <a:t>HELYES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5486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6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95728"/>
            <a:ext cx="2468880" cy="164592"/>
          </a:xfrm>
          <a:prstGeom prst="rect">
            <a:avLst/>
          </a:prstGeom>
          <a:solidFill>
            <a:srgbClr val="B45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2340864"/>
            <a:ext cx="1645920" cy="274320"/>
          </a:xfrm>
          <a:prstGeom prst="rect">
            <a:avLst/>
          </a:prstGeom>
          <a:solidFill>
            <a:srgbClr val="0B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420624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"/>
              </a:defRPr>
            </a:pPr>
            <a:r>
              <a:t>A rézér ép, a blankolt hossz megfelelő.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212080" cy="4297680"/>
          </a:xfrm>
          <a:prstGeom prst="roundRect">
            <a:avLst/>
          </a:prstGeom>
          <a:solidFill>
            <a:srgbClr val="FFEDED"/>
          </a:solidFill>
          <a:ln w="12700">
            <a:solidFill>
              <a:srgbClr val="EB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4592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E24C4C"/>
                </a:solidFill>
                <a:latin typeface="Aptos"/>
              </a:defRPr>
            </a:pPr>
            <a:r>
              <a:t>HIBÁS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240280"/>
            <a:ext cx="5486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600" b="1">
                <a:solidFill>
                  <a:srgbClr val="E24C4C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103120"/>
            <a:ext cx="320040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0B2F4B"/>
                </a:solidFill>
                <a:latin typeface="Aptos"/>
              </a:defRPr>
            </a:pPr>
            <a:r>
              <a:t>Megvágott elemi szálak</a:t>
            </a:r>
            <a:br/>
            <a:r>
              <a:t>Túl hosszú blankolás</a:t>
            </a:r>
            <a:br/>
            <a:r>
              <a:t>Becsípett szigetelés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069080"/>
            <a:ext cx="42976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637988"/>
                </a:solidFill>
                <a:latin typeface="Aptos"/>
              </a:defRPr>
            </a:pPr>
            <a:r>
              <a:t>A hiba később melegedést vagy bizonytalan kötést okozhat.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Krimpelés: a kötés legyen mechanikailag stabil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4231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783080"/>
            <a:ext cx="7315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128ED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783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0B2F4B"/>
                </a:solidFill>
                <a:latin typeface="Aptos"/>
              </a:defRPr>
            </a:pPr>
            <a:r>
              <a:t>Méret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78308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Vezető keresztmetszetéhez való hüvely.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1508760"/>
            <a:ext cx="24231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783080"/>
            <a:ext cx="7315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F5972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468880"/>
            <a:ext cx="1783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0B2F4B"/>
                </a:solidFill>
                <a:latin typeface="Aptos"/>
              </a:defRPr>
            </a:pPr>
            <a:r>
              <a:t>Behelyezés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154680"/>
            <a:ext cx="178308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Minden elemi szál a hüvelyben.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508760"/>
            <a:ext cx="24231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783080"/>
            <a:ext cx="7315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31A66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68880"/>
            <a:ext cx="1783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0B2F4B"/>
                </a:solidFill>
                <a:latin typeface="Aptos"/>
              </a:defRPr>
            </a:pPr>
            <a:r>
              <a:t>Préselés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54680"/>
            <a:ext cx="178308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Megfelelő profil és teljes préselés.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19" y="1508760"/>
            <a:ext cx="24231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783080"/>
            <a:ext cx="7315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0B2F4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468880"/>
            <a:ext cx="1783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0B2F4B"/>
                </a:solidFill>
                <a:latin typeface="Aptos"/>
              </a:defRPr>
            </a:pPr>
            <a:r>
              <a:t>Próba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3154680"/>
            <a:ext cx="178308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Szemrevétel + könnyű húzópróba.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Két hiba, amit a műhelyben azonnal felismerünk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0749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029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200" b="1">
                <a:solidFill>
                  <a:srgbClr val="E24C4C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83080"/>
            <a:ext cx="3657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400" b="1">
                <a:solidFill>
                  <a:srgbClr val="0B2F4B"/>
                </a:solidFill>
                <a:latin typeface="Aptos"/>
              </a:defRPr>
            </a:pPr>
            <a:r>
              <a:t>„JÓ LESZ EZ A FOGÓ IS”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406908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0">
                <a:solidFill>
                  <a:srgbClr val="637988"/>
                </a:solidFill>
                <a:latin typeface="Aptos"/>
              </a:defRPr>
            </a:pPr>
            <a:r>
              <a:t>Nem a feladathoz való eszköz → sérülés, pontatlanság.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0749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783080"/>
            <a:ext cx="5029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200" b="1">
                <a:solidFill>
                  <a:srgbClr val="E24C4C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783080"/>
            <a:ext cx="3657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400" b="1">
                <a:solidFill>
                  <a:srgbClr val="0B2F4B"/>
                </a:solidFill>
                <a:latin typeface="Aptos"/>
              </a:defRPr>
            </a:pPr>
            <a:r>
              <a:t>„MÉG EGY KICSIT RÁSZORÍTOK”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743200"/>
            <a:ext cx="406908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0">
                <a:solidFill>
                  <a:srgbClr val="637988"/>
                </a:solidFill>
                <a:latin typeface="Aptos"/>
              </a:defRPr>
            </a:pPr>
            <a:r>
              <a:t>Túlzott erő → sérült vezető, csavar vagy szerszám.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623560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"/>
              </a:defRPr>
            </a:pPr>
            <a:r>
              <a:t>Kulcs: megfelelő eszköz + megfelelő erő + ellenőrzött eredmény.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3. TANÓRA • GYAKORLAT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Gyakorlat – öt lépésben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685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128ED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874519"/>
            <a:ext cx="20116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5544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0B2F4B"/>
                </a:solidFill>
                <a:latin typeface="Aptos"/>
              </a:defRPr>
            </a:pPr>
            <a:r>
              <a:t>ELLENŐRIZD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15544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5 szerszám állapota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417320"/>
            <a:ext cx="685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F5972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874519"/>
            <a:ext cx="20116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286000"/>
            <a:ext cx="15544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0B2F4B"/>
                </a:solidFill>
                <a:latin typeface="Aptos"/>
              </a:defRPr>
            </a:pPr>
            <a:r>
              <a:t>MÉRD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971800"/>
            <a:ext cx="15544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3 vezetékszakasz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1417320"/>
            <a:ext cx="685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E24C4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79" y="1874519"/>
            <a:ext cx="20116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9" y="2286000"/>
            <a:ext cx="15544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0B2F4B"/>
                </a:solidFill>
                <a:latin typeface="Aptos"/>
              </a:defRPr>
            </a:pPr>
            <a:r>
              <a:t>VÁGD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2971800"/>
            <a:ext cx="15544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Pontos méretre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1417320"/>
            <a:ext cx="685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31A66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199" y="1874519"/>
            <a:ext cx="20116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2286000"/>
            <a:ext cx="15544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0B2F4B"/>
                </a:solidFill>
                <a:latin typeface="Aptos"/>
              </a:defRPr>
            </a:pPr>
            <a:r>
              <a:t>BLANKOLD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971800"/>
            <a:ext cx="15544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Érsérülés nélkül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9" y="1417320"/>
            <a:ext cx="685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0B2F4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19" y="1874519"/>
            <a:ext cx="20116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19" y="2286000"/>
            <a:ext cx="15544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0B2F4B"/>
                </a:solidFill>
                <a:latin typeface="Aptos"/>
              </a:defRPr>
            </a:pPr>
            <a:r>
              <a:t>KRIMPELD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2971800"/>
            <a:ext cx="15544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Majd ellenőrizd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074920"/>
            <a:ext cx="91440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F59722"/>
                </a:solidFill>
                <a:latin typeface="Aptos"/>
              </a:defRPr>
            </a:pPr>
            <a:r>
              <a:t>Cél: nem a sebesség – hanem az ismételhető, biztonságos minőség.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3. TANÓRA • GYAKORLAT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Munkadarab-ellenőrzőlista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84048" cy="384048"/>
          </a:xfrm>
          <a:prstGeom prst="roundRect">
            <a:avLst/>
          </a:prstGeom>
          <a:solidFill>
            <a:srgbClr val="E8F8EF"/>
          </a:solidFill>
          <a:ln>
            <a:solidFill>
              <a:srgbClr val="AED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08176"/>
            <a:ext cx="38404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80744"/>
            <a:ext cx="7955279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0">
                <a:solidFill>
                  <a:srgbClr val="0B2F4B"/>
                </a:solidFill>
                <a:latin typeface="Aptos"/>
              </a:defRPr>
            </a:pPr>
            <a:r>
              <a:t>A méret megfelelő.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384048" cy="384048"/>
          </a:xfrm>
          <a:prstGeom prst="roundRect">
            <a:avLst/>
          </a:prstGeom>
          <a:solidFill>
            <a:srgbClr val="E8F8EF"/>
          </a:solidFill>
          <a:ln>
            <a:solidFill>
              <a:srgbClr val="AED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02536"/>
            <a:ext cx="38404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975104"/>
            <a:ext cx="7955279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0">
                <a:solidFill>
                  <a:srgbClr val="0B2F4B"/>
                </a:solidFill>
                <a:latin typeface="Aptos"/>
              </a:defRPr>
            </a:pPr>
            <a:r>
              <a:t>A vágás tiszta.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384048" cy="384048"/>
          </a:xfrm>
          <a:prstGeom prst="roundRect">
            <a:avLst/>
          </a:prstGeom>
          <a:solidFill>
            <a:srgbClr val="E8F8EF"/>
          </a:solidFill>
          <a:ln>
            <a:solidFill>
              <a:srgbClr val="AED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96896"/>
            <a:ext cx="38404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569464"/>
            <a:ext cx="7955279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0">
                <a:solidFill>
                  <a:srgbClr val="0B2F4B"/>
                </a:solidFill>
                <a:latin typeface="Aptos"/>
              </a:defRPr>
            </a:pPr>
            <a:r>
              <a:t>A vezetőér nem sérült.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08960"/>
            <a:ext cx="384048" cy="384048"/>
          </a:xfrm>
          <a:prstGeom prst="roundRect">
            <a:avLst/>
          </a:prstGeom>
          <a:solidFill>
            <a:srgbClr val="E8F8EF"/>
          </a:solidFill>
          <a:ln>
            <a:solidFill>
              <a:srgbClr val="AED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91256"/>
            <a:ext cx="38404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163824"/>
            <a:ext cx="7955279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0">
                <a:solidFill>
                  <a:srgbClr val="0B2F4B"/>
                </a:solidFill>
                <a:latin typeface="Aptos"/>
              </a:defRPr>
            </a:pPr>
            <a:r>
              <a:t>A blankolt hossz megfelelő.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03320"/>
            <a:ext cx="384048" cy="384048"/>
          </a:xfrm>
          <a:prstGeom prst="roundRect">
            <a:avLst/>
          </a:prstGeom>
          <a:solidFill>
            <a:srgbClr val="E8F8EF"/>
          </a:solidFill>
          <a:ln>
            <a:solidFill>
              <a:srgbClr val="AED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85615"/>
            <a:ext cx="38404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758183"/>
            <a:ext cx="7955279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0">
                <a:solidFill>
                  <a:srgbClr val="0B2F4B"/>
                </a:solidFill>
                <a:latin typeface="Aptos"/>
              </a:defRPr>
            </a:pPr>
            <a:r>
              <a:t>A krimp stabil.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97680"/>
            <a:ext cx="384048" cy="384048"/>
          </a:xfrm>
          <a:prstGeom prst="roundRect">
            <a:avLst/>
          </a:prstGeom>
          <a:solidFill>
            <a:srgbClr val="E8F8EF"/>
          </a:solidFill>
          <a:ln>
            <a:solidFill>
              <a:srgbClr val="AED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79976"/>
            <a:ext cx="38404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352544"/>
            <a:ext cx="7955279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0">
                <a:solidFill>
                  <a:srgbClr val="0B2F4B"/>
                </a:solidFill>
                <a:latin typeface="Aptos"/>
              </a:defRPr>
            </a:pPr>
            <a:r>
              <a:t>Nincs kilógó elemi szál.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92040"/>
            <a:ext cx="384048" cy="384048"/>
          </a:xfrm>
          <a:prstGeom prst="roundRect">
            <a:avLst/>
          </a:prstGeom>
          <a:solidFill>
            <a:srgbClr val="E8F8EF"/>
          </a:solidFill>
          <a:ln>
            <a:solidFill>
              <a:srgbClr val="AED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74336"/>
            <a:ext cx="38404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946904"/>
            <a:ext cx="7955279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0">
                <a:solidFill>
                  <a:srgbClr val="0B2F4B"/>
                </a:solidFill>
                <a:latin typeface="Aptos"/>
              </a:defRPr>
            </a:pPr>
            <a:r>
              <a:t>A munkaterület rendezett.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1965960"/>
            <a:ext cx="329184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F59722"/>
                </a:solidFill>
                <a:latin typeface="Aptos"/>
              </a:defRPr>
            </a:pPr>
            <a:r>
              <a:t>10/10 akkor ér valamit, ha a következő darab is ugyanilyen.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064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4 kérdés – 4 szakmai döntés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4983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828800"/>
            <a:ext cx="438912" cy="438912"/>
          </a:xfrm>
          <a:prstGeom prst="ellipse">
            <a:avLst/>
          </a:prstGeom>
          <a:solidFill>
            <a:srgbClr val="128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38912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37360"/>
            <a:ext cx="361188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1">
                <a:solidFill>
                  <a:srgbClr val="0B2F4B"/>
                </a:solidFill>
                <a:latin typeface="Aptos"/>
              </a:defRPr>
            </a:pPr>
            <a:r>
              <a:t>Mikor kell egy szerszámot kivonni a használatból?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4983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1828800"/>
            <a:ext cx="438912" cy="438912"/>
          </a:xfrm>
          <a:prstGeom prst="ellipse">
            <a:avLst/>
          </a:prstGeom>
          <a:solidFill>
            <a:srgbClr val="128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38528"/>
            <a:ext cx="438912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737360"/>
            <a:ext cx="361188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1">
                <a:solidFill>
                  <a:srgbClr val="0B2F4B"/>
                </a:solidFill>
                <a:latin typeface="Aptos"/>
              </a:defRPr>
            </a:pPr>
            <a:r>
              <a:t>Miért veszélyes a megvágott vezetőér?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83280"/>
            <a:ext cx="4983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794760"/>
            <a:ext cx="438912" cy="438912"/>
          </a:xfrm>
          <a:prstGeom prst="ellipse">
            <a:avLst/>
          </a:prstGeom>
          <a:solidFill>
            <a:srgbClr val="128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04488"/>
            <a:ext cx="438912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703320"/>
            <a:ext cx="361188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1">
                <a:solidFill>
                  <a:srgbClr val="0B2F4B"/>
                </a:solidFill>
                <a:latin typeface="Aptos"/>
              </a:defRPr>
            </a:pPr>
            <a:r>
              <a:t>Mit ellenőrzünk krimpelés után?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83280"/>
            <a:ext cx="4983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794760"/>
            <a:ext cx="438912" cy="438912"/>
          </a:xfrm>
          <a:prstGeom prst="ellipse">
            <a:avLst/>
          </a:prstGeom>
          <a:solidFill>
            <a:srgbClr val="128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04488"/>
            <a:ext cx="438912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703320"/>
            <a:ext cx="361188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1">
                <a:solidFill>
                  <a:srgbClr val="0B2F4B"/>
                </a:solidFill>
                <a:latin typeface="Aptos"/>
              </a:defRPr>
            </a:pPr>
            <a:r>
              <a:t>Miért nem a gyorsaság az első szempont?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F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2743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128EDA"/>
                </a:solidFill>
                <a:latin typeface="Aptos"/>
              </a:defRPr>
            </a:pPr>
            <a:r>
              <a:t>05. HÉT • ZÁRÁS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45720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A hét 4 mondata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128ED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89611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A feladathoz való szerszámot választjuk.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128ED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89611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Használat előtt ellenőrizzük az állapotát.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128ED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89611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A vezetéket sérülés nélkül készítjük elő.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128ED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89611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A kész kötést mindig ellenőrizzük.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06440"/>
            <a:ext cx="10515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800" b="0">
                <a:solidFill>
                  <a:srgbClr val="BBD3E2"/>
                </a:solidFill>
                <a:latin typeface="Aptos"/>
              </a:defRPr>
            </a:pPr>
            <a:r>
              <a:t>Következő hét: Vezetékek és kábelek előkészítése, blankolása és csatlakoztatásra való előállítása.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BBD3E2"/>
                </a:solidFill>
                <a:latin typeface="Aptos"/>
              </a:defRPr>
            </a:pPr>
            <a:r>
              <a:t>IAP • 11. évfolyam • Villamos szerelések • 05. hét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BBD3E2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