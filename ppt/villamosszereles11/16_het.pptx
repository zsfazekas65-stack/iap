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109728" cy="5440680"/>
          </a:xfrm>
          <a:prstGeom prst="rect">
            <a:avLst/>
          </a:prstGeom>
          <a:solidFill>
            <a:srgbClr val="37B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731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B8D6"/>
                </a:solidFill>
                <a:latin typeface="Aptos"/>
              </a:defRPr>
            </a:pPr>
            <a:r>
              <a:t>16.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2801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300" b="1">
                <a:solidFill>
                  <a:srgbClr val="FFFFFF"/>
                </a:solidFill>
                <a:latin typeface="Aptos"/>
              </a:defRPr>
            </a:pPr>
            <a:r>
              <a:t>Áram-védőkapcsoló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ÁVK / RCD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97180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DDEEB"/>
                </a:solidFill>
                <a:latin typeface="Aptos"/>
              </a:defRPr>
            </a:pPr>
            <a:r>
              <a:t>Amikor néhány milliamper különbség is számít.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4389120"/>
            <a:ext cx="1691640" cy="713232"/>
          </a:xfrm>
          <a:prstGeom prst="roundRect">
            <a:avLst/>
          </a:prstGeom>
          <a:solidFill>
            <a:srgbClr val="BE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61772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9191" y="4572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4389120"/>
            <a:ext cx="1691640" cy="713232"/>
          </a:xfrm>
          <a:prstGeom prst="roundRect">
            <a:avLst/>
          </a:prstGeom>
          <a:solidFill>
            <a:srgbClr val="1B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461772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2" y="4572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4389120"/>
            <a:ext cx="1691640" cy="713232"/>
          </a:xfrm>
          <a:prstGeom prst="roundRect">
            <a:avLst/>
          </a:prstGeom>
          <a:solidFill>
            <a:srgbClr val="E78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461772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ΔI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6872" y="4572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4389120"/>
            <a:ext cx="1691640" cy="713232"/>
          </a:xfrm>
          <a:prstGeom prst="roundRect">
            <a:avLst/>
          </a:prstGeom>
          <a:solidFill>
            <a:srgbClr val="3C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461772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KIOLD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6126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5CCDD"/>
                </a:solidFill>
                <a:latin typeface="Aptos"/>
              </a:defRPr>
            </a:pPr>
            <a:r>
              <a:t>IAP • Hibavédelem • 4/6.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7B8D6"/>
                </a:solidFill>
                <a:latin typeface="Aptos"/>
              </a:defRPr>
            </a:pPr>
            <a:r>
              <a:t>16. HÉT • 46–48. ÓRA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ptos"/>
              </a:defRPr>
            </a:pPr>
            <a:r>
              <a:t>Az ÁVK egyensúlyt figyel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914400" cy="54864"/>
          </a:xfrm>
          <a:prstGeom prst="rect">
            <a:avLst/>
          </a:prstGeom>
          <a:solidFill>
            <a:srgbClr val="37B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F7E"/>
                </a:solidFill>
                <a:latin typeface="Aptos"/>
              </a:defRPr>
            </a:pPr>
            <a:r>
              <a:t>IAP • Villamos szerelések • 11. évfolyam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B6F7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48463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C9669"/>
                </a:solidFill>
                <a:latin typeface="Aptos"/>
              </a:defRPr>
            </a:pPr>
            <a:r>
              <a:t>NORMÁL ÁLLAPOT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02A43"/>
                </a:solidFill>
                <a:latin typeface="Aptos"/>
              </a:defRPr>
            </a:pPr>
            <a:r>
              <a:t>Iᴸ  ≈  Iᴺ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015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B6F7E"/>
                </a:solidFill>
                <a:latin typeface="Aptos"/>
              </a:defRPr>
            </a:pPr>
            <a:r>
              <a:t>különbség ≈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828800"/>
            <a:ext cx="48463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1031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BE4242"/>
                </a:solidFill>
                <a:latin typeface="Aptos"/>
              </a:defRPr>
            </a:pPr>
            <a:r>
              <a:t>HIBAÁLLAPOT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74320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02A43"/>
                </a:solidFill>
                <a:latin typeface="Aptos"/>
              </a:defRPr>
            </a:pPr>
            <a:r>
              <a:t>Iᴸ  ≠  Iᴺ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4015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B6F7E"/>
                </a:solidFill>
                <a:latin typeface="Aptos"/>
              </a:defRPr>
            </a:pPr>
            <a:r>
              <a:t>maradékáram keletkezik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92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303D"/>
                </a:solidFill>
                <a:latin typeface="Aptos"/>
              </a:defRPr>
            </a:pPr>
            <a:r>
              <a:t>Az eltűnt áram nem tűnik el: más úton tér vissza.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7B8D6"/>
                </a:solidFill>
                <a:latin typeface="Aptos"/>
              </a:defRPr>
            </a:pPr>
            <a:r>
              <a:t>16. HÉT • 46–48. ÓRA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ptos"/>
              </a:defRPr>
            </a:pPr>
            <a:r>
              <a:t>Hová folyik a „hiányzó” áram?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914400" cy="54864"/>
          </a:xfrm>
          <a:prstGeom prst="rect">
            <a:avLst/>
          </a:prstGeom>
          <a:solidFill>
            <a:srgbClr val="37B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F7E"/>
                </a:solidFill>
                <a:latin typeface="Aptos"/>
              </a:defRPr>
            </a:pPr>
            <a:r>
              <a:t>IAP • Villamos szerelések • 11. évfolyam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B6F7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74519"/>
            <a:ext cx="21031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2A43"/>
                </a:solidFill>
                <a:latin typeface="Aptos"/>
              </a:defRPr>
            </a:pPr>
            <a:r>
              <a:t>ÁVK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874519"/>
            <a:ext cx="21031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2423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02A43"/>
                </a:solidFill>
                <a:latin typeface="Aptos"/>
              </a:defRPr>
            </a:pPr>
            <a:r>
              <a:t>FOGYASZTÓ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574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BE4242"/>
                </a:solidFill>
                <a:latin typeface="Aptos"/>
              </a:defRPr>
            </a:pPr>
            <a:r>
              <a:t>L  → → → →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063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B69A6"/>
                </a:solidFill>
                <a:latin typeface="Aptos"/>
              </a:defRPr>
            </a:pPr>
            <a:r>
              <a:t>N  ← ← 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886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8E37"/>
                </a:solidFill>
                <a:latin typeface="Aptos"/>
              </a:defRPr>
            </a:pPr>
            <a:r>
              <a:t>↘  PE / föld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434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78E37"/>
                </a:solidFill>
                <a:latin typeface="Aptos"/>
              </a:defRPr>
            </a:pPr>
            <a:r>
              <a:t>IΔ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120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F303D"/>
                </a:solidFill>
                <a:latin typeface="Aptos"/>
              </a:defRPr>
            </a:pPr>
            <a:r>
              <a:t>Ha az áram egy része PE/föld felé tér vissza, az ÁVK különbséget érzékel.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7B8D6"/>
                </a:solidFill>
                <a:latin typeface="Aptos"/>
              </a:defRPr>
            </a:pPr>
            <a:r>
              <a:t>16. HÉT • 46–48. ÓRA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ptos"/>
              </a:defRPr>
            </a:pPr>
            <a:r>
              <a:t>Két adat – két teljesen más jelentés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914400" cy="54864"/>
          </a:xfrm>
          <a:prstGeom prst="rect">
            <a:avLst/>
          </a:prstGeom>
          <a:solidFill>
            <a:srgbClr val="37B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F7E"/>
                </a:solidFill>
                <a:latin typeface="Aptos"/>
              </a:defRPr>
            </a:pPr>
            <a:r>
              <a:t>IAP • Villamos szerelések • 11. évfolyam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B6F7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49834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0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B69A6"/>
                </a:solidFill>
                <a:latin typeface="Aptos"/>
              </a:defRPr>
            </a:pPr>
            <a:r>
              <a:t>40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2A43"/>
                </a:solidFill>
                <a:latin typeface="Aptos"/>
              </a:defRPr>
            </a:pPr>
            <a:r>
              <a:t>névleges áram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57600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303D"/>
                </a:solidFill>
                <a:latin typeface="Aptos"/>
              </a:defRPr>
            </a:pPr>
            <a:r>
              <a:t>ekkora üzemi áram vezetésére alkalmas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828800"/>
            <a:ext cx="49834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0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331720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E78E37"/>
                </a:solidFill>
                <a:latin typeface="Aptos"/>
              </a:defRPr>
            </a:pPr>
            <a:r>
              <a:t>30 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063240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2A43"/>
                </a:solidFill>
                <a:latin typeface="Aptos"/>
              </a:defRPr>
            </a:pPr>
            <a:r>
              <a:t>IΔn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657600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303D"/>
                </a:solidFill>
                <a:latin typeface="Aptos"/>
              </a:defRPr>
            </a:pPr>
            <a:r>
              <a:t>névleges kioldó maradékáram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7B8D6"/>
                </a:solidFill>
                <a:latin typeface="Aptos"/>
              </a:defRPr>
            </a:pPr>
            <a:r>
              <a:t>16. HÉT • 46–48. ÓRA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ptos"/>
              </a:defRPr>
            </a:pPr>
            <a:r>
              <a:t>Az ÁVK nem kismegszakító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914400" cy="54864"/>
          </a:xfrm>
          <a:prstGeom prst="rect">
            <a:avLst/>
          </a:prstGeom>
          <a:solidFill>
            <a:srgbClr val="37B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F7E"/>
                </a:solidFill>
                <a:latin typeface="Aptos"/>
              </a:defRPr>
            </a:pPr>
            <a:r>
              <a:t>IAP • Villamos szerelések • 11. évfolyam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B6F7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4892040" cy="292608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94560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3C9669"/>
                </a:solidFill>
                <a:latin typeface="Aptos"/>
              </a:defRPr>
            </a:pPr>
            <a:r>
              <a:t>ÁVK / RCD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80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02A43"/>
                </a:solidFill>
                <a:latin typeface="Aptos"/>
              </a:defRPr>
            </a:pPr>
            <a:r>
              <a:t>maradékáramot figyel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03320"/>
            <a:ext cx="4251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303D"/>
                </a:solidFill>
                <a:latin typeface="Aptos"/>
              </a:defRPr>
            </a:pPr>
            <a:r>
              <a:t>hibavédelmi / kiegészítő védelmi szerep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828800"/>
            <a:ext cx="4892040" cy="292608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194560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B69A6"/>
                </a:solidFill>
                <a:latin typeface="Aptos"/>
              </a:defRPr>
            </a:pPr>
            <a:r>
              <a:t>KISMEGSZAKÍTÓ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926080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02A43"/>
                </a:solidFill>
                <a:latin typeface="Aptos"/>
              </a:defRPr>
            </a:pPr>
            <a:r>
              <a:t>túláramot figyel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703320"/>
            <a:ext cx="4251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303D"/>
                </a:solidFill>
                <a:latin typeface="Aptos"/>
              </a:defRPr>
            </a:pPr>
            <a:r>
              <a:t>túlterhelés- és zárlatvédelem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2A43"/>
                </a:solidFill>
                <a:latin typeface="Aptos"/>
              </a:defRPr>
            </a:pPr>
            <a:r>
              <a:t>Együtt alkotnak rendszert.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7B8D6"/>
                </a:solidFill>
                <a:latin typeface="Aptos"/>
              </a:defRPr>
            </a:pPr>
            <a:r>
              <a:t>16. HÉT • 46–48. ÓRA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ptos"/>
              </a:defRPr>
            </a:pPr>
            <a:r>
              <a:t>Bekötési alapelv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914400" cy="54864"/>
          </a:xfrm>
          <a:prstGeom prst="rect">
            <a:avLst/>
          </a:prstGeom>
          <a:solidFill>
            <a:srgbClr val="37B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F7E"/>
                </a:solidFill>
                <a:latin typeface="Aptos"/>
              </a:defRPr>
            </a:pPr>
            <a:r>
              <a:t>IAP • Villamos szerelések • 11. évfolyam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B6F7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828800"/>
            <a:ext cx="29260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2514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2A43"/>
                </a:solidFill>
                <a:latin typeface="Aptos"/>
              </a:defRPr>
            </a:pPr>
            <a:r>
              <a:t>ÁVK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E4242"/>
                </a:solidFill>
                <a:latin typeface="Aptos"/>
              </a:defRPr>
            </a:pPr>
            <a:r>
              <a:t>L  ─────────────→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05740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E4242"/>
                </a:solidFill>
                <a:latin typeface="Aptos"/>
              </a:defRPr>
            </a:pPr>
            <a:r>
              <a:t>─────────────→  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69A6"/>
                </a:solidFill>
                <a:latin typeface="Aptos"/>
              </a:defRPr>
            </a:pPr>
            <a:r>
              <a:t>N  ─────────────→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8803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69A6"/>
                </a:solidFill>
                <a:latin typeface="Aptos"/>
              </a:defRPr>
            </a:pPr>
            <a:r>
              <a:t>─────────────→  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8056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C9669"/>
                </a:solidFill>
                <a:latin typeface="Aptos"/>
              </a:defRPr>
            </a:pPr>
            <a:r>
              <a:t>PE ─────────────────────────────────────→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120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F303D"/>
                </a:solidFill>
                <a:latin typeface="Aptos"/>
              </a:defRPr>
            </a:pPr>
            <a:r>
              <a:t>A PE nem halad át az ÁVK mérőrendszerén.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7B8D6"/>
                </a:solidFill>
                <a:latin typeface="Aptos"/>
              </a:defRPr>
            </a:pPr>
            <a:r>
              <a:t>16. HÉT • 46–48. ÓRA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ptos"/>
              </a:defRPr>
            </a:pPr>
            <a:r>
              <a:t>Miért old le „ok nélkül”?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914400" cy="54864"/>
          </a:xfrm>
          <a:prstGeom prst="rect">
            <a:avLst/>
          </a:prstGeom>
          <a:solidFill>
            <a:srgbClr val="37B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F7E"/>
                </a:solidFill>
                <a:latin typeface="Aptos"/>
              </a:defRPr>
            </a:pPr>
            <a:r>
              <a:t>IAP • Villamos szerelések • 11. évfolyam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B6F7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737360"/>
            <a:ext cx="502920" cy="502920"/>
          </a:xfrm>
          <a:prstGeom prst="roundRect">
            <a:avLst/>
          </a:prstGeom>
          <a:solidFill>
            <a:srgbClr val="BE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773936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2A43"/>
                </a:solidFill>
                <a:latin typeface="Aptos"/>
              </a:defRPr>
            </a:pPr>
            <a:r>
              <a:t>N–PE kapcsolat az ÁVK után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697480"/>
            <a:ext cx="502920" cy="502920"/>
          </a:xfrm>
          <a:prstGeom prst="roundRect">
            <a:avLst/>
          </a:prstGeom>
          <a:solidFill>
            <a:srgbClr val="E78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34056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2A43"/>
                </a:solidFill>
                <a:latin typeface="Aptos"/>
              </a:defRPr>
            </a:pPr>
            <a:r>
              <a:t>Összekevert nullavezetők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57600"/>
            <a:ext cx="502920" cy="502920"/>
          </a:xfrm>
          <a:prstGeom prst="roundRect">
            <a:avLst/>
          </a:prstGeom>
          <a:solidFill>
            <a:srgbClr val="BE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694176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2A43"/>
                </a:solidFill>
                <a:latin typeface="Aptos"/>
              </a:defRPr>
            </a:pPr>
            <a:r>
              <a:t>Szigetelési hiba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617720"/>
            <a:ext cx="502920" cy="502920"/>
          </a:xfrm>
          <a:prstGeom prst="roundRect">
            <a:avLst/>
          </a:prstGeom>
          <a:solidFill>
            <a:srgbClr val="E78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70916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654296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2A43"/>
                </a:solidFill>
                <a:latin typeface="Aptos"/>
              </a:defRPr>
            </a:pPr>
            <a:r>
              <a:t>Összeadódó szivárgó áramok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150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F303D"/>
                </a:solidFill>
                <a:latin typeface="Aptos"/>
              </a:defRPr>
            </a:pPr>
            <a:r>
              <a:t>A leoldás gyakran tünet – a valódi okot az áramkörben kell megtalálni.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7B8D6"/>
                </a:solidFill>
                <a:latin typeface="Aptos"/>
              </a:defRPr>
            </a:pPr>
            <a:r>
              <a:t>16. HÉT • 46–48. ÓRA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ptos"/>
              </a:defRPr>
            </a:pPr>
            <a:r>
              <a:t>A TEST gomb nem dísz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914400" cy="54864"/>
          </a:xfrm>
          <a:prstGeom prst="rect">
            <a:avLst/>
          </a:prstGeom>
          <a:solidFill>
            <a:srgbClr val="37B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F7E"/>
                </a:solidFill>
                <a:latin typeface="Aptos"/>
              </a:defRPr>
            </a:pPr>
            <a:r>
              <a:t>IAP • Villamos szerelések • 11. évfolyam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B6F7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3657600" cy="2286000"/>
          </a:xfrm>
          <a:prstGeom prst="roundRect">
            <a:avLst/>
          </a:prstGeom>
          <a:solidFill>
            <a:srgbClr val="E78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500" b="1">
                <a:solidFill>
                  <a:srgbClr val="FFFFFF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20116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Mesterséges differenciáláramot hoz létre.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28803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303D"/>
                </a:solidFill>
                <a:latin typeface="Aptos"/>
              </a:defRPr>
            </a:pPr>
            <a:r>
              <a:t>Ellenőrzi a kioldómechanizmus működőképességét.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379476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E4242"/>
                </a:solidFill>
                <a:latin typeface="Aptos"/>
              </a:defRPr>
            </a:pPr>
            <a:r>
              <a:t>Ha nem old le: a készüléket / áramkört ellenőrizni kell.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B6F7E"/>
                </a:solidFill>
                <a:latin typeface="Aptos"/>
              </a:defRPr>
            </a:pPr>
            <a:r>
              <a:t>A tesztelést a gyártó előírása szerint végezzük.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7B8D6"/>
                </a:solidFill>
                <a:latin typeface="Aptos"/>
              </a:defRPr>
            </a:pPr>
            <a:r>
              <a:t>16. HÉT • 46–48. ÓRA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ptos"/>
              </a:defRPr>
            </a:pPr>
            <a:r>
              <a:t>A 16. hét három tanórája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914400" cy="54864"/>
          </a:xfrm>
          <a:prstGeom prst="rect">
            <a:avLst/>
          </a:prstGeom>
          <a:solidFill>
            <a:srgbClr val="37B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F7E"/>
                </a:solidFill>
                <a:latin typeface="Aptos"/>
              </a:defRPr>
            </a:pPr>
            <a:r>
              <a:t>IAP • Villamos szerelések • 11. évfolyam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B6F7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0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103120"/>
            <a:ext cx="685800" cy="685800"/>
          </a:xfrm>
          <a:prstGeom prst="roundRect">
            <a:avLst/>
          </a:prstGeom>
          <a:solidFill>
            <a:srgbClr val="3C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0428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02A43"/>
                </a:solidFill>
                <a:latin typeface="Aptos"/>
              </a:defRPr>
            </a:pPr>
            <a:r>
              <a:t>MŰKÖDÉS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65760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F303D"/>
                </a:solidFill>
                <a:latin typeface="Aptos"/>
              </a:defRPr>
            </a:pPr>
            <a:r>
              <a:t>Differenciáláram és ÁVK-elv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0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80" y="2103120"/>
            <a:ext cx="685800" cy="685800"/>
          </a:xfrm>
          <a:prstGeom prst="roundRect">
            <a:avLst/>
          </a:prstGeom>
          <a:solidFill>
            <a:srgbClr val="1B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30428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47.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01752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02A43"/>
                </a:solidFill>
                <a:latin typeface="Aptos"/>
              </a:defRPr>
            </a:pPr>
            <a:r>
              <a:t>ADATOK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65760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F303D"/>
                </a:solidFill>
                <a:latin typeface="Aptos"/>
              </a:defRPr>
            </a:pPr>
            <a:r>
              <a:t>IΔn • In • TEST • bekötés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2461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0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49640" y="2103120"/>
            <a:ext cx="685800" cy="685800"/>
          </a:xfrm>
          <a:prstGeom prst="roundRect">
            <a:avLst/>
          </a:prstGeom>
          <a:solidFill>
            <a:srgbClr val="E78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230428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48.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01752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02A43"/>
                </a:solidFill>
                <a:latin typeface="Aptos"/>
              </a:defRPr>
            </a:pPr>
            <a:r>
              <a:t>HIBAKERESÉS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365760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F303D"/>
                </a:solidFill>
                <a:latin typeface="Aptos"/>
              </a:defRPr>
            </a:pPr>
            <a:r>
              <a:t>N–PE és nullavezető-hibák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7B8D6"/>
                </a:solidFill>
                <a:latin typeface="Aptos"/>
              </a:defRPr>
            </a:pPr>
            <a:r>
              <a:t>16. HÉT • 46–48. ÓRA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ptos"/>
              </a:defRPr>
            </a:pPr>
            <a:r>
              <a:t>IAP műhelyhelyzet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914400" cy="54864"/>
          </a:xfrm>
          <a:prstGeom prst="rect">
            <a:avLst/>
          </a:prstGeom>
          <a:solidFill>
            <a:srgbClr val="37B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F7E"/>
                </a:solidFill>
                <a:latin typeface="Aptos"/>
              </a:defRPr>
            </a:pPr>
            <a:r>
              <a:t>IAP • Villamos szerelések • 11. évfolyam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B6F7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783080"/>
            <a:ext cx="10241280" cy="352044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A dugalj működik.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34640"/>
            <a:ext cx="9692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7B8D6"/>
                </a:solidFill>
                <a:latin typeface="Aptos"/>
              </a:defRPr>
            </a:pPr>
            <a:r>
              <a:t>Az ÁVK viszont azonnal leold,</a:t>
            </a:r>
            <a:br/>
            <a:r>
              <a:t>amint a fogyasztót csatlakoztatjuk.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5196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Mit vizsgálnál először?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548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3E3EE"/>
                </a:solidFill>
                <a:latin typeface="Aptos"/>
              </a:defRPr>
            </a:pPr>
            <a:r>
              <a:t>N–PE kapcsolat? • szigetelési hiba? • rossz nullavezető?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7B8D6"/>
                </a:solidFill>
                <a:latin typeface="Aptos"/>
              </a:defRPr>
            </a:pPr>
            <a:r>
              <a:t>16. HÉT • 46–48. ÓRA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ptos"/>
              </a:defRPr>
            </a:pPr>
            <a:r>
              <a:t>IAP heti kihívás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914400" cy="54864"/>
          </a:xfrm>
          <a:prstGeom prst="rect">
            <a:avLst/>
          </a:prstGeom>
          <a:solidFill>
            <a:srgbClr val="37B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F7E"/>
                </a:solidFill>
                <a:latin typeface="Aptos"/>
              </a:defRPr>
            </a:pPr>
            <a:r>
              <a:t>IAP • Villamos szerelések • 11. évfolyam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B6F7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783080"/>
            <a:ext cx="10241280" cy="3429000"/>
          </a:xfrm>
          <a:prstGeom prst="roundRect">
            <a:avLst/>
          </a:prstGeom>
          <a:solidFill>
            <a:srgbClr val="184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ptos"/>
              </a:defRPr>
            </a:pPr>
            <a:r>
              <a:t>Egy ÁVK felirata: 40 A / 30 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7B8D6"/>
                </a:solidFill>
                <a:latin typeface="Aptos"/>
              </a:defRPr>
            </a:pPr>
            <a:r>
              <a:t>Mit jelent a 40 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017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7B8D6"/>
                </a:solidFill>
                <a:latin typeface="Aptos"/>
              </a:defRPr>
            </a:pPr>
            <a:r>
              <a:t>Mit jelent a 30 mA?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6908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Miért kell mellette kismegszakító is?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7B8D6"/>
                </a:solidFill>
                <a:latin typeface="Aptos"/>
              </a:defRPr>
            </a:pPr>
            <a:r>
              <a:t>16. HÉT • 46–48. ÓRA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ptos"/>
              </a:defRPr>
            </a:pPr>
            <a:r>
              <a:t>Amit ezen a héten tudnod kell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914400" cy="54864"/>
          </a:xfrm>
          <a:prstGeom prst="rect">
            <a:avLst/>
          </a:prstGeom>
          <a:solidFill>
            <a:srgbClr val="37B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F7E"/>
                </a:solidFill>
                <a:latin typeface="Aptos"/>
              </a:defRPr>
            </a:pPr>
            <a:r>
              <a:t>IAP • Villamos szerelések • 11. évfolyam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B6F7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572768"/>
            <a:ext cx="475488" cy="475488"/>
          </a:xfrm>
          <a:prstGeom prst="roundRect">
            <a:avLst/>
          </a:prstGeom>
          <a:solidFill>
            <a:srgbClr val="1B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82495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618488"/>
            <a:ext cx="9235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303D"/>
                </a:solidFill>
                <a:latin typeface="Aptos"/>
              </a:defRPr>
            </a:pPr>
            <a:r>
              <a:t>Az ÁVK az aktív vezetők áramegyensúlyát figyeli.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377440"/>
            <a:ext cx="475488" cy="475488"/>
          </a:xfrm>
          <a:prstGeom prst="roundRect">
            <a:avLst/>
          </a:prstGeom>
          <a:solidFill>
            <a:srgbClr val="1B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87168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423160"/>
            <a:ext cx="9235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303D"/>
                </a:solidFill>
                <a:latin typeface="Aptos"/>
              </a:defRPr>
            </a:pPr>
            <a:r>
              <a:t>A maradékáram jele: IΔ.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182112"/>
            <a:ext cx="475488" cy="475488"/>
          </a:xfrm>
          <a:prstGeom prst="roundRect">
            <a:avLst/>
          </a:prstGeom>
          <a:solidFill>
            <a:srgbClr val="1B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91840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227832"/>
            <a:ext cx="9235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303D"/>
                </a:solidFill>
                <a:latin typeface="Aptos"/>
              </a:defRPr>
            </a:pPr>
            <a:r>
              <a:t>IΔn nem ugyanaz, mint a készülék névleges árama.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86784"/>
            <a:ext cx="475488" cy="475488"/>
          </a:xfrm>
          <a:prstGeom prst="roundRect">
            <a:avLst/>
          </a:prstGeom>
          <a:solidFill>
            <a:srgbClr val="1B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96512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032504"/>
            <a:ext cx="9235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303D"/>
                </a:solidFill>
                <a:latin typeface="Aptos"/>
              </a:defRPr>
            </a:pPr>
            <a:r>
              <a:t>A PE nem halad át az ÁVK mérőrendszerén.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791456"/>
            <a:ext cx="475488" cy="475488"/>
          </a:xfrm>
          <a:prstGeom prst="roundRect">
            <a:avLst/>
          </a:prstGeom>
          <a:solidFill>
            <a:srgbClr val="1B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901184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837176"/>
            <a:ext cx="9235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303D"/>
                </a:solidFill>
                <a:latin typeface="Aptos"/>
              </a:defRPr>
            </a:pPr>
            <a:r>
              <a:t>Az ÁVK nem helyettesíti a túláramvédelmet.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779008"/>
            <a:ext cx="10241280" cy="457200"/>
          </a:xfrm>
          <a:prstGeom prst="roundRect">
            <a:avLst/>
          </a:prstGeom>
          <a:solidFill>
            <a:srgbClr val="E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89788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2A43"/>
                </a:solidFill>
                <a:latin typeface="Aptos"/>
              </a:defRPr>
            </a:pPr>
            <a:r>
              <a:t>Következő hét: Földelés, folytonosság és hibahurok szemlélet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