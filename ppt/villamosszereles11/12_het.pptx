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8BED2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TRANZISZTOROS</a:t>
            </a:r>
            <a:br/>
            <a:r>
              <a:t>ALAPKAPCSOLÁSOK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456432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D2E1F5"/>
                </a:solidFill>
                <a:latin typeface="Aptos"/>
              </a:defRPr>
            </a:pPr>
            <a:r>
              <a:t>Közös emitteres erősítő • munkapont • erősítés • fázisfordítás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937760"/>
            <a:ext cx="5303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8BED2"/>
                </a:solidFill>
                <a:latin typeface="Aptos"/>
              </a:defRPr>
            </a:pPr>
            <a:r>
              <a:t>11. évfolyam • Analóg áramkörök • 12.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5321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4C8DC"/>
                </a:solidFill>
                <a:latin typeface="Aptos"/>
              </a:defRPr>
            </a:pPr>
            <a:r>
              <a:t>5 × 45 perc • IAP</a:t>
            </a:r>
          </a:p>
        </p:txBody>
      </p:sp>
      <p:sp>
        <p:nvSpPr>
          <p:cNvPr id="8" name="Oval 7"/>
          <p:cNvSpPr/>
          <p:nvPr/>
        </p:nvSpPr>
        <p:spPr>
          <a:xfrm>
            <a:off x="8321040" y="3794760"/>
            <a:ext cx="109728" cy="109728"/>
          </a:xfrm>
          <a:prstGeom prst="ellipse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05088" y="4117083"/>
            <a:ext cx="109728" cy="109728"/>
          </a:xfrm>
          <a:prstGeom prst="ellipse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89136" y="4195478"/>
            <a:ext cx="109728" cy="109728"/>
          </a:xfrm>
          <a:prstGeom prst="ellipse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73184" y="3970618"/>
            <a:ext cx="109728" cy="109728"/>
          </a:xfrm>
          <a:prstGeom prst="ellipse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57232" y="3612671"/>
            <a:ext cx="109728" cy="109728"/>
          </a:xfrm>
          <a:prstGeom prst="ellipse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0" y="3392525"/>
            <a:ext cx="109728" cy="109728"/>
          </a:xfrm>
          <a:prstGeom prst="ellipse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25328" y="3476782"/>
            <a:ext cx="109728" cy="109728"/>
          </a:xfrm>
          <a:prstGeom prst="ellipse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09376" y="3801678"/>
            <a:ext cx="109728" cy="109728"/>
          </a:xfrm>
          <a:prstGeom prst="ellipse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RÁHANGOLÁS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Miért kell egyáltalán erősíteni?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Az érzékelők jele gyakran túl kicsi a közvetlen feldolgozáshoz.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33756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64008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391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3017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6A34A"/>
                </a:solidFill>
                <a:latin typeface="Aptos"/>
              </a:defRPr>
            </a:pPr>
            <a:r>
              <a:t>20 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44368"/>
            <a:ext cx="301752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Érzékelőből érkező kis jel.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74519"/>
            <a:ext cx="333756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874519"/>
            <a:ext cx="64008" cy="21031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391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ERŐSÍTŐ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41448"/>
            <a:ext cx="3017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F6FEB"/>
                </a:solidFill>
                <a:latin typeface="Aptos"/>
              </a:defRPr>
            </a:pPr>
            <a:r>
              <a:t>× 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44368"/>
            <a:ext cx="301752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 jel alakját megtartva növeli az amplitúdót.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874519"/>
            <a:ext cx="333756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1874519"/>
            <a:ext cx="6400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0391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441448"/>
            <a:ext cx="3017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Aptos"/>
              </a:defRPr>
            </a:pPr>
            <a:r>
              <a:t>0,5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944368"/>
            <a:ext cx="301752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Mérhető, feldolgozható jel.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177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C2340"/>
                </a:solidFill>
                <a:latin typeface="Aptos"/>
              </a:defRPr>
            </a:pPr>
            <a:r>
              <a:t>Kulcskérdés: hogyan állítjuk be a tranzisztort úgy, hogy a jel torzítás nélkül erősödjön?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ALAPOK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A három BJT alapkapcsolás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„közös” elektróda az a pont, amely a bemeneti és kimeneti kör számára is referencia.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297180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2971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63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KÖZÖS EMITTER (CE)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3063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F6FEB"/>
                </a:solidFill>
                <a:latin typeface="Aptos"/>
              </a:defRPr>
            </a:pPr>
            <a:r>
              <a:t>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98648"/>
            <a:ext cx="306324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Jó feszültségerősítés.</a:t>
            </a:r>
            <a:br/>
            <a:r>
              <a:t>A kimenet 180°-kal fázist fordít.</a:t>
            </a:r>
            <a:br/>
            <a:r>
              <a:t>Gyakori kisjelű erősítő.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83280" cy="297180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828800"/>
            <a:ext cx="64008" cy="2971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93392"/>
            <a:ext cx="3063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KÖZÖS KOLLEKTOR (CC)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95728"/>
            <a:ext cx="3063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6A34A"/>
                </a:solidFill>
                <a:latin typeface="Aptos"/>
              </a:defRPr>
            </a:pPr>
            <a:r>
              <a:t>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898648"/>
            <a:ext cx="306324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Feszültségerősítése közel 1.</a:t>
            </a:r>
            <a:br/>
            <a:r>
              <a:t>Nagy bemeneti és kis kimeneti ellenállás.</a:t>
            </a:r>
            <a:br/>
            <a:r>
              <a:t>Illesztésre kiváló.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828800"/>
            <a:ext cx="3383280" cy="297180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9016" y="1828800"/>
            <a:ext cx="64008" cy="2971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1993392"/>
            <a:ext cx="3063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KÖZÖS BÁZIS (CB)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395728"/>
            <a:ext cx="3063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Aptos"/>
              </a:defRPr>
            </a:pPr>
            <a:r>
              <a:t>CB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2898648"/>
            <a:ext cx="306324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Kis bemeneti ellenállás.</a:t>
            </a:r>
            <a:br/>
            <a:r>
              <a:t>Jó nagyfrekvenciás viselkedés.</a:t>
            </a:r>
            <a:br/>
            <a:r>
              <a:t>Speciális alkalmazások.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FÓKUSZ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A közös emitteres 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bemenet a bázisra, a kimenet a kollektorra kerül; az emitter a közös referencia.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554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6FEB"/>
                </a:solidFill>
                <a:latin typeface="Aptos"/>
              </a:defRPr>
            </a:pPr>
            <a:r>
              <a:t>+12 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95360" y="1874520"/>
            <a:ext cx="0" cy="457200"/>
          </a:xfrm>
          <a:prstGeom prst="line">
            <a:avLst/>
          </a:prstGeom>
          <a:ln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366760" y="2331720"/>
            <a:ext cx="4572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2514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RC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0" y="3063240"/>
            <a:ext cx="0" cy="457200"/>
          </a:xfrm>
          <a:prstGeom prst="line">
            <a:avLst/>
          </a:prstGeom>
          <a:ln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202168" y="3520440"/>
            <a:ext cx="786384" cy="786384"/>
          </a:xfrm>
          <a:prstGeom prst="ellipse">
            <a:avLst/>
          </a:prstGeom>
          <a:solidFill>
            <a:srgbClr val="FFFFFF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8" y="36850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  <a:latin typeface="Aptos"/>
              </a:defRPr>
            </a:pPr>
            <a:r>
              <a:t>Q1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12280" y="3913632"/>
            <a:ext cx="1389888" cy="0"/>
          </a:xfrm>
          <a:prstGeom prst="line">
            <a:avLst/>
          </a:prstGeom>
          <a:ln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0" y="35661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Aptos"/>
              </a:defRPr>
            </a:pPr>
            <a:r>
              <a:t>Ube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88552" y="3685032"/>
            <a:ext cx="1115568" cy="0"/>
          </a:xfrm>
          <a:prstGeom prst="line">
            <a:avLst/>
          </a:prstGeom>
          <a:ln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09760" y="335584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Aptos"/>
              </a:defRPr>
            </a:pPr>
            <a:r>
              <a:t>Uki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0" y="4306824"/>
            <a:ext cx="0" cy="356616"/>
          </a:xfrm>
          <a:prstGeom prst="line">
            <a:avLst/>
          </a:prstGeom>
          <a:ln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366760" y="4663440"/>
            <a:ext cx="457200" cy="685800"/>
          </a:xfrm>
          <a:prstGeom prst="rect">
            <a:avLst/>
          </a:prstGeom>
          <a:solidFill>
            <a:srgbClr val="EFF6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48280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95360" y="5349240"/>
            <a:ext cx="0" cy="320039"/>
          </a:xfrm>
          <a:prstGeom prst="line">
            <a:avLst/>
          </a:prstGeom>
          <a:ln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0" y="56418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Aptos"/>
              </a:defRPr>
            </a:pPr>
            <a:r>
              <a:t>GND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1874519"/>
            <a:ext cx="512064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1874519"/>
            <a:ext cx="64008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2039112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2441448"/>
            <a:ext cx="4800600" cy="384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 kis váltakozó jel a bázist vezérli.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182112"/>
            <a:ext cx="512064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182112"/>
            <a:ext cx="6400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346704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749039"/>
            <a:ext cx="4800600" cy="384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 kollektor feszültségváltozása adja az erősített jelet.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9704"/>
            <a:ext cx="512064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489704"/>
            <a:ext cx="64008" cy="1097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654296"/>
            <a:ext cx="4800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KÖZÖS PONT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5056632"/>
            <a:ext cx="4800600" cy="384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Az emitter a bemeneti és kimeneti kör közös referenciaelektródája.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MUNKAPONT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A tranzisztor nyugalmi állapota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jó munkapont biztosítja, hogy a jel mindkét irányban torzítás nélkül változhasson.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2286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63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LEZÁRÁS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3063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64748B"/>
                </a:solidFill>
                <a:latin typeface="Aptos"/>
              </a:defRPr>
            </a:pPr>
            <a:r>
              <a:t>IC ≈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9864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Túl kicsi bázisáram → a tranzisztor alig vezet.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832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828800"/>
            <a:ext cx="64008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93392"/>
            <a:ext cx="3063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AKTÍV TARTOMÁNY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95728"/>
            <a:ext cx="3063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6A34A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89864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Itt használjuk erősítőként. A kollektoráram a vezérlést követi.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828800"/>
            <a:ext cx="33832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9016" y="1828800"/>
            <a:ext cx="64008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1993392"/>
            <a:ext cx="3063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TELÍTÉS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395728"/>
            <a:ext cx="3063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Aptos"/>
              </a:defRPr>
            </a:pPr>
            <a:r>
              <a:t>UCE ≈ kicsi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2898648"/>
            <a:ext cx="3063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Túl nagy vezérlés → a tranzisztor már nem tud tovább erősíteni.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2340"/>
                </a:solidFill>
                <a:latin typeface="Aptos"/>
              </a:defRPr>
            </a:pPr>
            <a:r>
              <a:t>Cél: a nyugalmi kollektor-emitter feszültséget célszerűen a tápfeszültség középső tartományába állítani.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SZÁMÍTÁS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Egyszerű munkaponti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Tápfeszültség: 12 V • RC = 2,2 kΩ • IC ≈ 2 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33756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64008" cy="19659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391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RC FESZÜLTSÉGE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41448"/>
            <a:ext cx="3017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F6FEB"/>
                </a:solidFill>
                <a:latin typeface="Aptos"/>
              </a:defRPr>
            </a:pPr>
            <a:r>
              <a:t>4,4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44368"/>
            <a:ext cx="30175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URC = IC · RC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64008" cy="1965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0391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KOLLEKTORFESZÜLTSÉG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41448"/>
            <a:ext cx="3017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6A34A"/>
                </a:solidFill>
                <a:latin typeface="Aptos"/>
              </a:defRPr>
            </a:pPr>
            <a:r>
              <a:t>7,6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944368"/>
            <a:ext cx="30175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UC = UCC - URC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74519"/>
            <a:ext cx="333756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74519"/>
            <a:ext cx="64008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0391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41448"/>
            <a:ext cx="3017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Aptos"/>
              </a:defRPr>
            </a:pPr>
            <a:r>
              <a:t>AKTÍV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44368"/>
            <a:ext cx="30175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 kollektor nincs sem 0 V, sem 12 V közelében.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C2340"/>
                </a:solidFill>
                <a:latin typeface="Aptos"/>
              </a:defRPr>
            </a:pPr>
            <a:r>
              <a:t>Mérnöki szokás: előbb becslünk és számolunk, utána mérünk. A mérés feladata az ellenőrzés.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Mit jelent a feszültségerősítés?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kimeneti és bemeneti váltakozó feszültség amplitúdójának aránya.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484632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64008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39112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441448"/>
            <a:ext cx="4526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F6FEB"/>
                </a:solidFill>
                <a:latin typeface="Aptos"/>
              </a:defRPr>
            </a:pPr>
            <a:r>
              <a:t>Au = Uki / 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944368"/>
            <a:ext cx="452628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Az előjel a CE kapcsolásnál a fázisfordításra utal.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74519"/>
            <a:ext cx="484632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874519"/>
            <a:ext cx="64008" cy="2331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7" y="2039112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7" y="2441448"/>
            <a:ext cx="4526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6A34A"/>
                </a:solidFill>
                <a:latin typeface="Aptos"/>
              </a:defRPr>
            </a:pPr>
            <a:r>
              <a:t>|Au| =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7" y="2944368"/>
            <a:ext cx="452628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Ube = 100 mV, Uki = 2,0 V → |Au| =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19222D"/>
                </a:solidFill>
                <a:latin typeface="Aptos"/>
              </a:defRPr>
            </a:pPr>
            <a:r>
              <a:t>A valós erősítés függ a munkaponttól, RC és RE értékétől, a tranzisztortól és a terheléstől.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JELALAK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A 180°-os fázisfordítás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Ha a bemeneti jel nő, a kollektoráram nő, ezért a kollektor feszültsége csökken.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331720"/>
            <a:ext cx="987552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2167127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Aptos"/>
              </a:defRPr>
            </a:pPr>
            <a:r>
              <a:t>Ube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2331720"/>
            <a:ext cx="160020" cy="162967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57300" y="2494687"/>
            <a:ext cx="160019" cy="145381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19" y="2640068"/>
            <a:ext cx="160020" cy="112106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77339" y="2752174"/>
            <a:ext cx="160021" cy="66732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37360" y="2818906"/>
            <a:ext cx="160020" cy="14157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897380" y="2793117"/>
            <a:ext cx="160020" cy="39946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057400" y="2703380"/>
            <a:ext cx="160020" cy="89737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217420" y="2573535"/>
            <a:ext cx="160019" cy="129845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377439" y="2417594"/>
            <a:ext cx="160021" cy="155941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537460" y="2252386"/>
            <a:ext cx="160020" cy="165208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697480" y="2095739"/>
            <a:ext cx="160020" cy="156647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857500" y="1964559"/>
            <a:ext cx="160020" cy="13118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017520" y="1873000"/>
            <a:ext cx="160019" cy="91559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177539" y="1830944"/>
            <a:ext cx="160020" cy="42056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337559" y="1830944"/>
            <a:ext cx="160021" cy="11986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97580" y="1842930"/>
            <a:ext cx="160020" cy="64734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" y="1907664"/>
            <a:ext cx="160020" cy="110495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817620" y="2018159"/>
            <a:ext cx="160019" cy="144334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77639" y="2162493"/>
            <a:ext cx="160020" cy="162596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137659" y="2325089"/>
            <a:ext cx="160021" cy="163311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97680" y="2488400"/>
            <a:ext cx="160020" cy="146403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57700" y="2634803"/>
            <a:ext cx="160020" cy="113696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17720" y="2748499"/>
            <a:ext cx="160020" cy="68719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777740" y="2817218"/>
            <a:ext cx="160019" cy="16326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937759" y="2795716"/>
            <a:ext cx="160021" cy="37828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097780" y="2707815"/>
            <a:ext cx="160020" cy="87901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257800" y="2579328"/>
            <a:ext cx="160020" cy="128487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417820" y="2424120"/>
            <a:ext cx="160020" cy="155208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577840" y="2258941"/>
            <a:ext cx="160019" cy="165179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37859" y="2101616"/>
            <a:ext cx="160021" cy="157325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897880" y="1969122"/>
            <a:ext cx="160020" cy="132494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057900" y="1875758"/>
            <a:ext cx="160020" cy="93364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217920" y="1831600"/>
            <a:ext cx="160020" cy="44158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377940" y="1831600"/>
            <a:ext cx="160019" cy="9812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537959" y="1841412"/>
            <a:ext cx="160021" cy="62723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697980" y="1904135"/>
            <a:ext cx="160020" cy="108867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858000" y="2013002"/>
            <a:ext cx="160020" cy="143261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018020" y="2156263"/>
            <a:ext cx="160020" cy="162196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178040" y="2318459"/>
            <a:ext cx="160019" cy="163626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338059" y="2482085"/>
            <a:ext cx="160020" cy="14740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98079" y="2629485"/>
            <a:ext cx="160021" cy="115266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658100" y="2744751"/>
            <a:ext cx="160019" cy="70694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818119" y="2815445"/>
            <a:ext cx="160021" cy="18493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978140" y="2798233"/>
            <a:ext cx="160019" cy="35705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138159" y="2712185"/>
            <a:ext cx="160020" cy="86048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298179" y="2585078"/>
            <a:ext cx="160020" cy="127107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458199" y="2430630"/>
            <a:ext cx="160020" cy="154448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618219" y="2265508"/>
            <a:ext cx="160020" cy="165122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39" y="2107532"/>
            <a:ext cx="160020" cy="157976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938259" y="1973748"/>
            <a:ext cx="160021" cy="133784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098280" y="1878596"/>
            <a:ext cx="160019" cy="95152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58299" y="1832342"/>
            <a:ext cx="160020" cy="46254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18319" y="1832342"/>
            <a:ext cx="160020" cy="7637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578339" y="1839979"/>
            <a:ext cx="160020" cy="60703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38359" y="1900682"/>
            <a:ext cx="160021" cy="107218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898380" y="2007900"/>
            <a:ext cx="160019" cy="142164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058399" y="2150064"/>
            <a:ext cx="160020" cy="161767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218419" y="2311831"/>
            <a:ext cx="160020" cy="163914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378439" y="2475745"/>
            <a:ext cx="160020" cy="14837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05840" y="4251960"/>
            <a:ext cx="987552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94360" y="40873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Aptos"/>
              </a:defRPr>
            </a:pPr>
            <a:r>
              <a:t>Uki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097280" y="4088992"/>
            <a:ext cx="160020" cy="16296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257300" y="3943611"/>
            <a:ext cx="160019" cy="145381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417319" y="3831505"/>
            <a:ext cx="160020" cy="112106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577339" y="3764773"/>
            <a:ext cx="160021" cy="66732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737360" y="3750616"/>
            <a:ext cx="160020" cy="14157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897380" y="3750616"/>
            <a:ext cx="160020" cy="39946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57400" y="3790562"/>
            <a:ext cx="160020" cy="89737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217420" y="3880299"/>
            <a:ext cx="160019" cy="129845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377439" y="4010144"/>
            <a:ext cx="160021" cy="155941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537460" y="4166085"/>
            <a:ext cx="160020" cy="16520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697480" y="4331293"/>
            <a:ext cx="160020" cy="156647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857500" y="4487940"/>
            <a:ext cx="160020" cy="13118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017520" y="4619120"/>
            <a:ext cx="160019" cy="91559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77539" y="4710679"/>
            <a:ext cx="160020" cy="42056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337559" y="4740749"/>
            <a:ext cx="160021" cy="11986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497580" y="4676015"/>
            <a:ext cx="160020" cy="64734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657600" y="4565520"/>
            <a:ext cx="160020" cy="110495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817620" y="4421186"/>
            <a:ext cx="160019" cy="144334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977639" y="4258590"/>
            <a:ext cx="160020" cy="162596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137659" y="4095279"/>
            <a:ext cx="160021" cy="163311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297680" y="3948876"/>
            <a:ext cx="160020" cy="146403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457700" y="3835180"/>
            <a:ext cx="160020" cy="113696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617720" y="3766461"/>
            <a:ext cx="160020" cy="68719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777740" y="3750135"/>
            <a:ext cx="160019" cy="16326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937759" y="3750135"/>
            <a:ext cx="160021" cy="3782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097780" y="3787963"/>
            <a:ext cx="160020" cy="87901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257800" y="3875864"/>
            <a:ext cx="160020" cy="128487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417820" y="4004351"/>
            <a:ext cx="160020" cy="15520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577840" y="4159559"/>
            <a:ext cx="160019" cy="165179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737859" y="4324738"/>
            <a:ext cx="160021" cy="157325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897880" y="4482063"/>
            <a:ext cx="160020" cy="132494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057900" y="4614557"/>
            <a:ext cx="160020" cy="93364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217920" y="4707921"/>
            <a:ext cx="160020" cy="4415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377940" y="4742267"/>
            <a:ext cx="160019" cy="9812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537959" y="4679544"/>
            <a:ext cx="160021" cy="62723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697980" y="4570677"/>
            <a:ext cx="160020" cy="108867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858000" y="4427416"/>
            <a:ext cx="160020" cy="143261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18020" y="4265220"/>
            <a:ext cx="160020" cy="162196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178040" y="4101594"/>
            <a:ext cx="160019" cy="163626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338059" y="3954194"/>
            <a:ext cx="160020" cy="14740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498079" y="3838928"/>
            <a:ext cx="160021" cy="115266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658100" y="3768234"/>
            <a:ext cx="160019" cy="70694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818119" y="3749741"/>
            <a:ext cx="160021" cy="18493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78140" y="3749741"/>
            <a:ext cx="160019" cy="35705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8138159" y="3785446"/>
            <a:ext cx="160020" cy="8604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298179" y="3871494"/>
            <a:ext cx="160020" cy="127107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8458199" y="3998601"/>
            <a:ext cx="160020" cy="15444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18219" y="4153049"/>
            <a:ext cx="160020" cy="165122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778239" y="4318171"/>
            <a:ext cx="160020" cy="157976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938259" y="4476147"/>
            <a:ext cx="160021" cy="133784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098280" y="4609931"/>
            <a:ext cx="160019" cy="95152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258299" y="4705083"/>
            <a:ext cx="160020" cy="46254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418319" y="4743700"/>
            <a:ext cx="160020" cy="7637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578339" y="4682997"/>
            <a:ext cx="160020" cy="60703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738359" y="4575779"/>
            <a:ext cx="160021" cy="10721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898380" y="4433615"/>
            <a:ext cx="160019" cy="142164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0058399" y="4271848"/>
            <a:ext cx="160020" cy="161767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0218419" y="4107934"/>
            <a:ext cx="160020" cy="163914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0378439" y="3959564"/>
            <a:ext cx="160020" cy="14837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3291840" y="55321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2340"/>
                </a:solidFill>
                <a:latin typeface="Aptos"/>
              </a:defRPr>
            </a:pPr>
            <a:r>
              <a:t>A csúcs és a völgy felcserélődik → 180°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ALKATRÉSZEK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Mit csinálnak az elemek a CE erősítőben?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060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64008" cy="2423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93392"/>
            <a:ext cx="2286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R1–R2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95728"/>
            <a:ext cx="2286000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Bázis előfeszítés, a munkapont kialakítása.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828800"/>
            <a:ext cx="26060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01568" y="1828800"/>
            <a:ext cx="64008" cy="2423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993392"/>
            <a:ext cx="2286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2395728"/>
            <a:ext cx="2286000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 kollektoráram változását kimeneti feszültséggé alakítja.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828800"/>
            <a:ext cx="26060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6" y="1828800"/>
            <a:ext cx="64008" cy="2423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993392"/>
            <a:ext cx="2286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395728"/>
            <a:ext cx="2286000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Stabilizálja a munkapontot, negatív visszacsatolást 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544" y="1828800"/>
            <a:ext cx="26060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24544" y="1828800"/>
            <a:ext cx="64008" cy="2423160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1993392"/>
            <a:ext cx="2286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C1–C2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2395728"/>
            <a:ext cx="2286000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Átengedi a váltakozó jelet, leválasztja az egyenfeszültséget.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C2340"/>
                </a:solidFill>
                <a:latin typeface="Aptos"/>
              </a:defRPr>
            </a:pPr>
            <a:r>
              <a:t>A kapcsolás nem egyetlen tranzisztorból áll: az ellenállások és kondenzátorok együtt alakítják ki a használható erősítőfokozatot.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Oszcilloszkópos vizsgálat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CH1: bemenet • CH2: kimenet • közös GND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2194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71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1. LÉPÉS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2971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F6FEB"/>
                </a:solidFill>
                <a:latin typeface="Aptos"/>
              </a:defRPr>
            </a:pPr>
            <a:r>
              <a:t>UB • UE • 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98648"/>
            <a:ext cx="297180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Ellenőrizd a DC munkapontot multiméterrel.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918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64008" cy="2194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71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2. LÉPÉS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95728"/>
            <a:ext cx="2971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6A34A"/>
                </a:solidFill>
                <a:latin typeface="Aptos"/>
              </a:defRPr>
            </a:pPr>
            <a:r>
              <a:t>1 kHz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898648"/>
            <a:ext cx="297180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Adj kis amplitúdójú szinuszjelet a bemenetre.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2918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2971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3. LÉPÉS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395728"/>
            <a:ext cx="2971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Aptos"/>
              </a:defRPr>
            </a:pPr>
            <a:r>
              <a:t>CH1 ↔ CH2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898648"/>
            <a:ext cx="297180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Mérd Ube és Uki amplitúdóját, figyeld a fázist.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2340"/>
                </a:solidFill>
                <a:latin typeface="Aptos"/>
              </a:defRPr>
            </a:pPr>
            <a:r>
              <a:t>Ne a maximális kimenetet keresd elsőként: először a torzításmentes működést igazold.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Mit árul el a jelalak?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38328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64008" cy="2514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93392"/>
            <a:ext cx="3063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LEVÁGÁS FELÜL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95728"/>
            <a:ext cx="3063240" cy="1801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 munkapont vagy a vezérlés nem megfelelő; a tranzisztor egyik határállapotához ér.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28800"/>
            <a:ext cx="338328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828800"/>
            <a:ext cx="64008" cy="2514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993392"/>
            <a:ext cx="3063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LEVÁGÁS ALUL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395728"/>
            <a:ext cx="3063240" cy="1801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 jel másik irányban éri el a működési tartomány szélét.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828800"/>
            <a:ext cx="338328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9016" y="1828800"/>
            <a:ext cx="64008" cy="2514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993392"/>
            <a:ext cx="3063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SZIMMETRIKUS JEL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2395728"/>
            <a:ext cx="3063240" cy="1801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Megfelelő munkapont és ésszerű bemeneti amplitúdó.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C2340"/>
                </a:solidFill>
                <a:latin typeface="Aptos"/>
              </a:defRPr>
            </a:pPr>
            <a:r>
              <a:t>A torzítás nem „rossz oszcilloszkóp”: információ a kapcsolás állapotáról.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5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A hét tanulási útvonala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Az elmélet, számítás, építés és mérés egyetlen folyamat.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196596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762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Aptos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743200"/>
            <a:ext cx="1691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2340"/>
                </a:solidFill>
                <a:latin typeface="Aptos"/>
              </a:defRPr>
            </a:pPr>
            <a:r>
              <a:t>Alapkapcsolások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401568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CE • CC • CB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011680"/>
            <a:ext cx="196596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1762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Aptos"/>
              </a:defRPr>
            </a:pPr>
            <a: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43200"/>
            <a:ext cx="1691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2340"/>
                </a:solidFill>
                <a:latin typeface="Aptos"/>
              </a:defRPr>
            </a:pPr>
            <a:r>
              <a:t>CE felépítése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401568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alkatrészek • jelút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3792" y="2011680"/>
            <a:ext cx="196596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21762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Aptos"/>
              </a:defRPr>
            </a:pPr>
            <a: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743200"/>
            <a:ext cx="1691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2340"/>
                </a:solidFill>
                <a:latin typeface="Aptos"/>
              </a:defRPr>
            </a:pPr>
            <a:r>
              <a:t>Munkapont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3401568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számítás • DC mérés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2011680"/>
            <a:ext cx="196596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8664" y="21762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Aptos"/>
              </a:defRPr>
            </a:pPr>
            <a: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8664" y="2743200"/>
            <a:ext cx="1691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2340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8664" y="3401568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Ube • Uki • fázis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9216" y="2011680"/>
            <a:ext cx="196596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6376" y="21762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Aptos"/>
              </a:defRPr>
            </a:pPr>
            <a: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6376" y="2743200"/>
            <a:ext cx="1691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C2340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3401568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oszcilloszkóp • dokumentálás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MINI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Számíts, majd jósolj!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UCC = 12 V • RC = 2,2 kΩ • IC = 2 mA • Ube(ac) = 50 mV • |Au| = 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4612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2607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2926079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Mekkora a kollektor nyugalmi feszültsége?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828800"/>
            <a:ext cx="324612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1828800"/>
            <a:ext cx="64008" cy="2468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93392"/>
            <a:ext cx="292607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95728"/>
            <a:ext cx="2926079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Mekkora kimeneti amplitúdót vársz?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828800"/>
            <a:ext cx="324612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1828800"/>
            <a:ext cx="64008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993392"/>
            <a:ext cx="292607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395728"/>
            <a:ext cx="2926079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Mit fogsz látni a két jel fázisviszonyán?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2340"/>
                </a:solidFill>
                <a:latin typeface="Aptos"/>
              </a:defRPr>
            </a:pPr>
            <a:r>
              <a:t>A jó válasz nem csak szám: tartalmazza a mértékegységet és a szakmai indoklást 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C2340"/>
                </a:solidFill>
                <a:latin typeface="Aptos"/>
              </a:defRPr>
            </a:pPr>
            <a:r>
              <a:t>Négy dolog, amit vigyél magaddal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6060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64008" cy="24688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93392"/>
            <a:ext cx="2286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95728"/>
            <a:ext cx="2286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F6FEB"/>
                </a:solidFill>
                <a:latin typeface="Aptos"/>
              </a:defRPr>
            </a:pPr>
            <a:r>
              <a:t>ERŐSÍT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98648"/>
            <a:ext cx="2286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 CE kapcsolás feszültséget erősít.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828800"/>
            <a:ext cx="26060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828800"/>
            <a:ext cx="64008" cy="2468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93392"/>
            <a:ext cx="2286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95728"/>
            <a:ext cx="2286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6A34A"/>
                </a:solidFill>
                <a:latin typeface="Aptos"/>
              </a:defRPr>
            </a:pPr>
            <a:r>
              <a:t>MUNKAPONT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98648"/>
            <a:ext cx="2286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 munkapont dönti el, van-e torzításmentes tartomány.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828800"/>
            <a:ext cx="26060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828800"/>
            <a:ext cx="64008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993392"/>
            <a:ext cx="2286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395728"/>
            <a:ext cx="2286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Aptos"/>
              </a:defRPr>
            </a:pPr>
            <a:r>
              <a:t>180°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898648"/>
            <a:ext cx="2286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 kimenet 180°-kal fordított fázisú.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828800"/>
            <a:ext cx="26060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1828800"/>
            <a:ext cx="64008" cy="2468880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4" y="1993392"/>
            <a:ext cx="2286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2395728"/>
            <a:ext cx="2286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8BED2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2898648"/>
            <a:ext cx="2286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9222D"/>
                </a:solidFill>
                <a:latin typeface="Aptos"/>
              </a:defRPr>
            </a:pPr>
            <a:r>
              <a:t>A számítást mindig méréssel ellenőrizzük.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C2340"/>
                </a:solidFill>
                <a:latin typeface="Aptos"/>
              </a:defRPr>
            </a:pPr>
            <a:r>
              <a:t>Következő lépés: a tranzisztoros alapkapcsolások összehasonlítása és alkalmazása.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11. évfolyam • Analóg áramkörök • 12. hét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3796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