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74BEF1"/>
                </a:solidFill>
                <a:latin typeface="Aptos"/>
              </a:defRPr>
            </a:pPr>
            <a:r>
              <a:t>IAP • 26.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Szigetelési ellenállás</a:t>
            </a:r>
            <a:br/>
            <a:r>
              <a:t>mérése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8046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CDDCE9"/>
                </a:solidFill>
                <a:latin typeface="Aptos"/>
              </a:defRPr>
            </a:pPr>
            <a:r>
              <a:t>Villamos szerelések • 11. évfolyam • 76–78.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097280"/>
            <a:ext cx="2286000" cy="3474720"/>
          </a:xfrm>
          <a:prstGeom prst="roundRect">
            <a:avLst/>
          </a:prstGeom>
          <a:solidFill>
            <a:srgbClr val="F1F7FB"/>
          </a:solidFill>
          <a:ln>
            <a:solidFill>
              <a:srgbClr val="F1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41732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0C2A48"/>
                </a:solidFill>
                <a:latin typeface="Aptos"/>
              </a:defRPr>
            </a:pPr>
            <a:r>
              <a:t>MΩ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965960"/>
            <a:ext cx="1280160" cy="777240"/>
          </a:xfrm>
          <a:prstGeom prst="roundRect">
            <a:avLst/>
          </a:prstGeom>
          <a:solidFill>
            <a:srgbClr val="D7EBF8"/>
          </a:solidFill>
          <a:ln>
            <a:solidFill>
              <a:srgbClr val="B4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214884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800" b="1">
                <a:solidFill>
                  <a:srgbClr val="1267B1"/>
                </a:solidFill>
                <a:latin typeface="Aptos"/>
              </a:defRPr>
            </a:pPr>
            <a: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063240"/>
            <a:ext cx="1737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5B6C7C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474720"/>
            <a:ext cx="731520" cy="73152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71500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5EFF7"/>
                </a:solidFill>
                <a:latin typeface="Aptos"/>
              </a:defRPr>
            </a:pPr>
            <a:r>
              <a:t>A jó mérés nem a műszernél kezdődik, hanem a biztonságos előkészítésnél.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Mit vizsgálunk?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szigetelés feladata: a nem kívánt áramfolyás megakadályozása.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333756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29968"/>
            <a:ext cx="30175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FOGALOM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31720"/>
            <a:ext cx="3017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Riso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80360"/>
            <a:ext cx="301752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szigetelési ellenállás megmutatja, mennyire választja el egymástól a vezető részeket a szigetelőanyag.</a:t>
            </a:r>
            <a:br/>
            <a:br/>
            <a:r>
              <a:t>A gyakorlatban jellemzően MΩ-ban értelmezzük.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82296" cy="333756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029968"/>
            <a:ext cx="30175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331720"/>
            <a:ext cx="3017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Nem multiméter!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880360"/>
            <a:ext cx="301752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A szigetelésvizsgáló szabályozott egyen-mérőfeszültséget alkalmaz. Ez sokkal többet mond a szigetelés állapotáról, mint egy egyszerű Ω-mérés.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82296" cy="333756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029968"/>
            <a:ext cx="30175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331720"/>
            <a:ext cx="3017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Hibák felismerése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880360"/>
            <a:ext cx="301752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Sérült kábel, nedvesség, szennyeződés, becsípett vezeték vagy hibás fogyasztó szivárgási útját keressük.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A mérés elve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műszer feszültséget kapcsol a vizsgált szigetelésre, és a kis szivárgóáramból számol.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1371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1267B1"/>
                </a:solidFill>
                <a:latin typeface="Aptos"/>
              </a:defRPr>
            </a:pPr>
            <a:r>
              <a:t>Mérőfeszültség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423160"/>
            <a:ext cx="914400" cy="914400"/>
          </a:xfrm>
          <a:prstGeom prst="roundRect">
            <a:avLst/>
          </a:prstGeom>
          <a:solidFill>
            <a:srgbClr val="E0F0FC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7919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C2A48"/>
                </a:solidFill>
                <a:latin typeface="Aptos"/>
              </a:defRPr>
            </a:pPr>
            <a:r>
              <a:t>Utest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880360"/>
            <a:ext cx="1691640" cy="0"/>
          </a:xfrm>
          <a:prstGeom prst="line">
            <a:avLst/>
          </a:prstGeom>
          <a:ln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2240280"/>
            <a:ext cx="21031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514600"/>
            <a:ext cx="1645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C2A48"/>
                </a:solidFill>
                <a:latin typeface="Aptos"/>
              </a:defRPr>
            </a:pPr>
            <a:r>
              <a:t>SZIGETELÉS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2880360"/>
            <a:ext cx="1645920" cy="0"/>
          </a:xfrm>
          <a:prstGeom prst="line">
            <a:avLst/>
          </a:prstGeom>
          <a:ln>
            <a:solidFill>
              <a:srgbClr val="12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2423160"/>
            <a:ext cx="914400" cy="914400"/>
          </a:xfrm>
          <a:prstGeom prst="roundRect">
            <a:avLst/>
          </a:prstGeom>
          <a:solidFill>
            <a:srgbClr val="E0F0FC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67919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C2A48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423160"/>
            <a:ext cx="23774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C2A48"/>
                </a:solidFill>
                <a:latin typeface="Aptos"/>
              </a:defRPr>
            </a:pPr>
            <a:r>
              <a:t>Riso = U / 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2412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202B37"/>
                </a:solidFill>
                <a:latin typeface="Aptos"/>
              </a:defRPr>
            </a:pPr>
            <a:r>
              <a:t>Nagy Riso → kis szivárgóáram.  Szokatlanul kis Riso → a szigetelés vagy a kapcsolt berendezés vizsgálata szükséges.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A biztonságos mérés sorrendje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szigetelésvizsgálat feszültségmentes áramkörön történik.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7128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96896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31336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61104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4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Visszakapcsolás</a:t>
            </a:r>
            <a:br/>
            <a:r>
              <a:t>gátlása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5544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25312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5896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5272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Feszültségmentesség</a:t>
            </a:r>
            <a:br/>
            <a:r>
              <a:t>ellenőrzése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9752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9520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0104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Érzékeny eszközök</a:t>
            </a:r>
            <a:br/>
            <a:r>
              <a:t>kezelése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7072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53728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54312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560320"/>
            <a:ext cx="320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1267B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88168" y="214884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917936" y="1874519"/>
            <a:ext cx="548640" cy="548640"/>
          </a:xfrm>
          <a:prstGeom prst="round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18520" y="1975104"/>
            <a:ext cx="347472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97896" y="2468880"/>
            <a:ext cx="11887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0C2A48"/>
                </a:solidFill>
                <a:latin typeface="Aptos"/>
              </a:defRPr>
            </a:pPr>
            <a:r>
              <a:t>Kisütés és</a:t>
            </a:r>
            <a:br/>
            <a:r>
              <a:t>visszaállítás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251960"/>
            <a:ext cx="10698480" cy="960120"/>
          </a:xfrm>
          <a:prstGeom prst="roundRect">
            <a:avLst/>
          </a:prstGeom>
          <a:solidFill>
            <a:srgbClr val="FFF4E1"/>
          </a:solidFill>
          <a:ln>
            <a:solidFill>
              <a:srgbClr val="F4C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498848"/>
            <a:ext cx="10241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784A14"/>
                </a:solidFill>
                <a:latin typeface="Aptos"/>
              </a:defRPr>
            </a:pPr>
            <a:r>
              <a:t>⚠ A mérőfeszültség károsíthat érzékeny elektronikát. A vizsgált berendezést és a gyártói előírásokat mindig figyelembe kell venni.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Hol mérünk?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mérési pontokat a hálózat kialakítása és a vizsgálati eljárás határozza meg.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67B1"/>
                </a:solidFill>
                <a:latin typeface="Aptos"/>
              </a:defRPr>
            </a:pPr>
            <a:r>
              <a:t>L –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C2A48"/>
                </a:solidFill>
                <a:latin typeface="Aptos"/>
              </a:defRPr>
            </a:pPr>
            <a:r>
              <a:t>vezetők között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01168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02B37"/>
                </a:solidFill>
                <a:latin typeface="Aptos"/>
              </a:defRPr>
            </a:pPr>
            <a:r>
              <a:t>szigetelési hiba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180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5468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67B1"/>
                </a:solidFill>
                <a:latin typeface="Aptos"/>
              </a:defRPr>
            </a:pPr>
            <a:r>
              <a:t>L – 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5468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C2A48"/>
                </a:solidFill>
                <a:latin typeface="Aptos"/>
              </a:defRPr>
            </a:pPr>
            <a:r>
              <a:t>aktív vezető és védővezető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15468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02B37"/>
                </a:solidFill>
                <a:latin typeface="Aptos"/>
              </a:defRPr>
            </a:pPr>
            <a:r>
              <a:t>test felé kialakuló szivárgási út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1480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463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267B1"/>
                </a:solidFill>
                <a:latin typeface="Aptos"/>
              </a:defRPr>
            </a:pPr>
            <a:r>
              <a:t>L1 – 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97680"/>
            <a:ext cx="3017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C2A48"/>
                </a:solidFill>
                <a:latin typeface="Aptos"/>
              </a:defRPr>
            </a:pPr>
            <a:r>
              <a:t>fázisvezetők között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29768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02B37"/>
                </a:solidFill>
                <a:latin typeface="Aptos"/>
              </a:defRPr>
            </a:pPr>
            <a:r>
              <a:t>vezetők közötti sérülés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Egy szám önmagában kevés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mérési eredmény csak a mérési körülményekkel együtt értelmezhető.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329184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JEGYEZD FEL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Mérési pont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80360"/>
            <a:ext cx="292608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Pontosan mely vezetők vagy részek között történt a mérés?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82296" cy="329184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JEGYEZD FEL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Beállítás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80360"/>
            <a:ext cx="292608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Milyen mérőfeszültséget és milyen műszert használtál?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2880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28800"/>
            <a:ext cx="82296" cy="329184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ÉRTÉKELD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Körülmények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880360"/>
            <a:ext cx="292608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Mi volt leválasztva? Van-e elektronika, nedvesség vagy más környezeti hatás?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Hibakeresés szakaszolással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 teljes kör rossz értéke még nem mondja meg, hol van a hiba.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600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Teljes áramkör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2606040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1" y="2542032"/>
            <a:ext cx="1600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Leágazások bontása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2606040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2542032"/>
            <a:ext cx="1600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Egyenkénti mérés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2606040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BE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6" y="2542032"/>
            <a:ext cx="1600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Hibás szakasz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606040"/>
            <a:ext cx="365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5B6C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224028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48088" y="2542032"/>
            <a:ext cx="1600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0C2A48"/>
                </a:solidFill>
                <a:latin typeface="Aptos"/>
              </a:defRPr>
            </a:pPr>
            <a:r>
              <a:t>Javítás + kontrollmérés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102412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202B37"/>
                </a:solidFill>
                <a:latin typeface="Aptos"/>
              </a:defRPr>
            </a:pPr>
            <a:r>
              <a:t>Gyakori okok: mechanikusan sérült kábel • beázott kötődoboz • szennyezett kapocstér • becsípett vezeték • hibásan bent maradt fogyasztó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Műhelygyakorlat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Cél: szabályos mérés + dokumentálás + hibás leágazás felismerése.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82296" cy="3383280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267B1"/>
                </a:solidFill>
                <a:latin typeface="Aptos"/>
              </a:defRPr>
            </a:pPr>
            <a:r>
              <a:t>1. ÁLLOMÁS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Előkészítés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Áramkör azonosítása</a:t>
            </a:r>
            <a:br/>
            <a:r>
              <a:t>Feszültségmentesítés</a:t>
            </a:r>
            <a:br/>
            <a:r>
              <a:t>Feszültségmentesség ellenőrzése</a:t>
            </a:r>
            <a:br/>
            <a:r>
              <a:t>Mérési pontok kijelölése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82296" cy="3383280"/>
          </a:xfrm>
          <a:prstGeom prst="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E08427"/>
                </a:solidFill>
                <a:latin typeface="Aptos"/>
              </a:defRPr>
            </a:pPr>
            <a:r>
              <a:t>2. ÁLLOMÁS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Műszer ellenőrzése</a:t>
            </a:r>
            <a:br/>
            <a:r>
              <a:t>Csatlakoztatás tanári jóváhagyással</a:t>
            </a:r>
            <a:br/>
            <a:r>
              <a:t>Mérési eredmények rögzítése</a:t>
            </a:r>
            <a:br/>
            <a:r>
              <a:t>Kisütés megvárása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82880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828800"/>
            <a:ext cx="82296" cy="3383280"/>
          </a:xfrm>
          <a:prstGeom prst="rect">
            <a:avLst/>
          </a:prstGeom>
          <a:solidFill>
            <a:srgbClr val="1F7A5B"/>
          </a:solidFill>
          <a:ln>
            <a:solidFill>
              <a:srgbClr val="1F7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029968"/>
            <a:ext cx="29260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1F7A5B"/>
                </a:solidFill>
                <a:latin typeface="Aptos"/>
              </a:defRPr>
            </a:pPr>
            <a:r>
              <a:t>3. ÁLLOMÁS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31720"/>
            <a:ext cx="29260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880360"/>
            <a:ext cx="292608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202B37"/>
                </a:solidFill>
                <a:latin typeface="Aptos"/>
              </a:defRPr>
            </a:pPr>
            <a:r>
              <a:t>Szimulált hibás kör</a:t>
            </a:r>
            <a:br/>
            <a:r>
              <a:t>Szakaszolás</a:t>
            </a:r>
            <a:br/>
            <a:r>
              <a:t>Hibás rész azonosítása</a:t>
            </a:r>
            <a:br/>
            <a:r>
              <a:t>Kontrollmérés és indoklás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Tipikus hibák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Ezeket a műhelyben tudatosan kerüljük.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0515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965960"/>
            <a:ext cx="438912" cy="438912"/>
          </a:xfrm>
          <a:prstGeom prst="roundRect">
            <a:avLst/>
          </a:prstGeom>
          <a:solidFill>
            <a:srgbClr val="BE3A34"/>
          </a:solidFill>
          <a:ln>
            <a:solidFill>
              <a:srgbClr val="BE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048255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56816"/>
            <a:ext cx="5212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0C2A48"/>
                </a:solidFill>
                <a:latin typeface="Aptos"/>
              </a:defRPr>
            </a:pPr>
            <a:r>
              <a:t>Feszültség alatt mér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56816"/>
            <a:ext cx="3474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200" b="1">
                <a:solidFill>
                  <a:srgbClr val="BE3A34"/>
                </a:solidFill>
                <a:latin typeface="Aptos"/>
              </a:defRPr>
            </a:pPr>
            <a:r>
              <a:t>VESZÉLYES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10515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2971800"/>
            <a:ext cx="438912" cy="438912"/>
          </a:xfrm>
          <a:prstGeom prst="round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054096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962656"/>
            <a:ext cx="5212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0C2A48"/>
                </a:solidFill>
                <a:latin typeface="Aptos"/>
              </a:defRPr>
            </a:pPr>
            <a:r>
              <a:t>Bent hagyja az elektronikát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962656"/>
            <a:ext cx="3474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200" b="1">
                <a:solidFill>
                  <a:srgbClr val="E08427"/>
                </a:solidFill>
                <a:latin typeface="Aptos"/>
              </a:defRPr>
            </a:pPr>
            <a:r>
              <a:t>KÁROSODHAT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94760"/>
            <a:ext cx="10515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977640"/>
            <a:ext cx="438912" cy="438912"/>
          </a:xfrm>
          <a:prstGeom prst="roundRect">
            <a:avLst/>
          </a:prstGeom>
          <a:solidFill>
            <a:srgbClr val="E08427"/>
          </a:solidFill>
          <a:ln>
            <a:solidFill>
              <a:srgbClr val="E08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4059936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968496"/>
            <a:ext cx="5212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0C2A48"/>
                </a:solidFill>
                <a:latin typeface="Aptos"/>
              </a:defRPr>
            </a:pPr>
            <a:r>
              <a:t>Nem dokumentálja a mérési pontot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968496"/>
            <a:ext cx="3474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200" b="1">
                <a:solidFill>
                  <a:srgbClr val="E08427"/>
                </a:solidFill>
                <a:latin typeface="Aptos"/>
              </a:defRPr>
            </a:pPr>
            <a:r>
              <a:t>NEM VISSZAKERESHETŐ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00600"/>
            <a:ext cx="10515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983480"/>
            <a:ext cx="438912" cy="438912"/>
          </a:xfrm>
          <a:prstGeom prst="roundRect">
            <a:avLst/>
          </a:prstGeom>
          <a:solidFill>
            <a:srgbClr val="BE3A34"/>
          </a:solidFill>
          <a:ln>
            <a:solidFill>
              <a:srgbClr val="BE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5065776"/>
            <a:ext cx="18288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974336"/>
            <a:ext cx="5212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0C2A48"/>
                </a:solidFill>
                <a:latin typeface="Aptos"/>
              </a:defRPr>
            </a:pPr>
            <a:r>
              <a:t>Csak az értéket nézi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74336"/>
            <a:ext cx="3474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200" b="1">
                <a:solidFill>
                  <a:srgbClr val="BE3A34"/>
                </a:solidFill>
                <a:latin typeface="Aptos"/>
              </a:defRPr>
            </a:pPr>
            <a:r>
              <a:t>HIBÁS KÖVETKEZTETÉS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Indítható a mérés?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Az áramkörben egy elektronikus tápegység továbbra is csatlakoztatva van.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0C2A48"/>
                </a:solidFill>
                <a:latin typeface="Aptos"/>
              </a:defRPr>
            </a:pPr>
            <a:r>
              <a:t>A tanuló már feszültségmentesített. A szigetelésvizsgálót ráköti és megnyomná a TEST gombot.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657600"/>
            <a:ext cx="3474720" cy="1143000"/>
          </a:xfrm>
          <a:prstGeom prst="roundRect">
            <a:avLst/>
          </a:prstGeom>
          <a:solidFill>
            <a:srgbClr val="EEF8F3"/>
          </a:solidFill>
          <a:ln>
            <a:solidFill>
              <a:srgbClr val="B0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3977639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1F7A5B"/>
                </a:solidFill>
                <a:latin typeface="Aptos"/>
              </a:defRPr>
            </a:pPr>
            <a:r>
              <a:t>IGEN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657600"/>
            <a:ext cx="3474720" cy="1143000"/>
          </a:xfrm>
          <a:prstGeom prst="roundRect">
            <a:avLst/>
          </a:prstGeom>
          <a:solidFill>
            <a:srgbClr val="FDEEED"/>
          </a:solidFill>
          <a:ln>
            <a:solidFill>
              <a:srgbClr val="E7B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977639"/>
            <a:ext cx="31089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BE3A34"/>
                </a:solidFill>
                <a:latin typeface="Aptos"/>
              </a:defRPr>
            </a:pPr>
            <a:r>
              <a:t>NEM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101498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202B37"/>
                </a:solidFill>
                <a:latin typeface="Aptos"/>
              </a:defRPr>
            </a:pPr>
            <a:r>
              <a:t>Helyes válasz: NEM – előbb ellenőrizni kell, hogy a mérőfeszültségre érzékeny készülékeket megfelelően leválasztottuk-e.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67B1"/>
          </a:solidFill>
          <a:ln>
            <a:solidFill>
              <a:srgbClr val="12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1267B1"/>
                </a:solidFill>
                <a:latin typeface="Aptos"/>
              </a:defRPr>
            </a:pPr>
            <a:r>
              <a:t>MÉRÉS ÉS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256032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1000" b="1">
                <a:solidFill>
                  <a:srgbClr val="5B6C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C7C"/>
                </a:solidFill>
                <a:latin typeface="Aptos"/>
              </a:defRPr>
            </a:pPr>
            <a:r>
              <a:t>IAP • Integrált Automatika Program • Villamos szerelések • 11. évfolyam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700" b="1">
                <a:solidFill>
                  <a:srgbClr val="0C2A48"/>
                </a:solidFill>
                <a:latin typeface="Aptos"/>
              </a:defRPr>
            </a:pPr>
            <a:r>
              <a:t>A 26. hét lényege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25296"/>
            <a:ext cx="1060704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5B6C7C"/>
                </a:solidFill>
                <a:latin typeface="Aptos"/>
              </a:defRPr>
            </a:pPr>
            <a:r>
              <a:t>Öt gondolat, amit a műhelyben is alkalmazni kell.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9164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Feszültségmentes állapot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13055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1460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Érzékeny eszközök védelme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295351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3756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Tudatos mérési pontválasztás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77647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6052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Eredmény + körülmények dokumentálása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4599431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594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267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983480"/>
            <a:ext cx="9326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0C2A48"/>
                </a:solidFill>
                <a:latin typeface="Aptos"/>
              </a:defRPr>
            </a:pPr>
            <a:r>
              <a:t>Hibakeresés szakaszolással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5422392"/>
            <a:ext cx="9144000" cy="13716"/>
          </a:xfrm>
          <a:prstGeom prst="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502920"/>
          </a:xfrm>
          <a:prstGeom prst="roundRect">
            <a:avLst/>
          </a:prstGeom>
          <a:solidFill>
            <a:srgbClr val="E0F0FC"/>
          </a:solidFill>
          <a:ln>
            <a:solidFill>
              <a:srgbClr val="E0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925312"/>
            <a:ext cx="10058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0C2A48"/>
                </a:solidFill>
                <a:latin typeface="Aptos"/>
              </a:defRPr>
            </a:pPr>
            <a:r>
              <a:t>Következő hét: hurokimpedancia és a védelem ellenőrzése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