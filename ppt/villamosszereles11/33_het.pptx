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33. hét – Komplex lakásvillamossági feladat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94–96. óra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3B5D"/>
                </a:solidFill>
                <a:latin typeface="Liberation Sans"/>
              </a:defRPr>
            </a:pPr>
            <a:r>
              <a:t>TERVEZZ  →  SZERELJ  →  ELLENŐRIZZ  →  DOKUMENTÁLJ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8620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123B5D"/>
                </a:solidFill>
                <a:latin typeface="Liberation Sans"/>
              </a:defRPr>
            </a:pPr>
            <a:r>
              <a:t>Az eddigi tudás most egyetlen működő és biztonságos rendszerben találkozik.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Miért „komplex” a feladat?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1460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56816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Rajz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59152"/>
            <a:ext cx="2185416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A kapcsolási logikát előbb meg kell érteni.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1460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956816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Szerelés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359152"/>
            <a:ext cx="2185416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A kötés legyen helyes, stabil és rendezett.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1460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956816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Védelem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359152"/>
            <a:ext cx="2185416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A működés mellett a biztonságot is igazolni kell.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51460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1956816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Dokumentáció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2359152"/>
            <a:ext cx="2185416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A munka legyen később is követhető.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A mintafeladat három funkciója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383280" cy="24231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0253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1. Világítás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04872"/>
            <a:ext cx="3054096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Egypólusú kapcsolás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74519"/>
            <a:ext cx="3383280" cy="24231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00253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2. Világítás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404872"/>
            <a:ext cx="3054096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Váltókapcsolás két helyről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74519"/>
            <a:ext cx="3383280" cy="24231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00253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3. Dugalj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404872"/>
            <a:ext cx="3054096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Védőérintkezős csatlakozási pont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Közös alap: betáplálás • túláramvédelem • L / N / PE • kötési pontok • jelölések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A szakmai munkasorrend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965960" cy="10515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819656"/>
            <a:ext cx="1636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21992"/>
            <a:ext cx="163677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Feladat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691640"/>
            <a:ext cx="1965960" cy="10515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819656"/>
            <a:ext cx="1636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221992"/>
            <a:ext cx="163677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Rajz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691640"/>
            <a:ext cx="1965960" cy="10515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9512" y="1819656"/>
            <a:ext cx="1636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221992"/>
            <a:ext cx="163677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Anyaglista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691640"/>
            <a:ext cx="1965960" cy="10515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1819656"/>
            <a:ext cx="1636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221992"/>
            <a:ext cx="163677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Munkaterv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1691640"/>
            <a:ext cx="1965960" cy="10515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1512" y="1819656"/>
            <a:ext cx="1636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1512" y="2221992"/>
            <a:ext cx="163677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Szerelés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00400"/>
            <a:ext cx="1965960" cy="10515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328416"/>
            <a:ext cx="1636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3730752"/>
            <a:ext cx="163677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Ellenőrzés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200400"/>
            <a:ext cx="1965960" cy="10515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3512" y="3328416"/>
            <a:ext cx="1636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3512" y="3730752"/>
            <a:ext cx="163677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Mérés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3200400"/>
            <a:ext cx="1965960" cy="10515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9512" y="3328416"/>
            <a:ext cx="1636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9512" y="3730752"/>
            <a:ext cx="163677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Próba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200400"/>
            <a:ext cx="1965960" cy="10515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5512" y="3328416"/>
            <a:ext cx="1636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2" y="3730752"/>
            <a:ext cx="163677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Dokumentáció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Mitől jó a szerelés?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166360" cy="17373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773936"/>
            <a:ext cx="4837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Villamosan helyes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76272"/>
            <a:ext cx="483717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A vezetők a rajz szerinti kapcsokra kerülnek.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17373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773936"/>
            <a:ext cx="4837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Mechanikailag stabil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76272"/>
            <a:ext cx="483717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Nincs laza kötés vagy feszített vezeték.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5166360" cy="17373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922776"/>
            <a:ext cx="4837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Áttekinthető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325112"/>
            <a:ext cx="483717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Rendezett vezetés és egyértelmű jelölések.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94760"/>
            <a:ext cx="5166360" cy="17373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922776"/>
            <a:ext cx="4837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Javítható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325112"/>
            <a:ext cx="483717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A későbbi mérés és hibakeresés könnyen elvégezhető.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Ellenőrzés: mindig a biztonság felől indulunk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468880" cy="27432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5681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1. Szemrevételezés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2139696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Készülékek, kötések, vezetékvezetés, 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828800"/>
            <a:ext cx="2468880" cy="27432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66744" y="195681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2. Folytonosság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2359152"/>
            <a:ext cx="2139696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PE és szükséges vezetőkapcsolatok.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1828800"/>
            <a:ext cx="2468880" cy="27432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95681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3. Bekötés / polaritás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359152"/>
            <a:ext cx="2139696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Rajz és tényleges kötés összevetése.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1828800"/>
            <a:ext cx="2468880" cy="27432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9448" y="195681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4. Működéspróba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2359152"/>
            <a:ext cx="2139696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Csak az előző ellenőrzések után, tanári engedéllyel.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Ha nem működik: ne találgass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23B5D"/>
                </a:solidFill>
                <a:latin typeface="Liberation Sans"/>
              </a:defRPr>
            </a:pPr>
            <a:r>
              <a:t>TÜNET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057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3B5D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057400"/>
            <a:ext cx="1508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3B5D"/>
                </a:solidFill>
                <a:latin typeface="Liberation Sans"/>
              </a:defRPr>
            </a:pPr>
            <a:r>
              <a:t>RAJZ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057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3B5D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057400"/>
            <a:ext cx="1508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3B5D"/>
                </a:solidFill>
                <a:latin typeface="Liberation Sans"/>
              </a:defRPr>
            </a:pPr>
            <a:r>
              <a:t>MÉRÉSI PONT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79" y="2057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3B5D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057400"/>
            <a:ext cx="1508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3B5D"/>
                </a:solidFill>
                <a:latin typeface="Liberation Sans"/>
              </a:defRPr>
            </a:pPr>
            <a:r>
              <a:t>BEHATÁROLÁS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57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3B5D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057400"/>
            <a:ext cx="1508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3B5D"/>
                </a:solidFill>
                <a:latin typeface="Liberation Sans"/>
              </a:defRPr>
            </a:pPr>
            <a:r>
              <a:t>JAVÍTÁS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19" y="2057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3B5D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2057400"/>
            <a:ext cx="1508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3B5D"/>
                </a:solidFill>
                <a:latin typeface="Liberation Sans"/>
              </a:defRPr>
            </a:pPr>
            <a:r>
              <a:t>ÚJRAELLENŐRZÉS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6908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123B5D"/>
                </a:solidFill>
                <a:latin typeface="Liberation Sans"/>
              </a:defRPr>
            </a:pPr>
            <a:r>
              <a:t>A 31. hét hibakeresési módszere most a komplex szerelés része.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Műhelyfeladat – három ellenőrzési kapu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3756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56816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A. Szerelés kész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59152"/>
            <a:ext cx="3008376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Rajz, jelölések, kötési minőség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828800"/>
            <a:ext cx="333756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1" y="1956816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B. Feszültségmentes ellenőrzés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1" y="2359152"/>
            <a:ext cx="3008376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Szemrevételezés és folytonosság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1828800"/>
            <a:ext cx="333756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1" y="1956816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C. Tanári engedély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1" y="2359152"/>
            <a:ext cx="3008376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Működéspróba és dokumentálás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IAP heti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23B5D"/>
                </a:solidFill>
                <a:latin typeface="Liberation Sans"/>
              </a:defRPr>
            </a:pPr>
            <a:r>
              <a:t>A világítás működik, de a dugalj PE folytonossága nem igazolható.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063240"/>
            <a:ext cx="7040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23B5D"/>
                </a:solidFill>
                <a:latin typeface="Liberation Sans"/>
              </a:defRPr>
            </a:pPr>
            <a:r>
              <a:t>Átadható a feladat?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977639"/>
            <a:ext cx="2560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3B5D"/>
                </a:solidFill>
                <a:latin typeface="Liberation Sans"/>
              </a:defRPr>
            </a:pPr>
            <a:r>
              <a:t>NEM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89204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23B5D"/>
                </a:solidFill>
                <a:latin typeface="Liberation Sans"/>
              </a:defRPr>
            </a:pPr>
            <a:r>
              <a:t>A működés nem helyettesíti a védelmi ellenőrzést.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23B5D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Összefoglalás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468880" cy="23774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86537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Tervezés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67712"/>
            <a:ext cx="2139696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A jó szerelés a rajznál kezdődik.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37360"/>
            <a:ext cx="2468880" cy="23774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86537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Minőség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2267712"/>
            <a:ext cx="2139696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Helyes + stabil + rendezett.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37360"/>
            <a:ext cx="2468880" cy="23774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6537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Ellenőrzés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267712"/>
            <a:ext cx="2139696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Működés és biztonság együtt.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89136" y="1737360"/>
            <a:ext cx="2468880" cy="23774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86537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5D"/>
                </a:solidFill>
                <a:latin typeface="Liberation Sans"/>
              </a:defRPr>
            </a:pPr>
            <a:r>
              <a:t>Dokumentáció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267712"/>
            <a:ext cx="2139696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23B5D"/>
                </a:solidFill>
                <a:latin typeface="Liberation Sans"/>
              </a:defRPr>
            </a:pPr>
            <a:r>
              <a:t>A munka eredménye legyen bizonyítható.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9204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3B5D"/>
                </a:solidFill>
                <a:latin typeface="Liberation Sans"/>
              </a:defRPr>
            </a:pPr>
            <a:r>
              <a:t>Következő hét: 34. hét – Komplex ipari szerelési feladat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