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40080"/>
            <a:ext cx="1188720" cy="109728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99D2EF"/>
                </a:solidFill>
                <a:latin typeface="Aptos"/>
              </a:defRPr>
            </a:pPr>
            <a:r>
              <a:t>IAP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7040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Váltókapcsolás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6675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D5E8F4"/>
                </a:solidFill>
                <a:latin typeface="Aptos"/>
              </a:defRPr>
            </a:pPr>
            <a:r>
              <a:t>Egy világítótest vezérlése két különböző helyről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2834640" cy="4297680"/>
          </a:xfrm>
          <a:prstGeom prst="roundRect">
            <a:avLst/>
          </a:prstGeom>
          <a:solidFill>
            <a:srgbClr val="13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23960" y="19659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95560" y="1463039"/>
            <a:ext cx="365760" cy="365760"/>
          </a:xfrm>
          <a:prstGeom prst="ellipse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2606039"/>
            <a:ext cx="365760" cy="365760"/>
          </a:xfrm>
          <a:prstGeom prst="ellipse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9281160" y="1783080"/>
            <a:ext cx="960120" cy="42976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823960" y="43434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95560" y="3840480"/>
            <a:ext cx="365760" cy="365760"/>
          </a:xfrm>
          <a:prstGeom prst="ellipse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95560" y="4983480"/>
            <a:ext cx="365760" cy="365760"/>
          </a:xfrm>
          <a:prstGeom prst="ellipse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9281160" y="4160520"/>
            <a:ext cx="960120" cy="42976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2440" y="571500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CDEF0"/>
                </a:solidFill>
                <a:latin typeface="Aptos"/>
              </a:defRPr>
            </a:pPr>
            <a:r>
              <a:t>Két kapcsoló • két váltószál • egy fogyasztó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TÖRTÉNELMI NYITÓ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Miért született meg a váltókapcsolás?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657600" cy="425196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3017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0D2F52"/>
                </a:solidFill>
                <a:latin typeface="Aptos"/>
              </a:defRPr>
            </a:pPr>
            <a:r>
              <a:t>A villamos világítás elterjedésével gyorsan kiderült: nem elég egyetlen helyről kapcsolni a fényt.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976D2"/>
                </a:solidFill>
                <a:latin typeface="Aptos"/>
              </a:defRPr>
            </a:pPr>
            <a:r>
              <a:t>Folyosó • lépcső • két bejáratú helyiség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3017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1E2730"/>
                </a:solidFill>
                <a:latin typeface="Aptos"/>
              </a:defRPr>
            </a:pPr>
            <a:r>
              <a:t>A megoldás: két helyről vezérelhető világítás.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1691640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6916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673352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1E2730"/>
                </a:solidFill>
                <a:latin typeface="Aptos"/>
              </a:defRPr>
            </a:pPr>
            <a:r>
              <a:t>Belépsz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679192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6791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660904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Felkapcsolod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666744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66674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648456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1E2730"/>
                </a:solidFill>
                <a:latin typeface="Aptos"/>
              </a:defRPr>
            </a:pPr>
            <a:r>
              <a:t>Átmész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4654296"/>
            <a:ext cx="566928" cy="56692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465429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636008"/>
            <a:ext cx="5029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A másik helyen lekapcsolod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TANULÁSI CÉLOK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Mit kell tudnod a hét végére?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29000" cy="16002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Felismerni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3288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6C7A"/>
                </a:solidFill>
                <a:latin typeface="Aptos"/>
              </a:defRPr>
            </a:pPr>
            <a:r>
              <a:t>a váltókapcsoló kapcsait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16002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647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2140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Értelmezni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6C7A"/>
                </a:solidFill>
                <a:latin typeface="Aptos"/>
              </a:defRPr>
            </a:pPr>
            <a:r>
              <a:t>a kapcsolási elvet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3429000" cy="16002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7647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12140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Bekötni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3288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6C7A"/>
                </a:solidFill>
                <a:latin typeface="Aptos"/>
              </a:defRPr>
            </a:pPr>
            <a:r>
              <a:t>a két kapcsolós áramkört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66160"/>
            <a:ext cx="3429000" cy="16002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73075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08736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Ellenőrizni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49884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6C7A"/>
                </a:solidFill>
                <a:latin typeface="Aptos"/>
              </a:defRPr>
            </a:pPr>
            <a:r>
              <a:t>a működést és a PE-t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6002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73075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08736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F52"/>
                </a:solidFill>
                <a:latin typeface="Aptos"/>
              </a:defRPr>
            </a:pPr>
            <a:r>
              <a:t>Hibát keresni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49884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6C7A"/>
                </a:solidFill>
                <a:latin typeface="Aptos"/>
              </a:defRPr>
            </a:pPr>
            <a:r>
              <a:t>mérés alapján, nem találgatva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A váltókapcsoló felépítése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663440" cy="416052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3291840"/>
            <a:ext cx="530352" cy="530352"/>
          </a:xfrm>
          <a:prstGeom prst="ellipse">
            <a:avLst/>
          </a:prstGeom>
          <a:solidFill>
            <a:srgbClr val="0D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4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2331720"/>
            <a:ext cx="438912" cy="43891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4251960"/>
            <a:ext cx="438912" cy="43891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519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55648" y="2560320"/>
            <a:ext cx="2587752" cy="996696"/>
          </a:xfrm>
          <a:prstGeom prst="line">
            <a:avLst/>
          </a:prstGeom>
          <a:ln w="63500">
            <a:solidFill>
              <a:srgbClr val="E7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6052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D2F52"/>
                </a:solidFill>
                <a:latin typeface="Aptos"/>
              </a:defRPr>
            </a:pPr>
            <a:r>
              <a:t>közös kapocs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9204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76D2"/>
                </a:solidFill>
                <a:latin typeface="Aptos"/>
              </a:defRPr>
            </a:pPr>
            <a:r>
              <a:t>váltókapcsok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1 közös kapocs (C / L)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2 váltókapocs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A közös pont mindig az egyik váltóérintkezőhöz kapcsolódik.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A kapcsoló nem egyszerűen megszakít: átvált.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A kapcsolás működési elve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546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BE3A3A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240280"/>
            <a:ext cx="1828800" cy="19659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2880360"/>
            <a:ext cx="310896" cy="310896"/>
          </a:xfrm>
          <a:prstGeom prst="ellipse">
            <a:avLst/>
          </a:prstGeom>
          <a:solidFill>
            <a:srgbClr val="0D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60320" y="2542032"/>
            <a:ext cx="256032" cy="25603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3429000"/>
            <a:ext cx="256032" cy="25603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856231" y="2679192"/>
            <a:ext cx="731521" cy="356616"/>
          </a:xfrm>
          <a:prstGeom prst="line">
            <a:avLst/>
          </a:prstGeom>
          <a:ln w="38100">
            <a:solidFill>
              <a:srgbClr val="E7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2240280"/>
            <a:ext cx="1828800" cy="19659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2880360"/>
            <a:ext cx="310896" cy="310896"/>
          </a:xfrm>
          <a:prstGeom prst="ellipse">
            <a:avLst/>
          </a:prstGeom>
          <a:solidFill>
            <a:srgbClr val="0D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2542032"/>
            <a:ext cx="256032" cy="25603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3429000"/>
            <a:ext cx="256032" cy="25603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6245352" y="2679192"/>
            <a:ext cx="731520" cy="356616"/>
          </a:xfrm>
          <a:prstGeom prst="line">
            <a:avLst/>
          </a:prstGeom>
          <a:ln w="38100">
            <a:solidFill>
              <a:srgbClr val="E7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20240" y="43159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D2F52"/>
                </a:solidFill>
                <a:latin typeface="Aptos"/>
              </a:defRPr>
            </a:pPr>
            <a:r>
              <a:t>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159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D2F52"/>
                </a:solidFill>
                <a:latin typeface="Aptos"/>
              </a:defRPr>
            </a:pPr>
            <a:r>
              <a:t>V2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16352" y="2679192"/>
            <a:ext cx="4151376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6352" y="3566160"/>
            <a:ext cx="4151376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0120" y="3035808"/>
            <a:ext cx="594360" cy="301752"/>
          </a:xfrm>
          <a:prstGeom prst="line">
            <a:avLst/>
          </a:prstGeom>
          <a:ln w="38100">
            <a:solidFill>
              <a:srgbClr val="BE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458200" y="2487168"/>
            <a:ext cx="1234440" cy="1234440"/>
          </a:xfrm>
          <a:prstGeom prst="ellipse">
            <a:avLst/>
          </a:prstGeom>
          <a:solidFill>
            <a:srgbClr val="FFF6C6"/>
          </a:solidFill>
          <a:ln>
            <a:solidFill>
              <a:srgbClr val="E79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487168"/>
            <a:ext cx="1234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0">
                <a:solidFill>
                  <a:srgbClr val="1E2730"/>
                </a:solidFill>
                <a:latin typeface="Aptos"/>
              </a:defRPr>
            </a:pPr>
            <a:r>
              <a:t>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8040" y="3035808"/>
            <a:ext cx="1280160" cy="73152"/>
          </a:xfrm>
          <a:prstGeom prst="line">
            <a:avLst/>
          </a:prstGeom>
          <a:ln w="38100">
            <a:solidFill>
              <a:srgbClr val="BE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95560" y="315468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92640" y="3108960"/>
            <a:ext cx="502920" cy="22860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91840" y="516636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D2F52"/>
                </a:solidFill>
                <a:latin typeface="Aptos"/>
              </a:defRPr>
            </a:pPr>
            <a:r>
              <a:t>Két váltószál köti össze a két kapcsolót.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Vezetők szerepe – ezt nem szabad összekeverni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487168" cy="35204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9888" y="2057400"/>
            <a:ext cx="987552" cy="987552"/>
          </a:xfrm>
          <a:prstGeom prst="ellipse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057400"/>
            <a:ext cx="987552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10128"/>
            <a:ext cx="208483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D2F52"/>
                </a:solidFill>
                <a:latin typeface="Aptos"/>
              </a:defRPr>
            </a:pPr>
            <a:r>
              <a:t>Fázisvezető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0208"/>
            <a:ext cx="19385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C6C7A"/>
                </a:solidFill>
                <a:latin typeface="Aptos"/>
              </a:defRPr>
            </a:pPr>
            <a:r>
              <a:t>ezt kapcsoljuk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737360"/>
            <a:ext cx="2487168" cy="35204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42816" y="2057400"/>
            <a:ext cx="987552" cy="9875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2057400"/>
            <a:ext cx="987552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310128"/>
            <a:ext cx="208483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D2F52"/>
                </a:solidFill>
                <a:latin typeface="Aptos"/>
              </a:defRPr>
            </a:pPr>
            <a:r>
              <a:t>Nullavezető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950208"/>
            <a:ext cx="19385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C6C7A"/>
                </a:solidFill>
                <a:latin typeface="Aptos"/>
              </a:defRPr>
            </a:pPr>
            <a:r>
              <a:t>közvetlenül a fogyasztóhoz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737360"/>
            <a:ext cx="2487168" cy="35204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95744" y="2057400"/>
            <a:ext cx="987552" cy="987552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2057400"/>
            <a:ext cx="987552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310128"/>
            <a:ext cx="208483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D2F52"/>
                </a:solidFill>
                <a:latin typeface="Aptos"/>
              </a:defRPr>
            </a:pPr>
            <a:r>
              <a:t>Védővezető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950208"/>
            <a:ext cx="19385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C6C7A"/>
                </a:solidFill>
                <a:latin typeface="Aptos"/>
              </a:defRPr>
            </a:pPr>
            <a:r>
              <a:t>nem kapcsoljuk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3" y="1737360"/>
            <a:ext cx="2487168" cy="35204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48672" y="2057400"/>
            <a:ext cx="987552" cy="987552"/>
          </a:xfrm>
          <a:prstGeom prst="ellipse">
            <a:avLst/>
          </a:prstGeom>
          <a:solidFill>
            <a:srgbClr val="E7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2057400"/>
            <a:ext cx="987552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310128"/>
            <a:ext cx="208483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D2F52"/>
                </a:solidFill>
                <a:latin typeface="Aptos"/>
              </a:defRPr>
            </a:pPr>
            <a:r>
              <a:t>Váltószálak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950208"/>
            <a:ext cx="19385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C6C7A"/>
                </a:solidFill>
                <a:latin typeface="Aptos"/>
              </a:defRPr>
            </a:pPr>
            <a:r>
              <a:t>a két kapcsoló között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5596128"/>
            <a:ext cx="9326880" cy="530352"/>
          </a:xfrm>
          <a:prstGeom prst="roundRect">
            <a:avLst/>
          </a:prstGeom>
          <a:solidFill>
            <a:srgbClr val="FF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632704"/>
            <a:ext cx="8961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3A3A"/>
                </a:solidFill>
                <a:latin typeface="Aptos"/>
              </a:defRPr>
            </a:pPr>
            <a:r>
              <a:t>A zöld-sárga PE vezető kapcsolóérintkezőn keresztül nem vezethető.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Szerelési sorrend – szakmai gondolkodással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7568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Rajz értelmezése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70992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07568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Feszültségmentesítés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07568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Kapcsok azonosítása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0020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70992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207568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Váltószálak bekötése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844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95020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N és PE bekötése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47472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79" y="35844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395020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Mechanikai ellenőrzés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74720"/>
            <a:ext cx="2423160" cy="1417320"/>
          </a:xfrm>
          <a:prstGeom prst="roundRect">
            <a:avLst/>
          </a:prstGeom>
          <a:solidFill>
            <a:srgbClr val="E0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844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950208"/>
            <a:ext cx="20574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2F52"/>
                </a:solidFill>
                <a:latin typeface="Aptos"/>
              </a:defRPr>
            </a:pPr>
            <a:r>
              <a:t>Működési próba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Mikor világít a lámpa?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D2F52"/>
                </a:solidFill>
                <a:latin typeface="Aptos"/>
              </a:defRPr>
            </a:pPr>
            <a:r>
              <a:t>A kapcsolók helyzete önmagában nem „BE” vagy „KI”.</a:t>
            </a:r>
            <a:br/>
            <a:r>
              <a:t>A két kapcsoló együtt határozza meg, hogy záródik-e az áramút.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2395728" cy="20574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V1: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V2: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977639"/>
            <a:ext cx="1371600" cy="502920"/>
          </a:xfrm>
          <a:prstGeom prst="round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77639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világít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743200"/>
            <a:ext cx="2395728" cy="20574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9992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V1: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4290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V2: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1648" y="3977639"/>
            <a:ext cx="1371600" cy="502920"/>
          </a:xfrm>
          <a:prstGeom prst="roundRect">
            <a:avLst/>
          </a:prstGeom>
          <a:solidFill>
            <a:srgbClr val="5C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3977639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nem világít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2743200"/>
            <a:ext cx="2395728" cy="20574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9992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V1: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4290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V2: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3136" y="3977639"/>
            <a:ext cx="1371600" cy="502920"/>
          </a:xfrm>
          <a:prstGeom prst="roundRect">
            <a:avLst/>
          </a:prstGeom>
          <a:solidFill>
            <a:srgbClr val="5C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977639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nem világít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1704" y="2743200"/>
            <a:ext cx="2395728" cy="205740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29992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V1: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4290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D2F52"/>
                </a:solidFill>
                <a:latin typeface="Aptos"/>
              </a:defRPr>
            </a:pPr>
            <a:r>
              <a:t>V2: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3977639"/>
            <a:ext cx="1371600" cy="502920"/>
          </a:xfrm>
          <a:prstGeom prst="round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64624" y="3977639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világít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94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76D2"/>
                </a:solidFill>
                <a:latin typeface="Aptos"/>
              </a:defRPr>
            </a:pPr>
            <a:r>
              <a:t>Bármelyik kapcsoló átbillentése megváltoztatja a lámpa állapotát.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Tipikus hibák – és a tünet, amit okoznak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383280" cy="77724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3A3A"/>
                </a:solidFill>
                <a:latin typeface="Aptos"/>
              </a:defRPr>
            </a:pPr>
            <a:r>
              <a:t>Közös kapocs felcserélve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0992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00200"/>
            <a:ext cx="6035040" cy="7772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5440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E2730"/>
                </a:solidFill>
                <a:latin typeface="Aptos"/>
              </a:defRPr>
            </a:pPr>
            <a:r>
              <a:t>csak bizonyos állásokban működik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3383280" cy="77724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320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3A3A"/>
                </a:solidFill>
                <a:latin typeface="Aptos"/>
              </a:defRPr>
            </a:pPr>
            <a:r>
              <a:t>Szakadt váltószál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6148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651760"/>
            <a:ext cx="6035040" cy="7772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743200"/>
            <a:ext cx="5440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E2730"/>
                </a:solidFill>
                <a:latin typeface="Aptos"/>
              </a:defRPr>
            </a:pPr>
            <a:r>
              <a:t>egy kapcsolási út kiesik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383280" cy="77724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59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3A3A"/>
                </a:solidFill>
                <a:latin typeface="Aptos"/>
              </a:defRPr>
            </a:pPr>
            <a:r>
              <a:t>Laza kötés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81304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703320"/>
            <a:ext cx="6035040" cy="7772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794759"/>
            <a:ext cx="5440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E2730"/>
                </a:solidFill>
                <a:latin typeface="Aptos"/>
              </a:defRPr>
            </a:pPr>
            <a:r>
              <a:t>bizonytalan, időszakos működés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79"/>
            <a:ext cx="3383280" cy="77724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846319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3A3A"/>
                </a:solidFill>
                <a:latin typeface="Aptos"/>
              </a:defRPr>
            </a:pPr>
            <a:r>
              <a:t>N kapcsolása L helyett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864607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4754879"/>
            <a:ext cx="6035040" cy="77724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4846319"/>
            <a:ext cx="5440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E2730"/>
                </a:solidFill>
                <a:latin typeface="Aptos"/>
              </a:defRPr>
            </a:pPr>
            <a:r>
              <a:t>veszélyes, szakszerűtlen kialakítás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Hibakeresés: ne találgass – kövesd a láncot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874519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RAJZ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7" y="24688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57400"/>
            <a:ext cx="1874519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945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060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4688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057400"/>
            <a:ext cx="1874519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1945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060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FOLYTONOSSÁG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4688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057400"/>
            <a:ext cx="1874519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7" y="21945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4688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79A2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057400"/>
            <a:ext cx="1874519" cy="1417320"/>
          </a:xfrm>
          <a:prstGeom prst="round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93807" y="21945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6060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PRÓBA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6052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D2F52"/>
                </a:solidFill>
                <a:latin typeface="Aptos"/>
              </a:defRPr>
            </a:pPr>
            <a:r>
              <a:t>A jó hibakeresés célzott mérés: minden lépés egy feltételezést igazol vagy kizár.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5257800"/>
            <a:ext cx="8412480" cy="502920"/>
          </a:xfrm>
          <a:prstGeom prst="roundRect">
            <a:avLst/>
          </a:prstGeom>
          <a:solidFill>
            <a:srgbClr val="FF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5285232"/>
            <a:ext cx="8138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3A3A"/>
                </a:solidFill>
                <a:latin typeface="Aptos"/>
              </a:defRPr>
            </a:pPr>
            <a:r>
              <a:t>Feszültség alatti mérés csak megfelelő eljárással és eszközzel.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Biztonsági minimum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10128" cy="1481328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965960"/>
            <a:ext cx="658368" cy="658368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47088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D2F52"/>
                </a:solidFill>
                <a:latin typeface="Aptos"/>
              </a:defRPr>
            </a:pPr>
            <a:r>
              <a:t>Feszültségmentesíts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310128" cy="1481328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1" y="1965960"/>
            <a:ext cx="658368" cy="658368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9659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1847088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D2F52"/>
                </a:solidFill>
                <a:latin typeface="Aptos"/>
              </a:defRPr>
            </a:pPr>
            <a:r>
              <a:t>Ellenőrizd a feszültségmentességet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310128" cy="1481328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1965960"/>
            <a:ext cx="658368" cy="658368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6596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847088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D2F52"/>
                </a:solidFill>
                <a:latin typeface="Aptos"/>
              </a:defRPr>
            </a:pPr>
            <a:r>
              <a:t>PE-t soha ne szakítsd meg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0439"/>
            <a:ext cx="3310128" cy="1481328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40479"/>
            <a:ext cx="658368" cy="658368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4047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721607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D2F52"/>
                </a:solidFill>
                <a:latin typeface="Aptos"/>
              </a:defRPr>
            </a:pPr>
            <a:r>
              <a:t>A fázisvezetőt kapcsold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310128" cy="1481328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9431" y="3840479"/>
            <a:ext cx="658368" cy="658368"/>
          </a:xfrm>
          <a:prstGeom prst="ellipse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84047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3721607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D2F52"/>
                </a:solidFill>
                <a:latin typeface="Aptos"/>
              </a:defRPr>
            </a:pPr>
            <a:r>
              <a:t>Visszakapcsolás csak ellenőrzés után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Gyakorlati feladat – szerelőpanelen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Építsd meg a két váltókapcsolós világítási áramkört.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Azonosítsd és jelöld a közös kapcsokat.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Ellenőrizd mind a négy kapcsolóállás-kombinációt.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Ellenőrizd a PE folytonosságát.</a:t>
            </a:r>
          </a:p>
          <a:p>
            <a:pPr>
              <a:spcAft>
                <a:spcPts val="1400"/>
              </a:spcAft>
              <a:defRPr sz="1800">
                <a:solidFill>
                  <a:srgbClr val="1E2730"/>
                </a:solidFill>
                <a:latin typeface="Aptos"/>
              </a:defRPr>
            </a:pPr>
            <a:r>
              <a:t>•  Keress meg egy oktató által beépített hibát.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91640"/>
            <a:ext cx="4434840" cy="40233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965960"/>
            <a:ext cx="37490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76D2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060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0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60604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0D2F52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172968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0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17296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0D2F52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739896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0"/>
                </a:solidFill>
                <a:latin typeface="Aptos"/>
              </a:defRPr>
            </a:pPr>
            <a:r>
              <a:t>Rajzértelmezés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739896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0D2F52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306824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0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4306824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0D2F52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87375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0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873752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0D2F52"/>
                </a:solidFill>
                <a:latin typeface="Aptos"/>
              </a:defRPr>
            </a:pPr>
            <a:r>
              <a:t>15%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2AADC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6675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A lámpa bizonyos kapcsolóállásban</a:t>
            </a:r>
            <a:br/>
            <a:r>
              <a:t>nem kapcsolható fel.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C7E0EF"/>
                </a:solidFill>
                <a:latin typeface="Aptos"/>
              </a:defRPr>
            </a:pPr>
            <a:r>
              <a:t>Mit ellenőriznél először?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4434840" cy="475488"/>
          </a:xfrm>
          <a:prstGeom prst="roundRect">
            <a:avLst/>
          </a:prstGeom>
          <a:solidFill>
            <a:srgbClr val="17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4069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1.  közös kapcsok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53128"/>
            <a:ext cx="4434840" cy="475488"/>
          </a:xfrm>
          <a:prstGeom prst="roundRect">
            <a:avLst/>
          </a:prstGeom>
          <a:solidFill>
            <a:srgbClr val="17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53128"/>
            <a:ext cx="4069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2.  váltószálak folytonossága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11496"/>
            <a:ext cx="4434840" cy="475488"/>
          </a:xfrm>
          <a:prstGeom prst="roundRect">
            <a:avLst/>
          </a:prstGeom>
          <a:solidFill>
            <a:srgbClr val="17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11496"/>
            <a:ext cx="4069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3.  laza kötések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417320"/>
            <a:ext cx="3337560" cy="4343400"/>
          </a:xfrm>
          <a:prstGeom prst="roundRect">
            <a:avLst/>
          </a:prstGeom>
          <a:solidFill>
            <a:srgbClr val="14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1417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32AADC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703320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 cél nem a gyors tipp,</a:t>
            </a:r>
            <a:br/>
            <a:r>
              <a:t>hanem a bizonyítható hibaok.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976D2"/>
                </a:solidFill>
                <a:latin typeface="Aptos"/>
              </a:defRPr>
            </a:pPr>
            <a:r>
              <a:t>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D2F52"/>
                </a:solidFill>
                <a:latin typeface="Aptos"/>
              </a:defRPr>
            </a:pPr>
            <a:r>
              <a:t>A 18. hét lényege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051560" cy="45720"/>
          </a:xfrm>
          <a:prstGeom prst="rect">
            <a:avLst/>
          </a:prstGeom>
          <a:solidFill>
            <a:srgbClr val="3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C6C7A"/>
                </a:solidFill>
                <a:latin typeface="Aptos"/>
              </a:defRPr>
            </a:pPr>
            <a:r>
              <a:t>IAP • 18.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C6C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938528" cy="24231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212848"/>
            <a:ext cx="17190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  <a:latin typeface="Aptos"/>
              </a:defRPr>
            </a:pPr>
            <a:r>
              <a:t>2 HELY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71800"/>
            <a:ext cx="15727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2F52"/>
                </a:solidFill>
                <a:latin typeface="Aptos"/>
              </a:defRPr>
            </a:pPr>
            <a:r>
              <a:t>2 váltókapcsoló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828800"/>
            <a:ext cx="1938528" cy="24231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12848"/>
            <a:ext cx="17190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  <a:latin typeface="Aptos"/>
              </a:defRPr>
            </a:pPr>
            <a:r>
              <a:t>2 SZÁL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71800"/>
            <a:ext cx="15727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2F52"/>
                </a:solidFill>
                <a:latin typeface="Aptos"/>
              </a:defRPr>
            </a:pPr>
            <a:r>
              <a:t>a kapcsolók között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828800"/>
            <a:ext cx="1938528" cy="24231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212848"/>
            <a:ext cx="17190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971800"/>
            <a:ext cx="15727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2F52"/>
                </a:solidFill>
                <a:latin typeface="Aptos"/>
              </a:defRPr>
            </a:pPr>
            <a:r>
              <a:t>ezt kapcsoljuk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1828800"/>
            <a:ext cx="1938528" cy="24231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2212848"/>
            <a:ext cx="17190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2971800"/>
            <a:ext cx="15727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2F52"/>
                </a:solidFill>
                <a:latin typeface="Aptos"/>
              </a:defRPr>
            </a:pPr>
            <a:r>
              <a:t>soha nem kapcsoljuk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9216" y="1828800"/>
            <a:ext cx="1938528" cy="2423160"/>
          </a:xfrm>
          <a:prstGeom prst="roundRect">
            <a:avLst/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2212848"/>
            <a:ext cx="17190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6" y="2971800"/>
            <a:ext cx="15727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2F52"/>
                </a:solidFill>
                <a:latin typeface="Aptos"/>
              </a:defRPr>
            </a:pPr>
            <a:r>
              <a:t>méréssel bizonyítjuk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74920"/>
            <a:ext cx="8321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0D2F52"/>
                </a:solidFill>
                <a:latin typeface="Aptos"/>
              </a:defRPr>
            </a:pPr>
            <a:r>
              <a:t>Következő hét: 19. hét – Keresztkapcsolás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66928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5C6C7A"/>
                </a:solidFill>
                <a:latin typeface="Aptos"/>
              </a:defRPr>
            </a:pPr>
            <a:r>
              <a:t>Három vagy több helyről vezérelt világítás.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