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30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66928"/>
            <a:ext cx="1005840" cy="347472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2A5F5"/>
                </a:solidFill>
                <a:latin typeface="Aptos"/>
              </a:defRPr>
            </a:pPr>
            <a:r>
              <a:t>19.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Keresztkapcsolás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2E4F4"/>
                </a:solidFill>
                <a:latin typeface="Aptos"/>
              </a:defRPr>
            </a:pPr>
            <a:r>
              <a:t>Egy világítási fogyasztó kapcsolása három vagy több helyről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160520"/>
            <a:ext cx="10149840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14400" y="3794760"/>
            <a:ext cx="731520" cy="731520"/>
          </a:xfrm>
          <a:prstGeom prst="ellipse">
            <a:avLst/>
          </a:prstGeom>
          <a:solidFill>
            <a:srgbClr val="093059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1304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2A5F5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3794760"/>
            <a:ext cx="731520" cy="731520"/>
          </a:xfrm>
          <a:prstGeom prst="ellipse">
            <a:avLst/>
          </a:prstGeom>
          <a:solidFill>
            <a:srgbClr val="093059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81304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2A5F5"/>
                </a:solidFill>
                <a:latin typeface="Aptos"/>
              </a:defRPr>
            </a:pPr>
            <a: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645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váltó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0" y="3794760"/>
            <a:ext cx="731520" cy="731520"/>
          </a:xfrm>
          <a:prstGeom prst="ellipse">
            <a:avLst/>
          </a:prstGeom>
          <a:solidFill>
            <a:srgbClr val="093059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81304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2A5F5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645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kereszt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0" y="3794760"/>
            <a:ext cx="731520" cy="731520"/>
          </a:xfrm>
          <a:prstGeom prst="ellipse">
            <a:avLst/>
          </a:prstGeom>
          <a:solidFill>
            <a:srgbClr val="093059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81304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2A5F5"/>
                </a:solidFill>
                <a:latin typeface="Aptos"/>
              </a:defRPr>
            </a:pPr>
            <a:r>
              <a:t>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645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váltó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3794760"/>
            <a:ext cx="731520" cy="731520"/>
          </a:xfrm>
          <a:prstGeom prst="ellipse">
            <a:avLst/>
          </a:prstGeom>
          <a:solidFill>
            <a:srgbClr val="093059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381304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42A5F5"/>
                </a:solidFill>
                <a:latin typeface="Aptos"/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4645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ED7ED"/>
                </a:solidFill>
                <a:latin typeface="Aptos"/>
              </a:defRPr>
            </a:pPr>
            <a:r>
              <a:t>lámpa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072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55–57. óra  •  tervezés  •  szerelés  •  ellenőrzés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Mit kell tudnod a hét végére?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kapcsolás megértése fontosabb, mint a vezetékek „bemagolása”.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226771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28600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Felismerés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493008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Megkülönbözteted a váltó- és keresztkapcsolót.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2152" y="205740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66744" y="226771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28600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6744" y="3493008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El tudod magyarázni, hogyan változik az áramút.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83096" y="226771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28600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Szerelés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493008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Rajz alapján biztonságosan összeállítod a kapcsolást.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2057400"/>
            <a:ext cx="2514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99448" y="226771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28600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971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493008"/>
            <a:ext cx="2148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Logikusan keresed a bekötési hibát.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KIINDULÓPONT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Miért kell keresztkapcsolás?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váltókapcsolás két helyet kezel. A harmadik kapcsolási pont új elemet igényel.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107442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93059"/>
                </a:solidFill>
                <a:latin typeface="Aptos"/>
              </a:defRPr>
            </a:pPr>
            <a:r>
              <a:t>Hosszú folyosó / lépcsőház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4440" y="3886200"/>
            <a:ext cx="9326880" cy="0"/>
          </a:xfrm>
          <a:prstGeom prst="line">
            <a:avLst/>
          </a:prstGeom>
          <a:ln w="63500">
            <a:solidFill>
              <a:srgbClr val="A5BC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920240" y="3520440"/>
            <a:ext cx="731520" cy="7315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353872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65C0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4348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86C7C"/>
                </a:solidFill>
                <a:latin typeface="Aptos"/>
              </a:defRPr>
            </a:pPr>
            <a:r>
              <a:t>kapcsolási hely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3520440"/>
            <a:ext cx="731520" cy="7315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353872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65C0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4348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86C7C"/>
                </a:solidFill>
                <a:latin typeface="Aptos"/>
              </a:defRPr>
            </a:pPr>
            <a:r>
              <a:t>kapcsolási hely</a:t>
            </a:r>
          </a:p>
        </p:txBody>
      </p:sp>
      <p:sp>
        <p:nvSpPr>
          <p:cNvPr id="18" name="Oval 17"/>
          <p:cNvSpPr/>
          <p:nvPr/>
        </p:nvSpPr>
        <p:spPr>
          <a:xfrm>
            <a:off x="9235440" y="3520440"/>
            <a:ext cx="731520" cy="7315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53872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65C0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44348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86C7C"/>
                </a:solidFill>
                <a:latin typeface="Aptos"/>
              </a:defRPr>
            </a:pPr>
            <a:r>
              <a:t>kapcsolási hely</a:t>
            </a:r>
          </a:p>
        </p:txBody>
      </p:sp>
      <p:sp>
        <p:nvSpPr>
          <p:cNvPr id="21" name="Oval 20"/>
          <p:cNvSpPr/>
          <p:nvPr/>
        </p:nvSpPr>
        <p:spPr>
          <a:xfrm>
            <a:off x="10561320" y="2514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532888"/>
            <a:ext cx="6400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6962D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39572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Egy lámpa – három kezelési pont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A háromhelyes kapcsolás elemei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két szélen váltókapcsoló, középen keresztkapcsoló.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3154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331720"/>
            <a:ext cx="685800" cy="68580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50008"/>
            <a:ext cx="685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Aptos"/>
              </a:defRPr>
            </a:pPr>
            <a: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004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Váltókapcsoló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70332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közös kapocs + 2 váltókapocs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103120"/>
            <a:ext cx="3154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18888" y="2331720"/>
            <a:ext cx="685800" cy="68580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2350008"/>
            <a:ext cx="685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32004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Keresztkapcsoló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70332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4 kapcsolt kapocs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03120"/>
            <a:ext cx="31546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22208" y="2331720"/>
            <a:ext cx="685800" cy="68580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350008"/>
            <a:ext cx="685800" cy="6492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565C0"/>
                </a:solidFill>
                <a:latin typeface="Aptos"/>
              </a:defRPr>
            </a:pPr>
            <a:r>
              <a:t>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2004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93059"/>
                </a:solidFill>
                <a:latin typeface="Aptos"/>
              </a:defRPr>
            </a:pPr>
            <a:r>
              <a:t>Váltókapcsoló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703320"/>
            <a:ext cx="2697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2 váltókapocs + közös kapocs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28800" y="5257800"/>
            <a:ext cx="841248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" y="542239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C2F40"/>
                </a:solidFill>
                <a:latin typeface="Aptos"/>
              </a:defRPr>
            </a:pPr>
            <a:r>
              <a:t>L → V1 → két váltószál → K → két váltószál → V2 → lámpa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Mit csinál a keresztkapcsoló?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Két állapot: egyenes továbbítás vagy keresztezés.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4800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93059"/>
                </a:solidFill>
                <a:latin typeface="Aptos"/>
              </a:defRPr>
            </a:pPr>
            <a:r>
              <a:t>1. állás – egyenes</a:t>
            </a:r>
          </a:p>
        </p:txBody>
      </p:sp>
      <p:sp>
        <p:nvSpPr>
          <p:cNvPr id="11" name="Oval 10"/>
          <p:cNvSpPr/>
          <p:nvPr/>
        </p:nvSpPr>
        <p:spPr>
          <a:xfrm>
            <a:off x="1600200" y="3246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326440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sp>
        <p:nvSpPr>
          <p:cNvPr id="13" name="Oval 12"/>
          <p:cNvSpPr/>
          <p:nvPr/>
        </p:nvSpPr>
        <p:spPr>
          <a:xfrm>
            <a:off x="1600200" y="425196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27024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4617720" y="3246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26440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sp>
        <p:nvSpPr>
          <p:cNvPr id="17" name="Oval 16"/>
          <p:cNvSpPr/>
          <p:nvPr/>
        </p:nvSpPr>
        <p:spPr>
          <a:xfrm>
            <a:off x="4617720" y="425196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27024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cxnSp>
        <p:nvCxnSpPr>
          <p:cNvPr id="19" name="Connector 18"/>
          <p:cNvCxnSpPr/>
          <p:nvPr/>
        </p:nvCxnSpPr>
        <p:spPr>
          <a:xfrm>
            <a:off x="1947672" y="3419856"/>
            <a:ext cx="2670048" cy="0"/>
          </a:xfrm>
          <a:prstGeom prst="line">
            <a:avLst/>
          </a:prstGeom>
          <a:ln w="381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47672" y="4425696"/>
            <a:ext cx="2670048" cy="0"/>
          </a:xfrm>
          <a:prstGeom prst="line">
            <a:avLst/>
          </a:prstGeom>
          <a:ln w="381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25880" y="482803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86C7C"/>
                </a:solidFill>
                <a:latin typeface="Aptos"/>
              </a:defRPr>
            </a:pPr>
            <a:r>
              <a:t>váltószálak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057400"/>
            <a:ext cx="48006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33172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93059"/>
                </a:solidFill>
                <a:latin typeface="Aptos"/>
              </a:defRPr>
            </a:pPr>
            <a:r>
              <a:t>2. állás – keresztezett</a:t>
            </a:r>
          </a:p>
        </p:txBody>
      </p:sp>
      <p:sp>
        <p:nvSpPr>
          <p:cNvPr id="24" name="Oval 23"/>
          <p:cNvSpPr/>
          <p:nvPr/>
        </p:nvSpPr>
        <p:spPr>
          <a:xfrm>
            <a:off x="7086600" y="3246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26440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7086600" y="425196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27024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sp>
        <p:nvSpPr>
          <p:cNvPr id="28" name="Oval 27"/>
          <p:cNvSpPr/>
          <p:nvPr/>
        </p:nvSpPr>
        <p:spPr>
          <a:xfrm>
            <a:off x="10104120" y="324612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326440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sp>
        <p:nvSpPr>
          <p:cNvPr id="30" name="Oval 29"/>
          <p:cNvSpPr/>
          <p:nvPr/>
        </p:nvSpPr>
        <p:spPr>
          <a:xfrm>
            <a:off x="10104120" y="425196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4270248"/>
            <a:ext cx="3474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1565C0"/>
                </a:solidFill>
                <a:latin typeface="Aptos"/>
              </a:defRPr>
            </a:pPr>
          </a:p>
        </p:txBody>
      </p:sp>
      <p:cxnSp>
        <p:nvCxnSpPr>
          <p:cNvPr id="32" name="Connector 31"/>
          <p:cNvCxnSpPr/>
          <p:nvPr/>
        </p:nvCxnSpPr>
        <p:spPr>
          <a:xfrm>
            <a:off x="7434071" y="3419856"/>
            <a:ext cx="2670049" cy="1005840"/>
          </a:xfrm>
          <a:prstGeom prst="line">
            <a:avLst/>
          </a:prstGeom>
          <a:ln w="381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434071" y="3419856"/>
            <a:ext cx="2670049" cy="1005840"/>
          </a:xfrm>
          <a:prstGeom prst="line">
            <a:avLst/>
          </a:prstGeom>
          <a:ln w="381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12280" y="482803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586C7C"/>
                </a:solidFill>
                <a:latin typeface="Aptos"/>
              </a:defRPr>
            </a:pPr>
            <a:r>
              <a:t>váltószálak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ÁRAMÚT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A kapcsolás logikája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fázis kapcsolódik; N és PE nem vesz részt az üzemszerű kapcsolásban.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3D3D"/>
                </a:solidFill>
                <a:latin typeface="Aptos"/>
              </a:defRPr>
            </a:pPr>
            <a:r>
              <a:t>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2423160"/>
            <a:ext cx="960120" cy="0"/>
          </a:xfrm>
          <a:prstGeom prst="line">
            <a:avLst/>
          </a:prstGeom>
          <a:ln w="38100">
            <a:solidFill>
              <a:srgbClr val="BE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6596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07568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BE3D3D"/>
                </a:solidFill>
                <a:latin typeface="Aptos"/>
              </a:defRPr>
            </a:pPr>
            <a:r>
              <a:t>V1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2267712"/>
            <a:ext cx="187452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97480" y="2606040"/>
            <a:ext cx="187452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57200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7568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0" y="2267712"/>
            <a:ext cx="187452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303520" y="2606040"/>
            <a:ext cx="187452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17804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07568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BE3D3D"/>
                </a:solidFill>
                <a:latin typeface="Aptos"/>
              </a:defRPr>
            </a:pPr>
            <a:r>
              <a:t>V2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09560" y="2423160"/>
            <a:ext cx="1554480" cy="0"/>
          </a:xfrm>
          <a:prstGeom prst="line">
            <a:avLst/>
          </a:prstGeom>
          <a:ln w="38100">
            <a:solidFill>
              <a:srgbClr val="BE3D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464040" y="20574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9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075688"/>
            <a:ext cx="73152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E6962D"/>
                </a:solidFill>
                <a:latin typeface="Aptos"/>
              </a:defRPr>
            </a:pPr>
            <a:r>
              <a:t>Lámpa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947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565C0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5840" y="3931920"/>
            <a:ext cx="882396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" y="47091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28B5E"/>
                </a:solidFill>
                <a:latin typeface="Aptos"/>
              </a:defRPr>
            </a:pPr>
            <a:r>
              <a:t>PE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" y="4846320"/>
            <a:ext cx="8823960" cy="0"/>
          </a:xfrm>
          <a:prstGeom prst="line">
            <a:avLst/>
          </a:prstGeom>
          <a:ln w="25400">
            <a:solidFill>
              <a:srgbClr val="228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926080" y="5532120"/>
            <a:ext cx="6217920" cy="347472"/>
          </a:xfrm>
          <a:prstGeom prst="round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5550407"/>
            <a:ext cx="6217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A05F14"/>
                </a:solidFill>
                <a:latin typeface="Aptos"/>
              </a:defRPr>
            </a:pPr>
            <a:r>
              <a:t>A kapcsoló mindig a fázisvezető áramútját szakítsa!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Szerelési sorrend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jó bekötés nem a feszültség alatti próbálgatással kezdődik.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7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11680"/>
            <a:ext cx="530352" cy="53035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530352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04825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Rajz és kapocsjelölések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77639" y="2267712"/>
            <a:ext cx="365761" cy="0"/>
          </a:xfrm>
          <a:prstGeom prst="line">
            <a:avLst/>
          </a:prstGeom>
          <a:ln w="254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480559" y="2011680"/>
            <a:ext cx="530352" cy="53035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2029968"/>
            <a:ext cx="530352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04825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Feszültségmentesítés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79" y="2267712"/>
            <a:ext cx="365761" cy="0"/>
          </a:xfrm>
          <a:prstGeom prst="line">
            <a:avLst/>
          </a:prstGeom>
          <a:ln w="254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229600" y="2011680"/>
            <a:ext cx="530352" cy="53035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9968"/>
            <a:ext cx="530352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04825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Vezetők előkészítése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886200"/>
            <a:ext cx="530352" cy="53035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04487"/>
            <a:ext cx="530352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392277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Bekötés és húzópróba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77639" y="4142232"/>
            <a:ext cx="365761" cy="0"/>
          </a:xfrm>
          <a:prstGeom prst="line">
            <a:avLst/>
          </a:prstGeom>
          <a:ln w="254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480559" y="3886200"/>
            <a:ext cx="530352" cy="53035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904487"/>
            <a:ext cx="530352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93792" y="392277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Műszeres ellenőrzés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26679" y="4142232"/>
            <a:ext cx="365761" cy="0"/>
          </a:xfrm>
          <a:prstGeom prst="line">
            <a:avLst/>
          </a:prstGeom>
          <a:ln w="254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229600" y="3886200"/>
            <a:ext cx="530352" cy="530352"/>
          </a:xfrm>
          <a:prstGeom prst="ellipse">
            <a:avLst/>
          </a:prstGeom>
          <a:solidFill>
            <a:srgbClr val="1565C0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04487"/>
            <a:ext cx="530352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392277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C2F40"/>
                </a:solidFill>
                <a:latin typeface="Aptos"/>
              </a:defRPr>
            </a:pPr>
            <a:r>
              <a:t>Engedélyezett próba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86200" y="5623560"/>
            <a:ext cx="4389120" cy="347472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5641848"/>
            <a:ext cx="4389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PE vezetőt üzemszerűen nem kapcsolunk.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Négy tipikus bekötési hiba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legtöbb hiba kapocsazonosításból vagy kötésminőségből ered.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2286000"/>
            <a:ext cx="475488" cy="475488"/>
          </a:xfrm>
          <a:prstGeom prst="ellipse">
            <a:avLst/>
          </a:prstGeom>
          <a:solidFill>
            <a:srgbClr val="FFEFEF"/>
          </a:solidFill>
          <a:ln w="1905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042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3D3D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19456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3D3D"/>
                </a:solidFill>
                <a:latin typeface="Aptos"/>
              </a:defRPr>
            </a:pPr>
            <a:r>
              <a:t>Közös kapocs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606039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váltókapcsoló közös kapcsa felcserélve.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96596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0527" y="2286000"/>
            <a:ext cx="475488" cy="475488"/>
          </a:xfrm>
          <a:prstGeom prst="ellipse">
            <a:avLst/>
          </a:prstGeom>
          <a:solidFill>
            <a:srgbClr val="FFEFEF"/>
          </a:solidFill>
          <a:ln w="1905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304288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3D3D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7" y="219456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3D3D"/>
                </a:solidFill>
                <a:latin typeface="Aptos"/>
              </a:defRPr>
            </a:pPr>
            <a:r>
              <a:t>Kapocspár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7" y="2606039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A keresztkapcsoló két kapocspárja tévesen azonosítva.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7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4160519"/>
            <a:ext cx="475488" cy="475488"/>
          </a:xfrm>
          <a:prstGeom prst="ellipse">
            <a:avLst/>
          </a:prstGeom>
          <a:solidFill>
            <a:srgbClr val="FFEFEF"/>
          </a:solidFill>
          <a:ln w="1905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78807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3D3D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69079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3D3D"/>
                </a:solidFill>
                <a:latin typeface="Aptos"/>
              </a:defRPr>
            </a:pPr>
            <a:r>
              <a:t>Vezetőszerep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80559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N vagy PE tévesen bekerül a kapcsolt áramútba.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840479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10527" y="4160519"/>
            <a:ext cx="475488" cy="475488"/>
          </a:xfrm>
          <a:prstGeom prst="ellipse">
            <a:avLst/>
          </a:prstGeom>
          <a:solidFill>
            <a:srgbClr val="FFEFEF"/>
          </a:solidFill>
          <a:ln w="19050">
            <a:solidFill>
              <a:srgbClr val="BE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7" y="4178807"/>
            <a:ext cx="4754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BE3D3D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7" y="4069079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3D3D"/>
                </a:solidFill>
                <a:latin typeface="Aptos"/>
              </a:defRPr>
            </a:pPr>
            <a:r>
              <a:t>Kötésminőség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7" y="4480559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C2F40"/>
                </a:solidFill>
                <a:latin typeface="Aptos"/>
              </a:defRPr>
            </a:pPr>
            <a:r>
              <a:t>Laza kötés, sérült ér, túl hosszú blankolás.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Ne találgass – szakaszolj!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hiba helyét rajz és mérés segítségével szűkítsd.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9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788920"/>
            <a:ext cx="621792" cy="621792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0720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3657600"/>
            <a:ext cx="1463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2F40"/>
                </a:solidFill>
                <a:latin typeface="Aptos"/>
              </a:defRPr>
            </a:pPr>
            <a:r>
              <a:t>Feszültségmentes?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16152" y="3099816"/>
            <a:ext cx="88696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96312" y="2788920"/>
            <a:ext cx="621792" cy="621792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280720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657600"/>
            <a:ext cx="1463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2F40"/>
                </a:solidFill>
                <a:latin typeface="Aptos"/>
              </a:defRPr>
            </a:pPr>
            <a:r>
              <a:t>Rajz egyezik?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18104" y="3099816"/>
            <a:ext cx="88696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98264" y="2788920"/>
            <a:ext cx="621792" cy="621792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8264" y="280720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4" y="3657600"/>
            <a:ext cx="1463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2F40"/>
                </a:solidFill>
                <a:latin typeface="Aptos"/>
              </a:defRPr>
            </a:pPr>
            <a:r>
              <a:t>Közös kapcsok jók?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0056" y="3099816"/>
            <a:ext cx="88696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300216" y="2788920"/>
            <a:ext cx="621792" cy="621792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280720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3657600"/>
            <a:ext cx="1463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2F40"/>
                </a:solidFill>
                <a:latin typeface="Aptos"/>
              </a:defRPr>
            </a:pPr>
            <a:r>
              <a:t>Váltószálak folytonosak?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22008" y="3099816"/>
            <a:ext cx="88696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02168" y="2788920"/>
            <a:ext cx="621792" cy="621792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80720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3657600"/>
            <a:ext cx="1463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2F40"/>
                </a:solidFill>
                <a:latin typeface="Aptos"/>
              </a:defRPr>
            </a:pPr>
            <a:r>
              <a:t>Keresztkapcsoló vált?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23960" y="3099816"/>
            <a:ext cx="886968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104120" y="2788920"/>
            <a:ext cx="621792" cy="621792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2807208"/>
            <a:ext cx="621792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657600"/>
            <a:ext cx="1463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C2F40"/>
                </a:solidFill>
                <a:latin typeface="Aptos"/>
              </a:defRPr>
            </a:pPr>
            <a:r>
              <a:t>Próba rendben?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166360"/>
            <a:ext cx="8503920" cy="347472"/>
          </a:xfrm>
          <a:prstGeom prst="round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184648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Aptos"/>
              </a:defRPr>
            </a:pPr>
            <a:r>
              <a:t>Megfigyelés → ellenőrzés → mérés → következtetés → javítás → újraellenőrzés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BŐVÍTÉS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Mi történik 4–5 kapcsolási helynél?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két szélső váltókapcsoló marad; középen nő a keresztkapcsolók száma.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93059"/>
                </a:solidFill>
                <a:latin typeface="Aptos"/>
              </a:defRPr>
            </a:pPr>
            <a:r>
              <a:t>3 hely</a:t>
            </a:r>
          </a:p>
        </p:txBody>
      </p:sp>
      <p:sp>
        <p:nvSpPr>
          <p:cNvPr id="10" name="Oval 9"/>
          <p:cNvSpPr/>
          <p:nvPr/>
        </p:nvSpPr>
        <p:spPr>
          <a:xfrm>
            <a:off x="1828800" y="19019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92024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12" name="Oval 11"/>
          <p:cNvSpPr/>
          <p:nvPr/>
        </p:nvSpPr>
        <p:spPr>
          <a:xfrm>
            <a:off x="2880360" y="190195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2024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14" name="Oval 13"/>
          <p:cNvSpPr/>
          <p:nvPr/>
        </p:nvSpPr>
        <p:spPr>
          <a:xfrm>
            <a:off x="3931920" y="190195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92024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933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= 2 váltó + 1 kereszt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93059"/>
                </a:solidFill>
                <a:latin typeface="Aptos"/>
              </a:defRPr>
            </a:pPr>
            <a:r>
              <a:t>4 hely</a:t>
            </a:r>
          </a:p>
        </p:txBody>
      </p:sp>
      <p:sp>
        <p:nvSpPr>
          <p:cNvPr id="18" name="Oval 17"/>
          <p:cNvSpPr/>
          <p:nvPr/>
        </p:nvSpPr>
        <p:spPr>
          <a:xfrm>
            <a:off x="1828800" y="313639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15468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313639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15468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2" name="Oval 21"/>
          <p:cNvSpPr/>
          <p:nvPr/>
        </p:nvSpPr>
        <p:spPr>
          <a:xfrm>
            <a:off x="3931920" y="313639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15468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24" name="Oval 23"/>
          <p:cNvSpPr/>
          <p:nvPr/>
        </p:nvSpPr>
        <p:spPr>
          <a:xfrm>
            <a:off x="4983479" y="313639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315468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322783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= 2 váltó + 2 kereszt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4805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93059"/>
                </a:solidFill>
                <a:latin typeface="Aptos"/>
              </a:defRPr>
            </a:pPr>
            <a:r>
              <a:t>5 hely</a:t>
            </a:r>
          </a:p>
        </p:txBody>
      </p:sp>
      <p:sp>
        <p:nvSpPr>
          <p:cNvPr id="28" name="Oval 27"/>
          <p:cNvSpPr/>
          <p:nvPr/>
        </p:nvSpPr>
        <p:spPr>
          <a:xfrm>
            <a:off x="1828800" y="437083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38912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30" name="Oval 29"/>
          <p:cNvSpPr/>
          <p:nvPr/>
        </p:nvSpPr>
        <p:spPr>
          <a:xfrm>
            <a:off x="2880360" y="437083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438912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32" name="Oval 31"/>
          <p:cNvSpPr/>
          <p:nvPr/>
        </p:nvSpPr>
        <p:spPr>
          <a:xfrm>
            <a:off x="3931920" y="437083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438912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34" name="Oval 33"/>
          <p:cNvSpPr/>
          <p:nvPr/>
        </p:nvSpPr>
        <p:spPr>
          <a:xfrm>
            <a:off x="4983479" y="4370832"/>
            <a:ext cx="502920" cy="50292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79" y="438912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K</a:t>
            </a:r>
          </a:p>
        </p:txBody>
      </p:sp>
      <p:sp>
        <p:nvSpPr>
          <p:cNvPr id="36" name="Oval 35"/>
          <p:cNvSpPr/>
          <p:nvPr/>
        </p:nvSpPr>
        <p:spPr>
          <a:xfrm>
            <a:off x="6035040" y="437083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389120"/>
            <a:ext cx="50292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46227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= 2 váltó + 3 kereszt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88920" y="5669280"/>
            <a:ext cx="6675120" cy="347472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5687568"/>
            <a:ext cx="6675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Általános szabály: n kapcsolási hely → 2 váltó + (n−2) kereszt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Építs háromhelyes világítási kapcsolást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cél nemcsak a működés, hanem az áttekinthető és ellenőrizhető szerelés.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0749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331720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500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04288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Kapcsok azonosítása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Bekötési terv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758183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76471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7307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Feszültségmentes szerelés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471416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89703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43983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Húzópróba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65960"/>
            <a:ext cx="50749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2331720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3500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304288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PE/N ellenőrzés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3044952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6324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0175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Folytonosságvizsgálat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3758183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776471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7307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Minden kapcsolóállás kipróbálása</a:t>
            </a:r>
          </a:p>
        </p:txBody>
      </p:sp>
      <p:sp>
        <p:nvSpPr>
          <p:cNvPr id="32" name="Oval 31"/>
          <p:cNvSpPr/>
          <p:nvPr/>
        </p:nvSpPr>
        <p:spPr>
          <a:xfrm>
            <a:off x="6629400" y="4471416"/>
            <a:ext cx="384048" cy="384048"/>
          </a:xfrm>
          <a:prstGeom prst="ellipse">
            <a:avLst/>
          </a:prstGeom>
          <a:solidFill>
            <a:srgbClr val="E8F7E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489703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443983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C2F40"/>
                </a:solidFill>
                <a:latin typeface="Apto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Öt helyről kell kapcsolni egy lámpát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Ne a darabszámot jegyezd meg – vezesd le az alapelvből.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10332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231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093059"/>
                </a:solidFill>
                <a:latin typeface="Aptos"/>
              </a:defRPr>
            </a:pPr>
            <a:r>
              <a:t>Hány váltókapcsoló és hány keresztkapcsoló szükséges?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251960"/>
            <a:ext cx="4800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F40"/>
                </a:solidFill>
                <a:latin typeface="Aptos"/>
              </a:defRPr>
            </a:pPr>
            <a:r>
              <a:t>A) 5 váltó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251960"/>
            <a:ext cx="4800600" cy="475488"/>
          </a:xfrm>
          <a:prstGeom prst="roundRect">
            <a:avLst/>
          </a:prstGeom>
          <a:solidFill>
            <a:srgbClr val="EFF7FF"/>
          </a:solidFill>
          <a:ln w="1270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434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28B5E"/>
                </a:solidFill>
                <a:latin typeface="Aptos"/>
              </a:defRPr>
            </a:pPr>
            <a:r>
              <a:t>B) 2 váltó + 3 kereszt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910328"/>
            <a:ext cx="4800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001768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F40"/>
                </a:solidFill>
                <a:latin typeface="Aptos"/>
              </a:defRPr>
            </a:pPr>
            <a:r>
              <a:t>C) 1 váltó + 4 kereszt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910328"/>
            <a:ext cx="4800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5001768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C2F40"/>
                </a:solidFill>
                <a:latin typeface="Aptos"/>
              </a:defRPr>
            </a:pPr>
            <a:r>
              <a:t>D) 3 váltó + 2 kereszt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5669280"/>
            <a:ext cx="8275320" cy="347472"/>
          </a:xfrm>
          <a:prstGeom prst="roundRect">
            <a:avLst/>
          </a:prstGeom>
          <a:solidFill>
            <a:srgbClr val="E8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5687568"/>
            <a:ext cx="8275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228B5E"/>
                </a:solidFill>
                <a:latin typeface="Aptos"/>
              </a:defRPr>
            </a:pPr>
            <a:r>
              <a:t>Helyes: B • a két szélen váltókapcsoló, közöttük 3 keresztkapcsoló.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A keresztkapcsolás négy 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Ezt a négy állítást kell biztosan tudni.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074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85415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Aptos"/>
              </a:defRPr>
            </a:pPr>
            <a:r>
              <a:t>3+ hely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16712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Keresztkapcsolást három vagy több kapcsolási helyhez használunk.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5074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85415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Aptos"/>
              </a:defRPr>
            </a:pPr>
            <a:r>
              <a:t>2 váltó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16712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A két szélen mindig váltókapcsoló van.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5074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142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Aptos"/>
              </a:defRPr>
            </a:pPr>
            <a:r>
              <a:t>n−2 kereszt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99592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A köztes kapcsolási helyeket keresztkapcsolók adják.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5074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14216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565C0"/>
                </a:solidFill>
                <a:latin typeface="Aptos"/>
              </a:defRPr>
            </a:pPr>
            <a:r>
              <a:t>L kapcsolása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995928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A kapcsolók a fázisvezető áramútját módosítják.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93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565C0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93059"/>
                </a:solidFill>
                <a:latin typeface="Aptos"/>
              </a:defRPr>
            </a:pPr>
            <a:r>
              <a:t>20. hét – Lépcsőházi automata és impulzusrelé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C7C"/>
                </a:solidFill>
                <a:latin typeface="Aptos"/>
              </a:defRPr>
            </a:pPr>
            <a:r>
              <a:t>A sok mechanikus kapcsoló helyett vezérlési logikát használunk.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6336792"/>
            <a:ext cx="11000232" cy="0"/>
          </a:xfrm>
          <a:prstGeom prst="line">
            <a:avLst/>
          </a:prstGeom>
          <a:ln w="12700">
            <a:solidFill>
              <a:srgbClr val="BFD3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19088"/>
            <a:ext cx="3931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86C7C"/>
                </a:solidFill>
                <a:latin typeface="Aptos"/>
              </a:defRPr>
            </a:pPr>
            <a:r>
              <a:t>IAP • Integrált Automatika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6419088"/>
            <a:ext cx="4023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586C7C"/>
                </a:solidFill>
                <a:latin typeface="Aptos"/>
              </a:defRPr>
            </a:pPr>
            <a:r>
              <a:t>11. évfolyam • Villamos szerelések • 19. hét •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3246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468880"/>
            <a:ext cx="594360" cy="59436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87168"/>
            <a:ext cx="59436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565C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10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93059"/>
                </a:solidFill>
                <a:latin typeface="Aptos"/>
              </a:defRPr>
            </a:pPr>
            <a:r>
              <a:t>Nyomógomb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Több helyről rövid vezérlőimpulzus.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148840"/>
            <a:ext cx="3246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00600" y="2468880"/>
            <a:ext cx="594360" cy="59436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487168"/>
            <a:ext cx="59436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565C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310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93059"/>
                </a:solidFill>
                <a:latin typeface="Aptos"/>
              </a:defRPr>
            </a:pPr>
            <a:r>
              <a:t>Impulzusrelé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822191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Minden impulzusra állapotot vált.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48840"/>
            <a:ext cx="32461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9640" y="2468880"/>
            <a:ext cx="594360" cy="594360"/>
          </a:xfrm>
          <a:prstGeom prst="ellipse">
            <a:avLst/>
          </a:prstGeom>
          <a:solidFill>
            <a:srgbClr val="EFF7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487168"/>
            <a:ext cx="59436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565C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10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93059"/>
                </a:solidFill>
                <a:latin typeface="Aptos"/>
              </a:defRPr>
            </a:pPr>
            <a:r>
              <a:t>Lépcsőházi automata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822191"/>
            <a:ext cx="2697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C2F40"/>
                </a:solidFill>
                <a:latin typeface="Aptos"/>
              </a:defRPr>
            </a:pPr>
            <a:r>
              <a:t>Időzített világítás, automatikus kikapcsolás.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25880" y="5623560"/>
            <a:ext cx="9509760" cy="347472"/>
          </a:xfrm>
          <a:prstGeom prst="round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641848"/>
            <a:ext cx="9509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1565C0"/>
                </a:solidFill>
                <a:latin typeface="Aptos"/>
              </a:defRPr>
            </a:pPr>
            <a:r>
              <a:t>Keresztkapcsolás → több kezelési hely mechanikusan | impulzusrelé → több kezelési hely vezérléssel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