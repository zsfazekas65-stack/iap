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74BEF1"/>
                </a:solidFill>
                <a:latin typeface="Aptos"/>
              </a:defRPr>
            </a:pPr>
            <a:r>
              <a:t>IAP • 27.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Hurokimpedancia mérése</a:t>
            </a:r>
            <a:br/>
            <a:r>
              <a:t>és a védelem ellenőrzése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07792"/>
            <a:ext cx="8046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CDDCE9"/>
                </a:solidFill>
                <a:latin typeface="Aptos"/>
              </a:defRPr>
            </a:pPr>
            <a:r>
              <a:t>Villamos szerelések • 11. évfolyam • 79–81.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143000"/>
            <a:ext cx="2423160" cy="3429000"/>
          </a:xfrm>
          <a:prstGeom prst="roundRect">
            <a:avLst/>
          </a:prstGeom>
          <a:solidFill>
            <a:srgbClr val="F1F7FB"/>
          </a:solidFill>
          <a:ln>
            <a:solidFill>
              <a:srgbClr val="F1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444752"/>
            <a:ext cx="1691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C2A48"/>
                </a:solidFill>
                <a:latin typeface="Aptos"/>
              </a:defRPr>
            </a:pPr>
            <a:r>
              <a:t>Zs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011680"/>
            <a:ext cx="1600200" cy="777240"/>
          </a:xfrm>
          <a:prstGeom prst="roundRect">
            <a:avLst/>
          </a:prstGeom>
          <a:solidFill>
            <a:srgbClr val="D7EBF8"/>
          </a:solidFill>
          <a:ln>
            <a:solidFill>
              <a:srgbClr val="B4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2212848"/>
            <a:ext cx="1325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1267B1"/>
                </a:solidFill>
                <a:latin typeface="Aptos"/>
              </a:defRPr>
            </a:pPr>
            <a:r>
              <a:t>0,42 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063240"/>
            <a:ext cx="1600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5B6C7C"/>
                </a:solidFill>
                <a:latin typeface="Aptos"/>
              </a:defRPr>
            </a:pPr>
            <a:r>
              <a:t>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493008"/>
            <a:ext cx="731520" cy="73152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71500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5EFF7"/>
                </a:solidFill>
                <a:latin typeface="Aptos"/>
              </a:defRPr>
            </a:pPr>
            <a:r>
              <a:t>A berendezés akkor biztonságos, ha hiba esetén is kiszámíthatóan lekapcsol.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Mi a hibahurok?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hibaáram útja a táplálástól a hibán át vissza a forrás felé.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Forrás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28600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L vezető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28600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Hibahely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28600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PE út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28600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Védelmi eszköz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7440" y="2670048"/>
            <a:ext cx="50292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840" y="2670048"/>
            <a:ext cx="64008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2670048"/>
            <a:ext cx="59436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2670048"/>
            <a:ext cx="54864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3931920"/>
            <a:ext cx="101498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202B37"/>
                </a:solidFill>
                <a:latin typeface="Aptos"/>
              </a:defRPr>
            </a:pPr>
            <a:r>
              <a:t>A hurokimpedancia a teljes hibaáramkör váltakozó áramú akadálya. Jele: Zs.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Zs és hibaáram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mérés célja: a várható hibaáram elegendő-e a védelem működtetéséhez?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29184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KIS ZS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Nagyobb hibaáram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80360"/>
            <a:ext cx="292608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védelem nagyobb eséllyel gyorsan működik.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82296" cy="3291840"/>
          </a:xfrm>
          <a:prstGeom prst="rect">
            <a:avLst/>
          </a:prstGeom>
          <a:solidFill>
            <a:srgbClr val="BE3A34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BE3A34"/>
                </a:solidFill>
                <a:latin typeface="Aptos"/>
              </a:defRPr>
            </a:pPr>
            <a:r>
              <a:t>NAGY ZS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Kisebb hibaáram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80360"/>
            <a:ext cx="292608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lekapcsolás késhet vagy bizonytalanná válhat.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28800"/>
            <a:ext cx="82296" cy="329184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ÉRTÉKELÉS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Nem csak szám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80360"/>
            <a:ext cx="292608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védelmi készülék típusa és karakterisztikája is számít.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Mit ellenőrzünk?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hurokimpedancia-mérés a hibavédelem gondolkodási láncának része.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1965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67B1"/>
                </a:solidFill>
                <a:latin typeface="Aptos"/>
              </a:defRPr>
            </a:pPr>
            <a:r>
              <a:t>PE folytonosság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93392"/>
            <a:ext cx="2834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Megvan-e a védőút?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93392"/>
            <a:ext cx="4480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PE nélkül nincs megbízható hibahurok.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80360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44952"/>
            <a:ext cx="1965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67B1"/>
                </a:solidFill>
                <a:latin typeface="Aptos"/>
              </a:defRPr>
            </a:pPr>
            <a:r>
              <a:t>Zs érték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044952"/>
            <a:ext cx="2834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Elég kicsi-e?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44952"/>
            <a:ext cx="4480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hibaáram nagyságát befolyásolja.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31920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96511"/>
            <a:ext cx="1965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67B1"/>
                </a:solidFill>
                <a:latin typeface="Aptos"/>
              </a:defRPr>
            </a:pPr>
            <a:r>
              <a:t>Védelmi készülék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096511"/>
            <a:ext cx="2834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Megfelelő-e?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096511"/>
            <a:ext cx="4480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kismegszakítónak működnie kell.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83480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48072"/>
            <a:ext cx="1965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267B1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148072"/>
            <a:ext cx="2834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C2A48"/>
                </a:solidFill>
                <a:latin typeface="Aptos"/>
              </a:defRPr>
            </a:pPr>
            <a:r>
              <a:t>Hol és hogyan mértünk?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148072"/>
            <a:ext cx="4480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mérés így lesz értékelhető.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Biztonságos mérési sorrend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hurokimpedancia-mérés jellemzően feszültség alatt végzett ellenőrzés.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Áramkör</a:t>
            </a:r>
            <a:br/>
            <a:r>
              <a:t>azonosítása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7128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96896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Műszer és</a:t>
            </a:r>
            <a:br/>
            <a:r>
              <a:t>vezeték ellenőrzés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31336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61104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4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Mérési pont</a:t>
            </a:r>
            <a:br/>
            <a:r>
              <a:t>kijelölése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5544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25312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5896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272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Tanári</a:t>
            </a:r>
            <a:br/>
            <a:r>
              <a:t>jóváhagyás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9752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9520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0104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53728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54312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88168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917936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18520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7896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343400"/>
            <a:ext cx="10698480" cy="914400"/>
          </a:xfrm>
          <a:prstGeom prst="roundRect">
            <a:avLst/>
          </a:prstGeom>
          <a:solidFill>
            <a:srgbClr val="FFF4E1"/>
          </a:solidFill>
          <a:ln>
            <a:solidFill>
              <a:srgbClr val="F4C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572000"/>
            <a:ext cx="102412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784A14"/>
                </a:solidFill>
                <a:latin typeface="Aptos"/>
              </a:defRPr>
            </a:pPr>
            <a:r>
              <a:t>⚠ Feszültség alatti mérésnél nincs kapkodás: mérési pont, műszerbeállítás és környezet ellenőrzése kötelező.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Tipikus mérési pontok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Mindig az áramkör kialakítása és a mérési cél alapján választunk.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3832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82296" cy="315468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DUGALJ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77439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L–PE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26079"/>
            <a:ext cx="29260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Gyakori ellenőrzési pont. A PE kapcsolat megléte és minősége kulcskérdés.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3832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82296" cy="315468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7568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ELOSZTÓ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77439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Leágazás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26079"/>
            <a:ext cx="29260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kimenő áramkör védelmi feltételeinek vizsgálatához használható.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74519"/>
            <a:ext cx="33832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74519"/>
            <a:ext cx="82296" cy="315468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07568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BERENDEZÉS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77439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Kapocspont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926079"/>
            <a:ext cx="29260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Csak pontos azonosítás után, felügyelettel és megfelelő mérési móddal.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Eredmény értelmezése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Zs érték önmagában még nem végső minősítés.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267B1"/>
                </a:solidFill>
                <a:latin typeface="Aptos"/>
              </a:defRPr>
            </a:pPr>
            <a:r>
              <a:t>Mért érték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267B1"/>
                </a:solidFill>
                <a:latin typeface="Aptos"/>
              </a:defRPr>
            </a:pPr>
            <a:r>
              <a:t>Védelmi eszköz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267B1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267B1"/>
                </a:solidFill>
                <a:latin typeface="Aptos"/>
              </a:defRPr>
            </a:pPr>
            <a:r>
              <a:t>Követelmény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F7A5B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2316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71800" y="242316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242316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242316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42316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377440" y="2971800"/>
            <a:ext cx="59436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840" y="2971800"/>
            <a:ext cx="64008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37960" y="2971800"/>
            <a:ext cx="64008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41080" y="2971800"/>
            <a:ext cx="594360" cy="0"/>
          </a:xfrm>
          <a:prstGeom prst="line">
            <a:avLst/>
          </a:prstGeom>
          <a:ln w="25400"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87552" y="2761488"/>
            <a:ext cx="1325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C2A48"/>
                </a:solidFill>
                <a:latin typeface="Aptos"/>
              </a:defRPr>
            </a:pPr>
            <a:r>
              <a:t>Zs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2761488"/>
            <a:ext cx="12801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C2A48"/>
                </a:solidFill>
                <a:latin typeface="Aptos"/>
              </a:defRPr>
            </a:pPr>
            <a:r>
              <a:t>B/C/D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761488"/>
            <a:ext cx="12801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C2A48"/>
                </a:solidFill>
                <a:latin typeface="Aptos"/>
              </a:defRPr>
            </a:pPr>
            <a:r>
              <a:t>TN/TT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761488"/>
            <a:ext cx="12801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C2A48"/>
                </a:solidFill>
                <a:latin typeface="Aptos"/>
              </a:defRPr>
            </a:pPr>
            <a:r>
              <a:t>idő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61488"/>
            <a:ext cx="12801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1F7A5B"/>
                </a:solidFill>
                <a:latin typeface="Aptos"/>
              </a:defRPr>
            </a:pPr>
            <a:r>
              <a:t>OK?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97680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202B37"/>
                </a:solidFill>
                <a:latin typeface="Aptos"/>
              </a:defRPr>
            </a:pPr>
            <a:r>
              <a:t>A szakmai döntéshez a mérési körülményeket és a védelmi készüléket is rögzíteni kell.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Rossz érték – hol keresd?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Először a mérés helyességét zárjuk ki, majd szakaszolva keresünk.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1737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1">
                <a:solidFill>
                  <a:srgbClr val="0C2A48"/>
                </a:solidFill>
                <a:latin typeface="Aptos"/>
              </a:defRPr>
            </a:pPr>
            <a:r>
              <a:t>Mérési pont ellenőrzése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60604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224028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542032"/>
            <a:ext cx="1737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1">
                <a:solidFill>
                  <a:srgbClr val="0C2A48"/>
                </a:solidFill>
                <a:latin typeface="Aptos"/>
              </a:defRPr>
            </a:pPr>
            <a:r>
              <a:t>Műszerbeállítás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60604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224028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542032"/>
            <a:ext cx="1737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1">
                <a:solidFill>
                  <a:srgbClr val="0C2A48"/>
                </a:solidFill>
                <a:latin typeface="Aptos"/>
              </a:defRPr>
            </a:pPr>
            <a:r>
              <a:t>PE-kötések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260604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3" y="224028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542032"/>
            <a:ext cx="1737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1">
                <a:solidFill>
                  <a:srgbClr val="0C2A48"/>
                </a:solidFill>
                <a:latin typeface="Aptos"/>
              </a:defRPr>
            </a:pPr>
            <a:r>
              <a:t>Kötődoboz/sorkapocs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260604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72" y="224028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2542032"/>
            <a:ext cx="1737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1">
                <a:solidFill>
                  <a:srgbClr val="0C2A48"/>
                </a:solidFill>
                <a:latin typeface="Aptos"/>
              </a:defRPr>
            </a:pPr>
            <a:r>
              <a:t>Hibás szakasz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102412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202B37"/>
                </a:solidFill>
                <a:latin typeface="Aptos"/>
              </a:defRPr>
            </a:pPr>
            <a:r>
              <a:t>Gyakori okok: laza PE-kötés • korrodált kapocs • sérült vezető • rossz mérési pont • túl hosszú/túl vékony vezetékszakasz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Műhelygyakorlat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Jó és hibás mérési pontok összehasonlítása oktatótáblán.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38328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1. ÁLLOMÁS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Előkészítés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Áramkör azonosítása</a:t>
            </a:r>
            <a:br/>
            <a:r>
              <a:t>Mérési pont kiválasztása</a:t>
            </a:r>
            <a:br/>
            <a:r>
              <a:t>Műszerellenőrzés</a:t>
            </a:r>
            <a:br/>
            <a:r>
              <a:t>Tanári jóváhagyás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82296" cy="338328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2. ÁLLOMÁS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Hurokimpedancia-mérés</a:t>
            </a:r>
            <a:br/>
            <a:r>
              <a:t>Eredmény rögzítése</a:t>
            </a:r>
            <a:br/>
            <a:r>
              <a:t>Védelmi készülék feljegyzése</a:t>
            </a:r>
            <a:br/>
            <a:r>
              <a:t>Körülmények dokumentálása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28800"/>
            <a:ext cx="82296" cy="338328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3. ÁLLOMÁS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Szimulált PE-hiba</a:t>
            </a:r>
            <a:br/>
            <a:r>
              <a:t>Szakaszolás</a:t>
            </a:r>
            <a:br/>
            <a:r>
              <a:t>Hibás pont behatárolása</a:t>
            </a:r>
            <a:br/>
            <a:r>
              <a:t>Szakmai következtetés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Működik, tehát biztonságos?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Egy dugaszolóaljzat működik, de a hurokimpedancia gyanúsan nagy.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C2A48"/>
                </a:solidFill>
                <a:latin typeface="Aptos"/>
              </a:defRPr>
            </a:pPr>
            <a:r>
              <a:t>Elfogadható-e a szerelés csak azért, mert a fogyasztó bekapcsol?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657600"/>
            <a:ext cx="3474720" cy="1143000"/>
          </a:xfrm>
          <a:prstGeom prst="roundRect">
            <a:avLst/>
          </a:prstGeom>
          <a:solidFill>
            <a:srgbClr val="EEF8F3"/>
          </a:solidFill>
          <a:ln>
            <a:solidFill>
              <a:srgbClr val="B0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3977639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1F7A5B"/>
                </a:solidFill>
                <a:latin typeface="Aptos"/>
              </a:defRPr>
            </a:pPr>
            <a:r>
              <a:t>IGEN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657600"/>
            <a:ext cx="3474720" cy="1143000"/>
          </a:xfrm>
          <a:prstGeom prst="roundRect">
            <a:avLst/>
          </a:prstGeom>
          <a:solidFill>
            <a:srgbClr val="FDEEED"/>
          </a:solidFill>
          <a:ln>
            <a:solidFill>
              <a:srgbClr val="E7B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977639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BE3A34"/>
                </a:solidFill>
                <a:latin typeface="Aptos"/>
              </a:defRPr>
            </a:pPr>
            <a:r>
              <a:t>NEM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101498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02B37"/>
                </a:solidFill>
                <a:latin typeface="Aptos"/>
              </a:defRPr>
            </a:pPr>
            <a:r>
              <a:t>Helyes válasz: NEM – a működés nem bizonyítja a hibavédelem megfelelőségét.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A 27. hét lényege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Öt gondolat, amit a műhelyben is alkalmazni kell.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9164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A hibahurok útját érteni kell.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13055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Nagy Zs esetén kisebb lehet a hibaáram.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95351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3756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A PE-út minősége döntő.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77647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6052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Az eredmény a védelmi készülékkel együtt értelmezhető.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599431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8348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Mérés nélkül a működés nem jelent biztonságot.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542239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502920"/>
          </a:xfrm>
          <a:prstGeom prst="roundRect">
            <a:avLst/>
          </a:prstGeom>
          <a:solidFill>
            <a:srgbClr val="E0F0FC"/>
          </a:solidFill>
          <a:ln>
            <a:solidFill>
              <a:srgbClr val="E0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925312"/>
            <a:ext cx="10058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Következő hét: áram-védőkapcsoló ellenőrzése és komplex mérési jegyzőkönyv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