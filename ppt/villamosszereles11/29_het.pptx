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74BEF1"/>
                </a:solidFill>
                <a:latin typeface="Aptos"/>
              </a:defRPr>
            </a:pPr>
            <a:r>
              <a:t>IAP • 29.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Kapcsolási rajzok</a:t>
            </a:r>
            <a:br/>
            <a:r>
              <a:t>olvasása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8046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CDDCE9"/>
                </a:solidFill>
                <a:latin typeface="Aptos"/>
              </a:defRPr>
            </a:pPr>
            <a:r>
              <a:t>Villamos szerelések • 11. évfolyam • 85–87.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97280"/>
            <a:ext cx="3017520" cy="4023360"/>
          </a:xfrm>
          <a:prstGeom prst="roundRect">
            <a:avLst/>
          </a:prstGeom>
          <a:solidFill>
            <a:srgbClr val="E6F4FF"/>
          </a:solidFill>
          <a:ln>
            <a:solidFill>
              <a:srgbClr val="B4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50876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0C2A48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35607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0C2A48"/>
                </a:solidFill>
                <a:latin typeface="Aptos"/>
              </a:defRPr>
            </a:pPr>
            <a:r>
              <a:t>QF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029967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69748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0C2A48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624328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29184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0C2A48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218688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88620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0C2A48"/>
                </a:solidFill>
                <a:latin typeface="Aptos"/>
              </a:defRPr>
            </a:pPr>
            <a:r>
              <a:t>H1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813048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617720"/>
            <a:ext cx="2560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1267B1"/>
                </a:solidFill>
                <a:latin typeface="Aptos"/>
              </a:defRPr>
            </a:pPr>
            <a:r>
              <a:t>rajz → szerelés → ellenőrzés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71500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5EFF7"/>
                </a:solidFill>
                <a:latin typeface="Aptos"/>
              </a:defRPr>
            </a:pPr>
            <a:r>
              <a:t>Aki érti a rajzot, nem találgat: tudatosan szerel és célzottan keres hibát.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Miért kell rajzot olvasni?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rajz egyszerre terv, munkautasítás és hibakeresési térkép.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24612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Nem találgatás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011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készülékek és vezetékek kapcsolata előre meghatározott.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24612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Visszakövethető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011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kész kapcsolás összevethető a dokumentációval.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24612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Célzott mérés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011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mérési pontokat a rajz alapján jelöljük ki.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Rajztípusok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Nem minden rajz ugyanazt mutatja.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697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82296" cy="36118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01368"/>
            <a:ext cx="22402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ELVI RAJZ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03120"/>
            <a:ext cx="2240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51760"/>
            <a:ext cx="2240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működési kapcsolatokat mutatja. Nem feltétlenül a fizikai helyet.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600200"/>
            <a:ext cx="2697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600200"/>
            <a:ext cx="82296" cy="361188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801368"/>
            <a:ext cx="22402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SZERELÉSI RAJZ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103120"/>
            <a:ext cx="2240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Elhelyezés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651760"/>
            <a:ext cx="2240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Dobozok, készülékek és vezetékek gyakorlati elrendezése.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600200"/>
            <a:ext cx="2697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600200"/>
            <a:ext cx="82296" cy="36118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801368"/>
            <a:ext cx="22402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KAPOCSTERV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103120"/>
            <a:ext cx="2240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2651760"/>
            <a:ext cx="2240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Sorkapcsok, vezetékazonosítók és csatlakozási pontok.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1600200"/>
            <a:ext cx="2697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1600200"/>
            <a:ext cx="82296" cy="3611880"/>
          </a:xfrm>
          <a:prstGeom prst="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1801368"/>
            <a:ext cx="22402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BE3A34"/>
                </a:solidFill>
                <a:latin typeface="Aptos"/>
              </a:defRPr>
            </a:pPr>
            <a:r>
              <a:t>EGYVONALAS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103120"/>
            <a:ext cx="2240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Áttekintés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632" y="2651760"/>
            <a:ext cx="2240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Elosztók, védelmi készülékek és fő energiaút.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Jelölések, amelyeket olvasni kell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rajzjel önmagában kevés: az azonosító és a kapocs is számít.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L/N/PE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2938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vezetők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69164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89280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QF/F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2938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69164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89280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92938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3872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57530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relé / mágneskapcsoló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333756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53872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57530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jelzőlámpa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333756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353872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67B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57530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sorkapocs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Áramút követése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Mindig teljes útvonalban gondolkodunk.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16002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615184"/>
            <a:ext cx="320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578608"/>
            <a:ext cx="16002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615184"/>
            <a:ext cx="320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578608"/>
            <a:ext cx="16002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Kapcsolóelem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615184"/>
            <a:ext cx="320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78608"/>
            <a:ext cx="16002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Fogyasztó / tekercs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615184"/>
            <a:ext cx="320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578608"/>
            <a:ext cx="16002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Visszatérő ág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102412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202B37"/>
                </a:solidFill>
                <a:latin typeface="Aptos"/>
              </a:defRPr>
            </a:pPr>
            <a:r>
              <a:t>Ha egy pont kimarad, a működés megértése is hibás lesz. A STOP gomb, az öntartás és a visszatérő ág ugyanolyan fontos, mint a 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Főáramkör és vezérlőáramkör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Külön kell olvasni, mégis együtt működnek.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82296" cy="33832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029968"/>
            <a:ext cx="4480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FŐÁRAMKÖR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3172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Energia útja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880360"/>
            <a:ext cx="448056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Védelmi készülék, kapcsolókészülék főérintkezői, motor vagy más nagyobb teljesítményű fogyasztó.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28800"/>
            <a:ext cx="82296" cy="33832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029968"/>
            <a:ext cx="4480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VEZÉRLŐÁRAMKÖR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33172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Döntés és parancs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880360"/>
            <a:ext cx="448056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STOP, START, végállás, segédérintkező, tekercs, jelzőlámpa és reteszelés.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Rajzolvasási sorrend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Ez legyen a tanulói rutin.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0020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Cím és rendeltetés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029967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13432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Tápfeszültség és védelem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743200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26664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26664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Működtetett elem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45643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39896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9896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Áramút végigkövetése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169664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53128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53128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Kapcsok és vezetékjelölések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882896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594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16636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Mérési pontok kijelölése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5596128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rajzolvasásnál ezek vezetnek rossz kötéshez vagy rossz hibakereséshez.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82296" cy="1691640"/>
          </a:xfrm>
          <a:prstGeom prst="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9928"/>
            <a:ext cx="4617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BE3A34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11680"/>
            <a:ext cx="4617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Csak a rajzjelet nézi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60320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kapocsszám nélkül bizonytalan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82296" cy="169164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709928"/>
            <a:ext cx="4617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011680"/>
            <a:ext cx="4617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Összekeveri a rajztípust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560320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elvi rajzból fizikai helyet keres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82296" cy="1691640"/>
          </a:xfrm>
          <a:prstGeom prst="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858768"/>
            <a:ext cx="4617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BE3A34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160520"/>
            <a:ext cx="4617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Kihagyja a visszatérő ágat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09160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nem teljes az áramút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657600"/>
            <a:ext cx="82296" cy="169164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858768"/>
            <a:ext cx="4617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160520"/>
            <a:ext cx="4617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Nem különíti el a fő- és vezérlőrészt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709160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összekeveri a funkciókat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Műhelygyakorlat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Rajz alapján jelölünk, majd csak utána mérünk.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3832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1. ÁLLOMÁS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Rajz címe</a:t>
            </a:r>
            <a:br/>
            <a:r>
              <a:t>Tápoldal</a:t>
            </a:r>
            <a:br/>
            <a:r>
              <a:t>Védelmi készülék</a:t>
            </a:r>
            <a:br/>
            <a:r>
              <a:t>Fogyasztó vagy tekercs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3832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2. ÁLLOMÁS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Áramút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Kapcsolóelemek</a:t>
            </a:r>
            <a:br/>
            <a:r>
              <a:t>Sorkapcsok</a:t>
            </a:r>
            <a:br/>
            <a:r>
              <a:t>Visszatérő ág</a:t>
            </a:r>
            <a:br/>
            <a:r>
              <a:t>Fő- és vezérlőrész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38328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3. ÁLLOMÁS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Hibatünet</a:t>
            </a:r>
            <a:br/>
            <a:r>
              <a:t>Mérési pontok</a:t>
            </a:r>
            <a:br/>
            <a:r>
              <a:t>Ellenőrzési sorrend</a:t>
            </a:r>
            <a:br/>
            <a:r>
              <a:t>Következtetés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Elég csak a START gombot megtalálni?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START–STOP vezérlés rajzának értelmezése.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A tanuló megtalálta a START gombot és K1 tekercset, de kihagyta a STOP gombot és az öntartó érintkezőt.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57600"/>
            <a:ext cx="3474720" cy="1143000"/>
          </a:xfrm>
          <a:prstGeom prst="roundRect">
            <a:avLst/>
          </a:prstGeom>
          <a:solidFill>
            <a:srgbClr val="EEF8F3"/>
          </a:solidFill>
          <a:ln>
            <a:solidFill>
              <a:srgbClr val="B0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1F7A5B"/>
                </a:solidFill>
                <a:latin typeface="Aptos"/>
              </a:defRPr>
            </a:pPr>
            <a:r>
              <a:t>ELÉG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657600"/>
            <a:ext cx="3474720" cy="1143000"/>
          </a:xfrm>
          <a:prstGeom prst="roundRect">
            <a:avLst/>
          </a:prstGeom>
          <a:solidFill>
            <a:srgbClr val="FDEEED"/>
          </a:solidFill>
          <a:ln>
            <a:solidFill>
              <a:srgbClr val="E7B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BE3A34"/>
                </a:solidFill>
                <a:latin typeface="Aptos"/>
              </a:defRPr>
            </a:pPr>
            <a:r>
              <a:t>NEM ELÉG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02B37"/>
                </a:solidFill>
                <a:latin typeface="Aptos"/>
              </a:defRPr>
            </a:pPr>
            <a:r>
              <a:t>Helyes válasz: NEM – a rajzot teljes működési útvonalban kell olvasni.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DOKUMENTÁCIÓ ÉS RAJZOLVASÁS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A 29. hét lényege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rajz nem dísz, hanem szakmai térkép.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4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Rajztípus felismerése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3055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Jelölések és kapcsok értelmezése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95351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3756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Áramút végigkövetése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77647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6052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Fő- és vezérlőáramkör szétválasztása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599431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8348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Hibakeresési pontok kijelölése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542239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E0F0FC"/>
          </a:solidFill>
          <a:ln>
            <a:solidFill>
              <a:srgbClr val="E0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25312"/>
            <a:ext cx="10058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Következő hét: Szerelési dokumentáció készítése és jegyzőkönyv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