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Áram [A]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15 kV</c:v>
                </c:pt>
                <c:pt idx="1">
                  <c:v>400 kV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3849</c:v>
                </c:pt>
                <c:pt idx="1">
                  <c:v>144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43000"/>
            <a:ext cx="1078992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DejaVu Sans"/>
              </a:defRPr>
            </a:pPr>
            <a:r>
              <a:t>Villamos művek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93392"/>
            <a:ext cx="107899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CFE4F5"/>
                </a:solidFill>
                <a:latin typeface="DejaVu Sans"/>
              </a:defRPr>
            </a:pPr>
            <a:r>
              <a:t>6.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8992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DejaVu Sans"/>
              </a:defRPr>
            </a:pPr>
            <a:r>
              <a:t>Komplex összefoglalás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03320"/>
            <a:ext cx="103327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900" b="0">
                <a:solidFill>
                  <a:srgbClr val="CFE4F5"/>
                </a:solidFill>
                <a:latin typeface="DejaVu Sans"/>
              </a:defRPr>
            </a:pPr>
            <a:r>
              <a:t>energiaút • generátor • blokktranszformátor • erőműtípusok • számítások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Az első témakör térképe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Mit kell egyben látni?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A villamos energia útja az erőműtől a fogyasztóig.</a:t>
            </a:r>
          </a:p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A generátor és a blokktranszformátor kapcsolata.</a:t>
            </a:r>
          </a:p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A feszültségszint-emelés oka és következménye.</a:t>
            </a:r>
          </a:p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Az erőműtípusok rendszerüzemeltetési szerepe.</a:t>
            </a:r>
          </a:p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Egyszerű áram-, veszteség- és hatásfokszámítás.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965960"/>
            <a:ext cx="3291840" cy="1280160"/>
          </a:xfrm>
          <a:prstGeom prst="roundRect">
            <a:avLst/>
          </a:prstGeom>
          <a:solidFill>
            <a:srgbClr val="173A5E"/>
          </a:solidFill>
          <a:ln w="19050">
            <a:solidFill>
              <a:srgbClr val="17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  <a:latin typeface="DejaVu Sans"/>
              </a:defRPr>
            </a:pPr>
            <a:r>
              <a:t>Rendszerben</a:t>
            </a:r>
            <a:br/>
            <a:r>
              <a:t>gondolkodás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3657600"/>
            <a:ext cx="4114800" cy="1005840"/>
          </a:xfrm>
          <a:prstGeom prst="roundRect">
            <a:avLst/>
          </a:prstGeom>
          <a:solidFill>
            <a:srgbClr val="E1F1FC"/>
          </a:solidFill>
          <a:ln w="1905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A5E"/>
                </a:solidFill>
                <a:latin typeface="DejaVu Sans"/>
              </a:defRPr>
            </a:pPr>
            <a:r>
              <a:t>nem külön témák,</a:t>
            </a:r>
            <a:br/>
            <a:r>
              <a:t>hanem kapcsolatok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473952"/>
            <a:ext cx="3154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6.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A teljes energiaút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A termeléstől a fogyasztóig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194560"/>
            <a:ext cx="13258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73A5E"/>
                </a:solidFill>
                <a:latin typeface="DejaVu Sans"/>
              </a:defRPr>
            </a:pPr>
            <a:r>
              <a:t>Primer</a:t>
            </a:r>
            <a:br/>
            <a:r>
              <a:t>energia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37360" y="2651760"/>
            <a:ext cx="274320" cy="0"/>
          </a:xfrm>
          <a:prstGeom prst="line">
            <a:avLst/>
          </a:prstGeom>
          <a:ln w="2794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011680" y="2194560"/>
            <a:ext cx="13258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73A5E"/>
                </a:solidFill>
                <a:latin typeface="DejaVu Sans"/>
              </a:defRPr>
            </a:pPr>
            <a:r>
              <a:t>Turbina /</a:t>
            </a:r>
            <a:br/>
            <a:r>
              <a:t>átalakító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37560" y="2651760"/>
            <a:ext cx="411479" cy="0"/>
          </a:xfrm>
          <a:prstGeom prst="line">
            <a:avLst/>
          </a:prstGeom>
          <a:ln w="2794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49039" y="2194560"/>
            <a:ext cx="13258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73A5E"/>
                </a:solidFill>
                <a:latin typeface="DejaVu Sans"/>
              </a:defRPr>
            </a:pPr>
            <a:r>
              <a:t>Generátor /</a:t>
            </a:r>
            <a:br/>
            <a:r>
              <a:t>inverter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74920" y="2651760"/>
            <a:ext cx="502920" cy="0"/>
          </a:xfrm>
          <a:prstGeom prst="line">
            <a:avLst/>
          </a:prstGeom>
          <a:ln w="2794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2194560"/>
            <a:ext cx="13258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73A5E"/>
                </a:solidFill>
                <a:latin typeface="DejaVu Sans"/>
              </a:defRPr>
            </a:pPr>
            <a:r>
              <a:t>Blokk-</a:t>
            </a:r>
            <a:br/>
            <a:r>
              <a:t>trafó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03720" y="2651760"/>
            <a:ext cx="320040" cy="0"/>
          </a:xfrm>
          <a:prstGeom prst="line">
            <a:avLst/>
          </a:prstGeom>
          <a:ln w="2794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23760" y="2194560"/>
            <a:ext cx="13258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73A5E"/>
                </a:solidFill>
                <a:latin typeface="DejaVu Sans"/>
              </a:defRPr>
            </a:pPr>
            <a:r>
              <a:t>Átviteli</a:t>
            </a:r>
            <a:br/>
            <a:r>
              <a:t>hálózat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49640" y="2651760"/>
            <a:ext cx="365760" cy="0"/>
          </a:xfrm>
          <a:prstGeom prst="line">
            <a:avLst/>
          </a:prstGeom>
          <a:ln w="2794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915400" y="2194560"/>
            <a:ext cx="13258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73A5E"/>
                </a:solidFill>
                <a:latin typeface="DejaVu Sans"/>
              </a:defRPr>
            </a:pPr>
            <a:r>
              <a:t>Alállomás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241280" y="2651760"/>
            <a:ext cx="91440" cy="0"/>
          </a:xfrm>
          <a:prstGeom prst="line">
            <a:avLst/>
          </a:prstGeom>
          <a:ln w="2794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332720" y="2194560"/>
            <a:ext cx="13258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73A5E"/>
                </a:solidFill>
                <a:latin typeface="DejaVu Sans"/>
              </a:defRPr>
            </a:pPr>
            <a:r>
              <a:t>Fogyasztó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3474720"/>
            <a:ext cx="1234440" cy="384048"/>
          </a:xfrm>
          <a:prstGeom prst="round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10-20 kV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78040" y="3474720"/>
            <a:ext cx="1463040" cy="384048"/>
          </a:xfrm>
          <a:prstGeom prst="roundRect">
            <a:avLst/>
          </a:prstGeom>
          <a:solidFill>
            <a:srgbClr val="28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120-400 kV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3474720"/>
            <a:ext cx="1325880" cy="384048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400/230 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92040"/>
            <a:ext cx="103327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300" b="1">
                <a:solidFill>
                  <a:srgbClr val="173A5E"/>
                </a:solidFill>
                <a:latin typeface="DejaVu Sans"/>
              </a:defRPr>
            </a:pPr>
            <a:r>
              <a:t>Minden feszültségszintnek és berendezésnek konkrét feladata van.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6473952"/>
            <a:ext cx="3154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6.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Generátor és frekvencia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A gép fordulatszáma összefügg a hálózattal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65960"/>
            <a:ext cx="2926080" cy="1005840"/>
          </a:xfrm>
          <a:prstGeom prst="roundRect">
            <a:avLst/>
          </a:prstGeom>
          <a:solidFill>
            <a:srgbClr val="E1F1FC"/>
          </a:solidFill>
          <a:ln w="1905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A5E"/>
                </a:solidFill>
                <a:latin typeface="DejaVu Sans"/>
              </a:defRPr>
            </a:pPr>
            <a:r>
              <a:t>Forgó mágneses tér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965960"/>
            <a:ext cx="29260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A5E"/>
                </a:solidFill>
                <a:latin typeface="DejaVu Sans"/>
              </a:defRPr>
            </a:pPr>
            <a:r>
              <a:t>Állórész tekercsei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965960"/>
            <a:ext cx="2926080" cy="1005840"/>
          </a:xfrm>
          <a:prstGeom prst="roundRect">
            <a:avLst/>
          </a:prstGeom>
          <a:solidFill>
            <a:srgbClr val="EEF7F2"/>
          </a:solidFill>
          <a:ln w="19050">
            <a:solidFill>
              <a:srgbClr val="28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87A52"/>
                </a:solidFill>
                <a:latin typeface="DejaVu Sans"/>
              </a:defRPr>
            </a:pPr>
            <a:r>
              <a:t>3 fázisú feszültség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40480" y="2468880"/>
            <a:ext cx="731520" cy="0"/>
          </a:xfrm>
          <a:prstGeom prst="line">
            <a:avLst/>
          </a:prstGeom>
          <a:ln w="2794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98079" y="2468880"/>
            <a:ext cx="731521" cy="0"/>
          </a:xfrm>
          <a:prstGeom prst="line">
            <a:avLst/>
          </a:prstGeom>
          <a:ln w="2794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46120" y="3840480"/>
            <a:ext cx="5577840" cy="685800"/>
          </a:xfrm>
          <a:prstGeom prst="round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DejaVu Sans"/>
              </a:defRPr>
            </a:pPr>
            <a:r>
              <a:t>f = p · n / 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029200"/>
            <a:ext cx="99669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000" b="1">
                <a:solidFill>
                  <a:srgbClr val="173A5E"/>
                </a:solidFill>
                <a:latin typeface="DejaVu Sans"/>
              </a:defRPr>
            </a:pPr>
            <a:r>
              <a:t>50 Hz: kétpólusú gépnél 3000 1/min, négypólusú gépnél 1500 1/min.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6473952"/>
            <a:ext cx="3154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6.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Miért emelünk feszültséget?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Ugyanaz a teljesítmény kisebb árammal vihető át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2011680"/>
            <a:ext cx="2377440" cy="1097280"/>
          </a:xfrm>
          <a:prstGeom prst="roundRect">
            <a:avLst/>
          </a:prstGeom>
          <a:solidFill>
            <a:srgbClr val="E1F1FC"/>
          </a:solidFill>
          <a:ln w="1905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A5E"/>
                </a:solidFill>
                <a:latin typeface="DejaVu Sans"/>
              </a:defRPr>
            </a:pPr>
            <a:r>
              <a:t>100 MVA</a:t>
            </a:r>
            <a:br/>
            <a:r>
              <a:t>15 kV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874519"/>
            <a:ext cx="2651760" cy="1371600"/>
          </a:xfrm>
          <a:prstGeom prst="roundRect">
            <a:avLst/>
          </a:prstGeom>
          <a:solidFill>
            <a:srgbClr val="E97816"/>
          </a:solidFill>
          <a:ln w="19050">
            <a:solidFill>
              <a:srgbClr val="E97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DejaVu Sans"/>
              </a:defRPr>
            </a:pPr>
            <a:r>
              <a:t>Blokk-</a:t>
            </a:r>
            <a:br/>
            <a:r>
              <a:t>transzformátor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2011680"/>
            <a:ext cx="2377440" cy="1097280"/>
          </a:xfrm>
          <a:prstGeom prst="roundRect">
            <a:avLst/>
          </a:prstGeom>
          <a:solidFill>
            <a:srgbClr val="EEF7F2"/>
          </a:solidFill>
          <a:ln w="19050">
            <a:solidFill>
              <a:srgbClr val="28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87A52"/>
                </a:solidFill>
                <a:latin typeface="DejaVu Sans"/>
              </a:defRPr>
            </a:pPr>
            <a:r>
              <a:t>100 MVA</a:t>
            </a:r>
            <a:br/>
            <a:r>
              <a:t>400 kV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83280" y="2560320"/>
            <a:ext cx="1371600" cy="0"/>
          </a:xfrm>
          <a:prstGeom prst="line">
            <a:avLst/>
          </a:prstGeom>
          <a:ln w="2794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06640" y="2560320"/>
            <a:ext cx="1371600" cy="0"/>
          </a:xfrm>
          <a:prstGeom prst="line">
            <a:avLst/>
          </a:prstGeom>
          <a:ln w="2794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417320" y="3657600"/>
            <a:ext cx="1554480" cy="457200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DejaVu Sans"/>
              </a:defRPr>
            </a:pPr>
            <a:r>
              <a:t>3849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3657600"/>
            <a:ext cx="1371600" cy="457200"/>
          </a:xfrm>
          <a:prstGeom prst="roundRect">
            <a:avLst/>
          </a:prstGeom>
          <a:solidFill>
            <a:srgbClr val="28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DejaVu Sans"/>
              </a:defRPr>
            </a:pPr>
            <a:r>
              <a:t>144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103327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A5E"/>
                </a:solidFill>
                <a:latin typeface="DejaVu Sans"/>
              </a:defRPr>
            </a:pPr>
            <a:r>
              <a:t>Kisebb áram → kisebb I²R veszteség → kedvezőbb átvitel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473952"/>
            <a:ext cx="3154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6.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Erőműtípusok egy képen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Más technológia, más rendszerüzemeltetési szerep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828800" cy="914400"/>
          </a:xfrm>
          <a:prstGeom prst="roundRect">
            <a:avLst/>
          </a:prstGeom>
          <a:solidFill>
            <a:srgbClr val="173A5E"/>
          </a:solidFill>
          <a:ln w="19050">
            <a:solidFill>
              <a:srgbClr val="17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DejaVu Sans"/>
              </a:defRPr>
            </a:pPr>
            <a:r>
              <a:t>Hő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18288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300" b="1">
                <a:solidFill>
                  <a:srgbClr val="263746"/>
                </a:solidFill>
                <a:latin typeface="DejaVu Sans"/>
              </a:defRPr>
            </a:pPr>
            <a:r>
              <a:t>szabályozható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828800"/>
            <a:ext cx="1828800" cy="914400"/>
          </a:xfrm>
          <a:prstGeom prst="roundRect">
            <a:avLst/>
          </a:prstGeom>
          <a:solidFill>
            <a:srgbClr val="2B78B8"/>
          </a:solidFill>
          <a:ln w="1905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DejaVu Sans"/>
              </a:defRPr>
            </a:pPr>
            <a:r>
              <a:t>Atom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971800"/>
            <a:ext cx="18288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300" b="1">
                <a:solidFill>
                  <a:srgbClr val="263746"/>
                </a:solidFill>
                <a:latin typeface="DejaVu Sans"/>
              </a:defRPr>
            </a:pPr>
            <a:r>
              <a:t>folyamatos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828800"/>
            <a:ext cx="1828800" cy="914400"/>
          </a:xfrm>
          <a:prstGeom prst="roundRect">
            <a:avLst/>
          </a:prstGeom>
          <a:solidFill>
            <a:srgbClr val="287A52"/>
          </a:solidFill>
          <a:ln w="19050">
            <a:solidFill>
              <a:srgbClr val="28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DejaVu Sans"/>
              </a:defRPr>
            </a:pPr>
            <a:r>
              <a:t>Víz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971800"/>
            <a:ext cx="18288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300" b="1">
                <a:solidFill>
                  <a:srgbClr val="263746"/>
                </a:solidFill>
                <a:latin typeface="DejaVu Sans"/>
              </a:defRPr>
            </a:pPr>
            <a:r>
              <a:t>rugalmas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828800"/>
            <a:ext cx="1828800" cy="914400"/>
          </a:xfrm>
          <a:prstGeom prst="roundRect">
            <a:avLst/>
          </a:prstGeom>
          <a:solidFill>
            <a:srgbClr val="E97816"/>
          </a:solidFill>
          <a:ln w="19050">
            <a:solidFill>
              <a:srgbClr val="E97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DejaVu Sans"/>
              </a:defRPr>
            </a:pPr>
            <a:r>
              <a:t>Szél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971800"/>
            <a:ext cx="18288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300" b="1">
                <a:solidFill>
                  <a:srgbClr val="263746"/>
                </a:solidFill>
                <a:latin typeface="DejaVu Sans"/>
              </a:defRPr>
            </a:pPr>
            <a:r>
              <a:t>időjárásfüggő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1828800"/>
            <a:ext cx="1828800" cy="914400"/>
          </a:xfrm>
          <a:prstGeom prst="roundRect">
            <a:avLst/>
          </a:prstGeom>
          <a:solidFill>
            <a:srgbClr val="BE9114"/>
          </a:solidFill>
          <a:ln w="19050">
            <a:solidFill>
              <a:srgbClr val="BE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DejaVu Sans"/>
              </a:defRPr>
            </a:pPr>
            <a:r>
              <a:t>Nap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2971800"/>
            <a:ext cx="18288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300" b="1">
                <a:solidFill>
                  <a:srgbClr val="263746"/>
                </a:solidFill>
                <a:latin typeface="DejaVu Sans"/>
              </a:defRPr>
            </a:pPr>
            <a:r>
              <a:t>inverteres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51960"/>
            <a:ext cx="9875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63746"/>
                </a:solidFill>
                <a:latin typeface="DejaVu Sans"/>
              </a:defRPr>
            </a:pPr>
            <a:r>
              <a:t>A rendszernek nem egyetlen, hanem többféle termelőre van szüksége.</a:t>
            </a:r>
          </a:p>
          <a:p>
            <a:pPr>
              <a:spcAft>
                <a:spcPts val="800"/>
              </a:spcAft>
              <a:defRPr sz="2100">
                <a:solidFill>
                  <a:srgbClr val="263746"/>
                </a:solidFill>
                <a:latin typeface="DejaVu Sans"/>
              </a:defRPr>
            </a:pPr>
            <a:r>
              <a:t>A szabályozhatóság, rendelkezésre állás és környezeti hatás együtt számít.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6473952"/>
            <a:ext cx="3154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6.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Alapképletek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A számításokhoz szükséges minimum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3108960" cy="475488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DejaVu Sans"/>
              </a:defRPr>
            </a:pPr>
            <a:r>
              <a:t>S = √3 · U ·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673352"/>
            <a:ext cx="62179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800" b="0">
                <a:solidFill>
                  <a:srgbClr val="263746"/>
                </a:solidFill>
                <a:latin typeface="DejaVu Sans"/>
              </a:defRPr>
            </a:pPr>
            <a:r>
              <a:t>háromfázisú látszólagos teljesítmény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23160"/>
            <a:ext cx="3108960" cy="475488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DejaVu Sans"/>
              </a:defRPr>
            </a:pPr>
            <a:r>
              <a:t>I = S / (√3 · 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496312"/>
            <a:ext cx="62179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800" b="0">
                <a:solidFill>
                  <a:srgbClr val="263746"/>
                </a:solidFill>
                <a:latin typeface="DejaVu Sans"/>
              </a:defRPr>
            </a:pPr>
            <a:r>
              <a:t>áram számítása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46120"/>
            <a:ext cx="3108960" cy="475488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DejaVu Sans"/>
              </a:defRPr>
            </a:pPr>
            <a:r>
              <a:t>Pv = I² · 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319272"/>
            <a:ext cx="62179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800" b="0">
                <a:solidFill>
                  <a:srgbClr val="263746"/>
                </a:solidFill>
                <a:latin typeface="DejaVu Sans"/>
              </a:defRPr>
            </a:pPr>
            <a:r>
              <a:t>vezetékveszteség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69080"/>
            <a:ext cx="3108960" cy="475488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DejaVu Sans"/>
              </a:defRPr>
            </a:pPr>
            <a:r>
              <a:t>η = Pki / Pbe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4142232"/>
            <a:ext cx="62179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800" b="0">
                <a:solidFill>
                  <a:srgbClr val="263746"/>
                </a:solidFill>
                <a:latin typeface="DejaVu Sans"/>
              </a:defRPr>
            </a:pPr>
            <a:r>
              <a:t>hatásfok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92040"/>
            <a:ext cx="3108960" cy="475488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DejaVu Sans"/>
              </a:defRPr>
            </a:pPr>
            <a:r>
              <a:t>f = p · n / 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965192"/>
            <a:ext cx="62179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800" b="0">
                <a:solidFill>
                  <a:srgbClr val="263746"/>
                </a:solidFill>
                <a:latin typeface="DejaVu Sans"/>
              </a:defRPr>
            </a:pPr>
            <a:r>
              <a:t>frekvencia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473952"/>
            <a:ext cx="3154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6.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Komplex számítás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100 MVA példa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645920"/>
          <a:ext cx="56692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040880" y="1828800"/>
            <a:ext cx="4297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A teljesítmény ugyanaz marad.</a:t>
            </a:r>
          </a:p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A feszültség növelése csökkenti az áramot.</a:t>
            </a:r>
          </a:p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A veszteség négyzetesen függ az áramtól.</a:t>
            </a:r>
          </a:p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Ezért alapvető a nagyfeszültségű átvitel.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73952"/>
            <a:ext cx="3154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6. hét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Gyakorlati ellenőrzőlista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Mit kell felismerni egy sémán?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9875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63746"/>
                </a:solidFill>
                <a:latin typeface="DejaVu Sans"/>
              </a:defRPr>
            </a:pPr>
            <a:r>
              <a:t>Hol van a termelés?</a:t>
            </a:r>
          </a:p>
          <a:p>
            <a:pPr>
              <a:spcAft>
                <a:spcPts val="800"/>
              </a:spcAft>
              <a:defRPr sz="2100">
                <a:solidFill>
                  <a:srgbClr val="263746"/>
                </a:solidFill>
                <a:latin typeface="DejaVu Sans"/>
              </a:defRPr>
            </a:pPr>
            <a:r>
              <a:t>Hol történik a feszültségszint-emelés?</a:t>
            </a:r>
          </a:p>
          <a:p>
            <a:pPr>
              <a:spcAft>
                <a:spcPts val="800"/>
              </a:spcAft>
              <a:defRPr sz="2100">
                <a:solidFill>
                  <a:srgbClr val="263746"/>
                </a:solidFill>
                <a:latin typeface="DejaVu Sans"/>
              </a:defRPr>
            </a:pPr>
            <a:r>
              <a:t>Melyik rész az átviteli hálózat?</a:t>
            </a:r>
          </a:p>
          <a:p>
            <a:pPr>
              <a:spcAft>
                <a:spcPts val="800"/>
              </a:spcAft>
              <a:defRPr sz="2100">
                <a:solidFill>
                  <a:srgbClr val="263746"/>
                </a:solidFill>
                <a:latin typeface="DejaVu Sans"/>
              </a:defRPr>
            </a:pPr>
            <a:r>
              <a:t>Hol kezdődik az elosztás?</a:t>
            </a:r>
          </a:p>
          <a:p>
            <a:pPr>
              <a:spcAft>
                <a:spcPts val="800"/>
              </a:spcAft>
              <a:defRPr sz="2100">
                <a:solidFill>
                  <a:srgbClr val="263746"/>
                </a:solidFill>
                <a:latin typeface="DejaVu Sans"/>
              </a:defRPr>
            </a:pPr>
            <a:r>
              <a:t>Milyen védelmi és kapcsolóberendezések lehetnek az alállomásban?</a:t>
            </a:r>
          </a:p>
          <a:p>
            <a:pPr>
              <a:spcAft>
                <a:spcPts val="800"/>
              </a:spcAft>
              <a:defRPr sz="2100">
                <a:solidFill>
                  <a:srgbClr val="263746"/>
                </a:solidFill>
                <a:latin typeface="DejaVu Sans"/>
              </a:defRPr>
            </a:pPr>
            <a:r>
              <a:t>Melyik berendezés kiesése milyen hatással jár?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73952"/>
            <a:ext cx="3154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6. hét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A 6. hét záró gondolata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Rendszerben látni a villamos műveket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2011680" cy="914400"/>
          </a:xfrm>
          <a:prstGeom prst="roundRect">
            <a:avLst/>
          </a:prstGeom>
          <a:solidFill>
            <a:srgbClr val="173A5E"/>
          </a:solidFill>
          <a:ln w="19050">
            <a:solidFill>
              <a:srgbClr val="17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DejaVu Sans"/>
              </a:defRPr>
            </a:pPr>
            <a:r>
              <a:t>Termelés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011680"/>
            <a:ext cx="2011680" cy="914400"/>
          </a:xfrm>
          <a:prstGeom prst="roundRect">
            <a:avLst/>
          </a:prstGeom>
          <a:solidFill>
            <a:srgbClr val="2B78B8"/>
          </a:solidFill>
          <a:ln w="1905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DejaVu Sans"/>
              </a:defRPr>
            </a:pPr>
            <a:r>
              <a:t>Átvitel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2011680" cy="914400"/>
          </a:xfrm>
          <a:prstGeom prst="roundRect">
            <a:avLst/>
          </a:prstGeom>
          <a:solidFill>
            <a:srgbClr val="E97816"/>
          </a:solidFill>
          <a:ln w="19050">
            <a:solidFill>
              <a:srgbClr val="E97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DejaVu Sans"/>
              </a:defRPr>
            </a:pPr>
            <a:r>
              <a:t>Elosztás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2011680"/>
            <a:ext cx="2011680" cy="914400"/>
          </a:xfrm>
          <a:prstGeom prst="roundRect">
            <a:avLst/>
          </a:prstGeom>
          <a:solidFill>
            <a:srgbClr val="287A52"/>
          </a:solidFill>
          <a:ln w="19050">
            <a:solidFill>
              <a:srgbClr val="28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DejaVu Sans"/>
              </a:defRPr>
            </a:pPr>
            <a:r>
              <a:t>Fogyasztás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2468880"/>
            <a:ext cx="731520" cy="0"/>
          </a:xfrm>
          <a:prstGeom prst="line">
            <a:avLst/>
          </a:prstGeom>
          <a:ln w="2794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669280" y="2468880"/>
            <a:ext cx="731520" cy="0"/>
          </a:xfrm>
          <a:prstGeom prst="line">
            <a:avLst/>
          </a:prstGeom>
          <a:ln w="2794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412480" y="2468880"/>
            <a:ext cx="731520" cy="0"/>
          </a:xfrm>
          <a:prstGeom prst="line">
            <a:avLst/>
          </a:prstGeom>
          <a:ln w="2794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4206240"/>
            <a:ext cx="1033272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500" b="1">
                <a:solidFill>
                  <a:srgbClr val="173A5E"/>
                </a:solidFill>
                <a:latin typeface="DejaVu Sans"/>
              </a:defRPr>
            </a:pPr>
            <a:r>
              <a:t>A villamosenergia-rendszer akkor működik jól, ha az elemei összehangoltan működnek.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473952"/>
            <a:ext cx="3154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6. hét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43000"/>
            <a:ext cx="1051560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DejaVu Sans"/>
              </a:defRPr>
            </a:pPr>
            <a:r>
              <a:t>7.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57400"/>
            <a:ext cx="1033272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800" b="1">
                <a:solidFill>
                  <a:srgbClr val="CFE4F5"/>
                </a:solidFill>
                <a:latin typeface="DejaVu Sans"/>
              </a:defRPr>
            </a:pPr>
            <a:r>
              <a:t>Nagyfeszültségű kapcsolóberendezések és alállomási készülékek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37560"/>
            <a:ext cx="1033272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900" b="0">
                <a:solidFill>
                  <a:srgbClr val="FFFFFF"/>
                </a:solidFill>
                <a:latin typeface="DejaVu Sans"/>
              </a:defRPr>
            </a:pPr>
            <a:r>
              <a:t>megszakító • szakaszoló • gyűjtősín • mérőváltó • védelem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