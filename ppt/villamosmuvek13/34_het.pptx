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34.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VILLAMOS VÉDELMEK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6583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Túláram-, zárlat-</a:t>
            </a:r>
            <a:br/>
            <a:r>
              <a:t>és földzárlatvédelem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2900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I&gt; • I&gt;&gt; • időlépcsőzés • szelektivitás</a:t>
            </a:r>
            <a:br/>
            <a:r>
              <a:t>• maradékáram • 3I₀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4937760"/>
            <a:ext cx="37490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406640" y="1828800"/>
            <a:ext cx="0" cy="31089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0" y="4480560"/>
            <a:ext cx="91440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686800" y="3108960"/>
            <a:ext cx="0" cy="137160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3108960"/>
            <a:ext cx="210312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0" y="5166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9B7E8"/>
                </a:solidFill>
                <a:latin typeface="Aptos"/>
              </a:defRPr>
            </a:pPr>
            <a:r>
              <a:t>ÁRAM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00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16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védelmek • 2/4.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Túláram, zárlat, földzárlat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1. tanóra • Túláram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túlterhelés és zárlat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I&gt;, I&gt;&gt;, I&gt;&gt;&gt;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határozott/inverz idő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szelektív időlépcsőzés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áramváltó áttétel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2. tanóra • Földzárlat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maradékáram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3I₀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összegző áramváltó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csillagpont-kezelés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965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irányított védelem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Túlterhelés ≠ zárlat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áram nagysága mellett az idő és a hiba jellege is számít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411480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áramút ép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tartósan nagyobb áram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278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hőhatás dominál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850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általában késleltetett beavatkozás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73152" cy="411480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ZÁRLAT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134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rendellenes kis impedancia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706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nagyon nagy áram lehet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2278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dinamikus + hőhatás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850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gyors leválasztás szükséges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Túláramvédelmi fokozatok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küszöb és az idő együtt határozza meg a működést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31546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9B7E8"/>
                </a:solidFill>
                <a:latin typeface="Aptos"/>
              </a:defRPr>
            </a:pPr>
            <a:r>
              <a:t>I&gt;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időzített túláram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alacsonyabb küszöb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91640"/>
            <a:ext cx="31546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E08931"/>
                </a:solidFill>
                <a:latin typeface="Aptos"/>
              </a:defRPr>
            </a:pPr>
            <a:r>
              <a:t>I&gt;&gt;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260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gyors zárlati fokozat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886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nagyobb küszöb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91640"/>
            <a:ext cx="31546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E433F"/>
                </a:solidFill>
                <a:latin typeface="Aptos"/>
              </a:defRPr>
            </a:pPr>
            <a:r>
              <a:t>I&gt;&gt;&gt;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9260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pillanatközeli fokozat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886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legnagyobb küszöb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Időkarakterisztika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Határozott idő és inverz jelleg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HATÁROZOTT IDŐ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5120640"/>
            <a:ext cx="4206240" cy="0"/>
          </a:xfrm>
          <a:prstGeom prst="line">
            <a:avLst/>
          </a:prstGeom>
          <a:ln w="1651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7280" y="1828800"/>
            <a:ext cx="0" cy="3291840"/>
          </a:xfrm>
          <a:prstGeom prst="line">
            <a:avLst/>
          </a:prstGeom>
          <a:ln w="1651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011680" y="2743200"/>
            <a:ext cx="0" cy="182880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11680" y="2743200"/>
            <a:ext cx="283464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922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5C9B"/>
                </a:solidFill>
                <a:latin typeface="Aptos"/>
              </a:defRPr>
            </a:pPr>
            <a:r>
              <a:t>INVERZ IDŐ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66560" y="5120640"/>
            <a:ext cx="4206240" cy="0"/>
          </a:xfrm>
          <a:prstGeom prst="line">
            <a:avLst/>
          </a:prstGeom>
          <a:ln w="1651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66560" y="1828800"/>
            <a:ext cx="0" cy="3291840"/>
          </a:xfrm>
          <a:prstGeom prst="line">
            <a:avLst/>
          </a:prstGeom>
          <a:ln w="1651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377440"/>
            <a:ext cx="457200" cy="457200"/>
          </a:xfrm>
          <a:prstGeom prst="line">
            <a:avLst/>
          </a:prstGeom>
          <a:ln w="381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0" y="2834640"/>
            <a:ext cx="457200" cy="502920"/>
          </a:xfrm>
          <a:prstGeom prst="line">
            <a:avLst/>
          </a:prstGeom>
          <a:ln w="381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0" y="3337560"/>
            <a:ext cx="640080" cy="457200"/>
          </a:xfrm>
          <a:prstGeom prst="line">
            <a:avLst/>
          </a:prstGeom>
          <a:ln w="381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9680" y="3794760"/>
            <a:ext cx="731520" cy="365760"/>
          </a:xfrm>
          <a:prstGeom prst="line">
            <a:avLst/>
          </a:prstGeom>
          <a:ln w="381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4160520"/>
            <a:ext cx="914400" cy="274320"/>
          </a:xfrm>
          <a:prstGeom prst="line">
            <a:avLst/>
          </a:prstGeom>
          <a:ln w="381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1168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I nő → t állandó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486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I nő → t csökken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Szelektív időlépcsőzés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hibahelyhez legközelebbi védelem kapja a legrövidebb időt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Q0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42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0,80 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468880"/>
            <a:ext cx="960120" cy="0"/>
          </a:xfrm>
          <a:prstGeom prst="line">
            <a:avLst/>
          </a:prstGeom>
          <a:ln w="381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8288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42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0,50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468880"/>
            <a:ext cx="960120" cy="0"/>
          </a:xfrm>
          <a:prstGeom prst="line">
            <a:avLst/>
          </a:prstGeom>
          <a:ln w="381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63840" y="18288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42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0,20 s</a:t>
            </a:r>
          </a:p>
        </p:txBody>
      </p:sp>
      <p:sp>
        <p:nvSpPr>
          <p:cNvPr id="19" name="Lightning Bolt 18"/>
          <p:cNvSpPr/>
          <p:nvPr/>
        </p:nvSpPr>
        <p:spPr>
          <a:xfrm>
            <a:off x="10332720" y="3749039"/>
            <a:ext cx="640080" cy="1097280"/>
          </a:xfrm>
          <a:prstGeom prst="lightningBol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HIBA A Q2 UTÁN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Áramváltó-áttétel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relé szekunder beállítását primer értékre kell visszaszámítani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749039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B7E8"/>
                </a:solidFill>
                <a:latin typeface="Aptos"/>
              </a:defRPr>
            </a:pPr>
            <a:r>
              <a:t>400 / 5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320 A primer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3566160"/>
            <a:ext cx="155448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9776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B5C9B"/>
                </a:solidFill>
                <a:latin typeface="Aptos"/>
              </a:defRPr>
            </a:pPr>
            <a:r>
              <a:t>4,0 A szekunder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645920"/>
            <a:ext cx="5577840" cy="347472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92C"/>
                </a:solidFill>
                <a:latin typeface="Aptos"/>
              </a:defRPr>
            </a:pPr>
            <a:r>
              <a:t>Is = Ip · 5 / 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5388"/>
                </a:solidFill>
                <a:latin typeface="Aptos"/>
              </a:defRPr>
            </a:pPr>
            <a:r>
              <a:t>Ip = Is · 400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7787"/>
                </a:solidFill>
                <a:latin typeface="Aptos"/>
              </a:defRPr>
            </a:pPr>
            <a:r>
              <a:t>A relébe írt értéket mindig az adott relé</a:t>
            </a:r>
            <a:br/>
            <a:r>
              <a:t>és CT-konfiguráció szerint értelmezzük.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Földzárlat és maradékáram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három fázis áramának vektoros összege ad információt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11680"/>
            <a:ext cx="1097280" cy="109728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2011680"/>
            <a:ext cx="1097280" cy="109728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IB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2011680"/>
            <a:ext cx="1097280" cy="109728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192C"/>
                </a:solidFill>
                <a:latin typeface="Aptos"/>
              </a:defRPr>
            </a:pPr>
            <a:r>
              <a:t>IA + IB + IC = 3I₀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063240"/>
            <a:ext cx="4114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40156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88B66"/>
                </a:solidFill>
                <a:latin typeface="Aptos"/>
              </a:defRPr>
            </a:pPr>
            <a:r>
              <a:t>egészséges: ≈ 0</a:t>
            </a:r>
            <a:br/>
            <a:r>
              <a:t>földzárlat: ≠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Nem az RMS nagyságokat adjuk össze,</a:t>
            </a:r>
            <a:br/>
            <a:r>
              <a:t>hanem a fázishelyes áramvektorokat.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Összegző áramváltó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Egészséges állapotban az aktív vezetők mágneses hatása közel kiegyenlíti egymást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1600200"/>
            <a:ext cx="4023360" cy="4023360"/>
          </a:xfrm>
          <a:prstGeom prst="ellipse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274320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907792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11" name="Oval 10"/>
          <p:cNvSpPr/>
          <p:nvPr/>
        </p:nvSpPr>
        <p:spPr>
          <a:xfrm>
            <a:off x="5440680" y="2743200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907792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74320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907792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4572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ÖSSZEGZŐ ÁRAMVÁLTÓ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031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Egészséges:</a:t>
            </a:r>
            <a:br/>
            <a:r>
              <a:t>ΣI 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031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Földzárlat:</a:t>
            </a:r>
            <a:br/>
            <a:r>
              <a:t>ΣI ≠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Csillagpont-kezelés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földzárlati áram jellege a hálózat földelési módjától függ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KÖZVETLENÜL FÖLDELT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nagyobb földzárlati áram lehet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gyors túláram-jellegű érzékelés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363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hálózati adatok döntők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IMPEDANCIÁN 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áram korlátozható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791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beállítás illesztése szükséges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363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feszültségviszonyok változnak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150876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50876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KOMPENZÁLT / SZIGETELT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kisebb földzárlati áram lehet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6791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irányérzékelés fontos lehet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1363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összetettebb kiértékelés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Nagy áram ≠ mindig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normál tranziens jelenségeket nem szabad tévesen lekapcsolni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7E8"/>
                </a:solidFill>
                <a:latin typeface="Aptos"/>
              </a:defRPr>
            </a:pPr>
            <a:r>
              <a:t>MOTORINDÍTÁS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192C"/>
                </a:solidFill>
                <a:latin typeface="Aptos"/>
              </a:defRPr>
            </a:pPr>
            <a:r>
              <a:t>rövid idejű nagy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667787"/>
                </a:solidFill>
                <a:latin typeface="Aptos"/>
              </a:defRPr>
            </a:pPr>
            <a:r>
              <a:t>beállítás + idő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5C9B"/>
                </a:solidFill>
                <a:latin typeface="Aptos"/>
              </a:defRPr>
            </a:pPr>
            <a:r>
              <a:t>TRAFÓ BEKAPCSOLÁS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260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192C"/>
                </a:solidFill>
                <a:latin typeface="Aptos"/>
              </a:defRPr>
            </a:pPr>
            <a:r>
              <a:t>bekapcsolási áramlökés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069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667787"/>
                </a:solidFill>
                <a:latin typeface="Aptos"/>
              </a:defRPr>
            </a:pPr>
            <a:r>
              <a:t>harmonikus/algoritmus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14884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E433F"/>
                </a:solidFill>
                <a:latin typeface="Aptos"/>
              </a:defRPr>
            </a:pPr>
            <a:r>
              <a:t>ZÁRLAT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260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192C"/>
                </a:solidFill>
                <a:latin typeface="Aptos"/>
              </a:defRPr>
            </a:pPr>
            <a:r>
              <a:t>gyors leválasztás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069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667787"/>
                </a:solidFill>
                <a:latin typeface="Aptos"/>
              </a:defRPr>
            </a:pPr>
            <a:r>
              <a:t>védelmi fokozat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Kioldás után: adatot elemzünk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digitális relé eseménynaplója segít rekonstruálni a hibát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KIOLDÁSI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AKTÍV FOKOZAT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I / U ÉRTÉKEK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IDŐBÉLYEG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Q ÁLLAPOT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ZAVARÍRÓ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Villamos védelmek • 2/4. hét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I&gt; és I&gt;&gt;: küszöb + idő együtt.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 zárlati fokozat gyors, de koordinálni kell.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 szelektivitást időlépcsőzés is segítheti.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Földzárlatnál maradékáram / 3I₀ használható.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 csillagpont-kezelés meghatározza a földzárlati viszonyokat.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35. hét → Differenciálvédelem, transzformátor-, motor- és generátorvédelem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