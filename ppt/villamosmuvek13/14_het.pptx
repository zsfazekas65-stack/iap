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F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31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BCF1"/>
                </a:solidFill>
                <a:latin typeface="Aptos"/>
              </a:defRPr>
            </a:pPr>
            <a:r>
              <a:t>13. ÉVFOLYAM • VILLAMOS MŰVEK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7406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Irányítástechnika</a:t>
            </a:r>
            <a:br/>
            <a:r>
              <a:t>és távfelügyelet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7889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0E2EF"/>
                </a:solidFill>
                <a:latin typeface="Aptos"/>
              </a:defRPr>
            </a:pPr>
            <a:r>
              <a:t>14. hét • vezérlés • SCADA • események • kommunikáció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2BBC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BCF1"/>
                </a:solidFill>
                <a:latin typeface="Aptos"/>
              </a:defRPr>
            </a:pPr>
            <a:r>
              <a:t>IED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600" y="2423160"/>
            <a:ext cx="137160" cy="0"/>
          </a:xfrm>
          <a:prstGeom prst="line">
            <a:avLst/>
          </a:prstGeom>
          <a:ln w="25400">
            <a:solidFill>
              <a:srgbClr val="2BBC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394192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94192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LAN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308592" y="2423160"/>
            <a:ext cx="137160" cy="0"/>
          </a:xfrm>
          <a:prstGeom prst="line">
            <a:avLst/>
          </a:prstGeom>
          <a:ln w="254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473184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2B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73184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2B8968"/>
                </a:solidFill>
                <a:latin typeface="Aptos"/>
              </a:defRPr>
            </a:pPr>
            <a:r>
              <a:t>SCADA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387584" y="2423160"/>
            <a:ext cx="137160" cy="0"/>
          </a:xfrm>
          <a:prstGeom prst="line">
            <a:avLst/>
          </a:prstGeom>
          <a:ln w="25400">
            <a:solidFill>
              <a:srgbClr val="2B89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552176" y="1965960"/>
            <a:ext cx="914400" cy="914400"/>
          </a:xfrm>
          <a:prstGeom prst="roundRect">
            <a:avLst/>
          </a:prstGeom>
          <a:solidFill>
            <a:srgbClr val="0F304E"/>
          </a:solidFill>
          <a:ln>
            <a:solidFill>
              <a:srgbClr val="DB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52176" y="2286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DB7E2F"/>
                </a:solidFill>
                <a:latin typeface="Aptos"/>
              </a:defRPr>
            </a:pPr>
            <a:r>
              <a:t>KÖZPONT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3375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Látni • dönteni • vezérelni</a:t>
            </a:r>
            <a:br/>
            <a:r>
              <a:t>• visszaellenőrizni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59893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BBCF1"/>
                </a:solidFill>
                <a:latin typeface="Aptos"/>
              </a:defRPr>
            </a:pPr>
            <a:r>
              <a:t>Feldolgozási idő: 2 tanóra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Két tanóra - a helyi vezérléstől a SCADA-ig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1. tanóra • Irányítás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helyi és távvezérlés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parancs és visszajelzés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reteszelések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állapot- és hibajelek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2. tanóra • Távfelügyelet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SCADA feladata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eseménynapló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kommunikációs lánc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üzemzavari diagnosztika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Helyi vagy távvezérlés?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vezérlés helye változhat - a biztonsági feltételek 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HELYI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kezelés az alállomásban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karbantartás és próba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közvetlen visszajelzés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TÁV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irányítóközpontból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kommunikációs kapcsolaton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jogosultsághoz kötve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MINDKETTŐ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reteszelések érvényesek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állapotot vissza kell jelezni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segédüzem szükséges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Parancs és visszajelzés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parancs csak kérés - a tényleges állapotot vissza kell igazolni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Parancs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BE / 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nyitás / zárás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alapjel vagy üzemmód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Feltételek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helyi/táv állapot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reteszelések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segédüzem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készülék üzemkész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Visszajelzés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valós kapcsolóállapot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hiba vagy sikertelenség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esemény időbélyeggel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Reteszelések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veszélyes kapcsolási sorrend megelőzése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Mechanikus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készüléken belüli fizikai kizárás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Villamos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érintkezők és vezérlőkörök feltételei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Logikai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IED / PLC / mezővezérlő logikája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SCADA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Supervisory Control and Data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Megjelenít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kapcsolóállapotok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mért értékek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riasztások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üzemképek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Naplóz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események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működések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kezelői parancsok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időbélyegek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Vezérel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engedélyezett távparancsok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jogosultság ellenőrzése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visszaigazolás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Milyen adatok érkeznek?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primer hálózat állapotából kezelői információ lesz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Mérések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áram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feszültség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teljesítmény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energia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Állapotok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megszakító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szakaszoló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földelőkapcsoló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üzemmód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B9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Riasztások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kioldás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4463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hiba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4463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töltőhiba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4463" y="3502152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készülékhiba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Eseménynapló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Üzemzavar után a sorrend döntő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 kerül bele?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állapotváltozás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indulás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kioldóparancs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3502152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kezelői művelet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Miért kell időbélyeg?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eseménysorrend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több IED összevetése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hiba rekonstruálása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Kommunikációs lánc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terepi jeltől az irányítóközpontig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Primer / érzékelő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állapot és mérés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IED / relé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védelem és vezérlés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adatátvitel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SCADA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megjelenítés és parancs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IEC 61850 - alapgondolat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Egységesebb adatmodell és kommunikáció a digitális alállomásban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Mit ad?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strukturált alállomási 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készülékek közötti kommunikáció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védelmi és vezérlési információcsere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41732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5819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Ezen a szinten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75688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nem protokollmélység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551176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hanem rendszer-szemlélet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26664"/>
            <a:ext cx="4754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IED-k együttműködése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Ha a távparancs nem működik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Nem biztos, hogy a primer készülék hibás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helyi/táv választás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reteszelési feltételek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DC segédüzem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417320"/>
            <a:ext cx="73152" cy="4434840"/>
          </a:xfrm>
          <a:prstGeom prst="rect">
            <a:avLst/>
          </a:prstGeom>
          <a:solidFill>
            <a:srgbClr val="DB7E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4-6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kommunikáció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51176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vezérlőkimenet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026664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működtetőtekercs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1" y="1417320"/>
            <a:ext cx="352044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1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57031" y="15819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3" y="2075688"/>
            <a:ext cx="301752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állapotkontaktus és visszajelzés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91F36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5953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65B91"/>
                </a:solidFill>
                <a:latin typeface="Aptos"/>
              </a:defRPr>
            </a:pPr>
            <a:r>
              <a:t>A 14. hét négy kulcsmondata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7485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55664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37485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417320"/>
            <a:ext cx="73152" cy="4434840"/>
          </a:xfrm>
          <a:prstGeom prst="rect">
            <a:avLst/>
          </a:prstGeom>
          <a:solidFill>
            <a:srgbClr val="2BB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távvezérlés parancs + feltételek + végrehajtás + visszajelzés.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73152" cy="4434840"/>
          </a:xfrm>
          <a:prstGeom prst="rect">
            <a:avLst/>
          </a:prstGeom>
          <a:solidFill>
            <a:srgbClr val="2B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1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reteszelés biztonsági funkció, nem akadály.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73152" cy="4434840"/>
          </a:xfrm>
          <a:prstGeom prst="rect">
            <a:avLst/>
          </a:prstGeom>
          <a:solidFill>
            <a:srgbClr val="1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A SCADA felügyel, naplóz és engedélyezetten vezérel.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1417320"/>
            <a:ext cx="2651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73152" cy="4434840"/>
          </a:xfrm>
          <a:prstGeom prst="rect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1581912"/>
            <a:ext cx="2240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91F3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2872" y="2075688"/>
            <a:ext cx="2148839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3344"/>
                </a:solidFill>
                <a:latin typeface="Aptos"/>
              </a:defRPr>
            </a:pPr>
            <a:r>
              <a:t>• Üzemzavarnál a teljes jel- és vezérlési láncot kell vizsgálni.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