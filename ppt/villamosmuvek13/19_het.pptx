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4008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4066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19. HÉT • 2 TANÓRA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492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Biztosítók és</a:t>
            </a:r>
            <a:br/>
            <a:r>
              <a:t>olvadóbiztosítók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036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CADFEE"/>
                </a:solidFill>
                <a:latin typeface="Aptos"/>
              </a:defRPr>
            </a:pPr>
            <a:r>
              <a:t>olvadóelem • idő-áram jelleggörbe</a:t>
            </a:r>
            <a:br/>
            <a:r>
              <a:t>• megszakítóképesség • áramkorlátozás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508760"/>
            <a:ext cx="3749039" cy="3246120"/>
          </a:xfrm>
          <a:prstGeom prst="roundRect">
            <a:avLst/>
          </a:prstGeom>
          <a:solidFill>
            <a:srgbClr val="0E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7909560" y="3108960"/>
            <a:ext cx="594360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149840" y="3108960"/>
            <a:ext cx="594360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58200" y="2514600"/>
            <a:ext cx="1737360" cy="1188720"/>
          </a:xfrm>
          <a:prstGeom prst="roundRect">
            <a:avLst/>
          </a:prstGeom>
          <a:solidFill>
            <a:srgbClr val="ECF2F7"/>
          </a:solidFill>
          <a:ln>
            <a:solidFill>
              <a:srgbClr val="29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8641080" y="2880360"/>
            <a:ext cx="228600" cy="228600"/>
          </a:xfrm>
          <a:prstGeom prst="line">
            <a:avLst/>
          </a:prstGeom>
          <a:ln w="254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2880360"/>
            <a:ext cx="228600" cy="457200"/>
          </a:xfrm>
          <a:prstGeom prst="line">
            <a:avLst/>
          </a:prstGeom>
          <a:ln w="254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098280" y="2880360"/>
            <a:ext cx="228600" cy="457200"/>
          </a:xfrm>
          <a:prstGeom prst="line">
            <a:avLst/>
          </a:prstGeom>
          <a:ln w="254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26880" y="2880360"/>
            <a:ext cx="228600" cy="457200"/>
          </a:xfrm>
          <a:prstGeom prst="line">
            <a:avLst/>
          </a:prstGeom>
          <a:ln w="254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555480" y="2880360"/>
            <a:ext cx="228600" cy="457200"/>
          </a:xfrm>
          <a:prstGeom prst="line">
            <a:avLst/>
          </a:prstGeom>
          <a:ln w="254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84080" y="2880360"/>
            <a:ext cx="228600" cy="228600"/>
          </a:xfrm>
          <a:prstGeom prst="line">
            <a:avLst/>
          </a:prstGeom>
          <a:ln w="254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35240" y="4069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B7E8"/>
                </a:solidFill>
                <a:latin typeface="Aptos"/>
              </a:defRPr>
            </a:pPr>
            <a:r>
              <a:t>TÚLÁRAM → HŐ → OLVADÁS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Villamos kapcsolókészülékek • 5/8.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egyszerű olvadószáltól a középfeszültségű HH biztosítóig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1. tanóra • Működés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olvadóelem és hőhatás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szerkezeti részek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idő-áram jelleggörbe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névleges adatok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megszakítóképesség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2. tanóra • Alkalmazás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áramkorlátozó hatás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középfeszültségű HH biztosító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transzformátorvédelem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motoráramkörök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szelektivitás és kiválasztás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működés fizikai alapja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áram hőhatása működteti a védelmet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828800"/>
            <a:ext cx="566928" cy="566928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09067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1">
                <a:solidFill>
                  <a:srgbClr val="06192C"/>
                </a:solidFill>
                <a:latin typeface="Aptos"/>
              </a:defRPr>
            </a:pPr>
            <a:r>
              <a:t>ÁRAM</a:t>
            </a:r>
            <a:br/>
            <a:r>
              <a:t>NÖVEKSZIK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3364992"/>
            <a:ext cx="3200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743200" y="1828800"/>
            <a:ext cx="566928" cy="566928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09067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1">
                <a:solidFill>
                  <a:srgbClr val="06192C"/>
                </a:solidFill>
                <a:latin typeface="Aptos"/>
              </a:defRPr>
            </a:pPr>
            <a:r>
              <a:t>I²R HŐ</a:t>
            </a:r>
            <a:br/>
            <a:r>
              <a:t>NÖVEKSZIK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7720" y="3364992"/>
            <a:ext cx="3200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74920" y="1828800"/>
            <a:ext cx="566928" cy="566928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309067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1">
                <a:solidFill>
                  <a:srgbClr val="06192C"/>
                </a:solidFill>
                <a:latin typeface="Aptos"/>
              </a:defRPr>
            </a:pPr>
            <a:r>
              <a:t>OLVADÓELEM</a:t>
            </a:r>
            <a:br/>
            <a:r>
              <a:t>MEGOLVAD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49440" y="3364992"/>
            <a:ext cx="320039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406640" y="1828800"/>
            <a:ext cx="566928" cy="566928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09067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1">
                <a:solidFill>
                  <a:srgbClr val="06192C"/>
                </a:solidFill>
                <a:latin typeface="Aptos"/>
              </a:defRPr>
            </a:pPr>
            <a:r>
              <a:t>ÍV</a:t>
            </a:r>
            <a:br/>
            <a:r>
              <a:t>KIALAKUL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81159" y="3364992"/>
            <a:ext cx="32004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738359" y="1828800"/>
            <a:ext cx="566928" cy="566928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59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19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59" y="309067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1">
                <a:solidFill>
                  <a:srgbClr val="06192C"/>
                </a:solidFill>
                <a:latin typeface="Aptos"/>
              </a:defRPr>
            </a:pPr>
            <a:r>
              <a:t>ÁRAMKÖR</a:t>
            </a:r>
            <a:br/>
            <a:r>
              <a:t>MEGSZAKAD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846320"/>
            <a:ext cx="1024128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0292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192C"/>
                </a:solidFill>
                <a:latin typeface="Aptos"/>
              </a:defRPr>
            </a:pPr>
            <a:r>
              <a:t>A működés után az olvadóbetétet cserélni kell.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nagymegszakítóképességű biztosító felépítése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Nem egyszerű drótdarab: tervezett ívoltó rendszer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Olvadóelem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méretezett vezetőanyag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szűkített olvadási helyek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kívánt karakterisztika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Szigetelőtest + töltet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mechanikai tartás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kvarc-homok töltet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ívenergia elnyelése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Csatlakozás / jelzés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érintkezővégek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állapotjelzés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egyes HH típusokon kioldószeg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Idő-áram jelleggörbe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Minél nagyobb a túláram, annál rövidebb a működési idő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280160" y="1645920"/>
            <a:ext cx="0" cy="3566160"/>
          </a:xfrm>
          <a:prstGeom prst="line">
            <a:avLst/>
          </a:prstGeom>
          <a:ln w="254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0160" y="5212080"/>
            <a:ext cx="9418320" cy="0"/>
          </a:xfrm>
          <a:prstGeom prst="line">
            <a:avLst/>
          </a:prstGeom>
          <a:ln w="254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80" y="1508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192C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50109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192C"/>
                </a:solidFill>
                <a:latin typeface="Aptos"/>
              </a:defRPr>
            </a:pPr>
            <a:r>
              <a:t>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1965960"/>
            <a:ext cx="914400" cy="22860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43200" y="2194560"/>
            <a:ext cx="914400" cy="36576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0" y="2560320"/>
            <a:ext cx="914400" cy="50292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3063240"/>
            <a:ext cx="914400" cy="59436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0" y="3657600"/>
            <a:ext cx="914400" cy="50292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00800" y="4160520"/>
            <a:ext cx="1097279" cy="41148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98079" y="4572000"/>
            <a:ext cx="1828801" cy="32004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828800" y="4251960"/>
            <a:ext cx="182880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435254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KIS TÚLÁRAM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703320"/>
            <a:ext cx="196596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803904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NAGY ZÁRLAT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417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hosszabb működési idő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194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E433F"/>
                </a:solidFill>
                <a:latin typeface="Aptos"/>
              </a:defRPr>
            </a:pPr>
            <a:r>
              <a:t>nagyon gyors működés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Megszakítóképesség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biztosítónak a várható zárlati áramot biztonságosan meg kell szakítania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2004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E433F"/>
                </a:solidFill>
                <a:latin typeface="Aptos"/>
              </a:defRPr>
            </a:pPr>
            <a:r>
              <a:t>Ik = 25 kA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200400" cy="1874519"/>
          </a:xfrm>
          <a:prstGeom prst="roundRect">
            <a:avLst/>
          </a:prstGeom>
          <a:solidFill>
            <a:srgbClr val="FFEFEE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E433F"/>
                </a:solidFill>
                <a:latin typeface="Aptos"/>
              </a:defRPr>
            </a:pPr>
            <a:r>
              <a:t>A BIZTOSÍTÓ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87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E433F"/>
                </a:solidFill>
                <a:latin typeface="Aptos"/>
              </a:defRPr>
            </a:pPr>
            <a:r>
              <a:t>16 kA 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200400" cy="1874519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8B66"/>
                </a:solidFill>
                <a:latin typeface="Aptos"/>
              </a:defRPr>
            </a:pPr>
            <a:r>
              <a:t>B BIZTOSÍTÓ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87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88B66"/>
                </a:solidFill>
                <a:latin typeface="Aptos"/>
              </a:defRPr>
            </a:pPr>
            <a:r>
              <a:t>50 kA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Az 50 kA csak a megszakítóképesség szempontjából megfelelő. A feszültséget, névleges áramot és karakterisztikát is ellenőrizni kell.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Áramkorlátozó hatás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biztosító még a zárlati csúcs kialakulása előtt megszakíthat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5029200"/>
            <a:ext cx="9966960" cy="0"/>
          </a:xfrm>
          <a:prstGeom prst="line">
            <a:avLst/>
          </a:prstGeom>
          <a:ln w="127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05840" y="1463040"/>
            <a:ext cx="0" cy="3566160"/>
          </a:xfrm>
          <a:prstGeom prst="line">
            <a:avLst/>
          </a:prstGeom>
          <a:ln w="127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7280" y="3840480"/>
            <a:ext cx="731520" cy="1143000"/>
          </a:xfrm>
          <a:prstGeom prst="line">
            <a:avLst/>
          </a:prstGeom>
          <a:ln w="38100">
            <a:solidFill>
              <a:srgbClr val="667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828800" y="2468880"/>
            <a:ext cx="731520" cy="1371600"/>
          </a:xfrm>
          <a:prstGeom prst="line">
            <a:avLst/>
          </a:prstGeom>
          <a:ln w="38100">
            <a:solidFill>
              <a:srgbClr val="667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560320" y="1645920"/>
            <a:ext cx="822960" cy="822960"/>
          </a:xfrm>
          <a:prstGeom prst="line">
            <a:avLst/>
          </a:prstGeom>
          <a:ln w="38100">
            <a:solidFill>
              <a:srgbClr val="667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83280" y="1645920"/>
            <a:ext cx="822960" cy="548640"/>
          </a:xfrm>
          <a:prstGeom prst="line">
            <a:avLst/>
          </a:prstGeom>
          <a:ln w="38100">
            <a:solidFill>
              <a:srgbClr val="667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06240" y="2194560"/>
            <a:ext cx="822960" cy="1280160"/>
          </a:xfrm>
          <a:prstGeom prst="line">
            <a:avLst/>
          </a:prstGeom>
          <a:ln w="38100">
            <a:solidFill>
              <a:srgbClr val="667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" y="3474720"/>
            <a:ext cx="822960" cy="1280160"/>
          </a:xfrm>
          <a:prstGeom prst="line">
            <a:avLst/>
          </a:prstGeom>
          <a:ln w="38100">
            <a:solidFill>
              <a:srgbClr val="667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97280" y="4069080"/>
            <a:ext cx="640080" cy="91440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37360" y="3108960"/>
            <a:ext cx="548640" cy="96012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286000" y="2788920"/>
            <a:ext cx="457200" cy="32004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43200" y="2788920"/>
            <a:ext cx="411480" cy="960119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54680" y="3749039"/>
            <a:ext cx="320040" cy="1234441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7920" y="18288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7787"/>
                </a:solidFill>
                <a:latin typeface="Aptos"/>
              </a:defRPr>
            </a:pPr>
            <a:r>
              <a:t>várható zárlati áram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146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E433F"/>
                </a:solidFill>
                <a:latin typeface="Aptos"/>
              </a:defRPr>
            </a:pPr>
            <a:r>
              <a:t>biztosító által korlátozott áram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7033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192C"/>
                </a:solidFill>
                <a:latin typeface="Aptos"/>
              </a:defRPr>
            </a:pPr>
            <a:r>
              <a:t>Kisebb csúcsáram → kisebb</a:t>
            </a:r>
            <a:br/>
            <a:r>
              <a:t>termikus és dinamikus igénybevétel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Középfeszültségű HH biztosító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Nagy megszakítóképesség + áramkorlátozás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Felépítés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hengeres szigetelőtest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olvadóelemek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finomszemcsés töltőanyag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0273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érintkezősapkák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Működés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gyors zárlati megszakítás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több ívszakasz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áramkorlátozó hatás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Kapcsolatkészülék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kioldószeg lehetséges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terheléskapcsoló működtetése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háromfázisú lekapcsolás segítése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Transzformátorvédelem biztosítóval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névleges primer áram önmagában nem elég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A biztosítónak el kell viselnie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76272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normál terhelési áram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bekapcsolási áramlökés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2724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rövid idejű megengedett túlterhelések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146304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36792" y="1463040"/>
            <a:ext cx="73152" cy="448056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16459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De működnie kell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176272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primer oldali zárlatnál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651760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nagy hibaáramnál gyorsan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12724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a többi védelemmel koordináltan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Motoráramkörök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indítóáram nem hibaáram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INDÍTÁS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8931"/>
                </a:solidFill>
                <a:latin typeface="Aptos"/>
              </a:defRPr>
            </a:pPr>
            <a:r>
              <a:t>Iindítás ≫ In</a:t>
            </a:r>
            <a:br/>
            <a:r>
              <a:t>rövid ideig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2560320"/>
            <a:ext cx="64008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00600" y="160020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7451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BIZTOSÍTÓ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2316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88B66"/>
                </a:solidFill>
                <a:latin typeface="Aptos"/>
              </a:defRPr>
            </a:pPr>
            <a:r>
              <a:t>ne olvadjon ki</a:t>
            </a:r>
            <a:br/>
            <a:r>
              <a:t>tévesen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38160" y="2560320"/>
            <a:ext cx="64008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69680" y="1600200"/>
            <a:ext cx="2560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87451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ZÁRLAT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4231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E433F"/>
                </a:solidFill>
                <a:latin typeface="Aptos"/>
              </a:defRPr>
            </a:pPr>
            <a:r>
              <a:t>gyors</a:t>
            </a:r>
            <a:br/>
            <a:r>
              <a:t>lekapcsolás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A motor túlterhelésvédelmét sok rendszerben külön motorvédő készülék vagy elektronikus védelem látja 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Biztosító vagy megszakító?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Mindkettőnek megvan a saját erőssége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OLVADÓBIZTOSÍTÓ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76272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egyszerű szerkezet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nagyon gyors zárlati működés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2724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áramkorlátozó lehet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02736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működés után csere szükséges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78224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korlátozott vezérelhetőség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146304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6792" y="1463040"/>
            <a:ext cx="73152" cy="448056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16459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MEGSZAKÍTÓ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176272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visszakapcsolható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651760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távvezérelhető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12724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védelmi automatika része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3602736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összetettebb mechanika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078224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nagyobb karbantartási igény lehet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Szelektivitás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Lehetőleg csak a hibához legközelebbi védelem működjön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05740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5388"/>
                </a:solidFill>
                <a:latin typeface="Aptos"/>
              </a:defRPr>
            </a:pPr>
            <a:r>
              <a:t>F1</a:t>
            </a:r>
            <a:br/>
            <a:r>
              <a:t>FŐ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05740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B7E8"/>
                </a:solidFill>
                <a:latin typeface="Aptos"/>
              </a:defRPr>
            </a:pPr>
            <a:r>
              <a:t>F2</a:t>
            </a:r>
            <a:br/>
            <a:r>
              <a:t>LEÁGAZÁS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05740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F3</a:t>
            </a:r>
            <a:br/>
            <a:r>
              <a:t>FOGYASZTÓ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34640" y="2651760"/>
            <a:ext cx="1234440" cy="0"/>
          </a:xfrm>
          <a:prstGeom prst="line">
            <a:avLst/>
          </a:prstGeom>
          <a:ln w="381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2651760"/>
            <a:ext cx="1325880" cy="0"/>
          </a:xfrm>
          <a:prstGeom prst="line">
            <a:avLst/>
          </a:prstGeom>
          <a:ln w="381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ghtning Bolt 15"/>
          <p:cNvSpPr/>
          <p:nvPr/>
        </p:nvSpPr>
        <p:spPr>
          <a:xfrm>
            <a:off x="9738360" y="2057400"/>
            <a:ext cx="731520" cy="1234440"/>
          </a:xfrm>
          <a:prstGeom prst="lightningBol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Hiba a fogyasztónál → ideális esetben F3 működik, F2 és F1 üzemben marad.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7787"/>
                </a:solidFill>
                <a:latin typeface="Aptos"/>
              </a:defRPr>
            </a:pPr>
            <a:r>
              <a:t>Ehhez gyártói karakterisztikákat és koordinációs adatokat kell használni.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19. hét öt kulcsgondolata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Az olvadóbiztosító túláram hatására hővel működik.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A működési idő az áram nagyságától függ - ezt mutatja az idő-áram jelleggörbe.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A megszakítóképességnek legalább a várható zárlati áramhoz kell illeszkednie.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A HH biztosító nagy zárlati áramnál áramkorlátozó hatású lehet.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Transzformátornál és motornál az üzemi áramlökéseket is figyelembe kell venni.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20. hét → Kapcsolókészülékek hajtásai és működtetőkörei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