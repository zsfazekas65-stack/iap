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80 MVA látszólagos teljesítmény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Áram [A]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15 kV</c:v>
                </c:pt>
                <c:pt idx="1">
                  <c:v>120 kV</c:v>
                </c:pt>
                <c:pt idx="2">
                  <c:v>400 kV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3079</c:v>
                </c:pt>
                <c:pt idx="1">
                  <c:v>385</c:v>
                </c:pt>
                <c:pt idx="2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CFE4F5"/>
                </a:solidFill>
                <a:latin typeface="DejaVu Sans"/>
              </a:defRPr>
            </a:pPr>
            <a:r>
              <a:t>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Erőművi generátorok és blokktranszformátorok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93008"/>
            <a:ext cx="103327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0">
                <a:solidFill>
                  <a:srgbClr val="CFE4F5"/>
                </a:solidFill>
                <a:latin typeface="DejaVu Sans"/>
              </a:defRPr>
            </a:pPr>
            <a:r>
              <a:t>Hogyan csatlakozik az erőmű az átviteli hálózathoz?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617720"/>
            <a:ext cx="6675120" cy="594360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turbina → generátor → blokktranszformátor → hálózat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 4. hét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Mi történik az erőmű villamos oldalán?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turbina mechanikai energiát ad át a generátornak.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generátor háromfázisú villamos energiát állít elő.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blokktranszformátor átviteli feszültségszintre emeli a feszültséget.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nagyfeszültségű kapcsolóberendezésen keresztül csatlakozik a hálózathoz.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2743200" cy="731520"/>
          </a:xfrm>
          <a:prstGeom prst="roundRect">
            <a:avLst/>
          </a:prstGeom>
          <a:solidFill>
            <a:srgbClr val="173A5E"/>
          </a:solidFill>
          <a:ln w="1778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</a:defRPr>
            </a:pPr>
            <a:r>
              <a:t>Erőművi blokk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971800"/>
            <a:ext cx="3931920" cy="1051560"/>
          </a:xfrm>
          <a:prstGeom prst="roundRect">
            <a:avLst/>
          </a:prstGeom>
          <a:solidFill>
            <a:srgbClr val="E1F1FC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egy technológiai egység</a:t>
            </a:r>
            <a:br/>
            <a:r>
              <a:t>termeléstől hálózatig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Erőművi blokk energiaútja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mechanikai energiából hálózati villamos energia lesz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920240" y="2651760"/>
            <a:ext cx="45720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49039" y="2651760"/>
            <a:ext cx="640081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760720" y="2651760"/>
            <a:ext cx="64008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2651760"/>
            <a:ext cx="64008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84080" y="2651760"/>
            <a:ext cx="45720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Turbina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Generátor</a:t>
            </a:r>
            <a:br/>
            <a:r>
              <a:t>10-20 kV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Generátor-</a:t>
            </a:r>
            <a:br/>
            <a:r>
              <a:t>kapcsoló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Blokk-</a:t>
            </a:r>
            <a:br/>
            <a:r>
              <a:t>transzformátor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Nagyfesz.</a:t>
            </a:r>
            <a:br/>
            <a:r>
              <a:t>kapcsolómező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2148840"/>
            <a:ext cx="141732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73A5E"/>
                </a:solidFill>
                <a:latin typeface="DejaVu Sans"/>
              </a:defRPr>
            </a:pPr>
            <a:r>
              <a:t>Átviteli</a:t>
            </a:r>
            <a:br/>
            <a:r>
              <a:t>hálózat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3429000"/>
            <a:ext cx="1097280" cy="347472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15 kV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429000"/>
            <a:ext cx="1554480" cy="347472"/>
          </a:xfrm>
          <a:prstGeom prst="roundRect">
            <a:avLst/>
          </a:prstGeom>
          <a:solidFill>
            <a:srgbClr val="28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120 / 400 kV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173A5E"/>
                </a:solidFill>
                <a:latin typeface="DejaVu Sans"/>
              </a:defRPr>
            </a:pPr>
            <a:r>
              <a:t>A blokktranszformátor a generátor és az országos átviteli hálózat közötti illesztő elem.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 szinkrongenerátor lényege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fordulatszám és a hálózati frekvencia összetartozik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65960"/>
            <a:ext cx="2834640" cy="1097280"/>
          </a:xfrm>
          <a:prstGeom prst="roundRect">
            <a:avLst/>
          </a:prstGeom>
          <a:solidFill>
            <a:srgbClr val="E1F1FC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DejaVu Sans"/>
              </a:defRPr>
            </a:pPr>
            <a:r>
              <a:t>Forgórész</a:t>
            </a:r>
            <a:br/>
            <a:r>
              <a:t>mágneses tér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965960"/>
            <a:ext cx="292608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Állórész</a:t>
            </a:r>
            <a:br/>
            <a:r>
              <a:t>3 fázisú tekercselés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965960"/>
            <a:ext cx="2834640" cy="1097280"/>
          </a:xfrm>
          <a:prstGeom prst="roundRect">
            <a:avLst/>
          </a:prstGeom>
          <a:solidFill>
            <a:srgbClr val="EEF7F2"/>
          </a:solidFill>
          <a:ln w="1778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87A52"/>
                </a:solidFill>
                <a:latin typeface="DejaVu Sans"/>
              </a:defRPr>
            </a:pPr>
            <a:r>
              <a:t>Háromfázisú</a:t>
            </a:r>
            <a:br/>
            <a:r>
              <a:t>feszültség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58768" y="2514600"/>
            <a:ext cx="7315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2514600"/>
            <a:ext cx="758952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3977639"/>
            <a:ext cx="5303520" cy="658368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f = p · n /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50 Hz-hez kétpólusú gépnél 3000 1/min, négypólusú gépnél 1500 1/min tartozik.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Fő részegységek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Mit kell felismerni egy erőművi generátornál?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828800" cy="1051560"/>
          </a:xfrm>
          <a:prstGeom prst="roundRect">
            <a:avLst/>
          </a:prstGeom>
          <a:solidFill>
            <a:srgbClr val="173A5E"/>
          </a:solidFill>
          <a:ln w="1778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Állórész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920240"/>
            <a:ext cx="1828800" cy="1051560"/>
          </a:xfrm>
          <a:prstGeom prst="roundRect">
            <a:avLst/>
          </a:prstGeom>
          <a:solidFill>
            <a:srgbClr val="2B78B8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Forgórész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1828800" cy="1051560"/>
          </a:xfrm>
          <a:prstGeom prst="roundRect">
            <a:avLst/>
          </a:prstGeom>
          <a:solidFill>
            <a:srgbClr val="E97816"/>
          </a:solidFill>
          <a:ln w="1778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Gerjesztés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920240"/>
            <a:ext cx="1828800" cy="1051560"/>
          </a:xfrm>
          <a:prstGeom prst="roundRect">
            <a:avLst/>
          </a:prstGeom>
          <a:solidFill>
            <a:srgbClr val="287A52"/>
          </a:solidFill>
          <a:ln w="1778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Hűtés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920240"/>
            <a:ext cx="1828800" cy="1051560"/>
          </a:xfrm>
          <a:prstGeom prst="roundRect">
            <a:avLst/>
          </a:prstGeom>
          <a:solidFill>
            <a:srgbClr val="607487"/>
          </a:solidFill>
          <a:ln w="17780">
            <a:solidFill>
              <a:srgbClr val="60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Védelem</a:t>
            </a:r>
            <a:br/>
            <a:r>
              <a:t>és mérés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Az állórészben indukálódik a háromfázisú feszültség.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forgórész mágneses tere hozza létre az indukció feltételét.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gerjesztés szabályozza a mágneses teret.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hűtés és a védelem az üzembiztonság miatt nélkülözhetetlen.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Miért kell blokktranszformátor?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generátor feszültsége nem átviteli hálózati feszültség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2148840"/>
            <a:ext cx="2286000" cy="1097280"/>
          </a:xfrm>
          <a:prstGeom prst="roundRect">
            <a:avLst/>
          </a:prstGeom>
          <a:solidFill>
            <a:srgbClr val="E1F1FC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A5E"/>
                </a:solidFill>
                <a:latin typeface="DejaVu Sans"/>
              </a:defRPr>
            </a:pPr>
            <a:r>
              <a:t>Generátor</a:t>
            </a:r>
            <a:br/>
            <a:r>
              <a:t>15 kV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011680"/>
            <a:ext cx="2560320" cy="1371600"/>
          </a:xfrm>
          <a:prstGeom prst="roundRect">
            <a:avLst/>
          </a:prstGeom>
          <a:solidFill>
            <a:srgbClr val="E97816"/>
          </a:solidFill>
          <a:ln w="1778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Blokk-</a:t>
            </a:r>
            <a:br/>
            <a:r>
              <a:t>transzformátor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148840"/>
            <a:ext cx="2377440" cy="1097280"/>
          </a:xfrm>
          <a:prstGeom prst="roundRect">
            <a:avLst/>
          </a:prstGeom>
          <a:solidFill>
            <a:srgbClr val="EEF7F2"/>
          </a:solidFill>
          <a:ln w="1778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7A52"/>
                </a:solidFill>
                <a:latin typeface="DejaVu Sans"/>
              </a:defRPr>
            </a:pPr>
            <a:r>
              <a:t>Átviteli hálózat</a:t>
            </a:r>
            <a:br/>
            <a:r>
              <a:t>120/400 kV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2697480"/>
            <a:ext cx="146304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52360" y="2697480"/>
            <a:ext cx="1417320" cy="0"/>
          </a:xfrm>
          <a:prstGeom prst="line">
            <a:avLst/>
          </a:prstGeom>
          <a:ln w="2794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3977639"/>
            <a:ext cx="2743200" cy="5029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feszültségemelés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99669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173A5E"/>
                </a:solidFill>
                <a:latin typeface="DejaVu Sans"/>
              </a:defRPr>
            </a:pPr>
            <a:r>
              <a:t>Nagyobb feszültség → kisebb áram → kisebb átviteli veszteség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Számítás: 80 MVA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Mekkora az áram különböző feszültségszinteken?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91640"/>
          <a:ext cx="5669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95160" y="1783080"/>
            <a:ext cx="3657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1">
                <a:solidFill>
                  <a:srgbClr val="173A5E"/>
                </a:solidFill>
                <a:latin typeface="DejaVu Sans"/>
              </a:defRPr>
            </a:pPr>
            <a:r>
              <a:t>Következtetés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46888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Generátoroldalon nagy áram folyik.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120 kV-on az áram már sokkal kisebb.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400 kV-on tovább csökken.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Ez tehermentesíti a vezetékeket és csökkenti a veszteséget.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Védelmek és felügyelet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Nagy értékű berendezéseket kell biztonságosan üzemeltetni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874519"/>
            <a:ext cx="2148840" cy="914400"/>
          </a:xfrm>
          <a:prstGeom prst="roundRect">
            <a:avLst/>
          </a:prstGeom>
          <a:solidFill>
            <a:srgbClr val="173A5E"/>
          </a:solidFill>
          <a:ln w="17780"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Differenciál-</a:t>
            </a:r>
            <a:br/>
            <a:r>
              <a:t>védelem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874519"/>
            <a:ext cx="2148840" cy="914400"/>
          </a:xfrm>
          <a:prstGeom prst="roundRect">
            <a:avLst/>
          </a:prstGeom>
          <a:solidFill>
            <a:srgbClr val="2B78B8"/>
          </a:solidFill>
          <a:ln w="17780"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Földzárlat-</a:t>
            </a:r>
            <a:br/>
            <a:r>
              <a:t>védelem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2148840" cy="914400"/>
          </a:xfrm>
          <a:prstGeom prst="roundRect">
            <a:avLst/>
          </a:prstGeom>
          <a:solidFill>
            <a:srgbClr val="E97816"/>
          </a:solidFill>
          <a:ln w="17780"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Hőmérséklet-</a:t>
            </a:r>
            <a:br/>
            <a:r>
              <a:t>felügyelet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74519"/>
            <a:ext cx="2148840" cy="914400"/>
          </a:xfrm>
          <a:prstGeom prst="roundRect">
            <a:avLst/>
          </a:prstGeom>
          <a:solidFill>
            <a:srgbClr val="287A52"/>
          </a:solidFill>
          <a:ln w="17780"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t>Frekvencia-</a:t>
            </a:r>
            <a:br/>
            <a:r>
              <a:t>védelem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hibát gyorsan fel kell ismerni.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hibás blokkot le kell választani.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hálózat többi részének üzemben kell maradnia.</a:t>
            </a:r>
          </a:p>
          <a:p>
            <a:pPr>
              <a:spcAft>
                <a:spcPts val="9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 védelem célja a személy-, berendezés- és hálózatvédelem.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Hálózatra 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generátor csak szinkronfeltételekkel kapcsolható rá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057400"/>
            <a:ext cx="2148840" cy="71323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Feszültség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057400"/>
            <a:ext cx="214884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Frekvencia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57400"/>
            <a:ext cx="2148840" cy="713232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Fázissorrend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057400"/>
            <a:ext cx="2148840" cy="713232"/>
          </a:xfrm>
          <a:prstGeom prst="roundRect">
            <a:avLst/>
          </a:prstGeom>
          <a:solidFill>
            <a:srgbClr val="28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Fázisszög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8755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500" b="1">
                <a:solidFill>
                  <a:srgbClr val="173A5E"/>
                </a:solidFill>
                <a:latin typeface="DejaVu Sans"/>
              </a:defRPr>
            </a:pPr>
            <a:r>
              <a:t>Ha ezek nem megfelelőek, a kapcsolás nagy villamos és mechanikai igénybevételt okozhat.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Mit kell tudni a 4. hét végére?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legfontosabb szakmai mondatok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30352" cy="53035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9875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263746"/>
                </a:solidFill>
                <a:latin typeface="DejaVu Sans"/>
              </a:defRPr>
            </a:pPr>
            <a:r>
              <a:t>A generátor mechanikai energiából háromfázisú villamos energiát állít elő.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70048"/>
            <a:ext cx="530352" cy="53035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9875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263746"/>
                </a:solidFill>
                <a:latin typeface="DejaVu Sans"/>
              </a:defRPr>
            </a:pPr>
            <a:r>
              <a:t>A szinkrongenerátor fordulatszáma és frekvenciája összefügg.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94176"/>
            <a:ext cx="530352" cy="530352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675888"/>
            <a:ext cx="9875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263746"/>
                </a:solidFill>
                <a:latin typeface="DejaVu Sans"/>
              </a:defRPr>
            </a:pPr>
            <a:r>
              <a:t>A blokktranszformátor a generátorfeszültséget átviteli szintre emeli.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18304"/>
            <a:ext cx="530352" cy="530352"/>
          </a:xfrm>
          <a:prstGeom prst="roundRect">
            <a:avLst/>
          </a:prstGeom>
          <a:solidFill>
            <a:srgbClr val="28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700016"/>
            <a:ext cx="98755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263746"/>
                </a:solidFill>
                <a:latin typeface="DejaVu Sans"/>
              </a:defRPr>
            </a:pPr>
            <a:r>
              <a:t>A hálózatra kapcsoláshoz szinkronfeltételek szükségesek.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510528"/>
            <a:ext cx="3017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4.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057400"/>
            <a:ext cx="98755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700" b="1">
                <a:solidFill>
                  <a:srgbClr val="CFE4F5"/>
                </a:solidFill>
                <a:latin typeface="DejaVu Sans"/>
              </a:defRPr>
            </a:pPr>
            <a:r>
              <a:t>Erőműtípusok és energiatermelési módok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3200400"/>
            <a:ext cx="8503920" cy="658368"/>
          </a:xfrm>
          <a:prstGeom prst="round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hőerőmű • vízerőmű • atomerőmű • szél • nap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80760"/>
            <a:ext cx="99669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0">
                <a:solidFill>
                  <a:srgbClr val="CFE4F5"/>
                </a:solidFill>
                <a:latin typeface="DejaVu Sans"/>
              </a:defRPr>
            </a:pPr>
            <a:r>
              <a:t>IAP • Villamos művek • 13. évfolyam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