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9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640080"/>
            <a:ext cx="2011680" cy="384048"/>
          </a:xfrm>
          <a:prstGeom prst="roundRect">
            <a:avLst/>
          </a:prstGeom>
          <a:solidFill>
            <a:srgbClr val="125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740664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21. HÉT • 2 TANÓRA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80160"/>
            <a:ext cx="6766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FFFFF"/>
                </a:solidFill>
                <a:latin typeface="Aptos Display"/>
              </a:defRPr>
            </a:pPr>
            <a:r>
              <a:t>Kapcsolókészülékek reteszelése</a:t>
            </a:r>
            <a:br/>
            <a:r>
              <a:t>és üzembiztonsága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971800"/>
            <a:ext cx="6126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DFEE"/>
                </a:solidFill>
                <a:latin typeface="Aptos"/>
              </a:defRPr>
            </a:pPr>
            <a:r>
              <a:t>mechanikai • villamos • digitális reteszelés</a:t>
            </a:r>
            <a:br/>
            <a:r>
              <a:t>• fail-safe • lockout • kapcsolási sorrend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1554480"/>
            <a:ext cx="3108960" cy="3017520"/>
          </a:xfrm>
          <a:prstGeom prst="roundRect">
            <a:avLst/>
          </a:prstGeom>
          <a:solidFill>
            <a:srgbClr val="0E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rc 7"/>
          <p:cNvSpPr/>
          <p:nvPr/>
        </p:nvSpPr>
        <p:spPr>
          <a:xfrm>
            <a:off x="8458200" y="1828800"/>
            <a:ext cx="1554480" cy="1554480"/>
          </a:xfrm>
          <a:prstGeom prst="arc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321040" y="2743200"/>
            <a:ext cx="1828800" cy="1234440"/>
          </a:xfrm>
          <a:prstGeom prst="roundRect">
            <a:avLst/>
          </a:prstGeom>
          <a:solidFill>
            <a:srgbClr val="125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034272" y="3063240"/>
            <a:ext cx="320040" cy="3200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4160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29B7E8"/>
                </a:solidFill>
                <a:latin typeface="Aptos"/>
              </a:defRPr>
            </a:pPr>
            <a:r>
              <a:t>HIBÁS PARANCS → TILTÁS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6016752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29B7E8"/>
                </a:solidFill>
                <a:latin typeface="Aptos"/>
              </a:defRPr>
            </a:pPr>
            <a:r>
              <a:t>Villamos kapcsolókészülékek • 7/8. hét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Óraterv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tiltott művelettől a biztonságos kapcsolási sorrendig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5257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508760"/>
            <a:ext cx="73152" cy="4480560"/>
          </a:xfrm>
          <a:prstGeom prst="rect">
            <a:avLst/>
          </a:prstGeom>
          <a:solidFill>
            <a:srgbClr val="5B5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691639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06192C"/>
                </a:solidFill>
                <a:latin typeface="Aptos"/>
              </a:defRPr>
            </a:pPr>
            <a:r>
              <a:t>1. tanóra • Reteszelések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221991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cél és alapelv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697479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mechanikai reteszelés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72968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villamos reteszelés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648456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IED/PLC logika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123944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engedélyező és tiltó feltételek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508760"/>
            <a:ext cx="5257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508760"/>
            <a:ext cx="73152" cy="4480560"/>
          </a:xfrm>
          <a:prstGeom prst="rect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3096" y="1691639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06192C"/>
                </a:solidFill>
                <a:latin typeface="Aptos"/>
              </a:defRPr>
            </a:pPr>
            <a:r>
              <a:t>2. tanóra • Üzembiztonság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2221991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kapcsolási sorrend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2697479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lockout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3172968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LOCAL / REMOTE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3648456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kettős helyzetjelzés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0528" y="4123944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fail-safe hibakezelés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Három reteszelési szint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biztonsági feltétel többféleképpen is kikényszeríthető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3520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63040"/>
            <a:ext cx="73152" cy="4480560"/>
          </a:xfrm>
          <a:prstGeom prst="rect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64592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06192C"/>
                </a:solidFill>
                <a:latin typeface="Aptos"/>
              </a:defRPr>
            </a:pPr>
            <a:r>
              <a:t>MECHANIKAI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76272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fizikai blokkolás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51760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rudazat / zár / kulcs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27248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segédfeszültség nélkül is működhet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4256" y="1463040"/>
            <a:ext cx="3520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34256" y="1463040"/>
            <a:ext cx="73152" cy="4480560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164592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06192C"/>
                </a:solidFill>
                <a:latin typeface="Aptos"/>
              </a:defRPr>
            </a:pPr>
            <a:r>
              <a:t>VILLAMOS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8576" y="2176272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segédérintkező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8576" y="2651760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relélogika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3127248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tekercskör engedélyezése / megszakítása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28431" y="1463040"/>
            <a:ext cx="3520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28431" y="1463040"/>
            <a:ext cx="73152" cy="4480560"/>
          </a:xfrm>
          <a:prstGeom prst="rect">
            <a:avLst/>
          </a:prstGeom>
          <a:solidFill>
            <a:srgbClr val="5B5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19" y="164592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06192C"/>
                </a:solidFill>
                <a:latin typeface="Aptos"/>
              </a:defRPr>
            </a:pPr>
            <a:r>
              <a:t>DIGITÁLIS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2752" y="2176272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IED / PLC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2752" y="2651760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több állapot kiértékelése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752" y="3127248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kommunikáció és konfiguráció szerepe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Zárásengedélyezési logika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Minden szükséges feltételnek teljesülnie kell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54480"/>
            <a:ext cx="228600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60" y="1691639"/>
            <a:ext cx="310896" cy="310896"/>
          </a:xfrm>
          <a:prstGeom prst="ellipse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728216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06192C"/>
                </a:solidFill>
                <a:latin typeface="Aptos"/>
              </a:defRPr>
            </a:pPr>
            <a:r>
              <a:t>DC_OK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554480"/>
            <a:ext cx="228600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566160" y="1691639"/>
            <a:ext cx="310896" cy="310896"/>
          </a:xfrm>
          <a:prstGeom prst="ellipse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23360" y="1728216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06192C"/>
                </a:solidFill>
                <a:latin typeface="Aptos"/>
              </a:defRPr>
            </a:pPr>
            <a:r>
              <a:t>SPRING_OK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554480"/>
            <a:ext cx="228600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9360" y="1691639"/>
            <a:ext cx="310896" cy="310896"/>
          </a:xfrm>
          <a:prstGeom prst="ellipse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1728216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06192C"/>
                </a:solidFill>
                <a:latin typeface="Aptos"/>
              </a:defRPr>
            </a:pPr>
            <a:r>
              <a:t>EARTH_OPEN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560320"/>
            <a:ext cx="228600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2960" y="2697479"/>
            <a:ext cx="310896" cy="310896"/>
          </a:xfrm>
          <a:prstGeom prst="ellipse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2734056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06192C"/>
                </a:solidFill>
                <a:latin typeface="Aptos"/>
              </a:defRPr>
            </a:pPr>
            <a:r>
              <a:t>DISCONNECTOR_OK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29000" y="2560320"/>
            <a:ext cx="228600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566160" y="2697479"/>
            <a:ext cx="310896" cy="310896"/>
          </a:xfrm>
          <a:prstGeom prst="ellipse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23360" y="2734056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06192C"/>
                </a:solidFill>
                <a:latin typeface="Aptos"/>
              </a:defRPr>
            </a:pPr>
            <a:r>
              <a:t>NO_LOCKOUT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2560320"/>
            <a:ext cx="228600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09360" y="2697479"/>
            <a:ext cx="310896" cy="310896"/>
          </a:xfrm>
          <a:prstGeom prst="ellipse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2734056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06192C"/>
                </a:solidFill>
                <a:latin typeface="Aptos"/>
              </a:defRPr>
            </a:pPr>
            <a:r>
              <a:t>MODE_OK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229600" y="2057400"/>
            <a:ext cx="640080" cy="68580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8229600" y="2743200"/>
            <a:ext cx="640080" cy="32004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915400" y="2148840"/>
            <a:ext cx="2331720" cy="1234440"/>
          </a:xfrm>
          <a:prstGeom prst="roundRect">
            <a:avLst/>
          </a:prstGeom>
          <a:solidFill>
            <a:srgbClr val="E7F1F8"/>
          </a:solidFill>
          <a:ln>
            <a:solidFill>
              <a:srgbClr val="1253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0" y="2487168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25388"/>
                </a:solidFill>
                <a:latin typeface="Aptos"/>
              </a:defRPr>
            </a:pPr>
            <a:r>
              <a:t>ÉS</a:t>
            </a:r>
            <a:br/>
            <a:r>
              <a:t>LOGIKA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794760" y="4572000"/>
            <a:ext cx="4572000" cy="658368"/>
          </a:xfrm>
          <a:prstGeom prst="roundRect">
            <a:avLst/>
          </a:prstGeom>
          <a:solidFill>
            <a:srgbClr val="EBF8F1"/>
          </a:solidFill>
          <a:ln>
            <a:solidFill>
              <a:srgbClr val="288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77639" y="4773168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1">
                <a:solidFill>
                  <a:srgbClr val="288B66"/>
                </a:solidFill>
                <a:latin typeface="Aptos"/>
              </a:defRPr>
            </a:pPr>
            <a:r>
              <a:t>MIND IGAZ → ZÁRÁS ENGEDÉLY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Megszakító ↔ szakaszoló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szakaszoló ne szakítson üzemi terhelőáramot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28346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26771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BE433F"/>
                </a:solidFill>
                <a:latin typeface="Aptos"/>
              </a:defRPr>
            </a:pPr>
            <a:r>
              <a:t>MEGSZAKÍTÓ</a:t>
            </a:r>
            <a:br/>
            <a:r>
              <a:t>BE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611880" y="2578608"/>
            <a:ext cx="960120" cy="0"/>
          </a:xfrm>
          <a:prstGeom prst="line">
            <a:avLst/>
          </a:prstGeom>
          <a:ln w="38100">
            <a:solidFill>
              <a:srgbClr val="BE43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663440" y="1920240"/>
            <a:ext cx="2834640" cy="1325880"/>
          </a:xfrm>
          <a:prstGeom prst="roundRect">
            <a:avLst/>
          </a:prstGeom>
          <a:solidFill>
            <a:srgbClr val="FFEFEE"/>
          </a:solidFill>
          <a:ln>
            <a:solidFill>
              <a:srgbClr val="BE4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92040" y="226771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E433F"/>
                </a:solidFill>
                <a:latin typeface="Aptos"/>
              </a:defRPr>
            </a:pPr>
            <a:r>
              <a:t>SZAKASZOLÓ</a:t>
            </a:r>
            <a:br/>
            <a:r>
              <a:t>MŰKÖDTETÉS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543800" y="2578608"/>
            <a:ext cx="960120" cy="0"/>
          </a:xfrm>
          <a:prstGeom prst="line">
            <a:avLst/>
          </a:prstGeom>
          <a:ln w="38100">
            <a:solidFill>
              <a:srgbClr val="BE43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595360" y="1920240"/>
            <a:ext cx="2651760" cy="1325880"/>
          </a:xfrm>
          <a:prstGeom prst="roundRect">
            <a:avLst/>
          </a:prstGeom>
          <a:solidFill>
            <a:srgbClr val="FFEFEE"/>
          </a:solidFill>
          <a:ln>
            <a:solidFill>
              <a:srgbClr val="BE4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23960" y="226771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BE433F"/>
                </a:solidFill>
                <a:latin typeface="Aptos"/>
              </a:defRPr>
            </a:pPr>
            <a:r>
              <a:t>TILTOTT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11680" y="4251960"/>
            <a:ext cx="8138160" cy="658368"/>
          </a:xfrm>
          <a:prstGeom prst="roundRect">
            <a:avLst/>
          </a:prstGeom>
          <a:solidFill>
            <a:srgbClr val="E7F1F8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94560" y="445312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1">
                <a:solidFill>
                  <a:srgbClr val="06192C"/>
                </a:solidFill>
                <a:latin typeface="Aptos"/>
              </a:defRPr>
            </a:pPr>
            <a:r>
              <a:t>Tipikus feltétel: szakaszoló működtetése csak nyitott megszakító mellett.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Földelőkapcsoló reteszelése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földelés és az üzemi feszültség nem kerülhet ugyanarra a hálózatrészre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516636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508760"/>
            <a:ext cx="73152" cy="4434840"/>
          </a:xfrm>
          <a:prstGeom prst="rect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691639"/>
            <a:ext cx="4709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06192C"/>
                </a:solidFill>
                <a:latin typeface="Aptos"/>
              </a:defRPr>
            </a:pPr>
            <a:r>
              <a:t>FÖLDELŐ BE feltétele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221991"/>
            <a:ext cx="46360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hálózatrész leválasztva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697479"/>
            <a:ext cx="46360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szakaszoló megfelelő helyzetben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72968"/>
            <a:ext cx="46360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feszültségmentesség ellenőrizve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648456"/>
            <a:ext cx="46360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kapcsolási utasítás teljesül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36792" y="1508760"/>
            <a:ext cx="516636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36792" y="1508760"/>
            <a:ext cx="73152" cy="4434840"/>
          </a:xfrm>
          <a:prstGeom prst="rect">
            <a:avLst/>
          </a:prstGeom>
          <a:solidFill>
            <a:srgbClr val="BE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79" y="1691639"/>
            <a:ext cx="4709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06192C"/>
                </a:solidFill>
                <a:latin typeface="Aptos"/>
              </a:defRPr>
            </a:pPr>
            <a:r>
              <a:t>FÖLDELŐ BE esetén tiltás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11112" y="2221991"/>
            <a:ext cx="46360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megszakító zárás tiltva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11112" y="2697479"/>
            <a:ext cx="46360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üzemi visszakapcsolás tiltva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11112" y="3172968"/>
            <a:ext cx="46360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szakaszolási logika korlátozva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11112" y="3648456"/>
            <a:ext cx="46360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egyértelmű helyzetjelzés szükséges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Biztonságos kikapcsolási sorrend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reteszelés a helyes sorrendet támogatja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rgbClr val="BE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002536"/>
            <a:ext cx="5669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743200"/>
            <a:ext cx="24231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072384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80" b="1">
                <a:solidFill>
                  <a:srgbClr val="06192C"/>
                </a:solidFill>
                <a:latin typeface="Aptos"/>
              </a:defRPr>
            </a:pPr>
            <a:r>
              <a:t>MEGSZAKÍTÓ</a:t>
            </a:r>
            <a:br/>
            <a:r>
              <a:t>KI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80360" y="3364992"/>
            <a:ext cx="320040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337560" y="1828800"/>
            <a:ext cx="566928" cy="566928"/>
          </a:xfrm>
          <a:prstGeom prst="ellipse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2002536"/>
            <a:ext cx="5669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46120" y="2743200"/>
            <a:ext cx="24231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79" y="3072384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80" b="1">
                <a:solidFill>
                  <a:srgbClr val="06192C"/>
                </a:solidFill>
                <a:latin typeface="Aptos"/>
              </a:defRPr>
            </a:pPr>
            <a:r>
              <a:t>SZAKASZOLÓ(K)</a:t>
            </a:r>
            <a:br/>
            <a:r>
              <a:t>KI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669279" y="3364992"/>
            <a:ext cx="320041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6126479" y="1828800"/>
            <a:ext cx="566928" cy="566928"/>
          </a:xfrm>
          <a:prstGeom prst="ellipse">
            <a:avLst/>
          </a:prstGeom>
          <a:solidFill>
            <a:srgbClr val="125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79" y="2002536"/>
            <a:ext cx="5669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0" y="2743200"/>
            <a:ext cx="24231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72199" y="3072384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80" b="1">
                <a:solidFill>
                  <a:srgbClr val="06192C"/>
                </a:solidFill>
                <a:latin typeface="Aptos"/>
              </a:defRPr>
            </a:pPr>
            <a:r>
              <a:t>FESZÜLTSÉGMENTESSÉG</a:t>
            </a:r>
            <a:br/>
            <a:r>
              <a:t>ELLENŐRZÉSE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458200" y="3364992"/>
            <a:ext cx="320040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8915399" y="1828800"/>
            <a:ext cx="566928" cy="566928"/>
          </a:xfrm>
          <a:prstGeom prst="ellipse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15399" y="2002536"/>
            <a:ext cx="5669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23959" y="2743200"/>
            <a:ext cx="24231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19" y="3072384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80" b="1">
                <a:solidFill>
                  <a:srgbClr val="06192C"/>
                </a:solidFill>
                <a:latin typeface="Aptos"/>
              </a:defRPr>
            </a:pPr>
            <a:r>
              <a:t>FÖLDELŐKAPCSOLÓ</a:t>
            </a:r>
            <a:br/>
            <a:r>
              <a:t>BE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89204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E433F"/>
                </a:solidFill>
                <a:latin typeface="Aptos"/>
              </a:defRPr>
            </a:pPr>
            <a:r>
              <a:t>A konkrét sorrendet mindig az adott hálózat jóváhagyott kapcsolási utasítása határozza meg.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Visszakapcsolási sorrend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földelés megszüntetésétől az üzemi kapcsolásig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002536"/>
            <a:ext cx="5669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743200"/>
            <a:ext cx="24231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072384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80" b="1">
                <a:solidFill>
                  <a:srgbClr val="06192C"/>
                </a:solidFill>
                <a:latin typeface="Aptos"/>
              </a:defRPr>
            </a:pPr>
            <a:r>
              <a:t>FÖLDELŐKAPCSOLÓ</a:t>
            </a:r>
            <a:br/>
            <a:r>
              <a:t>KI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80360" y="3364992"/>
            <a:ext cx="320040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337560" y="1828800"/>
            <a:ext cx="566928" cy="566928"/>
          </a:xfrm>
          <a:prstGeom prst="ellipse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2002536"/>
            <a:ext cx="5669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46120" y="2743200"/>
            <a:ext cx="24231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79" y="3072384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80" b="1">
                <a:solidFill>
                  <a:srgbClr val="06192C"/>
                </a:solidFill>
                <a:latin typeface="Aptos"/>
              </a:defRPr>
            </a:pPr>
            <a:r>
              <a:t>SZAKASZOLÓ(K)</a:t>
            </a:r>
            <a:br/>
            <a:r>
              <a:t>BE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669279" y="3364992"/>
            <a:ext cx="320041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6126479" y="1828800"/>
            <a:ext cx="566928" cy="566928"/>
          </a:xfrm>
          <a:prstGeom prst="ellipse">
            <a:avLst/>
          </a:prstGeom>
          <a:solidFill>
            <a:srgbClr val="125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79" y="2002536"/>
            <a:ext cx="5669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0" y="2743200"/>
            <a:ext cx="24231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72199" y="3072384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80" b="1">
                <a:solidFill>
                  <a:srgbClr val="06192C"/>
                </a:solidFill>
                <a:latin typeface="Aptos"/>
              </a:defRPr>
            </a:pPr>
            <a:r>
              <a:t>FELTÉTELEK</a:t>
            </a:r>
            <a:br/>
            <a:r>
              <a:t>ELLENŐRZÉSE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458200" y="3364992"/>
            <a:ext cx="320040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8915399" y="1828800"/>
            <a:ext cx="566928" cy="566928"/>
          </a:xfrm>
          <a:prstGeom prst="ellipse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15399" y="2002536"/>
            <a:ext cx="5669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23959" y="2743200"/>
            <a:ext cx="24231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19" y="3072384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80" b="1">
                <a:solidFill>
                  <a:srgbClr val="06192C"/>
                </a:solidFill>
                <a:latin typeface="Aptos"/>
              </a:defRPr>
            </a:pPr>
            <a:r>
              <a:t>MEGSZAKÍTÓ</a:t>
            </a:r>
            <a:br/>
            <a:r>
              <a:t>BE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Lockout - tartós zárási tiltás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Súlyos hiba után ne legyen automatikus visszakapcsolás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2331720"/>
            <a:ext cx="1572768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" y="2633472"/>
            <a:ext cx="14264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30" b="1">
                <a:solidFill>
                  <a:srgbClr val="BE433F"/>
                </a:solidFill>
                <a:latin typeface="Aptos"/>
              </a:defRPr>
            </a:pPr>
            <a:r>
              <a:t>VÉDELMI</a:t>
            </a:r>
            <a:br/>
            <a:r>
              <a:t>MŰKÖDÉS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892807" y="2898648"/>
            <a:ext cx="283465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258568" y="2331720"/>
            <a:ext cx="1572768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31720" y="2633472"/>
            <a:ext cx="14264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30" b="1">
                <a:solidFill>
                  <a:srgbClr val="E08931"/>
                </a:solidFill>
                <a:latin typeface="Aptos"/>
              </a:defRPr>
            </a:pPr>
            <a:r>
              <a:t>KIOLDÁS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831336" y="2898648"/>
            <a:ext cx="283464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197096" y="2331720"/>
            <a:ext cx="1572768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70248" y="2633472"/>
            <a:ext cx="14264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30" b="1">
                <a:solidFill>
                  <a:srgbClr val="5B5C9B"/>
                </a:solidFill>
                <a:latin typeface="Aptos"/>
              </a:defRPr>
            </a:pPr>
            <a:r>
              <a:t>LOCKOUT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769864" y="2898648"/>
            <a:ext cx="283463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135624" y="2331720"/>
            <a:ext cx="1572768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08776" y="2633472"/>
            <a:ext cx="14264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30" b="1">
                <a:solidFill>
                  <a:srgbClr val="BE433F"/>
                </a:solidFill>
                <a:latin typeface="Aptos"/>
              </a:defRPr>
            </a:pPr>
            <a:r>
              <a:t>ZÁRÁS</a:t>
            </a:r>
            <a:br/>
            <a:r>
              <a:t>TILTVA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08392" y="2898648"/>
            <a:ext cx="283464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074152" y="2331720"/>
            <a:ext cx="1572768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47304" y="2633472"/>
            <a:ext cx="14264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30" b="1">
                <a:solidFill>
                  <a:srgbClr val="125388"/>
                </a:solidFill>
                <a:latin typeface="Aptos"/>
              </a:defRPr>
            </a:pPr>
            <a:r>
              <a:t>HIBA OKA</a:t>
            </a:r>
            <a:br/>
            <a:r>
              <a:t>TISZTÁZVA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646920" y="2898648"/>
            <a:ext cx="283464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0012680" y="2331720"/>
            <a:ext cx="1572768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85832" y="2633472"/>
            <a:ext cx="14264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30" b="1">
                <a:solidFill>
                  <a:srgbClr val="288B66"/>
                </a:solidFill>
                <a:latin typeface="Aptos"/>
              </a:defRPr>
            </a:pPr>
            <a:r>
              <a:t>RESET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4343400"/>
            <a:ext cx="10241280" cy="658368"/>
          </a:xfrm>
          <a:prstGeom prst="roundRect">
            <a:avLst/>
          </a:prstGeom>
          <a:solidFill>
            <a:srgbClr val="E7F1F8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4544568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1">
                <a:solidFill>
                  <a:srgbClr val="06192C"/>
                </a:solidFill>
                <a:latin typeface="Aptos"/>
              </a:defRPr>
            </a:pPr>
            <a:r>
              <a:t>A reset nem hibajavítás: előbb meg kell állapítani, miért működött a védelem.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LOCAL / REMOTE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vezérlési jogosultság is kapcsolási feltétel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516636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508760"/>
            <a:ext cx="73152" cy="4434840"/>
          </a:xfrm>
          <a:prstGeom prst="rect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691639"/>
            <a:ext cx="4709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06192C"/>
                </a:solidFill>
                <a:latin typeface="Aptos"/>
              </a:defRPr>
            </a:pPr>
            <a:r>
              <a:t>LOCAL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221991"/>
            <a:ext cx="46360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helyi kezelőszerv aktív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697479"/>
            <a:ext cx="46360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SCADA parancs blokkolható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72968"/>
            <a:ext cx="46360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karbantartási / helyi kezelés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648456"/>
            <a:ext cx="46360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egyértelmű állapotjelzés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36792" y="1508760"/>
            <a:ext cx="516636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36792" y="1508760"/>
            <a:ext cx="73152" cy="4434840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79" y="1691639"/>
            <a:ext cx="4709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06192C"/>
                </a:solidFill>
                <a:latin typeface="Aptos"/>
              </a:defRPr>
            </a:pPr>
            <a:r>
              <a:t>REMOTE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11112" y="2221991"/>
            <a:ext cx="46360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távvezérlés engedélyezett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11112" y="2697479"/>
            <a:ext cx="46360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SCADA / állomási rendszer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11112" y="3172968"/>
            <a:ext cx="46360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helyi parancs korlátozható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11112" y="3648456"/>
            <a:ext cx="46360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jogosultság ellenőrzése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Fail-safe szemlélet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Bizonytalan állapotból ne legyen automatikusan engedély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600200"/>
            <a:ext cx="30175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0195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08931"/>
                </a:solidFill>
                <a:latin typeface="Aptos"/>
              </a:defRPr>
            </a:pPr>
            <a:r>
              <a:t>ÁLLAPOTJEL</a:t>
            </a:r>
            <a:br/>
            <a:r>
              <a:t>ELTŰNIK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840480" y="2258568"/>
            <a:ext cx="868680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800600" y="1600200"/>
            <a:ext cx="3017520" cy="1325880"/>
          </a:xfrm>
          <a:prstGeom prst="roundRect">
            <a:avLst/>
          </a:prstGeom>
          <a:solidFill>
            <a:srgbClr val="FFEFEE"/>
          </a:solidFill>
          <a:ln>
            <a:solidFill>
              <a:srgbClr val="BE4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190195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BE433F"/>
                </a:solidFill>
                <a:latin typeface="Aptos"/>
              </a:defRPr>
            </a:pPr>
            <a:r>
              <a:t>ÁLLAPOT</a:t>
            </a:r>
            <a:br/>
            <a:r>
              <a:t>BIZONYTALAN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863840" y="2258568"/>
            <a:ext cx="868680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823960" y="1600200"/>
            <a:ext cx="2560320" cy="1325880"/>
          </a:xfrm>
          <a:prstGeom prst="roundRect">
            <a:avLst/>
          </a:prstGeom>
          <a:solidFill>
            <a:srgbClr val="FFEFEE"/>
          </a:solidFill>
          <a:ln>
            <a:solidFill>
              <a:srgbClr val="BE4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1901952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E433F"/>
                </a:solidFill>
                <a:latin typeface="Aptos"/>
              </a:defRPr>
            </a:pPr>
            <a:r>
              <a:t>TILTÁS +</a:t>
            </a:r>
            <a:br/>
            <a:r>
              <a:t>HIBAJELZÉS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2519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6192C"/>
                </a:solidFill>
                <a:latin typeface="Aptos"/>
              </a:defRPr>
            </a:pPr>
            <a:r>
              <a:t>A hiányzó vagy ellentmondó helyzetjelzést nem szabad automatikusan biztonságos állapotnak tekinteni.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Nem zár a megszakító - hol keresd a tiltást?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20. hét hibakeresési lánca most reteszelési feltételekkel egészül ki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1508760"/>
            <a:ext cx="502920" cy="502920"/>
          </a:xfrm>
          <a:prstGeom prst="ellipse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64207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88720" y="1481328"/>
            <a:ext cx="18288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1691639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80" b="1">
                <a:solidFill>
                  <a:srgbClr val="06192C"/>
                </a:solidFill>
                <a:latin typeface="Aptos"/>
              </a:defRPr>
            </a:pPr>
            <a:r>
              <a:t>DC</a:t>
            </a:r>
          </a:p>
        </p:txBody>
      </p:sp>
      <p:sp>
        <p:nvSpPr>
          <p:cNvPr id="12" name="Oval 11"/>
          <p:cNvSpPr/>
          <p:nvPr/>
        </p:nvSpPr>
        <p:spPr>
          <a:xfrm>
            <a:off x="3337560" y="1508760"/>
            <a:ext cx="502920" cy="502920"/>
          </a:xfrm>
          <a:prstGeom prst="ellipse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1664207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23360" y="1481328"/>
            <a:ext cx="18288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0" y="1691639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80" b="1">
                <a:solidFill>
                  <a:srgbClr val="06192C"/>
                </a:solidFill>
                <a:latin typeface="Aptos"/>
              </a:defRPr>
            </a:pPr>
            <a:r>
              <a:t>RUGÓ</a:t>
            </a:r>
          </a:p>
        </p:txBody>
      </p:sp>
      <p:sp>
        <p:nvSpPr>
          <p:cNvPr id="16" name="Oval 15"/>
          <p:cNvSpPr/>
          <p:nvPr/>
        </p:nvSpPr>
        <p:spPr>
          <a:xfrm>
            <a:off x="6172200" y="1508760"/>
            <a:ext cx="502920" cy="502920"/>
          </a:xfrm>
          <a:prstGeom prst="ellipse">
            <a:avLst/>
          </a:prstGeom>
          <a:solidFill>
            <a:srgbClr val="BE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1664207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0" y="1481328"/>
            <a:ext cx="18288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0" y="1691639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80" b="1">
                <a:solidFill>
                  <a:srgbClr val="06192C"/>
                </a:solidFill>
                <a:latin typeface="Aptos"/>
              </a:defRPr>
            </a:pPr>
            <a:r>
              <a:t>FÖLDELŐ</a:t>
            </a:r>
          </a:p>
        </p:txBody>
      </p:sp>
      <p:sp>
        <p:nvSpPr>
          <p:cNvPr id="20" name="Oval 19"/>
          <p:cNvSpPr/>
          <p:nvPr/>
        </p:nvSpPr>
        <p:spPr>
          <a:xfrm>
            <a:off x="9006840" y="1508760"/>
            <a:ext cx="502920" cy="502920"/>
          </a:xfrm>
          <a:prstGeom prst="ellipse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06840" y="1664207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92640" y="1481328"/>
            <a:ext cx="18288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4080" y="1691639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80" b="1">
                <a:solidFill>
                  <a:srgbClr val="06192C"/>
                </a:solidFill>
                <a:latin typeface="Aptos"/>
              </a:defRPr>
            </a:pPr>
            <a:r>
              <a:t>SZAKASZOLÓ</a:t>
            </a:r>
          </a:p>
        </p:txBody>
      </p:sp>
      <p:sp>
        <p:nvSpPr>
          <p:cNvPr id="24" name="Oval 23"/>
          <p:cNvSpPr/>
          <p:nvPr/>
        </p:nvSpPr>
        <p:spPr>
          <a:xfrm>
            <a:off x="502920" y="3520440"/>
            <a:ext cx="502920" cy="502920"/>
          </a:xfrm>
          <a:prstGeom prst="ellipse">
            <a:avLst/>
          </a:prstGeom>
          <a:solidFill>
            <a:srgbClr val="5B5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3675888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88720" y="3493008"/>
            <a:ext cx="18288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80160" y="370332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80" b="1">
                <a:solidFill>
                  <a:srgbClr val="06192C"/>
                </a:solidFill>
                <a:latin typeface="Aptos"/>
              </a:defRPr>
            </a:pPr>
            <a:r>
              <a:t>LOCKOUT</a:t>
            </a:r>
          </a:p>
        </p:txBody>
      </p:sp>
      <p:sp>
        <p:nvSpPr>
          <p:cNvPr id="28" name="Oval 27"/>
          <p:cNvSpPr/>
          <p:nvPr/>
        </p:nvSpPr>
        <p:spPr>
          <a:xfrm>
            <a:off x="3337560" y="3520440"/>
            <a:ext cx="502920" cy="502920"/>
          </a:xfrm>
          <a:prstGeom prst="ellipse">
            <a:avLst/>
          </a:prstGeom>
          <a:solidFill>
            <a:srgbClr val="125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37560" y="3675888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023360" y="3493008"/>
            <a:ext cx="18288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0" y="370332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80" b="1">
                <a:solidFill>
                  <a:srgbClr val="06192C"/>
                </a:solidFill>
                <a:latin typeface="Aptos"/>
              </a:defRPr>
            </a:pPr>
            <a:r>
              <a:t>LOCAL/REMOTE</a:t>
            </a:r>
          </a:p>
        </p:txBody>
      </p:sp>
      <p:sp>
        <p:nvSpPr>
          <p:cNvPr id="32" name="Oval 31"/>
          <p:cNvSpPr/>
          <p:nvPr/>
        </p:nvSpPr>
        <p:spPr>
          <a:xfrm>
            <a:off x="6172200" y="3520440"/>
            <a:ext cx="502920" cy="502920"/>
          </a:xfrm>
          <a:prstGeom prst="ellipse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72200" y="3675888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0" y="3493008"/>
            <a:ext cx="18288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49440" y="370332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80" b="1">
                <a:solidFill>
                  <a:srgbClr val="06192C"/>
                </a:solidFill>
                <a:latin typeface="Aptos"/>
              </a:defRPr>
            </a:pPr>
            <a:r>
              <a:t>SEGÉDÉRINTKEZŐ</a:t>
            </a:r>
          </a:p>
        </p:txBody>
      </p:sp>
      <p:sp>
        <p:nvSpPr>
          <p:cNvPr id="36" name="Oval 35"/>
          <p:cNvSpPr/>
          <p:nvPr/>
        </p:nvSpPr>
        <p:spPr>
          <a:xfrm>
            <a:off x="9006840" y="3520440"/>
            <a:ext cx="502920" cy="502920"/>
          </a:xfrm>
          <a:prstGeom prst="ellipse">
            <a:avLst/>
          </a:prstGeom>
          <a:solidFill>
            <a:srgbClr val="BE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06840" y="3675888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692640" y="3493008"/>
            <a:ext cx="18288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84080" y="370332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80" b="1">
                <a:solidFill>
                  <a:srgbClr val="06192C"/>
                </a:solidFill>
                <a:latin typeface="Aptos"/>
              </a:defRPr>
            </a:pPr>
            <a:r>
              <a:t>IED / LOGIKA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Összefoglalás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21. hét öt kulcsgondolata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1371600"/>
            <a:ext cx="530352" cy="530352"/>
          </a:xfrm>
          <a:prstGeom prst="ellipse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36192"/>
            <a:ext cx="530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1444752"/>
            <a:ext cx="9784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40" b="1">
                <a:solidFill>
                  <a:srgbClr val="06192C"/>
                </a:solidFill>
                <a:latin typeface="Aptos"/>
              </a:defRPr>
            </a:pPr>
            <a:r>
              <a:t>A reteszelés feltételekhez köti a kapcsolási műveletet.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2249424"/>
            <a:ext cx="530352" cy="530352"/>
          </a:xfrm>
          <a:prstGeom prst="ellipse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414016"/>
            <a:ext cx="530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2322576"/>
            <a:ext cx="9784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40" b="1">
                <a:solidFill>
                  <a:srgbClr val="06192C"/>
                </a:solidFill>
                <a:latin typeface="Aptos"/>
              </a:defRPr>
            </a:pPr>
            <a:r>
              <a:t>Mechanikai, villamos és digitális reteszelés együtt is alkalmazható.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3127248"/>
            <a:ext cx="530352" cy="530352"/>
          </a:xfrm>
          <a:prstGeom prst="ellipse">
            <a:avLst/>
          </a:prstGeom>
          <a:solidFill>
            <a:srgbClr val="125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291840"/>
            <a:ext cx="530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3200400"/>
            <a:ext cx="9784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40" b="1">
                <a:solidFill>
                  <a:srgbClr val="06192C"/>
                </a:solidFill>
                <a:latin typeface="Aptos"/>
              </a:defRPr>
            </a:pPr>
            <a:r>
              <a:t>A megszakító, szakaszoló és földelőkapcsoló állapotai egymással összefüggenek.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4005072"/>
            <a:ext cx="530352" cy="530352"/>
          </a:xfrm>
          <a:prstGeom prst="ellipse">
            <a:avLst/>
          </a:prstGeom>
          <a:solidFill>
            <a:srgbClr val="BE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169663"/>
            <a:ext cx="530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72768" y="4078224"/>
            <a:ext cx="9784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40" b="1">
                <a:solidFill>
                  <a:srgbClr val="06192C"/>
                </a:solidFill>
                <a:latin typeface="Aptos"/>
              </a:defRPr>
            </a:pPr>
            <a:r>
              <a:t>Lockout és fail-safe logika a bizonytalan vagy veszélyes állapotot blokkolja.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4882896"/>
            <a:ext cx="530352" cy="530352"/>
          </a:xfrm>
          <a:prstGeom prst="ellipse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047488"/>
            <a:ext cx="530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" y="4956048"/>
            <a:ext cx="9784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40" b="1">
                <a:solidFill>
                  <a:srgbClr val="06192C"/>
                </a:solidFill>
                <a:latin typeface="Aptos"/>
              </a:defRPr>
            </a:pPr>
            <a:r>
              <a:t>A reteszelés nem helyettesíti a jóváhagyott kapcsolási utasítást és a szakszerű kezelést.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5806440"/>
            <a:ext cx="10515600" cy="438912"/>
          </a:xfrm>
          <a:prstGeom prst="roundRect">
            <a:avLst/>
          </a:prstGeom>
          <a:solidFill>
            <a:srgbClr val="E7F1F8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5934456"/>
            <a:ext cx="10149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25388"/>
                </a:solidFill>
                <a:latin typeface="Aptos"/>
              </a:defRPr>
            </a:pPr>
            <a:r>
              <a:t>22. hét → Ellenőrzés, karbantartás és komplex gyakorlat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