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94360"/>
            <a:ext cx="2011680" cy="384048"/>
          </a:xfrm>
          <a:prstGeom prst="round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32. HÉT • 2 TANÓRA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594360"/>
            <a:ext cx="2834640" cy="384048"/>
          </a:xfrm>
          <a:prstGeom prst="round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360" y="694944"/>
            <a:ext cx="2834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ENERGIAGAZDÁLKODÁS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6766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Komplex gyakorlat</a:t>
            </a:r>
            <a:br/>
            <a:r>
              <a:t>és összefoglalás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33756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FEE"/>
                </a:solidFill>
                <a:latin typeface="Aptos"/>
              </a:defRPr>
            </a:pPr>
            <a:r>
              <a:t>mérés • terhelés • cos φ • veszteség</a:t>
            </a:r>
            <a:br/>
            <a:r>
              <a:t>• költség • hatékonyság • monitoring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828800"/>
            <a:ext cx="1508760" cy="731520"/>
          </a:xfrm>
          <a:prstGeom prst="round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2084832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" b="1">
                <a:solidFill>
                  <a:srgbClr val="FFFFFF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92640" y="1828800"/>
            <a:ext cx="1508760" cy="731520"/>
          </a:xfrm>
          <a:prstGeom prst="roundRect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0" y="2084832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" b="1">
                <a:solidFill>
                  <a:srgbClr val="FFFFFF"/>
                </a:solidFill>
                <a:latin typeface="Aptos"/>
              </a:defRPr>
            </a:pPr>
            <a:r>
              <a:t>ELEMZÉS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0" y="3931920"/>
            <a:ext cx="1508760" cy="731520"/>
          </a:xfrm>
          <a:prstGeom prst="round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0" y="4187952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" b="1">
                <a:solidFill>
                  <a:srgbClr val="FFFFFF"/>
                </a:solidFill>
                <a:latin typeface="Aptos"/>
              </a:defRPr>
            </a:pPr>
            <a:r>
              <a:t>DÖNTÉS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3931920"/>
            <a:ext cx="1508760" cy="731520"/>
          </a:xfrm>
          <a:prstGeom prst="round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4187952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" b="1">
                <a:solidFill>
                  <a:srgbClr val="FFFFFF"/>
                </a:solidFill>
                <a:latin typeface="Aptos"/>
              </a:defRPr>
            </a:pPr>
            <a:r>
              <a:t>VISSZAMÉRÉS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098280" y="2194560"/>
            <a:ext cx="54864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442448" y="2560320"/>
            <a:ext cx="0" cy="132588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9098280" y="4297680"/>
            <a:ext cx="54864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339327" y="2606040"/>
            <a:ext cx="0" cy="132588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13232" y="601675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29B7E8"/>
                </a:solidFill>
                <a:latin typeface="Aptos"/>
              </a:defRPr>
            </a:pPr>
            <a:r>
              <a:t>Energiagazdálkodás • 10/10. hét • TÉMAZÁRÁS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Óraterv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Rendszerezés és komplex üzemi esettanulmány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508760"/>
            <a:ext cx="73152" cy="448056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91639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06192C"/>
                </a:solidFill>
                <a:latin typeface="Aptos"/>
              </a:defRPr>
            </a:pPr>
            <a:r>
              <a:t>1. tanóra • Rendszerezés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221991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energia és teljesítmény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79191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terhelési görbe és Pmax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36391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P-Q-S és cos 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593591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veszteség és mérés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50791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költség és KPI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5087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508760"/>
            <a:ext cx="73152" cy="448056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3096" y="1691639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06192C"/>
                </a:solidFill>
                <a:latin typeface="Aptos"/>
              </a:defRPr>
            </a:pPr>
            <a:r>
              <a:t>2. tanóra • Esettanulmány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221991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fajlagos fogyasztás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679191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éjszakai alapterhelés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136391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meddőkompenzálás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3593591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terhelésmenedzsment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4050791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intézkedési terv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A 20 órás témakör térképe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23-32. hét összefüggései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1965960"/>
            <a:ext cx="1965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45059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9B7E8"/>
                </a:solidFill>
                <a:latin typeface="Aptos"/>
              </a:defRPr>
            </a:pPr>
            <a:r>
              <a:t>MÉRÉS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94560" y="2679192"/>
            <a:ext cx="27432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87752" y="1965960"/>
            <a:ext cx="1965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79192" y="245059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25388"/>
                </a:solidFill>
                <a:latin typeface="Aptos"/>
              </a:defRPr>
            </a:pPr>
            <a:r>
              <a:t>TERHELÉS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53712" y="2679192"/>
            <a:ext cx="27432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946904" y="1965960"/>
            <a:ext cx="1965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38344" y="245059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BE433F"/>
                </a:solidFill>
                <a:latin typeface="Aptos"/>
              </a:defRPr>
            </a:pPr>
            <a:r>
              <a:t>VESZTESÉG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12864" y="2679192"/>
            <a:ext cx="27432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06056" y="1965960"/>
            <a:ext cx="1965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97496" y="245059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08931"/>
                </a:solidFill>
                <a:latin typeface="Aptos"/>
              </a:defRPr>
            </a:pPr>
            <a:r>
              <a:t>KÖLTSÉG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272016" y="2679192"/>
            <a:ext cx="27432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665208" y="1965960"/>
            <a:ext cx="1965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56648" y="245059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88B66"/>
                </a:solidFill>
                <a:latin typeface="Aptos"/>
              </a:defRPr>
            </a:pPr>
            <a:r>
              <a:t>HATÉKONYSÁG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0" y="4160520"/>
            <a:ext cx="8503920" cy="594360"/>
          </a:xfrm>
          <a:prstGeom prst="roundRect">
            <a:avLst/>
          </a:prstGeom>
          <a:solidFill>
            <a:srgbClr val="E7F1F8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11680" y="4343400"/>
            <a:ext cx="8138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5B5C9B"/>
                </a:solidFill>
                <a:latin typeface="Aptos"/>
              </a:defRPr>
            </a:pPr>
            <a:r>
              <a:t>MONITORING → BEAVATKOZÁS → VISSZAMÉRÉS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5074920"/>
            <a:ext cx="6675120" cy="594360"/>
          </a:xfrm>
          <a:prstGeom prst="roundRect">
            <a:avLst/>
          </a:prstGeom>
          <a:solidFill>
            <a:srgbClr val="EBF8F1"/>
          </a:solidFill>
          <a:ln>
            <a:solidFill>
              <a:srgbClr val="288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0" y="5257800"/>
            <a:ext cx="6309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88B66"/>
                </a:solidFill>
                <a:latin typeface="Aptos"/>
              </a:defRPr>
            </a:pPr>
            <a:r>
              <a:t>Műszaki döntés megbízható adatokból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Kulcsképletek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Az összefüggések mögött mindig legyen fizikai jelentés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32004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76479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9B7E8"/>
                </a:solidFill>
                <a:latin typeface="Aptos"/>
              </a:defRPr>
            </a:pPr>
            <a:r>
              <a:t>ENERGIA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31343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192C"/>
                </a:solidFill>
                <a:latin typeface="Aptos"/>
              </a:defRPr>
            </a:pPr>
            <a:r>
              <a:t>E = P · 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508760"/>
            <a:ext cx="32004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6479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25388"/>
                </a:solidFill>
                <a:latin typeface="Aptos"/>
              </a:defRPr>
            </a:pPr>
            <a:r>
              <a:t>TELJESÍTMÉNY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31343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192C"/>
                </a:solidFill>
                <a:latin typeface="Aptos"/>
              </a:defRPr>
            </a:pPr>
            <a:r>
              <a:t>P = U · 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08760"/>
            <a:ext cx="32004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76479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B5C9B"/>
                </a:solidFill>
                <a:latin typeface="Aptos"/>
              </a:defRPr>
            </a:pPr>
            <a:r>
              <a:t>HÁROMFÁZIS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31343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192C"/>
                </a:solidFill>
                <a:latin typeface="Aptos"/>
              </a:defRPr>
            </a:pPr>
            <a:r>
              <a:t>P = √3·U·I·cosφ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66160"/>
            <a:ext cx="32004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3822191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88B66"/>
                </a:solidFill>
                <a:latin typeface="Aptos"/>
              </a:defRPr>
            </a:pPr>
            <a:r>
              <a:t>TELJ. TÉNYEZŐ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37083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192C"/>
                </a:solidFill>
                <a:latin typeface="Aptos"/>
              </a:defRPr>
            </a:pPr>
            <a:r>
              <a:t>cos φ = P / 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566160"/>
            <a:ext cx="32004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3822191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BE433F"/>
                </a:solidFill>
                <a:latin typeface="Aptos"/>
              </a:defRPr>
            </a:pPr>
            <a:r>
              <a:t>VESZTESÉG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437083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192C"/>
                </a:solidFill>
                <a:latin typeface="Aptos"/>
              </a:defRPr>
            </a:pPr>
            <a:r>
              <a:t>Pvesz = I²·R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3566160"/>
            <a:ext cx="32004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3822191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08931"/>
                </a:solidFill>
                <a:latin typeface="Aptos"/>
              </a:defRPr>
            </a:pPr>
            <a:r>
              <a:t>KÖLTSÉG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37083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192C"/>
                </a:solidFill>
                <a:latin typeface="Aptos"/>
              </a:defRPr>
            </a:pPr>
            <a:r>
              <a:t>K = E · 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Komplex üzemi példa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Egyetlen adatsor több problémára is rámutathat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1645920"/>
            <a:ext cx="2011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874519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9B7E8"/>
                </a:solidFill>
                <a:latin typeface="Aptos"/>
              </a:defRPr>
            </a:pPr>
            <a:r>
              <a:t>72 000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39572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7787"/>
                </a:solidFill>
                <a:latin typeface="Aptos"/>
              </a:defRPr>
            </a:pPr>
            <a:r>
              <a:t>kWh/hó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1645920"/>
            <a:ext cx="2011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1874519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88B66"/>
                </a:solidFill>
                <a:latin typeface="Aptos"/>
              </a:defRPr>
            </a:pPr>
            <a:r>
              <a:t>24 000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39572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7787"/>
                </a:solidFill>
                <a:latin typeface="Aptos"/>
              </a:defRPr>
            </a:pPr>
            <a:r>
              <a:t>db/hó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1645920"/>
            <a:ext cx="2011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79" y="1874519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E433F"/>
                </a:solidFill>
                <a:latin typeface="Aptos"/>
              </a:defRPr>
            </a:pPr>
            <a:r>
              <a:t>310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79" y="239572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7787"/>
                </a:solidFill>
                <a:latin typeface="Aptos"/>
              </a:defRPr>
            </a:pPr>
            <a:r>
              <a:t>kW Pmax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59" y="1645920"/>
            <a:ext cx="2011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199" y="1874519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08931"/>
                </a:solidFill>
                <a:latin typeface="Aptos"/>
              </a:defRPr>
            </a:pPr>
            <a:r>
              <a:t>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199" y="239572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7787"/>
                </a:solidFill>
                <a:latin typeface="Aptos"/>
              </a:defRPr>
            </a:pPr>
            <a:r>
              <a:t>kW éjjel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5480" y="1645920"/>
            <a:ext cx="2011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46919" y="1874519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5B5C9B"/>
                </a:solidFill>
                <a:latin typeface="Aptos"/>
              </a:defRPr>
            </a:pPr>
            <a:r>
              <a:t>0,82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919" y="239572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7787"/>
                </a:solidFill>
                <a:latin typeface="Aptos"/>
              </a:defRPr>
            </a:pPr>
            <a:r>
              <a:t>cos 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383280"/>
            <a:ext cx="34747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3383280"/>
            <a:ext cx="73152" cy="219456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35661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06192C"/>
                </a:solidFill>
                <a:latin typeface="Aptos"/>
              </a:defRPr>
            </a:pPr>
            <a:r>
              <a:t>KOMPRESSZOR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096512"/>
            <a:ext cx="2944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90 kW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553712"/>
            <a:ext cx="2944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7,5 bar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010912"/>
            <a:ext cx="2944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éjszakai működés?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70832" y="3383280"/>
            <a:ext cx="34747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70832" y="3383280"/>
            <a:ext cx="73152" cy="2194560"/>
          </a:xfrm>
          <a:prstGeom prst="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17720" y="35661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06192C"/>
                </a:solidFill>
                <a:latin typeface="Aptos"/>
              </a:defRPr>
            </a:pPr>
            <a:r>
              <a:t>SZIVATTYÚ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45152" y="4096512"/>
            <a:ext cx="2944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75 kW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45152" y="4553712"/>
            <a:ext cx="2944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részben fojtott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5152" y="5010912"/>
            <a:ext cx="2944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munkapont?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3383280"/>
            <a:ext cx="34747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46720" y="3383280"/>
            <a:ext cx="73152" cy="2194560"/>
          </a:xfrm>
          <a:prstGeom prst="rect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93608" y="35661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06192C"/>
                </a:solidFill>
                <a:latin typeface="Aptos"/>
              </a:defRPr>
            </a:pPr>
            <a:r>
              <a:t>HÁLÓZAT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4096512"/>
            <a:ext cx="2944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cos φ 0,82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4553712"/>
            <a:ext cx="2944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Pmax 310 kW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5010912"/>
            <a:ext cx="2944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kompenzálás?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Fajlagos energia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termeléshez viszonyított mutató teszi összehasonlíthatóvá a hónapokat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737360"/>
            <a:ext cx="310896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057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9B7E8"/>
                </a:solidFill>
                <a:latin typeface="Aptos"/>
              </a:defRPr>
            </a:pPr>
            <a:r>
              <a:t>JELENLEGI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8346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29B7E8"/>
                </a:solidFill>
                <a:latin typeface="Aptos"/>
              </a:defRPr>
            </a:pPr>
            <a:r>
              <a:t>3,0 kWh/db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737360"/>
            <a:ext cx="3108960" cy="2377440"/>
          </a:xfrm>
          <a:prstGeom prst="roundRect">
            <a:avLst/>
          </a:prstGeom>
          <a:solidFill>
            <a:srgbClr val="EBF8F1"/>
          </a:solidFill>
          <a:ln>
            <a:solidFill>
              <a:srgbClr val="288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057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88B66"/>
                </a:solidFill>
                <a:latin typeface="Aptos"/>
              </a:defRPr>
            </a:pPr>
            <a:r>
              <a:t>CÉL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8346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288B66"/>
                </a:solidFill>
                <a:latin typeface="Aptos"/>
              </a:defRPr>
            </a:pPr>
            <a:r>
              <a:t>2,8 kWh/db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60520" y="2926080"/>
            <a:ext cx="3794759" cy="0"/>
          </a:xfrm>
          <a:prstGeom prst="line">
            <a:avLst/>
          </a:prstGeom>
          <a:ln w="50800">
            <a:solidFill>
              <a:srgbClr val="5B5C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846320" y="23317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5B5C9B"/>
                </a:solidFill>
                <a:latin typeface="Aptos"/>
              </a:defRPr>
            </a:pPr>
            <a:r>
              <a:t>-6,7%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57400" y="4800600"/>
            <a:ext cx="8046720" cy="502920"/>
          </a:xfrm>
          <a:prstGeom prst="roundRect">
            <a:avLst/>
          </a:prstGeom>
          <a:solidFill>
            <a:srgbClr val="E7F1F8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40280" y="4956048"/>
            <a:ext cx="7680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70" b="1">
                <a:solidFill>
                  <a:srgbClr val="06192C"/>
                </a:solidFill>
                <a:latin typeface="Aptos"/>
              </a:defRPr>
            </a:pPr>
            <a:r>
              <a:t>Az összfogyasztást mindig a termelési eredménnyel együtt értékeljük.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Éjszakai alapterhelés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42 kW-ot először fel kell bontani - nem automatikusan veszteség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1051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125388"/>
                </a:solidFill>
                <a:latin typeface="Aptos"/>
              </a:defRPr>
            </a:pPr>
            <a:r>
              <a:t>SZERVER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5915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9" b="0">
                <a:solidFill>
                  <a:srgbClr val="06192C"/>
                </a:solidFill>
                <a:latin typeface="Aptos"/>
              </a:defRPr>
            </a:pPr>
            <a:r>
              <a:t>szükséges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55448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81051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288B66"/>
                </a:solidFill>
                <a:latin typeface="Aptos"/>
              </a:defRPr>
            </a:pPr>
            <a:r>
              <a:t>BIZTONSÁG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5915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9" b="0">
                <a:solidFill>
                  <a:srgbClr val="06192C"/>
                </a:solidFill>
                <a:latin typeface="Aptos"/>
              </a:defRPr>
            </a:pPr>
            <a:r>
              <a:t>szükséges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55448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81051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29B7E8"/>
                </a:solidFill>
                <a:latin typeface="Aptos"/>
              </a:defRPr>
            </a:pPr>
            <a:r>
              <a:t>HŰTÉS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35915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9" b="0">
                <a:solidFill>
                  <a:srgbClr val="06192C"/>
                </a:solidFill>
                <a:latin typeface="Aptos"/>
              </a:defRPr>
            </a:pPr>
            <a:r>
              <a:t>vizsgálandó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1188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86791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BE433F"/>
                </a:solidFill>
                <a:latin typeface="Aptos"/>
              </a:defRPr>
            </a:pPr>
            <a:r>
              <a:t>KOMPRESSZOR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41655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9" b="0">
                <a:solidFill>
                  <a:srgbClr val="06192C"/>
                </a:solidFill>
                <a:latin typeface="Aptos"/>
              </a:defRPr>
            </a:pPr>
            <a:r>
              <a:t>vizsgálandó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61188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386791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E08931"/>
                </a:solidFill>
                <a:latin typeface="Aptos"/>
              </a:defRPr>
            </a:pPr>
            <a:r>
              <a:t>GÉP KÉSZENLÉT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41655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9" b="0">
                <a:solidFill>
                  <a:srgbClr val="06192C"/>
                </a:solidFill>
                <a:latin typeface="Aptos"/>
              </a:defRPr>
            </a:pPr>
            <a:r>
              <a:t>vizsgálandó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20" y="361188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58200" y="386791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5B5C9B"/>
                </a:solidFill>
                <a:latin typeface="Aptos"/>
              </a:defRPr>
            </a:pPr>
            <a:r>
              <a:t>VILÁGÍTÁS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441655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9" b="0">
                <a:solidFill>
                  <a:srgbClr val="06192C"/>
                </a:solidFill>
                <a:latin typeface="Aptos"/>
              </a:defRPr>
            </a:pPr>
            <a:r>
              <a:t>vizsgálandó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cos φ = 0,82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Mérjünk és keressük meg az okot, mielőtt kompenzálást tervezünk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Oval 7"/>
          <p:cNvSpPr/>
          <p:nvPr/>
        </p:nvSpPr>
        <p:spPr>
          <a:xfrm>
            <a:off x="850392" y="1828800"/>
            <a:ext cx="713232" cy="713232"/>
          </a:xfrm>
          <a:prstGeom prst="ellipse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075688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" y="2788920"/>
            <a:ext cx="1965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315468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1">
                <a:solidFill>
                  <a:srgbClr val="29B7E8"/>
                </a:solidFill>
                <a:latin typeface="Aptos"/>
              </a:defRPr>
            </a:pPr>
            <a:r>
              <a:t>MIKOR?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94560" y="3364992"/>
            <a:ext cx="27432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209544" y="1828800"/>
            <a:ext cx="713232" cy="713232"/>
          </a:xfrm>
          <a:prstGeom prst="ellipse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9544" y="2075688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87752" y="2788920"/>
            <a:ext cx="1965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80" y="315468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1">
                <a:solidFill>
                  <a:srgbClr val="125388"/>
                </a:solidFill>
                <a:latin typeface="Aptos"/>
              </a:defRPr>
            </a:pPr>
            <a:r>
              <a:t>HOL?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53712" y="3364992"/>
            <a:ext cx="27432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568696" y="1828800"/>
            <a:ext cx="713232" cy="713232"/>
          </a:xfrm>
          <a:prstGeom prst="ellipse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68696" y="2075688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46904" y="2788920"/>
            <a:ext cx="1965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56632" y="315468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1">
                <a:solidFill>
                  <a:srgbClr val="5B5C9B"/>
                </a:solidFill>
                <a:latin typeface="Aptos"/>
              </a:defRPr>
            </a:pPr>
            <a:r>
              <a:t>MELYIK GÉP?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912864" y="3364992"/>
            <a:ext cx="27432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927848" y="1828800"/>
            <a:ext cx="713232" cy="713232"/>
          </a:xfrm>
          <a:prstGeom prst="ellips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27848" y="2075688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06056" y="2788920"/>
            <a:ext cx="1965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15783" y="315468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1">
                <a:solidFill>
                  <a:srgbClr val="E08931"/>
                </a:solidFill>
                <a:latin typeface="Aptos"/>
              </a:defRPr>
            </a:pPr>
            <a:r>
              <a:t>KOMPENZÁLÓ?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272016" y="3364992"/>
            <a:ext cx="27432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0287000" y="1828800"/>
            <a:ext cx="713232" cy="713232"/>
          </a:xfrm>
          <a:prstGeom prst="ellipse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87000" y="2075688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65208" y="2788920"/>
            <a:ext cx="1965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74936" y="315468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1">
                <a:solidFill>
                  <a:srgbClr val="BE433F"/>
                </a:solidFill>
                <a:latin typeface="Aptos"/>
              </a:defRPr>
            </a:pPr>
            <a:r>
              <a:t>HIBA?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11680" y="4846320"/>
            <a:ext cx="8138160" cy="594360"/>
          </a:xfrm>
          <a:prstGeom prst="roundRect">
            <a:avLst/>
          </a:prstGeom>
          <a:solidFill>
            <a:srgbClr val="FCEFED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94560" y="502920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70" b="1">
                <a:solidFill>
                  <a:srgbClr val="BE433F"/>
                </a:solidFill>
                <a:latin typeface="Aptos"/>
              </a:defRPr>
            </a:pPr>
            <a:r>
              <a:t>Konkrét kondenzátortelepet csak megfelelő mérési adatokból méretezünk.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Csúcsterhelés: 310 → 280 kW alatt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cél nem a termelés csökkentése, hanem az egyidejűség kezelése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E433F"/>
                </a:solidFill>
                <a:latin typeface="Aptos"/>
              </a:defRPr>
            </a:pPr>
            <a:r>
              <a:t>JELENLEGI PROFIL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88B66"/>
                </a:solidFill>
                <a:latin typeface="Aptos"/>
              </a:defRPr>
            </a:pPr>
            <a:r>
              <a:t>SZERVEZETT PROFIL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5029200"/>
            <a:ext cx="4572000" cy="0"/>
          </a:xfrm>
          <a:prstGeom prst="line">
            <a:avLst/>
          </a:prstGeom>
          <a:ln w="19050">
            <a:solidFill>
              <a:srgbClr val="061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00800" y="5029200"/>
            <a:ext cx="4572000" cy="0"/>
          </a:xfrm>
          <a:prstGeom prst="line">
            <a:avLst/>
          </a:prstGeom>
          <a:ln w="19050">
            <a:solidFill>
              <a:srgbClr val="061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14400" y="4114800"/>
            <a:ext cx="502920" cy="91440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37360" y="3566160"/>
            <a:ext cx="502920" cy="146304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0320" y="2286000"/>
            <a:ext cx="502920" cy="2743200"/>
          </a:xfrm>
          <a:prstGeom prst="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3017520"/>
            <a:ext cx="502920" cy="201168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06240" y="3840480"/>
            <a:ext cx="502920" cy="118872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0" y="4114800"/>
            <a:ext cx="502920" cy="91440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06640" y="3657600"/>
            <a:ext cx="502920" cy="137160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2971800"/>
            <a:ext cx="502920" cy="205740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2560" y="3108960"/>
            <a:ext cx="502920" cy="192024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75520" y="3520440"/>
            <a:ext cx="502920" cy="150876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731520" y="2514600"/>
            <a:ext cx="4572000" cy="0"/>
          </a:xfrm>
          <a:prstGeom prst="line">
            <a:avLst/>
          </a:prstGeom>
          <a:ln w="1905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400800" y="2514600"/>
            <a:ext cx="4572000" cy="0"/>
          </a:xfrm>
          <a:prstGeom prst="line">
            <a:avLst/>
          </a:prstGeom>
          <a:ln w="1905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828800" y="5486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BE433F"/>
                </a:solidFill>
                <a:latin typeface="Aptos"/>
              </a:defRPr>
            </a:pPr>
            <a:r>
              <a:t>egyidejű indítások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5486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288B66"/>
                </a:solidFill>
                <a:latin typeface="Aptos"/>
              </a:defRPr>
            </a:pPr>
            <a:r>
              <a:t>időbeli eltolás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Energiahatékonysági csomag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Először az egyszerű veszteségek, utána a beruházás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0876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508760"/>
            <a:ext cx="73152" cy="443484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916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06192C"/>
                </a:solidFill>
                <a:latin typeface="Aptos"/>
              </a:defRPr>
            </a:pPr>
            <a:r>
              <a:t>AZONNALI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219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éjszakai fogyasztók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791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szivárgáskeresés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1363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beállítások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5935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indítási időzítés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4256" y="150876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4256" y="1508760"/>
            <a:ext cx="73152" cy="443484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1144" y="16916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06192C"/>
                </a:solidFill>
                <a:latin typeface="Aptos"/>
              </a:defRPr>
            </a:pPr>
            <a:r>
              <a:t>KÖZEPES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22219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almérés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791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SCADA riasztás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1363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szabályozás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35935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kompenzáló javítás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4152" y="150876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4152" y="1508760"/>
            <a:ext cx="73152" cy="443484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16916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06192C"/>
                </a:solidFill>
                <a:latin typeface="Aptos"/>
              </a:defRPr>
            </a:pPr>
            <a:r>
              <a:t>NAGYOBB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8472" y="22219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VFD átalakítás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2" y="26791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gép korszerűsítés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8472" y="31363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hálózati fejlesztés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8472" y="35935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rendszerátalakítás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Gazdasági értékelés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műszaki megtakarítást pénzügyi hatássá fordítjuk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37360"/>
            <a:ext cx="30175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9B7E8"/>
                </a:solidFill>
                <a:latin typeface="Aptos"/>
              </a:defRPr>
            </a:pPr>
            <a:r>
              <a:t>MEGTAKARÍTÁS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889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29B7E8"/>
                </a:solidFill>
                <a:latin typeface="Aptos"/>
              </a:defRPr>
            </a:pPr>
            <a:r>
              <a:t>4 800 kWh/hó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737360"/>
            <a:ext cx="30175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0574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88B66"/>
                </a:solidFill>
                <a:latin typeface="Aptos"/>
              </a:defRPr>
            </a:pPr>
            <a:r>
              <a:t>ÉVES ÉRTÉK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7889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288B66"/>
                </a:solidFill>
                <a:latin typeface="Aptos"/>
              </a:defRPr>
            </a:pPr>
            <a:r>
              <a:t>3,456 M Ft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737360"/>
            <a:ext cx="3017520" cy="3017520"/>
          </a:xfrm>
          <a:prstGeom prst="roundRect">
            <a:avLst/>
          </a:prstGeom>
          <a:solidFill>
            <a:srgbClr val="E7F1F8"/>
          </a:solidFill>
          <a:ln>
            <a:solidFill>
              <a:srgbClr val="125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0574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5388"/>
                </a:solidFill>
                <a:latin typeface="Aptos"/>
              </a:defRPr>
            </a:pPr>
            <a:r>
              <a:t>MEGTÉRÜLÉS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7889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25388"/>
                </a:solidFill>
                <a:latin typeface="Aptos"/>
              </a:defRPr>
            </a:pPr>
            <a:r>
              <a:t>1,25 év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5166360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0">
                <a:solidFill>
                  <a:srgbClr val="667787"/>
                </a:solidFill>
                <a:latin typeface="Aptos"/>
              </a:defRPr>
            </a:pPr>
            <a:r>
              <a:t>Oktatási példa: 60 Ft/kWh és 4,32 M Ft beruházás.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Szakmai döntési sorrend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Ezt a gondolkodási láncot érdemes megtartani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Oval 7"/>
          <p:cNvSpPr/>
          <p:nvPr/>
        </p:nvSpPr>
        <p:spPr>
          <a:xfrm>
            <a:off x="978407" y="1737360"/>
            <a:ext cx="594360" cy="594360"/>
          </a:xfrm>
          <a:prstGeom prst="ellipse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7" y="192024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2560320"/>
            <a:ext cx="1920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2971800"/>
            <a:ext cx="1700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29B7E8"/>
                </a:solidFill>
                <a:latin typeface="Aptos"/>
              </a:defRPr>
            </a:pPr>
            <a:r>
              <a:t>CÉL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40280" y="3273552"/>
            <a:ext cx="292608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310128" y="1737360"/>
            <a:ext cx="594360" cy="594360"/>
          </a:xfrm>
          <a:prstGeom prst="ellipse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0128" y="192024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2560320"/>
            <a:ext cx="1920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61488" y="2971800"/>
            <a:ext cx="1700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25388"/>
                </a:solidFill>
                <a:latin typeface="Aptos"/>
              </a:defRPr>
            </a:pPr>
            <a:r>
              <a:t>ADAT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72000" y="3273552"/>
            <a:ext cx="292608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641847" y="1737360"/>
            <a:ext cx="594360" cy="594360"/>
          </a:xfrm>
          <a:prstGeom prst="ellipse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41847" y="192024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79" y="2560320"/>
            <a:ext cx="1920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93207" y="2971800"/>
            <a:ext cx="1700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5B5C9B"/>
                </a:solidFill>
                <a:latin typeface="Aptos"/>
              </a:defRPr>
            </a:pPr>
            <a:r>
              <a:t>OK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903719" y="3273552"/>
            <a:ext cx="292608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973567" y="1737360"/>
            <a:ext cx="594360" cy="594360"/>
          </a:xfrm>
          <a:prstGeom prst="ellips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7" y="192024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199" y="2560320"/>
            <a:ext cx="1920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24927" y="2971800"/>
            <a:ext cx="1700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08931"/>
                </a:solidFill>
                <a:latin typeface="Aptos"/>
              </a:defRPr>
            </a:pPr>
            <a:r>
              <a:t>BEAVATKOZÁS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235440" y="3273552"/>
            <a:ext cx="292607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0305288" y="1737360"/>
            <a:ext cx="594360" cy="594360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05288" y="192024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46919" y="2560320"/>
            <a:ext cx="1920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56647" y="2971800"/>
            <a:ext cx="1700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288B66"/>
                </a:solidFill>
                <a:latin typeface="Aptos"/>
              </a:defRPr>
            </a:pPr>
            <a:r>
              <a:t>VISSZAMÉRÉS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00600"/>
            <a:ext cx="9875520" cy="594360"/>
          </a:xfrm>
          <a:prstGeom prst="roundRect">
            <a:avLst/>
          </a:prstGeom>
          <a:solidFill>
            <a:srgbClr val="E7F1F8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25880" y="4983480"/>
            <a:ext cx="9509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70" b="1">
                <a:solidFill>
                  <a:srgbClr val="06192C"/>
                </a:solidFill>
                <a:latin typeface="Aptos"/>
              </a:defRPr>
            </a:pPr>
            <a:r>
              <a:t>Normalizálás és gazdasági értékelés a megfelelő ponton kapcsolódik a folyamatba.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Energiagazdálkodás - lezárás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23-32. hét • 20 tanóra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371600"/>
            <a:ext cx="530352" cy="530352"/>
          </a:xfrm>
          <a:prstGeom prst="ellipse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36192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444752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192C"/>
                </a:solidFill>
                <a:latin typeface="Aptos"/>
              </a:defRPr>
            </a:pPr>
            <a:r>
              <a:t>Értsd az energia- és teljesítményadatot.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249424"/>
            <a:ext cx="530352" cy="530352"/>
          </a:xfrm>
          <a:prstGeom prst="ellipse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14016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322576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192C"/>
                </a:solidFill>
                <a:latin typeface="Aptos"/>
              </a:defRPr>
            </a:pPr>
            <a:r>
              <a:t>Lásd meg a terhelési profilban a csúcsot és az alapterhelést.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127248"/>
            <a:ext cx="530352" cy="530352"/>
          </a:xfrm>
          <a:prstGeom prst="ellipse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91840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200400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192C"/>
                </a:solidFill>
                <a:latin typeface="Aptos"/>
              </a:defRPr>
            </a:pPr>
            <a:r>
              <a:t>Keresd a veszteséget, a meddőterhelést és a rossz üzemállapotot.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005072"/>
            <a:ext cx="530352" cy="530352"/>
          </a:xfrm>
          <a:prstGeom prst="ellips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69663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078224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192C"/>
                </a:solidFill>
                <a:latin typeface="Aptos"/>
              </a:defRPr>
            </a:pPr>
            <a:r>
              <a:t>Kapcsold össze a fogyasztást a termeléssel és a költséggel.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882896"/>
            <a:ext cx="530352" cy="530352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047488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956048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192C"/>
                </a:solidFill>
                <a:latin typeface="Aptos"/>
              </a:defRPr>
            </a:pPr>
            <a:r>
              <a:t>Mérj → elemezz → avatkozz be → mérj vissza.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806440"/>
            <a:ext cx="10515600" cy="438912"/>
          </a:xfrm>
          <a:prstGeom prst="roundRect">
            <a:avLst/>
          </a:prstGeom>
          <a:solidFill>
            <a:srgbClr val="EBF8F1"/>
          </a:solidFill>
          <a:ln>
            <a:solidFill>
              <a:srgbClr val="288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934456"/>
            <a:ext cx="10149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88B66"/>
                </a:solidFill>
                <a:latin typeface="Aptos"/>
              </a:defRPr>
            </a:pPr>
            <a:r>
              <a:t>ENERGIAGAZDÁLKODÁS • TÉMAKÖR LEZÁRVA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