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26.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Hatásos, meddő és</a:t>
            </a:r>
            <a:br/>
            <a:r>
              <a:t>látszólagos teljesítmény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5468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P • Q • S • cos φ</a:t>
            </a:r>
            <a:br/>
            <a:r>
              <a:t>• teljesítményháromszög • kompenzálás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26679" y="4617720"/>
            <a:ext cx="3154681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81360" y="2011680"/>
            <a:ext cx="0" cy="2606040"/>
          </a:xfrm>
          <a:prstGeom prst="line">
            <a:avLst/>
          </a:prstGeom>
          <a:ln w="508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26679" y="2011680"/>
            <a:ext cx="3154681" cy="2606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6968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B7E8"/>
                </a:solidFill>
                <a:latin typeface="Aptos"/>
              </a:defRPr>
            </a:pPr>
            <a:r>
              <a:t>P [kW]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3154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8931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063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 [kVA]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4/10.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teljesítményháromszögtől a meddőkompenzálásig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P, Q,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hatásos teljesítmény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meddő teljesítmény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látszólagos teljesítmény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teljesítményháromszög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cos 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Kompenzálás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induktív fogyasztók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kondenzátortelep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Qc számítása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áramcsökkentés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túlkompenzálás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Háromféle 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Ugyanazt a váltakozó áramú rendszert három nézőpontból írjuk 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P • HATÁSOS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hasznos munkát végez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hő, fény, mechanikai munka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W • kW • MW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Q • MEDDŐ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mezők felépítése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periodikus energiaáramlás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var • kvar • Mvar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S • LÁTSZÓLAGOS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U és I terhelési hatása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hálózati méretezésben fontos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VA • kVA • MVA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Teljesítményháromszög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Szinuszos, lineáris alapeset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5029200"/>
            <a:ext cx="5486400" cy="0"/>
          </a:xfrm>
          <a:prstGeom prst="line">
            <a:avLst/>
          </a:prstGeom>
          <a:ln w="635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315200" y="1828800"/>
            <a:ext cx="0" cy="3200400"/>
          </a:xfrm>
          <a:prstGeom prst="line">
            <a:avLst/>
          </a:prstGeom>
          <a:ln w="635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28800" y="1828800"/>
            <a:ext cx="5486400" cy="3200400"/>
          </a:xfrm>
          <a:prstGeom prst="line">
            <a:avLst/>
          </a:prstGeom>
          <a:ln w="635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77639" y="5230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5388"/>
                </a:solidFill>
                <a:latin typeface="Aptos"/>
              </a:defRPr>
            </a:pPr>
            <a:r>
              <a:t>P [kW]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8931"/>
                </a:solidFill>
                <a:latin typeface="Aptos"/>
              </a:defRPr>
            </a:pPr>
            <a:r>
              <a:t>Q [kvar]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54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5C9B"/>
                </a:solidFill>
                <a:latin typeface="Aptos"/>
              </a:defRPr>
            </a:pPr>
            <a:r>
              <a:t>S [kVA]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828800"/>
            <a:ext cx="2743200" cy="26517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192C"/>
                </a:solidFill>
                <a:latin typeface="Aptos"/>
              </a:defRPr>
            </a:pPr>
            <a:r>
              <a:t>S² = P² + Q²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063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cos φ = P / 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Számítási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P = 80 kW • cos φ = 0,8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5388"/>
                </a:solidFill>
                <a:latin typeface="Aptos"/>
              </a:defRPr>
            </a:pPr>
            <a:r>
              <a:t>1. LÁTSZÓLAGOS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25388"/>
                </a:solidFill>
                <a:latin typeface="Aptos"/>
              </a:defRPr>
            </a:pPr>
            <a:r>
              <a:t>S = 80 / 0,8</a:t>
            </a:r>
            <a:br/>
            <a:r>
              <a:t>= 100 kVA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2. MEDDŐ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8931"/>
                </a:solidFill>
                <a:latin typeface="Aptos"/>
              </a:defRPr>
            </a:pPr>
            <a:r>
              <a:t>Q = √(100²-80²)</a:t>
            </a:r>
            <a:br/>
            <a:r>
              <a:t>= 60 kvar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3. ELLENŐRZÉS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060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88B66"/>
                </a:solidFill>
                <a:latin typeface="Aptos"/>
              </a:defRPr>
            </a:pPr>
            <a:r>
              <a:t>80² + 60²</a:t>
            </a:r>
            <a:br/>
            <a:r>
              <a:t>= 100²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Miért terheli a hálózatot 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Azonos P mellett rosszabb cos φ → nagyobb áram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NAGYOBB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vezetékterhelés nő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transzformátor terhelése nő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kapcsolókészülékek terhelése nő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NAGYOBB VESZTESÉG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I²R veszteség nőhet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melegedés nő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feszültségesés nőhet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KEVESEBB KAPACITÁS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kevesebb hely marad P számára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hálózati tartalék csökken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gazdaságtalanabb üzem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Meddőkompenzálás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meddőigény egy részét helyben biztosítjuk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5388"/>
                </a:solidFill>
                <a:latin typeface="Aptos"/>
              </a:defRPr>
            </a:pPr>
            <a:r>
              <a:t>HÁLÓZAT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606040"/>
            <a:ext cx="169164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192024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INDUKTÍV</a:t>
            </a:r>
            <a:br/>
            <a:r>
              <a:t>FOGYASZTÓ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023360"/>
            <a:ext cx="228600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343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KONDENZÁTOR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715000" y="3310128"/>
            <a:ext cx="0" cy="713232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80960" y="1691640"/>
            <a:ext cx="3840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691640"/>
            <a:ext cx="73152" cy="36118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1874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404872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kisebb hálózati 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880360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jobb teljesítménytényező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35584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kisebb áram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3831335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felszabaduló kapacitás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Automatikus kondenzátortelep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fokozatok a pillanatnyi meddőigényhez igazodnak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1. fokozat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B7E8"/>
                </a:solidFill>
                <a:latin typeface="Aptos"/>
              </a:defRPr>
            </a:pPr>
            <a:r>
              <a:t>5 kvar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2. fokozat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71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5388"/>
                </a:solidFill>
                <a:latin typeface="Aptos"/>
              </a:defRPr>
            </a:pPr>
            <a:r>
              <a:t>10 kvar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3. fokozat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5C9B"/>
                </a:solidFill>
                <a:latin typeface="Aptos"/>
              </a:defRPr>
            </a:pPr>
            <a:r>
              <a:t>20 kvar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4. fokozat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9718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20 kvar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846320"/>
            <a:ext cx="813816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50292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1">
                <a:solidFill>
                  <a:srgbClr val="125388"/>
                </a:solidFill>
                <a:latin typeface="Aptos"/>
              </a:defRPr>
            </a:pPr>
            <a:r>
              <a:t>Szabályozó → szükséges fokozatok be/ki → cél cos φ tartása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Kompenzálási számítás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100 kW • cos φ: 0,75 → 0,95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600200"/>
            <a:ext cx="8229600" cy="100584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88366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25388"/>
                </a:solidFill>
                <a:latin typeface="Aptos"/>
              </a:defRPr>
            </a:pPr>
            <a:r>
              <a:t>Qc = P · (tan φ1 - tan φ2)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33756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9B7E8"/>
                </a:solidFill>
                <a:latin typeface="Aptos"/>
              </a:defRPr>
            </a:pPr>
            <a:r>
              <a:t>100 kW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333756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611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tan φ1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E08931"/>
                </a:solidFill>
                <a:latin typeface="Aptos"/>
              </a:defRPr>
            </a:pPr>
            <a:r>
              <a:t>0,882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3756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tan φ2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88B66"/>
                </a:solidFill>
                <a:latin typeface="Aptos"/>
              </a:defRPr>
            </a:pPr>
            <a:r>
              <a:t>0,329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333756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9" y="3611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5B5C9B"/>
                </a:solidFill>
                <a:latin typeface="Aptos"/>
              </a:defRPr>
            </a:pPr>
            <a:r>
              <a:t>≈ 55,3 kvar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cos φ javítása csökkenti az áramot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100 kW • 400 V háromfázisú hálózat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cos φ = 0,75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BE433F"/>
                </a:solidFill>
                <a:latin typeface="Aptos"/>
              </a:defRPr>
            </a:pPr>
            <a:r>
              <a:t>I ≈ 192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787"/>
                </a:solidFill>
                <a:latin typeface="Aptos"/>
              </a:defRPr>
            </a:pPr>
            <a:r>
              <a:t>nagyobb hálózati terhelés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9202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8B66"/>
                </a:solidFill>
                <a:latin typeface="Aptos"/>
              </a:defRPr>
            </a:pPr>
            <a:r>
              <a:t>cos φ = 0,95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060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88B66"/>
                </a:solidFill>
                <a:latin typeface="Aptos"/>
              </a:defRPr>
            </a:pPr>
            <a:r>
              <a:t>I ≈ 152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657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787"/>
                </a:solidFill>
                <a:latin typeface="Aptos"/>
              </a:defRPr>
            </a:pPr>
            <a:r>
              <a:t>azonos 100 kW mellett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3154680"/>
            <a:ext cx="100584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Túlkompenzálás és harmonikusok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kondenzátor nem „minél több, annál jobb”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TÚLKOMPENZÁLÁS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kapacitív üzemállapot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kedvezőtlen feszültségviszony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felesleges kapcsolgatás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REZONANCIA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hálózati induktivitás +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harmonikusok felerősödhetnek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fojtós kivitel szükséges lehet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nemlineáris terhelés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gyártói előírás szükséges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motoroldali C kerülendő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Mit mérjünk?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Energiagazdálkodási hálózati analizátor alapadatai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49047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673351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kW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0" y="1508760"/>
            <a:ext cx="640080" cy="64008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49047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73351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kvar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508760"/>
            <a:ext cx="640080" cy="64008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49047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673351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kVA</a:t>
            </a:r>
          </a:p>
        </p:txBody>
      </p:sp>
      <p:sp>
        <p:nvSpPr>
          <p:cNvPr id="20" name="Oval 19"/>
          <p:cNvSpPr/>
          <p:nvPr/>
        </p:nvSpPr>
        <p:spPr>
          <a:xfrm>
            <a:off x="9052560" y="1508760"/>
            <a:ext cx="640080" cy="64008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cos 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49047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1673351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50215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36850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kWh</a:t>
            </a:r>
          </a:p>
        </p:txBody>
      </p:sp>
      <p:sp>
        <p:nvSpPr>
          <p:cNvPr id="28" name="Oval 27"/>
          <p:cNvSpPr/>
          <p:nvPr/>
        </p:nvSpPr>
        <p:spPr>
          <a:xfrm>
            <a:off x="3383280" y="3520440"/>
            <a:ext cx="640080" cy="64008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50215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6850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kvarh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3520440"/>
            <a:ext cx="640080" cy="64008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50215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6850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36" name="Oval 35"/>
          <p:cNvSpPr/>
          <p:nvPr/>
        </p:nvSpPr>
        <p:spPr>
          <a:xfrm>
            <a:off x="9052560" y="3520440"/>
            <a:ext cx="640080" cy="64008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3502152"/>
            <a:ext cx="1691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36850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26.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P a hatásos, Q a meddő, S a látszólagos teljesítmény.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Alapesetben S² = P² + Q² és cos φ = P/S.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Kisebb cos φ mellett ugyanazon P átviteléhez nagyobb áram szükséges.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Induktív meddőigény kondenzátoros kompenzálással mérsékelhető.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kompenzálást mérni, szabályozni és harmonikus szempontból is ellenőrizni kell.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27. hét → Meddőenergia-kompenzálás a gyakorlatban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