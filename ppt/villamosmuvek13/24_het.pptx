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24. HÉT • 2 TANÓRA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594360"/>
            <a:ext cx="2834640" cy="384048"/>
          </a:xfrm>
          <a:prstGeom prst="round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694944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ENERGIAGAZDÁLKODÁS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583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Villamosenergia-fogyasztás</a:t>
            </a:r>
            <a:br/>
            <a:r>
              <a:t>és terhelési görbék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06324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FEE"/>
                </a:solidFill>
                <a:latin typeface="Aptos"/>
              </a:defRPr>
            </a:pPr>
            <a:r>
              <a:t>P(t) • átlag • csúcs • alapterhelés</a:t>
            </a:r>
            <a:br/>
            <a:r>
              <a:t>• terhelési tényező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498079" y="1645920"/>
            <a:ext cx="0" cy="292608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98079" y="4572000"/>
            <a:ext cx="3657601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43800" y="4069080"/>
            <a:ext cx="68580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229600" y="3108960"/>
            <a:ext cx="0" cy="96012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0" y="3108960"/>
            <a:ext cx="91440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144000" y="2148840"/>
            <a:ext cx="0" cy="96012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44000" y="2148840"/>
            <a:ext cx="91440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058400" y="2148840"/>
            <a:ext cx="0" cy="118872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3337560"/>
            <a:ext cx="68580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744200" y="3337560"/>
            <a:ext cx="0" cy="73152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744200" y="4069080"/>
            <a:ext cx="32004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80960" y="4800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ADFEE"/>
                </a:solidFill>
                <a:latin typeface="Aptos"/>
              </a:defRPr>
            </a:pPr>
            <a:r>
              <a:t>idő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0167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Energiagazdálkodás • 2/10.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fogyasztott energiától a teljesítmény időbeli profiljáig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1. tanóra • Terhelési görbe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P(t) értelmezése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átlagteljesítmény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csúcsteljesítmény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alapterhelés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energia a görbe alatt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2. tanóra • Értékelés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terhelési tényező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csúcsok felismerése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terhelésáthelyezés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éjszakai alapterhelés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SCADA-alapú felügyelet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Mi a terhelési görbe?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teljesítményigény időbeli változásának térképe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143000" y="1554480"/>
            <a:ext cx="0" cy="3566160"/>
          </a:xfrm>
          <a:prstGeom prst="line">
            <a:avLst/>
          </a:prstGeom>
          <a:ln w="2540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43000" y="5120640"/>
            <a:ext cx="6355079" cy="0"/>
          </a:xfrm>
          <a:prstGeom prst="line">
            <a:avLst/>
          </a:prstGeom>
          <a:ln w="2540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8720" y="4572000"/>
            <a:ext cx="731520" cy="0"/>
          </a:xfrm>
          <a:prstGeom prst="line">
            <a:avLst/>
          </a:prstGeom>
          <a:ln w="381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920240" y="3931920"/>
            <a:ext cx="0" cy="640080"/>
          </a:xfrm>
          <a:prstGeom prst="line">
            <a:avLst/>
          </a:prstGeom>
          <a:ln w="381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20240" y="3931920"/>
            <a:ext cx="822960" cy="0"/>
          </a:xfrm>
          <a:prstGeom prst="line">
            <a:avLst/>
          </a:prstGeom>
          <a:ln w="381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743200" y="2286000"/>
            <a:ext cx="0" cy="1645920"/>
          </a:xfrm>
          <a:prstGeom prst="line">
            <a:avLst/>
          </a:prstGeom>
          <a:ln w="381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43200" y="2286000"/>
            <a:ext cx="1371600" cy="0"/>
          </a:xfrm>
          <a:prstGeom prst="line">
            <a:avLst/>
          </a:prstGeom>
          <a:ln w="381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14800" y="2286000"/>
            <a:ext cx="0" cy="594360"/>
          </a:xfrm>
          <a:prstGeom prst="line">
            <a:avLst/>
          </a:prstGeom>
          <a:ln w="381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114800" y="2880360"/>
            <a:ext cx="1188720" cy="0"/>
          </a:xfrm>
          <a:prstGeom prst="line">
            <a:avLst/>
          </a:prstGeom>
          <a:ln w="381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03520" y="2880360"/>
            <a:ext cx="0" cy="1143000"/>
          </a:xfrm>
          <a:prstGeom prst="line">
            <a:avLst/>
          </a:prstGeom>
          <a:ln w="381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303520" y="4023360"/>
            <a:ext cx="1097280" cy="0"/>
          </a:xfrm>
          <a:prstGeom prst="line">
            <a:avLst/>
          </a:prstGeom>
          <a:ln w="381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0" y="4023360"/>
            <a:ext cx="0" cy="548640"/>
          </a:xfrm>
          <a:prstGeom prst="line">
            <a:avLst/>
          </a:prstGeom>
          <a:ln w="381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00800" y="4572000"/>
            <a:ext cx="914400" cy="0"/>
          </a:xfrm>
          <a:prstGeom prst="line">
            <a:avLst/>
          </a:prstGeom>
          <a:ln w="381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20" y="141732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5303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192C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1600200"/>
            <a:ext cx="347472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1600200"/>
            <a:ext cx="73152" cy="352044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02167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A görbéről leolvasható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313432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mikor nő a terhelés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78892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mikor van a csúcs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264408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mekkora az alapterhelés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739896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mennyi ideig tart egy üzemállapot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215383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hol lehet felesleges fogyasztás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Átlag- és csúcsteljesítmény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Azonos energia mellett is lehet nagyon eltérő hálózati igény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49834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25388"/>
                </a:solidFill>
                <a:latin typeface="Aptos"/>
              </a:defRPr>
            </a:pPr>
            <a:r>
              <a:t>ÁTLAGTELJESÍTMÉNY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4526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25388"/>
                </a:solidFill>
                <a:latin typeface="Aptos"/>
              </a:defRPr>
            </a:pPr>
            <a:r>
              <a:t>Pátl = E /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2044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192C"/>
                </a:solidFill>
                <a:latin typeface="Aptos"/>
              </a:defRPr>
            </a:pPr>
            <a:r>
              <a:t>1200 kWh / 24 h = 50 kW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600200"/>
            <a:ext cx="49834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74519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E433F"/>
                </a:solidFill>
                <a:latin typeface="Aptos"/>
              </a:defRPr>
            </a:pPr>
            <a:r>
              <a:t>CSÚCSTELJESÍTMÉNY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06040"/>
            <a:ext cx="4526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E433F"/>
                </a:solidFill>
                <a:latin typeface="Aptos"/>
              </a:defRPr>
            </a:pPr>
            <a:r>
              <a:t>Pmax = 80 kW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52044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7787"/>
                </a:solidFill>
                <a:latin typeface="Aptos"/>
              </a:defRPr>
            </a:pPr>
            <a:r>
              <a:t>a vizsgált időszak legnagyobb igénye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 görbe alatti terület =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Szakaszos terhelésnél az energiákat összeadjuk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9B7E8"/>
                </a:solidFill>
                <a:latin typeface="Aptos"/>
              </a:defRPr>
            </a:pPr>
            <a:r>
              <a:t>20 kW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7787"/>
                </a:solidFill>
                <a:latin typeface="Aptos"/>
              </a:defRPr>
            </a:pPr>
            <a: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632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192C"/>
                </a:solidFill>
                <a:latin typeface="Aptos"/>
              </a:defRPr>
            </a:pPr>
            <a:r>
              <a:t>6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7787"/>
                </a:solidFill>
                <a:latin typeface="Aptos"/>
              </a:defRPr>
            </a:pPr>
            <a:r>
              <a:t>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519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8B66"/>
                </a:solidFill>
                <a:latin typeface="Aptos"/>
              </a:defRPr>
            </a:pPr>
            <a:r>
              <a:t>120 kWh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60020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87451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E433F"/>
                </a:solidFill>
                <a:latin typeface="Aptos"/>
              </a:defRPr>
            </a:pPr>
            <a:r>
              <a:t>80 kW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5146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7787"/>
                </a:solidFill>
                <a:latin typeface="Aptos"/>
              </a:defRPr>
            </a:pPr>
            <a: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0632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192C"/>
                </a:solidFill>
                <a:latin typeface="Aptos"/>
              </a:defRPr>
            </a:pPr>
            <a:r>
              <a:t>8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7033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7787"/>
                </a:solidFill>
                <a:latin typeface="Aptos"/>
              </a:defRPr>
            </a:pPr>
            <a:r>
              <a:t>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2519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8B66"/>
                </a:solidFill>
                <a:latin typeface="Aptos"/>
              </a:defRPr>
            </a:pPr>
            <a:r>
              <a:t>640 kWh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60020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87451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8931"/>
                </a:solidFill>
                <a:latin typeface="Aptos"/>
              </a:defRPr>
            </a:pPr>
            <a:r>
              <a:t>50 kW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5146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7787"/>
                </a:solidFill>
                <a:latin typeface="Aptos"/>
              </a:defRPr>
            </a:pPr>
            <a:r>
              <a:t>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0632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192C"/>
                </a:solidFill>
                <a:latin typeface="Aptos"/>
              </a:defRPr>
            </a:pPr>
            <a:r>
              <a:t>8 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7033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7787"/>
                </a:solidFill>
                <a:latin typeface="Aptos"/>
              </a:defRPr>
            </a:pPr>
            <a:r>
              <a:t>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2519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8B66"/>
                </a:solidFill>
                <a:latin typeface="Aptos"/>
              </a:defRPr>
            </a:pPr>
            <a:r>
              <a:t>400 kWh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60020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187451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88B66"/>
                </a:solidFill>
                <a:latin typeface="Aptos"/>
              </a:defRPr>
            </a:pPr>
            <a:r>
              <a:t>20 kW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5146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7787"/>
                </a:solidFill>
                <a:latin typeface="Aptos"/>
              </a:defRPr>
            </a:pPr>
            <a:r>
              <a:t>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0632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192C"/>
                </a:solidFill>
                <a:latin typeface="Aptos"/>
              </a:defRPr>
            </a:pPr>
            <a:r>
              <a:t>2 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37033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7787"/>
                </a:solidFill>
                <a:latin typeface="Aptos"/>
              </a:defRPr>
            </a:pPr>
            <a:r>
              <a:t>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42519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8B66"/>
                </a:solidFill>
                <a:latin typeface="Aptos"/>
              </a:defRPr>
            </a:pPr>
            <a:r>
              <a:t>40 kWh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5257800"/>
            <a:ext cx="5212080" cy="502920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5404104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5388"/>
                </a:solidFill>
                <a:latin typeface="Aptos"/>
              </a:defRPr>
            </a:pPr>
            <a:r>
              <a:t>Összes napi energia = 1200 kWh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Terhelési tényező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Mennyire egyenletes a teljesítményigény?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600200"/>
            <a:ext cx="6400800" cy="1143000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90195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25388"/>
                </a:solidFill>
                <a:latin typeface="Aptos"/>
              </a:defRPr>
            </a:pPr>
            <a:r>
              <a:t>kT = Pátl / Pmax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57600"/>
            <a:ext cx="4389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0507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192C"/>
                </a:solidFill>
                <a:latin typeface="Aptos"/>
              </a:defRPr>
            </a:pPr>
            <a:r>
              <a:t>50 / 80 = 62,5%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33756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3337560"/>
            <a:ext cx="73152" cy="192024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3520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Értelmezés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050791"/>
            <a:ext cx="4773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magasabb kT → egyenletesebb terhelés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526279"/>
            <a:ext cx="4773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alacsonyabb kT → rövid, nagy csúcsok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Alapterhelés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Mi fogyaszt akkor is, amikor a fő technológia áll?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FOLYAMATOS FOGYASZTÓK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szerver /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biztonsági rendszer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hűtés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0273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technológiai készenlét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46304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REJTETT FOGYASZTÁS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standby elektronika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üresjáró motor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bekapcsolva maradt világítás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60273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szivárgó segédrendszer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1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28431" y="146304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KÉRDÉS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indokolt-e?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mérhető-e külön?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lekapcsolható-e?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60273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90" b="0">
                <a:solidFill>
                  <a:srgbClr val="233343"/>
                </a:solidFill>
                <a:latin typeface="Aptos"/>
              </a:defRPr>
            </a:pPr>
            <a:r>
              <a:t>• automatizálható-e?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Csúcslevágás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napi energia maradhat közel azonos, miközben Pmax csökken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E433F"/>
                </a:solidFill>
                <a:latin typeface="Aptos"/>
              </a:defRPr>
            </a:pPr>
            <a:r>
              <a:t>ELŐTTE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417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8B66"/>
                </a:solidFill>
                <a:latin typeface="Aptos"/>
              </a:defRPr>
            </a:pPr>
            <a:r>
              <a:t>UTÁNA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914400" y="1828800"/>
            <a:ext cx="0" cy="3017520"/>
          </a:xfrm>
          <a:prstGeom prst="line">
            <a:avLst/>
          </a:prstGeom>
          <a:ln w="1905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" y="4846320"/>
            <a:ext cx="4206240" cy="0"/>
          </a:xfrm>
          <a:prstGeom prst="line">
            <a:avLst/>
          </a:prstGeom>
          <a:ln w="1905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4206240"/>
            <a:ext cx="914400" cy="0"/>
          </a:xfrm>
          <a:prstGeom prst="line">
            <a:avLst/>
          </a:prstGeom>
          <a:ln w="381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828800" y="2011680"/>
            <a:ext cx="0" cy="2194560"/>
          </a:xfrm>
          <a:prstGeom prst="line">
            <a:avLst/>
          </a:prstGeom>
          <a:ln w="381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0" y="2011680"/>
            <a:ext cx="914400" cy="0"/>
          </a:xfrm>
          <a:prstGeom prst="line">
            <a:avLst/>
          </a:prstGeom>
          <a:ln w="381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43200" y="2011680"/>
            <a:ext cx="0" cy="1645920"/>
          </a:xfrm>
          <a:prstGeom prst="line">
            <a:avLst/>
          </a:prstGeom>
          <a:ln w="381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43200" y="3657600"/>
            <a:ext cx="2011680" cy="0"/>
          </a:xfrm>
          <a:prstGeom prst="line">
            <a:avLst/>
          </a:prstGeom>
          <a:ln w="381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675120" y="1828800"/>
            <a:ext cx="0" cy="3017520"/>
          </a:xfrm>
          <a:prstGeom prst="line">
            <a:avLst/>
          </a:prstGeom>
          <a:ln w="1905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675120" y="4846320"/>
            <a:ext cx="4206239" cy="0"/>
          </a:xfrm>
          <a:prstGeom prst="line">
            <a:avLst/>
          </a:prstGeom>
          <a:ln w="1905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675120" y="4206240"/>
            <a:ext cx="914400" cy="0"/>
          </a:xfrm>
          <a:prstGeom prst="line">
            <a:avLst/>
          </a:prstGeom>
          <a:ln w="381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589520" y="2743200"/>
            <a:ext cx="0" cy="1463040"/>
          </a:xfrm>
          <a:prstGeom prst="line">
            <a:avLst/>
          </a:prstGeom>
          <a:ln w="381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89520" y="2743200"/>
            <a:ext cx="914400" cy="0"/>
          </a:xfrm>
          <a:prstGeom prst="line">
            <a:avLst/>
          </a:prstGeom>
          <a:ln w="381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03920" y="2743200"/>
            <a:ext cx="0" cy="502920"/>
          </a:xfrm>
          <a:prstGeom prst="line">
            <a:avLst/>
          </a:prstGeom>
          <a:ln w="381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03920" y="3246120"/>
            <a:ext cx="914400" cy="0"/>
          </a:xfrm>
          <a:prstGeom prst="line">
            <a:avLst/>
          </a:prstGeom>
          <a:ln w="381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418320" y="3246120"/>
            <a:ext cx="0" cy="411480"/>
          </a:xfrm>
          <a:prstGeom prst="line">
            <a:avLst/>
          </a:prstGeom>
          <a:ln w="381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18320" y="3657600"/>
            <a:ext cx="1097280" cy="0"/>
          </a:xfrm>
          <a:prstGeom prst="line">
            <a:avLst/>
          </a:prstGeom>
          <a:ln w="381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507492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BE433F"/>
                </a:solidFill>
                <a:latin typeface="Aptos"/>
              </a:defRPr>
            </a:pPr>
            <a:r>
              <a:t>rövid nagy csúcs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07492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88B66"/>
                </a:solidFill>
                <a:latin typeface="Aptos"/>
              </a:defRPr>
            </a:pPr>
            <a:r>
              <a:t>terhelés időben szétosztva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Terhelésáthelyezés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nem időkritikus fogyasztót kedvezőbb időszakra tesszük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786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BE433F"/>
                </a:solidFill>
                <a:latin typeface="Aptos"/>
              </a:defRPr>
            </a:pPr>
            <a:r>
              <a:t>CSÚCSIDŐ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880360"/>
            <a:ext cx="38404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29000" y="219456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5786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E08931"/>
                </a:solidFill>
                <a:latin typeface="Aptos"/>
              </a:defRPr>
            </a:pPr>
            <a:r>
              <a:t>NEM KRITIKUS</a:t>
            </a:r>
            <a:br/>
            <a:r>
              <a:t>FOGYASZTÓ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15000" y="2880360"/>
            <a:ext cx="38404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17920" y="219456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5786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125388"/>
                </a:solidFill>
                <a:latin typeface="Aptos"/>
              </a:defRPr>
            </a:pPr>
            <a:r>
              <a:t>IDŐZÍTÉS /</a:t>
            </a:r>
            <a:br/>
            <a:r>
              <a:t>VEZÉRLÉS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03920" y="2880360"/>
            <a:ext cx="384047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06839" y="219456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999" y="25786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288B66"/>
                </a:solidFill>
                <a:latin typeface="Aptos"/>
              </a:defRPr>
            </a:pPr>
            <a:r>
              <a:t>ALACSONYABB</a:t>
            </a:r>
            <a:br/>
            <a:r>
              <a:t>TERHELÉSŰ IDŐSZAK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4389120"/>
            <a:ext cx="8503920" cy="59436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4572000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Nem minden fogyasztó mozgatható: a technológiai és biztonsági feltételek elsődlegesek.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Mérési időköz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túl ritka mérés elrejtheti a rövid csúcsterhelést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292608" cy="914400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53312" y="3749039"/>
            <a:ext cx="292608" cy="1280160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92224" y="2560320"/>
            <a:ext cx="292608" cy="2468880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31136" y="3931920"/>
            <a:ext cx="292608" cy="1097280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70048" y="3017520"/>
            <a:ext cx="292608" cy="2011680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08960" y="4114800"/>
            <a:ext cx="292608" cy="914400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47872" y="3840480"/>
            <a:ext cx="292608" cy="1188720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86783" y="2377440"/>
            <a:ext cx="292608" cy="2651760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25696" y="4023360"/>
            <a:ext cx="292608" cy="1005840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64608" y="4114800"/>
            <a:ext cx="292608" cy="914400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6192C"/>
                </a:solidFill>
                <a:latin typeface="Aptos"/>
              </a:defRPr>
            </a:pPr>
            <a:r>
              <a:t>sűrű mintavétel: rövid csúcsok is látszanak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794760"/>
            <a:ext cx="685800" cy="1234440"/>
          </a:xfrm>
          <a:prstGeom prst="round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43800" y="3383280"/>
            <a:ext cx="685800" cy="1645920"/>
          </a:xfrm>
          <a:prstGeom prst="round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03920" y="3703320"/>
            <a:ext cx="685800" cy="1325880"/>
          </a:xfrm>
          <a:prstGeom prst="round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64040" y="3749039"/>
            <a:ext cx="685800" cy="1280160"/>
          </a:xfrm>
          <a:prstGeom prst="round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257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6192C"/>
                </a:solidFill>
                <a:latin typeface="Aptos"/>
              </a:defRPr>
            </a:pPr>
            <a:r>
              <a:t>ritkább átlagolás: a profil kisimulhat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Terhelésfelügyelet automatizálással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görbéből valós idejű beavatkozási jel lehet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29B7E8"/>
                </a:solidFill>
                <a:latin typeface="Aptos"/>
              </a:defRPr>
            </a:pPr>
            <a:r>
              <a:t>ENERGIAMÉRŐ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2852928"/>
            <a:ext cx="33832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125388"/>
                </a:solidFill>
                <a:latin typeface="Aptos"/>
              </a:defRPr>
            </a:pPr>
            <a:r>
              <a:t>PLC / IED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7720" y="2852928"/>
            <a:ext cx="33832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5B5C9B"/>
                </a:solidFill>
                <a:latin typeface="Aptos"/>
              </a:defRPr>
            </a:pPr>
            <a:r>
              <a:t>SCADA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2852928"/>
            <a:ext cx="33832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E08931"/>
                </a:solidFill>
                <a:latin typeface="Aptos"/>
              </a:defRPr>
            </a:pPr>
            <a:r>
              <a:t>75 kW</a:t>
            </a:r>
            <a:br/>
            <a:r>
              <a:t>ELŐJELZÉS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98280" y="2852928"/>
            <a:ext cx="33832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5548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BE433F"/>
                </a:solidFill>
                <a:latin typeface="Aptos"/>
              </a:defRPr>
            </a:pPr>
            <a:r>
              <a:t>82 kW</a:t>
            </a:r>
            <a:br/>
            <a:r>
              <a:t>BEAVATKOZÁS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80" b="1">
                <a:solidFill>
                  <a:srgbClr val="06192C"/>
                </a:solidFill>
                <a:latin typeface="Aptos"/>
              </a:defRPr>
            </a:pPr>
            <a:r>
              <a:t>Beavatkozás csak olyan fogyasztón engedhető meg, amelynek késleltetése vagy lekapcsolása technológiailag biztonságos.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Mit keress a görbén?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terhelési profilból üzemviteli történet olvasható ki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508760"/>
            <a:ext cx="502920" cy="502920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7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4813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673351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6192C"/>
                </a:solidFill>
                <a:latin typeface="Aptos"/>
              </a:defRPr>
            </a:pPr>
            <a:r>
              <a:t>Pmax</a:t>
            </a:r>
          </a:p>
        </p:txBody>
      </p:sp>
      <p:sp>
        <p:nvSpPr>
          <p:cNvPr id="12" name="Oval 11"/>
          <p:cNvSpPr/>
          <p:nvPr/>
        </p:nvSpPr>
        <p:spPr>
          <a:xfrm>
            <a:off x="3337560" y="1508760"/>
            <a:ext cx="502920" cy="50292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664207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14813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673351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6192C"/>
                </a:solidFill>
                <a:latin typeface="Aptos"/>
              </a:defRPr>
            </a:pPr>
            <a:r>
              <a:t>csúcs időpontja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1508760"/>
            <a:ext cx="502920" cy="50292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664207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4813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1673351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6192C"/>
                </a:solidFill>
                <a:latin typeface="Aptos"/>
              </a:defRPr>
            </a:pPr>
            <a:r>
              <a:t>alapterhelés</a:t>
            </a:r>
          </a:p>
        </p:txBody>
      </p:sp>
      <p:sp>
        <p:nvSpPr>
          <p:cNvPr id="20" name="Oval 19"/>
          <p:cNvSpPr/>
          <p:nvPr/>
        </p:nvSpPr>
        <p:spPr>
          <a:xfrm>
            <a:off x="9006840" y="1508760"/>
            <a:ext cx="502920" cy="502920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664207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4813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673351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6192C"/>
                </a:solidFill>
                <a:latin typeface="Aptos"/>
              </a:defRPr>
            </a:pPr>
            <a:r>
              <a:t>rövid kiugrások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3520440"/>
            <a:ext cx="502920" cy="502920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67588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349300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368503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6192C"/>
                </a:solidFill>
                <a:latin typeface="Aptos"/>
              </a:defRPr>
            </a:pPr>
            <a:r>
              <a:t>műszakkezdés</a:t>
            </a:r>
          </a:p>
        </p:txBody>
      </p:sp>
      <p:sp>
        <p:nvSpPr>
          <p:cNvPr id="28" name="Oval 27"/>
          <p:cNvSpPr/>
          <p:nvPr/>
        </p:nvSpPr>
        <p:spPr>
          <a:xfrm>
            <a:off x="3337560" y="3520440"/>
            <a:ext cx="502920" cy="502920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367588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0" y="349300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368503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6192C"/>
                </a:solidFill>
                <a:latin typeface="Aptos"/>
              </a:defRPr>
            </a:pPr>
            <a:r>
              <a:t>leállási fogyasztás</a:t>
            </a:r>
          </a:p>
        </p:txBody>
      </p:sp>
      <p:sp>
        <p:nvSpPr>
          <p:cNvPr id="32" name="Oval 31"/>
          <p:cNvSpPr/>
          <p:nvPr/>
        </p:nvSpPr>
        <p:spPr>
          <a:xfrm>
            <a:off x="6172200" y="3520440"/>
            <a:ext cx="502920" cy="50292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67588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349300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368503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6192C"/>
                </a:solidFill>
                <a:latin typeface="Aptos"/>
              </a:defRPr>
            </a:pPr>
            <a:r>
              <a:t>termeléssel való kapcsolat</a:t>
            </a:r>
          </a:p>
        </p:txBody>
      </p:sp>
      <p:sp>
        <p:nvSpPr>
          <p:cNvPr id="36" name="Oval 35"/>
          <p:cNvSpPr/>
          <p:nvPr/>
        </p:nvSpPr>
        <p:spPr>
          <a:xfrm>
            <a:off x="9006840" y="3520440"/>
            <a:ext cx="502920" cy="50292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367588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92640" y="349300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368503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6192C"/>
                </a:solidFill>
                <a:latin typeface="Aptos"/>
              </a:defRPr>
            </a:pPr>
            <a:r>
              <a:t>áthelyezhető terhelés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24. hét öt kulcsgondolata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A terhelési görbe a teljesítmény időbeli változását ábrázolja.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A görbe alatti terület a felhasznált energiával arányos.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Pátl = E/t, a Pmax pedig a vizsgált időszak legnagyobb teljesítményigénye.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A terhelési tényező az átlag- és csúcsteljesítmény viszonyát mutatja.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>
                <a:solidFill>
                  <a:srgbClr val="06192C"/>
                </a:solidFill>
                <a:latin typeface="Aptos"/>
              </a:defRPr>
            </a:pPr>
            <a:r>
              <a:t>A csúcsok és az alapterhelés elemzése konkrét energiagazdálkodási beavatkozásokhoz vezethet.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5388"/>
                </a:solidFill>
                <a:latin typeface="Aptos"/>
              </a:defRPr>
            </a:pPr>
            <a:r>
              <a:t>25. hét → Csúcsterhelés, egyidejűség és teljesítményigény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