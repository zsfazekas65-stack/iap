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94360"/>
            <a:ext cx="146304" cy="5394960"/>
          </a:xfrm>
          <a:prstGeom prst="rect">
            <a:avLst/>
          </a:prstGeom>
          <a:solidFill>
            <a:srgbClr val="23AF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822960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96E1EB"/>
                </a:solidFill>
                <a:latin typeface="Aptos"/>
              </a:defRPr>
            </a:pPr>
            <a:r>
              <a:t>IAP • 2. HÉT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353312"/>
            <a:ext cx="1033272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t>Erőművek és</a:t>
            </a:r>
            <a:br/>
            <a:r>
              <a:t>villamosenergia-termelés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154680"/>
            <a:ext cx="98755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700" b="0">
                <a:solidFill>
                  <a:srgbClr val="D6E6F0"/>
                </a:solidFill>
                <a:latin typeface="Aptos"/>
              </a:defRPr>
            </a:pPr>
            <a:r>
              <a:t>Energiaforrás → átalakítás → generátor → transzformátor → hálózat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4572000"/>
            <a:ext cx="868680" cy="640080"/>
          </a:xfrm>
          <a:prstGeom prst="roundRect">
            <a:avLst/>
          </a:prstGeom>
          <a:solidFill>
            <a:srgbClr val="294A68"/>
          </a:solidFill>
          <a:ln w="15240">
            <a:solidFill>
              <a:srgbClr val="E66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4718304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HŐ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269480" y="4892040"/>
            <a:ext cx="274320" cy="0"/>
          </a:xfrm>
          <a:prstGeom prst="line">
            <a:avLst/>
          </a:prstGeom>
          <a:ln w="38100">
            <a:solidFill>
              <a:srgbClr val="E669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543800" y="4572000"/>
            <a:ext cx="868680" cy="640080"/>
          </a:xfrm>
          <a:prstGeom prst="roundRect">
            <a:avLst/>
          </a:prstGeom>
          <a:solidFill>
            <a:srgbClr val="294A68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4718304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VÍZ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12480" y="4892040"/>
            <a:ext cx="274320" cy="0"/>
          </a:xfrm>
          <a:prstGeom prst="line">
            <a:avLst/>
          </a:prstGeom>
          <a:ln w="381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4572000"/>
            <a:ext cx="868680" cy="640080"/>
          </a:xfrm>
          <a:prstGeom prst="roundRect">
            <a:avLst/>
          </a:prstGeom>
          <a:solidFill>
            <a:srgbClr val="294A68"/>
          </a:solidFill>
          <a:ln w="15240">
            <a:solidFill>
              <a:srgbClr val="23A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4718304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SZÉL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55480" y="4892040"/>
            <a:ext cx="274320" cy="0"/>
          </a:xfrm>
          <a:prstGeom prst="line">
            <a:avLst/>
          </a:prstGeom>
          <a:ln w="38100">
            <a:solidFill>
              <a:srgbClr val="23AF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29800" y="4572000"/>
            <a:ext cx="868680" cy="640080"/>
          </a:xfrm>
          <a:prstGeom prst="roundRect">
            <a:avLst/>
          </a:prstGeom>
          <a:solidFill>
            <a:srgbClr val="294A68"/>
          </a:solidFill>
          <a:ln w="15240">
            <a:solidFill>
              <a:srgbClr val="EEA9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29800" y="4718304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NAP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698480" y="4892040"/>
            <a:ext cx="274320" cy="0"/>
          </a:xfrm>
          <a:prstGeom prst="line">
            <a:avLst/>
          </a:prstGeom>
          <a:ln w="38100">
            <a:solidFill>
              <a:srgbClr val="EEA9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972800" y="4572000"/>
            <a:ext cx="868680" cy="640080"/>
          </a:xfrm>
          <a:prstGeom prst="roundRect">
            <a:avLst/>
          </a:prstGeom>
          <a:solidFill>
            <a:srgbClr val="294A68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0" y="4718304"/>
            <a:ext cx="868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HÁLÓ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897880"/>
            <a:ext cx="7680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96E1EB"/>
                </a:solidFill>
                <a:latin typeface="Aptos"/>
              </a:defRPr>
            </a:pPr>
            <a:r>
              <a:t>A hálózatba nem energiaforrások, hanem termelési karakterek kapcsolódnak.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2B78B8"/>
                </a:solidFill>
                <a:latin typeface="Aptos"/>
              </a:defRPr>
            </a:pPr>
            <a:r>
              <a:t>RENDSZERKÉP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8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2D4B"/>
                </a:solidFill>
                <a:latin typeface="Aptos Display"/>
              </a:defRPr>
            </a:pPr>
            <a:r>
              <a:t>Az erőmű nem önmagában létezik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0789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5B6573"/>
                </a:solidFill>
                <a:latin typeface="Aptos"/>
              </a:defRPr>
            </a:pPr>
            <a:r>
              <a:t>A termelő egység mindig a hálózattal együtt értelmezhető.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28816"/>
            <a:ext cx="7498079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IAP • Villamos művek • 13.E • 2. hét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057400"/>
            <a:ext cx="2423160" cy="160020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E66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130552"/>
            <a:ext cx="220370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Primer energia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96312"/>
            <a:ext cx="20939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szén, gáz, urán,</a:t>
            </a:r>
            <a:br/>
            <a:r>
              <a:t>víz, szél, nap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852928"/>
            <a:ext cx="411480" cy="0"/>
          </a:xfrm>
          <a:prstGeom prst="line">
            <a:avLst/>
          </a:prstGeom>
          <a:ln w="38100">
            <a:solidFill>
              <a:srgbClr val="E669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29000" y="2057400"/>
            <a:ext cx="2423160" cy="160020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EEA9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2130552"/>
            <a:ext cx="220370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Átalakítás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496312"/>
            <a:ext cx="20939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hő, mozgás,</a:t>
            </a:r>
            <a:br/>
            <a:r>
              <a:t>fény hasznosítása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52160" y="2852928"/>
            <a:ext cx="411480" cy="0"/>
          </a:xfrm>
          <a:prstGeom prst="line">
            <a:avLst/>
          </a:prstGeom>
          <a:ln w="38100">
            <a:solidFill>
              <a:srgbClr val="EEA9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63640" y="2057400"/>
            <a:ext cx="2423160" cy="160020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2130552"/>
            <a:ext cx="220370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Generátor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496312"/>
            <a:ext cx="20939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mechanikai energiából</a:t>
            </a:r>
            <a:br/>
            <a:r>
              <a:t>villamos energia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86800" y="2852928"/>
            <a:ext cx="411480" cy="0"/>
          </a:xfrm>
          <a:prstGeom prst="line">
            <a:avLst/>
          </a:prstGeom>
          <a:ln w="381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98280" y="2057400"/>
            <a:ext cx="2423160" cy="160020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8008" y="2130552"/>
            <a:ext cx="220370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Transzformátor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2496312"/>
            <a:ext cx="20939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hálózati feszültség-</a:t>
            </a:r>
            <a:br/>
            <a:r>
              <a:t>szintre illesztés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17320" y="4709160"/>
            <a:ext cx="9326880" cy="713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D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91640" y="4800600"/>
            <a:ext cx="8778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D4B"/>
                </a:solidFill>
                <a:latin typeface="Aptos"/>
              </a:defRPr>
            </a:pPr>
            <a:r>
              <a:t>A tanuló feladata: ne csak erőműtípust, hanem energiaátalakítási láncot lásson.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2B78B8"/>
                </a:solidFill>
                <a:latin typeface="Aptos"/>
              </a:defRPr>
            </a:pPr>
            <a:r>
              <a:t>ALAPELV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8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2D4B"/>
                </a:solidFill>
                <a:latin typeface="Aptos Display"/>
              </a:defRPr>
            </a:pPr>
            <a:r>
              <a:t>Az energia nem keletkezik - átalakul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28816"/>
            <a:ext cx="7498079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IAP • Villamos művek • 13.E • 2. hét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65960"/>
            <a:ext cx="2377440" cy="123444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E66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39112"/>
            <a:ext cx="215798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Kémiai / nukleáris / megújuló energia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404872"/>
            <a:ext cx="204825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primer energia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1965960"/>
            <a:ext cx="2377440" cy="123444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EEA9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3048" y="2039112"/>
            <a:ext cx="215798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Mechanikai forgás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67911" y="2404872"/>
            <a:ext cx="204825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turbina vagy forgórész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1965960"/>
            <a:ext cx="2377440" cy="123444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9128" y="2039112"/>
            <a:ext cx="215798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Villamos energia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3992" y="2404872"/>
            <a:ext cx="204825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háromfázisú generátor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55480" y="1965960"/>
            <a:ext cx="1920240" cy="123444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65207" y="2039112"/>
            <a:ext cx="170078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Hálózat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0072" y="2404872"/>
            <a:ext cx="159105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átvitel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54680" y="2578608"/>
            <a:ext cx="548640" cy="0"/>
          </a:xfrm>
          <a:prstGeom prst="line">
            <a:avLst/>
          </a:prstGeom>
          <a:ln w="50800">
            <a:solidFill>
              <a:srgbClr val="E669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80760" y="2578608"/>
            <a:ext cx="548640" cy="0"/>
          </a:xfrm>
          <a:prstGeom prst="line">
            <a:avLst/>
          </a:prstGeom>
          <a:ln w="50800">
            <a:solidFill>
              <a:srgbClr val="EEA9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06840" y="2578608"/>
            <a:ext cx="548640" cy="0"/>
          </a:xfrm>
          <a:prstGeom prst="line">
            <a:avLst/>
          </a:prstGeom>
          <a:ln w="508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43000" y="4389120"/>
            <a:ext cx="99669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0F2D4B"/>
                </a:solidFill>
                <a:latin typeface="Aptos"/>
              </a:defRPr>
            </a:pPr>
            <a:r>
              <a:t>A generátor a közös pont: a legtöbb nagy erőmű végül forgó mozgással hajt generátort.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2B78B8"/>
                </a:solidFill>
                <a:latin typeface="Aptos"/>
              </a:defRPr>
            </a:pPr>
            <a:r>
              <a:t>HŐERŐMŰ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8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2D4B"/>
                </a:solidFill>
                <a:latin typeface="Aptos Display"/>
              </a:defRPr>
            </a:pPr>
            <a:r>
              <a:t>Tüzelőanyagból hő, hőből forgás, forgásból villamos 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28816"/>
            <a:ext cx="7498079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IAP • Villamos művek • 13.E • 2. hét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2331720" cy="137160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E66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084832"/>
            <a:ext cx="211226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Tüzelőanyag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450592"/>
            <a:ext cx="200253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szén / földgáz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71800" y="2697480"/>
            <a:ext cx="457200" cy="0"/>
          </a:xfrm>
          <a:prstGeom prst="line">
            <a:avLst/>
          </a:prstGeom>
          <a:ln w="38100">
            <a:solidFill>
              <a:srgbClr val="E669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29000" y="2011680"/>
            <a:ext cx="2331720" cy="137160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BE4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2084832"/>
            <a:ext cx="211226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Kazán / égés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2450592"/>
            <a:ext cx="200253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hőenergia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60720" y="2697480"/>
            <a:ext cx="457200" cy="0"/>
          </a:xfrm>
          <a:prstGeom prst="line">
            <a:avLst/>
          </a:prstGeom>
          <a:ln w="38100">
            <a:solidFill>
              <a:srgbClr val="BE4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17920" y="2011680"/>
            <a:ext cx="2331720" cy="137160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EEA9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2084832"/>
            <a:ext cx="211226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Turbina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450592"/>
            <a:ext cx="200253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forgómozgás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549640" y="2697480"/>
            <a:ext cx="457200" cy="0"/>
          </a:xfrm>
          <a:prstGeom prst="line">
            <a:avLst/>
          </a:prstGeom>
          <a:ln w="38100">
            <a:solidFill>
              <a:srgbClr val="EEA9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006839" y="2011680"/>
            <a:ext cx="2331720" cy="137160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16567" y="2084832"/>
            <a:ext cx="211226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Generátor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1431" y="2450592"/>
            <a:ext cx="200253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villamos energia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63040" y="4480560"/>
            <a:ext cx="4206240" cy="731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6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0" y="4617720"/>
            <a:ext cx="3840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E66928"/>
                </a:solidFill>
                <a:latin typeface="Aptos"/>
              </a:defRPr>
            </a:pPr>
            <a:r>
              <a:t>Előny: jól szabályozható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4480560"/>
            <a:ext cx="4206240" cy="731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4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617720"/>
            <a:ext cx="3840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BE4137"/>
                </a:solidFill>
                <a:latin typeface="Aptos"/>
              </a:defRPr>
            </a:pPr>
            <a:r>
              <a:t>Nehézség: tüzelőanyag és kibocsátás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2B78B8"/>
                </a:solidFill>
                <a:latin typeface="Aptos"/>
              </a:defRPr>
            </a:pPr>
            <a:r>
              <a:t>ATOMERŐMŰ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8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2D4B"/>
                </a:solidFill>
                <a:latin typeface="Aptos Display"/>
              </a:defRPr>
            </a:pPr>
            <a:r>
              <a:t>Nagy teljesítmény, folyamatos üzem, szigorú biztonság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28816"/>
            <a:ext cx="7498079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IAP • Villamos művek • 13.E • 2. hét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03120"/>
            <a:ext cx="2286000" cy="132588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705A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76272"/>
            <a:ext cx="206654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Maghasadás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542032"/>
            <a:ext cx="1956816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hőtermelés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103120"/>
            <a:ext cx="2286000" cy="132588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EEA9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5887" y="2176272"/>
            <a:ext cx="206654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Gőzkör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0752" y="2542032"/>
            <a:ext cx="1956816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hő → mozgás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103120"/>
            <a:ext cx="2286000" cy="132588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2176272"/>
            <a:ext cx="206654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Turbina + generátor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542032"/>
            <a:ext cx="1956816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villamos energia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2103120"/>
            <a:ext cx="2286000" cy="132588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36607" y="2176272"/>
            <a:ext cx="206654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Hálózat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91472" y="2542032"/>
            <a:ext cx="1956816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nagy teljesítmény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71800" y="2761488"/>
            <a:ext cx="594360" cy="0"/>
          </a:xfrm>
          <a:prstGeom prst="line">
            <a:avLst/>
          </a:prstGeom>
          <a:ln w="50800">
            <a:solidFill>
              <a:srgbClr val="705A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852160" y="2761488"/>
            <a:ext cx="594360" cy="0"/>
          </a:xfrm>
          <a:prstGeom prst="line">
            <a:avLst/>
          </a:prstGeom>
          <a:ln w="50800">
            <a:solidFill>
              <a:srgbClr val="EEA9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732520" y="2761488"/>
            <a:ext cx="594360" cy="0"/>
          </a:xfrm>
          <a:prstGeom prst="line">
            <a:avLst/>
          </a:prstGeom>
          <a:ln w="508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463040" y="4572000"/>
            <a:ext cx="92354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0F2D4B"/>
                </a:solidFill>
                <a:latin typeface="Aptos"/>
              </a:defRPr>
            </a:pPr>
            <a:r>
              <a:t>Hálózati szerep: stabil, nagy teljesítményű termelő - üzemeltetése magas felelősség.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2B78B8"/>
                </a:solidFill>
                <a:latin typeface="Aptos"/>
              </a:defRPr>
            </a:pPr>
            <a:r>
              <a:t>VÍZERŐMŰ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8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2D4B"/>
                </a:solidFill>
                <a:latin typeface="Aptos Display"/>
              </a:defRPr>
            </a:pPr>
            <a:r>
              <a:t>A víz helyzeti és mozgási energiája közvetlenül turbinát hajt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28816"/>
            <a:ext cx="7498079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IAP • Villamos művek • 13.E • 2. hét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2011680" cy="3017520"/>
          </a:xfrm>
          <a:prstGeom prst="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34640" y="2834640"/>
            <a:ext cx="2011680" cy="2011680"/>
          </a:xfrm>
          <a:prstGeom prst="rect">
            <a:avLst/>
          </a:prstGeom>
          <a:solidFill>
            <a:srgbClr val="A0AA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97280" y="2194560"/>
            <a:ext cx="4206240" cy="1645920"/>
          </a:xfrm>
          <a:prstGeom prst="line">
            <a:avLst/>
          </a:prstGeom>
          <a:ln w="76200">
            <a:solidFill>
              <a:srgbClr val="23AF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0" y="2331720"/>
            <a:ext cx="2286000" cy="109728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3A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79008" y="2404872"/>
            <a:ext cx="206654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Víz turbina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2770632"/>
            <a:ext cx="1956816" cy="5943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forgómozgás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331720"/>
            <a:ext cx="2286000" cy="109728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2207" y="2404872"/>
            <a:ext cx="206654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Generátor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7072" y="2770632"/>
            <a:ext cx="1956816" cy="5943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villamos energia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55279" y="2880360"/>
            <a:ext cx="457201" cy="0"/>
          </a:xfrm>
          <a:prstGeom prst="line">
            <a:avLst/>
          </a:prstGeom>
          <a:ln w="50800">
            <a:solidFill>
              <a:srgbClr val="23AF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14400" y="525780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Aptos"/>
              </a:defRPr>
            </a:pPr>
            <a:r>
              <a:t>Előny: gyorsan szabályozható, jó hatásfok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25780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E66928"/>
                </a:solidFill>
                <a:latin typeface="Aptos"/>
              </a:defRPr>
            </a:pPr>
            <a:r>
              <a:t>Korlát: földrajzi adottságoktól függ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2B78B8"/>
                </a:solidFill>
                <a:latin typeface="Aptos"/>
              </a:defRPr>
            </a:pPr>
            <a:r>
              <a:t>SZÉLERŐMŰ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8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2D4B"/>
                </a:solidFill>
                <a:latin typeface="Aptos Display"/>
              </a:defRPr>
            </a:pPr>
            <a:r>
              <a:t>Időjárásfüggő termelés - hálózati kiegyenlítést igényel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28816"/>
            <a:ext cx="7498079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IAP • Villamos művek • 13.E • 2. hét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2286000" cy="132588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3A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084832"/>
            <a:ext cx="206654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Szél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450592"/>
            <a:ext cx="1956816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változó primer energia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2011680"/>
            <a:ext cx="2286000" cy="132588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EEA9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1608" y="2084832"/>
            <a:ext cx="206654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Rotor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6472" y="2450592"/>
            <a:ext cx="1956816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mechanikai forgás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011680"/>
            <a:ext cx="2286000" cy="132588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2084832"/>
            <a:ext cx="206654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Generátor + elektronika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2552" y="2450592"/>
            <a:ext cx="1956816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hálózatra illesztés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64040" y="2011680"/>
            <a:ext cx="2286000" cy="132588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73767" y="2084832"/>
            <a:ext cx="206654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Hálózat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8632" y="2450592"/>
            <a:ext cx="1956816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kiegyenlítés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71800" y="2670048"/>
            <a:ext cx="640080" cy="0"/>
          </a:xfrm>
          <a:prstGeom prst="line">
            <a:avLst/>
          </a:prstGeom>
          <a:ln w="50800">
            <a:solidFill>
              <a:srgbClr val="23AF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897880" y="2670048"/>
            <a:ext cx="640080" cy="0"/>
          </a:xfrm>
          <a:prstGeom prst="line">
            <a:avLst/>
          </a:prstGeom>
          <a:ln w="50800">
            <a:solidFill>
              <a:srgbClr val="EEA9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23960" y="2670048"/>
            <a:ext cx="640080" cy="0"/>
          </a:xfrm>
          <a:prstGeom prst="line">
            <a:avLst/>
          </a:prstGeom>
          <a:ln w="508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5840" y="4892040"/>
            <a:ext cx="9784080" cy="0"/>
          </a:xfrm>
          <a:prstGeom prst="line">
            <a:avLst/>
          </a:prstGeom>
          <a:ln w="12700">
            <a:solidFill>
              <a:srgbClr val="5B65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371600" y="4526279"/>
            <a:ext cx="457200" cy="365760"/>
          </a:xfrm>
          <a:prstGeom prst="rect">
            <a:avLst/>
          </a:prstGeom>
          <a:solidFill>
            <a:srgbClr val="23AF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23160" y="4069079"/>
            <a:ext cx="457200" cy="822960"/>
          </a:xfrm>
          <a:prstGeom prst="rect">
            <a:avLst/>
          </a:prstGeom>
          <a:solidFill>
            <a:srgbClr val="23AF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0" y="4343400"/>
            <a:ext cx="457200" cy="548640"/>
          </a:xfrm>
          <a:prstGeom prst="rect">
            <a:avLst/>
          </a:prstGeom>
          <a:solidFill>
            <a:srgbClr val="23AF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26279" y="3794759"/>
            <a:ext cx="457200" cy="1097280"/>
          </a:xfrm>
          <a:prstGeom prst="rect">
            <a:avLst/>
          </a:prstGeom>
          <a:solidFill>
            <a:srgbClr val="23AF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577840" y="4206240"/>
            <a:ext cx="457200" cy="685800"/>
          </a:xfrm>
          <a:prstGeom prst="rect">
            <a:avLst/>
          </a:prstGeom>
          <a:solidFill>
            <a:srgbClr val="23AF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29400" y="4617720"/>
            <a:ext cx="457200" cy="274320"/>
          </a:xfrm>
          <a:prstGeom prst="rect">
            <a:avLst/>
          </a:prstGeom>
          <a:solidFill>
            <a:srgbClr val="23AF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59" y="3977639"/>
            <a:ext cx="457200" cy="914400"/>
          </a:xfrm>
          <a:prstGeom prst="rect">
            <a:avLst/>
          </a:prstGeom>
          <a:solidFill>
            <a:srgbClr val="23AF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32519" y="4389120"/>
            <a:ext cx="457200" cy="502920"/>
          </a:xfrm>
          <a:prstGeom prst="rect">
            <a:avLst/>
          </a:prstGeom>
          <a:solidFill>
            <a:srgbClr val="23AF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0" y="5623560"/>
            <a:ext cx="9235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D4B"/>
                </a:solidFill>
                <a:latin typeface="Aptos"/>
              </a:defRPr>
            </a:pPr>
            <a:r>
              <a:t>A termelési görbe változékony: a rendszernek tartalékra és szabályozásra van szüksége.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2B78B8"/>
                </a:solidFill>
                <a:latin typeface="Aptos"/>
              </a:defRPr>
            </a:pPr>
            <a:r>
              <a:t>NAPERŐMŰ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8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2D4B"/>
                </a:solidFill>
                <a:latin typeface="Aptos Display"/>
              </a:defRPr>
            </a:pPr>
            <a:r>
              <a:t>Fényből közvetlenül villamos energia - forgógép nélkül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28816"/>
            <a:ext cx="7498079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IAP • Villamos művek • 13.E • 2. hét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57400"/>
            <a:ext cx="2286000" cy="114300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EEA9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130552"/>
            <a:ext cx="206654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Napfény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96312"/>
            <a:ext cx="1956816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időjárás + napszak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2057400"/>
            <a:ext cx="2286000" cy="114300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67328" y="2130552"/>
            <a:ext cx="206654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PV panel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2191" y="2496312"/>
            <a:ext cx="1956816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egyenfeszültség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2057400"/>
            <a:ext cx="2286000" cy="114300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705A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2130552"/>
            <a:ext cx="206654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Inverter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2496312"/>
            <a:ext cx="1956816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AC hálózati csatlakozás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2057400"/>
            <a:ext cx="2286000" cy="114300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19488" y="2130552"/>
            <a:ext cx="206654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Hálózat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74352" y="2496312"/>
            <a:ext cx="1956816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befogadás / szabályozás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17520" y="2633472"/>
            <a:ext cx="640080" cy="0"/>
          </a:xfrm>
          <a:prstGeom prst="line">
            <a:avLst/>
          </a:prstGeom>
          <a:ln w="50800">
            <a:solidFill>
              <a:srgbClr val="EEA9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43600" y="2633472"/>
            <a:ext cx="640080" cy="0"/>
          </a:xfrm>
          <a:prstGeom prst="line">
            <a:avLst/>
          </a:prstGeom>
          <a:ln w="508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69680" y="2633472"/>
            <a:ext cx="640080" cy="0"/>
          </a:xfrm>
          <a:prstGeom prst="line">
            <a:avLst/>
          </a:prstGeom>
          <a:ln w="50800">
            <a:solidFill>
              <a:srgbClr val="705A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280" y="5074920"/>
            <a:ext cx="9875520" cy="0"/>
          </a:xfrm>
          <a:prstGeom prst="line">
            <a:avLst/>
          </a:prstGeom>
          <a:ln w="12700">
            <a:solidFill>
              <a:srgbClr val="5B65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097280" y="4526280"/>
            <a:ext cx="2103120" cy="548640"/>
          </a:xfrm>
          <a:prstGeom prst="line">
            <a:avLst/>
          </a:prstGeom>
          <a:ln w="38100">
            <a:solidFill>
              <a:srgbClr val="EEA9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200400" y="3246120"/>
            <a:ext cx="2834640" cy="1280160"/>
          </a:xfrm>
          <a:prstGeom prst="line">
            <a:avLst/>
          </a:prstGeom>
          <a:ln w="38100">
            <a:solidFill>
              <a:srgbClr val="EEA9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35040" y="3246120"/>
            <a:ext cx="2834640" cy="1280160"/>
          </a:xfrm>
          <a:prstGeom prst="line">
            <a:avLst/>
          </a:prstGeom>
          <a:ln w="38100">
            <a:solidFill>
              <a:srgbClr val="EEA9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869680" y="4526280"/>
            <a:ext cx="2103120" cy="548640"/>
          </a:xfrm>
          <a:prstGeom prst="line">
            <a:avLst/>
          </a:prstGeom>
          <a:ln w="38100">
            <a:solidFill>
              <a:srgbClr val="EEA9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743200" y="5577840"/>
            <a:ext cx="6858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D4B"/>
                </a:solidFill>
                <a:latin typeface="Aptos"/>
              </a:defRPr>
            </a:pPr>
            <a:r>
              <a:t>Nappal erős termelés, este fogyasztási csúcs - tárolás és szabályozás kérdése.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2B78B8"/>
                </a:solidFill>
                <a:latin typeface="Aptos"/>
              </a:defRPr>
            </a:pPr>
            <a:r>
              <a:t>ERŐMŰTÍPUSOK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8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2D4B"/>
                </a:solidFill>
                <a:latin typeface="Aptos Display"/>
              </a:defRPr>
            </a:pPr>
            <a:r>
              <a:t>Nem csak az számít, miből termel - hanem hogyan viselkedik a hálózatban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28816"/>
            <a:ext cx="7498079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IAP • Villamos művek • 13.E • 2. hét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377440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2103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0F2D4B"/>
                </a:solidFill>
                <a:latin typeface="Aptos"/>
              </a:defRPr>
            </a:pPr>
            <a:r>
              <a:t>Hőerőmű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600200"/>
            <a:ext cx="3474720" cy="512064"/>
          </a:xfrm>
          <a:prstGeom prst="roundRect">
            <a:avLst/>
          </a:prstGeom>
          <a:solidFill>
            <a:srgbClr val="EEF8F0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645920"/>
            <a:ext cx="3108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2E7D32"/>
                </a:solidFill>
                <a:latin typeface="Aptos"/>
              </a:defRPr>
            </a:pPr>
            <a:r>
              <a:t>szabályozható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6600" y="1600200"/>
            <a:ext cx="3474720" cy="512064"/>
          </a:xfrm>
          <a:prstGeom prst="roundRect">
            <a:avLst/>
          </a:prstGeom>
          <a:solidFill>
            <a:srgbClr val="FFF5EB"/>
          </a:solidFill>
          <a:ln w="15240">
            <a:solidFill>
              <a:srgbClr val="E66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1645920"/>
            <a:ext cx="3108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E66928"/>
                </a:solidFill>
                <a:latin typeface="Aptos"/>
              </a:defRPr>
            </a:pPr>
            <a:r>
              <a:t>tüzelőanyag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350008"/>
            <a:ext cx="2377440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395727"/>
            <a:ext cx="2103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0F2D4B"/>
                </a:solidFill>
                <a:latin typeface="Aptos"/>
              </a:defRPr>
            </a:pPr>
            <a:r>
              <a:t>Atomerőmű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2350008"/>
            <a:ext cx="3474720" cy="512064"/>
          </a:xfrm>
          <a:prstGeom prst="roundRect">
            <a:avLst/>
          </a:prstGeom>
          <a:solidFill>
            <a:srgbClr val="EEF8F0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395727"/>
            <a:ext cx="3108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2E7D32"/>
                </a:solidFill>
                <a:latin typeface="Aptos"/>
              </a:defRPr>
            </a:pPr>
            <a:r>
              <a:t>nagy alaptermelés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2350008"/>
            <a:ext cx="3474720" cy="512064"/>
          </a:xfrm>
          <a:prstGeom prst="roundRect">
            <a:avLst/>
          </a:prstGeom>
          <a:solidFill>
            <a:srgbClr val="FFF5EB"/>
          </a:solidFill>
          <a:ln w="15240">
            <a:solidFill>
              <a:srgbClr val="E66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2395727"/>
            <a:ext cx="3108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E66928"/>
                </a:solidFill>
                <a:latin typeface="Aptos"/>
              </a:defRPr>
            </a:pPr>
            <a:r>
              <a:t>biztonsági rendszer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099815"/>
            <a:ext cx="2377440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45535"/>
            <a:ext cx="2103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0F2D4B"/>
                </a:solidFill>
                <a:latin typeface="Aptos"/>
              </a:defRPr>
            </a:pPr>
            <a:r>
              <a:t>Vízerőmű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099815"/>
            <a:ext cx="3474720" cy="512064"/>
          </a:xfrm>
          <a:prstGeom prst="roundRect">
            <a:avLst/>
          </a:prstGeom>
          <a:solidFill>
            <a:srgbClr val="EEF8F0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3145535"/>
            <a:ext cx="3108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2E7D32"/>
                </a:solidFill>
                <a:latin typeface="Aptos"/>
              </a:defRPr>
            </a:pPr>
            <a:r>
              <a:t>gyors szabályozás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3099815"/>
            <a:ext cx="3474720" cy="512064"/>
          </a:xfrm>
          <a:prstGeom prst="roundRect">
            <a:avLst/>
          </a:prstGeom>
          <a:solidFill>
            <a:srgbClr val="FFF5EB"/>
          </a:solidFill>
          <a:ln w="15240">
            <a:solidFill>
              <a:srgbClr val="E66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3145535"/>
            <a:ext cx="3108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E66928"/>
                </a:solidFill>
                <a:latin typeface="Aptos"/>
              </a:defRPr>
            </a:pPr>
            <a:r>
              <a:t>helyfüggő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849624"/>
            <a:ext cx="2377440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895344"/>
            <a:ext cx="2103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0F2D4B"/>
                </a:solidFill>
                <a:latin typeface="Aptos"/>
              </a:defRPr>
            </a:pPr>
            <a:r>
              <a:t>Szél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37560" y="3849624"/>
            <a:ext cx="3474720" cy="512064"/>
          </a:xfrm>
          <a:prstGeom prst="roundRect">
            <a:avLst/>
          </a:prstGeom>
          <a:solidFill>
            <a:srgbClr val="EEF8F0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20440" y="3895344"/>
            <a:ext cx="3108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2E7D32"/>
                </a:solidFill>
                <a:latin typeface="Aptos"/>
              </a:defRPr>
            </a:pPr>
            <a:r>
              <a:t>megújuló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86600" y="3849624"/>
            <a:ext cx="3474720" cy="512064"/>
          </a:xfrm>
          <a:prstGeom prst="roundRect">
            <a:avLst/>
          </a:prstGeom>
          <a:solidFill>
            <a:srgbClr val="FFF5EB"/>
          </a:solidFill>
          <a:ln w="15240">
            <a:solidFill>
              <a:srgbClr val="E66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9480" y="3895344"/>
            <a:ext cx="3108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E66928"/>
                </a:solidFill>
                <a:latin typeface="Aptos"/>
              </a:defRPr>
            </a:pPr>
            <a:r>
              <a:t>változékony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599431"/>
            <a:ext cx="2377440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645151"/>
            <a:ext cx="2103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0F2D4B"/>
                </a:solidFill>
                <a:latin typeface="Aptos"/>
              </a:defRPr>
            </a:pPr>
            <a:r>
              <a:t>Nap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37560" y="4599431"/>
            <a:ext cx="3474720" cy="512064"/>
          </a:xfrm>
          <a:prstGeom prst="roundRect">
            <a:avLst/>
          </a:prstGeom>
          <a:solidFill>
            <a:srgbClr val="EEF8F0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0440" y="4645151"/>
            <a:ext cx="3108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2E7D32"/>
                </a:solidFill>
                <a:latin typeface="Aptos"/>
              </a:defRPr>
            </a:pPr>
            <a:r>
              <a:t>decentralizálható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86600" y="4599431"/>
            <a:ext cx="3474720" cy="512064"/>
          </a:xfrm>
          <a:prstGeom prst="roundRect">
            <a:avLst/>
          </a:prstGeom>
          <a:solidFill>
            <a:srgbClr val="FFF5EB"/>
          </a:solidFill>
          <a:ln w="15240">
            <a:solidFill>
              <a:srgbClr val="E66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69480" y="4645151"/>
            <a:ext cx="3108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E66928"/>
                </a:solidFill>
                <a:latin typeface="Aptos"/>
              </a:defRPr>
            </a:pPr>
            <a:r>
              <a:t>napszakfüggő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715000"/>
            <a:ext cx="10424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D4B"/>
                </a:solidFill>
                <a:latin typeface="Aptos"/>
              </a:defRPr>
            </a:pPr>
            <a:r>
              <a:t>Szakmai cél: előny + üzemviteli nehézség együtt látása.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2B78B8"/>
                </a:solidFill>
                <a:latin typeface="Aptos"/>
              </a:defRPr>
            </a:pPr>
            <a:r>
              <a:t>GENERÁTOR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8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2D4B"/>
                </a:solidFill>
                <a:latin typeface="Aptos Display"/>
              </a:defRPr>
            </a:pPr>
            <a:r>
              <a:t>A termelés közös műszaki pontja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28816"/>
            <a:ext cx="7498079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IAP • Villamos művek • 13.E • 2. hét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68880" cy="128016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EEA9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221992"/>
            <a:ext cx="224942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Turbina / rotor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587752"/>
            <a:ext cx="2139696" cy="7772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forgó mechanikai energia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2011680"/>
            <a:ext cx="2651760" cy="155448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0328" y="2084832"/>
            <a:ext cx="243230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GENERÁTOR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5192" y="2450592"/>
            <a:ext cx="232257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háromfázisú váltakozó feszültség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2148840"/>
            <a:ext cx="2468880" cy="128016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221992"/>
            <a:ext cx="224942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Transzformátor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5712" y="2587752"/>
            <a:ext cx="2139696" cy="7772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hálózati feszültségszint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91840" y="2788920"/>
            <a:ext cx="1508760" cy="0"/>
          </a:xfrm>
          <a:prstGeom prst="line">
            <a:avLst/>
          </a:prstGeom>
          <a:ln w="63500">
            <a:solidFill>
              <a:srgbClr val="EEA9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52360" y="2788920"/>
            <a:ext cx="1508760" cy="0"/>
          </a:xfrm>
          <a:prstGeom prst="line">
            <a:avLst/>
          </a:prstGeom>
          <a:ln w="635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280160" y="4617720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0F2D4B"/>
                </a:solidFill>
                <a:latin typeface="Aptos"/>
              </a:defRPr>
            </a:pPr>
            <a:r>
              <a:t>A legtöbb nagy erőműben a villamos energia végül forgógépes generátorban születik meg.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2B78B8"/>
                </a:solidFill>
                <a:latin typeface="Aptos"/>
              </a:defRPr>
            </a:pPr>
            <a:r>
              <a:t>MIÉRT TRANSZFORMÁLUNK FEL?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8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2D4B"/>
                </a:solidFill>
                <a:latin typeface="Aptos Display"/>
              </a:defRPr>
            </a:pPr>
            <a:r>
              <a:t>Azonos teljesítménynél nagyobb feszültség - kisebb áram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28816"/>
            <a:ext cx="7498079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IAP • Villamos művek • 13.E • 2. hét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3200400" cy="137160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BE4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039112"/>
            <a:ext cx="298094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20 kV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04872"/>
            <a:ext cx="28712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nagyobb áram</a:t>
            </a:r>
            <a:br/>
            <a:r>
              <a:t>nagyobb I²R veszteség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965960"/>
            <a:ext cx="3200400" cy="137160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7" y="2039112"/>
            <a:ext cx="298094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120 kV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404872"/>
            <a:ext cx="28712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kisebb áram</a:t>
            </a:r>
            <a:br/>
            <a:r>
              <a:t>kisebb veszteség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31920" y="2651760"/>
            <a:ext cx="4297680" cy="0"/>
          </a:xfrm>
          <a:prstGeom prst="line">
            <a:avLst/>
          </a:prstGeom>
          <a:ln w="508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526280" y="4069080"/>
            <a:ext cx="310896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187952"/>
            <a:ext cx="29260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0F2D4B"/>
                </a:solidFill>
                <a:latin typeface="Aptos"/>
              </a:defRPr>
            </a:pPr>
            <a:r>
              <a:t>I = P / (√3 · U)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257800"/>
            <a:ext cx="9601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D4B"/>
                </a:solidFill>
                <a:latin typeface="Aptos"/>
              </a:defRPr>
            </a:pPr>
            <a:r>
              <a:t>Ez köti össze az erőművet az átviteli hálózat gazdaságos működésével.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2B78B8"/>
                </a:solidFill>
                <a:latin typeface="Aptos"/>
              </a:defRPr>
            </a:pPr>
            <a:r>
              <a:t>TERMELÉS-FOGYASZTÁS EGYENSÚLYA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8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2D4B"/>
                </a:solidFill>
                <a:latin typeface="Aptos Display"/>
              </a:defRPr>
            </a:pPr>
            <a:r>
              <a:t>A hálózatban minden pillanatban egyensúlyra törekszünk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28816"/>
            <a:ext cx="7498079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IAP • Villamos művek • 13.E • 2. hét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3703320"/>
            <a:ext cx="8503920" cy="109728"/>
          </a:xfrm>
          <a:prstGeom prst="rect">
            <a:avLst/>
          </a:prstGeom>
          <a:solidFill>
            <a:srgbClr val="0F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9320" y="2743200"/>
            <a:ext cx="228600" cy="1828800"/>
          </a:xfrm>
          <a:prstGeom prst="rect">
            <a:avLst/>
          </a:prstGeom>
          <a:solidFill>
            <a:srgbClr val="0F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828800"/>
            <a:ext cx="3200400" cy="91440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901952"/>
            <a:ext cx="298094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TERMELÉS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2871216" cy="41147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erőművek + megújulók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828800"/>
            <a:ext cx="3200400" cy="91440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E66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901952"/>
            <a:ext cx="298094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FOGYASZTÁS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1312" y="2267712"/>
            <a:ext cx="2871216" cy="41147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ipar + háztartás + közlekedés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14600" y="2743200"/>
            <a:ext cx="0" cy="960120"/>
          </a:xfrm>
          <a:prstGeom prst="line">
            <a:avLst/>
          </a:prstGeom>
          <a:ln w="3810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46920" y="2743200"/>
            <a:ext cx="0" cy="960120"/>
          </a:xfrm>
          <a:prstGeom prst="line">
            <a:avLst/>
          </a:prstGeom>
          <a:ln w="38100">
            <a:solidFill>
              <a:srgbClr val="E669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463040" y="4846320"/>
            <a:ext cx="9144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0F2D4B"/>
                </a:solidFill>
                <a:latin typeface="Aptos"/>
              </a:defRPr>
            </a:pPr>
            <a:r>
              <a:t>Ha az egyensúly felborul, a rendszerirányításnak be kell avatkoznia.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2B78B8"/>
                </a:solidFill>
                <a:latin typeface="Aptos"/>
              </a:defRPr>
            </a:pPr>
            <a:r>
              <a:t>DECENTRALIZÁLT TERMELÉS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8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2D4B"/>
                </a:solidFill>
                <a:latin typeface="Aptos Display"/>
              </a:defRPr>
            </a:pPr>
            <a:r>
              <a:t>A fogyasztó egyre gyakrabban termelő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28816"/>
            <a:ext cx="7498079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IAP • Villamos művek • 13.E • 2. hét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331720" cy="105156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EEA9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93392"/>
            <a:ext cx="211226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Családi ház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359152"/>
            <a:ext cx="2002536" cy="548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napelem + fogyasztás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1920240"/>
            <a:ext cx="2331720" cy="105156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95928" y="1993392"/>
            <a:ext cx="211226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Kisfeszültségű hálózat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791" y="2359152"/>
            <a:ext cx="2002536" cy="548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kétirányú energiaáramlás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0" y="1920240"/>
            <a:ext cx="2331720" cy="105156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0608" y="1993392"/>
            <a:ext cx="2112263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Transzformátor körzet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359152"/>
            <a:ext cx="2002536" cy="548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helyi egyensúly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9800" y="1920240"/>
            <a:ext cx="1783080" cy="105156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705A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39528" y="1993392"/>
            <a:ext cx="156362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KÖF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94392" y="2359152"/>
            <a:ext cx="1453895" cy="548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elosztás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63240" y="2450592"/>
            <a:ext cx="822960" cy="0"/>
          </a:xfrm>
          <a:prstGeom prst="line">
            <a:avLst/>
          </a:prstGeom>
          <a:ln w="50800">
            <a:solidFill>
              <a:srgbClr val="EEA9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217920" y="2450592"/>
            <a:ext cx="822960" cy="0"/>
          </a:xfrm>
          <a:prstGeom prst="line">
            <a:avLst/>
          </a:prstGeom>
          <a:ln w="508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72600" y="2450592"/>
            <a:ext cx="457200" cy="0"/>
          </a:xfrm>
          <a:prstGeom prst="line">
            <a:avLst/>
          </a:prstGeom>
          <a:ln w="5080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280160" y="434340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0F2D4B"/>
                </a:solidFill>
                <a:latin typeface="Aptos"/>
              </a:defRPr>
            </a:pPr>
            <a:r>
              <a:t>Régen a hálózat főként egyirányú volt. Ma a helyi termelés miatt a feszültségtartás és visszatáplálás is fontos kérdés.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2B78B8"/>
                </a:solidFill>
                <a:latin typeface="Aptos"/>
              </a:defRPr>
            </a:pPr>
            <a:r>
              <a:t>ÓRAI GYAKORLAT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8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2D4B"/>
                </a:solidFill>
                <a:latin typeface="Aptos Display"/>
              </a:defRPr>
            </a:pPr>
            <a:r>
              <a:t>Erőműtípusok összehasonlítása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28816"/>
            <a:ext cx="7498079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IAP • Villamos művek • 13.E • 2. hét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874519"/>
            <a:ext cx="1965960" cy="123444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E66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" y="1947672"/>
            <a:ext cx="174650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Hőerőmű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313432"/>
            <a:ext cx="163677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energiaforrás</a:t>
            </a:r>
            <a:br/>
            <a:r>
              <a:t>előny</a:t>
            </a:r>
            <a:br/>
            <a:r>
              <a:t>nehézség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874519"/>
            <a:ext cx="1965960" cy="123444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705A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2928" y="1947672"/>
            <a:ext cx="174650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Atomerőmű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2" y="2313432"/>
            <a:ext cx="163677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energiaforrás</a:t>
            </a:r>
            <a:br/>
            <a:r>
              <a:t>előny</a:t>
            </a:r>
            <a:br/>
            <a:r>
              <a:t>nehézség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874519"/>
            <a:ext cx="1965960" cy="123444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4648" y="1947672"/>
            <a:ext cx="174650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Vízerőmű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9512" y="2313432"/>
            <a:ext cx="163677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energiaforrás</a:t>
            </a:r>
            <a:br/>
            <a:r>
              <a:t>előny</a:t>
            </a:r>
            <a:br/>
            <a:r>
              <a:t>nehézség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74519"/>
            <a:ext cx="1965960" cy="123444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23AF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6367" y="1947672"/>
            <a:ext cx="174650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Szél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71231" y="2313432"/>
            <a:ext cx="163677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energiaforrás</a:t>
            </a:r>
            <a:br/>
            <a:r>
              <a:t>előny</a:t>
            </a:r>
            <a:br/>
            <a:r>
              <a:t>nehézség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38359" y="1874519"/>
            <a:ext cx="1965960" cy="1234440"/>
          </a:xfrm>
          <a:prstGeom prst="roundRect">
            <a:avLst/>
          </a:prstGeom>
          <a:solidFill>
            <a:srgbClr val="E8F2F8"/>
          </a:solidFill>
          <a:ln w="15240">
            <a:solidFill>
              <a:srgbClr val="EEA9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48087" y="1947672"/>
            <a:ext cx="1746504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D4B"/>
                </a:solidFill>
                <a:latin typeface="Aptos"/>
              </a:defRPr>
            </a:pPr>
            <a:r>
              <a:t>Nap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2951" y="2313432"/>
            <a:ext cx="163677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5B6573"/>
                </a:solidFill>
                <a:latin typeface="Aptos"/>
              </a:defRPr>
            </a:pPr>
            <a:r>
              <a:t>energiaforrás</a:t>
            </a:r>
            <a:br/>
            <a:r>
              <a:t>előny</a:t>
            </a:r>
            <a:br/>
            <a:r>
              <a:t>nehézség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71600" y="4389120"/>
            <a:ext cx="941832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0" y="4572000"/>
            <a:ext cx="88696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D4B"/>
                </a:solidFill>
                <a:latin typeface="Aptos"/>
              </a:defRPr>
            </a:pPr>
            <a:r>
              <a:t>Leadandó: 5 soros összehasonlító táblázat + egy egyszerű termelési profil.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2B78B8"/>
                </a:solidFill>
                <a:latin typeface="Aptos"/>
              </a:defRPr>
            </a:pPr>
            <a:r>
              <a:t>ÖSSZEFOGLALÁS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78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2D4B"/>
                </a:solidFill>
                <a:latin typeface="Aptos Display"/>
              </a:defRPr>
            </a:pPr>
            <a:r>
              <a:t>Öt kulcsgondolat a 2. hétről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28816"/>
            <a:ext cx="7498079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900" b="0">
                <a:solidFill>
                  <a:srgbClr val="5B6573"/>
                </a:solidFill>
                <a:latin typeface="Aptos"/>
              </a:defRPr>
            </a:pPr>
            <a:r>
              <a:t>IAP • Villamos művek • 13.E • 2. hét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566928" cy="457200"/>
          </a:xfrm>
          <a:prstGeom prst="roundRect">
            <a:avLst/>
          </a:prstGeom>
          <a:solidFill>
            <a:srgbClr val="0F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36776"/>
            <a:ext cx="5669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1600200"/>
            <a:ext cx="941832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D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1627632"/>
            <a:ext cx="88696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0F2D4B"/>
                </a:solidFill>
                <a:latin typeface="Aptos"/>
              </a:defRPr>
            </a:pPr>
            <a:r>
              <a:t>Az erőmű energiaátalakító rendszer.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04872"/>
            <a:ext cx="566928" cy="457200"/>
          </a:xfrm>
          <a:prstGeom prst="roundRect">
            <a:avLst/>
          </a:prstGeom>
          <a:solidFill>
            <a:srgbClr val="0F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41448"/>
            <a:ext cx="5669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00200" y="2404872"/>
            <a:ext cx="941832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D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2432303"/>
            <a:ext cx="88696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ptos"/>
              </a:defRPr>
            </a:pPr>
            <a:r>
              <a:t>A generátor a legtöbb nagy erőmű közös eleme.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09544"/>
            <a:ext cx="566928" cy="457200"/>
          </a:xfrm>
          <a:prstGeom prst="roundRect">
            <a:avLst/>
          </a:prstGeom>
          <a:solidFill>
            <a:srgbClr val="0F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246120"/>
            <a:ext cx="5669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00200" y="3209544"/>
            <a:ext cx="941832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D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0" y="3236975"/>
            <a:ext cx="88696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ptos"/>
              </a:defRPr>
            </a:pPr>
            <a:r>
              <a:t>A transzformátor a hálózati csatlakozás kulcsa.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14216"/>
            <a:ext cx="566928" cy="457200"/>
          </a:xfrm>
          <a:prstGeom prst="roundRect">
            <a:avLst/>
          </a:prstGeom>
          <a:solidFill>
            <a:srgbClr val="0F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50792"/>
            <a:ext cx="5669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00200" y="4014216"/>
            <a:ext cx="941832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D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0" y="4041648"/>
            <a:ext cx="88696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ptos"/>
              </a:defRPr>
            </a:pPr>
            <a:r>
              <a:t>A megújulók termelése gyakran változékony.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818888"/>
            <a:ext cx="566928" cy="457200"/>
          </a:xfrm>
          <a:prstGeom prst="roundRect">
            <a:avLst/>
          </a:prstGeom>
          <a:solidFill>
            <a:srgbClr val="0F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55464"/>
            <a:ext cx="5669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4818888"/>
            <a:ext cx="941832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D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0" y="4846320"/>
            <a:ext cx="88696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0F2D4B"/>
                </a:solidFill>
                <a:latin typeface="Aptos"/>
              </a:defRPr>
            </a:pPr>
            <a:r>
              <a:t>A hálózatban termelés és fogyasztás egyensúlya szükséges.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85800"/>
            <a:ext cx="10698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1">
                <a:solidFill>
                  <a:srgbClr val="96E1EB"/>
                </a:solidFill>
                <a:latin typeface="Aptos"/>
              </a:defRPr>
            </a:pPr>
            <a:r>
              <a:t>IAP • KÖVETKEZŐ HÉT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100" b="1">
                <a:solidFill>
                  <a:srgbClr val="FFFFFF"/>
                </a:solidFill>
                <a:latin typeface="Aptos Display"/>
              </a:defRPr>
            </a:pPr>
            <a:r>
              <a:t>3. hét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424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 Display"/>
              </a:defRPr>
            </a:pPr>
            <a:r>
              <a:t>A villamos hálózatok</a:t>
            </a:r>
            <a:br/>
            <a:r>
              <a:t>feszültségszintjei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700" b="0">
                <a:solidFill>
                  <a:srgbClr val="D6E6F0"/>
                </a:solidFill>
                <a:latin typeface="Aptos"/>
              </a:defRPr>
            </a:pPr>
            <a:r>
              <a:t>NAF • KÖF • KIF • transzformálás • hálózati szintek szerepe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663440"/>
            <a:ext cx="10149840" cy="109728"/>
          </a:xfrm>
          <a:prstGeom prst="rect">
            <a:avLst/>
          </a:prstGeom>
          <a:solidFill>
            <a:srgbClr val="23AF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149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96E1EB"/>
                </a:solidFill>
                <a:latin typeface="Aptos"/>
              </a:defRPr>
            </a:pPr>
            <a:r>
              <a:t>erőmű → nagyfeszültség → középfeszültség → kisfeszültség → fogyasztó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