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Villamos Művek – Erőművek és Frekvenciaszabályozás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OVT • MAVIR • 50 Hz • Inercia • Frekvenciaszabályozás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2330"/>
            <a:ext cx="6296860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alapkérdés: egyensúly minden pillanatban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61475" y="1979910"/>
            <a:ext cx="3056853" cy="2666802"/>
          </a:xfrm>
          <a:prstGeom prst="roundRect">
            <a:avLst>
              <a:gd name="adj" fmla="val 293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3855" y="2172295"/>
            <a:ext cx="26720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alapszabály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3855" y="2572841"/>
            <a:ext cx="2672093" cy="188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Termelés = Fogyasztás + Hálózati veszteség ± Import/Export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villamosenergia-rendszerben minden egyes pillanatban fenn kell tartani ezt az egyensúlyt.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1481" y="1979910"/>
            <a:ext cx="3056853" cy="2666802"/>
          </a:xfrm>
          <a:prstGeom prst="roundRect">
            <a:avLst>
              <a:gd name="adj" fmla="val 293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3862" y="2172295"/>
            <a:ext cx="2672093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Fogyasztás nő, termelés áll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93862" y="2863552"/>
            <a:ext cx="2672093" cy="1290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A frekvencia </a:t>
            </a:r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 Hz alá csökken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generátorok lassulnak, a rendszer „megterhel".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829870"/>
            <a:ext cx="6296860" cy="1485702"/>
          </a:xfrm>
          <a:prstGeom prst="roundRect">
            <a:avLst>
              <a:gd name="adj" fmla="val 52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3855" y="502225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Termelés több, mint fogyasztás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3855" y="5422801"/>
            <a:ext cx="5912099" cy="70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A frekvencia </a:t>
            </a:r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 Hz fölé emelkedik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generátorok gyorsulnak, a rendszer „túlpörög".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OVT és MAVIR – Ki irányítja a rendszert?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9180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OVT – Országos Villamos Teherelosztó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7609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klasszikus magyar teherelosztó központ. Feladata volt a termelés-fogyasztás egyensúlyának figyelése és a nemzetközi összeköttetések koordinálása.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96994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MAVIR – Magyar Átviteli Rendszerirányító (TSO)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45422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mai rendszerirányító, szélesebb felelősséggel. Európai szinten integrálva koordinálja a szabályozási tartalékokat és biztosítja a hálózat stabilitását.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Erőművek szerepük szerint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Alaperőmű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Folyamatosan termel, az alapterhelést fedezi. Pl.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atomerőmű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stabil, nagy teljesítmény.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71075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Menetrendtartó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3119438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Követi a nap közbeni fogyasztásváltozást. Pl.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gázerőmű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rugalmas teljesítmény.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Csúcserőmű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Rövid ideig, nagy igénynél lép be – gyorsan indítható. Pl.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gázturbina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Tartalék &amp; Szabályozó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Váratlan kiesés esetén pótolja a kieső kapacitást és a pillanatnyi egyensúlyt tartja fenn.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napi terhelési görbe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🌙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Éjszaka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Alacsony fogyasztás – csak az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alaperőművek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termelnek folyamatosan.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476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Reggel és este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73191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Fogyasztási csúcsok –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menetrendtartó és csúcserőművek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lépnek be a rendszerbe.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45257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Csúcsidő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32776" y="501005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görbe tetejét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gyors, rugalmas csúcserőművek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fedezik – percek alatt indíthatók.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6921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9516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történik, ha a fogyasztás hirtelen nő?</a:t>
            </a:r>
            <a:endParaRPr lang="en-US" sz="3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899444"/>
            <a:ext cx="871218" cy="1045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3324" y="2073672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+500 MW kapcsolódik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693324" y="2442170"/>
            <a:ext cx="526501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Hirtelen megnövekedett fogyasztás a hálózaton.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44912"/>
            <a:ext cx="871218" cy="1045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93324" y="3119140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Nagyobb elektromágneses terhelés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693324" y="3487638"/>
            <a:ext cx="526501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generátorok forgórészére nagyobb erő hat →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forgórész lassul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990380"/>
            <a:ext cx="871218" cy="1045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93324" y="4164608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Frekvencia csökken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693324" y="4533106"/>
            <a:ext cx="526501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50,00 Hz-ről pl.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49,95 Hz-re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automatikusan és azonnal.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035848"/>
            <a:ext cx="871218" cy="12525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93324" y="5210076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Fizikai reakció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1693324" y="5578574"/>
            <a:ext cx="526501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első válasz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automatikus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nem operátori beavatkozás szükséges.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01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Szinkron fordulatszám és a 50 Hz kapcsolata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46523"/>
            <a:ext cx="69083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összefüggés képlete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57003"/>
            <a:ext cx="6908330" cy="561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842716"/>
            <a:ext cx="7517914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ahol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frekvencia (Hz),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póluspárok száma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3308449"/>
            <a:ext cx="69083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Kétpólusú gép 50 Hz-en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818930"/>
            <a:ext cx="6908330" cy="500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4543723"/>
            <a:ext cx="69083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 f = 49,9 Hz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054203"/>
            <a:ext cx="6908330" cy="3117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5590381"/>
            <a:ext cx="690833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egész kontinentális európai szinkronhálózat forgó gépei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együtt reagálnak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egyetlen összekapcsolt rendszerként.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826" y="2091134"/>
            <a:ext cx="3513645" cy="3513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646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Inercia – a rendszer „tehetetlensége"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91134"/>
            <a:ext cx="3513645" cy="3513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8141" y="1581150"/>
            <a:ext cx="69083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tárolt mozgási energia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141" y="2091630"/>
            <a:ext cx="6908330" cy="500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28141" y="2816423"/>
            <a:ext cx="690833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forgó generátorok tárolt kinetikus energiája termeléskieséskor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átmenetileg fedezi a hiányt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frekvencia nem zuhan le azonnal.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28141" y="3570585"/>
            <a:ext cx="6908330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Hasonlat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28141" y="4040287"/>
            <a:ext cx="690833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Mint egy nehéz lendkerék: nehéz hirtelen megállítani – időt ad a szabályozásnak reagálni.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28141" y="4816673"/>
            <a:ext cx="6908330" cy="1276052"/>
          </a:xfrm>
          <a:prstGeom prst="roundRect">
            <a:avLst>
              <a:gd name="adj" fmla="val 6027"/>
            </a:avLst>
          </a:prstGeom>
          <a:solidFill>
            <a:srgbClr val="FCF2B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195" y="5082679"/>
            <a:ext cx="228793" cy="1830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23042" y="5022056"/>
            <a:ext cx="613037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napelemek inverterrel csatlakoznak →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biztosítanak fizikai inerciát!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Csak szintetikus inerciával pótolható – ez a megújuló energia nagy kihívása.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2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frekvenciaszabályozás lépcsői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91328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2751565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44" y="37006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22534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1538883"/>
            <a:ext cx="38276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Inercia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1947565"/>
            <a:ext cx="38276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Azonnal (0–10 mp)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Forgó gépek tárolt energiája fékezi a frekvenciaesést. Automatikus, fizikai jelenség.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972620" y="391328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Shape 8"/>
          <p:cNvSpPr/>
          <p:nvPr/>
        </p:nvSpPr>
        <p:spPr>
          <a:xfrm>
            <a:off x="4772699" y="37006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3589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1438" y="4669334"/>
            <a:ext cx="3827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FCR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071438" y="5078016"/>
            <a:ext cx="38277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 másodpercen belül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 Containment Reserve – automatikus szabályozók megfogják és stabilizálják a frekvenciát.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93576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3656" y="37006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4546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92394" y="1538883"/>
            <a:ext cx="3827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aFRR / mFRR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5292394" y="1947565"/>
            <a:ext cx="38277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Perceken belül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Automatikus és kézi tartalékok helyreállítják az egyensúlyt, visszaállítják a frekvenciát 50 Hz-re.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414632" y="391328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4711" y="37006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5601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13450" y="4669334"/>
            <a:ext cx="3827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🚨</a:t>
            </a:r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UFLS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513450" y="5078016"/>
            <a:ext cx="38277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Végső megoldás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Under-Frequency Load Shedding – automatikus fogyasztói lekapcsolás a rendszer megmentéséért.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1449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 – A legfontosabb összefüggések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61475" y="1918395"/>
            <a:ext cx="6296860" cy="4298156"/>
          </a:xfrm>
          <a:prstGeom prst="roundRect">
            <a:avLst>
              <a:gd name="adj" fmla="val 16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1924745"/>
            <a:ext cx="6284160" cy="944066"/>
          </a:xfrm>
          <a:custGeom>
            <a:avLst/>
            <a:gdLst/>
            <a:ahLst/>
            <a:cxnLst/>
            <a:rect l="l" t="t" r="r" b="b"/>
            <a:pathLst>
              <a:path w="6284160" h="944066">
                <a:moveTo>
                  <a:pt x="58921" y="0"/>
                </a:moveTo>
                <a:lnTo>
                  <a:pt x="6225239" y="0"/>
                </a:lnTo>
                <a:arcTo hR="58922" wR="58921" stAng="16200000" swAng="5400000"/>
                <a:lnTo>
                  <a:pt x="6284160" y="944066"/>
                </a:lnTo>
                <a:lnTo>
                  <a:pt x="0" y="944066"/>
                </a:lnTo>
                <a:lnTo>
                  <a:pt x="0" y="58922"/>
                </a:lnTo>
                <a:arcTo hR="58922" wR="58921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36095" y="2093020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 &lt; 50 Hz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6095" y="2445941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Fogyasztás &gt; Termelés → a rendszer energiát „vesz el" a forgó géptömegektől.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825" y="2868811"/>
            <a:ext cx="6284160" cy="944066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2868811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36095" y="3037086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 &gt; 50 Hz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36095" y="3390007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Termelés &gt; Fogyasztás → a generátorok gyorsulnak, a rendszer „túlpörög".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825" y="3812877"/>
            <a:ext cx="6284160" cy="1198662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381287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836095" y="3981152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Inercia → FCR → FRR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36095" y="4334073"/>
            <a:ext cx="594761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inercia időt ad; az FCR megfogja; az FRR visszaállítja a 50 Hz-et. Együtt védi a rendszert.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7825" y="5011539"/>
            <a:ext cx="6284160" cy="1198662"/>
          </a:xfrm>
          <a:custGeom>
            <a:avLst/>
            <a:gdLst/>
            <a:ahLst/>
            <a:cxnLst/>
            <a:rect l="l" t="t" r="r" b="b"/>
            <a:pathLst>
              <a:path w="6284160" h="1198662">
                <a:moveTo>
                  <a:pt x="0" y="0"/>
                </a:moveTo>
                <a:lnTo>
                  <a:pt x="6284160" y="0"/>
                </a:lnTo>
                <a:lnTo>
                  <a:pt x="6284160" y="1139740"/>
                </a:lnTo>
                <a:arcTo hR="58922" wR="58921" stAng="0" swAng="5400000"/>
                <a:lnTo>
                  <a:pt x="58921" y="1198662"/>
                </a:lnTo>
                <a:arcTo hR="58922" wR="58921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825" y="501153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6"/>
          <p:cNvSpPr/>
          <p:nvPr/>
        </p:nvSpPr>
        <p:spPr>
          <a:xfrm>
            <a:off x="836095" y="5179814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🌱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Jövő kihívása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36095" y="5532735"/>
            <a:ext cx="594761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megújuló energia terjedésével az inercia csökken → új kihívás a rendszerirányítás számára.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2026-09-10T03:33:08Z</dcterms:created>
  <dcterms:modified xsi:type="dcterms:W3CDTF">2026-09-10T03:33:08Z</dcterms:modified>
</cp:coreProperties>
</file>