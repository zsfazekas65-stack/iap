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DejaVu Sans"/>
              </a:defRPr>
            </a:pPr>
            <a:r>
              <a:t>Villamos művek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933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FE4F5"/>
                </a:solidFill>
                <a:latin typeface="DejaVu Sans"/>
              </a:defRPr>
            </a:pPr>
            <a:r>
              <a:t>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DejaVu Sans"/>
              </a:defRPr>
            </a:pPr>
            <a:r>
              <a:t>Erőműtípusok és energiatermelési módok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FE4F5"/>
                </a:solidFill>
                <a:latin typeface="DejaVu Sans"/>
              </a:defRPr>
            </a:pPr>
            <a:r>
              <a:t>Hő • atom • víz • szél • nap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Egy cél - több technológia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villamosenergia-rendszerben eltérő tulajdonságú termelők működnek együtt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828800" cy="914400"/>
          </a:xfrm>
          <a:prstGeom prst="roundRect">
            <a:avLst/>
          </a:prstGeom>
          <a:solidFill>
            <a:srgbClr val="173A5E"/>
          </a:solidFill>
          <a:ln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Hő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1828800" cy="914400"/>
          </a:xfrm>
          <a:prstGeom prst="roundRect">
            <a:avLst/>
          </a:prstGeom>
          <a:solidFill>
            <a:srgbClr val="2B78B8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Atom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828800"/>
            <a:ext cx="1828800" cy="914400"/>
          </a:xfrm>
          <a:prstGeom prst="roundRect">
            <a:avLst/>
          </a:prstGeom>
          <a:solidFill>
            <a:srgbClr val="287A52"/>
          </a:solidFill>
          <a:ln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Víz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828800"/>
            <a:ext cx="1828800" cy="914400"/>
          </a:xfrm>
          <a:prstGeom prst="roundRect">
            <a:avLst/>
          </a:prstGeom>
          <a:solidFill>
            <a:srgbClr val="E97816"/>
          </a:solidFill>
          <a:ln>
            <a:solidFill>
              <a:srgbClr val="E97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Szél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828800"/>
            <a:ext cx="1828800" cy="914400"/>
          </a:xfrm>
          <a:prstGeom prst="roundRect">
            <a:avLst/>
          </a:prstGeom>
          <a:solidFill>
            <a:srgbClr val="BE9114"/>
          </a:solidFill>
          <a:ln>
            <a:solidFill>
              <a:srgbClr val="BE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Nap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Más primer energiaforrás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Más szabályozhatóság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Más környezeti és hálózati tulajdonság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Közös cél: biztonságos villamosenergia-termelés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5.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Hőerőmű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hőből előbb mechanikai, majd villamos energia lesz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645920" cy="914400"/>
          </a:xfrm>
          <a:prstGeom prst="roundRect">
            <a:avLst/>
          </a:prstGeom>
          <a:solidFill>
            <a:srgbClr val="E1F1FC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A5E"/>
                </a:solidFill>
                <a:latin typeface="DejaVu Sans"/>
              </a:defRPr>
            </a:pPr>
            <a:r>
              <a:t>Hőforrás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2514600"/>
            <a:ext cx="45720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0" y="2057400"/>
            <a:ext cx="1645920" cy="914400"/>
          </a:xfrm>
          <a:prstGeom prst="roundRect">
            <a:avLst/>
          </a:prstGeom>
          <a:solidFill>
            <a:srgbClr val="E1F1FC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A5E"/>
                </a:solidFill>
                <a:latin typeface="DejaVu Sans"/>
              </a:defRPr>
            </a:pPr>
            <a:r>
              <a:t>Gőz/gáz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89120" y="2514600"/>
            <a:ext cx="45720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46320" y="205740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A5E"/>
                </a:solidFill>
                <a:latin typeface="DejaVu Sans"/>
              </a:defRPr>
            </a:pPr>
            <a:r>
              <a:t>Turbina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92240" y="2514600"/>
            <a:ext cx="45720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0" y="205740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A5E"/>
                </a:solidFill>
                <a:latin typeface="DejaVu Sans"/>
              </a:defRPr>
            </a:pPr>
            <a:r>
              <a:t>Generátor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95360" y="2514600"/>
            <a:ext cx="45720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52560" y="205740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A5E"/>
                </a:solidFill>
                <a:latin typeface="DejaVu Sans"/>
              </a:defRPr>
            </a:pPr>
            <a:r>
              <a:t>Transzformátor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73A5E"/>
                </a:solidFill>
                <a:latin typeface="DejaVu Sans"/>
              </a:defRPr>
            </a:pPr>
            <a:r>
              <a:t>Fő kérdések: hatásfok • hűtés • szabályozhatóság • kibocsátás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5.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Atomerőmű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Villamos oldalon sok tekintetben hőerőmű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A5E"/>
                </a:solidFill>
                <a:latin typeface="DejaVu Sans"/>
              </a:defRPr>
            </a:pPr>
            <a:r>
              <a:t>Maghasadás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2468880"/>
            <a:ext cx="45720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51760" y="201168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A5E"/>
                </a:solidFill>
                <a:latin typeface="DejaVu Sans"/>
              </a:defRPr>
            </a:pPr>
            <a:r>
              <a:t>Hő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06240" y="2468880"/>
            <a:ext cx="45720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63440" y="201168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A5E"/>
                </a:solidFill>
                <a:latin typeface="DejaVu Sans"/>
              </a:defRPr>
            </a:pPr>
            <a:r>
              <a:t>Gőz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0" y="2468880"/>
            <a:ext cx="45720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675120" y="201168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A5E"/>
                </a:solidFill>
                <a:latin typeface="DejaVu Sans"/>
              </a:defRPr>
            </a:pPr>
            <a:r>
              <a:t>Turbina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0" y="2468880"/>
            <a:ext cx="45720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0" y="2011680"/>
            <a:ext cx="1554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A5E"/>
                </a:solidFill>
                <a:latin typeface="DejaVu Sans"/>
              </a:defRPr>
            </a:pPr>
            <a:r>
              <a:t>Generátor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39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63746"/>
                </a:solidFill>
                <a:latin typeface="DejaVu Sans"/>
              </a:defRPr>
            </a:pPr>
            <a:r>
              <a:t>Nagy egységteljesítmény</a:t>
            </a:r>
          </a:p>
          <a:p>
            <a:pPr>
              <a:spcAft>
                <a:spcPts val="800"/>
              </a:spcAft>
              <a:defRPr sz="1900">
                <a:solidFill>
                  <a:srgbClr val="263746"/>
                </a:solidFill>
                <a:latin typeface="DejaVu Sans"/>
              </a:defRPr>
            </a:pPr>
            <a:r>
              <a:t>Folyamatos termelésre alkalmas</a:t>
            </a:r>
          </a:p>
          <a:p>
            <a:pPr>
              <a:spcAft>
                <a:spcPts val="800"/>
              </a:spcAft>
              <a:defRPr sz="1900">
                <a:solidFill>
                  <a:srgbClr val="263746"/>
                </a:solidFill>
                <a:latin typeface="DejaVu Sans"/>
              </a:defRPr>
            </a:pPr>
            <a:r>
              <a:t>Komplex biztonsági rendszerek</a:t>
            </a:r>
          </a:p>
          <a:p>
            <a:pPr>
              <a:spcAft>
                <a:spcPts val="800"/>
              </a:spcAft>
              <a:defRPr sz="1900">
                <a:solidFill>
                  <a:srgbClr val="263746"/>
                </a:solidFill>
                <a:latin typeface="DejaVu Sans"/>
              </a:defRPr>
            </a:pPr>
            <a:r>
              <a:t>Blokktranszformátoron keresztüli hálózati csatlakozás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5.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Vízerőmű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víz közvetlenül a turbinát hajtja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194560" cy="914400"/>
          </a:xfrm>
          <a:prstGeom prst="roundRect">
            <a:avLst/>
          </a:prstGeom>
          <a:solidFill>
            <a:srgbClr val="E1F1FC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A5E"/>
                </a:solidFill>
                <a:latin typeface="DejaVu Sans"/>
              </a:defRPr>
            </a:pPr>
            <a:r>
              <a:t>Víz energiája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10312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73A5E"/>
                </a:solidFill>
                <a:latin typeface="DejaVu Sans"/>
              </a:defRPr>
            </a:pPr>
            <a:r>
              <a:t>Vízturbina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103120"/>
            <a:ext cx="2194560" cy="914400"/>
          </a:xfrm>
          <a:prstGeom prst="roundRect">
            <a:avLst/>
          </a:prstGeom>
          <a:solidFill>
            <a:srgbClr val="EEF7F2"/>
          </a:solidFill>
          <a:ln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7A52"/>
                </a:solidFill>
                <a:latin typeface="DejaVu Sans"/>
              </a:defRPr>
            </a:pPr>
            <a:r>
              <a:t>Generátor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560320"/>
            <a:ext cx="146304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66560" y="2560320"/>
            <a:ext cx="146304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" y="388620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Gyors szabályozásra is alkalmas lehet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Tározással energiarendszeri rugalmasságot adhat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Földrajzi adottságok erősen meghatározzák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5.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Szél- és naperőmű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Időjárásfüggő termelés, teljesítményelektronikai illesztés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828800" cy="731520"/>
          </a:xfrm>
          <a:prstGeom prst="roundRect">
            <a:avLst/>
          </a:prstGeom>
          <a:solidFill>
            <a:srgbClr val="E97816"/>
          </a:solidFill>
          <a:ln>
            <a:solidFill>
              <a:srgbClr val="E97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Szél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23774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73A5E"/>
                </a:solidFill>
                <a:latin typeface="DejaVu Sans"/>
              </a:defRPr>
            </a:pPr>
            <a:r>
              <a:t>Rotor / generátor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828800"/>
            <a:ext cx="1828800" cy="731520"/>
          </a:xfrm>
          <a:prstGeom prst="roundRect">
            <a:avLst/>
          </a:prstGeom>
          <a:solidFill>
            <a:srgbClr val="287A52"/>
          </a:solidFill>
          <a:ln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Hálózat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194560"/>
            <a:ext cx="91440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35040" y="2194560"/>
            <a:ext cx="265176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3657600"/>
            <a:ext cx="1828800" cy="731520"/>
          </a:xfrm>
          <a:prstGeom prst="roundRect">
            <a:avLst/>
          </a:prstGeom>
          <a:solidFill>
            <a:srgbClr val="BE9114"/>
          </a:solidFill>
          <a:ln>
            <a:solidFill>
              <a:srgbClr val="BE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Nap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657600"/>
            <a:ext cx="2560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73A5E"/>
                </a:solidFill>
                <a:latin typeface="DejaVu Sans"/>
              </a:defRPr>
            </a:pPr>
            <a:r>
              <a:t>PV → DC → inverter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3657600"/>
            <a:ext cx="1828800" cy="731520"/>
          </a:xfrm>
          <a:prstGeom prst="roundRect">
            <a:avLst/>
          </a:prstGeom>
          <a:solidFill>
            <a:srgbClr val="287A52"/>
          </a:solidFill>
          <a:ln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t>Hálózat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4023360"/>
            <a:ext cx="91440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17920" y="4023360"/>
            <a:ext cx="2468880" cy="0"/>
          </a:xfrm>
          <a:prstGeom prst="line">
            <a:avLst/>
          </a:prstGeom>
          <a:ln w="25400">
            <a:solidFill>
              <a:srgbClr val="2B7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52120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3A5E"/>
                </a:solidFill>
                <a:latin typeface="DejaVu Sans"/>
              </a:defRPr>
            </a:pPr>
            <a:r>
              <a:t>A termelés nem mindig akkor és annyi, amikor a fogyasztás igényli.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5.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Összehasonlítás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Nem létezik minden szempontból 'legjobb' erőmű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463040" cy="594360"/>
          </a:xfrm>
          <a:prstGeom prst="roundRect">
            <a:avLst/>
          </a:prstGeom>
          <a:solidFill>
            <a:srgbClr val="173A5E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Hő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7556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746"/>
                </a:solidFill>
                <a:latin typeface="DejaVu Sans"/>
              </a:defRPr>
            </a:pPr>
            <a:r>
              <a:t>szabályozható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5564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07487"/>
                </a:solidFill>
                <a:latin typeface="DejaVu Sans"/>
              </a:defRPr>
            </a:pPr>
            <a:r>
              <a:t>tüzelőanyag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1463040" cy="594360"/>
          </a:xfrm>
          <a:prstGeom prst="roundRect">
            <a:avLst/>
          </a:prstGeom>
          <a:solidFill>
            <a:srgbClr val="2B78B8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Atom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243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746"/>
                </a:solidFill>
                <a:latin typeface="DejaVu Sans"/>
              </a:defRPr>
            </a:pPr>
            <a:r>
              <a:t>folyamatos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243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07487"/>
                </a:solidFill>
                <a:latin typeface="DejaVu Sans"/>
              </a:defRPr>
            </a:pPr>
            <a:r>
              <a:t>nagy blokk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83280"/>
            <a:ext cx="1463040" cy="594360"/>
          </a:xfrm>
          <a:prstGeom prst="roundRect">
            <a:avLst/>
          </a:prstGeom>
          <a:solidFill>
            <a:srgbClr val="2B78B8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Víz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9300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746"/>
                </a:solidFill>
                <a:latin typeface="DejaVu Sans"/>
              </a:defRPr>
            </a:pPr>
            <a:r>
              <a:t>rugalmas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9300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07487"/>
                </a:solidFill>
                <a:latin typeface="DejaVu Sans"/>
              </a:defRPr>
            </a:pPr>
            <a:r>
              <a:t>adottságfüggő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51959"/>
            <a:ext cx="1463040" cy="594360"/>
          </a:xfrm>
          <a:prstGeom prst="roundRect">
            <a:avLst/>
          </a:prstGeom>
          <a:solidFill>
            <a:srgbClr val="2B78B8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Szél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3616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746"/>
                </a:solidFill>
                <a:latin typeface="DejaVu Sans"/>
              </a:defRPr>
            </a:pPr>
            <a:r>
              <a:t>változó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6168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07487"/>
                </a:solidFill>
                <a:latin typeface="DejaVu Sans"/>
              </a:defRPr>
            </a:pPr>
            <a:r>
              <a:t>időjárás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120640"/>
            <a:ext cx="1463040" cy="594360"/>
          </a:xfrm>
          <a:prstGeom prst="roundRect">
            <a:avLst/>
          </a:prstGeom>
          <a:solidFill>
            <a:srgbClr val="2B78B8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t>Nap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2303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746"/>
                </a:solidFill>
                <a:latin typeface="DejaVu Sans"/>
              </a:defRPr>
            </a:pPr>
            <a:r>
              <a:t>változó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3036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07487"/>
                </a:solidFill>
                <a:latin typeface="DejaVu Sans"/>
              </a:defRPr>
            </a:pPr>
            <a:r>
              <a:t>napszak + időjárás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5.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Hatásfok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Mennyi lesz a bevitt energiából hasznos villamos teljesítmény?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82880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97816"/>
                </a:solidFill>
                <a:latin typeface="DejaVu Sans"/>
              </a:defRPr>
            </a:pPr>
            <a:r>
              <a:t>η = Pki / Pbe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3291840"/>
            <a:ext cx="2560320" cy="822960"/>
          </a:xfrm>
          <a:prstGeom prst="roundRect">
            <a:avLst/>
          </a:prstGeom>
          <a:solidFill>
            <a:srgbClr val="E1F1FC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73A5E"/>
                </a:solidFill>
                <a:latin typeface="DejaVu Sans"/>
              </a:defRPr>
            </a:pPr>
            <a:r>
              <a:t>Pbe = 600 MW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329184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978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97816"/>
                </a:solidFill>
                <a:latin typeface="DejaVu Sans"/>
              </a:defRPr>
            </a:pPr>
            <a:r>
              <a:t>η = 40%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291840"/>
            <a:ext cx="2560320" cy="822960"/>
          </a:xfrm>
          <a:prstGeom prst="roundRect">
            <a:avLst/>
          </a:prstGeom>
          <a:solidFill>
            <a:srgbClr val="EEF7F2"/>
          </a:solidFill>
          <a:ln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7A52"/>
                </a:solidFill>
                <a:latin typeface="DejaVu Sans"/>
              </a:defRPr>
            </a:pPr>
            <a:r>
              <a:t>Pki = 240 MW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3A5E"/>
                </a:solidFill>
                <a:latin typeface="DejaVu Sans"/>
              </a:defRPr>
            </a:pPr>
            <a:r>
              <a:t>A veszteség ebben a példában 360 MW.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5.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Rendszeregyensúly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487"/>
                </a:solidFill>
                <a:latin typeface="DejaVu Sans"/>
              </a:defRPr>
            </a:pPr>
            <a:r>
              <a:t>A fogyasztás és a termelés minden pillanatban összetartozik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057400"/>
            <a:ext cx="2926080" cy="914400"/>
          </a:xfrm>
          <a:prstGeom prst="roundRect">
            <a:avLst/>
          </a:prstGeom>
          <a:solidFill>
            <a:srgbClr val="173A5E"/>
          </a:solidFill>
          <a:ln>
            <a:solidFill>
              <a:srgbClr val="173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DejaVu Sans"/>
              </a:defRPr>
            </a:pPr>
            <a:r>
              <a:t>TERMELÉS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2057400"/>
            <a:ext cx="914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173A5E"/>
                </a:solidFill>
                <a:latin typeface="DejaVu Sans"/>
              </a:defRPr>
            </a:pPr>
            <a:r>
              <a:t>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057400"/>
            <a:ext cx="2926080" cy="914400"/>
          </a:xfrm>
          <a:prstGeom prst="roundRect">
            <a:avLst/>
          </a:prstGeom>
          <a:solidFill>
            <a:srgbClr val="287A52"/>
          </a:solidFill>
          <a:ln>
            <a:solidFill>
              <a:srgbClr val="287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DejaVu Sans"/>
              </a:defRPr>
            </a:pPr>
            <a:r>
              <a:t>FOGYASZTÁS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49039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Időjárásfüggő termeléshez előrejelzés kell.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Rugalmas erőművek és tartalékok segítik az egyensúlyt.</a:t>
            </a:r>
          </a:p>
          <a:p>
            <a:pPr>
              <a:spcAft>
                <a:spcPts val="800"/>
              </a:spcAft>
              <a:defRPr sz="2000">
                <a:solidFill>
                  <a:srgbClr val="263746"/>
                </a:solidFill>
                <a:latin typeface="DejaVu Sans"/>
              </a:defRPr>
            </a:pPr>
            <a:r>
              <a:t>Az energiatárolás szerepe egyre fontosabb.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5.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DejaVu Sans"/>
              </a:defRPr>
            </a:pPr>
            <a:r>
              <a:t>Mit kell tudni az 5. hét végére?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80160"/>
            <a:ext cx="1828800" cy="54864"/>
          </a:xfrm>
          <a:prstGeom prst="rect">
            <a:avLst/>
          </a:prstGeom>
          <a:solidFill>
            <a:srgbClr val="E97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875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Fel tudod rajzolni az öt fő termelési mód energiaútját.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Meg tudod különböztetni a turbina-generátoros és inverteres termelést.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Érted a szabályozható és időjárásfüggő termelés különbségét.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Ki tudod számítani az egyszerű hatásfokot.</a:t>
            </a:r>
          </a:p>
          <a:p>
            <a:pPr>
              <a:spcAft>
                <a:spcPts val="800"/>
              </a:spcAft>
              <a:defRPr sz="2100">
                <a:solidFill>
                  <a:srgbClr val="263746"/>
                </a:solidFill>
                <a:latin typeface="DejaVu Sans"/>
              </a:defRPr>
            </a:pPr>
            <a:r>
              <a:t>Érted, miért szükséges többféle termelési mód együttműködése.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73952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07487"/>
                </a:solidFill>
                <a:latin typeface="DejaVu Sans"/>
              </a:defRPr>
            </a:pPr>
            <a:r>
              <a:t>IAP • Villamos művek • 13. évfolyam • 5.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DejaVu Sans"/>
              </a:defRPr>
            </a:pPr>
            <a:r>
              <a:t>6.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CFE4F5"/>
                </a:solidFill>
                <a:latin typeface="DejaVu Sans"/>
              </a:defRPr>
            </a:pPr>
            <a:r>
              <a:t>Komplex 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FFFFFF"/>
                </a:solidFill>
                <a:latin typeface="DejaVu Sans"/>
              </a:defRPr>
            </a:pPr>
            <a:r>
              <a:t>energiaút • generátor • blokktranszformátor • erőműtípusok • számítások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