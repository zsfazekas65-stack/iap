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6949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BBCF1"/>
                </a:solidFill>
                <a:latin typeface="Aptos"/>
              </a:defRPr>
            </a:pPr>
            <a:r>
              <a:t>13. ÉVFOLYAM • VILLAMOS MŰVEK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7680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Segédüzemi rendszerek</a:t>
            </a:r>
            <a:br/>
            <a:r>
              <a:t>és DC ellátás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88920"/>
            <a:ext cx="6583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D0E2EF"/>
                </a:solidFill>
                <a:latin typeface="Aptos"/>
              </a:defRPr>
            </a:pPr>
            <a:r>
              <a:t>13. hét • akkumulátor • töltő • DC elosztó • kioldókörök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920240"/>
            <a:ext cx="822960" cy="822960"/>
          </a:xfrm>
          <a:prstGeom prst="roundRect">
            <a:avLst/>
          </a:prstGeom>
          <a:solidFill>
            <a:srgbClr val="0F304E"/>
          </a:solidFill>
          <a:ln>
            <a:solidFill>
              <a:srgbClr val="2BB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2221992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60" b="1">
                <a:solidFill>
                  <a:srgbClr val="2BBCF1"/>
                </a:solidFill>
                <a:latin typeface="Aptos"/>
              </a:defRPr>
            </a:pPr>
            <a:r>
              <a:t>AC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452360" y="2331720"/>
            <a:ext cx="164592" cy="0"/>
          </a:xfrm>
          <a:prstGeom prst="line">
            <a:avLst/>
          </a:prstGeom>
          <a:ln w="25400">
            <a:solidFill>
              <a:srgbClr val="2BBC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653528" y="1920240"/>
            <a:ext cx="822960" cy="822960"/>
          </a:xfrm>
          <a:prstGeom prst="roundRect">
            <a:avLst/>
          </a:prstGeom>
          <a:solidFill>
            <a:srgbClr val="0F30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8" y="2221992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Aptos"/>
              </a:defRPr>
            </a:pPr>
            <a:r>
              <a:t>TÖLTŐ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76488" y="2331720"/>
            <a:ext cx="164592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77656" y="1920240"/>
            <a:ext cx="822960" cy="822960"/>
          </a:xfrm>
          <a:prstGeom prst="roundRect">
            <a:avLst/>
          </a:prstGeom>
          <a:solidFill>
            <a:srgbClr val="0F304E"/>
          </a:solidFill>
          <a:ln>
            <a:solidFill>
              <a:srgbClr val="2B8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77656" y="2221992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60" b="1">
                <a:solidFill>
                  <a:srgbClr val="2B8968"/>
                </a:solidFill>
                <a:latin typeface="Aptos"/>
              </a:defRPr>
            </a:pPr>
            <a:r>
              <a:t>AKKU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00616" y="2331720"/>
            <a:ext cx="164592" cy="0"/>
          </a:xfrm>
          <a:prstGeom prst="line">
            <a:avLst/>
          </a:prstGeom>
          <a:ln w="25400">
            <a:solidFill>
              <a:srgbClr val="2B89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01784" y="1920240"/>
            <a:ext cx="822960" cy="822960"/>
          </a:xfrm>
          <a:prstGeom prst="roundRect">
            <a:avLst/>
          </a:prstGeom>
          <a:solidFill>
            <a:srgbClr val="0F304E"/>
          </a:solidFill>
          <a:ln>
            <a:solidFill>
              <a:srgbClr val="DB7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01784" y="2221992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60" b="1">
                <a:solidFill>
                  <a:srgbClr val="DB7E2F"/>
                </a:solidFill>
                <a:latin typeface="Aptos"/>
              </a:defRPr>
            </a:pPr>
            <a:r>
              <a:t>DC SÍN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24744" y="2331720"/>
            <a:ext cx="164592" cy="0"/>
          </a:xfrm>
          <a:prstGeom prst="line">
            <a:avLst/>
          </a:prstGeom>
          <a:ln w="25400">
            <a:solidFill>
              <a:srgbClr val="DB7E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725912" y="1920240"/>
            <a:ext cx="822960" cy="822960"/>
          </a:xfrm>
          <a:prstGeom prst="roundRect">
            <a:avLst/>
          </a:prstGeom>
          <a:solidFill>
            <a:srgbClr val="0F304E"/>
          </a:solidFill>
          <a:ln>
            <a:solidFill>
              <a:srgbClr val="B9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25912" y="2221992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60" b="1">
                <a:solidFill>
                  <a:srgbClr val="B94343"/>
                </a:solidFill>
                <a:latin typeface="Aptos"/>
              </a:defRPr>
            </a:pPr>
            <a:r>
              <a:t>KIOLDÁS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246120"/>
            <a:ext cx="4480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A védelem csak akkor ér valamit,</a:t>
            </a:r>
            <a:br/>
            <a:r>
              <a:t>ha van energia a kapcsoláshoz.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9893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BBCF1"/>
                </a:solidFill>
                <a:latin typeface="Aptos"/>
              </a:defRPr>
            </a:pPr>
            <a:r>
              <a:t>Feldolgozási idő: 2 tanóra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Segédüzem és DC ellátás két tanórában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1. tanóra • Segédüzemi rendszer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75688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AC és DC segédüzem szerepe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51176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akkumulátortelep és töltő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026664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DC elosztó és fogyasztói körök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502152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relék, jelzések, működtetőkörök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58191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2. tanóra • Üzemzavar és felügyelet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75688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kioldó- és zárókörök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51176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alacsony DC feszültség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26664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DC földzárlat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02152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kioldókör-felügyelet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77639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hibaforgatókönyv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Mi az alállomási segédüzem?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primer berendezések működésének háttérrendszere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3375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429768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AC segédüzem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75688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világítás, fűtés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51176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ventilátorok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026664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motorhajtások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502152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töltőberendezés táplálása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417320"/>
            <a:ext cx="33375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417320"/>
            <a:ext cx="73152" cy="429768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5819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DC segédüzem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075688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védelmi relék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551176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kioldókörök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3026664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zárókörök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3502152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jelzések, vezérlések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1417320"/>
            <a:ext cx="33375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1417320"/>
            <a:ext cx="73152" cy="429768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5819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Miért kritikus?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075688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hiba esetén is működni kell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1" y="2551176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akkumulátorral megtámasztott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1" y="3026664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 megszakító kioldása ettől függhet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A DC ellátási lánc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AC betáplálástól a kioldótekercsig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1417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57400"/>
            <a:ext cx="1417320" cy="25603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254203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91F36"/>
                </a:solidFill>
                <a:latin typeface="Aptos"/>
              </a:defRPr>
            </a:pPr>
            <a:r>
              <a:t>AC</a:t>
            </a:r>
            <a:br/>
            <a:r>
              <a:t>betáplálás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20240" y="2615184"/>
            <a:ext cx="393192" cy="0"/>
          </a:xfrm>
          <a:prstGeom prst="line">
            <a:avLst/>
          </a:prstGeom>
          <a:ln w="2540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77439" y="2057400"/>
            <a:ext cx="1417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39" y="2057400"/>
            <a:ext cx="1417320" cy="256032"/>
          </a:xfrm>
          <a:prstGeom prst="rect">
            <a:avLst/>
          </a:prstGeom>
          <a:solidFill>
            <a:srgbClr val="1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1" y="254203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91F36"/>
                </a:solidFill>
                <a:latin typeface="Aptos"/>
              </a:defRPr>
            </a:pPr>
            <a:r>
              <a:t>Töltő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94759" y="2615184"/>
            <a:ext cx="393193" cy="0"/>
          </a:xfrm>
          <a:prstGeom prst="line">
            <a:avLst/>
          </a:prstGeom>
          <a:ln w="2540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51959" y="2057400"/>
            <a:ext cx="1417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2057400"/>
            <a:ext cx="1417320" cy="256032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254203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91F36"/>
                </a:solidFill>
                <a:latin typeface="Aptos"/>
              </a:defRPr>
            </a:pPr>
            <a:r>
              <a:t>Akkumulátor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79" y="2615184"/>
            <a:ext cx="393192" cy="0"/>
          </a:xfrm>
          <a:prstGeom prst="line">
            <a:avLst/>
          </a:prstGeom>
          <a:ln w="2540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26479" y="2057400"/>
            <a:ext cx="1417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79" y="2057400"/>
            <a:ext cx="1417320" cy="256032"/>
          </a:xfrm>
          <a:prstGeom prst="rect">
            <a:avLst/>
          </a:prstGeom>
          <a:solidFill>
            <a:srgbClr val="DB7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1" y="254203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91F36"/>
                </a:solidFill>
                <a:latin typeface="Aptos"/>
              </a:defRPr>
            </a:pPr>
            <a:r>
              <a:t>DC sín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43800" y="2615184"/>
            <a:ext cx="393192" cy="0"/>
          </a:xfrm>
          <a:prstGeom prst="line">
            <a:avLst/>
          </a:prstGeom>
          <a:ln w="2540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001000" y="2057400"/>
            <a:ext cx="1417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1000" y="2057400"/>
            <a:ext cx="1417320" cy="256032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254203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91F36"/>
                </a:solidFill>
                <a:latin typeface="Aptos"/>
              </a:defRPr>
            </a:pPr>
            <a:r>
              <a:t>DC elosztó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18320" y="2615184"/>
            <a:ext cx="393192" cy="0"/>
          </a:xfrm>
          <a:prstGeom prst="line">
            <a:avLst/>
          </a:prstGeom>
          <a:ln w="2540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875520" y="2057400"/>
            <a:ext cx="1417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75520" y="2057400"/>
            <a:ext cx="1417320" cy="256032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48672" y="254203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91F36"/>
                </a:solidFill>
                <a:latin typeface="Aptos"/>
              </a:defRPr>
            </a:pPr>
            <a:r>
              <a:t>Kioldókör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160520"/>
            <a:ext cx="10149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91F36"/>
                </a:solidFill>
                <a:latin typeface="Aptos"/>
              </a:defRPr>
            </a:pPr>
            <a:r>
              <a:t>Normál üzemben a töltő táplál és tölt; AC kieséskor az akkumulátor tartja életben a létfontosságú DC köröket.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Akkumulátortelep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Az alállomás tartalék segédenergiája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029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81912"/>
            <a:ext cx="4617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Feladata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075688"/>
            <a:ext cx="45262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létfontosságú DC körök táplálása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551176"/>
            <a:ext cx="45262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külső AC kiesés áthidalása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026664"/>
            <a:ext cx="45262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kioldási energia biztosítása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502152"/>
            <a:ext cx="45262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jelző- és vezérlőkörök megtartása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51663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8191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Jellemző DC feszültségek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075688"/>
            <a:ext cx="46634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24 V és 48 V kisebb rendszereknél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551176"/>
            <a:ext cx="46634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110 V DC gyakori alállomási szint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026664"/>
            <a:ext cx="46634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220 V DC nagyobb rendszereknél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3502152"/>
            <a:ext cx="46634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 konkrét értéket a berendezések és előírások határozzák meg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Töltőberendezés és DC sín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Normál üzemben ez tartja fenn a DC rendszert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3375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Töltő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75688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AC-ből DC-t állít elő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51176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táplálja a DC sínt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026664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fenntartja az akkumulátor töltését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3375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417320"/>
            <a:ext cx="73152" cy="4434840"/>
          </a:xfrm>
          <a:prstGeom prst="rect">
            <a:avLst/>
          </a:prstGeom>
          <a:solidFill>
            <a:srgbClr val="1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5819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DC sín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075688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közös elosztási pont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551176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biztosított leágazások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3026664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feszültségfelügyelet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417320"/>
            <a:ext cx="33375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417320"/>
            <a:ext cx="73152" cy="443484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5819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Hibajelzések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2075688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töltőhiba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1" y="2551176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alacsony DC feszültség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3026664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biztosítóhiba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1" y="3502152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akkumulátorkör hiba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Kioldó- és zárókörök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védelem döntéséből valódi kapcsolás lesz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1737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1737360" cy="292608"/>
          </a:xfrm>
          <a:prstGeom prst="rect">
            <a:avLst/>
          </a:prstGeom>
          <a:solidFill>
            <a:srgbClr val="1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91F36"/>
                </a:solidFill>
                <a:latin typeface="Aptos"/>
              </a:defRPr>
            </a:pPr>
            <a:r>
              <a:t>Relé</a:t>
            </a:r>
            <a:br/>
            <a:r>
              <a:t>dönt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2633472"/>
            <a:ext cx="420624" cy="0"/>
          </a:xfrm>
          <a:prstGeom prst="line">
            <a:avLst/>
          </a:prstGeom>
          <a:ln w="2540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17520" y="2011680"/>
            <a:ext cx="1737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520" y="2011680"/>
            <a:ext cx="1737360" cy="292608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532888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91F36"/>
                </a:solidFill>
                <a:latin typeface="Aptos"/>
              </a:defRPr>
            </a:pPr>
            <a:r>
              <a:t>DC</a:t>
            </a:r>
            <a:br/>
            <a:r>
              <a:t>kioldókör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0" y="2633472"/>
            <a:ext cx="420624" cy="0"/>
          </a:xfrm>
          <a:prstGeom prst="line">
            <a:avLst/>
          </a:prstGeom>
          <a:ln w="2540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57800" y="2011680"/>
            <a:ext cx="1737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57800" y="2011680"/>
            <a:ext cx="1737360" cy="292608"/>
          </a:xfrm>
          <a:prstGeom prst="rect">
            <a:avLst/>
          </a:prstGeom>
          <a:solidFill>
            <a:srgbClr val="DB7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532888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91F36"/>
                </a:solidFill>
                <a:latin typeface="Aptos"/>
              </a:defRPr>
            </a:pPr>
            <a:r>
              <a:t>Kioldó-</a:t>
            </a:r>
            <a:br/>
            <a:r>
              <a:t>tekercs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95160" y="2633472"/>
            <a:ext cx="420623" cy="0"/>
          </a:xfrm>
          <a:prstGeom prst="line">
            <a:avLst/>
          </a:prstGeom>
          <a:ln w="2540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98080" y="2011680"/>
            <a:ext cx="1737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0" y="2011680"/>
            <a:ext cx="1737360" cy="292608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2532888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91F36"/>
                </a:solidFill>
                <a:latin typeface="Aptos"/>
              </a:defRPr>
            </a:pPr>
            <a:r>
              <a:t>Megszakító</a:t>
            </a:r>
            <a:br/>
            <a:r>
              <a:t>nyit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40" y="2633472"/>
            <a:ext cx="420624" cy="0"/>
          </a:xfrm>
          <a:prstGeom prst="line">
            <a:avLst/>
          </a:prstGeom>
          <a:ln w="2540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38360" y="2011680"/>
            <a:ext cx="1737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38360" y="2011680"/>
            <a:ext cx="1737360" cy="292608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2532888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91F36"/>
                </a:solidFill>
                <a:latin typeface="Aptos"/>
              </a:defRPr>
            </a:pPr>
            <a:r>
              <a:t>Visszajelzés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3891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91F36"/>
                </a:solidFill>
                <a:latin typeface="Aptos"/>
              </a:defRPr>
            </a:pPr>
            <a:r>
              <a:t>A kioldókör megbízhatósága közvetlen üzembiztonsági kérdés.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DC földzárlat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Egy jelzés, amit nem szabad félvállról venni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029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4434840"/>
          </a:xfrm>
          <a:prstGeom prst="rect">
            <a:avLst/>
          </a:prstGeom>
          <a:solidFill>
            <a:srgbClr val="DB7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81912"/>
            <a:ext cx="4617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Egy földzárlat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075688"/>
            <a:ext cx="45262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önmagában nem mindig okoz azonnali kiesést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551176"/>
            <a:ext cx="45262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de veszélyes előállapot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026664"/>
            <a:ext cx="45262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hibahely-keresést igényel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1663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73152" cy="443484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8191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Kétpontos földzárlat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075688"/>
            <a:ext cx="46634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téves működéshez vezethet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551176"/>
            <a:ext cx="46634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kioldási vagy vezérlési zavar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026664"/>
            <a:ext cx="46634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biztosítóolvadás vagy körkiesés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502152"/>
            <a:ext cx="46634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üzemzavari kockázat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Segédüzemi felügyeleti jelzések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Mit figyel az alállomás?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337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452628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Feszültség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84248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DC feszültség alacsony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59736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DC feszültség magas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935224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AC betáplálás kiesett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325880"/>
            <a:ext cx="3337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325880"/>
            <a:ext cx="73152" cy="452628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49047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Töltés és akku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1984248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töltőhiba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459736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akkumulátorkör hiba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935224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biztosítóhiba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325880"/>
            <a:ext cx="3337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325880"/>
            <a:ext cx="73152" cy="452628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49047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Működtetőkörök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1984248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kioldókör-felügyelet hiba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1" y="2459736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DC földzárlat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935224"/>
            <a:ext cx="28346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állapotjelzési hiba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Üzemzavari 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védelem kioldana, de a megszakító csak DC energiával tud működni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029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73152" cy="452628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90472"/>
            <a:ext cx="4617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Hálózati hiba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984248"/>
            <a:ext cx="45262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zárlat keletkezik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459736"/>
            <a:ext cx="45262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védelmi relé működik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935224"/>
            <a:ext cx="45262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kioldási parancs keletkezik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25880"/>
            <a:ext cx="5166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325880"/>
            <a:ext cx="73152" cy="452628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49047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Segédüzemi feltétel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1984248"/>
            <a:ext cx="46634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megfelelő DC feszültség kell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459736"/>
            <a:ext cx="46634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ép kioldókör kell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935224"/>
            <a:ext cx="46634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működő kioldótekercs kell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410712"/>
            <a:ext cx="46634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visszajelzés szükséges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Ellenőrzési gondolkodás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Ha a segédüzem hibát jelez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452628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Mit ellenőrizzünk?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84248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van-e megfelelő DC feszültség?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59736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működik-e a töltő?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935224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nincs-e biztosítóhiba?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410712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van-e DC földzárlat?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886200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hibátlan-e a kioldókör-felügyelet?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32588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325880"/>
            <a:ext cx="73152" cy="452628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149047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Miért?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84248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 védelem csak parancsot 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59736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 kapcsoláshoz energia kell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35224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 megszakító működése visszajelzést igényel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10712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segédüzemi hiba primer üzemzavarrá válhat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13. hét négy kulcsmondata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325880"/>
            <a:ext cx="566928" cy="566928"/>
          </a:xfrm>
          <a:prstGeom prst="ellipse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90472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71600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91F36"/>
                </a:solidFill>
                <a:latin typeface="Aptos"/>
              </a:defRPr>
            </a:pPr>
            <a:r>
              <a:t>A segédüzem az alállomás mérő-, védelmi, vezérlő- és jelzőrendszereit táplálja.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377439"/>
            <a:ext cx="566928" cy="566928"/>
          </a:xfrm>
          <a:prstGeom prst="ellipse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42032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23159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91F36"/>
                </a:solidFill>
                <a:latin typeface="Aptos"/>
              </a:defRPr>
            </a:pPr>
            <a:r>
              <a:t>A DC ellátás akkumulátorral megtámasztott, ezért hiba esetén is működnie kell.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429000"/>
            <a:ext cx="566928" cy="566928"/>
          </a:xfrm>
          <a:prstGeom prst="ellipse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93592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74720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91F36"/>
                </a:solidFill>
                <a:latin typeface="Aptos"/>
              </a:defRPr>
            </a:pPr>
            <a:r>
              <a:t>A kioldókör és a kioldótekercs állapota közvetlen üzembiztonsági kérdés.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480559"/>
            <a:ext cx="566928" cy="566928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45151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526279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91F36"/>
                </a:solidFill>
                <a:latin typeface="Aptos"/>
              </a:defRPr>
            </a:pPr>
            <a:r>
              <a:t>A DC földzárlat, töltőhiba és alacsony feszültség nem hagyható figyelmen kívül.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623560"/>
            <a:ext cx="10607040" cy="530352"/>
          </a:xfrm>
          <a:prstGeom prst="roundRect">
            <a:avLst/>
          </a:prstGeom>
          <a:solidFill>
            <a:srgbClr val="EFF6FB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769864"/>
            <a:ext cx="10241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165B91"/>
                </a:solidFill>
                <a:latin typeface="Aptos"/>
              </a:defRPr>
            </a:pPr>
            <a:r>
              <a:t>Következő hét: Alállomási irányítástechnika és távfelügyelet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