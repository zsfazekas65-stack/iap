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7D5E9"/>
                </a:solidFill>
                <a:latin typeface="DejaVu Sans"/>
              </a:defRPr>
            </a:pPr>
            <a:r>
              <a:t>IAP • VILLAMOS MŰVEK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9552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Kapcsolási csoportok</a:t>
            </a:r>
            <a:br/>
            <a:r>
              <a:t>és párhuzamos üzem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926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FE2EF"/>
                </a:solidFill>
                <a:latin typeface="DejaVu Sans"/>
              </a:defRPr>
            </a:pPr>
            <a:r>
              <a:t>11. hét  |  feldolgozási idő: 2 tanóra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7947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DejaVu Sans"/>
              </a:defRPr>
            </a:pPr>
            <a:r>
              <a:t>vektorcsoport • óraszám • fáziseltolás • terhelésmegosztás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11. HÉT • 2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Óravázlat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4864" cy="429768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55063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1. tanóra – Kapcsolási csoport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489204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Csillag, delta és zig-zag alapgondolat.</a:t>
            </a:r>
            <a:br/>
            <a:br/>
            <a:r>
              <a:t>Vektorcsoport, óraszám és fáziseltolás.</a:t>
            </a:r>
            <a:br/>
            <a:br/>
            <a:r>
              <a:t>Adattábla-jelölések értelmezése.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54864" cy="429768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655063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2. tanóra – Párhuzamos üzem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39112"/>
            <a:ext cx="489204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Párhuzamosítás feltételei.</a:t>
            </a:r>
            <a:br/>
            <a:br/>
            <a:r>
              <a:t>Fázissorrend, áttétel, kapcsolási csoport, zárlati feszültség.</a:t>
            </a:r>
            <a:br/>
            <a:br/>
            <a:r>
              <a:t>Terhelésmegosztás és hibás kapcsolás következménye.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11.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A TRANSZFORMÁTOR FÁZISHELYZETÉNEK NYELVE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Mi az a kapcsolási csoport?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54864" cy="164592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4650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Betűk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29718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Y - csillag</a:t>
            </a:r>
            <a:br/>
            <a:r>
              <a:t>D - delta</a:t>
            </a:r>
            <a:br/>
            <a:r>
              <a:t>Z - zig-zag</a:t>
            </a:r>
            <a:br/>
            <a:r>
              <a:t>N/n - kivezetett csillagpont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00200"/>
            <a:ext cx="54864" cy="164592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74650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Óraszám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130552"/>
            <a:ext cx="29718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30 fokos lépésekben mutatja a fáziseltolást.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0020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00200"/>
            <a:ext cx="54864" cy="164592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74650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Példa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130552"/>
            <a:ext cx="29718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Dyn5: delta primer, csillag szekunder kivezetett nullával, 150° fáziseltolás.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304C"/>
                </a:solidFill>
                <a:latin typeface="DejaVu Sans"/>
              </a:defRPr>
            </a:pPr>
            <a:r>
              <a:t>Kapcsolási csoport nélkül nem dönthető el biztonságosan a párhuzamos üzem.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11.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Y • D • 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Alapkapcsolások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320040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922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Y - csillag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76272"/>
            <a:ext cx="30175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Közös csillagpont.</a:t>
            </a:r>
            <a:br/>
            <a:br/>
            <a:r>
              <a:t>A csillagpont földelhető és ki is vezethető.</a:t>
            </a:r>
            <a:br/>
            <a:br/>
            <a:r>
              <a:t>Elosztóhálózatoknál gyakori.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54864" cy="320040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922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D - delta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76272"/>
            <a:ext cx="30175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Zárt háromszög kapcsolás.</a:t>
            </a:r>
            <a:br/>
            <a:br/>
            <a:r>
              <a:t>Kiegyenlítő áramok és felharmonikusok kezelésében hasznos lehet.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54864" cy="320040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7922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Z - zig-zag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76272"/>
            <a:ext cx="30175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Speciális kapcsolás.</a:t>
            </a:r>
            <a:br/>
            <a:br/>
            <a:r>
              <a:t>Földelési és elosztóhálózati feladatoknál alkalmazható.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11.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30 FOKOS LÉPÉSEK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Az óraszám jelentése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148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54864" cy="146304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7510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Óraszám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59152"/>
            <a:ext cx="1783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148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828800"/>
            <a:ext cx="54864" cy="146304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197510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Óraszám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359152"/>
            <a:ext cx="1783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150°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2148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828800"/>
            <a:ext cx="54864" cy="146304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97510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Óraszám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359152"/>
            <a:ext cx="1783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180°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828800"/>
            <a:ext cx="2148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828800"/>
            <a:ext cx="54864" cy="146304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197510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Óraszám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2359152"/>
            <a:ext cx="1783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330° / -30°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Óraszám x 30° = fáziseltolás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11.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ELTÉRŐ FÁZISHELYZET = KIEGYENLÍTŐ ÁRAM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Miért fontos párhuzamosításkor?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828800"/>
            <a:ext cx="2926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828800"/>
            <a:ext cx="54864" cy="132588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1975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Trafó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359152"/>
            <a:ext cx="25603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20 kV gyűjtősínre kapcsolva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2926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1828800"/>
            <a:ext cx="54864" cy="132588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8" y="1975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Trafó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2359152"/>
            <a:ext cx="25603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eltérő fázishelyzet esetén veszélyes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1920" y="2496312"/>
            <a:ext cx="4206240" cy="0"/>
          </a:xfrm>
          <a:prstGeom prst="line">
            <a:avLst/>
          </a:prstGeom>
          <a:ln w="22860">
            <a:solidFill>
              <a:srgbClr val="B1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42976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304C"/>
                </a:solidFill>
                <a:latin typeface="DejaVu Sans"/>
              </a:defRPr>
            </a:pPr>
            <a:r>
              <a:t>Párhuzamos kapcsolás előtt a fázishelyzetet és a fázissorrendet ellenőrizni kell.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11.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MIÉRT KAPCSOLUNK TÖBB TRANSZFORMÁTORT KÖZÖS GYŰJTŐSÍNRE?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Párhuzamos üzem célja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nagyobb terhelés ellátása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üzemi tartalék biztosítása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karbantartási rugalmasság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terhelés megosztása több egység között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üzembiztonság növelése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9202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920240"/>
            <a:ext cx="54864" cy="214884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6368" y="20665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Fontos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2450592"/>
            <a:ext cx="310896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A párhuzamos üzem csak akkor biztonságos, ha a villamos feltételek teljesülnek.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11.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ELLENŐRZŐLISTA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Párhuzamos üzem feltételei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azonos vagy összehangolt áttétel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azonos fázissorrend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azonos kapcsolási csoport / fázishelyzet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közel azonos zárlati feszültség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megfelelő teljesítményarány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védelmi és kapcsolási ellenőrzések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11.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NEM MINDIG ARÁNYOSAN OSZLIK MEG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Terhelésmegosztás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54864" cy="164592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379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Kisebb uk%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21992"/>
            <a:ext cx="28346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nagyobb terhelést vehet fel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9164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691640"/>
            <a:ext cx="54864" cy="164592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18379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Nagyobb uk%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221992"/>
            <a:ext cx="28346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kisebb terhelést vehet fel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9164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54864" cy="164592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8379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Következmény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221992"/>
            <a:ext cx="28346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egyik transzformátor túlterhelődhet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304C"/>
                </a:solidFill>
                <a:latin typeface="DejaVu Sans"/>
              </a:defRPr>
            </a:pPr>
            <a:r>
              <a:t>A terhelésmegosztást a transzformátorok impedanciája és zárlati feszültsége erősen befolyásolja.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11.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MIT KELL ELKERÜLNI?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Hibás párhuzamosítás következményei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4864" cy="132588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5506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Kiegyenlítő áram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3017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terhelés nélkül is megindulhat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54864" cy="132588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5506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Melegedés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39112"/>
            <a:ext cx="3017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tekercs- és berendezéskárosodás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54864" cy="132588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5506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Védelmi működés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2"/>
            <a:ext cx="3017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kioldás, üzemzavar, kiesés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52044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3520440"/>
            <a:ext cx="54864" cy="132588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1488" y="36667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Feszültségzavar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4050791"/>
            <a:ext cx="3017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gyűjtősíni zavarok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2044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520440"/>
            <a:ext cx="54864" cy="132588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6667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Túlterhelés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050791"/>
            <a:ext cx="3017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aránytalan terhelésmegosztás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11.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EZT KELL TUDNI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A 11. hét végére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9875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értelmezni a kapcsolási csoport jelöléseit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kiszámítani az óraszámból a fáziseltolást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felsorolni a párhuzamos üzem feltételeit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elmagyarázni a terhelésmegosztás problémáját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leírni a hibás párhuzamosítás következményeit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11. hét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7D5E9"/>
                </a:solidFill>
                <a:latin typeface="DejaVu San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12.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D2E4F1"/>
                </a:solidFill>
                <a:latin typeface="DejaVu Sans"/>
              </a:defRPr>
            </a:pPr>
            <a:r>
              <a:t>Alállomási mérőváltók részletesen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DejaVu Sans"/>
              </a:defRPr>
            </a:pPr>
            <a:r>
              <a:t>áramváltó • feszültségváltó • pontossági osztály • mérés • védelem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