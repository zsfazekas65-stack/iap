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Ugyanaz a teljesítmény – különböző feszültségek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Áram [A]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20 kV</c:v>
                </c:pt>
                <c:pt idx="1">
                  <c:v>120 kV</c:v>
                </c:pt>
                <c:pt idx="2">
                  <c:v>400 kV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289</c:v>
                </c:pt>
                <c:pt idx="1">
                  <c:v>48</c:v>
                </c:pt>
                <c:pt idx="2">
                  <c:v>14.4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74720" cy="6858000"/>
          </a:xfrm>
          <a:prstGeom prst="rect">
            <a:avLst/>
          </a:prstGeom>
          <a:solidFill>
            <a:srgbClr val="0F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0"/>
            <a:ext cx="3383280" cy="6858000"/>
          </a:xfrm>
          <a:prstGeom prst="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Villamos művek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400" b="1">
                <a:solidFill>
                  <a:srgbClr val="CFE4F5"/>
                </a:solidFill>
              </a:defRPr>
            </a:pPr>
            <a:r>
              <a:t>3. hét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07792"/>
            <a:ext cx="99669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villamosenergia-rendszer felépítése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9584"/>
            <a:ext cx="9966960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900" b="0">
                <a:solidFill>
                  <a:srgbClr val="CFE4F5"/>
                </a:solidFill>
              </a:defRPr>
            </a:pPr>
            <a:r>
              <a:t>Az erőműtől a fogyasztóig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4617720"/>
            <a:ext cx="7863840" cy="53035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termelés  →  átvitel  →  elosztás  →  fogyasztás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A nagy kérdés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Mi történik a villamos energiával, mielőtt a konnektorba ér?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120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400" b="1">
                <a:solidFill>
                  <a:srgbClr val="173A5E"/>
                </a:solidFill>
              </a:defRPr>
            </a:pPr>
            <a:r>
              <a:t>A villamos energia nem „magától” érkezik.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5212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Meg kell termelni.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Nagy távolságra kell továbbítani.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Többször át kell alakítani a feszültségszintet.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Végül biztonságosan el kell juttatni a fogyasztóhoz.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737360"/>
            <a:ext cx="1280160" cy="548640"/>
          </a:xfrm>
          <a:prstGeom prst="roundRect">
            <a:avLst/>
          </a:prstGeom>
          <a:solidFill>
            <a:srgbClr val="28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230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560320"/>
            <a:ext cx="2468880" cy="914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87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87A52"/>
                </a:solidFill>
              </a:defRPr>
            </a:pPr>
            <a:r>
              <a:t>fogyasztó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49640" y="2286000"/>
            <a:ext cx="0" cy="274320"/>
          </a:xfrm>
          <a:prstGeom prst="line">
            <a:avLst/>
          </a:prstGeom>
          <a:ln w="25400">
            <a:solidFill>
              <a:srgbClr val="287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83680" y="3886200"/>
            <a:ext cx="3931920" cy="1005840"/>
          </a:xfrm>
          <a:prstGeom prst="roundRect">
            <a:avLst/>
          </a:prstGeom>
          <a:solidFill>
            <a:srgbClr val="E1F1FC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3A5E"/>
                </a:solidFill>
              </a:defRPr>
            </a:pPr>
            <a:r>
              <a:t>A háttérben egy teljes országos hálózat dolgozik.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Az energia útja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Egyszerűsített lánc a termelőtől a végfelhasználóig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920240" y="2514600"/>
            <a:ext cx="502920" cy="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840480" y="2514600"/>
            <a:ext cx="594360" cy="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59" y="2514600"/>
            <a:ext cx="594361" cy="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863840" y="2514600"/>
            <a:ext cx="411480" cy="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692640" y="2514600"/>
            <a:ext cx="411480" cy="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2057400"/>
            <a:ext cx="150876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3A5E"/>
                </a:solidFill>
              </a:defRPr>
            </a:pPr>
            <a:r>
              <a:t>Erőmű</a:t>
            </a:r>
            <a:br/>
            <a:r>
              <a:t>Generátor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2057400"/>
            <a:ext cx="150876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3A5E"/>
                </a:solidFill>
              </a:defRPr>
            </a:pPr>
            <a:r>
              <a:t>Blokk-</a:t>
            </a:r>
            <a:br/>
            <a:r>
              <a:t>transzformátor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057400"/>
            <a:ext cx="150876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3A5E"/>
                </a:solidFill>
              </a:defRPr>
            </a:pPr>
            <a:r>
              <a:t>Átviteli</a:t>
            </a:r>
            <a:br/>
            <a:r>
              <a:t>hálózat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57400"/>
            <a:ext cx="150876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3A5E"/>
                </a:solidFill>
              </a:defRPr>
            </a:pPr>
            <a:r>
              <a:t>Alállomás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2057400"/>
            <a:ext cx="150876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3A5E"/>
                </a:solidFill>
              </a:defRPr>
            </a:pPr>
            <a:r>
              <a:t>Elosztó-</a:t>
            </a:r>
            <a:br/>
            <a:r>
              <a:t>hálózat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057400"/>
            <a:ext cx="1508760" cy="960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3A5E"/>
                </a:solidFill>
              </a:defRPr>
            </a:pPr>
            <a:r>
              <a:t>Fogyasztó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246120"/>
            <a:ext cx="1371600" cy="34747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10–20 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1371600" cy="34747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400 kV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3246120"/>
            <a:ext cx="1371600" cy="34747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120/20 kV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3246120"/>
            <a:ext cx="1371600" cy="34747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 kV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3246120"/>
            <a:ext cx="1371600" cy="34747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400/230 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754880"/>
            <a:ext cx="1014984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200" b="1">
                <a:solidFill>
                  <a:srgbClr val="173A5E"/>
                </a:solidFill>
              </a:defRPr>
            </a:pPr>
            <a:r>
              <a:t>A hálózatban az energia nemcsak halad, hanem közben feszültségszintet is vált.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Feszültségszintek lépcsőben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Nagy távolságra nagy feszültség, a fogyasztónál kisfeszültség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691640"/>
            <a:ext cx="9784080" cy="685800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400 kV   •   országos átvitel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514600"/>
            <a:ext cx="7223760" cy="685800"/>
          </a:xfrm>
          <a:prstGeom prst="round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120 kV   •   regionális hálózat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337560"/>
            <a:ext cx="4754880" cy="685800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20 kV   •   középfeszültségű elosztás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160520"/>
            <a:ext cx="2834640" cy="685800"/>
          </a:xfrm>
          <a:prstGeom prst="roundRect">
            <a:avLst/>
          </a:prstGeom>
          <a:solidFill>
            <a:srgbClr val="28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400/230 V   •   kisfeszültségű fogyasztói hálózat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257800"/>
            <a:ext cx="96012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100" b="1">
                <a:solidFill>
                  <a:srgbClr val="173A5E"/>
                </a:solidFill>
              </a:defRPr>
            </a:pPr>
            <a:r>
              <a:t>Minél közelebb vagyunk a fogyasztóhoz, annál kisebb a feszültségszint.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Miért kell nagyfeszültség?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Ugyanaz a teljesítmény kisebb árammal szállítható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3840480" cy="822960"/>
          </a:xfrm>
          <a:prstGeom prst="roundRect">
            <a:avLst/>
          </a:prstGeom>
          <a:solidFill>
            <a:srgbClr val="E1F1FC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73A5E"/>
                </a:solidFill>
              </a:defRPr>
            </a:pPr>
            <a:r>
              <a:t>P = √3 · U · I · cosφ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43200"/>
            <a:ext cx="3840480" cy="822960"/>
          </a:xfrm>
          <a:prstGeom prst="roundRect">
            <a:avLst/>
          </a:prstGeom>
          <a:solidFill>
            <a:srgbClr val="FFF2E6"/>
          </a:solidFill>
          <a:ln w="17780">
            <a:solidFill>
              <a:srgbClr val="E978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E97816"/>
                </a:solidFill>
              </a:defRPr>
            </a:pPr>
            <a:r>
              <a:t>Pvesz = I² ·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8308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Ha a feszültség nő, ugyanahhoz a teljesítményhez kisebb áram kell.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A veszteség az áram négyzetével arányos.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Ezért gazdaságos a nagy távolságú nagyfeszültségű átvitel.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5074920"/>
            <a:ext cx="6858000" cy="640080"/>
          </a:xfrm>
          <a:prstGeom prst="roundRect">
            <a:avLst/>
          </a:prstGeom>
          <a:solidFill>
            <a:srgbClr val="28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Nagyobb U → kisebb I → kisebb veszteség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Számítási példa: 10 MW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cosφ = 1 közelítéssel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557784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03720" y="1737360"/>
            <a:ext cx="38404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400" b="1">
                <a:solidFill>
                  <a:srgbClr val="173A5E"/>
                </a:solidFill>
              </a:defRPr>
            </a:pPr>
            <a:r>
              <a:t>Következtetés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377440"/>
            <a:ext cx="4206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20 kV-on még nagy az áram.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120 kV-on már töredékére csökken.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400 kV-on a legkisebb.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A veszteségcsökkenés ezért nagyon jelentős.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Alállomás: a hálózat csomópontja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Kapcsolás, transzformálás, mérés és védelem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00600" y="2606040"/>
            <a:ext cx="2377440" cy="914400"/>
          </a:xfrm>
          <a:prstGeom prst="roundRect">
            <a:avLst/>
          </a:prstGeom>
          <a:solidFill>
            <a:srgbClr val="173A5E"/>
          </a:solidFill>
          <a:ln w="17780">
            <a:solidFill>
              <a:srgbClr val="173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ALÁLLOMÁS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2880360" y="1920240"/>
            <a:ext cx="3108960" cy="114300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989320" y="1920240"/>
            <a:ext cx="2697480" cy="114300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560320" y="3063240"/>
            <a:ext cx="3429000" cy="150876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3063240"/>
            <a:ext cx="2926080" cy="150876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5852160" y="3063240"/>
            <a:ext cx="137160" cy="242316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28800" y="1508760"/>
            <a:ext cx="210312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3A5E"/>
                </a:solidFill>
              </a:defRPr>
            </a:pPr>
            <a:r>
              <a:t>Transzformátor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508760"/>
            <a:ext cx="210312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3A5E"/>
                </a:solidFill>
              </a:defRPr>
            </a:pPr>
            <a:r>
              <a:t>Megszakító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4160520"/>
            <a:ext cx="210312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3A5E"/>
                </a:solidFill>
              </a:defRPr>
            </a:pPr>
            <a:r>
              <a:t>Szakaszoló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160520"/>
            <a:ext cx="210312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3A5E"/>
                </a:solidFill>
              </a:defRPr>
            </a:pPr>
            <a:r>
              <a:t>Mérőváltók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5074920"/>
            <a:ext cx="2103120" cy="822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B7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3A5E"/>
                </a:solidFill>
              </a:defRPr>
            </a:pPr>
            <a:r>
              <a:t>Védelem</a:t>
            </a:r>
            <a:br/>
            <a:r>
              <a:t>és irányítás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080760"/>
            <a:ext cx="104241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500" b="1">
                <a:solidFill>
                  <a:srgbClr val="173A5E"/>
                </a:solidFill>
              </a:defRPr>
            </a:pPr>
            <a:r>
              <a:t>Az alállomás nem csak egy nagy transzformátor: itt történik a hálózat felügyelete és biztonságos kapcsolása.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Átviteli és elosztóhálózat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Két eltérő feladat egy közös rendszerben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83080"/>
            <a:ext cx="4754880" cy="640080"/>
          </a:xfrm>
          <a:prstGeom prst="roundRect">
            <a:avLst/>
          </a:prstGeom>
          <a:solidFill>
            <a:srgbClr val="173A5E"/>
          </a:solidFill>
          <a:ln w="17780">
            <a:solidFill>
              <a:srgbClr val="173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ÁTVITELI HÁLÓZAT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nagy teljesítmények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nagy távolságok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400 kV, 220 kV, 120 kV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országos és nemzetközi kapcsolatok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4754880" cy="640080"/>
          </a:xfrm>
          <a:prstGeom prst="roundRect">
            <a:avLst/>
          </a:prstGeom>
          <a:solidFill>
            <a:srgbClr val="E97816"/>
          </a:solidFill>
          <a:ln w="17780">
            <a:solidFill>
              <a:srgbClr val="E978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ELOSZTÓHÁLÓZAT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74320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fogyasztók közeli ellátása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közép- és kisfeszültség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20 kV és 400/230 V</a:t>
            </a:r>
          </a:p>
          <a:p>
            <a:pPr>
              <a:spcAft>
                <a:spcPts val="900"/>
              </a:spcAft>
              <a:defRPr sz="1900">
                <a:solidFill>
                  <a:srgbClr val="263746"/>
                </a:solidFill>
              </a:defRPr>
            </a:pPr>
            <a:r>
              <a:t>települési, ipari és lakossági hálózat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2103120"/>
            <a:ext cx="731520" cy="0"/>
          </a:xfrm>
          <a:prstGeom prst="line">
            <a:avLst/>
          </a:prstGeom>
          <a:ln w="254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Üzembiztonság és rendszerirányítás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A hálózatot folyamatosan egyensúlyban kell tartani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2834640" cy="960120"/>
          </a:xfrm>
          <a:prstGeom prst="roundRect">
            <a:avLst/>
          </a:prstGeom>
          <a:solidFill>
            <a:srgbClr val="287A52"/>
          </a:solidFill>
          <a:ln w="17780">
            <a:solidFill>
              <a:srgbClr val="287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FFFFFF"/>
                </a:solidFill>
              </a:defRPr>
            </a:pPr>
            <a:r>
              <a:t>TERMELÉS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2194560"/>
            <a:ext cx="2834640" cy="960120"/>
          </a:xfrm>
          <a:prstGeom prst="roundRect">
            <a:avLst/>
          </a:prstGeom>
          <a:solidFill>
            <a:srgbClr val="E97816"/>
          </a:solidFill>
          <a:ln w="17780">
            <a:solidFill>
              <a:srgbClr val="E978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FFFFFF"/>
                </a:solidFill>
              </a:defRPr>
            </a:pPr>
            <a:r>
              <a:t>FOGYASZTÁS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670048"/>
            <a:ext cx="4114801" cy="0"/>
          </a:xfrm>
          <a:prstGeom prst="line">
            <a:avLst/>
          </a:prstGeom>
          <a:ln w="38100">
            <a:solidFill>
              <a:srgbClr val="2B7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54880" y="2240280"/>
            <a:ext cx="2560320" cy="685800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EGYENSÚLY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886200"/>
            <a:ext cx="9784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Ha a termelés és a fogyasztás eltér, romlik a rendszerállapot.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A rendszerirányítás felügyeli a terhelést, tartalékokat és üzemzavarokat.</a:t>
            </a:r>
          </a:p>
          <a:p>
            <a:pPr>
              <a:spcAft>
                <a:spcPts val="900"/>
              </a:spcAft>
              <a:defRPr sz="2000">
                <a:solidFill>
                  <a:srgbClr val="263746"/>
                </a:solidFill>
              </a:defRPr>
            </a:pPr>
            <a:r>
              <a:t>Cél: folyamatos, biztonságos és gazdaságos ellátás.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2700" b="1">
                <a:solidFill>
                  <a:srgbClr val="173A5E"/>
                </a:solidFill>
              </a:defRPr>
            </a:pPr>
            <a:r>
              <a:t>Mit kell tudni a 3. hét végére?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300" b="0">
                <a:solidFill>
                  <a:srgbClr val="607487"/>
                </a:solidFill>
              </a:defRPr>
            </a:pPr>
            <a:r>
              <a:t>A legfontosabb szakmai mondatok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828800" cy="54864"/>
          </a:xfrm>
          <a:prstGeom prst="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530352" cy="530352"/>
          </a:xfrm>
          <a:prstGeom prst="roundRect">
            <a:avLst/>
          </a:prstGeom>
          <a:solidFill>
            <a:srgbClr val="17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81912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900" b="1">
                <a:solidFill>
                  <a:srgbClr val="263746"/>
                </a:solidFill>
              </a:defRPr>
            </a:pPr>
            <a:r>
              <a:t>A villamosenergia-rendszer termelésből, átvitelből, elosztásból és fogyasztásból áll.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530352" cy="530352"/>
          </a:xfrm>
          <a:prstGeom prst="roundRect">
            <a:avLst/>
          </a:prstGeom>
          <a:solidFill>
            <a:srgbClr val="2B7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33472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900" b="1">
                <a:solidFill>
                  <a:srgbClr val="263746"/>
                </a:solidFill>
              </a:defRPr>
            </a:pPr>
            <a:r>
              <a:t>A nagyfeszültségű átvitel oka a kisebb áram és a kisebb veszteség.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03320"/>
            <a:ext cx="530352" cy="530352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685032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900" b="1">
                <a:solidFill>
                  <a:srgbClr val="263746"/>
                </a:solidFill>
              </a:defRPr>
            </a:pPr>
            <a:r>
              <a:t>Az alállomás kapcsolási, védelmi, mérési és transzformálási csomópont.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54879"/>
            <a:ext cx="530352" cy="530352"/>
          </a:xfrm>
          <a:prstGeom prst="roundRect">
            <a:avLst/>
          </a:prstGeom>
          <a:solidFill>
            <a:srgbClr val="28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736592"/>
            <a:ext cx="96926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defRPr sz="1900" b="1">
                <a:solidFill>
                  <a:srgbClr val="263746"/>
                </a:solidFill>
              </a:defRPr>
            </a:pPr>
            <a:r>
              <a:t>A rendszerirányítás feladata az egyensúly és az üzembiztonság fenntartása.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6510528"/>
            <a:ext cx="29260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800" b="0">
                <a:solidFill>
                  <a:srgbClr val="607487"/>
                </a:solidFill>
              </a:defRPr>
            </a:pPr>
            <a:r>
              <a:t>IAP • Villamos művek • 13. évfolyam • 3. hét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Következő hét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011680"/>
            <a:ext cx="96926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700" b="1">
                <a:solidFill>
                  <a:srgbClr val="CFE4F5"/>
                </a:solidFill>
              </a:defRPr>
            </a:pPr>
            <a:r>
              <a:t>Erőművi generátorok és blokktranszformátorok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3154680"/>
            <a:ext cx="8503920" cy="640080"/>
          </a:xfrm>
          <a:prstGeom prst="roundRect">
            <a:avLst/>
          </a:prstGeom>
          <a:solidFill>
            <a:srgbClr val="E978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hogyan csatlakozik egy nagy termelőegység az országos hálózathoz?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80760"/>
            <a:ext cx="996696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600" b="0">
                <a:solidFill>
                  <a:srgbClr val="CFE4F5"/>
                </a:solidFill>
              </a:defRPr>
            </a:pPr>
            <a:r>
              <a:t>IAP • Villamos művek • 13. évfolyam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