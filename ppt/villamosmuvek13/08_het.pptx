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7899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>
                <a:solidFill>
                  <a:srgbClr val="CFE4F5"/>
                </a:solidFill>
                <a:latin typeface="DejaVu Sans"/>
              </a:defRPr>
            </a:pPr>
            <a:r>
              <a:t>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Alállomási kapcsolási sémák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0">
                <a:solidFill>
                  <a:srgbClr val="CFE4F5"/>
                </a:solidFill>
                <a:latin typeface="DejaVu Sans"/>
              </a:defRPr>
            </a:pPr>
            <a:r>
              <a:t>egyszeres • osztott • kettős gyűjtősín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Miért fontos a kapcsolási séma?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rajz üzemviteli döntéseket hordoz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Megmutatja, hogyan kapcsolódnak a mezők a gyűjtősínhez.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Meghatározza a hiba esetén kieső hálózatrészt.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Befolyásolja a karbantartási lehetőségeket.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bonyolultabb séma nagyobb rugalmasságot adhat, de több készüléket igényel.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3383280" cy="1645920"/>
          </a:xfrm>
          <a:prstGeom prst="roundRect">
            <a:avLst/>
          </a:prstGeom>
          <a:solidFill>
            <a:srgbClr val="173A5E"/>
          </a:solidFill>
          <a:ln w="1905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Kapcsolási séma</a:t>
            </a:r>
            <a:br/>
            <a:r>
              <a:t>=</a:t>
            </a:r>
            <a:br/>
            <a:r>
              <a:t>üzembiztonság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Egyszeres gyűjtősín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Egyszerű, áttekinthető, de kevésbé rugalmas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828800" y="2743200"/>
            <a:ext cx="8595360" cy="0"/>
          </a:xfrm>
          <a:prstGeom prst="line">
            <a:avLst/>
          </a:prstGeom>
          <a:ln w="50800">
            <a:solidFill>
              <a:srgbClr val="17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09160" y="2304288"/>
            <a:ext cx="28346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73A5E"/>
                </a:solidFill>
                <a:latin typeface="DejaVu Sans"/>
              </a:defRPr>
            </a:pPr>
            <a:r>
              <a:t>GYŰJTŐSÍN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743200"/>
            <a:ext cx="0" cy="141732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91640" y="416052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Vezeték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2743200"/>
            <a:ext cx="0" cy="141732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416052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Transzformátor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743200"/>
            <a:ext cx="0" cy="141732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95160" y="416052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Vezeték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Előny: egyszerű és olcsó.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Korlát: gyűjtősínhiba nagy kiesést okozhat.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Osztott gyűjtősín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hiba vagy karbantartás hatása csökkenthető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80160" y="2606040"/>
            <a:ext cx="4023360" cy="0"/>
          </a:xfrm>
          <a:prstGeom prst="line">
            <a:avLst/>
          </a:prstGeom>
          <a:ln w="50800">
            <a:solidFill>
              <a:srgbClr val="17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75120" y="2606040"/>
            <a:ext cx="4023360" cy="0"/>
          </a:xfrm>
          <a:prstGeom prst="line">
            <a:avLst/>
          </a:prstGeom>
          <a:ln w="50800">
            <a:solidFill>
              <a:srgbClr val="17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49240" y="2148840"/>
            <a:ext cx="1234440" cy="914400"/>
          </a:xfrm>
          <a:prstGeom prst="roundRect">
            <a:avLst/>
          </a:prstGeom>
          <a:solidFill>
            <a:srgbClr val="E97816"/>
          </a:solidFill>
          <a:ln w="1905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Összekötő</a:t>
            </a:r>
            <a:br/>
            <a:r>
              <a:t>mező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0" y="2606040"/>
            <a:ext cx="45720" cy="0"/>
          </a:xfrm>
          <a:prstGeom prst="line">
            <a:avLst/>
          </a:prstGeom>
          <a:ln w="25400">
            <a:solidFill>
              <a:srgbClr val="E97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80" y="2606040"/>
            <a:ext cx="91440" cy="0"/>
          </a:xfrm>
          <a:prstGeom prst="line">
            <a:avLst/>
          </a:prstGeom>
          <a:ln w="25400">
            <a:solidFill>
              <a:srgbClr val="E97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86000" y="2606040"/>
            <a:ext cx="0" cy="128016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91640" y="3886200"/>
            <a:ext cx="1188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3A5E"/>
                </a:solidFill>
                <a:latin typeface="DejaVu Sans"/>
              </a:defRPr>
            </a:pPr>
            <a:r>
              <a:t>Mező 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606040"/>
            <a:ext cx="0" cy="128016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3886200"/>
            <a:ext cx="1188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3A5E"/>
                </a:solidFill>
                <a:latin typeface="DejaVu Sans"/>
              </a:defRPr>
            </a:pPr>
            <a:r>
              <a:t>Mező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2606040"/>
            <a:ext cx="0" cy="128016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78040" y="3886200"/>
            <a:ext cx="1188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3A5E"/>
                </a:solidFill>
                <a:latin typeface="DejaVu Sans"/>
              </a:defRPr>
            </a:pPr>
            <a:r>
              <a:t>Mező 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0" y="2606040"/>
            <a:ext cx="0" cy="128016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15400" y="3886200"/>
            <a:ext cx="1188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3A5E"/>
                </a:solidFill>
                <a:latin typeface="DejaVu Sans"/>
              </a:defRPr>
            </a:pPr>
            <a:r>
              <a:t>Mező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332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100" b="1">
                <a:solidFill>
                  <a:srgbClr val="173A5E"/>
                </a:solidFill>
                <a:latin typeface="DejaVu Sans"/>
              </a:defRPr>
            </a:pPr>
            <a:r>
              <a:t>Gyűjtősín-szakaszokra bontás: kisebb kiesés, jobb karbantarthatóság.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Kettős gyűjtősín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Rugalmas átkapcsolási lehetőség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80160" y="2148840"/>
            <a:ext cx="9509760" cy="0"/>
          </a:xfrm>
          <a:prstGeom prst="line">
            <a:avLst/>
          </a:prstGeom>
          <a:ln w="50800">
            <a:solidFill>
              <a:srgbClr val="17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0" y="1755648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I. gyűjtősín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3703320"/>
            <a:ext cx="9509760" cy="0"/>
          </a:xfrm>
          <a:prstGeom prst="line">
            <a:avLst/>
          </a:prstGeom>
          <a:ln w="50800">
            <a:solidFill>
              <a:srgbClr val="28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3886200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287A52"/>
                </a:solidFill>
                <a:latin typeface="DejaVu Sans"/>
              </a:defRPr>
            </a:pPr>
            <a:r>
              <a:t>II. gyűjtősín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148840"/>
            <a:ext cx="0" cy="155448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4572000"/>
            <a:ext cx="14630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Vezeték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3703320"/>
            <a:ext cx="0" cy="86868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2148840"/>
            <a:ext cx="0" cy="155448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60" y="4572000"/>
            <a:ext cx="14630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Trafó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3703320"/>
            <a:ext cx="0" cy="86868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95360" y="2148840"/>
            <a:ext cx="0" cy="155448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63840" y="4572000"/>
            <a:ext cx="14630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Vezeték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3703320"/>
            <a:ext cx="0" cy="86868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173A5E"/>
                </a:solidFill>
                <a:latin typeface="DejaVu Sans"/>
              </a:defRPr>
            </a:pPr>
            <a:r>
              <a:t>Egy mező üzemi helyzettől függően egyik vagy másik gyűjtősínhez kapcsolható.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Összehasonlítás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Nincs minden helyzetben egyetlen legjobb séma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91640"/>
            <a:ext cx="2103120" cy="731520"/>
          </a:xfrm>
          <a:prstGeom prst="roundRect">
            <a:avLst/>
          </a:prstGeom>
          <a:solidFill>
            <a:srgbClr val="173A5E"/>
          </a:solidFill>
          <a:ln w="1905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Egyszeres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9260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263746"/>
                </a:solidFill>
                <a:latin typeface="DejaVu Sans"/>
              </a:defRPr>
            </a:pPr>
            <a:r>
              <a:t>olcsó, egyszerű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32918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607487"/>
                </a:solidFill>
                <a:latin typeface="DejaVu Sans"/>
              </a:defRPr>
            </a:pPr>
            <a:r>
              <a:t>kevésbé rugalmas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26080"/>
            <a:ext cx="2103120" cy="731520"/>
          </a:xfrm>
          <a:prstGeom prst="roundRect">
            <a:avLst/>
          </a:prstGeom>
          <a:solidFill>
            <a:srgbClr val="2B78B8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Osztott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63240"/>
            <a:ext cx="29260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263746"/>
                </a:solidFill>
                <a:latin typeface="DejaVu Sans"/>
              </a:defRPr>
            </a:pPr>
            <a:r>
              <a:t>részleges kiesés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063240"/>
            <a:ext cx="32918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607487"/>
                </a:solidFill>
                <a:latin typeface="DejaVu Sans"/>
              </a:defRPr>
            </a:pPr>
            <a:r>
              <a:t>több készülék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160520"/>
            <a:ext cx="2103120" cy="731520"/>
          </a:xfrm>
          <a:prstGeom prst="roundRect">
            <a:avLst/>
          </a:prstGeom>
          <a:solidFill>
            <a:srgbClr val="287A52"/>
          </a:solidFill>
          <a:ln w="1905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Kettős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97680"/>
            <a:ext cx="29260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263746"/>
                </a:solidFill>
                <a:latin typeface="DejaVu Sans"/>
              </a:defRPr>
            </a:pPr>
            <a:r>
              <a:t>nagy rugalmasság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297680"/>
            <a:ext cx="32918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607487"/>
                </a:solidFill>
                <a:latin typeface="DejaVu Sans"/>
              </a:defRPr>
            </a:pPr>
            <a:r>
              <a:t>drágább, bonyolultabb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Kapcsolási döntés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Mit kell mérlegelni?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Mekkora fogyasztói kör esik ki hiba esetén?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Lehet-e karbantartani üzemi tartalékkal?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Szükséges-e gyors átkapcsolási lehetőség?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Mennyire összetett a védelem és a reteszelés?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Indokolt-e a magasabb beruházási költség?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Egyvonalas rajz olvasása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Lépésről lépésre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691640" cy="914400"/>
          </a:xfrm>
          <a:prstGeom prst="roundRect">
            <a:avLst/>
          </a:prstGeom>
          <a:solidFill>
            <a:srgbClr val="173A5E"/>
          </a:solidFill>
          <a:ln w="1905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1. gyűjtősín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2011680"/>
            <a:ext cx="1691640" cy="914400"/>
          </a:xfrm>
          <a:prstGeom prst="roundRect">
            <a:avLst/>
          </a:prstGeom>
          <a:solidFill>
            <a:srgbClr val="2B78B8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2. mezők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011680"/>
            <a:ext cx="1691640" cy="914400"/>
          </a:xfrm>
          <a:prstGeom prst="roundRect">
            <a:avLst/>
          </a:prstGeom>
          <a:solidFill>
            <a:srgbClr val="E97816"/>
          </a:solidFill>
          <a:ln w="1905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3. kapcsolók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011680"/>
            <a:ext cx="1691640" cy="914400"/>
          </a:xfrm>
          <a:prstGeom prst="roundRect">
            <a:avLst/>
          </a:prstGeom>
          <a:solidFill>
            <a:srgbClr val="287A52"/>
          </a:solidFill>
          <a:ln w="1905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4. mérőváltók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011680"/>
            <a:ext cx="1691640" cy="914400"/>
          </a:xfrm>
          <a:prstGeom prst="roundRect">
            <a:avLst/>
          </a:prstGeom>
          <a:solidFill>
            <a:srgbClr val="BE9114"/>
          </a:solidFill>
          <a:ln w="19050">
            <a:solidFill>
              <a:srgbClr val="BE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5. üzemállapot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996696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300" b="1">
                <a:solidFill>
                  <a:srgbClr val="173A5E"/>
                </a:solidFill>
                <a:latin typeface="DejaVu Sans"/>
              </a:defRPr>
            </a:pPr>
            <a:r>
              <a:t>Először a fő csomópontot keresd, utána a mezőket és a kapcsolási lehetőségeket.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Mit kell tudni a 8. hét végére?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gyűjtősín-rendszer üzembiztonsági kérdés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Az egyszeres gyűjtősín egyszerű, de hiba esetén nagyobb kiesést okozhat.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Az osztott gyűjtősín javítja a karbantarthatóságot.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A kettős gyűjtősín nagyobb rugalmasságot ad.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A bonyolultabb séma több készüléket és pontosabb reteszelést igényel.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A választást mindig az üzemviteli igény indokolja.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473952"/>
            <a:ext cx="3337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8.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DejaVu Sans"/>
              </a:defRPr>
            </a:pPr>
            <a:r>
              <a:t>9.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CFE4F5"/>
                </a:solidFill>
                <a:latin typeface="DejaVu Sans"/>
              </a:defRPr>
            </a:pPr>
            <a:r>
              <a:t>Védelmi rendszerek és relévédelem alapjai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DejaVu Sans"/>
              </a:defRPr>
            </a:pPr>
            <a:r>
              <a:t>zárlat • túláram • földzárlat • védelmi jel • megszakító-kioldás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