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9436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94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30. HÉT • 2 TANÓRA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594360"/>
            <a:ext cx="2834640" cy="384048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360" y="694944"/>
            <a:ext cx="2834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ENERGIAGAZDÁLKODÁS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Energiahatékonyság</a:t>
            </a:r>
            <a:br/>
            <a:r>
              <a:t>ipari fogyasztóknál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5468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ADFEE"/>
                </a:solidFill>
                <a:latin typeface="Aptos"/>
              </a:defRPr>
            </a:pPr>
            <a:r>
              <a:t>motor • frekvenciaváltó • szivattyú</a:t>
            </a:r>
            <a:br/>
            <a:r>
              <a:t>• ventilátor • kompresszor • világítás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011680"/>
            <a:ext cx="960120" cy="960120"/>
          </a:xfrm>
          <a:prstGeom prst="round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66760" y="2487168"/>
            <a:ext cx="24688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011680"/>
            <a:ext cx="960120" cy="96012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0" y="2487168"/>
            <a:ext cx="246888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75520" y="2011680"/>
            <a:ext cx="960120" cy="960120"/>
          </a:xfrm>
          <a:prstGeom prst="round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0" y="2350008"/>
            <a:ext cx="960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79" y="4251960"/>
            <a:ext cx="3474721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26679" y="3749040"/>
            <a:ext cx="457200" cy="5029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3337560"/>
            <a:ext cx="457200" cy="91440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2880360"/>
            <a:ext cx="457200" cy="137160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21240" y="2377440"/>
            <a:ext cx="457200" cy="1874519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Energiagazdálkodás • 8/10.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géptől a teljes rendszer energiahatékonyságáig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1. tanóra • Fő fogyasztók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motorok és hajtások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szivattyúk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ventilátorok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sűrített levegő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mérés és munkapont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2. tanóra • Optimalizálás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világítás és segédüzem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üresjárat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automatizálás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karbantartás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intézkedési sorrend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Rendszerhatékonyság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elég csak a motor adattábláját nézni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05740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5388"/>
                </a:solidFill>
                <a:latin typeface="Aptos"/>
              </a:defRPr>
            </a:pPr>
            <a:r>
              <a:t>HÁLÓZAT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87752" y="205740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B5C9B"/>
                </a:solidFill>
                <a:latin typeface="Aptos"/>
              </a:defRPr>
            </a:pPr>
            <a:r>
              <a:t>VFD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53712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46904" y="205740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6632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B7E8"/>
                </a:solidFill>
                <a:latin typeface="Aptos"/>
              </a:defRPr>
            </a:pPr>
            <a:r>
              <a:t>MOTOR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12864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06056" y="205740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5783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08931"/>
                </a:solidFill>
                <a:latin typeface="Aptos"/>
              </a:defRPr>
            </a:pPr>
            <a:r>
              <a:t>HAJTOTT GÉP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72016" y="2788920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65208" y="205740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74936" y="254203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88B66"/>
                </a:solidFill>
                <a:latin typeface="Aptos"/>
              </a:defRPr>
            </a:pPr>
            <a:r>
              <a:t>TECHNOLÓGIA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4480560"/>
            <a:ext cx="9509760" cy="68580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4690872"/>
            <a:ext cx="9052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40" b="1">
                <a:solidFill>
                  <a:srgbClr val="06192C"/>
                </a:solidFill>
                <a:latin typeface="Aptos"/>
              </a:defRPr>
            </a:pPr>
            <a:r>
              <a:t>A teljes rendszer veszteségét és a szükséges technológiai munkát együtt vizsgáljuk.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Motorok: előbb mérjünk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motorcsere nem automatikusan a legjobb első lépés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áram és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cos 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üzemóra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terhelés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hőmérséklet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ÁLLAPOT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csapágy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hűtés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feszültség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méretezés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hajtott gép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DÖNTÉS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beállítás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karbantartás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szabályozás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átméretezés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csere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Szivattyú és ventilátor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Részterhelésen a fordulatszám-szabályozás nagy lehetőség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4389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11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8931"/>
                </a:solidFill>
                <a:latin typeface="Aptos"/>
              </a:defRPr>
            </a:pPr>
            <a:r>
              <a:t>FOJTÁS / CSAPPANTYÚ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3108960"/>
            <a:ext cx="3017520" cy="0"/>
          </a:xfrm>
          <a:prstGeom prst="line">
            <a:avLst/>
          </a:prstGeom>
          <a:ln w="635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>
            <a:off x="2926080" y="2697480"/>
            <a:ext cx="640080" cy="822960"/>
          </a:xfrm>
          <a:prstGeom prst="triangl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06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8931"/>
                </a:solidFill>
                <a:latin typeface="Aptos"/>
              </a:defRPr>
            </a:pPr>
            <a:r>
              <a:t>A gép termel → a rendszer elvesz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691640"/>
            <a:ext cx="4389120" cy="356616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0116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FORDULATSZÁM-SZABÁLYOZÁS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743200"/>
            <a:ext cx="1005840" cy="73152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999232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VFD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0" y="3108960"/>
            <a:ext cx="2194560" cy="0"/>
          </a:xfrm>
          <a:prstGeom prst="line">
            <a:avLst/>
          </a:prstGeom>
          <a:ln w="50800">
            <a:solidFill>
              <a:srgbClr val="288B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78040" y="4206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A gép a szükséglethez igazodik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Affinitási törvények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Ideális szemléltetés szivattyúknál és ventilátoroknál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1089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9B7E8"/>
                </a:solidFill>
                <a:latin typeface="Aptos"/>
              </a:defRPr>
            </a:pPr>
            <a:r>
              <a:t>Térfogatáram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9B7E8"/>
                </a:solidFill>
                <a:latin typeface="Aptos"/>
              </a:defRPr>
            </a:pPr>
            <a:r>
              <a:t>Q ∝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28800"/>
            <a:ext cx="31089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25388"/>
                </a:solidFill>
                <a:latin typeface="Aptos"/>
              </a:defRPr>
            </a:pPr>
            <a:r>
              <a:t>Nyomás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5388"/>
                </a:solidFill>
                <a:latin typeface="Aptos"/>
              </a:defRPr>
            </a:pPr>
            <a:r>
              <a:t>H ∝ n²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1089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P ∝ n³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5074920"/>
            <a:ext cx="832104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25780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80% fordulatszám → ideális közelítésben P ≈ 0,8³ = 51,2%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Sűrített levegő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szivárgás és a túl nagy nyomás folyamatos költséget okozhat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VESZTESÉG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szivárgás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túl nagy nyomás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felesleges fúvatás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üresjárat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kompresszor 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nyomás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üzemóra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terhelési ciklus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éjszakai fogyasztás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BEAVATKOZÁS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szivárgásjavítás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nyomásoptimalizálás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vezérlés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tárolás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hálózatjavítás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Éjszakai alapterhelés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Termelés nélkül is láthatóvá válik, mi marad bekapcsolva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5212080"/>
            <a:ext cx="10241280" cy="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" y="1645920"/>
            <a:ext cx="0" cy="3566160"/>
          </a:xfrm>
          <a:prstGeom prst="line">
            <a:avLst/>
          </a:prstGeom>
          <a:ln w="19050">
            <a:solidFill>
              <a:srgbClr val="061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" y="4480560"/>
            <a:ext cx="100584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828800" y="2743200"/>
            <a:ext cx="0" cy="173736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2743200"/>
            <a:ext cx="1828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657600" y="2011680"/>
            <a:ext cx="0" cy="7315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2011680"/>
            <a:ext cx="292608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2011680"/>
            <a:ext cx="0" cy="210312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583680" y="4114800"/>
            <a:ext cx="182880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412480" y="4114800"/>
            <a:ext cx="0" cy="45720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12480" y="4572000"/>
            <a:ext cx="2560320" cy="0"/>
          </a:xfrm>
          <a:prstGeom prst="line">
            <a:avLst/>
          </a:prstGeom>
          <a:ln w="381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188720" y="4617720"/>
            <a:ext cx="2743200" cy="411480"/>
          </a:xfrm>
          <a:prstGeom prst="roundRect">
            <a:avLst/>
          </a:prstGeom>
          <a:solidFill>
            <a:srgbClr val="FCEFED"/>
          </a:solidFill>
          <a:ln>
            <a:solidFill>
              <a:srgbClr val="BE43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7274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" b="1">
                <a:solidFill>
                  <a:srgbClr val="BE433F"/>
                </a:solidFill>
                <a:latin typeface="Aptos"/>
              </a:defRPr>
            </a:pPr>
            <a:r>
              <a:t>ÉJSZAKAI ALAPTERHELÉS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371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787"/>
                </a:solidFill>
                <a:latin typeface="Aptos"/>
              </a:defRPr>
            </a:pPr>
            <a:r>
              <a:t>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52760" y="5349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67787"/>
                </a:solidFill>
                <a:latin typeface="Aptos"/>
              </a:defRPr>
            </a:pPr>
            <a:r>
              <a:t>idő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Világítás és segédüzem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szükséges szolgáltatási szintet kell gazdaságosan biztosítani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08760"/>
            <a:ext cx="73152" cy="438912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VILÁGÍTÁS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megfelelő lux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LED / hatásosság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zónák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nappali fény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jelenlét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508760"/>
            <a:ext cx="73152" cy="438912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SEGÉDÜZEM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hűtés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elszívás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szivattyúk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HVAC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UPS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1508760"/>
            <a:ext cx="3520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1508760"/>
            <a:ext cx="73152" cy="438912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19" y="1691639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2221991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időprogram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697479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igényjel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17296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PLC állapot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64845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hőmérséklet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23944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késleltetés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Karbantartás = energiahatékonyság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műszaki állapot közvetlenül befolyásolja a fogyasztást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08931"/>
                </a:solidFill>
                <a:latin typeface="Aptos"/>
              </a:defRPr>
            </a:pPr>
            <a:r>
              <a:t>SZŰRŐ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eltömődött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E433F"/>
                </a:solidFill>
                <a:latin typeface="Aptos"/>
              </a:defRPr>
            </a:pPr>
            <a:r>
              <a:t>CSAPÁGY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kopott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5C9B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laza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HŐCSERÉLŐ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szennyezett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SZIVÁRGÁS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folyamatos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611880"/>
            <a:ext cx="31089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8862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88B66"/>
                </a:solidFill>
                <a:latin typeface="Aptos"/>
              </a:defRPr>
            </a:pPr>
            <a:r>
              <a:t>SZABÁLYOZÓ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165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192C"/>
                </a:solidFill>
                <a:latin typeface="Aptos"/>
              </a:defRPr>
            </a:pPr>
            <a:r>
              <a:t>rossz beállítás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Mérési 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villamos adatot össze kell kötni a technológiai adattal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4206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73152" cy="42976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67712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kWh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18688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94176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cos 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69664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üzemóra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1554480"/>
            <a:ext cx="4206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155448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173736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192C"/>
                </a:solidFill>
                <a:latin typeface="Aptos"/>
              </a:defRPr>
            </a:pPr>
            <a:r>
              <a:t>TECHNOLÓGIAI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67712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nyomás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743200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térfogatáram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218688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hőmérséklet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694176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fordulatszám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169664"/>
            <a:ext cx="36758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60" b="0">
                <a:solidFill>
                  <a:srgbClr val="233343"/>
                </a:solidFill>
                <a:latin typeface="Aptos"/>
              </a:defRPr>
            </a:pPr>
            <a:r>
              <a:t>• termelés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74920" y="3657600"/>
            <a:ext cx="1965960" cy="0"/>
          </a:xfrm>
          <a:prstGeom prst="line">
            <a:avLst/>
          </a:prstGeom>
          <a:ln w="50800">
            <a:solidFill>
              <a:srgbClr val="5B5C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074920" y="2880360"/>
            <a:ext cx="1965960" cy="640080"/>
          </a:xfrm>
          <a:prstGeom prst="round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309067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IDŐBÉLYEG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Intézkedési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olcsó és gyors lehetőségektől a beruházásig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978407" y="1737360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88B66"/>
                </a:solidFill>
                <a:latin typeface="Aptos"/>
              </a:defRPr>
            </a:pPr>
            <a:r>
              <a:t>ÜZEMIDŐ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10128" y="1737360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29B7E8"/>
                </a:solidFill>
                <a:latin typeface="Aptos"/>
              </a:defRPr>
            </a:pPr>
            <a:r>
              <a:t>BEÁLLÍTÁS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0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641847" y="1737360"/>
            <a:ext cx="594360" cy="59436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4184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7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125388"/>
                </a:solidFill>
                <a:latin typeface="Aptos"/>
              </a:defRPr>
            </a:pPr>
            <a:r>
              <a:t>KARBANTARTÁS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19" y="3273552"/>
            <a:ext cx="292608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73567" y="1737360"/>
            <a:ext cx="594360" cy="5943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73567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19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5B5C9B"/>
                </a:solidFill>
                <a:latin typeface="Aptos"/>
              </a:defRPr>
            </a:pPr>
            <a:r>
              <a:t>SZABÁLYOZÁS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35440" y="3273552"/>
            <a:ext cx="292607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305288" y="1737360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05288" y="1920240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19" y="2560320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56647" y="2971800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08931"/>
                </a:solidFill>
                <a:latin typeface="Aptos"/>
              </a:defRPr>
            </a:pPr>
            <a:r>
              <a:t>KORSZERŰSÍTÉS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00600"/>
            <a:ext cx="987552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4983480"/>
            <a:ext cx="9509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20" b="1">
                <a:solidFill>
                  <a:srgbClr val="06192C"/>
                </a:solidFill>
                <a:latin typeface="Aptos"/>
              </a:defRPr>
            </a:pPr>
            <a:r>
              <a:t>Minden beavatkozás után: visszamérés és a technológiai eredmény ellenőrzése.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30.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Az energiahatékonyságot a teljes rendszerben kell vizsgálni.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Szivattyúknál és ventilátoroknál a fordulatszám-szabályozás nagy lehetőség lehet.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Sűrített levegőnél a szivárgás és a szükségtelenül nagy nyomás tipikus veszteség.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Az automatizálás az üzemidőt és a teljesítményt a tényleges igényhez kötheti.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10" b="1">
                <a:solidFill>
                  <a:srgbClr val="06192C"/>
                </a:solidFill>
                <a:latin typeface="Aptos"/>
              </a:defRPr>
            </a:pPr>
            <a:r>
              <a:t>Mérés → egyszerű hibák → optimalizálás → beruházás → visszamérés.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31. hét → Energiagazdálkodás, monitoring és terhelésmenedzsment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