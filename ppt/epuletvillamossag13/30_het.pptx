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46304" cy="5394960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DC6E7"/>
                </a:solidFill>
                <a:latin typeface="Aptos"/>
              </a:defRPr>
            </a:pPr>
            <a:r>
              <a:t>IAP • 30. HÉT • ÚJ TÉMAKÖR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996696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 Display"/>
              </a:defRPr>
            </a:pPr>
            <a:r>
              <a:t>Épületek informatikai</a:t>
            </a:r>
            <a:br/>
            <a:r>
              <a:t>rendszereinek felépítése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971800"/>
            <a:ext cx="8961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4. témakör • Épületek informatikai rendszerei • 17 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4343400"/>
            <a:ext cx="914400" cy="73152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42048" y="4434840"/>
            <a:ext cx="6949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4343400"/>
            <a:ext cx="914400" cy="73152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22207" y="4434840"/>
            <a:ext cx="6949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Wi-Fi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4343400"/>
            <a:ext cx="914400" cy="73152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02367" y="4434840"/>
            <a:ext cx="6949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PoE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0" y="4343400"/>
            <a:ext cx="914400" cy="73152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82528" y="4434840"/>
            <a:ext cx="6949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852160"/>
            <a:ext cx="6583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7DC6E7"/>
                </a:solidFill>
                <a:latin typeface="Aptos"/>
              </a:defRPr>
            </a:pPr>
            <a:r>
              <a:t>Az épület ma már energiát és információt is szállít.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ÚJ TÉMAKÖR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Mitől „informatikai” egy modern épület?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965960" cy="20116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395728"/>
            <a:ext cx="174650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74AD"/>
                </a:solidFill>
                <a:latin typeface="Aptos"/>
              </a:defRPr>
            </a:pPr>
            <a:r>
              <a:t>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1600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számítógépes hálózat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103120"/>
            <a:ext cx="1965960" cy="201168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2395728"/>
            <a:ext cx="174650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78758"/>
                </a:solidFill>
                <a:latin typeface="Aptos"/>
              </a:defRPr>
            </a:pPr>
            <a:r>
              <a:t>HANG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63240"/>
            <a:ext cx="1600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VoIP / kaputelefon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2103120"/>
            <a:ext cx="1965960" cy="201168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8" y="2395728"/>
            <a:ext cx="174650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1AA37"/>
                </a:solidFill>
                <a:latin typeface="Aptos"/>
              </a:defRPr>
            </a:pPr>
            <a:r>
              <a:t>KÉP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063240"/>
            <a:ext cx="1600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IP-kamera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103120"/>
            <a:ext cx="1965960" cy="201168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7" y="2395728"/>
            <a:ext cx="174650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BE433F"/>
                </a:solidFill>
                <a:latin typeface="Aptos"/>
              </a:defRPr>
            </a:pPr>
            <a:r>
              <a:t>VEZÉRLÉS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3063240"/>
            <a:ext cx="1600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épületautomatika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2103120"/>
            <a:ext cx="1965960" cy="20116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2395728"/>
            <a:ext cx="174650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74AD"/>
                </a:solidFill>
                <a:latin typeface="Aptos"/>
              </a:defRPr>
            </a:pPr>
            <a:r>
              <a:t>HOZZÁFÉRÉS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3063240"/>
            <a:ext cx="1600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beléptetés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800600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Egyetlen épületben több információs rendszer osztozik a kábelutakon, elosztókon és hálózati eszközökön.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RENDSZERFELÉPÍTÉS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Három réteg: passzív hálózat, aktív eszközök, végpontok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37560" cy="310896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374AD"/>
                </a:solidFill>
                <a:latin typeface="Aptos"/>
              </a:defRPr>
            </a:pPr>
            <a:r>
              <a:t>PASSZÍV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kábel • aljzat • patch panel • rack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920240"/>
            <a:ext cx="3337560" cy="3108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4028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78758"/>
                </a:solidFill>
                <a:latin typeface="Aptos"/>
              </a:defRPr>
            </a:pPr>
            <a:r>
              <a:t>AKTÍV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0632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switch • router • access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920240"/>
            <a:ext cx="3337560" cy="310896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24028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E1AA37"/>
                </a:solidFill>
                <a:latin typeface="Aptos"/>
              </a:defRPr>
            </a:pPr>
            <a:r>
              <a:t>VÉGPONT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0632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PC • kamera • telefon • vezérlő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394960"/>
            <a:ext cx="9052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BE433F"/>
                </a:solidFill>
                <a:latin typeface="Aptos"/>
              </a:defRPr>
            </a:pPr>
            <a:r>
              <a:t>A hibakeresésnél mindig tudd: melyik rétegben keresed a hibát.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TOPOLÓGIA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csillagpont: minden végpont visszatér a központba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2331720"/>
            <a:ext cx="2560320" cy="12344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10328" y="2423160"/>
            <a:ext cx="23408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RACK / SWITCH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2770632"/>
            <a:ext cx="2340863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központi elosztás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05740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920240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PC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1755648" y="2240280"/>
            <a:ext cx="4325112" cy="704088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4023360"/>
            <a:ext cx="205740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114800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IP kamera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755648" y="2944368"/>
            <a:ext cx="4325112" cy="1490472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915400" y="1828800"/>
            <a:ext cx="205740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5128" y="1920240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Access point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80760" y="2240280"/>
            <a:ext cx="3858768" cy="704088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15400" y="4023360"/>
            <a:ext cx="205740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4114800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VoIP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944368"/>
            <a:ext cx="3858768" cy="1490472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800600" y="4800600"/>
            <a:ext cx="205740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0328" y="4892040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Nyomtató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824728" y="2944368"/>
            <a:ext cx="256032" cy="2267712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8800" y="57150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Előny: áttekinthető • bővíthető • könnyebben mérhető és hibakereshető.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KÖZPONT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 van egy hálózati rackben?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3657600" cy="4206240"/>
          </a:xfrm>
          <a:prstGeom prst="rect">
            <a:avLst/>
          </a:prstGeom>
          <a:solidFill>
            <a:srgbClr val="F0F4F7"/>
          </a:solidFill>
          <a:ln>
            <a:solidFill>
              <a:srgbClr val="1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057400"/>
            <a:ext cx="30175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75688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Patch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624328"/>
            <a:ext cx="3017520" cy="384048"/>
          </a:xfrm>
          <a:prstGeom prst="roundRect">
            <a:avLst/>
          </a:prstGeom>
          <a:solidFill>
            <a:srgbClr val="5C7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642616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Kábelrendező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191256"/>
            <a:ext cx="3017520" cy="384048"/>
          </a:xfrm>
          <a:prstGeom prst="round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209544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PoE switch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758183"/>
            <a:ext cx="3017520" cy="384048"/>
          </a:xfrm>
          <a:prstGeom prst="roundRect">
            <a:avLst/>
          </a:prstGeom>
          <a:solidFill>
            <a:srgbClr val="E1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776471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Router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325112"/>
            <a:ext cx="30175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43400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Optikai rendező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892040"/>
            <a:ext cx="30175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910327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UPS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1920240"/>
            <a:ext cx="6035040" cy="9144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2011680"/>
            <a:ext cx="581558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Patch panel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359152"/>
            <a:ext cx="5815583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 végponti kábelek rendezett lezárása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60" y="3154680"/>
            <a:ext cx="6035040" cy="9144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76088" y="3246120"/>
            <a:ext cx="581558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Switch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3593592"/>
            <a:ext cx="5815583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 helyi hálózat összekapcsolása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66360" y="4389120"/>
            <a:ext cx="603504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76088" y="4480560"/>
            <a:ext cx="581558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UPS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4828032"/>
            <a:ext cx="5815583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rövid idejű tartalék táp és védelem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STRUKTURÁLT KÁBELEZÉS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Nem egy készülékhez építjük - az egész épülethez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286000" cy="10972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9456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Fali aljzat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42032"/>
            <a:ext cx="206654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azonosított végpont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103120"/>
            <a:ext cx="2286000" cy="109728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3048" y="219456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Fix kábel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2542032"/>
            <a:ext cx="206654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épület infrastruktúra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103120"/>
            <a:ext cx="2286000" cy="10972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19456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Patch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2542032"/>
            <a:ext cx="206654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rendezett lezárás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2103120"/>
            <a:ext cx="1737360" cy="109728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39528" y="2194560"/>
            <a:ext cx="15179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Switch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39528" y="2542032"/>
            <a:ext cx="151790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aktív kapcsolat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2651760"/>
            <a:ext cx="7772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89320" y="2651760"/>
            <a:ext cx="7772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2651760"/>
            <a:ext cx="7772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463040" y="4389120"/>
            <a:ext cx="9235440" cy="86868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4590288"/>
            <a:ext cx="8778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78758"/>
                </a:solidFill>
                <a:latin typeface="Aptos"/>
              </a:defRPr>
            </a:pPr>
            <a:r>
              <a:t>A szolgáltatás változhat - a jól kialakított kábelezés marad.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ÁTVITELI KÖZEG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Réz vagy optika?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57800" cy="3611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617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374AD"/>
                </a:solidFill>
                <a:latin typeface="Aptos"/>
              </a:defRPr>
            </a:pPr>
            <a:r>
              <a:t>SODROTT ÉRPÁR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434340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• tipikus végponti kábelezés</a:t>
            </a:r>
            <a:br/>
            <a:r>
              <a:t>• egyszerű csatlakoztatás</a:t>
            </a:r>
            <a:br/>
            <a:r>
              <a:t>• PoE lehetőség</a:t>
            </a:r>
            <a:br/>
            <a:r>
              <a:t>• elektromágneses környezetre figyelni kell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74519"/>
            <a:ext cx="5257800" cy="361188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194560"/>
            <a:ext cx="4617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78758"/>
                </a:solidFill>
                <a:latin typeface="Aptos"/>
              </a:defRPr>
            </a:pPr>
            <a:r>
              <a:t>OPTIKAI SZÁL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2880360"/>
            <a:ext cx="434340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• gerinchálózatok</a:t>
            </a:r>
            <a:br/>
            <a:r>
              <a:t>• nagy távolság / sávszélesség</a:t>
            </a:r>
            <a:br/>
            <a:r>
              <a:t>• galvanikus elválasztás</a:t>
            </a:r>
            <a:br/>
            <a:r>
              <a:t>• EMC-zavarokra érzéketlen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AKTÍV HÁLÓZAT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Switch, router, access point - más-más feladat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37560" cy="32004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374AD"/>
                </a:solidFill>
                <a:latin typeface="Aptos"/>
              </a:defRPr>
            </a:pPr>
            <a:r>
              <a:t>SWITCH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helyi Ethernet végpontokat kapcsol össze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920240"/>
            <a:ext cx="3337560" cy="32004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860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E1AA37"/>
                </a:solidFill>
                <a:latin typeface="Aptos"/>
              </a:defRPr>
            </a:pPr>
            <a:r>
              <a:t>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0632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különböző hálózatok között irányít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920240"/>
            <a:ext cx="3337560" cy="32004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2860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78758"/>
                </a:solidFill>
                <a:latin typeface="Aptos"/>
              </a:defRPr>
            </a:pPr>
            <a:r>
              <a:t>ACCESS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0632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Wi-Fi hozzáférést ad a vezetékes hálózathoz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POE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Adat és táp ugyanazon Ethernet-kábelen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2468880" cy="114300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9456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PoE switch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adat + táp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03120"/>
            <a:ext cx="246888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19456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Ethernet kábel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254203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egy fizikai kapcsolat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2103120"/>
            <a:ext cx="246888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7" y="219456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PoE végpont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6567" y="254203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kamera / AP / telefon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54680" y="2679192"/>
            <a:ext cx="1691640" cy="0"/>
          </a:xfrm>
          <a:prstGeom prst="line">
            <a:avLst/>
          </a:prstGeom>
          <a:ln w="635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2679192"/>
            <a:ext cx="1691640" cy="0"/>
          </a:xfrm>
          <a:prstGeom prst="line">
            <a:avLst/>
          </a:prstGeom>
          <a:ln w="635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71600" y="4389120"/>
            <a:ext cx="9418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Kevesebb külön tápegység és egyszerűbb telepítés - de a teljesítményigényt és kompatibilitást tervezni kell.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EGY ÉPÜLET - KÉT INFRASTRUKTÚRA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Erősáram és informatika egymás mellett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166360" cy="324612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BE433F"/>
                </a:solidFill>
                <a:latin typeface="Aptos"/>
              </a:defRPr>
            </a:pPr>
            <a:r>
              <a:t>ERŐSÁRAM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4251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230/400 V</a:t>
            </a:r>
            <a:br/>
            <a:r>
              <a:t>energiaátvitel</a:t>
            </a:r>
            <a:br/>
            <a:r>
              <a:t>kapcsolók • dugaljak • elosztók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965960"/>
            <a:ext cx="5166360" cy="32461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286000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374AD"/>
                </a:solidFill>
                <a:latin typeface="Aptos"/>
              </a:defRPr>
            </a:pPr>
            <a:r>
              <a:t>INFORMATIKA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3017520"/>
            <a:ext cx="4251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adatátvitel</a:t>
            </a:r>
            <a:br/>
            <a:r>
              <a:t>LAN • Wi-Fi • kamera • vezérlés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53212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Nyomvonal • elválasztás • EMC • földelés • karbantarthatóság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ÉPÜLETMODELL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Egy közös hálózat sokféle szolgáltatást hordozhat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2148840"/>
            <a:ext cx="2743200" cy="10972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18888" y="2240280"/>
            <a:ext cx="25237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INFORMATIKAI GERINC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8888" y="2587752"/>
            <a:ext cx="252374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rack + switch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237744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2024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Iroda LAN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1645920" y="2240280"/>
            <a:ext cx="4434840" cy="45720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3931920"/>
            <a:ext cx="237744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023359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Beléptetés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645920" y="2697480"/>
            <a:ext cx="4434840" cy="164592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961120" y="1828800"/>
            <a:ext cx="237744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8" y="192024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IP-kamera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80760" y="2240280"/>
            <a:ext cx="4069080" cy="45720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61120" y="3931920"/>
            <a:ext cx="237744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4023359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Wi-Fi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697480"/>
            <a:ext cx="4069080" cy="164592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09160" y="4754880"/>
            <a:ext cx="237744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484632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Épületautomatika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897880" y="2697480"/>
            <a:ext cx="182880" cy="246888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Ha nincs jelölve, később keresni fogod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96596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39696"/>
            <a:ext cx="187451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Helyiség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1965960" cy="201168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71800" y="2011680"/>
            <a:ext cx="196596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139696"/>
            <a:ext cx="187451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Aljzat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651760"/>
            <a:ext cx="1965960" cy="201168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0" y="2011680"/>
            <a:ext cx="196596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139696"/>
            <a:ext cx="187451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Patch panel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2651760"/>
            <a:ext cx="1965960" cy="201168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52360" y="2011680"/>
            <a:ext cx="196596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2139696"/>
            <a:ext cx="187451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Switch 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651760"/>
            <a:ext cx="1965960" cy="201168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92640" y="2011680"/>
            <a:ext cx="196596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2139696"/>
            <a:ext cx="187451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Szolgáltatás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2651760"/>
            <a:ext cx="1965960" cy="201168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120640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portlista, rack-kiosztás és alaprajz együtt teszi karbantarthatóvá a hálózatot.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Egy PC nem látja a hálózatot - merre indulunk?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331720"/>
            <a:ext cx="1627632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606040"/>
            <a:ext cx="14447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PC hálózati port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47672" y="2999232"/>
            <a:ext cx="310896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25496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6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58568" y="2331720"/>
            <a:ext cx="1627632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0008" y="2606040"/>
            <a:ext cx="14447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Patch kábel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86200" y="2999232"/>
            <a:ext cx="310896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64024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9744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97096" y="2331720"/>
            <a:ext cx="1627632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8536" y="2606040"/>
            <a:ext cx="14447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Fali aljzat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24728" y="2999232"/>
            <a:ext cx="310896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02552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35624" y="2331720"/>
            <a:ext cx="1627632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7064" y="2606040"/>
            <a:ext cx="14447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Fix kábel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63256" y="2999232"/>
            <a:ext cx="310896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641080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4152" y="2331720"/>
            <a:ext cx="1627632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2606040"/>
            <a:ext cx="14447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Patch panel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01784" y="2999232"/>
            <a:ext cx="310896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57960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2532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2331720"/>
            <a:ext cx="1627632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2606040"/>
            <a:ext cx="14447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Switch 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08760" y="4572000"/>
            <a:ext cx="9144000" cy="82296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37360" y="4736592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Fizikai réteg először: csatlakozás → kábel → port → csak utána beállítások.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Öt kulcsgondolat a 30. hétről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Az épületinformatika több szolgáltatást fog össze.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69464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51176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passzív kábelezés és az aktív hálózat külön réteg.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55848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74136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37560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strukturált kábelezés tipikusan csillagpontos.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42232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23944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rack az épület informatikai elosztási központja.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28616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46903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10328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jó dokumentáció ugyanannyira fontos, mint a jó kábelezés.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DC6E7"/>
                </a:solidFill>
                <a:latin typeface="Aptos"/>
              </a:defRPr>
            </a:pPr>
            <a:r>
              <a:t>IAP • 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31.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Strukturált kábelezési</a:t>
            </a:r>
            <a:br/>
            <a:r>
              <a:t>rendszerek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Végpontok • patch panelek • rackek • kábelnyomvonalak • jelölés • szerelési logika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09160"/>
            <a:ext cx="10149840" cy="109728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7DC6E7"/>
                </a:solidFill>
                <a:latin typeface="Aptos"/>
              </a:defRPr>
            </a:pPr>
            <a:r>
              <a:t>végpont → kábel → patch panel → switch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