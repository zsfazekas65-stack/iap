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651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ÉPÜLET-</a:t>
            </a:r>
            <a:br/>
            <a:r>
              <a:t>VILLAMOSSÁGI</a:t>
            </a:r>
            <a:br/>
            <a:r>
              <a:t>HÁLÓZATOK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2286000" cy="384048"/>
          </a:xfrm>
          <a:prstGeom prst="roundRect">
            <a:avLst/>
          </a:prstGeom>
          <a:solidFill>
            <a:srgbClr val="308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21607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13. évfolyam • 3 tanóra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005840"/>
            <a:ext cx="70408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Méretezési alapok:</a:t>
            </a:r>
            <a:br/>
            <a:r>
              <a:t>terhelés, vezeték,</a:t>
            </a:r>
            <a:br/>
            <a:r>
              <a:t>feszültségesés és 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88620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9DCF1"/>
                </a:solidFill>
                <a:latin typeface="Aptos"/>
              </a:defRPr>
            </a:pPr>
            <a:r>
              <a:t>5. hét • Hálózatméretezési alapok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800600"/>
            <a:ext cx="6492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 jó méretezés nem tippelés,</a:t>
            </a:r>
            <a:br/>
            <a:r>
              <a:t>hanem egymásra épülő ellenőrzések sora.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A méretezési gondolkodás felépítése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Terhelésből indulunk, majd vezeték, védelem és ellenőrzések következnek.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075688"/>
            <a:ext cx="50292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9397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84831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Terhelési áram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0916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Egy- és háromfázisú fogyasztók áramának meghatározása.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4807" y="2075688"/>
            <a:ext cx="50292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09397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84831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Vezeték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87752"/>
            <a:ext cx="470916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Keresztmetszet választási logika, szerelési mód, környezet.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3950207"/>
            <a:ext cx="50292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68495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5935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Védelem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470916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Vezeték és kismegszakító összehangolása.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4903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64807" y="3950207"/>
            <a:ext cx="50292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3968495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95935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Feszültségesés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62272"/>
            <a:ext cx="470916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Hossz, keresztmetszet, ellenállás és kapocsfeszültség kapcsolata.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LOGIKAI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Fogyasztótól a dokumentációig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A helyes sorrend segít elkerülni a tipikus tervezési hibát.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615184"/>
            <a:ext cx="96012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Fogyasztó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C6D7C"/>
                </a:solidFill>
                <a:latin typeface="Aptos"/>
              </a:defRPr>
            </a:pPr>
            <a:r>
              <a:t>P és jelleg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816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3317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A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2615184"/>
            <a:ext cx="96012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633472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90672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I számítás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83280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C6D7C"/>
                </a:solidFill>
                <a:latin typeface="Aptos"/>
              </a:defRPr>
            </a:pPr>
            <a:r>
              <a:t>1F / 3F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816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3317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2615184"/>
            <a:ext cx="96012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633472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90672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383280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C6D7C"/>
                </a:solidFill>
                <a:latin typeface="Aptos"/>
              </a:defRPr>
            </a:pPr>
            <a:r>
              <a:t>típus +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2816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3317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2615184"/>
            <a:ext cx="96012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633472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90672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83280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C6D7C"/>
                </a:solidFill>
                <a:latin typeface="Aptos"/>
              </a:defRPr>
            </a:pPr>
            <a:r>
              <a:t>összehangolás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2816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3317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694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2615184"/>
            <a:ext cx="96012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633472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090672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383280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C6D7C"/>
                </a:solidFill>
                <a:latin typeface="Aptos"/>
              </a:defRPr>
            </a:pPr>
            <a:r>
              <a:t>ΔU + zárlat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816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3317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02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24160" y="2615184"/>
            <a:ext cx="960120" cy="384048"/>
          </a:xfrm>
          <a:prstGeom prst="roundRect">
            <a:avLst/>
          </a:prstGeom>
          <a:solidFill>
            <a:srgbClr val="10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2633472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90672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383280"/>
            <a:ext cx="13898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C6D7C"/>
                </a:solidFill>
                <a:latin typeface="Aptos"/>
              </a:defRPr>
            </a:pPr>
            <a:r>
              <a:t>átlátható terv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572000"/>
            <a:ext cx="9692640" cy="685800"/>
          </a:xfrm>
          <a:prstGeom prst="roundRect">
            <a:avLst/>
          </a:prstGeom>
          <a:solidFill>
            <a:srgbClr val="E5F2FA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3040" y="473659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E3C36"/>
                </a:solidFill>
                <a:latin typeface="Aptos"/>
              </a:defRPr>
            </a:pPr>
            <a:r>
              <a:t>Hibás sorrend: kismegszakító választása megszokásból, majd vezeték keresése hozzá.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EGYFÁZISÚ TERHELÉSI 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P = 2300 W, U = 230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Közel ohmos fogyasztónál az áram a teljesítmény és feszültség hányadosa.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57400"/>
            <a:ext cx="99669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F6FAE"/>
                </a:solidFill>
                <a:latin typeface="Aptos Display"/>
              </a:defRPr>
            </a:pPr>
            <a:r>
              <a:t>I = P / 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5C6D7C"/>
                </a:solidFill>
                <a:latin typeface="Aptos Display"/>
              </a:defRPr>
            </a:pPr>
            <a: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4688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0273F"/>
                </a:solidFill>
                <a:latin typeface="Aptos Display"/>
              </a:defRPr>
            </a:pPr>
            <a:r>
              <a:t>2300 / 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4688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5C6D7C"/>
                </a:solidFill>
                <a:latin typeface="Aptos Display"/>
              </a:defRPr>
            </a:pPr>
            <a: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23160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2A7D5F"/>
                </a:solidFill>
                <a:latin typeface="Aptos Display"/>
              </a:defRPr>
            </a:pPr>
            <a:r>
              <a:t>10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3977639"/>
            <a:ext cx="8046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187952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Fontos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690872"/>
            <a:ext cx="7589520" cy="-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Valós váltakozó áramú fogyasztóknál a teljesítménytényezőt és szükség esetén a hatásfokot is vizsgálni kell.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HÁROMFÁZISÚ TERHELÉSI 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P = 11 kW, U = 400 V, cosφ = 0,9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Közel szimmetrikus háromfázisú terhelés egyszerűsített számítása.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10378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F6FAE"/>
                </a:solidFill>
                <a:latin typeface="Aptos Display"/>
              </a:defRPr>
            </a:pPr>
            <a:r>
              <a:t>P = √3 × U × I × cosφ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2608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0273F"/>
                </a:solidFill>
                <a:latin typeface="Aptos Display"/>
              </a:defRPr>
            </a:pPr>
            <a:r>
              <a:t>I = P / (√3 × U × cosφ)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65760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A7D5F"/>
                </a:solidFill>
                <a:latin typeface="Aptos Display"/>
              </a:defRPr>
            </a:pPr>
            <a:r>
              <a:t>I ≈ 11 000 / (1,732 × 400 × 0,9) ≈ 17,6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5349240"/>
            <a:ext cx="246888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5367527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kiindulási érték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VEZETÉK-KERESZTMETSZET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Nem csak az áram számít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A keresztmetszet több feltétel együttes teljesüléséből adódik.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29184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Áramterhelhetőség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329184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Szerelési mód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329184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Környezeti hőmérséklet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51960"/>
            <a:ext cx="329184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Együtt vezetett áramkörök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29184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3852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Feszültségesés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4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1576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Zárlati igénybevétel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474720"/>
            <a:ext cx="329184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49300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Mechanikai követelmények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251960"/>
            <a:ext cx="329184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27024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Védelemmel együttműködés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14884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6974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F6FAE"/>
                </a:solidFill>
                <a:latin typeface="Aptos Display"/>
              </a:defRPr>
            </a:pPr>
            <a:r>
              <a:t>VEZETÉK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291840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273F"/>
                </a:solidFill>
                <a:latin typeface="Aptos"/>
              </a:defRPr>
            </a:pPr>
            <a:r>
              <a:t>típus + keresztmetszet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TERHELHETŐSÉG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Nem állandó szám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Ugyanaz a keresztmetszet más környezetben más árammal terhelhető.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83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Hőszigetelés közelében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33472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rosszabb hőleadás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383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1305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Több vezeték együtt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33472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kölcsönös melegítés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3383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305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Magasabb környezeti hő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33472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csökkenő megengedett terhelés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5166360"/>
            <a:ext cx="8458200" cy="594360"/>
          </a:xfrm>
          <a:prstGeom prst="roundRect">
            <a:avLst/>
          </a:prstGeom>
          <a:solidFill>
            <a:srgbClr val="E5F2FA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5321808"/>
            <a:ext cx="8001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273F"/>
                </a:solidFill>
                <a:latin typeface="Aptos"/>
              </a:defRPr>
            </a:pPr>
            <a:r>
              <a:t>A méretezés mindig az adott létesítés körülményeire érvényes.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FESZÜLTSÉGESÉS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Minél hosszabb a vezeték, annál fontosabb az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Egyszerűsített egyfázisú, ohmos közelítés rézvezetővel.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F6FAE"/>
                </a:solidFill>
                <a:latin typeface="Aptos Display"/>
              </a:defRPr>
            </a:pPr>
            <a:r>
              <a:t>R = ρ × l /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0273F"/>
                </a:solidFill>
                <a:latin typeface="Aptos Display"/>
              </a:defRPr>
            </a:pPr>
            <a:r>
              <a:t>ΔU = I ×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94BA5"/>
                </a:solidFill>
                <a:latin typeface="Aptos Display"/>
              </a:defRPr>
            </a:pPr>
            <a:r>
              <a:t>ΔU% = ΔU / U ×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6812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39112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Miért számít?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42032"/>
            <a:ext cx="6355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Túl nagy feszültségesés esetén a fogyasztó kapocsfeszültsége csökken.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337560"/>
            <a:ext cx="6812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547872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Hol különösen fontos?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050791"/>
            <a:ext cx="6355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Hosszú vezetékeknél, nagyobb áramoknál, érzékeny fogyasztóknál.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16 A, 20 m, 2,5 mm² rézvezető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Egyfázisú körnél az oda-vissza vezetékhosszal számolunk.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442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240280"/>
            <a:ext cx="347472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58568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oda-vissza hossz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76856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22199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0273F"/>
                </a:solidFill>
                <a:latin typeface="Aptos Display"/>
              </a:defRPr>
            </a:pPr>
            <a:r>
              <a:t>40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53512"/>
            <a:ext cx="347472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 ≈ 0,0175 × 40 / 2,5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99008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935224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0273F"/>
                </a:solidFill>
                <a:latin typeface="Aptos Display"/>
              </a:defRPr>
            </a:pPr>
            <a:r>
              <a:t>0,28 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666744"/>
            <a:ext cx="347472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85031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ΔU ≈ 16 × 0,28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7033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648456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0273F"/>
                </a:solidFill>
                <a:latin typeface="Aptos Display"/>
              </a:defRPr>
            </a:pPr>
            <a:r>
              <a:t>4,48 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379976"/>
            <a:ext cx="347472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98264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ΔU% ≈ 4,48 / 230 ×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41655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361688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0273F"/>
                </a:solidFill>
                <a:latin typeface="Aptos Display"/>
              </a:defRPr>
            </a:pPr>
            <a:r>
              <a:t>1,95 %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MŰHELYFELADAT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Méretezz gondolkodva!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230 V-os, 2,5 kW-os fix fogyasztó, 30 m-re az elosztótól.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075688"/>
            <a:ext cx="50292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9397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848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Terhelési áram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Írd le a döntést és az indoklást.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075688"/>
            <a:ext cx="50292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9397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84831"/>
            <a:ext cx="22859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Előzetes keresztmetszet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877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Írd le a döntést és az indoklást.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075688"/>
            <a:ext cx="50292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09397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084831"/>
            <a:ext cx="22859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Szerelési mód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877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Írd le a döntést és az indoklást.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3767328"/>
            <a:ext cx="50292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85615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764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Túláramvédelem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793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Írd le a döntést és az indoklást.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90288" y="3767328"/>
            <a:ext cx="50292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3785615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776472"/>
            <a:ext cx="22859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Feszültségesés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793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Írd le a döntést és az indoklást.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93608" y="3767328"/>
            <a:ext cx="502920" cy="384048"/>
          </a:xfrm>
          <a:prstGeom prst="roundRect">
            <a:avLst/>
          </a:prstGeom>
          <a:solidFill>
            <a:srgbClr val="10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785615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776472"/>
            <a:ext cx="22859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További ellenőrzések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793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12C37"/>
                </a:solidFill>
                <a:latin typeface="Aptos"/>
              </a:defRPr>
            </a:pPr>
            <a:r>
              <a:t>Írd le a döntést és az indoklást.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A méretezés ellenőrzések sorozata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Nem egy keresztmetszet kiválasztása, hanem következetes szakmai gondolkodás.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92024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856231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P, U, cosφ, egyidejűség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97480"/>
            <a:ext cx="192024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1576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24912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keresztmetszet, anyag, szerelési mód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566160"/>
            <a:ext cx="192024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8444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593591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névleges áram és vezeték összehangolása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434840"/>
            <a:ext cx="1920240" cy="384048"/>
          </a:xfrm>
          <a:prstGeom prst="roundRect">
            <a:avLst/>
          </a:prstGeom>
          <a:solidFill>
            <a:srgbClr val="69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53127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462272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feszültségesés, zárlat, lekapcsolás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577840"/>
            <a:ext cx="9326880" cy="594360"/>
          </a:xfrm>
          <a:prstGeom prst="roundRect">
            <a:avLst/>
          </a:prstGeom>
          <a:solidFill>
            <a:srgbClr val="10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5715000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„A jó méretezés egymásra épülő ellenőrzések sorozata.”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5.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