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DCEB"/>
                </a:solidFill>
                <a:latin typeface="Aptos"/>
              </a:defRPr>
            </a:pPr>
            <a:r>
              <a:t>IAP • 33.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9875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Optikai hálózatok</a:t>
            </a:r>
            <a:br/>
            <a:r>
              <a:t>az épületekben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Fényvezetés • single-mode • multimode • csatlakozók • gerinc • mérés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949440" y="4480560"/>
            <a:ext cx="4297680" cy="0"/>
          </a:xfrm>
          <a:prstGeom prst="line">
            <a:avLst/>
          </a:prstGeom>
          <a:ln w="1016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0" y="4736592"/>
            <a:ext cx="4297680" cy="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5852160"/>
            <a:ext cx="6858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DCEB"/>
                </a:solidFill>
                <a:latin typeface="Aptos"/>
              </a:defRPr>
            </a:pPr>
            <a:r>
              <a:t>Ahol a réz már kevés, a fény viszi tovább az adatot.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MIÉRT OPTIKA?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Négy tulajdonság, ami miatt gerinchálózatban erős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30A9C4"/>
                </a:solidFill>
                <a:latin typeface="Aptos"/>
              </a:defRPr>
            </a:pPr>
            <a:r>
              <a:t>SÁVSZÉLESSÉG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nagy adatkapacitás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TÁVOLSÁG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kis csillapítás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EMC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nem érzékeny elektromágneses zavarra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057AB"/>
                </a:solidFill>
                <a:latin typeface="Aptos"/>
              </a:defRPr>
            </a:pPr>
            <a:r>
              <a:t>GALVANIKA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nincs fémes adatvezető kapcsolat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SZÁLFELÉPÍTÉS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fény útja: mag → köpeny → 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23160"/>
            <a:ext cx="9875520" cy="1920240"/>
          </a:xfrm>
          <a:prstGeom prst="rect">
            <a:avLst/>
          </a:prstGeom>
          <a:solidFill>
            <a:srgbClr val="7057AB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743200"/>
            <a:ext cx="9144000" cy="1280160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19" y="3063240"/>
            <a:ext cx="8412480" cy="64008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318211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MAG - fényvezető 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724912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OPTIKAI KÖPENY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95728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VÉDŐRÉTEG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1605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2304D"/>
                </a:solidFill>
                <a:latin typeface="Aptos"/>
              </a:defRPr>
            </a:pPr>
            <a:r>
              <a:t>KÜLSŐ KÁBELKÖPENY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FÉNYVEZETÉS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fény a szál belsejében halad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3017520"/>
          </a:xfrm>
          <a:prstGeom prst="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743200"/>
            <a:ext cx="1828800" cy="132588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926080" y="2514600"/>
            <a:ext cx="1828800" cy="155448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514600"/>
            <a:ext cx="1828800" cy="150876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583680" y="2560320"/>
            <a:ext cx="1828800" cy="146304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2560320"/>
            <a:ext cx="2377440" cy="128016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5257800"/>
            <a:ext cx="9784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Túl szoros hajlítás → a fény egy része elveszhet → nő a csillapítás.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SZÁLTÍPUSOK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Multimode és single-mode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35661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374AD"/>
                </a:solidFill>
                <a:latin typeface="Aptos"/>
              </a:defRPr>
            </a:pPr>
            <a:r>
              <a:t>MULTIMODE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880360"/>
            <a:ext cx="4206240" cy="22860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34440" y="3246120"/>
            <a:ext cx="4206240" cy="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34440" y="3429000"/>
            <a:ext cx="4206240" cy="182880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3000" y="434340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több terjedési mód</a:t>
            </a:r>
            <a:br/>
            <a:r>
              <a:t>épületen belüli kapcsolatok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257800" cy="35661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78758"/>
                </a:solidFill>
                <a:latin typeface="Aptos"/>
              </a:defRPr>
            </a:pPr>
            <a:r>
              <a:t>SINGLE-MODE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3337560"/>
            <a:ext cx="4206240" cy="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29400" y="4343400"/>
            <a:ext cx="4526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egy domináns terjedési mód</a:t>
            </a:r>
            <a:br/>
            <a:r>
              <a:t>nagy távolság / gerinc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ÉPÜLETMODELL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Optikai gerinc a rackek között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33172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MDF / fő 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21122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switch + optikai modul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57400"/>
            <a:ext cx="233172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214884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Optikai gerinc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496312"/>
            <a:ext cx="21122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szintek között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057400"/>
            <a:ext cx="233172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14884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IDF / szinti 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2496312"/>
            <a:ext cx="21122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switch + optikai modul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606040"/>
            <a:ext cx="2011680" cy="0"/>
          </a:xfrm>
          <a:prstGeom prst="line">
            <a:avLst/>
          </a:prstGeom>
          <a:ln w="762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2606040"/>
            <a:ext cx="2011680" cy="0"/>
          </a:xfrm>
          <a:prstGeom prst="line">
            <a:avLst/>
          </a:prstGeom>
          <a:ln w="762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160520"/>
            <a:ext cx="164592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51959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599431"/>
            <a:ext cx="142646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réz végpontok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160520"/>
            <a:ext cx="164592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4251959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4599431"/>
            <a:ext cx="142646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réz végpontok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737360" y="3154680"/>
            <a:ext cx="0" cy="10058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469880" y="3154680"/>
            <a:ext cx="0" cy="10058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Tipikus feladat: a réz végponti hálózatokat optikai gerinc kapcsolja össze.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CSATLAKOZÓK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LC és SC - gyakori épületinformatikai megoldások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4663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30A9C4"/>
                </a:solidFill>
                <a:latin typeface="Aptos"/>
              </a:defRPr>
            </a:pPr>
            <a:r>
              <a:t>LC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926080"/>
            <a:ext cx="2194560" cy="731520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127248"/>
            <a:ext cx="640080" cy="32004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16052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kompakt kialakítás</a:t>
            </a:r>
            <a:br/>
            <a:r>
              <a:t>nagy portsűrűség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4663440" cy="32918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278758"/>
                </a:solidFill>
                <a:latin typeface="Aptos"/>
              </a:defRPr>
            </a:pPr>
            <a:r>
              <a:t>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926080"/>
            <a:ext cx="2194560" cy="731520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60" y="3127248"/>
            <a:ext cx="640080" cy="320040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16052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nagyobb ház</a:t>
            </a:r>
            <a:br/>
            <a:r>
              <a:t>jól kezelhető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 csatlakozó típusa mellett a száltípus és a csiszolási kialakítás is illeszkedjen.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TISZTASÁG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optikai csatlakozó legnagyobb ellensége: a szennyeződés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383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TISZTA HOMLOKFELÜLET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108960"/>
            <a:ext cx="164592" cy="164592"/>
          </a:xfrm>
          <a:prstGeom prst="round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834640"/>
            <a:ext cx="164592" cy="164592"/>
          </a:xfrm>
          <a:prstGeom prst="round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3383280"/>
            <a:ext cx="164592" cy="164592"/>
          </a:xfrm>
          <a:prstGeom prst="round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926080"/>
            <a:ext cx="164592" cy="164592"/>
          </a:xfrm>
          <a:prstGeom prst="round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alacsonyabb veszteség • stabil kapcsolat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212080" cy="338328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SZENNYEZETT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834640"/>
            <a:ext cx="274320" cy="274320"/>
          </a:xfrm>
          <a:prstGeom prst="round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474720"/>
            <a:ext cx="274320" cy="274320"/>
          </a:xfrm>
          <a:prstGeom prst="round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3017520"/>
            <a:ext cx="274320" cy="274320"/>
          </a:xfrm>
          <a:prstGeom prst="round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3337560"/>
            <a:ext cx="274320" cy="274320"/>
          </a:xfrm>
          <a:prstGeom prst="round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0" y="2743200"/>
            <a:ext cx="274320" cy="274320"/>
          </a:xfrm>
          <a:prstGeom prst="roundRect">
            <a:avLst/>
          </a:prstGeom>
          <a:solidFill>
            <a:srgbClr val="BE433F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5196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nagyobb csillapítás • bizonytalan kapcsolat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Optikai patch panel: védelem + áttekinthetőség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4023360" cy="4251960"/>
          </a:xfrm>
          <a:prstGeom prst="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214884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65176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265176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15468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315468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365760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16052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416052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663440"/>
            <a:ext cx="914400" cy="256032"/>
          </a:xfrm>
          <a:prstGeom prst="rect">
            <a:avLst/>
          </a:prstGeom>
          <a:solidFill>
            <a:srgbClr val="30A9C4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4663440"/>
            <a:ext cx="914400" cy="25603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3566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adapterek • pigtail-ek • toldások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1783080"/>
            <a:ext cx="5669280" cy="804672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3248" y="1874519"/>
            <a:ext cx="5449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Rendező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221991"/>
            <a:ext cx="5449824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védi a szálakat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834639"/>
            <a:ext cx="5669280" cy="804672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2926079"/>
            <a:ext cx="5449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Adapter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273551"/>
            <a:ext cx="5449824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csatlakozók illesztése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886200"/>
            <a:ext cx="5669280" cy="804672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3977639"/>
            <a:ext cx="5449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Pigtail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325112"/>
            <a:ext cx="5449824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rövid gyári szálvég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4937759"/>
            <a:ext cx="5669280" cy="804672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5029199"/>
            <a:ext cx="5449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kábel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5376671"/>
            <a:ext cx="5449824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rugalmas kapcsolat az aktív eszközhöz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AKTÍV KAPCSOLAT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SFP modul alakítja át az elektromos jelet fénnyé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1031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9456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4203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elektromos adat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0312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219456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54203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adó / vevő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103120"/>
            <a:ext cx="21031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219456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Optikai szál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54203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fény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0312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219456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54203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vevő / adó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103120"/>
            <a:ext cx="7315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82528" y="2194560"/>
            <a:ext cx="5120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06040" y="2679192"/>
            <a:ext cx="64008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49240" y="2679192"/>
            <a:ext cx="640080" cy="0"/>
          </a:xfrm>
          <a:prstGeom prst="line">
            <a:avLst/>
          </a:prstGeom>
          <a:ln w="508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92440" y="2679192"/>
            <a:ext cx="640080" cy="0"/>
          </a:xfrm>
          <a:prstGeom prst="line">
            <a:avLst/>
          </a:prstGeom>
          <a:ln w="508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35640" y="2679192"/>
            <a:ext cx="13716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71600" y="443484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transceiver hullámhossza, száltípusa és a két vég kompatibilitása tervezési kérdés.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Két alapvető mérési szemlélet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3520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FÉNYFORRÁS + TELJESÍTMÉNYMÉRŐ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4434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Az összeköttetés teljes veszteségét vizsgáljuk.</a:t>
            </a:r>
            <a:br/>
            <a:br/>
            <a:r>
              <a:t>„Mennyi fény jut át?”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74519"/>
            <a:ext cx="5257800" cy="35204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9456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OTDR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971800"/>
            <a:ext cx="4434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 szál mentén eseményeket és távolságot elemzünk.</a:t>
            </a:r>
            <a:br/>
            <a:br/>
            <a:r>
              <a:t>„Hol van a probléma?”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OTDR-KÉP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nyomvonal eseményei egy görbén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4937760"/>
            <a:ext cx="9966960" cy="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" y="1828800"/>
            <a:ext cx="0" cy="3108960"/>
          </a:xfrm>
          <a:prstGeom prst="line">
            <a:avLst/>
          </a:prstGeom>
          <a:ln w="254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286000"/>
            <a:ext cx="2103120" cy="457200"/>
          </a:xfrm>
          <a:prstGeom prst="line">
            <a:avLst/>
          </a:prstGeom>
          <a:ln w="381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2743200"/>
            <a:ext cx="137160" cy="594360"/>
          </a:xfrm>
          <a:prstGeom prst="line">
            <a:avLst/>
          </a:prstGeom>
          <a:ln w="381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7560" y="3337560"/>
            <a:ext cx="2514600" cy="320040"/>
          </a:xfrm>
          <a:prstGeom prst="line">
            <a:avLst/>
          </a:prstGeom>
          <a:ln w="381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3657600"/>
            <a:ext cx="137160" cy="457200"/>
          </a:xfrm>
          <a:prstGeom prst="line">
            <a:avLst/>
          </a:prstGeom>
          <a:ln w="381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89320" y="4114800"/>
            <a:ext cx="2606040" cy="274320"/>
          </a:xfrm>
          <a:prstGeom prst="line">
            <a:avLst/>
          </a:prstGeom>
          <a:ln w="381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4389120"/>
            <a:ext cx="137160" cy="41148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1737360"/>
            <a:ext cx="0" cy="3246120"/>
          </a:xfrm>
          <a:prstGeom prst="line">
            <a:avLst/>
          </a:prstGeom>
          <a:ln w="127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1600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csatlakozás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1737360"/>
            <a:ext cx="0" cy="3246120"/>
          </a:xfrm>
          <a:prstGeom prst="line">
            <a:avLst/>
          </a:prstGeom>
          <a:ln w="127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0" y="1600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toldás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737360"/>
            <a:ext cx="0" cy="3246120"/>
          </a:xfrm>
          <a:prstGeom prst="line">
            <a:avLst/>
          </a:prstGeom>
          <a:ln w="127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19" y="16002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szálvég / hiba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257800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távolság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Optikai munka: három kötelező szabály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37560" cy="333756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NE NÉZZ BELE!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697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Az optikai forrás fénye nem feltétlenül látható.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337560" cy="33375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SZÁLMARADVÁNY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17520"/>
            <a:ext cx="2697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 vékony üvegszál sérülést okozhat - zárt gyűjtőbe.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74519"/>
            <a:ext cx="3337560" cy="33375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TISZTÍTÁS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17520"/>
            <a:ext cx="2697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Ellenőrzés → tisztítás → újraellenőrzés → csatlakoztatás.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Nagy optikai veszteség - hol keresnéd?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7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Csatlakozó tisztaság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3017520"/>
            <a:ext cx="32004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148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Patch kábel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8172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Hajlítás / törés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0196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Rendező / toldás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2220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Transceiver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4244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Mérés / OTDR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8760" y="4617720"/>
            <a:ext cx="9144000" cy="7772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773168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Először a legegyszerűbb és leggyakoribb hibát zárjuk ki: csatlakozó és patch kábel.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33.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optikai szál fényt vezet, ezért EMC-zavarokra nem érzékeny.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multimode és single-mode eltérő szál- és alkalmazási világ.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épületi gerinchálózat tipikus optikai alkalmazás.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csatlakozók tisztasága alapvetően befolyásolja a veszteséget.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teljesítménymérés veszteséget, az OTDR helyinformációt is adhat.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DCEB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Aktív hálózati</a:t>
            </a:r>
            <a:br/>
            <a:r>
              <a:t>eszközök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Switch • router • access point • PoE • hálózati szerepek • alapvető kapcsolatok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DCEB"/>
                </a:solidFill>
                <a:latin typeface="Aptos"/>
              </a:defRPr>
            </a:pPr>
            <a:r>
              <a:t>végpont → switch → router → internet | access point → Wi-Fi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