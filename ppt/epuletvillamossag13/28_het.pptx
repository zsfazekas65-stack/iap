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Komplex ellenőrzés</a:t>
            </a:r>
            <a:br/>
            <a:r>
              <a:t>és 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8961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PE • szigetelés • Zs • RCD • hibafa • visszamérés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2088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33688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95560" y="4297680"/>
            <a:ext cx="1143000" cy="77724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4389120"/>
            <a:ext cx="9235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852160"/>
            <a:ext cx="6217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A jó mérésből diagnózis, a diagnózisból javítás lesz.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RENDSZERSZEMLÉLET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Nem különálló mérések - egyetlen védelmi rendszer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96596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Alapvédelem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burkolat / szigetelés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85292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219456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+ EPH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hibaáramút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2852928"/>
            <a:ext cx="365759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2194560"/>
            <a:ext cx="196596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lekapcsolás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19" y="285292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219456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kiegészítő védelem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64040" y="2852928"/>
            <a:ext cx="36576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2194560"/>
            <a:ext cx="1965960" cy="1325880"/>
          </a:xfrm>
          <a:prstGeom prst="roundRect">
            <a:avLst/>
          </a:prstGeom>
          <a:solidFill>
            <a:srgbClr val="E8F3FA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28600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63347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bizonyítás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572000"/>
            <a:ext cx="9235440" cy="8229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91640" y="4736592"/>
            <a:ext cx="8778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8758"/>
                </a:solidFill>
                <a:latin typeface="Aptos"/>
              </a:defRPr>
            </a:pPr>
            <a:r>
              <a:t>A védelem csak akkor erős, ha a teljes lánc működik.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1. LÉPÉS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Szemrevételezés: a műszer előtt használd a szemed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nyilvánvaló hibát nem kell méréssel felfedezni.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Burkolat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sérülés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PE / EPH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kötések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RCD / MCB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Jelölés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azonosíthatóság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Környezet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víz / por / fém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2. LÉPÉS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Milyen hálózatrendszerben dolgozunk?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Ugyanaz a mérési szám más rendszerben mást jelenthet.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3375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374AD"/>
                </a:solidFill>
                <a:latin typeface="Aptos"/>
              </a:defRPr>
            </a:pPr>
            <a:r>
              <a:t>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hibaáram PE/PEN úton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3375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78758"/>
                </a:solidFill>
                <a:latin typeface="Aptos"/>
              </a:defRPr>
            </a:pPr>
            <a:r>
              <a:t>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5468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helyi földelő + RCD szerepe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65960"/>
            <a:ext cx="3337560" cy="29718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1AA37"/>
                </a:solidFill>
                <a:latin typeface="Aptos"/>
              </a:defRPr>
            </a:pPr>
            <a:r>
              <a:t>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154680"/>
            <a:ext cx="2697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304D"/>
                </a:solidFill>
                <a:latin typeface="Aptos"/>
              </a:defRPr>
            </a:pPr>
            <a:r>
              <a:t>első hiba eltérő viselkedése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BE433F"/>
                </a:solidFill>
                <a:latin typeface="Aptos"/>
              </a:defRPr>
            </a:pPr>
            <a:r>
              <a:t>Rendszerazonosítás nélkül nincs megbízható minősítés.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vizsgálunk, és mit bizonyít?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8760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228600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42316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 / EPH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770632"/>
            <a:ext cx="206654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folytonos védőút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035808"/>
            <a:ext cx="5486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331720"/>
            <a:ext cx="228600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42316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770632"/>
            <a:ext cx="206654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nincs hibás áramút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3035808"/>
            <a:ext cx="5486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78040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331720"/>
            <a:ext cx="2286000" cy="14173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42316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Zs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770632"/>
            <a:ext cx="206654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lekapcsolási feltétel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3035808"/>
            <a:ext cx="54864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12680" y="1828800"/>
            <a:ext cx="594360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847088"/>
            <a:ext cx="502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2331720"/>
            <a:ext cx="2286000" cy="14173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242316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770632"/>
            <a:ext cx="206654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kioldási működés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5920" y="4617720"/>
            <a:ext cx="8869680" cy="777240"/>
          </a:xfrm>
          <a:prstGeom prst="roundRect">
            <a:avLst/>
          </a:prstGeom>
          <a:solidFill>
            <a:srgbClr val="F9F5E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4782312"/>
            <a:ext cx="8412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konkrét mérési sorrendet mindig a vizsgált berendezéshez és eljáráshoz kell igazítani.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DIAGNOSZTIKA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Melyik mérés milyen hibára mutathat?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423160" cy="59436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PE folytonosság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828800"/>
            <a:ext cx="7955279" cy="59436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74980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szakadás • laza kötés • átmeneti ellenállás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0048"/>
            <a:ext cx="2423160" cy="59436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670048"/>
            <a:ext cx="7955279" cy="59436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761488"/>
            <a:ext cx="74980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nedvesség • sérülés • szennyeződés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11296"/>
            <a:ext cx="2423160" cy="59436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Zs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11296"/>
            <a:ext cx="7955279" cy="59436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602736"/>
            <a:ext cx="74980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PE/PEN hiba • rossz kötés • hosszú vezeték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52544"/>
            <a:ext cx="2423160" cy="59436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43983"/>
            <a:ext cx="2240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352544"/>
            <a:ext cx="7955279" cy="59436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443983"/>
            <a:ext cx="74980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F303E"/>
                </a:solidFill>
                <a:latin typeface="Aptos"/>
              </a:defRPr>
            </a:pPr>
            <a:r>
              <a:t>hibás készülék • N-PE hiba • közös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Eset: túl nagy a mért Zs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Ne alkatrészt cserélj találomra - bontsd fel a hibahurkot lehetséges okokra.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783080"/>
            <a:ext cx="2743200" cy="91440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8888" y="1874519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NAGY Zs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2221991"/>
            <a:ext cx="2523744" cy="4114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mérési tünet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23317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4023359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PE-kötés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370831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laza / korrodált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673352" y="2697480"/>
            <a:ext cx="4407408" cy="1234440"/>
          </a:xfrm>
          <a:prstGeom prst="line">
            <a:avLst/>
          </a:prstGeom>
          <a:ln w="254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80" y="3931920"/>
            <a:ext cx="23317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4023359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4370831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hossz / keresztmetszet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553712" y="2697480"/>
            <a:ext cx="1527048" cy="1234440"/>
          </a:xfrm>
          <a:prstGeom prst="line">
            <a:avLst/>
          </a:prstGeom>
          <a:ln w="254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3931920"/>
            <a:ext cx="23317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023359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Csatlakozás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370831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átmeneti ellenállás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2697480"/>
            <a:ext cx="1353311" cy="1234440"/>
          </a:xfrm>
          <a:prstGeom prst="line">
            <a:avLst/>
          </a:prstGeom>
          <a:ln w="254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0" y="3931920"/>
            <a:ext cx="233172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4023359"/>
            <a:ext cx="21122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Táphálózat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4370831"/>
            <a:ext cx="211226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forrásimpedancia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697480"/>
            <a:ext cx="4233672" cy="1234440"/>
          </a:xfrm>
          <a:prstGeom prst="line">
            <a:avLst/>
          </a:prstGeom>
          <a:ln w="254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28800" y="544068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Mérj közelebb és távolabb → hasonlíts össze → szűkítsd a hibaterületet.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Eset: TEST működik, a műszeres RCD-vizsgálat mégsem megfelelő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286000" cy="109728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4884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9631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mechanika működik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057400"/>
            <a:ext cx="2286000" cy="10972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14884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Műszerbeállítás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49631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típus / IΔn / mód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057400"/>
            <a:ext cx="2286000" cy="10972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2148840"/>
            <a:ext cx="206654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496312"/>
            <a:ext cx="2066543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N-PE / közös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057400"/>
            <a:ext cx="1828800" cy="109728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02367" y="2148840"/>
            <a:ext cx="16093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2367" y="2496312"/>
            <a:ext cx="160934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valós hiba?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2606040"/>
            <a:ext cx="73152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43600" y="2606040"/>
            <a:ext cx="73152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61120" y="2606040"/>
            <a:ext cx="731520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554480" y="4343400"/>
            <a:ext cx="9052560" cy="9144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553712"/>
            <a:ext cx="8595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TEST gomb sikere nem bizonyítja a teljes áramkör műszeres megfelelőségét.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JAVÍTÁS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hiba kijavítása után még nincs kész a munka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4028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33172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67919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azonosítva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898648"/>
            <a:ext cx="365760" cy="0"/>
          </a:xfrm>
          <a:prstGeom prst="line">
            <a:avLst/>
          </a:prstGeom>
          <a:ln w="38100">
            <a:solidFill>
              <a:srgbClr val="BE43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224028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E1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233172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JAVÍTÁS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67919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elvégezve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898648"/>
            <a:ext cx="365760" cy="0"/>
          </a:xfrm>
          <a:prstGeom prst="line">
            <a:avLst/>
          </a:prstGeom>
          <a:ln w="38100">
            <a:solidFill>
              <a:srgbClr val="E1A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224028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33172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VISSZAMÉRÉS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67919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eredmény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79" y="2898648"/>
            <a:ext cx="365761" cy="0"/>
          </a:xfrm>
          <a:prstGeom prst="line">
            <a:avLst/>
          </a:prstGeom>
          <a:ln w="381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06640" y="224028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233172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67919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megfelel?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898648"/>
            <a:ext cx="365759" cy="0"/>
          </a:xfrm>
          <a:prstGeom prst="line">
            <a:avLst/>
          </a:prstGeom>
          <a:ln w="381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8359" y="2240280"/>
            <a:ext cx="1965960" cy="1325880"/>
          </a:xfrm>
          <a:prstGeom prst="roundRect">
            <a:avLst/>
          </a:prstGeom>
          <a:solidFill>
            <a:srgbClr val="F0F4F7"/>
          </a:solidFill>
          <a:ln>
            <a:solidFill>
              <a:srgbClr val="12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7" y="2331720"/>
            <a:ext cx="17465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7" y="2679192"/>
            <a:ext cx="1746504" cy="822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lezárás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2304D"/>
                </a:solidFill>
                <a:latin typeface="Aptos"/>
              </a:defRPr>
            </a:pPr>
            <a:r>
              <a:t>A javítás hatását ugyanazzal a szakmai következetességgel kell igazolni.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ESETTANULMÁNY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Dugalj: PE rendben, szigetelés jó, Zs magas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91840" cy="342900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78758"/>
                </a:solidFill>
                <a:latin typeface="Aptos"/>
              </a:defRPr>
            </a:pPr>
            <a:r>
              <a:t>AMI JÓ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✓ PE folytonos</a:t>
            </a:r>
            <a:br/>
            <a:r>
              <a:t>✓ szigetelés megfelelő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342900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E433F"/>
                </a:solidFill>
                <a:latin typeface="Aptos"/>
              </a:defRPr>
            </a:pPr>
            <a:r>
              <a:t>TÜNET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26517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E433F"/>
                </a:solidFill>
                <a:latin typeface="Aptos"/>
              </a:defRPr>
            </a:pPr>
            <a:r>
              <a:t>Zs a vártnál</a:t>
            </a:r>
            <a:br/>
            <a:r>
              <a:t>jelentősen nagyobb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91840" cy="3429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488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74AD"/>
                </a:solidFill>
                <a:latin typeface="Aptos"/>
              </a:defRPr>
            </a:pPr>
            <a:r>
              <a:t>KÖVETKEZŐ LÉPÉS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26517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köztes pontokon mérés</a:t>
            </a:r>
            <a:br/>
            <a:r>
              <a:t>→ kötés / vezeték / táplálás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77639" y="3520440"/>
            <a:ext cx="457201" cy="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26679" y="3520440"/>
            <a:ext cx="457200" cy="0"/>
          </a:xfrm>
          <a:prstGeom prst="line">
            <a:avLst/>
          </a:prstGeom>
          <a:ln w="38100">
            <a:solidFill>
              <a:srgbClr val="123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DOKUMENTÁLÁS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mérési jegyzőkönyv legyen hibakeresési térkép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Vizsgálat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3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Mért érték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7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Hiba oka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Javítás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Visszamérés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0749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jó dokumentációból később is rekonstruálható, mi történt és miért.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KOMPLEX 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teljes szakmai munkamenet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9164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86584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386584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Hálózatrendszer azonosítása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81528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9816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081528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118104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PE/EPH + szigetelés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76472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776472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813048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Zs + RCD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71416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970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471416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507992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Hiba lokalizálása és javítása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6636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16636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20293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Visszamérés + dokumentálás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28.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villamos biztonságot rendszerként kell ellenőrizni.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szemrevételezés megelőzi és irányítja a mérést.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mérési eredmények csak a hálózatrendszer ismeretében értelmezhetők.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hibát logikusan lokalizáljuk, nem találomra cserélünk.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Minden javítást visszamérés és dokumentálás zár 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29.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Komplex mérési és</a:t>
            </a:r>
            <a:br/>
            <a:r>
              <a:t>minősítési gyakorlat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Egy teljes villamos áramkör vizsgálata a szemrevételezéstől a mérési jegyzőkönyvig.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ellenőrzés → mérés → értékelés → minősítés → dokumentáció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