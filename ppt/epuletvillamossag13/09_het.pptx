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14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ECF7"/>
                </a:solidFill>
                <a:latin typeface="Aptos"/>
              </a:defRPr>
            </a:pPr>
            <a:r>
              <a:t>IAP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Csatlakozási</a:t>
            </a:r>
            <a:br/>
            <a:r>
              <a:t>teljesítmény,</a:t>
            </a:r>
            <a:br/>
            <a:r>
              <a:t>fázisszám és</a:t>
            </a:r>
            <a:br/>
            <a:r>
              <a:t>teljesítménybővítés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960120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14B"/>
                </a:solidFill>
                <a:latin typeface="Aptos"/>
              </a:defRPr>
            </a:pPr>
            <a:r>
              <a:t>Mekkora teljesítményt kérünk a hálózattól?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574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4314B"/>
                </a:solidFill>
              </a:defRPr>
            </a:pPr>
            <a:r>
              <a:t>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057400"/>
            <a:ext cx="4937760" cy="310896"/>
          </a:xfrm>
          <a:prstGeom prst="roundRect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2057400"/>
            <a:ext cx="3851452" cy="310896"/>
          </a:xfrm>
          <a:prstGeom prst="round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3108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4314B"/>
                </a:solidFill>
              </a:defRPr>
            </a:pPr>
            <a:r>
              <a:t>L2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108960"/>
            <a:ext cx="4937760" cy="310896"/>
          </a:xfrm>
          <a:prstGeom prst="roundRect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0" y="3108960"/>
            <a:ext cx="2863900" cy="310896"/>
          </a:xfrm>
          <a:prstGeom prst="round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160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4314B"/>
                </a:solidFill>
              </a:defRPr>
            </a:pPr>
            <a:r>
              <a:t>L3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160520"/>
            <a:ext cx="4937760" cy="310896"/>
          </a:xfrm>
          <a:prstGeom prst="roundRect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0" y="4160520"/>
            <a:ext cx="3357676" cy="310896"/>
          </a:xfrm>
          <a:prstGeom prst="round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534924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B7182"/>
                </a:solidFill>
                <a:latin typeface="Aptos"/>
              </a:defRPr>
            </a:pPr>
            <a:r>
              <a:t>Fázisterhelés • teljesítményigény • bővítés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A hét céljai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572768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01  Csatlakozási teljesítmény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017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Értsd, mit jelent a rendelkezésre álló teljesítmény.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73152" cy="1572768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562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02  1 és 3 fázis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3017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Lásd a két csatlakozási mód közötti különbséget.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73152" cy="1572768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562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03  Egyszerű számítás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58568"/>
            <a:ext cx="3017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Használd a P ≈ U·I és a háromfázisú összefüggést.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73152" cy="1572768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04  Fáziselosztás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70248"/>
            <a:ext cx="3017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Oszd el ésszerűen az egyfázisú fogyasztókat.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73152" cy="1572768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67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05  Bővítés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70248"/>
            <a:ext cx="3017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Tudd, mikor és miért szükséges teljesítménybővítés.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70332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03320"/>
            <a:ext cx="73152" cy="1572768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867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06  Rendszerszemlélet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70248"/>
            <a:ext cx="3017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Ne csak a biztosítót, hanem a teljes láncot vizsgáld.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Egyfázisú vagy háromfázisú?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352044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1 fázis • 230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84632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Közelítő összefüggés:</a:t>
            </a:r>
            <a:br/>
            <a:r>
              <a:t>P ≈ U · I</a:t>
            </a:r>
            <a:br/>
            <a:br/>
            <a:r>
              <a:t>1 × 16 A ≈ 3,68 kW</a:t>
            </a:r>
            <a:br/>
            <a:r>
              <a:t>1 × 25 A ≈ 5,75 kW</a:t>
            </a:r>
            <a:br/>
            <a:r>
              <a:t>1 × 32 A ≈ 7,36 kW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57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73152" cy="352044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3 fázis • 400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04288"/>
            <a:ext cx="484632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Szimmetrikus terhelésnél:</a:t>
            </a:r>
            <a:br/>
            <a:r>
              <a:t>P ≈ √3 · U · I</a:t>
            </a:r>
            <a:br/>
            <a:br/>
            <a:r>
              <a:t>3 × 16 A ≈ 11,1 kW</a:t>
            </a:r>
            <a:br/>
            <a:r>
              <a:t>3 × 25 A ≈ 17,3 kW</a:t>
            </a:r>
            <a:br/>
            <a:r>
              <a:t>3 × 32 A ≈ 22,2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7784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14B"/>
                </a:solidFill>
                <a:latin typeface="Aptos"/>
              </a:defRPr>
            </a:pPr>
            <a:r>
              <a:t>A háromfázisú csatlakozás nemcsak nagyobb teljesítményt, hanem jobb terheléselosztást is lehetővé tesz.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A számítás logikája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874519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Egyfázisú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8006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P = 230 V × 32 A</a:t>
            </a:r>
            <a:br/>
            <a:r>
              <a:t>P = 7360 W</a:t>
            </a:r>
            <a:br/>
            <a:r>
              <a:t>P ≈ 7,36 kW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73152" cy="1874519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Háromfázisú példa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04288"/>
            <a:ext cx="48006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P ≈ √3 × 400 V × 16 A</a:t>
            </a:r>
            <a:br/>
            <a:r>
              <a:t>P ≈ 11 085 W</a:t>
            </a:r>
            <a:br/>
            <a:r>
              <a:t>P ≈ 11,1 kW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5196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97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14B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6" name="Chevron 15"/>
          <p:cNvSpPr/>
          <p:nvPr/>
        </p:nvSpPr>
        <p:spPr>
          <a:xfrm>
            <a:off x="3035808" y="4471416"/>
            <a:ext cx="438912" cy="384048"/>
          </a:xfrm>
          <a:prstGeom prst="chevron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425196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44897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14B"/>
                </a:solidFill>
                <a:latin typeface="Aptos"/>
              </a:defRPr>
            </a:pPr>
            <a:r>
              <a:t>Áramerősség</a:t>
            </a:r>
          </a:p>
        </p:txBody>
      </p:sp>
      <p:sp>
        <p:nvSpPr>
          <p:cNvPr id="19" name="Chevron 18"/>
          <p:cNvSpPr/>
          <p:nvPr/>
        </p:nvSpPr>
        <p:spPr>
          <a:xfrm>
            <a:off x="5779008" y="4471416"/>
            <a:ext cx="438912" cy="384048"/>
          </a:xfrm>
          <a:prstGeom prst="chevron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25196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4897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14B"/>
                </a:solidFill>
                <a:latin typeface="Aptos"/>
              </a:defRPr>
            </a:pPr>
            <a:r>
              <a:t>Fázisszám</a:t>
            </a:r>
          </a:p>
        </p:txBody>
      </p:sp>
      <p:sp>
        <p:nvSpPr>
          <p:cNvPr id="22" name="Chevron 21"/>
          <p:cNvSpPr/>
          <p:nvPr/>
        </p:nvSpPr>
        <p:spPr>
          <a:xfrm>
            <a:off x="8522208" y="4471416"/>
            <a:ext cx="438912" cy="384048"/>
          </a:xfrm>
          <a:prstGeom prst="chevron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425196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4897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14B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Fáziselosztás: ne csak az összteljesítményt nézd!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14B"/>
                </a:solidFill>
              </a:defRPr>
            </a:pPr>
            <a: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7315200" cy="384048"/>
          </a:xfrm>
          <a:prstGeom prst="roundRect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1828800"/>
            <a:ext cx="6583680" cy="384048"/>
          </a:xfrm>
          <a:prstGeom prst="roundRect">
            <a:avLst/>
          </a:prstGeom>
          <a:solidFill>
            <a:srgbClr val="BE7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181051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242"/>
                </a:solidFill>
              </a:defRPr>
            </a:pPr>
            <a:r>
              <a:t>4.5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14B"/>
                </a:solidFill>
              </a:defRPr>
            </a:pPr>
            <a:r>
              <a:t>L2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063240"/>
            <a:ext cx="7315200" cy="384048"/>
          </a:xfrm>
          <a:prstGeom prst="roundRect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3063240"/>
            <a:ext cx="2926080" cy="384048"/>
          </a:xfrm>
          <a:prstGeom prst="round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3044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242"/>
                </a:solidFill>
              </a:defRPr>
            </a:pPr>
            <a:r>
              <a:t>2.0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14B"/>
                </a:solidFill>
              </a:defRPr>
            </a:pPr>
            <a:r>
              <a:t>L3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297680"/>
            <a:ext cx="7315200" cy="384048"/>
          </a:xfrm>
          <a:prstGeom prst="roundRect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4297680"/>
            <a:ext cx="4389120" cy="384048"/>
          </a:xfrm>
          <a:prstGeom prst="round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42793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242"/>
                </a:solidFill>
              </a:defRPr>
            </a:pPr>
            <a:r>
              <a:t>3.0 kW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57800"/>
            <a:ext cx="10469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257800"/>
            <a:ext cx="73152" cy="68580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22392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Lényeg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824728"/>
            <a:ext cx="100584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Egyetlen túlterhelt fázis is lekapcsolást okozhat. A jó fáziselosztás a rendelkezésre álló teljesítmény jobb kihasználását jelenti.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Mikor merül fel teljesítménybővítés?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96012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Indukciós főzőlap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nagy konyhai terhelés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91640"/>
            <a:ext cx="73152" cy="9601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5623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Hőszivattyú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585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tartós, jelentős fogyasztó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73152" cy="96012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8211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EV-töltő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8444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nagy és hosszan fennálló terhelés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175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017520"/>
            <a:ext cx="73152" cy="9601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8211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Műhelygép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8444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nagy indítási / üzemi igény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73152" cy="96012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0799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Elektromos fűtés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1032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több kW egyidejű terhelés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3434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343400"/>
            <a:ext cx="73152" cy="9601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50799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Több klíma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1032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összeadódó fázisterhelés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A bővítés helyes gondolatmenete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664208"/>
            <a:ext cx="502920" cy="502920"/>
          </a:xfrm>
          <a:prstGeom prst="ellipse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7393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14600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314B"/>
                </a:solidFill>
              </a:defRPr>
            </a:pPr>
            <a:r>
              <a:t>Igény</a:t>
            </a:r>
            <a:br/>
            <a:r>
              <a:t>felmérése</a:t>
            </a:r>
          </a:p>
        </p:txBody>
      </p:sp>
      <p:sp>
        <p:nvSpPr>
          <p:cNvPr id="10" name="Chevron 9"/>
          <p:cNvSpPr/>
          <p:nvPr/>
        </p:nvSpPr>
        <p:spPr>
          <a:xfrm>
            <a:off x="2075688" y="2587752"/>
            <a:ext cx="292608" cy="384048"/>
          </a:xfrm>
          <a:prstGeom prst="chevron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240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80" y="1664208"/>
            <a:ext cx="502920" cy="502920"/>
          </a:xfrm>
          <a:prstGeom prst="ellipse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77393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514600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314B"/>
                </a:solidFill>
              </a:defRPr>
            </a:pPr>
            <a:r>
              <a:t>Egyidejűség</a:t>
            </a:r>
            <a:br/>
            <a:r>
              <a:t>becslése</a:t>
            </a:r>
          </a:p>
        </p:txBody>
      </p:sp>
      <p:sp>
        <p:nvSpPr>
          <p:cNvPr id="15" name="Chevron 14"/>
          <p:cNvSpPr/>
          <p:nvPr/>
        </p:nvSpPr>
        <p:spPr>
          <a:xfrm>
            <a:off x="3995928" y="2587752"/>
            <a:ext cx="292608" cy="384048"/>
          </a:xfrm>
          <a:prstGeom prst="chevron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240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1664208"/>
            <a:ext cx="502920" cy="502920"/>
          </a:xfrm>
          <a:prstGeom prst="ellipse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77393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514600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314B"/>
                </a:solidFill>
              </a:defRPr>
            </a:pPr>
            <a:r>
              <a:t>Fázisszám</a:t>
            </a:r>
            <a:br/>
            <a:r>
              <a:t>vizsgálata</a:t>
            </a:r>
          </a:p>
        </p:txBody>
      </p:sp>
      <p:sp>
        <p:nvSpPr>
          <p:cNvPr id="20" name="Chevron 19"/>
          <p:cNvSpPr/>
          <p:nvPr/>
        </p:nvSpPr>
        <p:spPr>
          <a:xfrm>
            <a:off x="5916168" y="2587752"/>
            <a:ext cx="292608" cy="384048"/>
          </a:xfrm>
          <a:prstGeom prst="chevron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240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0" y="1664208"/>
            <a:ext cx="502920" cy="502920"/>
          </a:xfrm>
          <a:prstGeom prst="ellipse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77393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514600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314B"/>
                </a:solidFill>
              </a:defRPr>
            </a:pPr>
            <a:r>
              <a:t>Áramigény</a:t>
            </a:r>
            <a:br/>
            <a:r>
              <a:t>számítása</a:t>
            </a:r>
          </a:p>
        </p:txBody>
      </p:sp>
      <p:sp>
        <p:nvSpPr>
          <p:cNvPr id="25" name="Chevron 24"/>
          <p:cNvSpPr/>
          <p:nvPr/>
        </p:nvSpPr>
        <p:spPr>
          <a:xfrm>
            <a:off x="7836408" y="2587752"/>
            <a:ext cx="292608" cy="384048"/>
          </a:xfrm>
          <a:prstGeom prst="chevron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80" y="2240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0" y="1664208"/>
            <a:ext cx="502920" cy="502920"/>
          </a:xfrm>
          <a:prstGeom prst="ellipse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177393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2514600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314B"/>
                </a:solidFill>
              </a:defRPr>
            </a:pPr>
            <a:r>
              <a:t>Vezeték +</a:t>
            </a:r>
            <a:br/>
            <a:r>
              <a:t>védelem</a:t>
            </a:r>
          </a:p>
        </p:txBody>
      </p:sp>
      <p:sp>
        <p:nvSpPr>
          <p:cNvPr id="30" name="Chevron 29"/>
          <p:cNvSpPr/>
          <p:nvPr/>
        </p:nvSpPr>
        <p:spPr>
          <a:xfrm>
            <a:off x="9756648" y="2587752"/>
            <a:ext cx="292608" cy="384048"/>
          </a:xfrm>
          <a:prstGeom prst="chevron">
            <a:avLst/>
          </a:prstGeom>
          <a:solidFill>
            <a:srgbClr val="DC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04120" y="2240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0" y="1664208"/>
            <a:ext cx="502920" cy="502920"/>
          </a:xfrm>
          <a:prstGeom prst="ellipse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77393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2514600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314B"/>
                </a:solidFill>
              </a:defRPr>
            </a:pPr>
            <a:r>
              <a:t>Mérőhely +</a:t>
            </a:r>
            <a:br/>
            <a:r>
              <a:t>elosztó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4251960"/>
            <a:ext cx="10058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4251960"/>
            <a:ext cx="73152" cy="1051560"/>
          </a:xfrm>
          <a:prstGeom prst="rect">
            <a:avLst/>
          </a:prstGeom>
          <a:solidFill>
            <a:srgbClr val="BE7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416552"/>
            <a:ext cx="9646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Nem biztosítócsere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818888"/>
            <a:ext cx="96469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A nagyobb csatlakozási áram nagyobb hőterhelést jelent. A teljes csatlakozási lánc megfelelőségét ellenőrizni kell.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Példa: elég-e a 16 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73152" cy="205740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56232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Adatok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32461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Egy fázison egyszerre:</a:t>
            </a:r>
            <a:br/>
            <a:r>
              <a:t>3,0 kW + 1,5 kW</a:t>
            </a:r>
            <a:br/>
            <a:r>
              <a:t>Összesen: 4,5 kW</a:t>
            </a:r>
            <a:br/>
            <a:r>
              <a:t>U = 230 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2926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691640"/>
            <a:ext cx="73152" cy="205740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856232"/>
            <a:ext cx="2514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58568"/>
            <a:ext cx="25146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I ≈ P / U</a:t>
            </a:r>
            <a:br/>
            <a:r>
              <a:t>I ≈ 4500 / 230</a:t>
            </a:r>
            <a:br/>
            <a:r>
              <a:t>I ≈ 19,6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9164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691640"/>
            <a:ext cx="73152" cy="2057400"/>
          </a:xfrm>
          <a:prstGeom prst="rect">
            <a:avLst/>
          </a:prstGeom>
          <a:solidFill>
            <a:srgbClr val="BE7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56232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258568"/>
            <a:ext cx="315467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19,6 A &gt; 16 A</a:t>
            </a:r>
            <a:br/>
            <a:br/>
            <a:r>
              <a:t>A 16 A-es fázis várhatóan nem elegendő ehhez az egyidejű terheléshez.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314B"/>
                </a:solidFill>
                <a:latin typeface="Aptos"/>
              </a:defRPr>
            </a:pPr>
            <a:r>
              <a:t>Szakmai kérdés: áthelyezhető-e valamelyik fogyasztó másik fázisra, vagy valóban bővítés szükséges?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0A4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14B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51560" cy="54864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5146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2423160"/>
          </a:xfrm>
          <a:prstGeom prst="rect">
            <a:avLst/>
          </a:prstGeom>
          <a:solidFill>
            <a:srgbClr val="26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Fázisszám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21031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Meghatározza az ellátás lehetőségeit.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146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73152" cy="242316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99339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Áramerősség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95728"/>
            <a:ext cx="21031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Korlátozza a rendelkezésre álló teljesítményt.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1828800"/>
            <a:ext cx="25146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79" y="1828800"/>
            <a:ext cx="73152" cy="2423160"/>
          </a:xfrm>
          <a:prstGeom prst="rect">
            <a:avLst/>
          </a:prstGeom>
          <a:solidFill>
            <a:srgbClr val="BE7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99339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Fáziselosztás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395728"/>
            <a:ext cx="21031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A jó elosztás megelőzi az egyoldalú túlterhelést.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1828800"/>
            <a:ext cx="25146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3999" y="1828800"/>
            <a:ext cx="73152" cy="2423160"/>
          </a:xfrm>
          <a:prstGeom prst="rect">
            <a:avLst/>
          </a:prstGeom>
          <a:solidFill>
            <a:srgbClr val="14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199339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314B"/>
                </a:solidFill>
                <a:latin typeface="Aptos"/>
              </a:defRPr>
            </a:pPr>
            <a:r>
              <a:t>Bővítés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2395728"/>
            <a:ext cx="21031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3242"/>
                </a:solidFill>
                <a:latin typeface="Aptos"/>
              </a:defRPr>
            </a:pPr>
            <a:r>
              <a:t>A teljes rendszer műszaki ellenőrzését igényli.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314B"/>
                </a:solidFill>
                <a:latin typeface="Aptos"/>
              </a:defRPr>
            </a:pPr>
            <a:r>
              <a:t>A cél nem a „nagyobb biztosító”, hanem a biztonságosan rendelkezésre álló, jól elosztott teljesítmény.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CECF7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Csatlakozóvezetékek és</a:t>
            </a:r>
            <a:br/>
            <a:r>
              <a:t>méretlen fővezetékek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160520"/>
            <a:ext cx="8321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CF7"/>
                </a:solidFill>
                <a:latin typeface="Aptos"/>
              </a:defRPr>
            </a:pPr>
            <a:r>
              <a:t>Keresztmetszet • terhelhetőség • vezetékút • védelem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7182"/>
                </a:solidFill>
                <a:latin typeface="Aptos"/>
              </a:defRPr>
            </a:pPr>
            <a:r>
              <a:t>9. hét  •  Csatlakozási teljesítmény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