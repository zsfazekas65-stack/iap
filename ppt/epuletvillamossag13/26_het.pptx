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26.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</a:defRPr>
            </a:pPr>
            <a:r>
              <a:t>Áramütés elleni védelem</a:t>
            </a:r>
            <a:br/>
            <a:r>
              <a:t>különleges helyeken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26080"/>
            <a:ext cx="8961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Nedves terek • kültér • vezetőképes környezet • IP • RCD • SELV/PELV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297680"/>
            <a:ext cx="114300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7807" y="4389120"/>
            <a:ext cx="9235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VÍZ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297680"/>
            <a:ext cx="114300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79407" y="4389120"/>
            <a:ext cx="9235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KÜLTÉR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4297680"/>
            <a:ext cx="114300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51007" y="4389120"/>
            <a:ext cx="9235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FÉM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52160"/>
            <a:ext cx="6035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A környezet megváltoztatja a villamos kockázatot.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ALAPGONDOLAT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Miért nem minden hely egyforma?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testellenállás, a földkapcsolat és az egyidejű érintés lehetősége jelentősen változhat.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337560" cy="29718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78758"/>
                </a:solidFill>
                <a:latin typeface="Aptos"/>
              </a:defRPr>
            </a:pPr>
            <a:r>
              <a:t>SZÁRAZ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2697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kedvezőbb környezet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337560" cy="29718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3172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E1AA37"/>
                </a:solidFill>
                <a:latin typeface="Aptos"/>
              </a:defRPr>
            </a:pPr>
            <a:r>
              <a:t>NEDVES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54680"/>
            <a:ext cx="2697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csökkent testellenállás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965960"/>
            <a:ext cx="3337560" cy="29718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BE433F"/>
                </a:solidFill>
                <a:latin typeface="Aptos"/>
              </a:defRPr>
            </a:pPr>
            <a:r>
              <a:t>VEZETŐKÉPES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154680"/>
            <a:ext cx="2697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fokozott érintési út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4924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304D"/>
                </a:solidFill>
                <a:latin typeface="Aptos"/>
              </a:defRPr>
            </a:pPr>
            <a:r>
              <a:t>Azonos feszültség - eltérő környezet - eltérő kockázat.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FÜRDŐHELYISÉG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Zónaszemlélet: a vízhez való közelség számít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pontos kialakítást mindig az alkalmazandó szabvány és a helyiség tényleges geometriája alapján kell meghatározni.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2743200" cy="2926080"/>
          </a:xfrm>
          <a:prstGeom prst="roundRect">
            <a:avLst/>
          </a:prstGeom>
          <a:solidFill>
            <a:srgbClr val="DEF0F8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2103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2304D"/>
                </a:solidFill>
                <a:latin typeface="Aptos"/>
              </a:defRPr>
            </a:pPr>
            <a:r>
              <a:t>VÍZFORRÁS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1874519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2423160"/>
            <a:ext cx="165506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közvetlen környezet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103120"/>
            <a:ext cx="1874519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2423160"/>
            <a:ext cx="165506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közeli térrész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103120"/>
            <a:ext cx="1874519" cy="26517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2423160"/>
            <a:ext cx="165506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távolabbi térrész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3474720"/>
            <a:ext cx="64008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28800" y="5349240"/>
            <a:ext cx="8412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74AD"/>
                </a:solidFill>
                <a:latin typeface="Aptos"/>
              </a:defRPr>
            </a:pPr>
            <a:r>
              <a:t>Közelebb a vízhez → szigorúbb készülék- és elhelyezési feltételek.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KÜLTÉR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kell kibírnia egy kültéri villamos berendezésnek?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Csapadék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vízterhelés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Pára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nedvesség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991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UV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anyagöregedés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tágulás / fagy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515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Mechanika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ütés / húzás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3991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Szennyeződés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por / lerakódás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BURKOLATVÉDELEM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Az IP-jelölés gondolkodási logikája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szükséges fokozatot nem megszokásból, hanem a környezeti igénybevétel alapján választjuk.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3931920" cy="2560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3291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100" b="1">
                <a:solidFill>
                  <a:srgbClr val="12304D"/>
                </a:solidFill>
                <a:latin typeface="Aptos Display"/>
              </a:defRPr>
            </a:pPr>
            <a:r>
              <a:t>IP  X 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54680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5C707E"/>
                </a:solidFill>
                <a:latin typeface="Aptos"/>
              </a:defRPr>
            </a:pPr>
            <a:r>
              <a:t>szilárd testek   |   víz</a:t>
            </a:r>
            <a:br/>
            <a:r>
              <a:t>elleni védettség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2011680" cy="10972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11680"/>
            <a:ext cx="17922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HELYSZÍN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359152"/>
            <a:ext cx="179222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milyen hatás éri?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920240"/>
            <a:ext cx="201168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2011680"/>
            <a:ext cx="17922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IP-FOKOZAT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359152"/>
            <a:ext cx="179222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ehhez választjuk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2468880"/>
            <a:ext cx="73152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28800" y="5074920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Az IP nem érintésvédelmi rendszer - a burkolat környezeti védettségének része.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FOKOZOTT KOCKÁZAT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Vezetőképes környezetben több út nyílhat az áram számára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2468880" cy="123444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Villamos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96312"/>
            <a:ext cx="224942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hiba esetén potenciál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057400"/>
            <a:ext cx="2468880" cy="12344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14884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Személy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496312"/>
            <a:ext cx="224942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egyidejű érintés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57400"/>
            <a:ext cx="246888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214884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Fém szerkezet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2496312"/>
            <a:ext cx="224942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földpotenciál-közeli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2679192"/>
            <a:ext cx="1645920" cy="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679192"/>
            <a:ext cx="1645920" cy="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28800" y="4389120"/>
            <a:ext cx="8549640" cy="82296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4553712"/>
            <a:ext cx="8092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veszélyt az egyidejű érintés és a potenciálkülönbség együtt határozza meg.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VÉDELMI ESZKÖZTÁR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Nem egyetlen eszköz oldja meg a problémát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965960" cy="18288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74AD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2304D"/>
                </a:solidFill>
                <a:latin typeface="Aptos"/>
              </a:defRPr>
            </a:pPr>
            <a:r>
              <a:t>hibavédelem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148840"/>
            <a:ext cx="1965960" cy="18288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799" y="242316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8758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306324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2304D"/>
                </a:solidFill>
                <a:latin typeface="Aptos"/>
              </a:defRPr>
            </a:pPr>
            <a:r>
              <a:t>kiegészítő védelem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2148840"/>
            <a:ext cx="1965960" cy="18288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42316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E1AA37"/>
                </a:solidFill>
                <a:latin typeface="Aptos"/>
              </a:defRPr>
            </a:pPr>
            <a:r>
              <a:t>EPH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6324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2304D"/>
                </a:solidFill>
                <a:latin typeface="Aptos"/>
              </a:defRPr>
            </a:pPr>
            <a:r>
              <a:t>potenciálkiegyenlítés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148840"/>
            <a:ext cx="1965960" cy="18288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42316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74AD"/>
                </a:solidFill>
                <a:latin typeface="Aptos"/>
              </a:defRPr>
            </a:pPr>
            <a:r>
              <a:t>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06324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2304D"/>
                </a:solidFill>
                <a:latin typeface="Aptos"/>
              </a:defRPr>
            </a:pPr>
            <a:r>
              <a:t>burkolatvédelem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148840"/>
            <a:ext cx="1965960" cy="18288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2423160"/>
            <a:ext cx="1691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8758"/>
                </a:solidFill>
                <a:latin typeface="Aptos"/>
              </a:defRPr>
            </a:pPr>
            <a:r>
              <a:t>SELV/PELV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306324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12304D"/>
                </a:solidFill>
                <a:latin typeface="Aptos"/>
              </a:defRPr>
            </a:pPr>
            <a:r>
              <a:t>kisfeszültség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709160"/>
            <a:ext cx="9235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304D"/>
                </a:solidFill>
                <a:latin typeface="Aptos"/>
              </a:defRPr>
            </a:pPr>
            <a:r>
              <a:t>A megfelelő kombinációt a konkrét helyszín és felhasználás alapján választjuk ki.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KISFESZÜLTSÉG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SELV és PELV: amikor a feszültségszint is védelmi eszköz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Nem csak a feszültségérték számít: a táplálás és az elválasztás módja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2926080" cy="14630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40280"/>
            <a:ext cx="2706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SELV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87752"/>
            <a:ext cx="270662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védő kisfeszültség</a:t>
            </a:r>
            <a:br/>
            <a:r>
              <a:t>földtől elválasztott rendszer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148840"/>
            <a:ext cx="2926080" cy="146304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2240280"/>
            <a:ext cx="2706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PELV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587752"/>
            <a:ext cx="270662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védő kisfeszültség</a:t>
            </a:r>
            <a:br/>
            <a:r>
              <a:t>meghatározott földkapcsolattal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148840"/>
            <a:ext cx="2926080" cy="146304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7" y="2240280"/>
            <a:ext cx="27066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7" y="2587752"/>
            <a:ext cx="270662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veszélyes érintési feszültség</a:t>
            </a:r>
            <a:br/>
            <a:r>
              <a:t>kockázatának csökkentése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709160"/>
            <a:ext cx="8503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részletes kialakítás a 27. hét témája.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Különleges helyen különösen fontos lehet - de nem önmagában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468880" cy="11887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Környezeti kockázat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87752"/>
            <a:ext cx="22494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víz / kültér / vezető rész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48840"/>
            <a:ext cx="2468880" cy="11887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587752"/>
            <a:ext cx="22494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hibaáram érzékelése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48840"/>
            <a:ext cx="2468880" cy="118872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Lekapcsolás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2587752"/>
            <a:ext cx="22494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kiegészítő védelem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2743200"/>
            <a:ext cx="1645920" cy="0"/>
          </a:xfrm>
          <a:prstGeom prst="line">
            <a:avLst/>
          </a:prstGeom>
          <a:ln w="508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743200"/>
            <a:ext cx="1645920" cy="0"/>
          </a:xfrm>
          <a:prstGeom prst="line">
            <a:avLst/>
          </a:prstGeom>
          <a:ln w="508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28800" y="448056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BE433F"/>
                </a:solidFill>
                <a:latin typeface="Aptos"/>
              </a:defRPr>
            </a:pPr>
            <a:r>
              <a:t>PE, EPH, megfelelő burkolat és szerelés nélkül az RCD sem teljes védelmi rendszer.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DÖNTÉSI FOLYAMAT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Hogyan választunk védelmet különleges helyen?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160020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Helyszín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999232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2331720"/>
            <a:ext cx="160020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60604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Veszélyforrás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2999232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46320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2331720"/>
            <a:ext cx="160020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60604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Érintési helyzet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52160" y="2999232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66560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331720"/>
            <a:ext cx="160020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60604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Védelmi mód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0" y="2999232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86800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2331720"/>
            <a:ext cx="160020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260604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Készülék / IP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92640" y="2999232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607040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60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2331720"/>
            <a:ext cx="160020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606040"/>
            <a:ext cx="1417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4434840"/>
            <a:ext cx="9418320" cy="9144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0200" y="4645152"/>
            <a:ext cx="8961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A jó szakmai döntés mindig a környezet felmérésével kezdődik.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GYAKORLATI PÉLDÁK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Három helyszín - három eltérő gondolkodás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34290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304D"/>
                </a:solidFill>
                <a:latin typeface="Aptos"/>
              </a:defRPr>
            </a:pPr>
            <a:r>
              <a:t>Fürdőhelyiség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2788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5C707E"/>
                </a:solidFill>
                <a:latin typeface="Aptos"/>
              </a:defRPr>
            </a:pPr>
            <a:r>
              <a:t>víz + csökkent testellenállás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2788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74AD"/>
                </a:solidFill>
                <a:latin typeface="Aptos"/>
              </a:defRPr>
            </a:pPr>
            <a:r>
              <a:t>zónák • RCD •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74519"/>
            <a:ext cx="3337560" cy="3429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304D"/>
                </a:solidFill>
                <a:latin typeface="Aptos"/>
              </a:defRPr>
            </a:pPr>
            <a:r>
              <a:t>Kerti dugalj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2788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5C707E"/>
                </a:solidFill>
                <a:latin typeface="Aptos"/>
              </a:defRPr>
            </a:pPr>
            <a:r>
              <a:t>csapadék + mechanikai hatás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886200"/>
            <a:ext cx="2788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78758"/>
                </a:solidFill>
                <a:latin typeface="Aptos"/>
              </a:defRPr>
            </a:pPr>
            <a:r>
              <a:t>IP • RCD • kábelvédelem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874519"/>
            <a:ext cx="3337560" cy="3429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4884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304D"/>
                </a:solidFill>
                <a:latin typeface="Aptos"/>
              </a:defRPr>
            </a:pPr>
            <a:r>
              <a:t>Fémes munkatér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34640"/>
            <a:ext cx="2788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5C707E"/>
                </a:solidFill>
                <a:latin typeface="Aptos"/>
              </a:defRPr>
            </a:pPr>
            <a:r>
              <a:t>egyidejű érintés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886200"/>
            <a:ext cx="2788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1AA37"/>
                </a:solidFill>
                <a:latin typeface="Aptos"/>
              </a:defRPr>
            </a:pPr>
            <a:r>
              <a:t>PE/EPH • kisfeszültség • elválasztás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Helyszíni kockázatértékelés villamos szemmel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69164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7282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Környezet azonosítása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86584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386584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Víz / fém / kültéri hatás keresése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81528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9816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081528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118104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Egyidejű érintések vizsgálata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76472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776472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813048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Meglévő védelem felmérése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71416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9704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4471416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507992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Hiányzó intézkedések meghatározása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16636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516636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20293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Dokumentálás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26.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környezet jelentősen módosítja az áramütés kockázatát.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Nedves helyen a vízhez való közelség és a zónaszemlélet fontos.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Kültéren az IP-védettség és a környezeti igénybevétel meghatározó.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RCD, PE, EPH és SELV/PELV egymást kiegészítő eszközök.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védelem kiválasztása mindig helyszíni kockázatértékeléssel kezdődik.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27.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SELV, PELV és</a:t>
            </a:r>
            <a:br/>
            <a:r>
              <a:t>villamos elválasztás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Védelmi módok, amelyeknél maga a táplálási rendszer kialakítása csökkenti az áramütés kockázatát.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7DC6E7"/>
                </a:solidFill>
                <a:latin typeface="Aptos"/>
              </a:defRPr>
            </a:pPr>
            <a:r>
              <a:t>kisfeszültség → elválasztás → földkapcsolat → alkalmazás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