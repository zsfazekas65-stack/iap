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31.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Strukturált kábelezési</a:t>
            </a:r>
            <a:br/>
            <a:r>
              <a:t>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Végpont • fix kábel • patch panel • rack • nyomvonal • jelölés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7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7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76688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0" y="4343400"/>
            <a:ext cx="914400" cy="73152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82528" y="443484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52160"/>
            <a:ext cx="6675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A jó hálózat nemcsak működik - követhető és bővíthető 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ALAPELV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kábelezés az épület hosszú életű informatikai infrastruktúrája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75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74AD"/>
                </a:solidFill>
                <a:latin typeface="Aptos"/>
              </a:defRPr>
            </a:pPr>
            <a:r>
              <a:t>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PC + kamera + Wi-Fi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3375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8758"/>
                </a:solidFill>
                <a:latin typeface="Aptos"/>
              </a:defRPr>
            </a:pPr>
            <a:r>
              <a:t>HOLNAP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más aktív eszközök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33375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4028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E1AA37"/>
                </a:solidFill>
                <a:latin typeface="Aptos"/>
              </a:defRPr>
            </a:pPr>
            <a:r>
              <a:t>INFRASTRUKTÚRA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063240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ugyanaz a rendezett kábelezés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94960"/>
            <a:ext cx="9235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Nem készülékhez kábelezünk - az épületet tesszük hálózatképessé.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FIZIKAI LÁNC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végberendezéstől a switchig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240280"/>
            <a:ext cx="1627632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2331720"/>
            <a:ext cx="14081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2679192"/>
            <a:ext cx="14081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végberendezés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6232" y="2926080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67128" y="2240280"/>
            <a:ext cx="1627632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2331720"/>
            <a:ext cx="14081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856" y="2679192"/>
            <a:ext cx="14081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hajlékony kábel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94760" y="2926080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05656" y="2240280"/>
            <a:ext cx="1627632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2331720"/>
            <a:ext cx="14081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Aljzat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2679192"/>
            <a:ext cx="14081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33288" y="2926080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44184" y="2240280"/>
            <a:ext cx="1627632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2331720"/>
            <a:ext cx="14081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Fix kábel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679192"/>
            <a:ext cx="14081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vízszintes szakasz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71816" y="2926080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82712" y="2240280"/>
            <a:ext cx="1627632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331720"/>
            <a:ext cx="14081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679192"/>
            <a:ext cx="14081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rack lezárás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10344" y="2926080"/>
            <a:ext cx="310896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21240" y="2240280"/>
            <a:ext cx="1627632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2331720"/>
            <a:ext cx="14081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2679192"/>
            <a:ext cx="140817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aktív hálózat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8760" y="4617720"/>
            <a:ext cx="9144000" cy="7772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4773168"/>
            <a:ext cx="8686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A fix kábelezés és a patch kábelek szerepét mindig külön kezeld.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VÉGPONT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fali aljzat nem csak egy csatlakozó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743200" cy="21031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57400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INFORMATIKAI ALJZAT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04872"/>
            <a:ext cx="2523744" cy="1600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egyedi azonosító</a:t>
            </a:r>
            <a:br/>
            <a:r>
              <a:t>mechanikai védelem</a:t>
            </a:r>
            <a:br/>
            <a:r>
              <a:t>jó elhelyezés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658368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920240"/>
            <a:ext cx="63642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267712"/>
            <a:ext cx="636422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hol kell a szolgáltatás?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063240"/>
            <a:ext cx="658368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3154680"/>
            <a:ext cx="63642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502152"/>
            <a:ext cx="636422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melyik rack-porthoz tartozik?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297680"/>
            <a:ext cx="658368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4389120"/>
            <a:ext cx="63642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Tartalék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4736592"/>
            <a:ext cx="636422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lesz-e későbbi bővítés?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VÍZSZINTES KÁBELEZÉS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Csillagpontosan a végponttól a rackig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194560"/>
            <a:ext cx="274320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8888" y="2286000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8888" y="2633472"/>
            <a:ext cx="252374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elosztási 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2860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2024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2066543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737360" y="2240280"/>
            <a:ext cx="4343400" cy="50292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4023360"/>
            <a:ext cx="22860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11480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462272"/>
            <a:ext cx="2066543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737360" y="2743200"/>
            <a:ext cx="4343400" cy="16916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98280" y="1828800"/>
            <a:ext cx="22860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192024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2267712"/>
            <a:ext cx="2066543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80760" y="2240280"/>
            <a:ext cx="4160520" cy="50292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98280" y="4023360"/>
            <a:ext cx="22860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7" y="411480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7" y="4462272"/>
            <a:ext cx="2066543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2743200"/>
            <a:ext cx="4160520" cy="16916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9160" y="4800600"/>
            <a:ext cx="22860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489204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5239512"/>
            <a:ext cx="2066543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végpont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852160" y="2743200"/>
            <a:ext cx="228600" cy="246888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54480" y="5715000"/>
            <a:ext cx="9052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Minden fix kábel külön végpontként tér vissza az elosztóhoz.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Patch panel: a fix kábelek rendezett végpontja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698480" cy="1143000"/>
          </a:xfrm>
          <a:prstGeom prst="rect">
            <a:avLst/>
          </a:prstGeom>
          <a:solidFill>
            <a:srgbClr val="12304D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1368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2616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3864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7608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8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8856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0104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13848" y="2240280"/>
            <a:ext cx="594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3848" y="226771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304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42900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A-01 → PP01/01     A-02 → PP01/02     B-01 → PP01/03     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3040" y="4389120"/>
            <a:ext cx="9235440" cy="8686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4590288"/>
            <a:ext cx="8778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portszám csak akkor ér valamit, ha ugyanaz szerepel a dokumentációban.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RACK-KIOSZTÁS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rendezett rack gyorsítja a szerelést és hibakeresést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3749039" cy="4251960"/>
          </a:xfrm>
          <a:prstGeom prst="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993392"/>
            <a:ext cx="3108960" cy="347472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02536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Patch panel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14600"/>
            <a:ext cx="3108960" cy="347472"/>
          </a:xfrm>
          <a:prstGeom prst="roundRect">
            <a:avLst/>
          </a:prstGeom>
          <a:solidFill>
            <a:srgbClr val="5C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23744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Kábelrendező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035808"/>
            <a:ext cx="3108960" cy="347472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4495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Patch panel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557016"/>
            <a:ext cx="3108960" cy="347472"/>
          </a:xfrm>
          <a:prstGeom prst="roundRect">
            <a:avLst/>
          </a:prstGeom>
          <a:solidFill>
            <a:srgbClr val="5C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566160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Kábelrendező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078224"/>
            <a:ext cx="3108960" cy="347472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87368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599431"/>
            <a:ext cx="3108960" cy="347472"/>
          </a:xfrm>
          <a:prstGeom prst="roundRect">
            <a:avLst/>
          </a:prstGeom>
          <a:solidFill>
            <a:srgbClr val="E1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608575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5120640"/>
            <a:ext cx="3108960" cy="347472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29783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1874519"/>
            <a:ext cx="5852160" cy="9601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8" y="1965960"/>
            <a:ext cx="5632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Hozzáférés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2313432"/>
            <a:ext cx="56327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legyen szerelhető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3154679"/>
            <a:ext cx="5852160" cy="9601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3246120"/>
            <a:ext cx="5632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Rendezés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3593591"/>
            <a:ext cx="56327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patch kábelek ne takarják a portokat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4434840"/>
            <a:ext cx="5852160" cy="96012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1808" y="4526279"/>
            <a:ext cx="5632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Tartalék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4873752"/>
            <a:ext cx="56327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maradjon hely a bővítésnek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PATCH-ELÉS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patch kábel a rugalmas kapcsolat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3774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4028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8775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fix kábel vége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148840"/>
            <a:ext cx="237744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24028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Patch kábel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58775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rövid + hajlékony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148840"/>
            <a:ext cx="237744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3728" y="224028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58775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aktív 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724912"/>
            <a:ext cx="1874520" cy="0"/>
          </a:xfrm>
          <a:prstGeom prst="line">
            <a:avLst/>
          </a:prstGeom>
          <a:ln w="635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9480" y="2724912"/>
            <a:ext cx="1874520" cy="0"/>
          </a:xfrm>
          <a:prstGeom prst="line">
            <a:avLst/>
          </a:prstGeom>
          <a:ln w="635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54480" y="4434840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Rövid • megfelelő minőségű • jelölt • rendezett - ne legyen „kábelspagetti”.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KÁBELNYOMVONAL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kábel útja ugyanolyan fontos, mint a csatlakozó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74AD"/>
                </a:solidFill>
                <a:latin typeface="Aptos"/>
              </a:defRPr>
            </a:pPr>
            <a:r>
              <a:t>Kábelcsatorna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51460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irodai / falon kívüli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78758"/>
                </a:solidFill>
                <a:latin typeface="Aptos"/>
              </a:defRPr>
            </a:pPr>
            <a:r>
              <a:t>Tálca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nagyobb kábelmennyiség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88620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1AA37"/>
                </a:solidFill>
                <a:latin typeface="Aptos"/>
              </a:defRPr>
            </a:pPr>
            <a:r>
              <a:t>Védőcső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438912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mechanikai védelem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03320"/>
            <a:ext cx="507492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4709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Álmennyezet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12304D"/>
                </a:solidFill>
                <a:latin typeface="Aptos"/>
              </a:defRPr>
            </a:pPr>
            <a:r>
              <a:t>hozzáférhető nyomvonal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32120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Hajlítás • húzóerő • mechanikai sérülés • hozzáférés • erősáram közelsége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NYOMVONALTERVEZÉS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Erősáram és adatkábel: ne csak azt nézd, hogy „elfér-e”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256032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BE433F"/>
                </a:solidFill>
                <a:latin typeface="Aptos"/>
              </a:defRPr>
            </a:pPr>
            <a:r>
              <a:t>230/400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energiaátvitel</a:t>
            </a:r>
            <a:br/>
            <a:r>
              <a:t>nagyobb zavarforrás lehet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212080" cy="2560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374AD"/>
                </a:solidFill>
                <a:latin typeface="Aptos"/>
              </a:defRPr>
            </a:pPr>
            <a:r>
              <a:t>ADATKÁBEL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480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jelátvitel</a:t>
            </a:r>
            <a:br/>
            <a:r>
              <a:t>EMC-szempontokra érzékeny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7492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 konkrét elválasztást a kábelrendszer, árnyékolás, nyomvonal és alkalmazandó előírás alapján tervezzük.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azonosító végigkíséri a teljes kábelutat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94560"/>
            <a:ext cx="196596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fali aljzat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85292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219456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kábel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85292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194560"/>
            <a:ext cx="196596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PP1-01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patch panel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2852928"/>
            <a:ext cx="36576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219456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SW1-08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switch 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85292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8359" y="2194560"/>
            <a:ext cx="196596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7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IRODA-1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7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portlista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4572000"/>
            <a:ext cx="9144000" cy="7772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4736592"/>
            <a:ext cx="8686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A jó jelölésből azonnal kiderül: honnan jön, hová megy, mire szolgál.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GERINCHÁLÓZAT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Ha több rack van, az elosztási pontokat is össze kell kötni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37744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774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Földszinti 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24912"/>
            <a:ext cx="21579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elosztó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011680"/>
            <a:ext cx="2377440" cy="16459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10312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GERINC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450592"/>
            <a:ext cx="215798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réz vagy optika</a:t>
            </a:r>
            <a:br/>
            <a:r>
              <a:t>tervezési döntés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86000"/>
            <a:ext cx="237744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3728" y="23774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Emeleti 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724912"/>
            <a:ext cx="21579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elosztó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2834640"/>
            <a:ext cx="1874520" cy="0"/>
          </a:xfrm>
          <a:prstGeom prst="line">
            <a:avLst/>
          </a:prstGeom>
          <a:ln w="635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9480" y="2834640"/>
            <a:ext cx="1874520" cy="0"/>
          </a:xfrm>
          <a:prstGeom prst="line">
            <a:avLst/>
          </a:prstGeom>
          <a:ln w="635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54480" y="4572000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Távolság • sávszélesség • EMC • bővíthetőség • galvanikus kapcsolat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ÁTADÁS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kábelezést mérni és dokumentálni kell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128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Szemrevételezés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03580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93007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7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331720"/>
            <a:ext cx="19659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Vezetékhelyesség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303580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24727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7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Folytonosság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19" y="303580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5644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331720"/>
            <a:ext cx="196596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7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Átviteli minősítés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303580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8816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3388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331720"/>
            <a:ext cx="196596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9528" y="257860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Mérési jegyzőkönyv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4617720"/>
            <a:ext cx="9235440" cy="77724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4773168"/>
            <a:ext cx="8778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„link van” nem ugyanaz, mint a szabályosan minősített kábelezés.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Tantermi hálózat: tervezzük meg 10 végponttal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TANTEREM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6858000" cy="3474720"/>
          </a:xfrm>
          <a:prstGeom prst="rect">
            <a:avLst/>
          </a:prstGeom>
          <a:solidFill>
            <a:srgbClr val="F0F4F7"/>
          </a:solidFill>
          <a:ln>
            <a:solidFill>
              <a:srgbClr val="C8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251460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60604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51460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260604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79" y="251460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260604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51460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260604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84048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93192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84048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393192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79" y="384048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8807" y="393192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840480"/>
            <a:ext cx="109728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3931920"/>
            <a:ext cx="877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D-08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892040"/>
            <a:ext cx="1280160" cy="5029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983479"/>
            <a:ext cx="1060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AP-01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4892040"/>
            <a:ext cx="1280160" cy="50292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7608" y="4983479"/>
            <a:ext cx="1060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CAM-01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2743200"/>
            <a:ext cx="2560320" cy="12801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283464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182112"/>
            <a:ext cx="2340863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PP + switch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0" y="2834640"/>
            <a:ext cx="1234440" cy="5486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32320" y="3383280"/>
            <a:ext cx="1234440" cy="7772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178040" y="3383280"/>
            <a:ext cx="1188720" cy="1755648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01000" y="466344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Feladat:</a:t>
            </a:r>
            <a:br/>
            <a:r>
              <a:t>nyomvonal + portlista + jelölés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31.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strukturált kábelezés általános célú épületinformatikai infrastruktúra.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végpontok csillagpontosan kapcsolódnak a patch panelhez.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rackben a passzív és aktív hálózati elemek rendezett rendszert alkotnak.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nyomvonalat mechanikai és EMC-szempontok szerint is tervezni kell.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jelölés, mérés és dokumentáció a kábelezés része.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32.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Réz alapú</a:t>
            </a:r>
            <a:br/>
            <a:r>
              <a:t>adatátviteli hálózatok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Sodrott érpár • U/UTP • árnyékolás • kategóriák • RJ45 • érpár-sorrend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DC6E7"/>
                </a:solidFill>
                <a:latin typeface="Aptos"/>
              </a:defRPr>
            </a:pPr>
            <a:r>
              <a:t>kábel → érpár → árnyékolás → csatlakozás → mérés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