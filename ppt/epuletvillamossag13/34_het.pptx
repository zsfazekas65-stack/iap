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DCEB"/>
                </a:solidFill>
                <a:latin typeface="Aptos"/>
              </a:defRPr>
            </a:pPr>
            <a:r>
              <a:t>IAP • 34.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99669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Aktív hálózati</a:t>
            </a:r>
            <a:br/>
            <a:r>
              <a:t>eszközök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718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Switch • router • access point • PoE • hálózati szerepek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4251960"/>
            <a:ext cx="96012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4407408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251960"/>
            <a:ext cx="96012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4407408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4251960"/>
            <a:ext cx="96012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4407408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81360" y="4251960"/>
            <a:ext cx="96012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4407408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6949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DCEB"/>
                </a:solidFill>
                <a:latin typeface="Aptos"/>
              </a:defRPr>
            </a:pPr>
            <a:r>
              <a:t>A passzív kábelezést az aktív eszközök teszik működő hálózattá.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ÁTTEKINTÉS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Melyik eszköz mit csinál?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74A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helyi végpontokat kapcsol össze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1AA37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IP-hálózatok között irányít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ACCESS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Wi-Fi klienst köt a LAN-hoz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28800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4884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30A9C4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1752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adat + táp ugyanazon kábelen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helyi Ethernet-hálózat központi aktív eleme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2148840"/>
            <a:ext cx="3840480" cy="1143000"/>
          </a:xfrm>
          <a:prstGeom prst="rect">
            <a:avLst/>
          </a:prstGeom>
          <a:solidFill>
            <a:srgbClr val="12304D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450592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9202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PC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527048" y="2240280"/>
            <a:ext cx="4553712" cy="50292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402336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11480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Nyomtató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527048" y="2743200"/>
            <a:ext cx="4553712" cy="16916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81160" y="182880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19202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80760" y="2240280"/>
            <a:ext cx="4224528" cy="50292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402336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411480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743200"/>
            <a:ext cx="4224528" cy="16916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92040" y="4800600"/>
            <a:ext cx="205740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48920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Másik switch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916168" y="2743200"/>
            <a:ext cx="164592" cy="246888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71600" y="571500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switch portjai a helyi hálózat fizikai csatlakozási pontjai.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switch megtanulja, melyik MAC-cím melyik porton van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1343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...:A1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74519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6596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31343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...:B7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96596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1343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...:3C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74519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7" y="196596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7" y="231343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...:D2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886200"/>
            <a:ext cx="8321040" cy="1051560"/>
          </a:xfrm>
          <a:prstGeom prst="round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050791"/>
            <a:ext cx="7863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2304D"/>
                </a:solidFill>
                <a:latin typeface="Aptos"/>
              </a:defRPr>
            </a:pPr>
            <a:r>
              <a:t>MAC-tábla: cím →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Ismert célcím esetén a keretet a megfelelő port felé továbbítja.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Kapcsolat különböző IP-hálózatok között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LAN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192.168.10.x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965960"/>
            <a:ext cx="24231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05740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404872"/>
            <a:ext cx="22037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hálózatok közti útválasztás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057400"/>
            <a:ext cx="237744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7" y="21488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Internet / WAN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7" y="249631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másik hálózat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633472"/>
            <a:ext cx="192024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633472"/>
            <a:ext cx="192024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63040" y="4343400"/>
            <a:ext cx="923544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4507992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switch a helyi hálózatban kapcsol; a router hálózatok között továbbít.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IP-LOGIKA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Mikor kell az alapértelmezett átjáró?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33172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04872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192.168.10.21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96596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05740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404872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helyi kapcsolat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96596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8" y="205740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2404872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192.168.10.1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965960"/>
            <a:ext cx="16916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30967" y="205740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Más LAN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2542032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2542032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0" y="2542032"/>
            <a:ext cx="777240" cy="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43000" y="3977639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Azonos IP-hálózat:</a:t>
            </a:r>
            <a:br/>
            <a:r>
              <a:t>a forgalom helyben maradhat.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77639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E1AA37"/>
                </a:solidFill>
                <a:latin typeface="Aptos"/>
              </a:defRPr>
            </a:pPr>
            <a:r>
              <a:t>Más IP-hálózat:</a:t>
            </a:r>
            <a:br/>
            <a:r>
              <a:t>a végpont az átjáróhoz fordul.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access point híd a vezeték nélküli és vezetékes hálózat között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148840" cy="100584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79192"/>
            <a:ext cx="19293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Wi-Fi kliens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283464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103120"/>
            <a:ext cx="2615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ACCESS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450592"/>
            <a:ext cx="261518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rádiós hozzáférés + Ethernet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2240280"/>
            <a:ext cx="2148840" cy="10058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7" y="233172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7" y="2679192"/>
            <a:ext cx="19293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vezetékes LAN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97480" y="2423160"/>
            <a:ext cx="1965960" cy="301752"/>
          </a:xfrm>
          <a:prstGeom prst="line">
            <a:avLst/>
          </a:prstGeom>
          <a:ln w="12700">
            <a:solidFill>
              <a:srgbClr val="705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97480" y="2697480"/>
            <a:ext cx="1965960" cy="27432"/>
          </a:xfrm>
          <a:prstGeom prst="line">
            <a:avLst/>
          </a:prstGeom>
          <a:ln w="12700">
            <a:solidFill>
              <a:srgbClr val="705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97480" y="2724912"/>
            <a:ext cx="1965960" cy="246888"/>
          </a:xfrm>
          <a:prstGeom prst="line">
            <a:avLst/>
          </a:prstGeom>
          <a:ln w="12700">
            <a:solidFill>
              <a:srgbClr val="705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2724912"/>
            <a:ext cx="1965961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80160" y="457200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AP helyét nem a legkényelmesebb kábelút, hanem a kívánt rádiós lefedettség alapján választjuk.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AP-ELHELYEZÉS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Wi-Fi lefedettséget az épület is alakítja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0" cy="4114800"/>
          </a:xfrm>
          <a:prstGeom prst="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063240" y="1783080"/>
            <a:ext cx="0" cy="4114800"/>
          </a:xfrm>
          <a:prstGeom prst="line">
            <a:avLst/>
          </a:prstGeom>
          <a:ln w="25400">
            <a:solidFill>
              <a:srgbClr val="5C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1783080"/>
            <a:ext cx="0" cy="4114800"/>
          </a:xfrm>
          <a:prstGeom prst="line">
            <a:avLst/>
          </a:prstGeom>
          <a:ln w="25400">
            <a:solidFill>
              <a:srgbClr val="5C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3840480"/>
            <a:ext cx="7315199" cy="0"/>
          </a:xfrm>
          <a:prstGeom prst="line">
            <a:avLst/>
          </a:prstGeom>
          <a:ln w="25400">
            <a:solidFill>
              <a:srgbClr val="5C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2331720"/>
            <a:ext cx="192024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423160"/>
            <a:ext cx="1700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AP-01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097280" y="2103120"/>
            <a:ext cx="3200400" cy="640080"/>
          </a:xfrm>
          <a:prstGeom prst="line">
            <a:avLst/>
          </a:prstGeom>
          <a:ln w="127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297680" y="2103120"/>
            <a:ext cx="2926080" cy="640080"/>
          </a:xfrm>
          <a:prstGeom prst="line">
            <a:avLst/>
          </a:prstGeom>
          <a:ln w="127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97280" y="2743200"/>
            <a:ext cx="3200400" cy="2468880"/>
          </a:xfrm>
          <a:prstGeom prst="line">
            <a:avLst/>
          </a:prstGeom>
          <a:ln w="127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97680" y="2743200"/>
            <a:ext cx="2926080" cy="2468880"/>
          </a:xfrm>
          <a:prstGeom prst="line">
            <a:avLst/>
          </a:prstGeom>
          <a:ln w="127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7680" y="2743200"/>
            <a:ext cx="0" cy="2560320"/>
          </a:xfrm>
          <a:prstGeom prst="line">
            <a:avLst/>
          </a:prstGeom>
          <a:ln w="127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1828800"/>
            <a:ext cx="301752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920240"/>
            <a:ext cx="27980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Falak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267712"/>
            <a:ext cx="2798063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csillapíthatják a jelet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063240"/>
            <a:ext cx="301752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3154680"/>
            <a:ext cx="27980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Klienssűrűség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3502152"/>
            <a:ext cx="2798063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sok eszköz = több kapacitásigény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4297680"/>
            <a:ext cx="301752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4389120"/>
            <a:ext cx="27980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Zavarás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4736592"/>
            <a:ext cx="2798063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más rádiós hálózatok is számítanak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Ethernet adat és táp egyetlen rézkábelen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377440" cy="11887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PSE - tápforrás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057400"/>
            <a:ext cx="237744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1488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Ethernet 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496312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adat + energia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2057400"/>
            <a:ext cx="237744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21488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496312"/>
            <a:ext cx="21579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PD - táplált eszköz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651760"/>
            <a:ext cx="1920240" cy="0"/>
          </a:xfrm>
          <a:prstGeom prst="line">
            <a:avLst/>
          </a:prstGeom>
          <a:ln w="762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2651760"/>
            <a:ext cx="1920240" cy="0"/>
          </a:xfrm>
          <a:prstGeom prst="line">
            <a:avLst/>
          </a:prstGeom>
          <a:ln w="76200">
            <a:solidFill>
              <a:srgbClr val="30A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80160" y="443484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Tipikus PoE-végpont: access point • IP-kamera • VoIP telefon • egyes vezérlők.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POE-TERVEZÉS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portok száma nem ugyanaz, mint a rendelkezésre álló teljesítmény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840480" cy="35661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2304D"/>
                </a:solidFill>
                <a:latin typeface="Aptos"/>
              </a:defRPr>
            </a:pPr>
            <a:r>
              <a:t>Teljes PoE keret:</a:t>
            </a:r>
            <a:br/>
            <a:r>
              <a:t>120 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783080"/>
            <a:ext cx="2057400" cy="621792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1874519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221991"/>
            <a:ext cx="183794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18 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856231"/>
            <a:ext cx="1097280" cy="43891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2560320"/>
            <a:ext cx="2057400" cy="621792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65176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999232"/>
            <a:ext cx="183794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18 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633472"/>
            <a:ext cx="1097280" cy="438912"/>
          </a:xfrm>
          <a:prstGeom prst="rect">
            <a:avLst/>
          </a:prstGeom>
          <a:solidFill>
            <a:srgbClr val="27875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3337560"/>
            <a:ext cx="2057400" cy="621792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42900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CAM-1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776472"/>
            <a:ext cx="183794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12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3410712"/>
            <a:ext cx="731520" cy="438912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4114800"/>
            <a:ext cx="2057400" cy="621792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4206240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CAM-2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4553712"/>
            <a:ext cx="183794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12 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4187952"/>
            <a:ext cx="731520" cy="438912"/>
          </a:xfrm>
          <a:prstGeom prst="rect">
            <a:avLst/>
          </a:prstGeom>
          <a:solidFill>
            <a:srgbClr val="E1AA3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4892040"/>
            <a:ext cx="2057400" cy="621792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4983479"/>
            <a:ext cx="18379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Telefon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5330952"/>
            <a:ext cx="183794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7 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4965192"/>
            <a:ext cx="426720" cy="438912"/>
          </a:xfrm>
          <a:prstGeom prst="rect">
            <a:avLst/>
          </a:prstGeom>
          <a:solidFill>
            <a:srgbClr val="7057AB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566928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Összes igény: 67 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0644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78758"/>
                </a:solidFill>
                <a:latin typeface="Aptos"/>
              </a:defRPr>
            </a:pPr>
            <a:r>
              <a:t>Marad tartalék a bővítéshez.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MENEDZSELHETŐ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Több információ és több beavatkozási lehetőség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74AD"/>
                </a:solidFill>
                <a:latin typeface="Aptos"/>
              </a:defRPr>
            </a:pPr>
            <a:r>
              <a:t>PORTÁLLAPOT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link / sebesség / hibák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74519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7057AB"/>
                </a:solidFill>
                <a:latin typeface="Aptos"/>
              </a:defRPr>
            </a:pPr>
            <a:r>
              <a:t>VLAN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6324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logikai hálózatszegmentálás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portonkénti állapot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874519"/>
            <a:ext cx="242316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9456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1AA37"/>
                </a:solidFill>
                <a:latin typeface="Aptos"/>
              </a:defRPr>
            </a:pPr>
            <a:r>
              <a:t>NAPLÓ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63240"/>
            <a:ext cx="187451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hibakeresési információ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Nagyobb épületben az üzemeltethetőség legalább olyan fontos, mint a portszám.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ÉPÜLETI 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tipikus kis rendszer adatútjai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737360"/>
            <a:ext cx="2468880" cy="100584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6048" y="182880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2176272"/>
            <a:ext cx="22494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internetkapcsolat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200400"/>
            <a:ext cx="2468880" cy="10058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329184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3639312"/>
            <a:ext cx="22494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743200"/>
            <a:ext cx="0" cy="457200"/>
          </a:xfrm>
          <a:prstGeom prst="line">
            <a:avLst/>
          </a:prstGeom>
          <a:ln w="508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4800600"/>
            <a:ext cx="173736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4892040"/>
            <a:ext cx="15179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PC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280160" y="4206240"/>
            <a:ext cx="4800600" cy="5943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4600" y="4800600"/>
            <a:ext cx="173736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4892040"/>
            <a:ext cx="15179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Nyomtató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383280" y="4206240"/>
            <a:ext cx="2697480" cy="5943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17720" y="4800600"/>
            <a:ext cx="173736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4892040"/>
            <a:ext cx="15179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486400" y="4206240"/>
            <a:ext cx="594360" cy="5943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20840" y="4800600"/>
            <a:ext cx="173736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4892040"/>
            <a:ext cx="15179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206240"/>
            <a:ext cx="1508759" cy="5943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23960" y="4800600"/>
            <a:ext cx="1737360" cy="7315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4892040"/>
            <a:ext cx="15179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VoIP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206240"/>
            <a:ext cx="3611880" cy="5943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92640" y="1874519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WAN</a:t>
            </a:r>
            <a:br/>
            <a:r>
              <a:t>↓</a:t>
            </a:r>
            <a:br/>
            <a:r>
              <a:t>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IP-kamera nem érhető el - logikus vizsgálati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7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PoE / táp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3017520"/>
            <a:ext cx="32004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148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Link 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8172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Kábel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0196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Switch 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4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2220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IP-cím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4244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Gateway / útvonal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8760" y="4617720"/>
            <a:ext cx="9144000" cy="777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4773168"/>
            <a:ext cx="8686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Fizikai réteg először - csak utána IP-beállítás és hálózati útvonal.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Kis épületi hálózat: topológia + portlista + PoE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304D"/>
                </a:solidFill>
                <a:latin typeface="Aptos"/>
              </a:defRPr>
            </a:pPr>
            <a:r>
              <a:t>PORTLISTA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60320"/>
            <a:ext cx="1234440" cy="23774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20574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1488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Eszköz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560320"/>
            <a:ext cx="1234440" cy="23774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0574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1488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560320"/>
            <a:ext cx="1234440" cy="23774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20574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1488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560320"/>
            <a:ext cx="1234440" cy="23774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057400"/>
            <a:ext cx="1234440" cy="50292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560320"/>
            <a:ext cx="1234440" cy="23774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2057400"/>
            <a:ext cx="329184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2148840"/>
            <a:ext cx="3072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496312"/>
            <a:ext cx="307238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eszköz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337560"/>
            <a:ext cx="1417320" cy="438912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3429000"/>
            <a:ext cx="11978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AP-01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372600" y="2514600"/>
            <a:ext cx="1051560" cy="1042416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955279" y="3931920"/>
            <a:ext cx="1417320" cy="438912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7" y="4023359"/>
            <a:ext cx="11978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CAM-01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372600" y="2514600"/>
            <a:ext cx="1051560" cy="1636776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955279" y="4526280"/>
            <a:ext cx="1417320" cy="438912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7" y="4617720"/>
            <a:ext cx="11978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CAM-02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372600" y="2514600"/>
            <a:ext cx="1051560" cy="2231136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55279" y="5120640"/>
            <a:ext cx="1417320" cy="438912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7" y="5212079"/>
            <a:ext cx="11978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PC-01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9372600" y="2514600"/>
            <a:ext cx="1051560" cy="2825496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43800" y="580644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Feladat: ellenőrizd a PoE keretet is!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34.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switch a helyi Ethernet-hálózat végpontjait kapcsolja össze.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router különböző IP-hálózatok között továbbít.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Az access point a Wi-Fi klienseket kapcsolja a vezetékes LAN-hoz.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PoE esetén a portszám mellett a teljesítménykeretet is tervezni kell.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Hibakereséskor táp → link → kábel/port → IP → átjáró sorrendben gondolkodunk.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DCEB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332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IP-alapú épületinformatikai</a:t>
            </a:r>
            <a:br/>
            <a:r>
              <a:t>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IP-kamera • beléptetés • kaputelefon • riasztás • épületautomatika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DDCEB"/>
                </a:solidFill>
                <a:latin typeface="Aptos"/>
              </a:defRPr>
            </a:pPr>
            <a:r>
              <a:t>közös IP-infrastruktúra → több épületüzemeltetési szolgáltatás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