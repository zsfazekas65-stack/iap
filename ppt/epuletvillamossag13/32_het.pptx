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0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94360"/>
            <a:ext cx="146304" cy="5394960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822960"/>
            <a:ext cx="9875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7DC6E7"/>
                </a:solidFill>
                <a:latin typeface="Aptos"/>
              </a:defRPr>
            </a:pPr>
            <a:r>
              <a:t>IAP • 32.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1371600"/>
            <a:ext cx="9875520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500" b="1">
                <a:solidFill>
                  <a:srgbClr val="FFFFFF"/>
                </a:solidFill>
                <a:latin typeface="Aptos Display"/>
              </a:defRPr>
            </a:pPr>
            <a:r>
              <a:t>Réz alapú</a:t>
            </a:r>
            <a:br/>
            <a:r>
              <a:t>adatátviteli hálózatok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971800"/>
            <a:ext cx="91440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0">
                <a:solidFill>
                  <a:srgbClr val="D6E6F0"/>
                </a:solidFill>
                <a:latin typeface="Aptos"/>
              </a:defRPr>
            </a:pPr>
            <a:r>
              <a:t>Sodrott érpár • árnyékolás • kategóriák • RJ45 • T568A/B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0" y="4343400"/>
            <a:ext cx="640079" cy="640080"/>
          </a:xfrm>
          <a:prstGeom prst="line">
            <a:avLst/>
          </a:prstGeom>
          <a:ln w="635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7315200" y="4343400"/>
            <a:ext cx="640079" cy="640080"/>
          </a:xfrm>
          <a:prstGeom prst="line">
            <a:avLst/>
          </a:prstGeom>
          <a:ln w="635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412480" y="4343400"/>
            <a:ext cx="640079" cy="640080"/>
          </a:xfrm>
          <a:prstGeom prst="line">
            <a:avLst/>
          </a:prstGeom>
          <a:ln w="63500">
            <a:solidFill>
              <a:srgbClr val="DC7D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8412480" y="4343400"/>
            <a:ext cx="640079" cy="640080"/>
          </a:xfrm>
          <a:prstGeom prst="line">
            <a:avLst/>
          </a:prstGeom>
          <a:ln w="63500">
            <a:solidFill>
              <a:srgbClr val="DC7D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509760" y="4343400"/>
            <a:ext cx="640080" cy="640080"/>
          </a:xfrm>
          <a:prstGeom prst="line">
            <a:avLst/>
          </a:prstGeom>
          <a:ln w="63500">
            <a:solidFill>
              <a:srgbClr val="2E91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9509760" y="4343400"/>
            <a:ext cx="640080" cy="640080"/>
          </a:xfrm>
          <a:prstGeom prst="line">
            <a:avLst/>
          </a:prstGeom>
          <a:ln w="63500">
            <a:solidFill>
              <a:srgbClr val="2E91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607040" y="4343400"/>
            <a:ext cx="640079" cy="640080"/>
          </a:xfrm>
          <a:prstGeom prst="line">
            <a:avLst/>
          </a:prstGeom>
          <a:ln w="63500">
            <a:solidFill>
              <a:srgbClr val="8255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10607040" y="4343400"/>
            <a:ext cx="640079" cy="640080"/>
          </a:xfrm>
          <a:prstGeom prst="line">
            <a:avLst/>
          </a:prstGeom>
          <a:ln w="63500">
            <a:solidFill>
              <a:srgbClr val="8255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051560" y="5852160"/>
            <a:ext cx="67665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7DC6E7"/>
                </a:solidFill>
                <a:latin typeface="Aptos"/>
              </a:defRPr>
            </a:pPr>
            <a:r>
              <a:t>Négy érpár - precíz szerelés - megbízható adatátvitel.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FELÉPÍTÉS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Négy sodrott érpár egyetlen kábelben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2377440" cy="3291840"/>
          </a:xfrm>
          <a:prstGeom prst="roundRect">
            <a:avLst/>
          </a:prstGeom>
          <a:solidFill>
            <a:srgbClr val="F0F4F7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03120"/>
            <a:ext cx="2103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2374AD"/>
                </a:solidFill>
                <a:latin typeface="Aptos"/>
              </a:defRPr>
            </a:pPr>
            <a:r>
              <a:t>Kék pár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43000" y="2788920"/>
            <a:ext cx="1554480" cy="228600"/>
          </a:xfrm>
          <a:prstGeom prst="line">
            <a:avLst/>
          </a:prstGeom>
          <a:ln w="381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1143000" y="2788920"/>
            <a:ext cx="1554480" cy="228600"/>
          </a:xfrm>
          <a:prstGeom prst="line">
            <a:avLst/>
          </a:prstGeom>
          <a:ln w="38100">
            <a:solidFill>
              <a:srgbClr val="B9C3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143000" y="3136391"/>
            <a:ext cx="1554480" cy="228600"/>
          </a:xfrm>
          <a:prstGeom prst="line">
            <a:avLst/>
          </a:prstGeom>
          <a:ln w="381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1143000" y="3136391"/>
            <a:ext cx="1554480" cy="228600"/>
          </a:xfrm>
          <a:prstGeom prst="line">
            <a:avLst/>
          </a:prstGeom>
          <a:ln w="38100">
            <a:solidFill>
              <a:srgbClr val="B9C3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143000" y="3483863"/>
            <a:ext cx="1554480" cy="228600"/>
          </a:xfrm>
          <a:prstGeom prst="line">
            <a:avLst/>
          </a:prstGeom>
          <a:ln w="381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1143000" y="3483863"/>
            <a:ext cx="1554480" cy="228600"/>
          </a:xfrm>
          <a:prstGeom prst="line">
            <a:avLst/>
          </a:prstGeom>
          <a:ln w="38100">
            <a:solidFill>
              <a:srgbClr val="B9C3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143000" y="3831335"/>
            <a:ext cx="1554480" cy="228600"/>
          </a:xfrm>
          <a:prstGeom prst="line">
            <a:avLst/>
          </a:prstGeom>
          <a:ln w="381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1143000" y="3831335"/>
            <a:ext cx="1554480" cy="228600"/>
          </a:xfrm>
          <a:prstGeom prst="line">
            <a:avLst/>
          </a:prstGeom>
          <a:ln w="38100">
            <a:solidFill>
              <a:srgbClr val="B9C3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143000" y="4178808"/>
            <a:ext cx="1554480" cy="228600"/>
          </a:xfrm>
          <a:prstGeom prst="line">
            <a:avLst/>
          </a:prstGeom>
          <a:ln w="381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1143000" y="4178808"/>
            <a:ext cx="1554480" cy="228600"/>
          </a:xfrm>
          <a:prstGeom prst="line">
            <a:avLst/>
          </a:prstGeom>
          <a:ln w="38100">
            <a:solidFill>
              <a:srgbClr val="B9C3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3520439" y="1828800"/>
            <a:ext cx="2377440" cy="3291840"/>
          </a:xfrm>
          <a:prstGeom prst="roundRect">
            <a:avLst/>
          </a:prstGeom>
          <a:solidFill>
            <a:srgbClr val="F0F4F7"/>
          </a:solidFill>
          <a:ln>
            <a:solidFill>
              <a:srgbClr val="DC7D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599" y="2103120"/>
            <a:ext cx="2103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DC7D28"/>
                </a:solidFill>
                <a:latin typeface="Aptos"/>
              </a:defRPr>
            </a:pPr>
            <a:r>
              <a:t>Narancs pár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931920" y="2788920"/>
            <a:ext cx="1554480" cy="228600"/>
          </a:xfrm>
          <a:prstGeom prst="line">
            <a:avLst/>
          </a:prstGeom>
          <a:ln w="38100">
            <a:solidFill>
              <a:srgbClr val="DC7D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3931920" y="2788920"/>
            <a:ext cx="1554480" cy="228600"/>
          </a:xfrm>
          <a:prstGeom prst="line">
            <a:avLst/>
          </a:prstGeom>
          <a:ln w="38100">
            <a:solidFill>
              <a:srgbClr val="B9C3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931920" y="3136391"/>
            <a:ext cx="1554480" cy="228600"/>
          </a:xfrm>
          <a:prstGeom prst="line">
            <a:avLst/>
          </a:prstGeom>
          <a:ln w="38100">
            <a:solidFill>
              <a:srgbClr val="DC7D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3931920" y="3136391"/>
            <a:ext cx="1554480" cy="228600"/>
          </a:xfrm>
          <a:prstGeom prst="line">
            <a:avLst/>
          </a:prstGeom>
          <a:ln w="38100">
            <a:solidFill>
              <a:srgbClr val="B9C3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931920" y="3483863"/>
            <a:ext cx="1554480" cy="228600"/>
          </a:xfrm>
          <a:prstGeom prst="line">
            <a:avLst/>
          </a:prstGeom>
          <a:ln w="38100">
            <a:solidFill>
              <a:srgbClr val="DC7D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3931920" y="3483863"/>
            <a:ext cx="1554480" cy="228600"/>
          </a:xfrm>
          <a:prstGeom prst="line">
            <a:avLst/>
          </a:prstGeom>
          <a:ln w="38100">
            <a:solidFill>
              <a:srgbClr val="B9C3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931920" y="3831335"/>
            <a:ext cx="1554480" cy="228600"/>
          </a:xfrm>
          <a:prstGeom prst="line">
            <a:avLst/>
          </a:prstGeom>
          <a:ln w="38100">
            <a:solidFill>
              <a:srgbClr val="DC7D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3931920" y="3831335"/>
            <a:ext cx="1554480" cy="228600"/>
          </a:xfrm>
          <a:prstGeom prst="line">
            <a:avLst/>
          </a:prstGeom>
          <a:ln w="38100">
            <a:solidFill>
              <a:srgbClr val="B9C3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3931920" y="4178808"/>
            <a:ext cx="1554480" cy="228600"/>
          </a:xfrm>
          <a:prstGeom prst="line">
            <a:avLst/>
          </a:prstGeom>
          <a:ln w="38100">
            <a:solidFill>
              <a:srgbClr val="DC7D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3931920" y="4178808"/>
            <a:ext cx="1554480" cy="228600"/>
          </a:xfrm>
          <a:prstGeom prst="line">
            <a:avLst/>
          </a:prstGeom>
          <a:ln w="38100">
            <a:solidFill>
              <a:srgbClr val="B9C3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6309359" y="1828800"/>
            <a:ext cx="2377440" cy="3291840"/>
          </a:xfrm>
          <a:prstGeom prst="roundRect">
            <a:avLst/>
          </a:prstGeom>
          <a:solidFill>
            <a:srgbClr val="F0F4F7"/>
          </a:solidFill>
          <a:ln>
            <a:solidFill>
              <a:srgbClr val="2E9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6520" y="2103120"/>
            <a:ext cx="2103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2E914E"/>
                </a:solidFill>
                <a:latin typeface="Aptos"/>
              </a:defRPr>
            </a:pPr>
            <a:r>
              <a:t>Zöld pár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720840" y="2788920"/>
            <a:ext cx="1554479" cy="228600"/>
          </a:xfrm>
          <a:prstGeom prst="line">
            <a:avLst/>
          </a:prstGeom>
          <a:ln w="38100">
            <a:solidFill>
              <a:srgbClr val="2E91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>
            <a:off x="6720840" y="2788920"/>
            <a:ext cx="1554479" cy="228600"/>
          </a:xfrm>
          <a:prstGeom prst="line">
            <a:avLst/>
          </a:prstGeom>
          <a:ln w="38100">
            <a:solidFill>
              <a:srgbClr val="B9C3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720840" y="3136391"/>
            <a:ext cx="1554479" cy="228600"/>
          </a:xfrm>
          <a:prstGeom prst="line">
            <a:avLst/>
          </a:prstGeom>
          <a:ln w="38100">
            <a:solidFill>
              <a:srgbClr val="2E91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6720840" y="3136391"/>
            <a:ext cx="1554479" cy="228600"/>
          </a:xfrm>
          <a:prstGeom prst="line">
            <a:avLst/>
          </a:prstGeom>
          <a:ln w="38100">
            <a:solidFill>
              <a:srgbClr val="B9C3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6720840" y="3483863"/>
            <a:ext cx="1554479" cy="228600"/>
          </a:xfrm>
          <a:prstGeom prst="line">
            <a:avLst/>
          </a:prstGeom>
          <a:ln w="38100">
            <a:solidFill>
              <a:srgbClr val="2E91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>
            <a:off x="6720840" y="3483863"/>
            <a:ext cx="1554479" cy="228600"/>
          </a:xfrm>
          <a:prstGeom prst="line">
            <a:avLst/>
          </a:prstGeom>
          <a:ln w="38100">
            <a:solidFill>
              <a:srgbClr val="B9C3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6720840" y="3831335"/>
            <a:ext cx="1554479" cy="228600"/>
          </a:xfrm>
          <a:prstGeom prst="line">
            <a:avLst/>
          </a:prstGeom>
          <a:ln w="38100">
            <a:solidFill>
              <a:srgbClr val="2E91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>
            <a:off x="6720840" y="3831335"/>
            <a:ext cx="1554479" cy="228600"/>
          </a:xfrm>
          <a:prstGeom prst="line">
            <a:avLst/>
          </a:prstGeom>
          <a:ln w="38100">
            <a:solidFill>
              <a:srgbClr val="B9C3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6720840" y="4178808"/>
            <a:ext cx="1554479" cy="228600"/>
          </a:xfrm>
          <a:prstGeom prst="line">
            <a:avLst/>
          </a:prstGeom>
          <a:ln w="38100">
            <a:solidFill>
              <a:srgbClr val="2E91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>
            <a:off x="6720840" y="4178808"/>
            <a:ext cx="1554479" cy="228600"/>
          </a:xfrm>
          <a:prstGeom prst="line">
            <a:avLst/>
          </a:prstGeom>
          <a:ln w="38100">
            <a:solidFill>
              <a:srgbClr val="B9C3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9098280" y="1828800"/>
            <a:ext cx="2377440" cy="3291840"/>
          </a:xfrm>
          <a:prstGeom prst="roundRect">
            <a:avLst/>
          </a:prstGeom>
          <a:solidFill>
            <a:srgbClr val="F0F4F7"/>
          </a:solidFill>
          <a:ln>
            <a:solidFill>
              <a:srgbClr val="825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235440" y="2103120"/>
            <a:ext cx="2103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825534"/>
                </a:solidFill>
                <a:latin typeface="Aptos"/>
              </a:defRPr>
            </a:pPr>
            <a:r>
              <a:t>Barna pár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9509759" y="2788920"/>
            <a:ext cx="1554481" cy="228600"/>
          </a:xfrm>
          <a:prstGeom prst="line">
            <a:avLst/>
          </a:prstGeom>
          <a:ln w="38100">
            <a:solidFill>
              <a:srgbClr val="8255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>
            <a:off x="9509759" y="2788920"/>
            <a:ext cx="1554481" cy="228600"/>
          </a:xfrm>
          <a:prstGeom prst="line">
            <a:avLst/>
          </a:prstGeom>
          <a:ln w="38100">
            <a:solidFill>
              <a:srgbClr val="B9C3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9509759" y="3136391"/>
            <a:ext cx="1554481" cy="228600"/>
          </a:xfrm>
          <a:prstGeom prst="line">
            <a:avLst/>
          </a:prstGeom>
          <a:ln w="38100">
            <a:solidFill>
              <a:srgbClr val="8255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H="1">
            <a:off x="9509759" y="3136391"/>
            <a:ext cx="1554481" cy="228600"/>
          </a:xfrm>
          <a:prstGeom prst="line">
            <a:avLst/>
          </a:prstGeom>
          <a:ln w="38100">
            <a:solidFill>
              <a:srgbClr val="B9C3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509759" y="3483863"/>
            <a:ext cx="1554481" cy="228600"/>
          </a:xfrm>
          <a:prstGeom prst="line">
            <a:avLst/>
          </a:prstGeom>
          <a:ln w="38100">
            <a:solidFill>
              <a:srgbClr val="8255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>
            <a:off x="9509759" y="3483863"/>
            <a:ext cx="1554481" cy="228600"/>
          </a:xfrm>
          <a:prstGeom prst="line">
            <a:avLst/>
          </a:prstGeom>
          <a:ln w="38100">
            <a:solidFill>
              <a:srgbClr val="B9C3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9509759" y="3831335"/>
            <a:ext cx="1554481" cy="228600"/>
          </a:xfrm>
          <a:prstGeom prst="line">
            <a:avLst/>
          </a:prstGeom>
          <a:ln w="38100">
            <a:solidFill>
              <a:srgbClr val="8255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H="1">
            <a:off x="9509759" y="3831335"/>
            <a:ext cx="1554481" cy="228600"/>
          </a:xfrm>
          <a:prstGeom prst="line">
            <a:avLst/>
          </a:prstGeom>
          <a:ln w="38100">
            <a:solidFill>
              <a:srgbClr val="B9C3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9509759" y="4178808"/>
            <a:ext cx="1554481" cy="228600"/>
          </a:xfrm>
          <a:prstGeom prst="line">
            <a:avLst/>
          </a:prstGeom>
          <a:ln w="38100">
            <a:solidFill>
              <a:srgbClr val="8255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H="1">
            <a:off x="9509759" y="4178808"/>
            <a:ext cx="1554481" cy="228600"/>
          </a:xfrm>
          <a:prstGeom prst="line">
            <a:avLst/>
          </a:prstGeom>
          <a:ln w="38100">
            <a:solidFill>
              <a:srgbClr val="B9C3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1371600" y="5440680"/>
            <a:ext cx="94183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12304D"/>
                </a:solidFill>
                <a:latin typeface="Aptos"/>
              </a:defRPr>
            </a:pPr>
            <a:r>
              <a:t>A sodrás csökkenti a külső zavarok és a párok közötti áthallás hatását.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JELÁTVITEL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Miért jó a szimmetrikus érpár?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011680"/>
            <a:ext cx="2286000" cy="1097280"/>
          </a:xfrm>
          <a:prstGeom prst="roundRect">
            <a:avLst/>
          </a:prstGeom>
          <a:solidFill>
            <a:srgbClr val="E8F3FA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2103120"/>
            <a:ext cx="2066543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Adó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450592"/>
            <a:ext cx="2066543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ellentétes jelkomponensek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971800" y="2423160"/>
            <a:ext cx="5989320" cy="0"/>
          </a:xfrm>
          <a:prstGeom prst="line">
            <a:avLst/>
          </a:prstGeom>
          <a:ln w="508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971800" y="2971800"/>
            <a:ext cx="5989320" cy="0"/>
          </a:xfrm>
          <a:prstGeom prst="line">
            <a:avLst/>
          </a:prstGeom>
          <a:ln w="508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840480" y="1783080"/>
            <a:ext cx="731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BE433F"/>
                </a:solidFill>
                <a:latin typeface="Aptos"/>
              </a:defRPr>
            </a:pPr>
            <a:r>
              <a:t>zavar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206240" y="2057400"/>
            <a:ext cx="0" cy="1280160"/>
          </a:xfrm>
          <a:prstGeom prst="line">
            <a:avLst/>
          </a:prstGeom>
          <a:ln w="12700">
            <a:solidFill>
              <a:srgbClr val="BE43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303520" y="1783080"/>
            <a:ext cx="731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BE433F"/>
                </a:solidFill>
                <a:latin typeface="Aptos"/>
              </a:defRPr>
            </a:pPr>
            <a:r>
              <a:t>zavar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669280" y="2057400"/>
            <a:ext cx="0" cy="1280160"/>
          </a:xfrm>
          <a:prstGeom prst="line">
            <a:avLst/>
          </a:prstGeom>
          <a:ln w="12700">
            <a:solidFill>
              <a:srgbClr val="BE43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766560" y="1783080"/>
            <a:ext cx="731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BE433F"/>
                </a:solidFill>
                <a:latin typeface="Aptos"/>
              </a:defRPr>
            </a:pPr>
            <a:r>
              <a:t>zavar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132320" y="2057400"/>
            <a:ext cx="0" cy="1280160"/>
          </a:xfrm>
          <a:prstGeom prst="line">
            <a:avLst/>
          </a:prstGeom>
          <a:ln w="12700">
            <a:solidFill>
              <a:srgbClr val="BE43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229600" y="1783080"/>
            <a:ext cx="731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BE433F"/>
                </a:solidFill>
                <a:latin typeface="Aptos"/>
              </a:defRPr>
            </a:pPr>
            <a:r>
              <a:t>zavar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595360" y="2057400"/>
            <a:ext cx="0" cy="1280160"/>
          </a:xfrm>
          <a:prstGeom prst="line">
            <a:avLst/>
          </a:prstGeom>
          <a:ln w="12700">
            <a:solidFill>
              <a:srgbClr val="BE43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961120" y="2011680"/>
            <a:ext cx="2286000" cy="1097280"/>
          </a:xfrm>
          <a:prstGeom prst="roundRect">
            <a:avLst/>
          </a:prstGeom>
          <a:solidFill>
            <a:srgbClr val="EFF7F2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70848" y="2103120"/>
            <a:ext cx="2066543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Vevő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70848" y="2450592"/>
            <a:ext cx="2066543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a két ér különbségét figyeli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20240" y="4343400"/>
            <a:ext cx="8321040" cy="822960"/>
          </a:xfrm>
          <a:prstGeom prst="roundRect">
            <a:avLst/>
          </a:prstGeom>
          <a:solidFill>
            <a:srgbClr val="E8F3FA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48840" y="4507992"/>
            <a:ext cx="78638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12304D"/>
                </a:solidFill>
                <a:latin typeface="Aptos"/>
              </a:defRPr>
            </a:pPr>
            <a:r>
              <a:t>A mindkét érre hasonlóan jutó zavar jelentős része elnyomható.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ÁRNYÉKOLÁS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Mit jelentenek az U, F és S betűk?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828800"/>
            <a:ext cx="2926080" cy="2560320"/>
          </a:xfrm>
          <a:prstGeom prst="roundRect">
            <a:avLst/>
          </a:prstGeom>
          <a:solidFill>
            <a:srgbClr val="F0F4F7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03120"/>
            <a:ext cx="25603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400" b="1">
                <a:solidFill>
                  <a:srgbClr val="2374AD"/>
                </a:solidFill>
                <a:latin typeface="Aptos"/>
              </a:defRPr>
            </a:pPr>
            <a:r>
              <a:t>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108960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nincs árnyékolás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1828800"/>
            <a:ext cx="2926080" cy="2560320"/>
          </a:xfrm>
          <a:prstGeom prst="roundRect">
            <a:avLst/>
          </a:prstGeom>
          <a:solidFill>
            <a:srgbClr val="F0F4F7"/>
          </a:solidFill>
          <a:ln>
            <a:solidFill>
              <a:srgbClr val="E1A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0" y="2103120"/>
            <a:ext cx="25603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400" b="1">
                <a:solidFill>
                  <a:srgbClr val="E1AA37"/>
                </a:solidFill>
                <a:latin typeface="Aptos"/>
              </a:defRPr>
            </a:pPr>
            <a:r>
              <a:t>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59" y="3108960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fólia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1828800"/>
            <a:ext cx="2926080" cy="2560320"/>
          </a:xfrm>
          <a:prstGeom prst="roundRect">
            <a:avLst/>
          </a:prstGeom>
          <a:solidFill>
            <a:srgbClr val="F0F4F7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59" y="2103120"/>
            <a:ext cx="25603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400" b="1">
                <a:solidFill>
                  <a:srgbClr val="278758"/>
                </a:solidFill>
                <a:latin typeface="Aptos"/>
              </a:defRPr>
            </a:pPr>
            <a:r>
              <a:t>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3108960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fonott árnyékolás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4892040"/>
            <a:ext cx="9601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12304D"/>
                </a:solidFill>
                <a:latin typeface="Aptos"/>
              </a:defRPr>
            </a:pPr>
            <a:r>
              <a:t>A jelölés első része a teljes kábel, a második az érpárok árnyékolását írja 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KÁBELTÍPUSOK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Négy gyakori árnyékolási kialakítás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828800"/>
            <a:ext cx="2423160" cy="3200400"/>
          </a:xfrm>
          <a:prstGeom prst="roundRect">
            <a:avLst/>
          </a:prstGeom>
          <a:solidFill>
            <a:srgbClr val="F0F4F7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21488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900" b="1">
                <a:solidFill>
                  <a:srgbClr val="2374AD"/>
                </a:solidFill>
                <a:latin typeface="Aptos"/>
              </a:defRPr>
            </a:pPr>
            <a:r>
              <a:t>U/UTP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017520"/>
            <a:ext cx="1874519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12304D"/>
                </a:solidFill>
                <a:latin typeface="Aptos"/>
              </a:defRPr>
            </a:pPr>
            <a:r>
              <a:t>nincs közös</a:t>
            </a:r>
            <a:br/>
            <a:r>
              <a:t>nincs páronkénti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828800"/>
            <a:ext cx="2423160" cy="3200400"/>
          </a:xfrm>
          <a:prstGeom prst="roundRect">
            <a:avLst/>
          </a:prstGeom>
          <a:solidFill>
            <a:srgbClr val="F0F4F7"/>
          </a:solidFill>
          <a:ln>
            <a:solidFill>
              <a:srgbClr val="E1A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2148840"/>
            <a:ext cx="21488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900" b="1">
                <a:solidFill>
                  <a:srgbClr val="E1AA37"/>
                </a:solidFill>
                <a:latin typeface="Aptos"/>
              </a:defRPr>
            </a:pPr>
            <a:r>
              <a:t>F/UTP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3017520"/>
            <a:ext cx="1874519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12304D"/>
                </a:solidFill>
                <a:latin typeface="Aptos"/>
              </a:defRPr>
            </a:pPr>
            <a:r>
              <a:t>közös fólia</a:t>
            </a:r>
            <a:br/>
            <a:r>
              <a:t>párok árnyékolatlanok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828800"/>
            <a:ext cx="2423160" cy="3200400"/>
          </a:xfrm>
          <a:prstGeom prst="roundRect">
            <a:avLst/>
          </a:prstGeom>
          <a:solidFill>
            <a:srgbClr val="F0F4F7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148840"/>
            <a:ext cx="21488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900" b="1">
                <a:solidFill>
                  <a:srgbClr val="278758"/>
                </a:solidFill>
                <a:latin typeface="Aptos"/>
              </a:defRPr>
            </a:pPr>
            <a:r>
              <a:t>U/FTP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3017520"/>
            <a:ext cx="1874519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12304D"/>
                </a:solidFill>
                <a:latin typeface="Aptos"/>
              </a:defRPr>
            </a:pPr>
            <a:r>
              <a:t>nincs közös</a:t>
            </a:r>
            <a:br/>
            <a:r>
              <a:t>páronként fólia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98280" y="1828800"/>
            <a:ext cx="2423160" cy="3200400"/>
          </a:xfrm>
          <a:prstGeom prst="roundRect">
            <a:avLst/>
          </a:prstGeom>
          <a:solidFill>
            <a:srgbClr val="F0F4F7"/>
          </a:solidFill>
          <a:ln>
            <a:solidFill>
              <a:srgbClr val="BE43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35440" y="2148840"/>
            <a:ext cx="21488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900" b="1">
                <a:solidFill>
                  <a:srgbClr val="BE433F"/>
                </a:solidFill>
                <a:latin typeface="Aptos"/>
              </a:defRPr>
            </a:pPr>
            <a:r>
              <a:t>S/FTP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72600" y="3017520"/>
            <a:ext cx="1874519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12304D"/>
                </a:solidFill>
                <a:latin typeface="Aptos"/>
              </a:defRPr>
            </a:pPr>
            <a:r>
              <a:t>fonott közös</a:t>
            </a:r>
            <a:br/>
            <a:r>
              <a:t>páronként fólia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5394960"/>
            <a:ext cx="94183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Az árnyékolás csak megfelelő rendszerkialakítással és szereléssel adja a várt előnyt.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KATEGÓRIÁK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A kábel felirata önmagában nem tesz jó hálózatot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103120"/>
            <a:ext cx="2148840" cy="1188720"/>
          </a:xfrm>
          <a:prstGeom prst="roundRect">
            <a:avLst/>
          </a:prstGeom>
          <a:solidFill>
            <a:srgbClr val="E8F3FA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2194560"/>
            <a:ext cx="19293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Kábel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2542032"/>
            <a:ext cx="1929384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kategória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40" y="2103120"/>
            <a:ext cx="2148840" cy="1188720"/>
          </a:xfrm>
          <a:prstGeom prst="roundRect">
            <a:avLst/>
          </a:prstGeom>
          <a:solidFill>
            <a:srgbClr val="F0F4F7"/>
          </a:solidFill>
          <a:ln>
            <a:solidFill>
              <a:srgbClr val="E1A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0168" y="2194560"/>
            <a:ext cx="19293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Aljzat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30168" y="2542032"/>
            <a:ext cx="1929384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komponens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2103120"/>
            <a:ext cx="2148840" cy="1188720"/>
          </a:xfrm>
          <a:prstGeom prst="roundRect">
            <a:avLst/>
          </a:prstGeom>
          <a:solidFill>
            <a:srgbClr val="E8F3FA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6248" y="2194560"/>
            <a:ext cx="19293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Patch panel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6248" y="2542032"/>
            <a:ext cx="1929384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komponens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72600" y="2103120"/>
            <a:ext cx="2148840" cy="1188720"/>
          </a:xfrm>
          <a:prstGeom prst="roundRect">
            <a:avLst/>
          </a:prstGeom>
          <a:solidFill>
            <a:srgbClr val="EFF7F2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82328" y="2194560"/>
            <a:ext cx="19293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Szerelés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82328" y="2542032"/>
            <a:ext cx="1929384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minőség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743200" y="2697480"/>
            <a:ext cx="777240" cy="0"/>
          </a:xfrm>
          <a:prstGeom prst="line">
            <a:avLst/>
          </a:prstGeom>
          <a:ln w="381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669280" y="2697480"/>
            <a:ext cx="777240" cy="0"/>
          </a:xfrm>
          <a:prstGeom prst="line">
            <a:avLst/>
          </a:prstGeom>
          <a:ln w="381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595360" y="2697480"/>
            <a:ext cx="777240" cy="0"/>
          </a:xfrm>
          <a:prstGeom prst="line">
            <a:avLst/>
          </a:prstGeom>
          <a:ln w="381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1371600" y="4434840"/>
            <a:ext cx="9418320" cy="822960"/>
          </a:xfrm>
          <a:prstGeom prst="roundRect">
            <a:avLst/>
          </a:prstGeom>
          <a:solidFill>
            <a:srgbClr val="F9F5E7"/>
          </a:solidFill>
          <a:ln>
            <a:solidFill>
              <a:srgbClr val="E1A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00200" y="4599432"/>
            <a:ext cx="89611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A teljes összeköttetés teljesítményét a leggyengébb elem és a szerelési minőség is befolyásolja.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CSATLAKOZÁS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8P8C moduláris csatlakozó - köznyelvben RJ45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828800"/>
            <a:ext cx="4572000" cy="3383280"/>
          </a:xfrm>
          <a:prstGeom prst="roundRect">
            <a:avLst/>
          </a:prstGeom>
          <a:solidFill>
            <a:srgbClr val="F0F4F7"/>
          </a:solidFill>
          <a:ln>
            <a:solidFill>
              <a:srgbClr val="12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80160" y="2240280"/>
            <a:ext cx="292608" cy="1188720"/>
          </a:xfrm>
          <a:prstGeom prst="rect">
            <a:avLst/>
          </a:prstGeom>
          <a:solidFill>
            <a:srgbClr val="E1AA37"/>
          </a:solidFill>
          <a:ln>
            <a:solidFill>
              <a:srgbClr val="E1A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52728" y="3611880"/>
            <a:ext cx="34747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12304D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1755648" y="2240280"/>
            <a:ext cx="292608" cy="1188720"/>
          </a:xfrm>
          <a:prstGeom prst="rect">
            <a:avLst/>
          </a:prstGeom>
          <a:solidFill>
            <a:srgbClr val="E1AA37"/>
          </a:solidFill>
          <a:ln>
            <a:solidFill>
              <a:srgbClr val="E1A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28216" y="3611880"/>
            <a:ext cx="34747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12304D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31136" y="2240280"/>
            <a:ext cx="292608" cy="1188720"/>
          </a:xfrm>
          <a:prstGeom prst="rect">
            <a:avLst/>
          </a:prstGeom>
          <a:solidFill>
            <a:srgbClr val="E1AA37"/>
          </a:solidFill>
          <a:ln>
            <a:solidFill>
              <a:srgbClr val="E1A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03704" y="3611880"/>
            <a:ext cx="34747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12304D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06624" y="2240280"/>
            <a:ext cx="292608" cy="1188720"/>
          </a:xfrm>
          <a:prstGeom prst="rect">
            <a:avLst/>
          </a:prstGeom>
          <a:solidFill>
            <a:srgbClr val="E1AA37"/>
          </a:solidFill>
          <a:ln>
            <a:solidFill>
              <a:srgbClr val="E1A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79192" y="3611880"/>
            <a:ext cx="34747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12304D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82112" y="2240280"/>
            <a:ext cx="292608" cy="1188720"/>
          </a:xfrm>
          <a:prstGeom prst="rect">
            <a:avLst/>
          </a:prstGeom>
          <a:solidFill>
            <a:srgbClr val="E1AA37"/>
          </a:solidFill>
          <a:ln>
            <a:solidFill>
              <a:srgbClr val="E1A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54680" y="3611880"/>
            <a:ext cx="34747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12304D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0" y="2240280"/>
            <a:ext cx="292608" cy="1188720"/>
          </a:xfrm>
          <a:prstGeom prst="rect">
            <a:avLst/>
          </a:prstGeom>
          <a:solidFill>
            <a:srgbClr val="E1AA37"/>
          </a:solidFill>
          <a:ln>
            <a:solidFill>
              <a:srgbClr val="E1A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30168" y="3611880"/>
            <a:ext cx="34747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12304D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33087" y="2240280"/>
            <a:ext cx="292608" cy="1188720"/>
          </a:xfrm>
          <a:prstGeom prst="rect">
            <a:avLst/>
          </a:prstGeom>
          <a:solidFill>
            <a:srgbClr val="E1AA37"/>
          </a:solidFill>
          <a:ln>
            <a:solidFill>
              <a:srgbClr val="E1A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05655" y="3611880"/>
            <a:ext cx="34747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12304D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08576" y="2240280"/>
            <a:ext cx="292608" cy="1188720"/>
          </a:xfrm>
          <a:prstGeom prst="rect">
            <a:avLst/>
          </a:prstGeom>
          <a:solidFill>
            <a:srgbClr val="E1AA37"/>
          </a:solidFill>
          <a:ln>
            <a:solidFill>
              <a:srgbClr val="E1A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81144" y="3611880"/>
            <a:ext cx="34747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12304D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4617720"/>
            <a:ext cx="3749039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2304D"/>
                </a:solidFill>
                <a:latin typeface="Aptos"/>
              </a:defRPr>
            </a:pPr>
            <a:r>
              <a:t>8 érintkező • 4 érpár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1828800"/>
            <a:ext cx="5029200" cy="914400"/>
          </a:xfrm>
          <a:prstGeom prst="roundRect">
            <a:avLst/>
          </a:prstGeom>
          <a:solidFill>
            <a:srgbClr val="E8F3FA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27648" y="1920240"/>
            <a:ext cx="480974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Patch kábel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27648" y="2267712"/>
            <a:ext cx="4809744" cy="41147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dugóval szerelt, hajlékony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3063240"/>
            <a:ext cx="5029200" cy="914400"/>
          </a:xfrm>
          <a:prstGeom prst="roundRect">
            <a:avLst/>
          </a:prstGeom>
          <a:solidFill>
            <a:srgbClr val="E8F3FA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27648" y="3154680"/>
            <a:ext cx="480974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Fix kábel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27648" y="3502152"/>
            <a:ext cx="4809744" cy="41147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keystone / patch panel lezárás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4297680"/>
            <a:ext cx="5029200" cy="914400"/>
          </a:xfrm>
          <a:prstGeom prst="roundRect">
            <a:avLst/>
          </a:prstGeom>
          <a:solidFill>
            <a:srgbClr val="F0F4F7"/>
          </a:solidFill>
          <a:ln>
            <a:solidFill>
              <a:srgbClr val="E1A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27648" y="4389120"/>
            <a:ext cx="480974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Fontos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27648" y="4736592"/>
            <a:ext cx="4809744" cy="41147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a csatlakozó illeszkedjen a kábelhez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BEKÖTÉSI SÉMA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T568A és T568B - ugyanaz a négy pár, más sorrend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5029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900" b="1">
                <a:solidFill>
                  <a:srgbClr val="12304D"/>
                </a:solidFill>
                <a:latin typeface="Aptos"/>
              </a:defRPr>
            </a:pPr>
            <a:r>
              <a:t>T568A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331720"/>
            <a:ext cx="475488" cy="1828800"/>
          </a:xfrm>
          <a:prstGeom prst="rect">
            <a:avLst/>
          </a:prstGeom>
          <a:solidFill>
            <a:srgbClr val="2E914E"/>
          </a:solidFill>
          <a:ln>
            <a:solidFill>
              <a:srgbClr val="2E9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4297680"/>
            <a:ext cx="47548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12304D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1307592" y="2331720"/>
            <a:ext cx="475488" cy="1828800"/>
          </a:xfrm>
          <a:prstGeom prst="rect">
            <a:avLst/>
          </a:prstGeom>
          <a:solidFill>
            <a:srgbClr val="2E914E"/>
          </a:solidFill>
          <a:ln>
            <a:solidFill>
              <a:srgbClr val="2E9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07592" y="4297680"/>
            <a:ext cx="47548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12304D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29384" y="2331720"/>
            <a:ext cx="475488" cy="1828800"/>
          </a:xfrm>
          <a:prstGeom prst="rect">
            <a:avLst/>
          </a:prstGeom>
          <a:solidFill>
            <a:srgbClr val="DC7D28"/>
          </a:solidFill>
          <a:ln>
            <a:solidFill>
              <a:srgbClr val="DC7D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29384" y="4297680"/>
            <a:ext cx="47548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12304D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51176" y="2331720"/>
            <a:ext cx="475488" cy="1828800"/>
          </a:xfrm>
          <a:prstGeom prst="rect">
            <a:avLst/>
          </a:prstGeom>
          <a:solidFill>
            <a:srgbClr val="2374AD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51176" y="4297680"/>
            <a:ext cx="47548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12304D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72968" y="2331720"/>
            <a:ext cx="475488" cy="1828800"/>
          </a:xfrm>
          <a:prstGeom prst="rect">
            <a:avLst/>
          </a:prstGeom>
          <a:solidFill>
            <a:srgbClr val="2374AD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72968" y="4297680"/>
            <a:ext cx="47548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12304D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94760" y="2331720"/>
            <a:ext cx="475488" cy="1828800"/>
          </a:xfrm>
          <a:prstGeom prst="rect">
            <a:avLst/>
          </a:prstGeom>
          <a:solidFill>
            <a:srgbClr val="DC7D28"/>
          </a:solidFill>
          <a:ln>
            <a:solidFill>
              <a:srgbClr val="DC7D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94760" y="4297680"/>
            <a:ext cx="47548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12304D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16552" y="2331720"/>
            <a:ext cx="475488" cy="1828800"/>
          </a:xfrm>
          <a:prstGeom prst="rect">
            <a:avLst/>
          </a:prstGeom>
          <a:solidFill>
            <a:srgbClr val="825534"/>
          </a:solidFill>
          <a:ln>
            <a:solidFill>
              <a:srgbClr val="825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16552" y="4297680"/>
            <a:ext cx="47548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12304D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38344" y="2331720"/>
            <a:ext cx="475488" cy="1828800"/>
          </a:xfrm>
          <a:prstGeom prst="rect">
            <a:avLst/>
          </a:prstGeom>
          <a:solidFill>
            <a:srgbClr val="825534"/>
          </a:solidFill>
          <a:ln>
            <a:solidFill>
              <a:srgbClr val="825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38344" y="4297680"/>
            <a:ext cx="47548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12304D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1737360"/>
            <a:ext cx="5029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900" b="1">
                <a:solidFill>
                  <a:srgbClr val="12304D"/>
                </a:solidFill>
                <a:latin typeface="Aptos"/>
              </a:defRPr>
            </a:pPr>
            <a:r>
              <a:t>T568B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63640" y="2331720"/>
            <a:ext cx="475488" cy="1828800"/>
          </a:xfrm>
          <a:prstGeom prst="rect">
            <a:avLst/>
          </a:prstGeom>
          <a:solidFill>
            <a:srgbClr val="DC7D28"/>
          </a:solidFill>
          <a:ln>
            <a:solidFill>
              <a:srgbClr val="DC7D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4297680"/>
            <a:ext cx="47548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12304D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85431" y="2331720"/>
            <a:ext cx="475488" cy="1828800"/>
          </a:xfrm>
          <a:prstGeom prst="rect">
            <a:avLst/>
          </a:prstGeom>
          <a:solidFill>
            <a:srgbClr val="DC7D28"/>
          </a:solidFill>
          <a:ln>
            <a:solidFill>
              <a:srgbClr val="DC7D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85431" y="4297680"/>
            <a:ext cx="47548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12304D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07223" y="2331720"/>
            <a:ext cx="475488" cy="1828800"/>
          </a:xfrm>
          <a:prstGeom prst="rect">
            <a:avLst/>
          </a:prstGeom>
          <a:solidFill>
            <a:srgbClr val="2E914E"/>
          </a:solidFill>
          <a:ln>
            <a:solidFill>
              <a:srgbClr val="2E9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07223" y="4297680"/>
            <a:ext cx="47548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12304D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29016" y="2331720"/>
            <a:ext cx="475488" cy="1828800"/>
          </a:xfrm>
          <a:prstGeom prst="rect">
            <a:avLst/>
          </a:prstGeom>
          <a:solidFill>
            <a:srgbClr val="2374AD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29016" y="4297680"/>
            <a:ext cx="47548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12304D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750808" y="2331720"/>
            <a:ext cx="475488" cy="1828800"/>
          </a:xfrm>
          <a:prstGeom prst="rect">
            <a:avLst/>
          </a:prstGeom>
          <a:solidFill>
            <a:srgbClr val="2374AD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50808" y="4297680"/>
            <a:ext cx="47548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12304D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372600" y="2331720"/>
            <a:ext cx="475488" cy="1828800"/>
          </a:xfrm>
          <a:prstGeom prst="rect">
            <a:avLst/>
          </a:prstGeom>
          <a:solidFill>
            <a:srgbClr val="2E914E"/>
          </a:solidFill>
          <a:ln>
            <a:solidFill>
              <a:srgbClr val="2E9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72600" y="4297680"/>
            <a:ext cx="47548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12304D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994392" y="2331720"/>
            <a:ext cx="475488" cy="1828800"/>
          </a:xfrm>
          <a:prstGeom prst="rect">
            <a:avLst/>
          </a:prstGeom>
          <a:solidFill>
            <a:srgbClr val="825534"/>
          </a:solidFill>
          <a:ln>
            <a:solidFill>
              <a:srgbClr val="825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994392" y="4297680"/>
            <a:ext cx="47548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12304D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616184" y="2331720"/>
            <a:ext cx="475488" cy="1828800"/>
          </a:xfrm>
          <a:prstGeom prst="rect">
            <a:avLst/>
          </a:prstGeom>
          <a:solidFill>
            <a:srgbClr val="825534"/>
          </a:solidFill>
          <a:ln>
            <a:solidFill>
              <a:srgbClr val="825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616184" y="4297680"/>
            <a:ext cx="47548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12304D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63040" y="5074920"/>
            <a:ext cx="92354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12304D"/>
                </a:solidFill>
                <a:latin typeface="Aptos"/>
              </a:defRPr>
            </a:pPr>
            <a:r>
              <a:t>A fő különbség: a zöld és narancs érpár helye felcserélődik.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ÉRPÁRAK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A pin-sorrend mögött mindig párok vannak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74519"/>
            <a:ext cx="2377440" cy="3017520"/>
          </a:xfrm>
          <a:prstGeom prst="roundRect">
            <a:avLst/>
          </a:prstGeom>
          <a:solidFill>
            <a:srgbClr val="F0F4F7"/>
          </a:solidFill>
          <a:ln>
            <a:solidFill>
              <a:srgbClr val="DC7D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94560"/>
            <a:ext cx="20116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500" b="1">
                <a:solidFill>
                  <a:srgbClr val="DC7D28"/>
                </a:solidFill>
                <a:latin typeface="Aptos"/>
              </a:defRPr>
            </a:pPr>
            <a:r>
              <a:t>1-2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154680"/>
            <a:ext cx="1828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12304D"/>
                </a:solidFill>
                <a:latin typeface="Aptos"/>
              </a:defRPr>
            </a:pPr>
            <a:r>
              <a:t>narancs vagy zöld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874519"/>
            <a:ext cx="2377440" cy="3017520"/>
          </a:xfrm>
          <a:prstGeom prst="roundRect">
            <a:avLst/>
          </a:prstGeom>
          <a:solidFill>
            <a:srgbClr val="F0F4F7"/>
          </a:solidFill>
          <a:ln>
            <a:solidFill>
              <a:srgbClr val="2E9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2194560"/>
            <a:ext cx="20116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500" b="1">
                <a:solidFill>
                  <a:srgbClr val="2E914E"/>
                </a:solidFill>
                <a:latin typeface="Aptos"/>
              </a:defRPr>
            </a:pPr>
            <a:r>
              <a:t>3-6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3154680"/>
            <a:ext cx="1828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12304D"/>
                </a:solidFill>
                <a:latin typeface="Aptos"/>
              </a:defRPr>
            </a:pPr>
            <a:r>
              <a:t>zöld vagy narancs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874519"/>
            <a:ext cx="2377440" cy="3017520"/>
          </a:xfrm>
          <a:prstGeom prst="roundRect">
            <a:avLst/>
          </a:prstGeom>
          <a:solidFill>
            <a:srgbClr val="F0F4F7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194560"/>
            <a:ext cx="20116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500" b="1">
                <a:solidFill>
                  <a:srgbClr val="2374AD"/>
                </a:solidFill>
                <a:latin typeface="Aptos"/>
              </a:defRPr>
            </a:pPr>
            <a:r>
              <a:t>4-5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59" y="3154680"/>
            <a:ext cx="1828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12304D"/>
                </a:solidFill>
                <a:latin typeface="Aptos"/>
              </a:defRPr>
            </a:pPr>
            <a:r>
              <a:t>kék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2559" y="1874519"/>
            <a:ext cx="2377440" cy="3017520"/>
          </a:xfrm>
          <a:prstGeom prst="roundRect">
            <a:avLst/>
          </a:prstGeom>
          <a:solidFill>
            <a:srgbClr val="F0F4F7"/>
          </a:solidFill>
          <a:ln>
            <a:solidFill>
              <a:srgbClr val="825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35439" y="2194560"/>
            <a:ext cx="20116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500" b="1">
                <a:solidFill>
                  <a:srgbClr val="825534"/>
                </a:solidFill>
                <a:latin typeface="Aptos"/>
              </a:defRPr>
            </a:pPr>
            <a:r>
              <a:t>7-8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3154680"/>
            <a:ext cx="1828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12304D"/>
                </a:solidFill>
                <a:latin typeface="Aptos"/>
              </a:defRPr>
            </a:pPr>
            <a:r>
              <a:t>barna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5303520"/>
            <a:ext cx="9601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BE433F"/>
                </a:solidFill>
                <a:latin typeface="Aptos"/>
              </a:defRPr>
            </a:pPr>
            <a:r>
              <a:t>Ne csak az erek sorszámát, hanem az eredeti sodrott érpárokat is őrizd meg.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TIPIKUS HIBA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Split pair: folytonos, mégis rossz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48463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278758"/>
                </a:solidFill>
                <a:latin typeface="Aptos"/>
              </a:defRPr>
            </a:pPr>
            <a:r>
              <a:t>HELYES PÁR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88720" y="2468880"/>
            <a:ext cx="3657600" cy="0"/>
          </a:xfrm>
          <a:prstGeom prst="line">
            <a:avLst/>
          </a:prstGeom>
          <a:ln w="50800">
            <a:solidFill>
              <a:srgbClr val="DC7D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188720" y="3017520"/>
            <a:ext cx="3657600" cy="0"/>
          </a:xfrm>
          <a:prstGeom prst="line">
            <a:avLst/>
          </a:prstGeom>
          <a:ln w="50800">
            <a:solidFill>
              <a:srgbClr val="DC7D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645920" y="2423160"/>
            <a:ext cx="320040" cy="640080"/>
          </a:xfrm>
          <a:prstGeom prst="line">
            <a:avLst/>
          </a:prstGeom>
          <a:ln w="25400">
            <a:solidFill>
              <a:srgbClr val="DC7D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560320" y="2423160"/>
            <a:ext cx="320040" cy="640080"/>
          </a:xfrm>
          <a:prstGeom prst="line">
            <a:avLst/>
          </a:prstGeom>
          <a:ln w="25400">
            <a:solidFill>
              <a:srgbClr val="DC7D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474720" y="2423160"/>
            <a:ext cx="320039" cy="640080"/>
          </a:xfrm>
          <a:prstGeom prst="line">
            <a:avLst/>
          </a:prstGeom>
          <a:ln w="25400">
            <a:solidFill>
              <a:srgbClr val="DC7D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389120" y="2423160"/>
            <a:ext cx="320039" cy="640080"/>
          </a:xfrm>
          <a:prstGeom prst="line">
            <a:avLst/>
          </a:prstGeom>
          <a:ln w="25400">
            <a:solidFill>
              <a:srgbClr val="DC7D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400800" y="1691640"/>
            <a:ext cx="48463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BE433F"/>
                </a:solidFill>
                <a:latin typeface="Aptos"/>
              </a:defRPr>
            </a:pPr>
            <a:r>
              <a:t>SPLIT PAIR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858000" y="2468880"/>
            <a:ext cx="3657600" cy="0"/>
          </a:xfrm>
          <a:prstGeom prst="line">
            <a:avLst/>
          </a:prstGeom>
          <a:ln w="50800">
            <a:solidFill>
              <a:srgbClr val="DC7D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858000" y="3017520"/>
            <a:ext cx="3657600" cy="0"/>
          </a:xfrm>
          <a:prstGeom prst="line">
            <a:avLst/>
          </a:prstGeom>
          <a:ln w="50800">
            <a:solidFill>
              <a:srgbClr val="2E91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14400" y="4206240"/>
            <a:ext cx="51206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2304D"/>
                </a:solidFill>
                <a:latin typeface="Aptos"/>
              </a:defRPr>
            </a:pPr>
            <a:r>
              <a:t>Az eredeti sodrott pár együtt marad.</a:t>
            </a:r>
            <a:br/>
            <a:r>
              <a:t>Jó zavarvédelmi viselkedés.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4206240"/>
            <a:ext cx="51206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BE433F"/>
                </a:solidFill>
                <a:latin typeface="Aptos"/>
              </a:defRPr>
            </a:pPr>
            <a:r>
              <a:t>Az érfolytonosság lehet helyes,</a:t>
            </a:r>
            <a:br/>
            <a:r>
              <a:t>de a párosítás hibás.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SZERELÉSI MINŐSÉG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Négy dolog, amit a kábel nem szeret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5074920" cy="1371600"/>
          </a:xfrm>
          <a:prstGeom prst="roundRect">
            <a:avLst/>
          </a:prstGeom>
          <a:solidFill>
            <a:srgbClr val="F0F4F7"/>
          </a:solidFill>
          <a:ln>
            <a:solidFill>
              <a:srgbClr val="BE43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011680"/>
            <a:ext cx="47091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BE433F"/>
                </a:solidFill>
                <a:latin typeface="Aptos"/>
              </a:defRPr>
            </a:pPr>
            <a:r>
              <a:t>Túlzott kibontás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19" y="2514600"/>
            <a:ext cx="44348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0">
                <a:solidFill>
                  <a:srgbClr val="12304D"/>
                </a:solidFill>
                <a:latin typeface="Aptos"/>
              </a:defRPr>
            </a:pPr>
            <a:r>
              <a:t>romlik a párgeometria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828800"/>
            <a:ext cx="5074920" cy="1371600"/>
          </a:xfrm>
          <a:prstGeom prst="roundRect">
            <a:avLst/>
          </a:prstGeom>
          <a:solidFill>
            <a:srgbClr val="F0F4F7"/>
          </a:solidFill>
          <a:ln>
            <a:solidFill>
              <a:srgbClr val="E1A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2011680"/>
            <a:ext cx="47091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E1AA37"/>
                </a:solidFill>
                <a:latin typeface="Aptos"/>
              </a:defRPr>
            </a:pPr>
            <a:r>
              <a:t>Éles hajlítás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514600"/>
            <a:ext cx="44348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0">
                <a:solidFill>
                  <a:srgbClr val="12304D"/>
                </a:solidFill>
                <a:latin typeface="Aptos"/>
              </a:defRPr>
            </a:pPr>
            <a:r>
              <a:t>kábel deformálódik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657600"/>
            <a:ext cx="5074920" cy="1371600"/>
          </a:xfrm>
          <a:prstGeom prst="roundRect">
            <a:avLst/>
          </a:prstGeom>
          <a:solidFill>
            <a:srgbClr val="F0F4F7"/>
          </a:solidFill>
          <a:ln>
            <a:solidFill>
              <a:srgbClr val="BE43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3840480"/>
            <a:ext cx="47091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BE433F"/>
                </a:solidFill>
                <a:latin typeface="Aptos"/>
              </a:defRPr>
            </a:pPr>
            <a:r>
              <a:t>Erős húzás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19" y="4343400"/>
            <a:ext cx="44348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0">
                <a:solidFill>
                  <a:srgbClr val="12304D"/>
                </a:solidFill>
                <a:latin typeface="Aptos"/>
              </a:defRPr>
            </a:pPr>
            <a:r>
              <a:t>mechanikai károsodás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657600"/>
            <a:ext cx="5074920" cy="1371600"/>
          </a:xfrm>
          <a:prstGeom prst="roundRect">
            <a:avLst/>
          </a:prstGeom>
          <a:solidFill>
            <a:srgbClr val="F0F4F7"/>
          </a:solidFill>
          <a:ln>
            <a:solidFill>
              <a:srgbClr val="E1A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3840480"/>
            <a:ext cx="47091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E1AA37"/>
                </a:solidFill>
                <a:latin typeface="Aptos"/>
              </a:defRPr>
            </a:pPr>
            <a:r>
              <a:t>Összenyomás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4343400"/>
            <a:ext cx="44348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0">
                <a:solidFill>
                  <a:srgbClr val="12304D"/>
                </a:solidFill>
                <a:latin typeface="Aptos"/>
              </a:defRPr>
            </a:pPr>
            <a:r>
              <a:t>változik a geometria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5486400"/>
            <a:ext cx="92354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A jó csatlakozásnál a sodrás szinte a bekötési pontig megmarad.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ÁRNYÉKOLT RENDSZER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Az árnyékolás folytonossága rendszerkérdés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148840"/>
            <a:ext cx="2194560" cy="1143000"/>
          </a:xfrm>
          <a:prstGeom prst="roundRect">
            <a:avLst/>
          </a:prstGeom>
          <a:solidFill>
            <a:srgbClr val="E8F3FA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2240280"/>
            <a:ext cx="197510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Árnyékolt kábel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2587752"/>
            <a:ext cx="1975104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fólia / fonat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40" y="2148840"/>
            <a:ext cx="2194560" cy="1143000"/>
          </a:xfrm>
          <a:prstGeom prst="roundRect">
            <a:avLst/>
          </a:prstGeom>
          <a:solidFill>
            <a:srgbClr val="F0F4F7"/>
          </a:solidFill>
          <a:ln>
            <a:solidFill>
              <a:srgbClr val="E1A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0168" y="2240280"/>
            <a:ext cx="197510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Árnyékolt aljzat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30168" y="2587752"/>
            <a:ext cx="1975104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megfelelő lezárás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2148840"/>
            <a:ext cx="2194560" cy="1143000"/>
          </a:xfrm>
          <a:prstGeom prst="roundRect">
            <a:avLst/>
          </a:prstGeom>
          <a:solidFill>
            <a:srgbClr val="E8F3FA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6248" y="2240280"/>
            <a:ext cx="197510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Patch panel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6248" y="2587752"/>
            <a:ext cx="1975104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árnyékolás kezelése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72600" y="2148840"/>
            <a:ext cx="2194560" cy="1143000"/>
          </a:xfrm>
          <a:prstGeom prst="roundRect">
            <a:avLst/>
          </a:prstGeom>
          <a:solidFill>
            <a:srgbClr val="EFF7F2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82328" y="2240280"/>
            <a:ext cx="197510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Rack / EPH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82328" y="2587752"/>
            <a:ext cx="1975104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tervezett kapcsolat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788920" y="2724912"/>
            <a:ext cx="731520" cy="0"/>
          </a:xfrm>
          <a:prstGeom prst="line">
            <a:avLst/>
          </a:prstGeom>
          <a:ln w="50800">
            <a:solidFill>
              <a:srgbClr val="2787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715000" y="2724912"/>
            <a:ext cx="731520" cy="0"/>
          </a:xfrm>
          <a:prstGeom prst="line">
            <a:avLst/>
          </a:prstGeom>
          <a:ln w="50800">
            <a:solidFill>
              <a:srgbClr val="2787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641080" y="2724912"/>
            <a:ext cx="731520" cy="0"/>
          </a:xfrm>
          <a:prstGeom prst="line">
            <a:avLst/>
          </a:prstGeom>
          <a:ln w="50800">
            <a:solidFill>
              <a:srgbClr val="2787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1371600" y="4434840"/>
            <a:ext cx="9418320" cy="822960"/>
          </a:xfrm>
          <a:prstGeom prst="roundRect">
            <a:avLst/>
          </a:prstGeom>
          <a:solidFill>
            <a:srgbClr val="E8F3FA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00200" y="4599432"/>
            <a:ext cx="89611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12304D"/>
                </a:solidFill>
                <a:latin typeface="Aptos"/>
              </a:defRPr>
            </a:pPr>
            <a:r>
              <a:t>Egy árnyékolt kábel önmagában nem garantál megfelelő EMC-viselkedést.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KÁBELTESZT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Mit lát egy egyszerű wiremap teszter?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2011680"/>
            <a:ext cx="1965960" cy="2377440"/>
          </a:xfrm>
          <a:prstGeom prst="roundRect">
            <a:avLst/>
          </a:prstGeom>
          <a:solidFill>
            <a:srgbClr val="F0F4F7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8" y="2286000"/>
            <a:ext cx="1746504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278758"/>
                </a:solidFill>
                <a:latin typeface="Aptos"/>
              </a:defRPr>
            </a:pPr>
            <a:r>
              <a:t>HELYES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3063240"/>
            <a:ext cx="1563624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2304D"/>
                </a:solidFill>
                <a:latin typeface="Aptos"/>
              </a:defRPr>
            </a:pPr>
            <a:r>
              <a:t>1→1 ... 8→8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2011680"/>
            <a:ext cx="1965960" cy="2377440"/>
          </a:xfrm>
          <a:prstGeom prst="roundRect">
            <a:avLst/>
          </a:prstGeom>
          <a:solidFill>
            <a:srgbClr val="F0F4F7"/>
          </a:solidFill>
          <a:ln>
            <a:solidFill>
              <a:srgbClr val="BE43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52928" y="2286000"/>
            <a:ext cx="1746504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BE433F"/>
                </a:solidFill>
                <a:latin typeface="Aptos"/>
              </a:defRPr>
            </a:pPr>
            <a:r>
              <a:t>SZAKADÁS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44368" y="3063240"/>
            <a:ext cx="1563624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2304D"/>
                </a:solidFill>
                <a:latin typeface="Aptos"/>
              </a:defRPr>
            </a:pPr>
            <a:r>
              <a:t>egy ér hiányzik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74920" y="2011680"/>
            <a:ext cx="1965960" cy="2377440"/>
          </a:xfrm>
          <a:prstGeom prst="roundRect">
            <a:avLst/>
          </a:prstGeom>
          <a:solidFill>
            <a:srgbClr val="F0F4F7"/>
          </a:solidFill>
          <a:ln>
            <a:solidFill>
              <a:srgbClr val="E1A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84648" y="2286000"/>
            <a:ext cx="1746504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E1AA37"/>
                </a:solidFill>
                <a:latin typeface="Aptos"/>
              </a:defRPr>
            </a:pPr>
            <a:r>
              <a:t>CSERE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76088" y="3063240"/>
            <a:ext cx="1563624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2304D"/>
                </a:solidFill>
                <a:latin typeface="Aptos"/>
              </a:defRPr>
            </a:pPr>
            <a:r>
              <a:t>két ér felcserélve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06640" y="2011680"/>
            <a:ext cx="1965960" cy="2377440"/>
          </a:xfrm>
          <a:prstGeom prst="roundRect">
            <a:avLst/>
          </a:prstGeom>
          <a:solidFill>
            <a:srgbClr val="F0F4F7"/>
          </a:solidFill>
          <a:ln>
            <a:solidFill>
              <a:srgbClr val="BE43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16367" y="2286000"/>
            <a:ext cx="1746504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BE433F"/>
                </a:solidFill>
                <a:latin typeface="Aptos"/>
              </a:defRPr>
            </a:pPr>
            <a:r>
              <a:t>RÖVIDZÁR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07808" y="3063240"/>
            <a:ext cx="1563624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2304D"/>
                </a:solidFill>
                <a:latin typeface="Aptos"/>
              </a:defRPr>
            </a:pPr>
            <a:r>
              <a:t>erek összezárnak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38359" y="2011680"/>
            <a:ext cx="1965960" cy="2377440"/>
          </a:xfrm>
          <a:prstGeom prst="roundRect">
            <a:avLst/>
          </a:prstGeom>
          <a:solidFill>
            <a:srgbClr val="F0F4F7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48087" y="2286000"/>
            <a:ext cx="1746504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2374AD"/>
                </a:solidFill>
                <a:latin typeface="Aptos"/>
              </a:defRPr>
            </a:pPr>
            <a:r>
              <a:t>SPLIT PAIR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39528" y="3063240"/>
            <a:ext cx="1563624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2304D"/>
                </a:solidFill>
                <a:latin typeface="Aptos"/>
              </a:defRPr>
            </a:pPr>
            <a:r>
              <a:t>jobb teszter kellhet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4983480"/>
            <a:ext cx="92354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12304D"/>
                </a:solidFill>
                <a:latin typeface="Aptos"/>
              </a:defRPr>
            </a:pPr>
            <a:r>
              <a:t>Wiremap ≠ teljes átviteli minősítés. A két vizsgálat célja nem ugyanaz.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GYAKORLAT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T568B bekötés és hibafelismerés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548640" cy="384048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09928"/>
            <a:ext cx="457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1600200" y="1691640"/>
            <a:ext cx="9509760" cy="475488"/>
          </a:xfrm>
          <a:prstGeom prst="rect">
            <a:avLst/>
          </a:prstGeom>
          <a:solidFill>
            <a:srgbClr val="F0F4F7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1728216"/>
            <a:ext cx="90525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2304D"/>
                </a:solidFill>
                <a:latin typeface="Aptos"/>
              </a:defRPr>
            </a:pPr>
            <a:r>
              <a:t>Kábeljelölés azonosítása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377440"/>
            <a:ext cx="548640" cy="384048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395728"/>
            <a:ext cx="457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2377440"/>
            <a:ext cx="9509760" cy="475488"/>
          </a:xfrm>
          <a:prstGeom prst="rect">
            <a:avLst/>
          </a:prstGeom>
          <a:solidFill>
            <a:srgbClr val="F0F4F7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28800" y="2414016"/>
            <a:ext cx="90525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1F303E"/>
                </a:solidFill>
                <a:latin typeface="Aptos"/>
              </a:defRPr>
            </a:pPr>
            <a:r>
              <a:t>Négy érpár felismerése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063240"/>
            <a:ext cx="548640" cy="384048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081528"/>
            <a:ext cx="457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00200" y="3063240"/>
            <a:ext cx="9509760" cy="475488"/>
          </a:xfrm>
          <a:prstGeom prst="rect">
            <a:avLst/>
          </a:prstGeom>
          <a:solidFill>
            <a:srgbClr val="F0F4F7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28800" y="3099816"/>
            <a:ext cx="90525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1F303E"/>
                </a:solidFill>
                <a:latin typeface="Aptos"/>
              </a:defRPr>
            </a:pPr>
            <a:r>
              <a:t>T568B színsorrend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749039"/>
            <a:ext cx="548640" cy="384048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767327"/>
            <a:ext cx="457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00200" y="3749039"/>
            <a:ext cx="9509760" cy="475488"/>
          </a:xfrm>
          <a:prstGeom prst="rect">
            <a:avLst/>
          </a:prstGeom>
          <a:solidFill>
            <a:srgbClr val="F0F4F7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28800" y="3785615"/>
            <a:ext cx="90525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1F303E"/>
                </a:solidFill>
                <a:latin typeface="Aptos"/>
              </a:defRPr>
            </a:pPr>
            <a:r>
              <a:t>Keystone lezárás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434840"/>
            <a:ext cx="548640" cy="384048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453127"/>
            <a:ext cx="457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4434840"/>
            <a:ext cx="9509760" cy="475488"/>
          </a:xfrm>
          <a:prstGeom prst="rect">
            <a:avLst/>
          </a:prstGeom>
          <a:solidFill>
            <a:srgbClr val="F0F4F7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828800" y="4471416"/>
            <a:ext cx="90525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1F303E"/>
                </a:solidFill>
                <a:latin typeface="Aptos"/>
              </a:defRPr>
            </a:pPr>
            <a:r>
              <a:t>Wiremap teszt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5120640"/>
            <a:ext cx="548640" cy="384048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5138927"/>
            <a:ext cx="457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600200" y="5120640"/>
            <a:ext cx="9509760" cy="475488"/>
          </a:xfrm>
          <a:prstGeom prst="rect">
            <a:avLst/>
          </a:prstGeom>
          <a:solidFill>
            <a:srgbClr val="F0F4F7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828800" y="5157216"/>
            <a:ext cx="90525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2304D"/>
                </a:solidFill>
                <a:latin typeface="Aptos"/>
              </a:defRPr>
            </a:pPr>
            <a:r>
              <a:t>Hiba dokumentálása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ÖSSZEFOGLALÁS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Öt kulcsgondolat a 32. hétről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783080"/>
            <a:ext cx="566928" cy="384048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01368"/>
            <a:ext cx="47548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1764792"/>
            <a:ext cx="9326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12304D"/>
                </a:solidFill>
                <a:latin typeface="Aptos"/>
              </a:defRPr>
            </a:pPr>
            <a:r>
              <a:t>A sodrott érpár a zavarok csökkentésének alapja.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569464"/>
            <a:ext cx="566928" cy="384048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587752"/>
            <a:ext cx="47548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2551176"/>
            <a:ext cx="9326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1F303E"/>
                </a:solidFill>
                <a:latin typeface="Aptos"/>
              </a:defRPr>
            </a:pPr>
            <a:r>
              <a:t>Az árnyékolási jelölés a teljes kábel és az érpárok kialakítását írja 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3355848"/>
            <a:ext cx="566928" cy="384048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374136"/>
            <a:ext cx="47548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3337560"/>
            <a:ext cx="9326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1F303E"/>
                </a:solidFill>
                <a:latin typeface="Aptos"/>
              </a:defRPr>
            </a:pPr>
            <a:r>
              <a:t>A T568A és T568B ugyanazokat a párokat más színsorrendben rendezi.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4142232"/>
            <a:ext cx="566928" cy="384048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160520"/>
            <a:ext cx="47548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4123944"/>
            <a:ext cx="9326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1F303E"/>
                </a:solidFill>
                <a:latin typeface="Aptos"/>
              </a:defRPr>
            </a:pPr>
            <a:r>
              <a:t>A helyes érpár-megőrzés fontosabb, mint pusztán az 1-8 folytonosság.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4928616"/>
            <a:ext cx="566928" cy="384048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946903"/>
            <a:ext cx="47548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4910328"/>
            <a:ext cx="9326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12304D"/>
                </a:solidFill>
                <a:latin typeface="Aptos"/>
              </a:defRPr>
            </a:pPr>
            <a:r>
              <a:t>A jó adatkábelhez jó komponens, szerelés és mérés együtt szükséges.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0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7DC6E7"/>
                </a:solidFill>
                <a:latin typeface="Aptos"/>
              </a:defRPr>
            </a:pPr>
            <a:r>
              <a:t>IAP • KÖVETKEZŐ HÉT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 Display"/>
              </a:defRPr>
            </a:pPr>
            <a:r>
              <a:t>33.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33272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100" b="1">
                <a:solidFill>
                  <a:srgbClr val="FFFFFF"/>
                </a:solidFill>
                <a:latin typeface="Aptos Display"/>
              </a:defRPr>
            </a:pPr>
            <a:r>
              <a:t>Optikai hálózatok</a:t>
            </a:r>
            <a:br/>
            <a:r>
              <a:t>az épületekben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29000"/>
            <a:ext cx="98755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0">
                <a:solidFill>
                  <a:srgbClr val="D6E6F0"/>
                </a:solidFill>
                <a:latin typeface="Aptos"/>
              </a:defRPr>
            </a:pPr>
            <a:r>
              <a:t>Optikai szál • single-mode / multimode • csatlakozók • gerinchálózat • alapmérések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709160"/>
            <a:ext cx="10149840" cy="109728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074920"/>
            <a:ext cx="101498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7DC6E7"/>
                </a:solidFill>
                <a:latin typeface="Aptos"/>
              </a:defRPr>
            </a:pPr>
            <a:r>
              <a:t>fényforrás → optikai szál → csatlakozás → vevő → mérés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