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EAF5"/>
                </a:solidFill>
                <a:latin typeface="Aptos"/>
              </a:defRPr>
            </a:pPr>
            <a:r>
              <a:t>IAP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Fogyasztás-</a:t>
            </a:r>
            <a:br/>
            <a:r>
              <a:t>mérőhelyek,</a:t>
            </a:r>
            <a:br/>
            <a:r>
              <a:t>mérőszekrények</a:t>
            </a:r>
            <a:br/>
            <a:r>
              <a:t>és főbiztosítók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A5E"/>
                </a:solidFill>
                <a:latin typeface="Aptos"/>
              </a:defRPr>
            </a:pPr>
            <a:r>
              <a:t>A mérés és a biztonság találkozási pontja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33172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2560320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73A5E"/>
                </a:solidFill>
                <a:latin typeface="Aptos"/>
              </a:defRPr>
            </a:pPr>
            <a:r>
              <a:t>Méretlen</a:t>
            </a:r>
            <a:br/>
            <a:r>
              <a:t>oldal</a:t>
            </a:r>
          </a:p>
        </p:txBody>
      </p:sp>
      <p:sp>
        <p:nvSpPr>
          <p:cNvPr id="9" name="Chevron 8"/>
          <p:cNvSpPr/>
          <p:nvPr/>
        </p:nvSpPr>
        <p:spPr>
          <a:xfrm>
            <a:off x="6144768" y="2615184"/>
            <a:ext cx="219456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33172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73A5E"/>
                </a:solidFill>
                <a:latin typeface="Aptos"/>
              </a:defRPr>
            </a:pPr>
            <a:r>
              <a:t>Főbiztosító</a:t>
            </a:r>
          </a:p>
        </p:txBody>
      </p:sp>
      <p:sp>
        <p:nvSpPr>
          <p:cNvPr id="12" name="Chevron 11"/>
          <p:cNvSpPr/>
          <p:nvPr/>
        </p:nvSpPr>
        <p:spPr>
          <a:xfrm>
            <a:off x="7744967" y="2615184"/>
            <a:ext cx="219456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33172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560320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73A5E"/>
                </a:solidFill>
                <a:latin typeface="Aptos"/>
              </a:defRPr>
            </a:pPr>
            <a:r>
              <a:t>Fogyasztás-</a:t>
            </a:r>
            <a:br/>
            <a:r>
              <a:t>mérő</a:t>
            </a:r>
          </a:p>
        </p:txBody>
      </p:sp>
      <p:sp>
        <p:nvSpPr>
          <p:cNvPr id="15" name="Chevron 14"/>
          <p:cNvSpPr/>
          <p:nvPr/>
        </p:nvSpPr>
        <p:spPr>
          <a:xfrm>
            <a:off x="9345168" y="2615184"/>
            <a:ext cx="219456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2331720"/>
            <a:ext cx="1234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560320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73A5E"/>
                </a:solidFill>
                <a:latin typeface="Aptos"/>
              </a:defRPr>
            </a:pPr>
            <a:r>
              <a:t>Mért</a:t>
            </a:r>
            <a:br/>
            <a:r>
              <a:t>oldal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6052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7487"/>
                </a:solidFill>
                <a:latin typeface="Aptos"/>
              </a:defRPr>
            </a:pPr>
            <a:r>
              <a:t>Plombálhatóság • hozzáférés • elszámolás • védelem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mérőhely fő részei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Mérőszekrény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Mechanikai védelem</a:t>
            </a:r>
            <a:br/>
            <a:r>
              <a:t>Rendezett elhelyezés</a:t>
            </a:r>
            <a:br/>
            <a:r>
              <a:t>Plombálhatóság</a:t>
            </a:r>
            <a:br/>
            <a:r>
              <a:t>Környezeti védelem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356616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Fogyasztásmérő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Az elfogyasztott villamos energia elszámolási célú mérése.</a:t>
            </a:r>
            <a:br/>
            <a:br/>
            <a:r>
              <a:t>A mérés hitelessége kiemelt jelentőségű.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356616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Főbiztosító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csatlakozási áram korlátozása.</a:t>
            </a:r>
            <a:br/>
            <a:br/>
            <a:r>
              <a:t>Értéke összhangban van a rendelkezésre álló csatlakozási teljesítménnyel.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Méretlen és mért oldal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50749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329184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37944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Méretlen oldal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58568"/>
            <a:ext cx="470915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fogyasztásmérő előtti hálózatrész.</a:t>
            </a:r>
            <a:br/>
            <a:br/>
            <a:r>
              <a:t>• fokozott hozzáférés-védelem</a:t>
            </a:r>
            <a:br/>
            <a:r>
              <a:t>• plombálhatóság</a:t>
            </a:r>
            <a:br/>
            <a:r>
              <a:t>• szabályozott nyomvonal</a:t>
            </a:r>
            <a:br/>
            <a:r>
              <a:t>• elszámolás előtti energiaút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0749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73152" cy="329184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37944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Mért oldal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258568"/>
            <a:ext cx="470915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fogyasztásmérő utáni hálózatrész.</a:t>
            </a:r>
            <a:br/>
            <a:br/>
            <a:r>
              <a:t>• innen indul a mért fővezeték</a:t>
            </a:r>
            <a:br/>
            <a:r>
              <a:t>• a fogyasztás már elszámolási mérésben van</a:t>
            </a:r>
            <a:br/>
            <a:r>
              <a:t>• kapcsolat a főelosztó felé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7" name="Chevron 6"/>
          <p:cNvSpPr/>
          <p:nvPr/>
        </p:nvSpPr>
        <p:spPr>
          <a:xfrm>
            <a:off x="1618488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47672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1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Csatlakozó-</a:t>
            </a:r>
            <a:br/>
            <a:r>
              <a:t>vezeték</a:t>
            </a:r>
          </a:p>
        </p:txBody>
      </p:sp>
      <p:sp>
        <p:nvSpPr>
          <p:cNvPr id="10" name="Chevron 9"/>
          <p:cNvSpPr/>
          <p:nvPr/>
        </p:nvSpPr>
        <p:spPr>
          <a:xfrm>
            <a:off x="3246120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75304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Méretlen</a:t>
            </a:r>
            <a:br/>
            <a:r>
              <a:t>fővezeték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73752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2936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5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Főbiztosító</a:t>
            </a:r>
          </a:p>
        </p:txBody>
      </p:sp>
      <p:sp>
        <p:nvSpPr>
          <p:cNvPr id="16" name="Chevron 15"/>
          <p:cNvSpPr/>
          <p:nvPr/>
        </p:nvSpPr>
        <p:spPr>
          <a:xfrm>
            <a:off x="6501383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30568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Fogyasztás-</a:t>
            </a:r>
            <a:br/>
            <a:r>
              <a:t>mérő</a:t>
            </a:r>
          </a:p>
        </p:txBody>
      </p:sp>
      <p:sp>
        <p:nvSpPr>
          <p:cNvPr id="19" name="Chevron 18"/>
          <p:cNvSpPr/>
          <p:nvPr/>
        </p:nvSpPr>
        <p:spPr>
          <a:xfrm>
            <a:off x="8129016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Mért</a:t>
            </a:r>
            <a:br/>
            <a:r>
              <a:t>fővezeték</a:t>
            </a:r>
          </a:p>
        </p:txBody>
      </p:sp>
      <p:sp>
        <p:nvSpPr>
          <p:cNvPr id="22" name="Chevron 21"/>
          <p:cNvSpPr/>
          <p:nvPr/>
        </p:nvSpPr>
        <p:spPr>
          <a:xfrm>
            <a:off x="9756648" y="257860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85832" y="2240280"/>
            <a:ext cx="1261872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487168"/>
            <a:ext cx="117043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51960"/>
            <a:ext cx="10241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251960"/>
            <a:ext cx="73152" cy="960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398264"/>
            <a:ext cx="987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Fontos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18888"/>
            <a:ext cx="9875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mérőhely a méretlen és mért hálózatrész határán helyezkedik el, ezért egyszerre műszaki, elszámolási és biztonsági csomópont.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Plombálhatóság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8366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Mit véd?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0428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mérés előtti csatlakozásokat és az elszámolást befolyásoló szerelvényeket.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8366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Mi a cél?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0428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Az illetéktelen beavatkozás megakadályozása vagy egyértelmű észlelhetősége.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88366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Mit jelent a gyakorlatban?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0428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fontos kapocsterek és készülékek csak a plomba megbontásával legyenek hozzáférhetők.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főbiztosító szerepe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6576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73152" cy="21031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3794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Nem csak 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58568"/>
            <a:ext cx="32918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főbiztosító / áramkorlátozó a rendelkezésre álló csatlakozási áramot is meghatározza.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91640"/>
            <a:ext cx="2834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691640"/>
            <a:ext cx="73152" cy="21031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83794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258568"/>
            <a:ext cx="246888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3×25 A</a:t>
            </a:r>
            <a:br/>
            <a:br/>
            <a:r>
              <a:t>→ a csatlakozási teljesítmény ehhez az áramkorláthoz igazodik.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91640"/>
            <a:ext cx="3566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691640"/>
            <a:ext cx="73152" cy="2103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18379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Miért nem cseréljük csak úgy?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258568"/>
            <a:ext cx="320040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nagyobb érték vezetéket, mérőhelyet és szerződött teljesítményt is érinthet.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A főbiztosító értéke nem önálló döntés: a teljes csatlakozási rendszer része.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mérőszekrény elhelyezése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Hozzáférhető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Leolvasható és ellenőrizhető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91640"/>
            <a:ext cx="73152" cy="14173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Biztonságos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Kezelhető, veszélytől védett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91640"/>
            <a:ext cx="73152" cy="14173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Mechanikailag védett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Ne sérüljön könnyen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417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Környezeti hatások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Kültéren időjárásálló kialakítás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4173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Áttekinthető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Rendezett vezetés és kapocstér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4173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Szolgáltatói előírás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Az adott elosztói követelményekhez igazodjon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Gyakorlati példa: telekhatári mérőhely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32004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Kiindulás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58568"/>
            <a:ext cx="30175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3×25 A csatlakozás</a:t>
            </a:r>
            <a:br/>
            <a:r>
              <a:t>Kültéri mérőszekrény</a:t>
            </a:r>
            <a:br/>
            <a:r>
              <a:t>Főelosztó: 22 m-re az épületben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320040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379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Ellenőrizd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58568"/>
            <a:ext cx="30175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• plombálhatóság</a:t>
            </a:r>
            <a:br/>
            <a:r>
              <a:t>• hozzáférés</a:t>
            </a:r>
            <a:br/>
            <a:r>
              <a:t>• méretlen/mért szétválasztás</a:t>
            </a:r>
            <a:br/>
            <a:r>
              <a:t>• főbiztosító</a:t>
            </a:r>
            <a:br/>
            <a:r>
              <a:t>• mért fővezeték nyomvonala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9164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91640"/>
            <a:ext cx="73152" cy="320040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8379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58568"/>
            <a:ext cx="301752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mérőhely önmagában nem elég: a hozzá csatlakozó vezetékszakaszokat és védelmeket rendszerként kell vizsgálni.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24688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Az elszámolási mérés helye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828800"/>
            <a:ext cx="73152" cy="24688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Plomba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Illetéktelen hozzáférés ellen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73152" cy="24688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Főbiztosító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Csatlakozási áram korlátozása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73152" cy="24688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Mért fővezeték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Kapcsolat a főelosztó felé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A jó mérőhely: biztonságos, ellenőrizhető, plombálható és a teljes csatlakozási rendszerhez illeszkedik.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EAF5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Mért fővezetékek,</a:t>
            </a:r>
            <a:br/>
            <a:r>
              <a:t>főelosztók és lakáselosztók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AF5"/>
                </a:solidFill>
                <a:latin typeface="Aptos"/>
              </a:defRPr>
            </a:pPr>
            <a:r>
              <a:t>Elosztás • védelem • áramkörök • szerelvények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11. hét • Fogyasztásmérőhelyek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