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27.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SELV, PELV és</a:t>
            </a:r>
            <a:br/>
            <a:r>
              <a:t>villamos elválasztás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8961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Védelmi kisfeszültség • földkapcsolat • galvanikus elválasztás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297680"/>
            <a:ext cx="114300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7807" y="4389120"/>
            <a:ext cx="9235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SELV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4297680"/>
            <a:ext cx="114300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128" y="4389120"/>
            <a:ext cx="9235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PELV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0" y="4297680"/>
            <a:ext cx="114300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42448" y="4389120"/>
            <a:ext cx="9235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52160"/>
            <a:ext cx="6217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A védelem már a táplálási rendszer kialakításánál kezdődik.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ALAPGONDOLAT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Három védelmi mód - három rendszerlogika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névleges feszültség mellett a táplálás és a földkapcsolat dönti el a védelmi módot.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3375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374AD"/>
                </a:solidFill>
                <a:latin typeface="Aptos"/>
              </a:defRPr>
            </a:pPr>
            <a:r>
              <a:t>SELV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kisfeszültség</a:t>
            </a:r>
            <a:br/>
            <a:r>
              <a:t>földkapcsolat nélkül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33375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78758"/>
                </a:solidFill>
                <a:latin typeface="Aptos"/>
              </a:defRPr>
            </a:pPr>
            <a:r>
              <a:t>PELV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kisfeszültség</a:t>
            </a:r>
            <a:br/>
            <a:r>
              <a:t>megengedett földkapcsolattal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920240"/>
            <a:ext cx="33375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24028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E1AA37"/>
                </a:solidFill>
                <a:latin typeface="Aptos"/>
              </a:defRPr>
            </a:pPr>
            <a:r>
              <a:t>ELVÁLASZTÁS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galvanikusan leválasztott</a:t>
            </a:r>
            <a:br/>
            <a:r>
              <a:t>fogyasztói áramkör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94960"/>
            <a:ext cx="9784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Nem a „24 V” felirat, hanem a teljes rendszer kialakítása számít.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SELV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Védő kisfeszültség földkapcsolat nélkül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kisfeszültségű oldal biztonságosan elválasztott és szándékosan nincs földelve.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286000" cy="109728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028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230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8775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primer oldal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2926080" cy="14630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057400"/>
            <a:ext cx="2706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BIZTONSÁGI</a:t>
            </a:r>
            <a:br/>
            <a:r>
              <a:t>ELVÁLASZTÁS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404872"/>
            <a:ext cx="270662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galvanikus leválasztás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148840"/>
            <a:ext cx="228600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224028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SELV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58775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kisfeszültség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697480"/>
            <a:ext cx="1645920" cy="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79" y="2697480"/>
            <a:ext cx="1645921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83879" y="3977639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74AD"/>
                </a:solidFill>
                <a:latin typeface="Aptos"/>
              </a:defRPr>
            </a:pPr>
            <a:r>
              <a:t>⏚  nincs szándékos földkapcsolat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800600"/>
            <a:ext cx="8503920" cy="6858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4937760"/>
            <a:ext cx="8046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Kulcsszó: elválasztás + kisfeszültség + földfüggetlenség.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PELV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Védő kisfeszültség megengedett földkapcsolattal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biztonsági elválasztás megmarad, de a kisfeszültségű oldal meghatározott pontja földelhető.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286000" cy="109728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028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230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8775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primer oldal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2926080" cy="14630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057400"/>
            <a:ext cx="2706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BIZTONSÁGI</a:t>
            </a:r>
            <a:br/>
            <a:r>
              <a:t>ELVÁLASZTÁS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404872"/>
            <a:ext cx="270662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galvanikus leválasztás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148840"/>
            <a:ext cx="228600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224028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PELV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58775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pl. 24 V DC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697480"/>
            <a:ext cx="1645920" cy="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79" y="2697480"/>
            <a:ext cx="1645921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87000" y="3246120"/>
            <a:ext cx="0" cy="822960"/>
          </a:xfrm>
          <a:prstGeom prst="line">
            <a:avLst/>
          </a:prstGeom>
          <a:ln w="381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55480" y="406908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78758"/>
                </a:solidFill>
                <a:latin typeface="Aptos"/>
              </a:defRPr>
            </a:pPr>
            <a:r>
              <a:t>PE / föld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800600"/>
            <a:ext cx="8503920" cy="6858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4937760"/>
            <a:ext cx="8046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78758"/>
                </a:solidFill>
                <a:latin typeface="Aptos"/>
              </a:defRPr>
            </a:pPr>
            <a:r>
              <a:t>Gyakori példa: ipari 24 V DC vezérlőkör.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SELV és PELV - mi azonos, mi különbözik?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37947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828800"/>
            <a:ext cx="5257800" cy="379476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74AD"/>
                </a:solidFill>
                <a:latin typeface="Aptos"/>
              </a:defRPr>
            </a:pPr>
            <a:r>
              <a:t>SELV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10312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78758"/>
                </a:solidFill>
                <a:latin typeface="Aptos"/>
              </a:defRPr>
            </a:pPr>
            <a:r>
              <a:t>PELV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védő kisfeszültség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3756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biztonsági elválasztás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8620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nincs szándékos földkapcsolat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3484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földfüggetlen kisfeszültségű oldal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78892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védő kisfeszültség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33756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biztonsági elválasztás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88620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földkapcsolat megengedett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443484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ipari vezérlésben gyakori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TÉVEDÉS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24 V ≠ automatikusan SELV vagy PELV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Először mindig a táplálás és az elválasztás módját vizsgáld.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128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19659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Mekkora a</a:t>
            </a:r>
            <a:br/>
            <a:r>
              <a:t>feszültség?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3035808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93007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7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2331720"/>
            <a:ext cx="19659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Milyen a</a:t>
            </a:r>
            <a:br/>
            <a:r>
              <a:t>tápegység?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3035808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824727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7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59" y="2331720"/>
            <a:ext cx="19659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Van biztonsági</a:t>
            </a:r>
            <a:br/>
            <a:r>
              <a:t>elválasztás?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19" y="3035808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5644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331720"/>
            <a:ext cx="19659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7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Van föld-</a:t>
            </a:r>
            <a:br/>
            <a:r>
              <a:t>kapcsolat?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64040" y="3035808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48816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3388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331720"/>
            <a:ext cx="19659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9528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Mi a rendszer</a:t>
            </a:r>
            <a:br/>
            <a:r>
              <a:t>besorolása?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4480" y="4617720"/>
            <a:ext cx="9052560" cy="77724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4782312"/>
            <a:ext cx="8595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A címke helyett a kapcsolási rajz és a tényleges bekötés dönt.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TÁPLÁLÁS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jelent a galvanikus elválasztás?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286000" cy="118872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4028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Primer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87752"/>
            <a:ext cx="206654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hálózati oldal</a:t>
            </a:r>
          </a:p>
        </p:txBody>
      </p:sp>
      <p:sp>
        <p:nvSpPr>
          <p:cNvPr id="9" name="Arc 8"/>
          <p:cNvSpPr/>
          <p:nvPr/>
        </p:nvSpPr>
        <p:spPr>
          <a:xfrm>
            <a:off x="4160520" y="2194560"/>
            <a:ext cx="164592" cy="1143000"/>
          </a:xfrm>
          <a:prstGeom prst="arc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4434840" y="2194560"/>
            <a:ext cx="164592" cy="1143000"/>
          </a:xfrm>
          <a:prstGeom prst="arc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4709160" y="2194560"/>
            <a:ext cx="164592" cy="1143000"/>
          </a:xfrm>
          <a:prstGeom prst="arc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5623560" y="2194560"/>
            <a:ext cx="164592" cy="1143000"/>
          </a:xfrm>
          <a:prstGeom prst="arc">
            <a:avLst/>
          </a:prstGeom>
          <a:solidFill>
            <a:srgbClr val="FFFFFF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5897880" y="2194560"/>
            <a:ext cx="164592" cy="1143000"/>
          </a:xfrm>
          <a:prstGeom prst="arc">
            <a:avLst/>
          </a:prstGeom>
          <a:solidFill>
            <a:srgbClr val="FFFFFF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6172200" y="2194560"/>
            <a:ext cx="164592" cy="1143000"/>
          </a:xfrm>
          <a:prstGeom prst="arc">
            <a:avLst/>
          </a:prstGeom>
          <a:solidFill>
            <a:srgbClr val="FFFFFF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166360" y="2057400"/>
            <a:ext cx="0" cy="146304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2148840"/>
            <a:ext cx="2743200" cy="118872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240280"/>
            <a:ext cx="2523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Szekunder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587752"/>
            <a:ext cx="252374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nincs közvetlen galvanikus kapcsolat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1800" y="2743200"/>
            <a:ext cx="109728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55080" y="2743200"/>
            <a:ext cx="1874520" cy="0"/>
          </a:xfrm>
          <a:prstGeom prst="line">
            <a:avLst/>
          </a:prstGeom>
          <a:ln w="381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800" y="466344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 Display"/>
              </a:defRPr>
            </a:pPr>
            <a:r>
              <a:t>Az energia átjut - a vezetői kapcsolat nem.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VILLAMOS ELVÁLASZTÁS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Miért véd az elválasztott áramkör?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szekunder oldal nincs a szokásos módon földhöz kötve, ezért egyetlen aktív vezető és föld között nem alakul ki könnyen zárt hibaáramút.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246888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4203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földelt táplálás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920240"/>
            <a:ext cx="2468880" cy="15087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20116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Elválasztó</a:t>
            </a:r>
            <a:br/>
            <a:r>
              <a:t>transzformátor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359152"/>
            <a:ext cx="2249424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galvanikus leválasztás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103120"/>
            <a:ext cx="246888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219456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1 fogyasztó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54203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elválasztott oldal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2679192"/>
            <a:ext cx="1645920" cy="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2679192"/>
            <a:ext cx="164592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0" y="4434840"/>
            <a:ext cx="8549640" cy="82296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4599432"/>
            <a:ext cx="8092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Az elválasztott oldal hibás földelése megszüntetheti a védelmi elvet.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Miért a legegyszerűbb egyetlen fogyasztó elválasztása?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46888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Elválasztó forrás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szekunder oldal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48840"/>
            <a:ext cx="246888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Egy vezetékpár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áttekinthető rendszer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48840"/>
            <a:ext cx="246888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Egy fogyasztó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egyszerű védelmi helyzet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2724912"/>
            <a:ext cx="164592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724912"/>
            <a:ext cx="164592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00" y="448056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Több fogyasztó esetén a kölcsönös hibák és összekötések miatt további feltételek jelennek meg.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ALKALMAZÁSOK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Hol találkozhatsz ezekkel?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34290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374AD"/>
                </a:solidFill>
                <a:latin typeface="Aptos"/>
              </a:defRPr>
            </a:pPr>
            <a:r>
              <a:t>SELV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kisfeszültségű világítás</a:t>
            </a:r>
            <a:br/>
            <a:r>
              <a:t>speciális kézi készülékek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337560" cy="3429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78758"/>
                </a:solidFill>
                <a:latin typeface="Aptos"/>
              </a:defRPr>
            </a:pPr>
            <a:r>
              <a:t>PELV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PLC és ipari 24 V DC</a:t>
            </a:r>
            <a:br/>
            <a:r>
              <a:t>vezérlőkörök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74519"/>
            <a:ext cx="3337560" cy="3429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945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E1AA37"/>
                </a:solidFill>
                <a:latin typeface="Aptos"/>
              </a:defRPr>
            </a:pPr>
            <a:r>
              <a:t>ELVÁLASZTÁS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szervizhelyzetek</a:t>
            </a:r>
            <a:br/>
            <a:r>
              <a:t>speciális fogyasztók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80"/>
            <a:ext cx="9326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Mindig a konkrét berendezés és követelmény alapján kell besorolni.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Négy hiba, amely megváltoztatja a védelmi rendszert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993392"/>
            <a:ext cx="59436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SELV földelése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41448"/>
            <a:ext cx="3794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a rendszer már nem SELV-logika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8231" y="1993392"/>
            <a:ext cx="59436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201168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1168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Nem megfelelő tápegység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441448"/>
            <a:ext cx="3794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hiányozhat a biztonsági elválasztás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3867911"/>
            <a:ext cx="59436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886199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8620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Szekunder összekötése hálózattal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15968"/>
            <a:ext cx="3794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megszűnhet az elválasztás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28231" y="3867911"/>
            <a:ext cx="59436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3886199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88620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Téves PE-kapcsolat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315968"/>
            <a:ext cx="3794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a tényleges rendszer eltér a rajztól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SELV / PELV / elválasztás azonosítási sorrendje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69164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7282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Feszültségszint azonosítása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86584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386584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Tápegység típusának vizsgálata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81528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9816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081528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118104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Primer-szekunder elválasztás ellenőrzése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76472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776472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813048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Föld- és PE-kapcsolatok követése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71416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9704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471416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507992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Fogyasztók számának vizsgálata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16636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516636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20293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Besorolás és dokumentálás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27.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24 V önmagában nem jelent SELV vagy PELV rendszert.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SELV-nél nincs szándékos földkapcsolat.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PELV-nél meghatározott földkapcsolat megengedett.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Villamos elválasztásnál a galvanikus leválasztás a védelem alapja.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Mindig a teljes rendszer kialakítását kell vizsgálni.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28.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Áramütés elleni védelem:</a:t>
            </a:r>
            <a:br/>
            <a:r>
              <a:t>komplex ellenőrzés és 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A tanult védelmi módok, mérések és hibajelenségek összekapcsolása valós szakmai helyzetekben.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7DC6E7"/>
                </a:solidFill>
                <a:latin typeface="Aptos"/>
              </a:defRPr>
            </a:pPr>
            <a:r>
              <a:t>felmérés → mérés → hiba → javítás → visszaellenőrzés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