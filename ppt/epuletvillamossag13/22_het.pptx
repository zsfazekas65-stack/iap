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22.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784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Védő egyenpotenciálra</a:t>
            </a:r>
            <a:br/>
            <a:r>
              <a:t>hozás (EPH)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8961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Fő és kiegészítő összekötések • idegen vezetőképes részek • fő földelőkapocs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4663440"/>
            <a:ext cx="960120" cy="658368"/>
          </a:xfrm>
          <a:prstGeom prst="roundRect">
            <a:avLst/>
          </a:prstGeom>
          <a:solidFill>
            <a:srgbClr val="1F4262"/>
          </a:solidFill>
          <a:ln>
            <a:solidFill>
              <a:srgbClr val="4E9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4791456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663440"/>
            <a:ext cx="960120" cy="658368"/>
          </a:xfrm>
          <a:prstGeom prst="roundRect">
            <a:avLst/>
          </a:prstGeom>
          <a:solidFill>
            <a:srgbClr val="1F4262"/>
          </a:solidFill>
          <a:ln>
            <a:solidFill>
              <a:srgbClr val="4E9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791456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VÍZ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4663440"/>
            <a:ext cx="960120" cy="658368"/>
          </a:xfrm>
          <a:prstGeom prst="roundRect">
            <a:avLst/>
          </a:prstGeom>
          <a:solidFill>
            <a:srgbClr val="1F4262"/>
          </a:solidFill>
          <a:ln>
            <a:solidFill>
              <a:srgbClr val="4E9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4791456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FÉM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56448" y="5321808"/>
            <a:ext cx="0" cy="438912"/>
          </a:xfrm>
          <a:prstGeom prst="line">
            <a:avLst/>
          </a:prstGeom>
          <a:ln w="381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45168" y="5321808"/>
            <a:ext cx="0" cy="438912"/>
          </a:xfrm>
          <a:prstGeom prst="line">
            <a:avLst/>
          </a:prstGeom>
          <a:ln w="381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33888" y="5321808"/>
            <a:ext cx="0" cy="438912"/>
          </a:xfrm>
          <a:prstGeom prst="line">
            <a:avLst/>
          </a:prstGeom>
          <a:ln w="381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56448" y="5760720"/>
            <a:ext cx="2377440" cy="0"/>
          </a:xfrm>
          <a:prstGeom prst="line">
            <a:avLst/>
          </a:prstGeom>
          <a:ln w="381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5989320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Cél: a veszélyes potenciálkülönbség csökkentése.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ALAPGONDOLAT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Miért kell egyenpotenciálra hozni?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Nem az a cél, hogy „minden fém le legyen földelve”, hanem hogy az egyidejűleg érinthető részek között ne alakuljon ki veszélyes feszültség.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2834640" cy="132588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15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Fémházas fogyasztó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2615184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hiba esetén potenciálra kerülhet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011680"/>
            <a:ext cx="2834640" cy="1325880"/>
          </a:xfrm>
          <a:prstGeom prst="roundRect">
            <a:avLst/>
          </a:prstGeom>
          <a:solidFill>
            <a:srgbClr val="EEF6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121408"/>
            <a:ext cx="2615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Fém vízcső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450592"/>
            <a:ext cx="2615184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külső potenciált vezethet 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2834640" cy="132588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121408"/>
            <a:ext cx="2615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Érintő személy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450592"/>
            <a:ext cx="2615184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egyszerre két részt érinthet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2670048"/>
            <a:ext cx="86868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2670048"/>
            <a:ext cx="86868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74519" y="4160520"/>
            <a:ext cx="8412480" cy="10515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4370832"/>
            <a:ext cx="7863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2304D"/>
                </a:solidFill>
                <a:latin typeface="Aptos"/>
              </a:defRPr>
            </a:pPr>
            <a:r>
              <a:t>EPH: a potenciálkülönbség csökkentése összekötéssel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3337560"/>
            <a:ext cx="0" cy="8229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43600" y="3337560"/>
            <a:ext cx="0" cy="8229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FOGALMAK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Test vagy idegen vezetőképes rész?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Ez a megkülönböztetés dönti el, hogyan gondolkodunk a védőösszekötésről.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57800" cy="3611880"/>
          </a:xfrm>
          <a:prstGeom prst="roundRect">
            <a:avLst/>
          </a:prstGeom>
          <a:solidFill>
            <a:srgbClr val="F1F7FB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874519"/>
            <a:ext cx="5257800" cy="3611880"/>
          </a:xfrm>
          <a:prstGeom prst="roundRect">
            <a:avLst/>
          </a:prstGeom>
          <a:solidFill>
            <a:srgbClr val="F7F6EE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2304D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148840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IDEGEN VEZETŐKÉPES RÉSZ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4617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1F303E"/>
                </a:solidFill>
                <a:latin typeface="Aptos"/>
              </a:defRPr>
            </a:pPr>
            <a:r>
              <a:t>A villamos szerkezet érinthető vezetőképes része.</a:t>
            </a:r>
            <a:br/>
            <a:r>
              <a:t>Normál üzemben nem aktív, de hiba esetén feszültség alá kerülhet.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788920"/>
            <a:ext cx="4617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1F303E"/>
                </a:solidFill>
                <a:latin typeface="Aptos"/>
              </a:defRPr>
            </a:pPr>
            <a:r>
              <a:t>Nem része a villamos berendezésnek,</a:t>
            </a:r>
            <a:br/>
            <a:r>
              <a:t>de külső potenciált – például földpotenciált – vezethet 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4343400"/>
            <a:ext cx="3886200" cy="384048"/>
          </a:xfrm>
          <a:prstGeom prst="roundRect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0472" y="4370832"/>
            <a:ext cx="3739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példa: villanymotor fémháza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4343400"/>
            <a:ext cx="3886200" cy="384048"/>
          </a:xfrm>
          <a:prstGeom prst="roundRect">
            <a:avLst/>
          </a:prstGeom>
          <a:solidFill>
            <a:srgbClr val="F6E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4370832"/>
            <a:ext cx="3739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példa: belépő fém vízvezeték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RENDSZERÁBRA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fő EPH kapcsolati képe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fő földelőkapocs a földelés, a PE-rendszer és a fő védő összekötések találkozási pontja.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743200"/>
            <a:ext cx="301752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852928"/>
            <a:ext cx="2798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FŐ FÖLDELŐKAPOCS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3182112"/>
            <a:ext cx="2798063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központi csatlakozási pont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237744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938528"/>
            <a:ext cx="21579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Földelő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67712"/>
            <a:ext cx="2157984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alapföldelő / más földelő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23360"/>
            <a:ext cx="2377440" cy="914400"/>
          </a:xfrm>
          <a:prstGeom prst="roundRect">
            <a:avLst/>
          </a:prstGeom>
          <a:solidFill>
            <a:srgbClr val="EEF6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133088"/>
            <a:ext cx="21579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rendszer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462272"/>
            <a:ext cx="2157984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villamos testek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508760"/>
            <a:ext cx="2377440" cy="91440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7" y="1618488"/>
            <a:ext cx="21579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Fém vízcső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7" y="1947672"/>
            <a:ext cx="2157984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potenciált bevezethet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971800"/>
            <a:ext cx="2377440" cy="91440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7" y="3081528"/>
            <a:ext cx="21579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Fém csőhálózat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3410712"/>
            <a:ext cx="2157984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vizsgálandó idegen rész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4434840"/>
            <a:ext cx="2377440" cy="91440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7" y="4544568"/>
            <a:ext cx="21579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Szerkezeti fém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7" y="4873752"/>
            <a:ext cx="2157984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ha releváns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63240" y="2286000"/>
            <a:ext cx="1508760" cy="777240"/>
          </a:xfrm>
          <a:prstGeom prst="line">
            <a:avLst/>
          </a:prstGeom>
          <a:ln w="381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063240" y="3337560"/>
            <a:ext cx="1508760" cy="114300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589520" y="1965960"/>
            <a:ext cx="1508760" cy="1097280"/>
          </a:xfrm>
          <a:prstGeom prst="line">
            <a:avLst/>
          </a:prstGeom>
          <a:ln w="381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89520" y="3200400"/>
            <a:ext cx="1508760" cy="228600"/>
          </a:xfrm>
          <a:prstGeom prst="line">
            <a:avLst/>
          </a:prstGeom>
          <a:ln w="381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89520" y="3337560"/>
            <a:ext cx="1508760" cy="1554480"/>
          </a:xfrm>
          <a:prstGeom prst="line">
            <a:avLst/>
          </a:prstGeom>
          <a:ln w="381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Fő EPH és kiegészítő EPH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Ugyanaz az alapelv, de eltérő helyzetben és céllal alkalmazzuk.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57800" cy="3840480"/>
          </a:xfrm>
          <a:prstGeom prst="roundRect">
            <a:avLst/>
          </a:prstGeom>
          <a:solidFill>
            <a:srgbClr val="F0F7FB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828800"/>
            <a:ext cx="5257800" cy="3840480"/>
          </a:xfrm>
          <a:prstGeom prst="roundRect">
            <a:avLst/>
          </a:prstGeom>
          <a:solidFill>
            <a:srgbClr val="F6F8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FŐ VÉDŐ ÖSSZEKÖTÉS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10312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KIEGÉSZÍTŐ ÖSSZEKÖTÉS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526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létesítményszintű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4526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fő földelőkapocshoz kapcsolódik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4526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potenciált bevezető részek vizsgálata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4526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a fő védelmi rendszer része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834640"/>
            <a:ext cx="4526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helyi kockázatnál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337560"/>
            <a:ext cx="4526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egyidejűleg érinthető részek között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840480"/>
            <a:ext cx="4526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csak indokolt esetben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343400"/>
            <a:ext cx="4526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• a helyi veszély csökkentésére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DÖNTÉSI LOGIKA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Nem minden fém tárgy EPH-köteles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döntés szakmai vizsgálat eredménye, nem automatikus „fém = EPH” szabály.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4231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63040" y="2057400"/>
            <a:ext cx="86868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6192" y="2084831"/>
            <a:ext cx="72237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148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Vezetőképes?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035808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2331720"/>
            <a:ext cx="24231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59" y="2057400"/>
            <a:ext cx="86868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084831"/>
            <a:ext cx="72237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2606040"/>
            <a:ext cx="2148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Külső potenciált</a:t>
            </a:r>
            <a:br/>
            <a:r>
              <a:t>bevezethet?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79" y="3035808"/>
            <a:ext cx="365761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63640" y="2331720"/>
            <a:ext cx="24231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79" y="2057400"/>
            <a:ext cx="86868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1" y="2084831"/>
            <a:ext cx="72237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2148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Egyidejűleg</a:t>
            </a:r>
            <a:br/>
            <a:r>
              <a:t>érinthető?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3035808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59" y="2331720"/>
            <a:ext cx="24231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9799" y="2057400"/>
            <a:ext cx="86868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1" y="2084831"/>
            <a:ext cx="72237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606040"/>
            <a:ext cx="2148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Védelmi szempontból</a:t>
            </a:r>
            <a:br/>
            <a:r>
              <a:t>releváns?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480560"/>
            <a:ext cx="8138160" cy="86868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4690872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E433F"/>
                </a:solidFill>
                <a:latin typeface="Aptos"/>
              </a:defRPr>
            </a:pPr>
            <a:r>
              <a:t>A puszta fémes anyag önmagában nem elegendő indok.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KAPCSOLATOK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PE és EPH: összefügg, de nem ugyanaz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PE a villamos testek védővezetője; az EPH a releváns vezetőképes részek potenciálját közelíti egymáshoz.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926080" cy="1188720"/>
          </a:xfrm>
          <a:prstGeom prst="roundRect">
            <a:avLst/>
          </a:prstGeom>
          <a:solidFill>
            <a:srgbClr val="EEF6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212848"/>
            <a:ext cx="2706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42032"/>
            <a:ext cx="270662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villamos szerkezetek testei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103120"/>
            <a:ext cx="292608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2212848"/>
            <a:ext cx="2706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Fő földelőkapocs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542032"/>
            <a:ext cx="270662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közös kapcsolati pont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103120"/>
            <a:ext cx="2926080" cy="118872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2212848"/>
            <a:ext cx="2706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2542032"/>
            <a:ext cx="270662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idegen vezetőképes részek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2697480"/>
            <a:ext cx="91440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2697480"/>
            <a:ext cx="914400" cy="0"/>
          </a:xfrm>
          <a:prstGeom prst="line">
            <a:avLst/>
          </a:prstGeom>
          <a:ln w="508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0" y="4251960"/>
            <a:ext cx="8549640" cy="9144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4462272"/>
            <a:ext cx="8092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78758"/>
                </a:solidFill>
                <a:latin typeface="Aptos"/>
              </a:defRPr>
            </a:pPr>
            <a:r>
              <a:t>Közös cél: a hibavédelem hatásossága és a veszélyes érintési feszültség csökkentése.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VÉDELMI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RCD és EPH együtt dolgozik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Egyik sem „váltja ki” a másikat.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2834640" cy="1417320"/>
          </a:xfrm>
          <a:prstGeom prst="roundRect">
            <a:avLst/>
          </a:prstGeom>
          <a:solidFill>
            <a:srgbClr val="F0F7FB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58568"/>
            <a:ext cx="2615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87752"/>
            <a:ext cx="2615184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hibaáramot érzékel</a:t>
            </a:r>
            <a:br/>
            <a:r>
              <a:t>és lekapcsol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148840"/>
            <a:ext cx="2834640" cy="141732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258568"/>
            <a:ext cx="2615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587752"/>
            <a:ext cx="2615184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potenciálkülönbséget</a:t>
            </a:r>
            <a:br/>
            <a:r>
              <a:t>csökkent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148840"/>
            <a:ext cx="2834640" cy="141732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7" y="2258568"/>
            <a:ext cx="2615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+ földelés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2587752"/>
            <a:ext cx="2615184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hibaáramút és</a:t>
            </a:r>
            <a:br/>
            <a:r>
              <a:t>védelmi kapcsolat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49039" y="2852928"/>
            <a:ext cx="914401" cy="0"/>
          </a:xfrm>
          <a:prstGeom prst="line">
            <a:avLst/>
          </a:prstGeom>
          <a:ln w="381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79" y="2852928"/>
            <a:ext cx="914401" cy="0"/>
          </a:xfrm>
          <a:prstGeom prst="line">
            <a:avLst/>
          </a:prstGeom>
          <a:ln w="381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920240" y="4434840"/>
            <a:ext cx="8321040" cy="91440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4645152"/>
            <a:ext cx="7863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 biztonság több, egymást kiegészítő védelmi elem eredménye.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Négy tipikus EPH-hiba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helyszíni ellenőrzésnél ezeket tudatosan keresd.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93392"/>
            <a:ext cx="59436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020824"/>
            <a:ext cx="4480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1168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2304D"/>
                </a:solidFill>
                <a:latin typeface="Aptos"/>
              </a:defRPr>
            </a:pPr>
            <a:r>
              <a:t>Hiányzó összekötés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41448"/>
            <a:ext cx="3794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C707E"/>
                </a:solidFill>
                <a:latin typeface="Aptos"/>
              </a:defRPr>
            </a:pPr>
            <a:r>
              <a:t>releváns idegen rész nincs bevonva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28231" y="1993392"/>
            <a:ext cx="59436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2020824"/>
            <a:ext cx="4480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1168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2304D"/>
                </a:solidFill>
                <a:latin typeface="Aptos"/>
              </a:defRPr>
            </a:pPr>
            <a:r>
              <a:t>Laza / korrodált kötés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441448"/>
            <a:ext cx="3794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C707E"/>
                </a:solidFill>
                <a:latin typeface="Aptos"/>
              </a:defRPr>
            </a:pPr>
            <a:r>
              <a:t>a folytonosság bizonytalanná válik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3867911"/>
            <a:ext cx="59436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895344"/>
            <a:ext cx="4480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88620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2304D"/>
                </a:solidFill>
                <a:latin typeface="Aptos"/>
              </a:defRPr>
            </a:pPr>
            <a:r>
              <a:t>Téves N-csatlakozás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315968"/>
            <a:ext cx="3794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C707E"/>
                </a:solidFill>
                <a:latin typeface="Aptos"/>
              </a:defRPr>
            </a:pPr>
            <a:r>
              <a:t>EPH-t nem az üzemi N-re építünk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28231" y="3867911"/>
            <a:ext cx="59436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3" y="3895344"/>
            <a:ext cx="4480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88620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2304D"/>
                </a:solidFill>
                <a:latin typeface="Aptos"/>
              </a:defRPr>
            </a:pPr>
            <a:r>
              <a:t>Nincs dokumentáció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315968"/>
            <a:ext cx="3794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C707E"/>
                </a:solidFill>
                <a:latin typeface="Aptos"/>
              </a:defRPr>
            </a:pPr>
            <a:r>
              <a:t>nem követhető a kialakítás és ellenőrzés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Helyszíni EPH-ellenőrzés – gondolkodási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vizsgálat legyen következetes: azonosítás → kapcsolat → állapot → mérés → dokumentálás.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56231"/>
            <a:ext cx="3566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828800"/>
            <a:ext cx="9509760" cy="438912"/>
          </a:xfrm>
          <a:prstGeom prst="rect">
            <a:avLst/>
          </a:prstGeom>
          <a:solidFill>
            <a:srgbClr val="F6F9FB"/>
          </a:solidFill>
          <a:ln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856231"/>
            <a:ext cx="8961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F303E"/>
                </a:solidFill>
                <a:latin typeface="Aptos"/>
              </a:defRPr>
            </a:pPr>
            <a:r>
              <a:t>Azonosítsd a testeket és idegen részeket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468880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496312"/>
            <a:ext cx="3566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468880"/>
            <a:ext cx="9509760" cy="438912"/>
          </a:xfrm>
          <a:prstGeom prst="rect">
            <a:avLst/>
          </a:prstGeom>
          <a:solidFill>
            <a:srgbClr val="F6F9FB"/>
          </a:solidFill>
          <a:ln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2496312"/>
            <a:ext cx="8961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F303E"/>
                </a:solidFill>
                <a:latin typeface="Aptos"/>
              </a:defRPr>
            </a:pPr>
            <a:r>
              <a:t>Keresd meg a fő földelőkapcsot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108960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136391"/>
            <a:ext cx="3566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108960"/>
            <a:ext cx="9509760" cy="438912"/>
          </a:xfrm>
          <a:prstGeom prst="rect">
            <a:avLst/>
          </a:prstGeom>
          <a:solidFill>
            <a:srgbClr val="F6F9FB"/>
          </a:solidFill>
          <a:ln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3136391"/>
            <a:ext cx="8961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Kövesd a védő összekötő vezetőket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49039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776472"/>
            <a:ext cx="3566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749039"/>
            <a:ext cx="9509760" cy="438912"/>
          </a:xfrm>
          <a:prstGeom prst="rect">
            <a:avLst/>
          </a:prstGeom>
          <a:solidFill>
            <a:srgbClr val="F6F9FB"/>
          </a:solidFill>
          <a:ln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3776472"/>
            <a:ext cx="8961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Vizsgáld a kötések állapotát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389120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416552"/>
            <a:ext cx="3566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389120"/>
            <a:ext cx="9509760" cy="438912"/>
          </a:xfrm>
          <a:prstGeom prst="rect">
            <a:avLst/>
          </a:prstGeom>
          <a:solidFill>
            <a:srgbClr val="F6F9FB"/>
          </a:solidFill>
          <a:ln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3080" y="4416552"/>
            <a:ext cx="8961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F303E"/>
                </a:solidFill>
                <a:latin typeface="Aptos"/>
              </a:defRPr>
            </a:pPr>
            <a:r>
              <a:t>Ellenőrizd a folytonosságot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029200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5056632"/>
            <a:ext cx="3566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029200"/>
            <a:ext cx="9509760" cy="438912"/>
          </a:xfrm>
          <a:prstGeom prst="rect">
            <a:avLst/>
          </a:prstGeom>
          <a:solidFill>
            <a:srgbClr val="F6F9FB"/>
          </a:solidFill>
          <a:ln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5056632"/>
            <a:ext cx="8961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Rögzítsd az eredményt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 EPH lényege 5 mondatban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64792"/>
            <a:ext cx="40233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2304D"/>
                </a:solidFill>
                <a:latin typeface="Aptos"/>
              </a:defRPr>
            </a:pPr>
            <a:r>
              <a:t>Nem minden fémrész EPH-köteles.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146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42032"/>
            <a:ext cx="40233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96312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303E"/>
                </a:solidFill>
                <a:latin typeface="Aptos"/>
              </a:defRPr>
            </a:pPr>
            <a:r>
              <a:t>A test és az idegen vezetőképes rész nem ugyanaz.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9183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319271"/>
            <a:ext cx="40233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73551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303E"/>
                </a:solidFill>
                <a:latin typeface="Aptos"/>
              </a:defRPr>
            </a:pPr>
            <a:r>
              <a:t>A fő EPH a fő földelőkapocshoz kapcsolódik.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06907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096511"/>
            <a:ext cx="40233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50791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303E"/>
                </a:solidFill>
                <a:latin typeface="Aptos"/>
              </a:defRPr>
            </a:pPr>
            <a:r>
              <a:t>A kiegészítő EPH helyi kockázatot kezel.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4632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873752"/>
            <a:ext cx="40233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28032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2304D"/>
                </a:solidFill>
                <a:latin typeface="Aptos"/>
              </a:defRPr>
            </a:pPr>
            <a:r>
              <a:t>Az RCD, PE, földelés és EPH együtt alkot hatásos védelmi rendszert.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23.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241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Hurokimpedancia,</a:t>
            </a:r>
            <a:br/>
            <a:r>
              <a:t>automatikus lekapcsolás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Hogyan bizonyítjuk méréssel, hogy a hibavédelem valóban lekapcsol?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66344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7DC6E7"/>
                </a:solidFill>
                <a:latin typeface="Aptos"/>
              </a:defRPr>
            </a:pPr>
            <a:r>
              <a:t>Hibaáramút → Zs → kioldási feltétel → mérés → minősítés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