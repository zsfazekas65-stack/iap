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30A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DCEB"/>
                </a:solidFill>
                <a:latin typeface="Aptos"/>
              </a:defRPr>
            </a:pPr>
            <a:r>
              <a:t>IAP • 35.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996696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IP-alapú</a:t>
            </a:r>
            <a:br/>
            <a:r>
              <a:t>épületinformatikai rendszerek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6324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Kamera • beléptetés • kaputelefon • riasztás • automatika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4297680"/>
            <a:ext cx="1051560" cy="685800"/>
          </a:xfrm>
          <a:prstGeom prst="roundRect">
            <a:avLst/>
          </a:prstGeom>
          <a:solidFill>
            <a:srgbClr val="294A68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4462272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4297680"/>
            <a:ext cx="1051560" cy="685800"/>
          </a:xfrm>
          <a:prstGeom prst="roundRect">
            <a:avLst/>
          </a:prstGeom>
          <a:solidFill>
            <a:srgbClr val="294A68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4462272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DOOR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4297680"/>
            <a:ext cx="1051560" cy="685800"/>
          </a:xfrm>
          <a:prstGeom prst="roundRect">
            <a:avLst/>
          </a:prstGeom>
          <a:solidFill>
            <a:srgbClr val="294A68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4462272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4297680"/>
            <a:ext cx="1051560" cy="685800"/>
          </a:xfrm>
          <a:prstGeom prst="roundRect">
            <a:avLst/>
          </a:prstGeom>
          <a:solidFill>
            <a:srgbClr val="294A68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61320" y="4462272"/>
            <a:ext cx="1051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852160"/>
            <a:ext cx="6949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DCEB"/>
                </a:solidFill>
                <a:latin typeface="Aptos"/>
              </a:defRPr>
            </a:pPr>
            <a:r>
              <a:t>Egy hálózat - több épületüzemeltetési szolgáltatás.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RENDSZERSZEMLÉLET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Közös fizikai hálózat, külön szolgáltatások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148840"/>
            <a:ext cx="265176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64608" y="2240280"/>
            <a:ext cx="24323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IP-HÁLÓZAT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2587752"/>
            <a:ext cx="24323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switch + gerinc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237744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92024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IP-kamera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1600200" y="2240280"/>
            <a:ext cx="4480560" cy="484632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" y="4069080"/>
            <a:ext cx="237744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416052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Beléptetés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600200" y="2724912"/>
            <a:ext cx="4480560" cy="1755648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72600" y="1828800"/>
            <a:ext cx="237744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192024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Kaputelefon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80760" y="2240280"/>
            <a:ext cx="4480560" cy="484632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72600" y="4069080"/>
            <a:ext cx="237744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4160520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Automatika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724912"/>
            <a:ext cx="4480560" cy="1755648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54880" y="4846320"/>
            <a:ext cx="237744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4937759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Felügyelet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943600" y="2724912"/>
            <a:ext cx="137160" cy="2532888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80160" y="5715000"/>
            <a:ext cx="9601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A közös kábelezés nem jelenti azt, hogy minden szolgáltatás egyetlen logikai hálózatban legyen.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VIDEÓMEGFIGYELÉS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IP-kamerarendszer adatútja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169164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331720"/>
            <a:ext cx="1472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IP-kamera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679192"/>
            <a:ext cx="14721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kép + metaadat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240280"/>
            <a:ext cx="169164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2331720"/>
            <a:ext cx="1472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679192"/>
            <a:ext cx="14721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adat + táp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240280"/>
            <a:ext cx="169164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1848" y="2331720"/>
            <a:ext cx="1472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NVR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1848" y="2679192"/>
            <a:ext cx="14721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rögzítés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240280"/>
            <a:ext cx="169164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7" y="2331720"/>
            <a:ext cx="1472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Háttértár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7" y="2679192"/>
            <a:ext cx="14721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megőrzés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2240280"/>
            <a:ext cx="169164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51007" y="2331720"/>
            <a:ext cx="1472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Kliens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51007" y="2679192"/>
            <a:ext cx="14721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megtekintés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03120" y="2816352"/>
            <a:ext cx="86868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63440" y="2816352"/>
            <a:ext cx="86868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23760" y="2816352"/>
            <a:ext cx="86868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784080" y="2816352"/>
            <a:ext cx="45720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371600" y="4434840"/>
            <a:ext cx="9418320" cy="8229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4599432"/>
            <a:ext cx="8961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videó rendszer egyszerre hálózati, tárolási és tápellátási feladat.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NVR ÉS TÁROLÁS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 határozza meg a szükséges háttértárat?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1965960" cy="25146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12848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74AD"/>
                </a:solidFill>
                <a:latin typeface="Aptos"/>
              </a:defRPr>
            </a:pPr>
            <a:r>
              <a:t>KAMERÁK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darabszám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20240"/>
            <a:ext cx="1965960" cy="25146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212848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0A9C4"/>
                </a:solidFill>
                <a:latin typeface="Aptos"/>
              </a:defRPr>
            </a:pPr>
            <a:r>
              <a:t>FELBONTÁS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063240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képméret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920240"/>
            <a:ext cx="1965960" cy="25146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2212848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78758"/>
                </a:solidFill>
                <a:latin typeface="Aptos"/>
              </a:defRPr>
            </a:pPr>
            <a:r>
              <a:t>FPS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063240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képkocka/s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920240"/>
            <a:ext cx="1965960" cy="25146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212848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1AA37"/>
                </a:solidFill>
                <a:latin typeface="Aptos"/>
              </a:defRPr>
            </a:pPr>
            <a:r>
              <a:t>TÖMÖRÍTÉS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063240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adatsebesség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1920240"/>
            <a:ext cx="1965960" cy="251460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799" y="2212848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7057AB"/>
                </a:solidFill>
                <a:latin typeface="Aptos"/>
              </a:defRPr>
            </a:pPr>
            <a:r>
              <a:t>MEGŐRZÉS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9" y="3063240"/>
            <a:ext cx="1508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2304D"/>
                </a:solidFill>
                <a:latin typeface="Aptos"/>
              </a:defRPr>
            </a:pPr>
            <a:r>
              <a:t>napok száma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029200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Több adat / hosszabb megőrzés → nagyobb tárolókapacitás és hálózati terhelés.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BELÉPTETÉS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Azonosítás → döntés → ajtóvezérlés → naplózás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24028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Kártya / mobil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58775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azonosító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816352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214884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224028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Olvasó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58775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adatbeolvasás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2816352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14884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24028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Vezérlő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258775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jogosultság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79" y="2816352"/>
            <a:ext cx="365761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06640" y="214884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7" y="224028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Zár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58775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ajtó működtetés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2816352"/>
            <a:ext cx="365759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8359" y="214884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7" y="224028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Szerver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7" y="258775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napló / felügyelet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9160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 biztonsági döntés és az ajtó működése akkor is tervezett legyen, ha a központi hálózati kapcsolat megszakad.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KAPUTELEFON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Hang + kép + beléptetés egy IP-kapcsolaton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23317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94560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Kültéri egység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42032"/>
            <a:ext cx="21122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kamera + mikrofon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103120"/>
            <a:ext cx="233172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2194560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IP-hálózat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2542032"/>
            <a:ext cx="21122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737360"/>
            <a:ext cx="2331720" cy="96012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9448" y="1828800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Beltéri monitor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3246120"/>
            <a:ext cx="2331720" cy="96012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3337560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Mobil kliens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2679192"/>
            <a:ext cx="196596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223760" y="2212848"/>
            <a:ext cx="1965960" cy="466344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23760" y="2679192"/>
            <a:ext cx="1965960" cy="105156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kaputelefon összekapcsolható ajtónyitással és központi felügyelettel.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RIASZTÁS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Az IP-kapcsolat kiegészítheti a biztonsági rendszert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21031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14884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9631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helyi bemenetek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057400"/>
            <a:ext cx="210312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14884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Riasztóközpont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49631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alapvető védelem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57400"/>
            <a:ext cx="21031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14884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IP-kommunikáció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49631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felügyelet / távjelzés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057400"/>
            <a:ext cx="21031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7" y="214884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Központ /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7" y="249631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állapot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06040" y="2633472"/>
            <a:ext cx="73152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40680" y="2633472"/>
            <a:ext cx="73152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75320" y="2633472"/>
            <a:ext cx="73152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71600" y="4434840"/>
            <a:ext cx="9418320" cy="82296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4599432"/>
            <a:ext cx="8961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Az alapvető riasztási funkció ne egyetlen általános LAN-kapcsolattól függjön.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ÉPÜLETAUTOMATIKA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Érzékelés → vezérlés → beavatkozás → felügyelet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1031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3347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hőmérséklet / jelenlét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194560"/>
            <a:ext cx="210312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228600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Vezérlő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263347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logika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94560"/>
            <a:ext cx="21031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228600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Beavatkozók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263347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világítás / gépészet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194560"/>
            <a:ext cx="21031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2286000"/>
            <a:ext cx="18836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BMS / HMI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633472"/>
            <a:ext cx="18836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felügyelet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60320" y="2770632"/>
            <a:ext cx="68580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49240" y="2770632"/>
            <a:ext cx="68580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38160" y="2770632"/>
            <a:ext cx="68580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7280" y="457200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Az IP-hálózat gyakran a vezérlők és felügyeleti rendszerek magasabb szintű kommunikációs gerince.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SZEGMENTÁLÁS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Egy switchhálózat - több logikai hálózat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15468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788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374AD"/>
                </a:solidFill>
                <a:latin typeface="Aptos"/>
              </a:defRPr>
            </a:pPr>
            <a:r>
              <a:t>VLAN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2514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Irodai 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74519"/>
            <a:ext cx="315468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788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BE433F"/>
                </a:solidFill>
                <a:latin typeface="Aptos"/>
              </a:defRPr>
            </a:pPr>
            <a:r>
              <a:t>VLAN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599" y="3154680"/>
            <a:ext cx="2514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Kamerák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74519"/>
            <a:ext cx="3154680" cy="31546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194560"/>
            <a:ext cx="2788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78758"/>
                </a:solidFill>
                <a:latin typeface="Aptos"/>
              </a:defRPr>
            </a:pPr>
            <a:r>
              <a:t>VLAN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154680"/>
            <a:ext cx="2514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Automatika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440680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 szegmentálás javíthatja az áttekinthetőséget, biztonságot és hibakezelést.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ÜZEMBIZTONSÁG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PoE a végpontokhoz - UPS a központhoz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19456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10312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50592"/>
            <a:ext cx="19751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tartalék energia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011680"/>
            <a:ext cx="219456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10312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450592"/>
            <a:ext cx="19751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központi táp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219456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60020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IP-kamera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1947672"/>
            <a:ext cx="1975104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PoE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80360"/>
            <a:ext cx="2194560" cy="9144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297180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Access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3319272"/>
            <a:ext cx="1975104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PoE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011680"/>
            <a:ext cx="219456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7" y="2103120"/>
            <a:ext cx="1975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NVR / szerver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7" y="2450592"/>
            <a:ext cx="19751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tárolás / szolgáltatás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97480" y="2587752"/>
            <a:ext cx="640080" cy="0"/>
          </a:xfrm>
          <a:prstGeom prst="line">
            <a:avLst/>
          </a:prstGeom>
          <a:ln w="50800">
            <a:solidFill>
              <a:srgbClr val="7057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532120" y="1965960"/>
            <a:ext cx="640080" cy="621792"/>
          </a:xfrm>
          <a:prstGeom prst="line">
            <a:avLst/>
          </a:prstGeom>
          <a:ln w="381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32120" y="2587752"/>
            <a:ext cx="640080" cy="749808"/>
          </a:xfrm>
          <a:prstGeom prst="line">
            <a:avLst/>
          </a:prstGeom>
          <a:ln w="381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2587752"/>
            <a:ext cx="3474720" cy="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80160" y="4709160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Áramszünetnél nemcsak a végpont, hanem a switch, router, rögzítő és vezérlő működése is számít.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KIBERBIZTONSÁG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Az épületinformatikai eszköz is hálózati végpont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96596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BE433F"/>
                </a:solidFill>
                <a:latin typeface="Aptos"/>
              </a:defRPr>
            </a:pPr>
            <a:r>
              <a:t>JELSZÓ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063240"/>
            <a:ext cx="15636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gyári jelszó cseréje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74519"/>
            <a:ext cx="196596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19456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78758"/>
                </a:solidFill>
                <a:latin typeface="Aptos"/>
              </a:defRPr>
            </a:pPr>
            <a:r>
              <a:t>FRISSÍTÉS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3063240"/>
            <a:ext cx="15636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firmware karbantartása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874519"/>
            <a:ext cx="196596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219456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E1AA37"/>
                </a:solidFill>
                <a:latin typeface="Aptos"/>
              </a:defRPr>
            </a:pPr>
            <a:r>
              <a:t>JOGOSULTSÁG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3063240"/>
            <a:ext cx="15636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csak szükséges hozzáférés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74519"/>
            <a:ext cx="196596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19456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7057AB"/>
                </a:solidFill>
                <a:latin typeface="Aptos"/>
              </a:defRPr>
            </a:pPr>
            <a:r>
              <a:t>SZEGMENTÁLÁS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063240"/>
            <a:ext cx="15636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szolgáltatások elkülönítése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1874519"/>
            <a:ext cx="196596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799" y="219456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74AD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3063240"/>
            <a:ext cx="156362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eszköz- és címnyilvántartás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6636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 hálózati biztonság már a tervezésnél kezdődik, nem az üzembe helyezés után.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KOMPLEX TOPOLÓGIA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Egy rackből több szolgáltatás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965960"/>
            <a:ext cx="274320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8888" y="2057400"/>
            <a:ext cx="2523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PoE 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8888" y="2404872"/>
            <a:ext cx="252374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központi infrastruktúra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45920"/>
            <a:ext cx="242316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73736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CAM-01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1572768" y="2057400"/>
            <a:ext cx="4507992" cy="45720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" y="4069080"/>
            <a:ext cx="242316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416052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AP-01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572768" y="2514600"/>
            <a:ext cx="4507992" cy="196596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72600" y="1645920"/>
            <a:ext cx="242316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173736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Beléptető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80760" y="2057400"/>
            <a:ext cx="4498848" cy="45720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72600" y="4069080"/>
            <a:ext cx="242316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416052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Kaputelefon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514600"/>
            <a:ext cx="4498848" cy="196596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09160" y="4709160"/>
            <a:ext cx="2423160" cy="82296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4800600"/>
            <a:ext cx="22037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BMS vezérlő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916168" y="2514600"/>
            <a:ext cx="164592" cy="260604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709160" y="3337560"/>
            <a:ext cx="2743200" cy="77724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3429000"/>
            <a:ext cx="2523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NVR / szerver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3776472"/>
            <a:ext cx="2523744" cy="274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szolgáltatások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3063240"/>
            <a:ext cx="0" cy="27432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kamera nem jelenik meg az NVR-ben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7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PoE / táp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3017520"/>
            <a:ext cx="320041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6148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Link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9476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8172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Kábel / port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1500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0196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IP-cím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3524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2220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792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2331720"/>
            <a:ext cx="1600200" cy="1371600"/>
          </a:xfrm>
          <a:prstGeom prst="roundRect">
            <a:avLst/>
          </a:prstGeom>
          <a:solidFill>
            <a:srgbClr val="E8F3FA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VLAN / útvonal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3017520"/>
            <a:ext cx="3200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442448" y="1828800"/>
            <a:ext cx="54864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88168" y="184708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2331720"/>
            <a:ext cx="160020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2578608"/>
            <a:ext cx="1417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2304D"/>
                </a:solidFill>
                <a:latin typeface="Aptos"/>
              </a:defRPr>
            </a:pPr>
            <a:r>
              <a:t>NVR beállítás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08760" y="4617720"/>
            <a:ext cx="9144000" cy="77724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37360" y="4773168"/>
            <a:ext cx="8686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78758"/>
                </a:solidFill>
                <a:latin typeface="Aptos"/>
              </a:defRPr>
            </a:pPr>
            <a:r>
              <a:t>A szolgáltatáshiba mögött lehet villamos, kábelezési, hálózati vagy konfigurációs 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Tervezd meg egy kis épület közös IP-infrastruktúráját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96596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96596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KAMERÁK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313432"/>
            <a:ext cx="17465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4 végpont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74519"/>
            <a:ext cx="196596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96596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BELÉPTETÉS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313432"/>
            <a:ext cx="17465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2 ajtó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874519"/>
            <a:ext cx="196596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648" y="196596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KAPUTELEFON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2313432"/>
            <a:ext cx="17465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1 kültéri egység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74519"/>
            <a:ext cx="196596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30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7" y="196596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WI-FI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7" y="2313432"/>
            <a:ext cx="17465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2 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1874519"/>
            <a:ext cx="196596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705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7" y="196596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AUTOMATIKA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7" y="2313432"/>
            <a:ext cx="174650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1 vezérlő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069080"/>
            <a:ext cx="310896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4160520"/>
            <a:ext cx="2889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507992"/>
            <a:ext cx="2889504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PoE switch + NVR + router + UPS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89888" y="3108960"/>
            <a:ext cx="4690872" cy="960120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21608" y="3108960"/>
            <a:ext cx="2359152" cy="960120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53328" y="3108960"/>
            <a:ext cx="27432" cy="960120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080760" y="3108960"/>
            <a:ext cx="2304288" cy="960120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080760" y="3108960"/>
            <a:ext cx="4636007" cy="960120"/>
          </a:xfrm>
          <a:prstGeom prst="line">
            <a:avLst/>
          </a:prstGeom>
          <a:ln w="127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463040" y="5486400"/>
            <a:ext cx="9235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Plusz feladat: oszd logikai hálózatokra, és készíts PoE/UPS tervet.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35.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Az IP-hálózat több épületüzemeltetési szolgáltatás közös infrastruktúrája lehet.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Az IP-kamera rendszerben a hálózat, PoE, NVR és tárolás együtt alkot rendszert.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Beléptetésnél a helyi vezérlés és a központi felügyelet szerepét külön kell kezelni.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VLAN logikailag elkülönítheti a kamera-, irodai és automatizálási hálózatot.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PoE, UPS és kiberbiztonság nélkül nincs teljes körű épületinformatikai tervezés.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DCEB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36.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3327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Komplex épületinformatikai</a:t>
            </a:r>
            <a:br/>
            <a:r>
              <a:t>hálózat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Tervezés • kábelezés • aktív eszközök • IP-rendszerek • mérés • hibakeresés • dokumentáció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30A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7DDCEB"/>
                </a:solidFill>
                <a:latin typeface="Aptos"/>
              </a:defRPr>
            </a:pPr>
            <a:r>
              <a:t>a végponttól a dokumentált, működő rendszerig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