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7724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ÉPÜLETVILLAMOSSÁGI</a:t>
            </a:r>
            <a:br/>
            <a:r>
              <a:t>HÁLÓZATOK</a:t>
            </a:r>
          </a:p>
          <a:p>
            <a:br/>
            <a:pPr>
              <a:defRPr sz="1300">
                <a:solidFill>
                  <a:srgbClr val="BEDAEE"/>
                </a:solidFill>
                <a:latin typeface="Aptos"/>
              </a:defRPr>
            </a:pPr>
            <a:r>
              <a:t>13. évfolyam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314E"/>
                </a:solidFill>
                <a:latin typeface="Aptos Display"/>
              </a:defRPr>
            </a:pPr>
            <a:r>
              <a:t>Az épület villamos</a:t>
            </a:r>
            <a:br/>
            <a:r>
              <a:t>hálózatának felépítése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3977639"/>
            <a:ext cx="6583680" cy="1051560"/>
          </a:xfrm>
          <a:prstGeom prst="roundRect">
            <a:avLst/>
          </a:prstGeom>
          <a:solidFill>
            <a:srgbClr val="EB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474B5"/>
                </a:solidFill>
                <a:latin typeface="Aptos Display"/>
              </a:defRPr>
            </a:pPr>
            <a:r>
              <a:t>„A korszerű épület maga is egy villamos rendszer.”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Mit kell ma átlátnunk?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teljes energiaút és a hálózat fő építőelemei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1325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01  Energiaút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Közcélú hálózattól a fogyasztóig.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74519"/>
            <a:ext cx="3383280" cy="1325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02  Mérési határ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Méretlen és mért hálózatrész.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874519"/>
            <a:ext cx="3383280" cy="1325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03  Elosztás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Főelosztó, alelosztó, végáramkör.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703320"/>
            <a:ext cx="3383280" cy="1325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04  Vezetők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L1-L2-L3, N, PE és 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703320"/>
            <a:ext cx="3383280" cy="1325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05  Rendszerszemlélet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Vezeték + védelem + fogyasztó együtt.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Történelmi nyitó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Amikor az elektromosság beköltözött az épületekbe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233172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XIX. század vége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Az első épületvillamossági rendszerek elsősorban világítási célokat szolgáltak.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337560" cy="233172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A fejlődés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Motorok, háztartási készülékek, villamos fűtés és egyre több fogyasztó jelent meg.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28800"/>
            <a:ext cx="3337560" cy="233172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Ma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Energiaelosztás, védelem, vezérlés és kommunikáció egyetlen épületrendszerben.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A villamos energia útja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Ezt a láncot a szakembernek mindig látnia kell</a:t>
            </a:r>
          </a:p>
        </p:txBody>
      </p:sp>
      <p:sp>
        <p:nvSpPr>
          <p:cNvPr id="6" name="Chevron 5"/>
          <p:cNvSpPr/>
          <p:nvPr/>
        </p:nvSpPr>
        <p:spPr>
          <a:xfrm>
            <a:off x="731520" y="2514600"/>
            <a:ext cx="1273301" cy="91440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Közcélú</a:t>
            </a:r>
            <a:br/>
            <a:r>
              <a:t>hálózat</a:t>
            </a:r>
          </a:p>
        </p:txBody>
      </p:sp>
      <p:sp>
        <p:nvSpPr>
          <p:cNvPr id="7" name="Chevron 6"/>
          <p:cNvSpPr/>
          <p:nvPr/>
        </p:nvSpPr>
        <p:spPr>
          <a:xfrm>
            <a:off x="2077974" y="2514600"/>
            <a:ext cx="1273301" cy="91440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8" name="Chevron 7"/>
          <p:cNvSpPr/>
          <p:nvPr/>
        </p:nvSpPr>
        <p:spPr>
          <a:xfrm>
            <a:off x="3424428" y="2514600"/>
            <a:ext cx="1273301" cy="91440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Méretlen</a:t>
            </a:r>
            <a:br/>
            <a:r>
              <a:t>rész</a:t>
            </a:r>
          </a:p>
        </p:txBody>
      </p:sp>
      <p:sp>
        <p:nvSpPr>
          <p:cNvPr id="9" name="Chevron 8"/>
          <p:cNvSpPr/>
          <p:nvPr/>
        </p:nvSpPr>
        <p:spPr>
          <a:xfrm>
            <a:off x="4770881" y="2514600"/>
            <a:ext cx="1273301" cy="91440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Mérő</a:t>
            </a:r>
          </a:p>
        </p:txBody>
      </p:sp>
      <p:sp>
        <p:nvSpPr>
          <p:cNvPr id="10" name="Chevron 9"/>
          <p:cNvSpPr/>
          <p:nvPr/>
        </p:nvSpPr>
        <p:spPr>
          <a:xfrm>
            <a:off x="6117336" y="2514600"/>
            <a:ext cx="1273301" cy="91440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Mért</a:t>
            </a:r>
            <a:br/>
            <a:r>
              <a:t>fővezeték</a:t>
            </a:r>
          </a:p>
        </p:txBody>
      </p:sp>
      <p:sp>
        <p:nvSpPr>
          <p:cNvPr id="11" name="Chevron 10"/>
          <p:cNvSpPr/>
          <p:nvPr/>
        </p:nvSpPr>
        <p:spPr>
          <a:xfrm>
            <a:off x="7463790" y="2514600"/>
            <a:ext cx="1273301" cy="91440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12" name="Chevron 11"/>
          <p:cNvSpPr/>
          <p:nvPr/>
        </p:nvSpPr>
        <p:spPr>
          <a:xfrm>
            <a:off x="8810244" y="2514600"/>
            <a:ext cx="1273301" cy="91440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Végáramkör</a:t>
            </a:r>
          </a:p>
        </p:txBody>
      </p:sp>
      <p:sp>
        <p:nvSpPr>
          <p:cNvPr id="13" name="Chevron 12"/>
          <p:cNvSpPr/>
          <p:nvPr/>
        </p:nvSpPr>
        <p:spPr>
          <a:xfrm>
            <a:off x="10156698" y="2514600"/>
            <a:ext cx="1273301" cy="91440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Fogyasztó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160520"/>
            <a:ext cx="8503920" cy="114300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Szakmai kérdés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Hol történik a mérés? Hol osztjuk szét az energiát? Melyik vezeték melyik áramkört táplálja? Milyen védelem tartozik hozzá?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A közcélú kisfeszültségű hálózat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230/400 V • 50 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228600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Egyfázisú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L - N között</a:t>
            </a:r>
            <a:br/>
            <a:r>
              <a:t>230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228600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Háromfázisú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L1 - L2 - L3</a:t>
            </a:r>
            <a:br/>
            <a:r>
              <a:t>két fázis között 400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228600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Vezetők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N = nullavezető</a:t>
            </a:r>
            <a:br/>
            <a:r>
              <a:t>PE = védővezető</a:t>
            </a:r>
            <a:br/>
            <a:r>
              <a:t>PEN = közös funkció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Csatlakozás és mérés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közcélú hálózat és az épület találkozása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468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Csatlakozás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Légvezetékes vagy földkábeles kialakítás. A teljesítmény, fázisszám, terhelhetőség és hálózati feltételek meghatározók.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28800"/>
            <a:ext cx="3383280" cy="2468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Méretlen oldal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fogyasztásmérő előtti hálózatrész. Hozzáférése szabályozott; fontos a védelem és plombálhatóság.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828800"/>
            <a:ext cx="3383280" cy="2468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Fogyasztásmérő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Az elfogyasztott villamos energia mérése. Elsődleges elszámolási mértékegység: kWh.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A mért hálózat elosztása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Mért fővezeték → főelosztó → végáramkörök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51460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Mért fővezeték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mérőhelytől a főelosztóig továbbítja az energiát. A megfelelő keresztmetszet alapvető.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28800"/>
            <a:ext cx="3383280" cy="251460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Főelosztó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Elosztás, védelem, kapcsolás. Főkapcsoló, kismegszakító, RCD, túlfeszültség-védelem, PE/N sín.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828800"/>
            <a:ext cx="3383280" cy="251460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Alelosztó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Nagyobb épületben tagolja a hálózatot, megkönnyíti a hibakeresést, karbantartást és bővítést.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Végáramkörök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Nem az egész épületet védjük egyetlen készülékkel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141732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Világítás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külön funkcionális kör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7" y="1783080"/>
            <a:ext cx="3337560" cy="141732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Dugaljak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általános fogyasztók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783080"/>
            <a:ext cx="3337560" cy="141732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Konyha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nagyobb terhelések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337560" cy="141732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Bojler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önálló fogyasztó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3657600"/>
            <a:ext cx="3337560" cy="141732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Klíma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külön áramkör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3657600"/>
            <a:ext cx="3337560" cy="141732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Kültér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környezeti igénybevétel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PE • N • 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Három jelölés, három fontos fogalom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46120" cy="2468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PE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Védővezető.</a:t>
            </a:r>
            <a:br/>
            <a:r>
              <a:t>Elsősorban a villamos biztonságot szolgálja.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46120" cy="2468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N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Nullavezető.</a:t>
            </a:r>
            <a:br/>
            <a:r>
              <a:t>Az üzemi áram visszavezetésében vesz részt.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46120" cy="246888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PEN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Egy vezetőben egyesíti a PE és N funkcióját.</a:t>
            </a:r>
            <a:br/>
            <a:r>
              <a:t>Szétválasztás után: PE + 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Első számítás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teljesítményből meghatározzuk a felvett áramot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28800"/>
            <a:ext cx="8503920" cy="2148840"/>
          </a:xfrm>
          <a:prstGeom prst="roundRect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314E"/>
                </a:solidFill>
                <a:latin typeface="Aptos Display"/>
              </a:defRPr>
            </a:pPr>
            <a:r>
              <a:t>P = 2300 W     U = 230 V</a:t>
            </a:r>
          </a:p>
          <a:p>
            <a:pPr algn="ctr">
              <a:defRPr sz="1900" b="1">
                <a:solidFill>
                  <a:srgbClr val="14314E"/>
                </a:solidFill>
                <a:latin typeface="Aptos Display"/>
              </a:defRPr>
            </a:pPr>
            <a:r>
              <a:t>I = P / U</a:t>
            </a:r>
          </a:p>
          <a:p>
            <a:pPr algn="ctr">
              <a:defRPr sz="2300" b="1">
                <a:solidFill>
                  <a:srgbClr val="2474B5"/>
                </a:solidFill>
                <a:latin typeface="Aptos Display"/>
              </a:defRPr>
            </a:pPr>
            <a:r>
              <a:t>I = 2300 / 230 = 10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434840"/>
            <a:ext cx="6492240" cy="91440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Fontos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Ez még csak az első lépés: vezeték, túláramvédelem, RCD és feszültségesés vizsgálata később következik.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Műhelyfeladat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Kövesd végig az energia útját!</a:t>
            </a:r>
          </a:p>
        </p:txBody>
      </p:sp>
      <p:sp>
        <p:nvSpPr>
          <p:cNvPr id="6" name="Chevron 5"/>
          <p:cNvSpPr/>
          <p:nvPr/>
        </p:nvSpPr>
        <p:spPr>
          <a:xfrm>
            <a:off x="731520" y="2103120"/>
            <a:ext cx="1722119" cy="91440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Közcélú</a:t>
            </a:r>
            <a:br/>
            <a:r>
              <a:t>hálózat</a:t>
            </a:r>
          </a:p>
        </p:txBody>
      </p:sp>
      <p:sp>
        <p:nvSpPr>
          <p:cNvPr id="7" name="Chevron 6"/>
          <p:cNvSpPr/>
          <p:nvPr/>
        </p:nvSpPr>
        <p:spPr>
          <a:xfrm>
            <a:off x="2526792" y="2103120"/>
            <a:ext cx="1722119" cy="91440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8" name="Chevron 7"/>
          <p:cNvSpPr/>
          <p:nvPr/>
        </p:nvSpPr>
        <p:spPr>
          <a:xfrm>
            <a:off x="4322064" y="2103120"/>
            <a:ext cx="1722119" cy="91440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Mérőhely</a:t>
            </a:r>
          </a:p>
        </p:txBody>
      </p:sp>
      <p:sp>
        <p:nvSpPr>
          <p:cNvPr id="9" name="Chevron 8"/>
          <p:cNvSpPr/>
          <p:nvPr/>
        </p:nvSpPr>
        <p:spPr>
          <a:xfrm>
            <a:off x="6117336" y="2103120"/>
            <a:ext cx="1722119" cy="91440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10" name="Chevron 9"/>
          <p:cNvSpPr/>
          <p:nvPr/>
        </p:nvSpPr>
        <p:spPr>
          <a:xfrm>
            <a:off x="7912607" y="2103120"/>
            <a:ext cx="1722119" cy="91440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5+ végáramkör</a:t>
            </a:r>
          </a:p>
        </p:txBody>
      </p:sp>
      <p:sp>
        <p:nvSpPr>
          <p:cNvPr id="11" name="Chevron 10"/>
          <p:cNvSpPr/>
          <p:nvPr/>
        </p:nvSpPr>
        <p:spPr>
          <a:xfrm>
            <a:off x="9707880" y="2103120"/>
            <a:ext cx="1722119" cy="91440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14E"/>
                </a:solidFill>
                <a:latin typeface="Aptos"/>
              </a:defRPr>
            </a:pPr>
            <a:r>
              <a:t>Fogyasztók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840480"/>
            <a:ext cx="9601200" cy="141732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A rajzon jelöld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mért/méretlen határt • a PE és N vezetőt • a védelmi készülékek helyét • az áramkörök szétosztását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ÉPÜLETVILLAMOSSÁGI HÁLÓZATOK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A lényeg egy dián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Az épület villamos szerelője rendszert épít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4754880" cy="1280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1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Tudd végigkövetni az energia útját.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754880" cy="1280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2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Tudd, hol van a mérési határ.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520440"/>
            <a:ext cx="4754880" cy="1280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3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Értsd az elosztók és végáramkörök szerepét.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520440"/>
            <a:ext cx="4754880" cy="1280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4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vezeték, védelem és fogyasztó egy rendszer.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 •  13. évfolyam  •  1. hét                  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