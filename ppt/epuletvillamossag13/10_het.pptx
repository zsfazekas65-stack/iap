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CEAF5"/>
                </a:solidFill>
                <a:latin typeface="Aptos"/>
              </a:defRPr>
            </a:pPr>
            <a:r>
              <a:t>IAP • 10.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01752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Csatlakozó-</a:t>
            </a:r>
            <a:br/>
            <a:r>
              <a:t>vezetékek és</a:t>
            </a:r>
            <a:br/>
            <a:r>
              <a:t>méretlen</a:t>
            </a:r>
            <a:br/>
            <a:r>
              <a:t>fővezetékek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96012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A5E"/>
                </a:solidFill>
                <a:latin typeface="Aptos"/>
              </a:defRPr>
            </a:pPr>
            <a:r>
              <a:t>Az energia útja a hálózattól a mérőhelyig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233172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578608"/>
            <a:ext cx="960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Közcélú</a:t>
            </a:r>
            <a:br/>
            <a:r>
              <a:t>hálózat</a:t>
            </a:r>
          </a:p>
        </p:txBody>
      </p:sp>
      <p:sp>
        <p:nvSpPr>
          <p:cNvPr id="9" name="Chevron 8"/>
          <p:cNvSpPr/>
          <p:nvPr/>
        </p:nvSpPr>
        <p:spPr>
          <a:xfrm>
            <a:off x="5879592" y="2615184"/>
            <a:ext cx="201168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233172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78608"/>
            <a:ext cx="960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Csatlakozó-</a:t>
            </a:r>
            <a:br/>
            <a:r>
              <a:t>vezeték</a:t>
            </a:r>
          </a:p>
        </p:txBody>
      </p:sp>
      <p:sp>
        <p:nvSpPr>
          <p:cNvPr id="12" name="Chevron 11"/>
          <p:cNvSpPr/>
          <p:nvPr/>
        </p:nvSpPr>
        <p:spPr>
          <a:xfrm>
            <a:off x="7205472" y="2615184"/>
            <a:ext cx="201168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52360" y="233172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578608"/>
            <a:ext cx="960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Méretlen</a:t>
            </a:r>
            <a:br/>
            <a:r>
              <a:t>fővezeték</a:t>
            </a:r>
          </a:p>
        </p:txBody>
      </p:sp>
      <p:sp>
        <p:nvSpPr>
          <p:cNvPr id="15" name="Chevron 14"/>
          <p:cNvSpPr/>
          <p:nvPr/>
        </p:nvSpPr>
        <p:spPr>
          <a:xfrm>
            <a:off x="8531352" y="2615184"/>
            <a:ext cx="201168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78240" y="233172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2578608"/>
            <a:ext cx="960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Mérőhely</a:t>
            </a:r>
          </a:p>
        </p:txBody>
      </p:sp>
      <p:sp>
        <p:nvSpPr>
          <p:cNvPr id="18" name="Chevron 17"/>
          <p:cNvSpPr/>
          <p:nvPr/>
        </p:nvSpPr>
        <p:spPr>
          <a:xfrm>
            <a:off x="9857232" y="2615184"/>
            <a:ext cx="201168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04120" y="233172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2578608"/>
            <a:ext cx="960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73A5E"/>
                </a:solidFill>
                <a:latin typeface="Aptos"/>
              </a:defRPr>
            </a:pPr>
            <a:r>
              <a:t>Főelosztó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06908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07487"/>
                </a:solidFill>
                <a:latin typeface="Aptos"/>
              </a:defRPr>
            </a:pPr>
            <a:r>
              <a:t>Terhelhetőség • feszültségesés • védelem • nyomvonal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10. hét • Csatlakozóvezetékek és méretlen fővezetékek •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A három vezetékszakasz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9222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Csatlakozóvezeték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12848"/>
            <a:ext cx="301752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közcélú elosztóhálózat és a fogyasztási hely csatlakozási pontja közötti szakasz.</a:t>
            </a:r>
            <a:br/>
            <a:br/>
            <a:r>
              <a:t>Lehet légvezeték vagy földkábel.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73152" cy="338328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9222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Méretlen fővezeték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12848"/>
            <a:ext cx="301752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mérés előtti vezetékszakasz.</a:t>
            </a:r>
            <a:br/>
            <a:br/>
            <a:r>
              <a:t>A fogyasztás még nincs elszámolási mérésbe vonva, ezért kialakítása különösen szabályozott.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73152" cy="338328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79222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Mért fővezeték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212848"/>
            <a:ext cx="301752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fogyasztásmérő után a főelosztó felé haladó vezetékszakasz.</a:t>
            </a:r>
            <a:br/>
            <a:br/>
            <a:r>
              <a:t>Innen már a felhasznált energia mért.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10. hét • Csatlakozóvezetékek és méretlen fővezetékek •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Mi határozza meg a keresztmetszetet?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4173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379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Terhelőáram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58568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Tartós üzemi áram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916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691640"/>
            <a:ext cx="73152" cy="141732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8379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Feszültségesés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258568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hossz is számít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6916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691640"/>
            <a:ext cx="73152" cy="141732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8379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Szerelési mód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258568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Fal, cső, csatorna, föld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73152" cy="14173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712463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Környezeti hő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133087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Melegben kisebb terhelhetőség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566160"/>
            <a:ext cx="73152" cy="141732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3712463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Csoportos vezetés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133087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Egymást melegítő kábelek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566160"/>
            <a:ext cx="73152" cy="141732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3712463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Zárlati feltétel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133087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Hőhatás a lekapcsolásig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10. hét • Csatlakozóvezetékek és méretlen fővezetékek •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Egyszerű terhelési számítás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166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73152" cy="20116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83794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Egyfázisú példa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58568"/>
            <a:ext cx="48006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P = 5,5 kW</a:t>
            </a:r>
            <a:br/>
            <a:r>
              <a:t>U = 230 V</a:t>
            </a:r>
            <a:br/>
            <a:br/>
            <a:r>
              <a:t>I ≈ P / U</a:t>
            </a:r>
            <a:br/>
            <a:r>
              <a:t>I ≈ 5500 / 230 ≈ 23,9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166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73152" cy="201168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837944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Háromfázisú példa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258568"/>
            <a:ext cx="48006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P = 15 kW</a:t>
            </a:r>
            <a:br/>
            <a:r>
              <a:t>U = 400 V</a:t>
            </a:r>
            <a:br/>
            <a:br/>
            <a:r>
              <a:t>I ≈ P / (√3 · U)</a:t>
            </a:r>
            <a:br/>
            <a:r>
              <a:t>I ≈ 21,7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73A5E"/>
                </a:solidFill>
                <a:latin typeface="Aptos"/>
              </a:defRPr>
            </a:pPr>
            <a:r>
              <a:t>A számított áram csak a kiindulópont. A végleges keresztmetszethez a szerelési módot, a hosszt, a környezetet és a védelmet is ellenőrizni kell.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10. hét • Csatlakozóvezetékek és méretlen fővezetékek •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Miért fontos a feszültségesés?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57400"/>
            <a:ext cx="2377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5915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73A5E"/>
                </a:solidFill>
                <a:latin typeface="Aptos"/>
              </a:defRPr>
            </a:pPr>
            <a:r>
              <a:t>Táppont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78B8"/>
                </a:solidFill>
                <a:latin typeface="Aptos"/>
              </a:defRPr>
            </a:pPr>
            <a:r>
              <a:t>230 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2057400"/>
            <a:ext cx="2377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235915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73A5E"/>
                </a:solidFill>
                <a:latin typeface="Aptos"/>
              </a:defRPr>
            </a:pPr>
            <a:r>
              <a:t>Fogyasztó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7432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78B8"/>
                </a:solidFill>
                <a:latin typeface="Aptos"/>
              </a:defRPr>
            </a:pPr>
            <a:r>
              <a:t>225 V</a:t>
            </a:r>
          </a:p>
        </p:txBody>
      </p:sp>
      <p:sp>
        <p:nvSpPr>
          <p:cNvPr id="11" name="Chevron 10"/>
          <p:cNvSpPr/>
          <p:nvPr/>
        </p:nvSpPr>
        <p:spPr>
          <a:xfrm>
            <a:off x="3657600" y="2450592"/>
            <a:ext cx="4572000" cy="594360"/>
          </a:xfrm>
          <a:prstGeom prst="chevron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532888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73A5E"/>
                </a:solidFill>
                <a:latin typeface="Aptos"/>
              </a:defRPr>
            </a:pPr>
            <a:r>
              <a:t>vezeték ellenállása → ΔU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251960"/>
            <a:ext cx="10058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4251960"/>
            <a:ext cx="73152" cy="100584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398264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Következmény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818888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Túl nagy feszültségesés: melegedés, gyengébb teljesítmény, érzékeny berendezések hibás működése.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10. hét • Csatlakozóvezetékek és méretlen fővezetékek •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A méretlen szakasz különleges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356616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922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Hozzáférés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12848"/>
            <a:ext cx="306324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nyomvonal ne tegye lehetővé az illetéktelen beavatkozást.</a:t>
            </a:r>
            <a:br/>
            <a:br/>
            <a:r>
              <a:t>A mérés előtti rész fokozott ellenőrzést igényel.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73152" cy="35661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922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Nyomvonal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12848"/>
            <a:ext cx="306324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Legyen egyértelmű, áttekinthető és szakmailag ellenőrizhető.</a:t>
            </a:r>
            <a:br/>
            <a:br/>
            <a:r>
              <a:t>A kialakítás illeszkedjen a mérőhelyhez.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73152" cy="356616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7922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Toldás / leágazás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212848"/>
            <a:ext cx="306324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szükségtelen vagy hozzáférhető kötési pontok a biztonságot és a mérés hitelességét is ronthatják.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10. hét • Csatlakozóvezetékek és méretlen fővezetékek •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Ellenőrzési folyamat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4028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54203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73A5E"/>
                </a:solidFill>
                <a:latin typeface="Aptos"/>
              </a:defRPr>
            </a:pPr>
            <a:r>
              <a:t>Terhelés</a:t>
            </a:r>
          </a:p>
        </p:txBody>
      </p:sp>
      <p:sp>
        <p:nvSpPr>
          <p:cNvPr id="7" name="Chevron 6"/>
          <p:cNvSpPr/>
          <p:nvPr/>
        </p:nvSpPr>
        <p:spPr>
          <a:xfrm>
            <a:off x="1719072" y="2532888"/>
            <a:ext cx="228600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224028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254203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73A5E"/>
                </a:solidFill>
                <a:latin typeface="Aptos"/>
              </a:defRPr>
            </a:pPr>
            <a:r>
              <a:t>Áram</a:t>
            </a:r>
          </a:p>
        </p:txBody>
      </p:sp>
      <p:sp>
        <p:nvSpPr>
          <p:cNvPr id="10" name="Chevron 9"/>
          <p:cNvSpPr/>
          <p:nvPr/>
        </p:nvSpPr>
        <p:spPr>
          <a:xfrm>
            <a:off x="3364992" y="2532888"/>
            <a:ext cx="228600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224028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54203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73A5E"/>
                </a:solidFill>
                <a:latin typeface="Aptos"/>
              </a:defRPr>
            </a:pPr>
            <a:r>
              <a:t>Szerelési mód</a:t>
            </a:r>
          </a:p>
        </p:txBody>
      </p:sp>
      <p:sp>
        <p:nvSpPr>
          <p:cNvPr id="13" name="Chevron 12"/>
          <p:cNvSpPr/>
          <p:nvPr/>
        </p:nvSpPr>
        <p:spPr>
          <a:xfrm>
            <a:off x="5010912" y="2532888"/>
            <a:ext cx="228600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224028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54203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73A5E"/>
                </a:solidFill>
                <a:latin typeface="Aptos"/>
              </a:defRPr>
            </a:pPr>
            <a:r>
              <a:t>Keresztmetszet</a:t>
            </a:r>
          </a:p>
        </p:txBody>
      </p:sp>
      <p:sp>
        <p:nvSpPr>
          <p:cNvPr id="16" name="Chevron 15"/>
          <p:cNvSpPr/>
          <p:nvPr/>
        </p:nvSpPr>
        <p:spPr>
          <a:xfrm>
            <a:off x="6656832" y="2532888"/>
            <a:ext cx="228600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49440" y="224028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54203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73A5E"/>
                </a:solidFill>
                <a:latin typeface="Aptos"/>
              </a:defRPr>
            </a:pPr>
            <a:r>
              <a:t>Feszültségesés</a:t>
            </a:r>
          </a:p>
        </p:txBody>
      </p:sp>
      <p:sp>
        <p:nvSpPr>
          <p:cNvPr id="19" name="Chevron 18"/>
          <p:cNvSpPr/>
          <p:nvPr/>
        </p:nvSpPr>
        <p:spPr>
          <a:xfrm>
            <a:off x="8302752" y="2532888"/>
            <a:ext cx="228600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0" y="224028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54203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73A5E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22" name="Chevron 21"/>
          <p:cNvSpPr/>
          <p:nvPr/>
        </p:nvSpPr>
        <p:spPr>
          <a:xfrm>
            <a:off x="9948672" y="2532888"/>
            <a:ext cx="228600" cy="384048"/>
          </a:xfrm>
          <a:prstGeom prst="chevron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241280" y="2240280"/>
            <a:ext cx="1325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0" y="254203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73A5E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160520"/>
            <a:ext cx="10241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160520"/>
            <a:ext cx="73152" cy="1097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306824"/>
            <a:ext cx="9875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Szakmai alapelv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727448"/>
            <a:ext cx="9875519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vezeték kiválasztása több feltétel együttes ellenőrzése. Egyetlen adatból - például csak a biztosító értékéből - nem lehet megbízhatóan dönteni.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10. hét • Csatlakozóvezetékek és méretlen fővezetékek •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Gyakorlati példa: 3×25 A családi ház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ptos"/>
              </a:defRPr>
            </a:pPr>
            <a:r>
              <a:t>L1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737360"/>
            <a:ext cx="5760720" cy="384048"/>
          </a:xfrm>
          <a:prstGeom prst="round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737360"/>
            <a:ext cx="4608576" cy="384048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719072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bojler 2,0 kW + klíma 1,2 kW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ptos"/>
              </a:defRPr>
            </a:pPr>
            <a:r>
              <a:t>L2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971800"/>
            <a:ext cx="5760720" cy="384048"/>
          </a:xfrm>
          <a:prstGeom prst="round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2971800"/>
            <a:ext cx="3168396" cy="384048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2953512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mosógép 2,2 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0624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ptos"/>
              </a:defRPr>
            </a:pPr>
            <a:r>
              <a:t>L3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206240"/>
            <a:ext cx="5760720" cy="384048"/>
          </a:xfrm>
          <a:prstGeom prst="roundRect">
            <a:avLst/>
          </a:prstGeom>
          <a:solidFill>
            <a:srgbClr val="DC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4206240"/>
            <a:ext cx="2880360" cy="384048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4187952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mosogatógép 2,0 kW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166360"/>
            <a:ext cx="10241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5166360"/>
            <a:ext cx="73152" cy="82296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5312664"/>
            <a:ext cx="9875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Feladat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733288"/>
            <a:ext cx="9875519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terhelések ismerete után még szükség van a vezeték anyagára, hosszára, szerelési módjára és a megengedett feszültségesésre.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10. hét • Csatlakozóvezetékek és méretlen fővezetékek •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" cy="24688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75104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Csatlakozóvezeték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214884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hálózat és a fogyasztási hely kapcsolata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82880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1828800"/>
            <a:ext cx="73152" cy="246888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7" y="1975104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Méretlen fővezeték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2395728"/>
            <a:ext cx="214884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A mérés előtti energiaút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82880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828800"/>
            <a:ext cx="73152" cy="246888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7" y="1975104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Keresztmetszet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2395728"/>
            <a:ext cx="214884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Nem csak az áram határozza meg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2880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828800"/>
            <a:ext cx="73152" cy="24688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1975104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395728"/>
            <a:ext cx="214884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43746"/>
                </a:solidFill>
                <a:latin typeface="Aptos"/>
              </a:defRPr>
            </a:pPr>
            <a:r>
              <a:t>Terhelhetőség + ΔU + védelem + szerelés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A jó méretezés célja: biztonságos, ellenőrizhető és üzembiztos energiaellátás.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10. hét • Csatlakozóvezetékek és méretlen fővezetékek •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CEAF5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Fogyasztásmérőhelyek,</a:t>
            </a:r>
            <a:br/>
            <a:r>
              <a:t>mérőszekrények és főbiztosítók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6052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EAF5"/>
                </a:solidFill>
                <a:latin typeface="Aptos"/>
              </a:defRPr>
            </a:pPr>
            <a:r>
              <a:t>Mérőhely • plombálhatóság • főbiztosító • elhelyezés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7487"/>
                </a:solidFill>
                <a:latin typeface="Aptos"/>
              </a:defRPr>
            </a:pPr>
            <a:r>
              <a:t>10. hét • Csatlakozóvezetékek és méretlen fővezetékek •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