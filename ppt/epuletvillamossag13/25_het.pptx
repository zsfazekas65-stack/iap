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46304" cy="539496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22960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DC6E7"/>
                </a:solidFill>
                <a:latin typeface="Aptos"/>
              </a:defRPr>
            </a:pPr>
            <a:r>
              <a:t>IAP • 25.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875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Display"/>
              </a:defRPr>
            </a:pPr>
            <a:r>
              <a:t>RCD-vizsgálatok:</a:t>
            </a:r>
            <a:br/>
            <a:r>
              <a:t>kioldóáram és kioldási idő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26080"/>
            <a:ext cx="8686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TEST gomb • műszeres vizsgálat • ramp teszt • minősítés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4251960"/>
            <a:ext cx="1554480" cy="82296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0688" y="4343400"/>
            <a:ext cx="13350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4690872"/>
            <a:ext cx="13350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30 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4251960"/>
            <a:ext cx="1554480" cy="822960"/>
          </a:xfrm>
          <a:prstGeom prst="roundRect">
            <a:avLst/>
          </a:prstGeom>
          <a:solidFill>
            <a:srgbClr val="294A68"/>
          </a:solidFill>
          <a:ln>
            <a:solidFill>
              <a:srgbClr val="7D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85248" y="4343400"/>
            <a:ext cx="13350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5248" y="4690872"/>
            <a:ext cx="133502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ms / mA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35440" y="4663440"/>
            <a:ext cx="640080" cy="0"/>
          </a:xfrm>
          <a:prstGeom prst="line">
            <a:avLst/>
          </a:prstGeom>
          <a:ln w="50800">
            <a:solidFill>
              <a:srgbClr val="7D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" y="5852160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7DC6E7"/>
                </a:solidFill>
                <a:latin typeface="Aptos"/>
              </a:defRPr>
            </a:pPr>
            <a:r>
              <a:t>A védelem működését mérni is kell.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ALAPGONDOLAT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kell igazolni az RCD-n?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Két fő kérdés: megfelelő áramnál működik-e, és elég gyorsan kapcsol-e 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4480560" cy="192024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4261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KIOLDÓÁRAM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42032"/>
            <a:ext cx="4261104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Mekkora különbözeti áramnál történik a lekapcsolás?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103120"/>
            <a:ext cx="4480560" cy="192024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67728" y="2194560"/>
            <a:ext cx="426110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KIOLDÁSI IDŐ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2542032"/>
            <a:ext cx="4261104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Mennyi idő telik el a vizsgálóáram megjelenésétől a lekapcsolásig?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09160"/>
            <a:ext cx="9418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Működés + idő = csak együtt ad értékelhető képet.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NÉVLEGES 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jelent az IΔn?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Az RCD egyik legfontosabb adattáblai értéke.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4389120" cy="24688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3840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1">
                <a:solidFill>
                  <a:srgbClr val="12304D"/>
                </a:solidFill>
                <a:latin typeface="Aptos Display"/>
              </a:defRPr>
            </a:pPr>
            <a:r>
              <a:t>IΔn = 30 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3657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5C707E"/>
                </a:solidFill>
                <a:latin typeface="Aptos"/>
              </a:defRPr>
            </a:pPr>
            <a:r>
              <a:t>névleges különbözeti</a:t>
            </a:r>
            <a:br/>
            <a:r>
              <a:t>kioldóáram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572000" cy="246888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023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2304D"/>
                </a:solidFill>
                <a:latin typeface="Aptos"/>
              </a:defRPr>
            </a:pPr>
            <a:r>
              <a:t>Fontos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88920"/>
            <a:ext cx="39319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BE433F"/>
                </a:solidFill>
                <a:latin typeface="Aptos"/>
              </a:defRPr>
            </a:pPr>
            <a:r>
              <a:t>Az IΔn nem az RCD</a:t>
            </a:r>
            <a:br/>
            <a:r>
              <a:t>névleges terhelőárama.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MŰKÖDÉSPRÓBA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TEST gomb: fontos, de nem mérés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gomb a belső vizsgálóáramkört működteti.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56032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TEST gomb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23408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belső vizsgálóáram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148840"/>
            <a:ext cx="2560320" cy="118872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224028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 mechanika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587752"/>
            <a:ext cx="23408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lekapcsol?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148840"/>
            <a:ext cx="2560320" cy="118872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7" y="2240280"/>
            <a:ext cx="234086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7" y="2587752"/>
            <a:ext cx="234086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működik / nem működik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" y="2743200"/>
            <a:ext cx="150876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60920" y="2743200"/>
            <a:ext cx="150876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28800" y="4434840"/>
            <a:ext cx="8595360" cy="822960"/>
          </a:xfrm>
          <a:prstGeom prst="roundRect">
            <a:avLst/>
          </a:prstGeom>
          <a:solidFill>
            <a:srgbClr val="FAEE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4599432"/>
            <a:ext cx="8138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BE433F"/>
                </a:solidFill>
                <a:latin typeface="Aptos"/>
              </a:defRPr>
            </a:pPr>
            <a:r>
              <a:t>Nem ad kioldási időt, kioldóáramot és nem helyettesíti a műszeres vizsgálatot.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Kioldási idő vizsgálata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teszter vizsgálóáramot hoz létre, és méri a lekapcsolásig eltelt időt.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RCD-teszter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vizsgálóáram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148840"/>
            <a:ext cx="2468880" cy="114300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érzékel + lekapcsol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48840"/>
            <a:ext cx="2468880" cy="114300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2240280"/>
            <a:ext cx="224942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587752"/>
            <a:ext cx="22494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t = ... 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2724912"/>
            <a:ext cx="16459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724912"/>
            <a:ext cx="1645920" cy="0"/>
          </a:xfrm>
          <a:prstGeom prst="line">
            <a:avLst/>
          </a:prstGeom>
          <a:ln w="50800">
            <a:solidFill>
              <a:srgbClr val="2374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0240" y="4389120"/>
            <a:ext cx="8321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mért időt a vizsgált RCD típusához és az alkalmazandó követelményhez kell viszonyítani.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RAMP TESZT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Hol van a tényleges kioldási pont?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 műszer fokozatosan növeli a különbözeti áramot.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51960"/>
            <a:ext cx="685800" cy="32004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4069080"/>
            <a:ext cx="685800" cy="50292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3840480"/>
            <a:ext cx="685800" cy="73152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566160"/>
            <a:ext cx="685800" cy="1005840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3246120"/>
            <a:ext cx="685800" cy="132588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2880360"/>
            <a:ext cx="685800" cy="1691640"/>
          </a:xfrm>
          <a:prstGeom prst="rect">
            <a:avLst/>
          </a:prstGeom>
          <a:solidFill>
            <a:srgbClr val="278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9204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növekvő IΔ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331720"/>
            <a:ext cx="2743200" cy="1508760"/>
          </a:xfrm>
          <a:prstGeom prst="roundRect">
            <a:avLst/>
          </a:prstGeom>
          <a:solidFill>
            <a:srgbClr val="EFF7F2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7" y="2423160"/>
            <a:ext cx="252374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KIOLDÁS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2770632"/>
            <a:ext cx="2523744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5C707E"/>
                </a:solidFill>
                <a:latin typeface="Aptos"/>
              </a:defRPr>
            </a:pPr>
            <a:r>
              <a:t>a műszer rögzíti</a:t>
            </a:r>
            <a:br/>
            <a:r>
              <a:t>a működési áramot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3090672"/>
            <a:ext cx="548640" cy="0"/>
          </a:xfrm>
          <a:prstGeom prst="line">
            <a:avLst/>
          </a:prstGeom>
          <a:ln w="50800">
            <a:solidFill>
              <a:srgbClr val="278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MÉRÉSI RÉSZLET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0° és 180° kezdőfázis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5C707E"/>
                </a:solidFill>
                <a:latin typeface="Aptos"/>
              </a:defRPr>
            </a:pPr>
            <a:r>
              <a:t>Az RCD kioldási ideje a vizsgálat kezdőfázisától is eltérhet.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4846320" cy="2926080"/>
          </a:xfrm>
          <a:prstGeom prst="roundRect">
            <a:avLst/>
          </a:prstGeom>
          <a:solidFill>
            <a:srgbClr val="E8F3FA"/>
          </a:solidFill>
          <a:ln>
            <a:solidFill>
              <a:srgbClr val="237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2374AD"/>
                </a:solidFill>
                <a:latin typeface="Aptos Display"/>
              </a:defRPr>
            </a:pPr>
            <a:r>
              <a:t>0°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4297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5C707E"/>
                </a:solidFill>
                <a:latin typeface="Aptos"/>
              </a:defRPr>
            </a:pPr>
            <a:r>
              <a:t>első mérési helyzet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011680"/>
            <a:ext cx="4846320" cy="2926080"/>
          </a:xfrm>
          <a:prstGeom prst="roundRect">
            <a:avLst/>
          </a:prstGeom>
          <a:solidFill>
            <a:srgbClr val="F0F4F7"/>
          </a:solidFill>
          <a:ln>
            <a:solidFill>
              <a:srgbClr val="278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33172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278758"/>
                </a:solidFill>
                <a:latin typeface="Aptos Display"/>
              </a:defRPr>
            </a:pPr>
            <a:r>
              <a:t>180°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63240"/>
            <a:ext cx="4297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5C707E"/>
                </a:solidFill>
                <a:latin typeface="Aptos"/>
              </a:defRPr>
            </a:pPr>
            <a:r>
              <a:t>ellentétes kezdőfázis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257800"/>
            <a:ext cx="8503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2304D"/>
                </a:solidFill>
                <a:latin typeface="Aptos"/>
              </a:defRPr>
            </a:pPr>
            <a:r>
              <a:t>A minősítésnél a kedvezőtlenebb mérési eredmény is lényeges.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BEÁLLÍTÁS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A műszer csak akkor mér jól, ha jól állítjuk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RCD típus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AC / A / F / B...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IΔn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pl. 30 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Mérési mód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idő / ramp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Fázisszög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0° / 180°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Késleltetés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ha alkalmazott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Kapcsolás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helyes mérési pont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jelezhet a sikertelen RCD-vizsgálat?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Nem old 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RCD / bekötési hiba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Túl lassú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készülék vagy feltétel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2" y="1993392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011680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93392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N-PE kapcsolat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4231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nem kívánt áramút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Közös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RCD-körök keverednek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4515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Téves bekötés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L/N útvonal hiba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657600"/>
            <a:ext cx="3337560" cy="1371600"/>
          </a:xfrm>
          <a:prstGeom prst="round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39912" y="3822191"/>
            <a:ext cx="50292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3840479"/>
            <a:ext cx="4114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22191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Rossz beállítás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251960"/>
            <a:ext cx="2240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C707E"/>
                </a:solidFill>
                <a:latin typeface="Aptos"/>
              </a:defRPr>
            </a:pPr>
            <a:r>
              <a:t>hibás mérési mód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MUNKAMENET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RCD-vizsgálat szakmai sorrendje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0992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69164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2821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RCD azonosítása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86584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2386584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423160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TEST működéspróba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81528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99816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081528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118104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Műszer beállítása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76472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776472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813048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Kioldási idő mérése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71416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9704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4471416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507992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F303E"/>
                </a:solidFill>
                <a:latin typeface="Aptos"/>
              </a:defRPr>
            </a:pPr>
            <a:r>
              <a:t>Ramp / kioldóáram vizsgálat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166360"/>
            <a:ext cx="548640" cy="384048"/>
          </a:xfrm>
          <a:prstGeom prst="round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457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5166360"/>
            <a:ext cx="9555480" cy="475488"/>
          </a:xfrm>
          <a:prstGeom prst="rect">
            <a:avLst/>
          </a:prstGeom>
          <a:solidFill>
            <a:srgbClr val="F0F4F7"/>
          </a:solidFill>
          <a:ln>
            <a:solidFill>
              <a:srgbClr val="DC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202936"/>
            <a:ext cx="9052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2304D"/>
                </a:solidFill>
                <a:latin typeface="Aptos"/>
              </a:defRPr>
            </a:pPr>
            <a:r>
              <a:t>Minősítés és jegyzőkönyv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Mit rögzítsünk?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3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5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3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In / IΔn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79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199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Mérési mód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Idő / áram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0" y="2057400"/>
            <a:ext cx="1645920" cy="640080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76272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Minősítés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0" y="2697480"/>
            <a:ext cx="1645920" cy="1920240"/>
          </a:xfrm>
          <a:prstGeom prst="rect">
            <a:avLst/>
          </a:prstGeom>
          <a:solidFill>
            <a:srgbClr val="F0F4F7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74920"/>
            <a:ext cx="9784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2304D"/>
                </a:solidFill>
                <a:latin typeface="Aptos"/>
              </a:defRPr>
            </a:pPr>
            <a:r>
              <a:t>A mérés visszakereshetősége ugyanolyan fontos, mint maga a számérték.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374AD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2304D"/>
                </a:solidFill>
                <a:latin typeface="Aptos Display"/>
              </a:defRPr>
            </a:pPr>
            <a:r>
              <a:t>Öt kulcsgondolat a 25. hétről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5C707E"/>
                </a:solidFill>
                <a:latin typeface="Aptos"/>
              </a:defRPr>
            </a:pPr>
            <a:r>
              <a:t>IAP • Épületvillamossági hálózatok • 13. évfolyam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64792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TEST gomb működéspróba, nem teljes műszeres vizsgálat.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9464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51176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Az IΔn a névleges különbözeti kioldóáram.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55848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74136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37560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A kioldási időt milliszekundumban mérjük.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42232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123944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F303E"/>
                </a:solidFill>
                <a:latin typeface="Aptos"/>
              </a:defRPr>
            </a:pPr>
            <a:r>
              <a:t>Ramp teszttel a tényleges kioldóáram vizsgálható.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928616"/>
            <a:ext cx="566928" cy="384048"/>
          </a:xfrm>
          <a:prstGeom prst="roundRect">
            <a:avLst/>
          </a:prstGeom>
          <a:solidFill>
            <a:srgbClr val="12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46903"/>
            <a:ext cx="47548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910328"/>
            <a:ext cx="9326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2304D"/>
                </a:solidFill>
                <a:latin typeface="Aptos"/>
              </a:defRPr>
            </a:pPr>
            <a:r>
              <a:t>A helyes műszerbeállítás és dokumentálás a minősítés része.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7DC6E7"/>
                </a:solidFill>
                <a:latin typeface="Aptos"/>
              </a:defRPr>
            </a:pPr>
            <a:r>
              <a:t>IAP • 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26.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332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Áramütés elleni védelem</a:t>
            </a:r>
            <a:br/>
            <a:r>
              <a:t>különleges helyeken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D6E6F0"/>
                </a:solidFill>
                <a:latin typeface="Aptos"/>
              </a:defRPr>
            </a:pPr>
            <a:r>
              <a:t>Nedves terek, kültér és más fokozott kockázatú környezetek védelmi szempontjai.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09160"/>
            <a:ext cx="10149840" cy="109728"/>
          </a:xfrm>
          <a:prstGeom prst="rect">
            <a:avLst/>
          </a:prstGeom>
          <a:solidFill>
            <a:srgbClr val="23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7DC6E7"/>
                </a:solidFill>
                <a:latin typeface="Aptos"/>
              </a:defRPr>
            </a:pPr>
            <a:r>
              <a:t>környezet → kockázat → védelmi intézkedés → ellenőrzés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