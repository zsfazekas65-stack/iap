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DCEB"/>
                </a:solidFill>
                <a:latin typeface="Aptos"/>
              </a:defRPr>
            </a:pPr>
            <a:r>
              <a:t>IAP • 36. HÉT • ZÁRÓ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98755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Komplex épületinformatikai</a:t>
            </a:r>
            <a:br/>
            <a:r>
              <a:t>hálózat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15468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Tervezés • kialakítás • mérés • hibakeresés • dokumentáció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343400"/>
            <a:ext cx="1051560" cy="658368"/>
          </a:xfrm>
          <a:prstGeom prst="roundRect">
            <a:avLst/>
          </a:prstGeom>
          <a:solidFill>
            <a:srgbClr val="294A68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4498848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4343400"/>
            <a:ext cx="1051560" cy="658368"/>
          </a:xfrm>
          <a:prstGeom prst="roundRect">
            <a:avLst/>
          </a:prstGeom>
          <a:solidFill>
            <a:srgbClr val="294A6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4498848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343400"/>
            <a:ext cx="1051560" cy="658368"/>
          </a:xfrm>
          <a:prstGeom prst="roundRect">
            <a:avLst/>
          </a:prstGeom>
          <a:solidFill>
            <a:srgbClr val="294A68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4498848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4343400"/>
            <a:ext cx="1051560" cy="658368"/>
          </a:xfrm>
          <a:prstGeom prst="roundRect">
            <a:avLst/>
          </a:prstGeom>
          <a:solidFill>
            <a:srgbClr val="294A68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4498848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DCEB"/>
                </a:solidFill>
                <a:latin typeface="Aptos"/>
              </a:defRPr>
            </a:pPr>
            <a:r>
              <a:t>A végponttól a dokumentált, átadható rendszerig.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 TELJES 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Tizenegy lépésben áll össze a rendszer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374AD"/>
                </a:solidFill>
                <a:latin typeface="Aptos"/>
              </a:defRPr>
            </a:pPr>
            <a:r>
              <a:t>IGÉNY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5568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80160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0A9C4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59152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8758"/>
                </a:solidFill>
                <a:latin typeface="Aptos"/>
              </a:defRPr>
            </a:pPr>
            <a:r>
              <a:t>KÁBELÚT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73552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1AA37"/>
                </a:solidFill>
                <a:latin typeface="Aptos"/>
              </a:defRPr>
            </a:pPr>
            <a:r>
              <a:t>RACK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52544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17136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5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7057AB"/>
                </a:solidFill>
                <a:latin typeface="Aptos"/>
              </a:defRPr>
            </a:pPr>
            <a:r>
              <a:t>PASSZÍV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31536" y="2816352"/>
            <a:ext cx="164591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96127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7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374AD"/>
                </a:solidFill>
                <a:latin typeface="Aptos"/>
              </a:defRPr>
            </a:pPr>
            <a:r>
              <a:t>AKTÍV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0527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75120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0A9C4"/>
                </a:solidFill>
                <a:latin typeface="Aptos"/>
              </a:defRPr>
            </a:pPr>
            <a:r>
              <a:t>IP/VLAN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0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54112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2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78758"/>
                </a:solidFill>
                <a:latin typeface="Aptos"/>
              </a:defRPr>
            </a:pPr>
            <a:r>
              <a:t>SZOLG.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68512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33104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4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1AA37"/>
                </a:solidFill>
                <a:latin typeface="Aptos"/>
              </a:defRPr>
            </a:pPr>
            <a:r>
              <a:t>MÉRÉS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47504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912096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7816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7057AB"/>
                </a:solidFill>
                <a:latin typeface="Aptos"/>
              </a:defRPr>
            </a:pPr>
            <a:r>
              <a:t>HIBA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826496" y="2816352"/>
            <a:ext cx="164592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991088" y="2240280"/>
            <a:ext cx="9144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36808" y="2587752"/>
            <a:ext cx="822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374AD"/>
                </a:solidFill>
                <a:latin typeface="Aptos"/>
              </a:defRPr>
            </a:pPr>
            <a:r>
              <a:t>DOK.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4340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jó tervben minden későbbi lépés visszavezethető a valódi épülethasználati igényre.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1. IGÉNY ÉS VÉGPONT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Először azt döntjük el, mit kell kiszolgálnia a hálózatnak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19659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783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munkaállomás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65960"/>
            <a:ext cx="19659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0391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77440"/>
            <a:ext cx="1783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mobil kliensek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965960"/>
            <a:ext cx="19659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0391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CCTV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377440"/>
            <a:ext cx="1783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IP-kamerák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965960"/>
            <a:ext cx="19659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0391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377440"/>
            <a:ext cx="1783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beléptetés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965960"/>
            <a:ext cx="19659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799" y="20391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BMS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799" y="2377440"/>
            <a:ext cx="1783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automatika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251960"/>
            <a:ext cx="941832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443984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Végpontlista = darabszám + hely + szolgáltatás + kábel + táp + hálózati igény.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2. FIZIKAI TOPOLÓGIA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Csillagpont + optikai gerinc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01168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Végpontok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réz horizontális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201168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901952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Szinti 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402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patch panel +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828800"/>
            <a:ext cx="201168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901952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Optikai gerinc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2402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rack ↔ 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201168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01952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Fő 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router + szerver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2286000"/>
            <a:ext cx="640080" cy="0"/>
          </a:xfrm>
          <a:prstGeom prst="line">
            <a:avLst/>
          </a:prstGeom>
          <a:ln w="635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74920" y="2286000"/>
            <a:ext cx="640080" cy="0"/>
          </a:xfrm>
          <a:prstGeom prst="line">
            <a:avLst/>
          </a:prstGeom>
          <a:ln w="635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79" y="2286000"/>
            <a:ext cx="640081" cy="0"/>
          </a:xfrm>
          <a:prstGeom prst="line">
            <a:avLst/>
          </a:prstGeom>
          <a:ln w="635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4160520"/>
            <a:ext cx="1645920" cy="6858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3367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PC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08760" y="2743200"/>
            <a:ext cx="2560320" cy="14173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91840" y="4160520"/>
            <a:ext cx="1645920" cy="6858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423367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69080" y="2743200"/>
            <a:ext cx="45720" cy="14173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97880" y="4160520"/>
            <a:ext cx="1645920" cy="6858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23367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CAM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69080" y="2743200"/>
            <a:ext cx="2651760" cy="14173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03920" y="4160520"/>
            <a:ext cx="1645920" cy="6858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423367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DOOR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69080" y="2743200"/>
            <a:ext cx="5257800" cy="14173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3. 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központ legyen rendezett és olvasható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3840480" cy="4297680"/>
          </a:xfrm>
          <a:prstGeom prst="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65960"/>
            <a:ext cx="3108960" cy="347472"/>
          </a:xfrm>
          <a:prstGeom prst="rect">
            <a:avLst/>
          </a:prstGeom>
          <a:solidFill>
            <a:srgbClr val="2374AD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1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468880"/>
            <a:ext cx="3108960" cy="347472"/>
          </a:xfrm>
          <a:prstGeom prst="rect">
            <a:avLst/>
          </a:prstGeom>
          <a:solidFill>
            <a:srgbClr val="5C707E"/>
          </a:solidFill>
          <a:ln>
            <a:solidFill>
              <a:srgbClr val="5C7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9631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Kábelrendező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971800"/>
            <a:ext cx="3108960" cy="34747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9923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474720"/>
            <a:ext cx="3108960" cy="34747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1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Optikai rendező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977639"/>
            <a:ext cx="3108960" cy="347472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480560"/>
            <a:ext cx="3108960" cy="347472"/>
          </a:xfrm>
          <a:prstGeom prst="rect">
            <a:avLst/>
          </a:prstGeom>
          <a:solidFill>
            <a:srgbClr val="7057AB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0799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NVR / szerver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983480"/>
            <a:ext cx="3108960" cy="347472"/>
          </a:xfrm>
          <a:prstGeom prst="rect">
            <a:avLst/>
          </a:prstGeom>
          <a:solidFill>
            <a:srgbClr val="BE433F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783080"/>
            <a:ext cx="5669280" cy="804672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1856231"/>
            <a:ext cx="5486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19456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minden port azonosítható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2834639"/>
            <a:ext cx="5669280" cy="804672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9" y="2907791"/>
            <a:ext cx="5486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Tartalék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324612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bővítésre hely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3886200"/>
            <a:ext cx="5669280" cy="804672"/>
          </a:xfrm>
          <a:prstGeom prst="roundRect">
            <a:avLst/>
          </a:prstGeom>
          <a:solidFill>
            <a:srgbClr val="E8F3FA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3959352"/>
            <a:ext cx="5486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Kábelvezetés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429768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rendezett nyomvonal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4937759"/>
            <a:ext cx="5669280" cy="804672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5010912"/>
            <a:ext cx="5486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5349240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kritikus eszközök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4. PORTLISTA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fizikai hálózat térképe táblázatban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37160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Végpont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331720"/>
            <a:ext cx="137160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56232" y="1828800"/>
            <a:ext cx="137160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6232" y="1920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Hely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6232" y="2331720"/>
            <a:ext cx="137160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0984" y="1828800"/>
            <a:ext cx="114300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1920240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Aljzat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984" y="2331720"/>
            <a:ext cx="114300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18288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202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PP 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17136" y="2331720"/>
            <a:ext cx="123444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24728" y="18288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8" y="19202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SW 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2331720"/>
            <a:ext cx="123444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1828800"/>
            <a:ext cx="91440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9202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331720"/>
            <a:ext cx="91440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19872" y="1828800"/>
            <a:ext cx="109728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192024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2331720"/>
            <a:ext cx="1097280" cy="274320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487168"/>
            <a:ext cx="9692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F303E"/>
                </a:solidFill>
                <a:latin typeface="Aptos"/>
              </a:defRPr>
            </a:pPr>
            <a:r>
              <a:t>CAM-01     Fsz. folyosó       D-01       01          01        igen     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54096"/>
            <a:ext cx="9692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F303E"/>
                </a:solidFill>
                <a:latin typeface="Aptos"/>
              </a:defRPr>
            </a:pPr>
            <a:r>
              <a:t>AP-01       Fsz. aula          D-02       02          02        igen      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21024"/>
            <a:ext cx="9692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F303E"/>
                </a:solidFill>
                <a:latin typeface="Aptos"/>
              </a:defRPr>
            </a:pPr>
            <a:r>
              <a:t>PC-01       Iroda 101          D-03       03          03        nem      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87952"/>
            <a:ext cx="9692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F303E"/>
                </a:solidFill>
                <a:latin typeface="Aptos"/>
              </a:defRPr>
            </a:pPr>
            <a:r>
              <a:t>BMS-01    Gépészeti tér    D-04       04          04        nem      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5. LOGIKAI 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IP-címzés és VLAN-terv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46888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74AD"/>
                </a:solidFill>
                <a:latin typeface="Aptos"/>
              </a:defRPr>
            </a:pPr>
            <a:r>
              <a:t>VLAN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Irodai LAN</a:t>
            </a:r>
            <a:br/>
            <a:r>
              <a:t>192.168.10.0/24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46888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VLAN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6324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Kamerák</a:t>
            </a:r>
            <a:br/>
            <a:r>
              <a:t>192.168.20.0/24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246888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30A9C4"/>
                </a:solidFill>
                <a:latin typeface="Aptos"/>
              </a:defRPr>
            </a:pPr>
            <a:r>
              <a:t>VLAN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Wi-Fi</a:t>
            </a:r>
            <a:br/>
            <a:r>
              <a:t>192.168.30.0/24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246888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4884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VLAN 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06324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Automatika</a:t>
            </a:r>
            <a:br/>
            <a:r>
              <a:t>192.168.40.0/24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40680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címzési terv legyen egyszerű, következetes és dokumentált.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6. POE ÉS 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Teljesítményt is tervezünk, nem csak adatot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2860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103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tartalék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28600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8483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23160"/>
            <a:ext cx="2103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120 W keret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00200"/>
            <a:ext cx="20574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4× 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72 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08960"/>
            <a:ext cx="20574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8211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6× 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48 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011680"/>
            <a:ext cx="228600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08483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NVR /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423160"/>
            <a:ext cx="2103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UPS-ről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587752"/>
            <a:ext cx="640080" cy="0"/>
          </a:xfrm>
          <a:prstGeom prst="line">
            <a:avLst/>
          </a:prstGeom>
          <a:ln w="50800">
            <a:solidFill>
              <a:srgbClr val="705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715000" y="2057400"/>
            <a:ext cx="685800" cy="530352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2587752"/>
            <a:ext cx="685800" cy="978408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15000" y="2587752"/>
            <a:ext cx="356616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A példában 120 W végponti igény már nem hagy tartalékot - újra kell tervezni.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7. ELLENŐRZÉS ÉS 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Minden rétegnek más a bizonyítéka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74AD"/>
                </a:solidFill>
                <a:latin typeface="Aptos"/>
              </a:defRPr>
            </a:pPr>
            <a:r>
              <a:t>RÉZ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wiremap • érpár • minőség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30A9C4"/>
                </a:solidFill>
                <a:latin typeface="Aptos"/>
              </a:defRPr>
            </a:pPr>
            <a:r>
              <a:t>OPTIKA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6324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tisztaság • veszteség • OTDR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link • port • IP-elérés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1AA37"/>
                </a:solidFill>
                <a:latin typeface="Aptos"/>
              </a:defRPr>
            </a:pPr>
            <a:r>
              <a:t>SZOLG.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06324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kamera • Wi-Fi • BMS • beléptetés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8. 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réteges gondolkodás időt takarít meg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7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Táp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3017520"/>
            <a:ext cx="32004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148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Link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8172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Kábel / port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0196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IP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4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2220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VLAN / route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4244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Szolgáltatás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8760" y="4617720"/>
            <a:ext cx="9144000" cy="777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4773168"/>
            <a:ext cx="8686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Ne konfigurációval kezdd, ha még azt sem tudod, van-e táp és fizikai kapcsolat.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9. 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rendszer akkor üzemeltethető, ha visszakereshető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3375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74AD"/>
                </a:solidFill>
                <a:latin typeface="Aptos"/>
              </a:defRPr>
            </a:pPr>
            <a:r>
              <a:t>ALAPRAJZ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végpontok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783080"/>
            <a:ext cx="33375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30A9C4"/>
                </a:solidFill>
                <a:latin typeface="Aptos"/>
              </a:defRPr>
            </a:pPr>
            <a:r>
              <a:t>TOPOLÓGIA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kapcsolatok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3375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01168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5146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kiosztás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3375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1AA37"/>
                </a:solidFill>
                <a:latin typeface="Aptos"/>
              </a:defRPr>
            </a:pPr>
            <a:r>
              <a:t>PORTLISTA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kábelút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657600"/>
            <a:ext cx="33375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88620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7057AB"/>
                </a:solidFill>
                <a:latin typeface="Aptos"/>
              </a:defRPr>
            </a:pPr>
            <a:r>
              <a:t>IP/VLAN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8912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logika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657600"/>
            <a:ext cx="33375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886200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38912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eredmények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10. ÁTADÁS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Mitől kész egy hálózat?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965960" cy="21488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MŰKÖDIK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057400"/>
            <a:ext cx="1965960" cy="214884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799" y="274320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0A9C4"/>
                </a:solidFill>
                <a:latin typeface="Aptos"/>
              </a:defRPr>
            </a:pPr>
            <a:r>
              <a:t>MEGMÉRTÜK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2057400"/>
            <a:ext cx="1965960" cy="214884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1AA37"/>
                </a:solidFill>
                <a:latin typeface="Aptos"/>
              </a:defRPr>
            </a:pPr>
            <a:r>
              <a:t>JELÖLVE VAN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057400"/>
            <a:ext cx="1965960" cy="21488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74320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74AD"/>
                </a:solidFill>
                <a:latin typeface="Aptos"/>
              </a:defRPr>
            </a:pPr>
            <a:r>
              <a:t>DOKUMENTÁLT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057400"/>
            <a:ext cx="1965960" cy="214884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274320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7057AB"/>
                </a:solidFill>
                <a:latin typeface="Aptos"/>
              </a:defRPr>
            </a:pPr>
            <a:r>
              <a:t>BŐVÍTHETŐ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8348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A „van internet” még nem átadási jegyzőkönyv.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KOMPLEX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Minden, amit a 30-36. héten összeraktunk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423160"/>
            <a:ext cx="2743200" cy="10058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49631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KÖZPONTI 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83464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patch + PoE switch +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508760"/>
            <a:ext cx="21488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8191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PC / LAN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298448" y="1892807"/>
            <a:ext cx="4782312" cy="1033273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" y="4251960"/>
            <a:ext cx="21488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32511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Wi-Fi AP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298448" y="2926080"/>
            <a:ext cx="4782312" cy="1709928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4892040"/>
            <a:ext cx="21488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496519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13048" y="2926080"/>
            <a:ext cx="2267712" cy="2350008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1508760"/>
            <a:ext cx="21488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58191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Beléptetés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80760" y="1892807"/>
            <a:ext cx="4087368" cy="1033273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98280" y="4251960"/>
            <a:ext cx="21488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432511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BMS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926080"/>
            <a:ext cx="4087368" cy="1709928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20840" y="4892040"/>
            <a:ext cx="21488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79" y="496519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NVR / szerver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926080"/>
            <a:ext cx="1709928" cy="2350008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709160" y="1234440"/>
            <a:ext cx="274320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130759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OPTIKAI GERINC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6459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másik rack / szint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1965960"/>
            <a:ext cx="0" cy="457200"/>
          </a:xfrm>
          <a:prstGeom prst="line">
            <a:avLst/>
          </a:prstGeom>
          <a:ln w="635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ZÁRÓ 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Kétszintes épület - teljes tervezési 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965960" cy="2057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4A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munkaállomás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1965960" cy="20574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488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30A9C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8036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access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28800"/>
            <a:ext cx="1965960" cy="20574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488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BE433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88036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28800"/>
            <a:ext cx="1965960" cy="20574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1488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E1AA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88036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beléptetett ajtó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828800"/>
            <a:ext cx="1965960" cy="20574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21488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78758"/>
                </a:solidFill>
                <a:latin typeface="Aptos"/>
              </a:defRPr>
            </a:pPr>
            <a:r>
              <a:t>1+1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288036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kaputelefon + BMS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572000"/>
            <a:ext cx="973836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736592"/>
            <a:ext cx="9281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Leadandó: alaprajz • topológia • rack • portlista • IP/VLAN • PoE/UPS • mérési terv.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30-36.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épületinformatikai témakör teljes íve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Rendszerfelépítés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64792" y="3035808"/>
            <a:ext cx="18288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50591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1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082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Strukturált kábelezés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035808"/>
            <a:ext cx="18288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4223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Réz adatátvitel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48072" y="3035808"/>
            <a:ext cx="18288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3387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959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095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410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Optikai hálózat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39712" y="3035808"/>
            <a:ext cx="18288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2551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259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Aktív eszközök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31352" y="3035808"/>
            <a:ext cx="18288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21715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1423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IP-rendszerek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22992" y="3035808"/>
            <a:ext cx="18288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90879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5451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05872" y="2331720"/>
            <a:ext cx="15087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9024" y="2578608"/>
            <a:ext cx="136245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Komplex tervezés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800600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A cél nem hét különálló lecke, hanem egyetlen összefüggő szakmai rendszer megértése.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DCEB"/>
                </a:solidFill>
                <a:latin typeface="Aptos"/>
              </a:defRPr>
            </a:pPr>
            <a:r>
              <a:t>IAP • ÉPÜLETINFORMATIKAI RENDSZEREK • ZÁRÁS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A hálózat akkor jó,</a:t>
            </a:r>
            <a:br/>
            <a:r>
              <a:t>ha nemcsak működik - érthető 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46120"/>
            <a:ext cx="10149840" cy="109728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149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D6E6F0"/>
                </a:solidFill>
                <a:latin typeface="Aptos"/>
              </a:defRPr>
            </a:pPr>
            <a:r>
              <a:t>Tervezhető • szerelhető • mérhető • hibakereshető • dokumentálható • bővíthető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7DDCEB"/>
                </a:solidFill>
                <a:latin typeface="Aptos"/>
              </a:defRPr>
            </a:pPr>
            <a:r>
              <a:t>30-36. hét • Épületek informatikai rendszerei • 17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