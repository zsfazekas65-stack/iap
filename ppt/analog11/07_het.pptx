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Üdvözöljük a hallgatókat! A mai előadás a bipoláris tranzisztor harmadik, speciális alapkapcsolásáról szól: a földelt bázisú konfigurációról, amely kulcsszerepet játszik a nagyfrekvenciás és mérőelektronikai áramkörökben.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Emeljük ki a bázis kettős szerepét: egyenáramúlag megkapja a stabil munkaponti előfeszítést, míg váltakozó áramú szempontból hidegítő kondenzátor rögzíti a földre.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Hangsúlyozzuk a két jelalak fázisazonosságát. A bemeneti és kimeneti szinuszjel hullámhegyei és hullámvölgyei egybeesnek, nincs 180 fokos invertálás, mint a földelt emitteres fokozatnál.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Magyarázzuk el a diákoknak a paradoxon feloldását: az áramerősítés valóban 1 alatti, de az áramot egy nagyon kis ellenállású pontról (emitter) egy nagy ellenállású pontra (kollektor) visszük át, így feszültségben és teljesítményben hatalmas az erősítés.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Miller-hatás lényege: ha a bemenet és kimenet között kapacitás van, a feszültségerősítés azt a bemeneten felnagyítja. Mivel a bázis földelt, árnyékolást képez, így ez a kapacitás a földre söntölődik, nem a bemenetre.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Hasonlítsuk össze a három oszlopot: az FE a tipikus általános erősítő, az FK (emitterkövető) a nagy bemeneti impedanciájú puffer, míg az FB a speciális nagyfrekvenciás és kis impedanciájú fokozat.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három főkategória bemutatása: a rádiófrekvenciás bemenetek, a kaszkód kapcsolások nagy sávszélességű világa, valamint a modern műszeres mérőáramkörök illesztési feladatai.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antennából érkező jel apró és sérülékeny. Az FB fokozat ideális kapuőr: illeszti az antenna alacsony impedanciáját és anélkül ad stabil feszültségerősítést, hogy visszacsatolná a zajt.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Vezessük le a számolást lépésről lépésre: a 26 mV-os termikus feszültség osztva 0,5 mA-rel éppen 52 ohmot ad, ami szinte tökéletesen illeszti az 50 ohmos antennakábelt transzformátor nélkül.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Mutassuk be a transzimpedanciás jelleget: kis áramváltozás a bemeneten jelentős, jól mérhető feszültségugrássá alakul a kimeneti terhelőellenálláson.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Tekintsük át a legfontosabb mérnöki döntési pontokat: mikor érdemes az FB kapcsoláshoz nyúlni a szokásos földelt emitteres helyett.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Tegyük fel a kérdéseket a diákoknak, hagyjunk 1-2 perc gondolkodási időt, majd vitassuk meg közösen a válaszokat a korábbi diák ismeretanyaga alapján.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Világítsunk rá a mérnöki kompromisszumokra: a tervezőnek nem az a célja, hogy minden paraméterből a legnagyobbat kapja, hanem hogy a rendszer adott frekvencián stabil és illesztett maradjon.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B2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182" y="1905000"/>
            <a:ext cx="6857828" cy="3523754"/>
          </a:xfrm>
          <a:prstGeom prst="roundRect">
            <a:avLst>
              <a:gd name="adj" fmla="val 1027"/>
            </a:avLst>
          </a:prstGeom>
          <a:solidFill>
            <a:srgbClr val="F4B23E"/>
          </a:solidFill>
          <a:ln/>
        </p:spPr>
      </p:sp>
      <p:sp>
        <p:nvSpPr>
          <p:cNvPr id="4" name="Text 1"/>
          <p:cNvSpPr/>
          <p:nvPr/>
        </p:nvSpPr>
        <p:spPr>
          <a:xfrm>
            <a:off x="771506" y="1984629"/>
            <a:ext cx="6737181" cy="1787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0" b="1" spc="-69" kern="100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Földelt bázisú tranzisztoros alapkapcsolás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771506" y="3930551"/>
            <a:ext cx="6737181" cy="923528"/>
          </a:xfrm>
          <a:prstGeom prst="rect">
            <a:avLst/>
          </a:prstGeom>
          <a:solidFill>
            <a:srgbClr val="2A2E32"/>
          </a:solidFill>
          <a:ln/>
        </p:spPr>
      </p:sp>
      <p:sp>
        <p:nvSpPr>
          <p:cNvPr id="6" name="Text 3"/>
          <p:cNvSpPr/>
          <p:nvPr/>
        </p:nvSpPr>
        <p:spPr>
          <a:xfrm>
            <a:off x="923902" y="4015133"/>
            <a:ext cx="6432389" cy="77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Nagyfrekvenciás erősítés, kis bemeneti impedancia és nulla fázisfordítás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71506" y="5069979"/>
            <a:ext cx="5759802" cy="358775"/>
          </a:xfrm>
          <a:prstGeom prst="rect">
            <a:avLst/>
          </a:prstGeom>
          <a:solidFill>
            <a:srgbClr val="2A2E32"/>
          </a:solidFill>
          <a:ln/>
        </p:spPr>
      </p:sp>
      <p:sp>
        <p:nvSpPr>
          <p:cNvPr id="8" name="Text 5"/>
          <p:cNvSpPr/>
          <p:nvPr/>
        </p:nvSpPr>
        <p:spPr>
          <a:xfrm>
            <a:off x="923902" y="5161260"/>
            <a:ext cx="56074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ELEKTRONIKAI ALAPISMERETEK · BIPOLÁRIS TRANZISZTOROK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1651000"/>
            <a:ext cx="4063898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KÖZÖS ELEKTRÓDA ÉS JELUTAK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9585" y="961893"/>
            <a:ext cx="10972526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 bázis a közös elektróda: bemenet az emitter, kimenet a kollektor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09585" y="2333625"/>
            <a:ext cx="4267093" cy="3436838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6" name="Text 3"/>
          <p:cNvSpPr/>
          <p:nvPr/>
        </p:nvSpPr>
        <p:spPr>
          <a:xfrm>
            <a:off x="863578" y="2602706"/>
            <a:ext cx="40131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JELUTAK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3578" y="2947352"/>
            <a:ext cx="401310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BEMENET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3578" y="3393804"/>
            <a:ext cx="3759106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Emitter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3578" y="3865424"/>
            <a:ext cx="401310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KÖZÖS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3578" y="4311875"/>
            <a:ext cx="3759106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Bázis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3578" y="4783495"/>
            <a:ext cx="401310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KIMENET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3578" y="5229946"/>
            <a:ext cx="3759106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Kollektor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181371" y="2562225"/>
            <a:ext cx="6400739" cy="2118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bipoláris tranzisztor három alapkapcsolásának egyike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Kis bemeneti ellenállás, nagy feszültségerősítés, jó nagyfrekvenciás tulajdonságok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bázis váltakozó áramú szempontból földelt, de egyenfeszültségű előfeszítést kap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PARAMÉTEREK ÁTTEKINTÉSE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1893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 kapcsolás legfontosabb jellemzői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39913"/>
          <a:ext cx="10972526" cy="914400"/>
        </p:xfrm>
        <a:graphic>
          <a:graphicData uri="http://schemas.openxmlformats.org/drawingml/2006/table">
            <a:tbl>
              <a:tblPr/>
              <a:tblGrid>
                <a:gridCol w="2849293"/>
                <a:gridCol w="2857627"/>
                <a:gridCol w="2590834"/>
                <a:gridCol w="2674771"/>
              </a:tblGrid>
              <a:tr h="8715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D3E6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Tulajdonság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D3E6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Földelt bázisú kapcsolás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D3E6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Tulajdonság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D3E6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Földelt bázisú kapcsolás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15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Bemeneti ellenállás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Kicsi, gyakran néhány tíz Ω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Kimeneti ellenállás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Nagy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5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Áramerősítés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Kisebb mint 1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Feszültségerősítés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Nagy lehet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5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Teljesítményerősítés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Lehetséges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Fázisfordítás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Nincs (0°)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8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Frekvenciaátvitel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Kiváló nagyfrekvencián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Közös elektróda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Bázis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FÁZISVISZONYOK ÉS JELALAKOK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9585" y="961893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 földelt bázisú kapcsolás nem fordít fázist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585" y="1980036"/>
            <a:ext cx="4206075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Azonos fázis (0°)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09585" y="2448862"/>
            <a:ext cx="4206075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 a bemeneti feszültség nő az emitteren, az emitter-bázis feszültség és a kollektoráram változása fázisban követi azt a kimeneten.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9585" y="3826695"/>
            <a:ext cx="4206075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Nagyobb amplitúdó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09585" y="4295521"/>
            <a:ext cx="4206075" cy="849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kimeneti szinuszjel feszültségamplitúdója lényegesen nagyobb, mint a bemeneté (</a:t>
            </a:r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E4E9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).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4883547"/>
            <a:ext cx="645997" cy="2509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9585" y="5401594"/>
            <a:ext cx="4206075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Eltérés a földelt emitterestől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09585" y="5870420"/>
            <a:ext cx="4206075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földelt emitteres (FE) kapcsolás 180°-os fázisfordítást végez; az FB kapcsolásnál a fáziseltolás pontosan 0°.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272749" y="1839913"/>
            <a:ext cx="6309361" cy="4987826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13" name="Text 9"/>
          <p:cNvSpPr/>
          <p:nvPr/>
        </p:nvSpPr>
        <p:spPr>
          <a:xfrm>
            <a:off x="5425146" y="2731790"/>
            <a:ext cx="615696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SZEMLÉLTETŐ JELDIAGRAM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146" y="3062784"/>
            <a:ext cx="6004569" cy="251737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25146" y="5733514"/>
            <a:ext cx="615696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kimeneti és bemeneti hullámhegyek időben pontosan egybeesnek.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9585" y="3680222"/>
            <a:ext cx="4206075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7" name="Shape 12"/>
          <p:cNvSpPr/>
          <p:nvPr/>
        </p:nvSpPr>
        <p:spPr>
          <a:xfrm>
            <a:off x="609585" y="5255121"/>
            <a:ext cx="4206075" cy="12700"/>
          </a:xfrm>
          <a:prstGeom prst="rect">
            <a:avLst/>
          </a:prstGeom>
          <a:solidFill>
            <a:srgbClr val="3F474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A7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57400"/>
          </a:xfrm>
          <a:prstGeom prst="rect">
            <a:avLst/>
          </a:prstGeom>
          <a:solidFill>
            <a:srgbClr val="3A789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057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2057400"/>
            <a:ext cx="12191695" cy="4800600"/>
          </a:xfrm>
          <a:prstGeom prst="rect">
            <a:avLst/>
          </a:prstGeom>
          <a:solidFill>
            <a:srgbClr val="3A7896"/>
          </a:solidFill>
          <a:ln/>
        </p:spPr>
      </p:sp>
      <p:sp>
        <p:nvSpPr>
          <p:cNvPr id="5" name="Text 2"/>
          <p:cNvSpPr/>
          <p:nvPr/>
        </p:nvSpPr>
        <p:spPr>
          <a:xfrm>
            <a:off x="558786" y="2428081"/>
            <a:ext cx="1163290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ERŐSÍTÉSI MECHANIZMUS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58786" y="2765293"/>
            <a:ext cx="11074123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Az áramerősítés kisebb egynél, mégis erősít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58786" y="3762359"/>
            <a:ext cx="3462747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-6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α &lt; 1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58786" y="4408514"/>
            <a:ext cx="3462747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Áramerősítési tényező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58786" y="4880134"/>
            <a:ext cx="3691341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i="1" spc="7" kern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           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86" y="4891881"/>
            <a:ext cx="1726561" cy="2360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78722" y="3762359"/>
            <a:ext cx="3234153" cy="69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200" b="1" i="1" spc="-66" kern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endParaRPr lang="en-US" sz="4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722" y="3685778"/>
            <a:ext cx="1559481" cy="69324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78722" y="4531843"/>
            <a:ext cx="3234153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Feszültségugrás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4478722" y="5003463"/>
            <a:ext cx="3234153" cy="47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Kis </a:t>
            </a:r>
            <a:pPr algn="l" indent="0" marL="0">
              <a:lnSpc>
                <a:spcPct val="108000"/>
              </a:lnSpc>
              <a:buNone/>
            </a:pPr>
            <a:r>
              <a:rPr lang="en-US" sz="1350" i="1" spc="7" kern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bemenet, nagy </a:t>
            </a:r>
            <a:pPr algn="l" indent="0" marL="0">
              <a:lnSpc>
                <a:spcPct val="108000"/>
              </a:lnSpc>
              <a:buNone/>
            </a:pPr>
            <a:r>
              <a:rPr lang="en-US" sz="1350" i="1" spc="7" kern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kimeneti terhelés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624" y="5015210"/>
            <a:ext cx="145451" cy="221159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4933" y="5015210"/>
            <a:ext cx="237821" cy="22115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170063" y="3762359"/>
            <a:ext cx="3462846" cy="69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200" b="1" i="1" spc="-66" kern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endParaRPr lang="en-US" sz="44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063" y="3685778"/>
            <a:ext cx="2109933" cy="69324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170063" y="4531843"/>
            <a:ext cx="3462846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Teljesítményerősítés</a:t>
            </a:r>
            <a:endParaRPr lang="en-US" sz="2000" dirty="0"/>
          </a:p>
        </p:txBody>
      </p:sp>
      <p:sp>
        <p:nvSpPr>
          <p:cNvPr id="20" name="Text 12"/>
          <p:cNvSpPr/>
          <p:nvPr/>
        </p:nvSpPr>
        <p:spPr>
          <a:xfrm>
            <a:off x="8170063" y="5003463"/>
            <a:ext cx="346284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többletenergiát a tápegység biztosítja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558786" y="5952573"/>
            <a:ext cx="11074123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Bár a kollektoráram némileg kisebb az emitteráramnál a bázisáram elfolyása miatt, a nagy kollektorellenálláson folyó áramváltozás sokkal nagyobb feszültségváltozást idéz elő, mint ami a bemenethez kellett.</a:t>
            </a: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4243777" y="3685778"/>
            <a:ext cx="12700" cy="1781671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23" name="Shape 15"/>
          <p:cNvSpPr/>
          <p:nvPr/>
        </p:nvSpPr>
        <p:spPr>
          <a:xfrm>
            <a:off x="7935119" y="3685778"/>
            <a:ext cx="12700" cy="1781671"/>
          </a:xfrm>
          <a:prstGeom prst="rect">
            <a:avLst/>
          </a:prstGeom>
          <a:solidFill>
            <a:srgbClr val="111A2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657093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Miért jó nagy frekvencián? A Miller-hatás kicsi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09585" y="2013740"/>
            <a:ext cx="10972526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kollektor és a bemenet közötti kapacitív visszahatás kicsi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09585" y="3737169"/>
            <a:ext cx="10972526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Miller-hatás kevésbé korlátozza, mint a földelt emitteres kapcsolásnál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09585" y="5460698"/>
            <a:ext cx="10972526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Ezért nagyobb frekvenciákon is jól használható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09585" y="3023592"/>
            <a:ext cx="10972526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8" name="Shape 5"/>
          <p:cNvSpPr/>
          <p:nvPr/>
        </p:nvSpPr>
        <p:spPr>
          <a:xfrm>
            <a:off x="609585" y="4747121"/>
            <a:ext cx="10972526" cy="12700"/>
          </a:xfrm>
          <a:prstGeom prst="rect">
            <a:avLst/>
          </a:prstGeom>
          <a:solidFill>
            <a:srgbClr val="3F474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ÖSSZEHASONLÍTÓ MÁTRIX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1893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Három alapkapcsolás összehasonlítva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39913"/>
          <a:ext cx="10972526" cy="914400"/>
        </p:xfrm>
        <a:graphic>
          <a:graphicData uri="http://schemas.openxmlformats.org/drawingml/2006/table">
            <a:tbl>
              <a:tblPr/>
              <a:tblGrid>
                <a:gridCol w="2238914"/>
                <a:gridCol w="2831434"/>
                <a:gridCol w="2949799"/>
                <a:gridCol w="2952379"/>
              </a:tblGrid>
              <a:tr h="4119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104" kern="100" dirty="0">
                          <a:solidFill>
                            <a:srgbClr val="D3E6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TULAJDONSÁG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104" kern="100" dirty="0">
                          <a:solidFill>
                            <a:srgbClr val="D3E6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FÖLDELT EMITTERES (FE)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104" kern="10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FÖLDELT BÁZISÚ (FB)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11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104" kern="100" dirty="0">
                          <a:solidFill>
                            <a:srgbClr val="D3E6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FÖLDELT KOLLEKTOROS (FK)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5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Áramerősítés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Nagy (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\beta \approx 100\dots 300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)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Kisebb mint 1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 (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\alpha &lt; 1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)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11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Nagy (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\beta + 1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)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5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Feszültségerősítés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Nagy lehet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Nagy lehet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11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Közel 1 (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A_u \lesssim 1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)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9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Fázisfordítás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180° (fordít)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0° (nem fordít)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11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0° (nem fordít)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63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Bemeneti ellenállás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Közepes (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\text{k}\Omega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)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Kicsi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 (néhány tíz 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\Omega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)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11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Nagy (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100\text{ k}\Omega\dots\text{M}\Omega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)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Jellemző feladat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Általános erősítés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Nagyfrekvenciás erősítés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11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Impedanciaillesztés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6030972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táblázat mutatja: nincs univerzálisan legjobb kapcsolás, mindegyik eltérő feladatkörre optimalizált.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GYAKORLATI FELHASZNÁLÁS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9585" y="961893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Hol használjuk? Rádió, kaszkód, mérőelektronika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585" y="1872681"/>
            <a:ext cx="630926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1. Rádiófrekvenciás erősítők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09585" y="2341507"/>
            <a:ext cx="6309262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Rádió- és televízióvevők bemeneti RF fokozatai, ahol az antenna kis impedanciájú és minimális zaj szükséges nagy sávszélességen.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9585" y="3401047"/>
            <a:ext cx="630926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2. Kaszkód erősítők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09585" y="3869873"/>
            <a:ext cx="6309262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Földelt emitteres fokozattal közvetlenül összekapcsolva kiküszöböli a Miller-kapacitást, extrém nagy sávszélességet nyújtva.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09585" y="5209904"/>
            <a:ext cx="630926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3. Mérő- és kommunikációs elektronika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09585" y="5678730"/>
            <a:ext cx="6309262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Kis impedanciájú jelforrások (pl. 50 Ω vagy 75 Ω koaxiális rendszerek) és fotodiódás áramgenerátoros érzékelők illesztése.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936" y="1839913"/>
            <a:ext cx="4206174" cy="44084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09585" y="3133328"/>
            <a:ext cx="6309262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3" name="Shape 9"/>
          <p:cNvSpPr/>
          <p:nvPr/>
        </p:nvSpPr>
        <p:spPr>
          <a:xfrm>
            <a:off x="609585" y="4942185"/>
            <a:ext cx="6309262" cy="12700"/>
          </a:xfrm>
          <a:prstGeom prst="rect">
            <a:avLst/>
          </a:prstGeom>
          <a:solidFill>
            <a:srgbClr val="3F474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93822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60497" y="657093"/>
            <a:ext cx="5821614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Rádióvevő nagyfrekvenciás erősítője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5760497" y="2028825"/>
            <a:ext cx="5821614" cy="178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Az antenna nagyon gyenge, nagyfrekvenciás jelet vesz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fokozat feszültségben felerősíti, mielőtt a jel a további áramkörökbe kerül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Nagy frekvencián is kedvező erősítést ad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ÖSSZETETT ÁRAMKÖR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9585" y="961893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Kaszkód erősítő: két tranzisztor együtt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585" y="2068513"/>
            <a:ext cx="4907137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Alsó tranzisztor: földelt emitteres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Felső tranzisztor: földelt bázisú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Az alsó kollektorárama a felső emitterén folyik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felső csökkenti az alsó kollektorfeszültségének ingadozását, így mérséklődik a Miller-hatás és nő a sávszélesség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973811" y="1839913"/>
            <a:ext cx="5608299" cy="4478338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7" name="Text 4"/>
          <p:cNvSpPr/>
          <p:nvPr/>
        </p:nvSpPr>
        <p:spPr>
          <a:xfrm>
            <a:off x="6177006" y="2058194"/>
            <a:ext cx="540510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KASZKÓD KAPCSOLÁSI ELV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7006" y="2389187"/>
            <a:ext cx="5201909" cy="816769"/>
          </a:xfrm>
          <a:prstGeom prst="rect">
            <a:avLst/>
          </a:prstGeom>
          <a:solidFill>
            <a:srgbClr val="3A7896"/>
          </a:solidFill>
          <a:ln/>
        </p:spPr>
      </p:sp>
      <p:sp>
        <p:nvSpPr>
          <p:cNvPr id="9" name="Text 6"/>
          <p:cNvSpPr/>
          <p:nvPr/>
        </p:nvSpPr>
        <p:spPr>
          <a:xfrm>
            <a:off x="6405601" y="2633572"/>
            <a:ext cx="4744720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Felső tranzisztor: földelt bázisú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177006" y="3751358"/>
            <a:ext cx="5201909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↑ Az alsó kollektorárama a felső emitterén folyik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177006" y="4938713"/>
            <a:ext cx="5201909" cy="1176338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12" name="Text 9"/>
          <p:cNvSpPr/>
          <p:nvPr/>
        </p:nvSpPr>
        <p:spPr>
          <a:xfrm>
            <a:off x="6405601" y="5183097"/>
            <a:ext cx="4744720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Alsó tranzisztor: földelt emitteres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SZÁMOLT PÉLDA 1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9585" y="961893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Példa: 50 Ω-os jelforrás illesztése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09585" y="1839913"/>
            <a:ext cx="4206075" cy="4408488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6" name="Text 3"/>
          <p:cNvSpPr/>
          <p:nvPr/>
        </p:nvSpPr>
        <p:spPr>
          <a:xfrm>
            <a:off x="888978" y="2134394"/>
            <a:ext cx="392668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ALAPÖSSZEFÜGGÉS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8978" y="2439897"/>
            <a:ext cx="3647289" cy="424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300" b="1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</a:t>
            </a:r>
            <a:endParaRPr lang="en-US" sz="2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78" y="2449513"/>
            <a:ext cx="1304992" cy="399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8978" y="3037427"/>
            <a:ext cx="3647289" cy="1130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tranzisztor dinamikus emitter-ellenállása a munkaponti emitteráram (</a:t>
            </a:r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 segítségével pontosan beállítható.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96" y="3625453"/>
            <a:ext cx="207759" cy="2509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88978" y="5341739"/>
            <a:ext cx="3647289" cy="627261"/>
          </a:xfrm>
          <a:prstGeom prst="roundRect">
            <a:avLst>
              <a:gd name="adj" fmla="val 4859"/>
            </a:avLst>
          </a:prstGeom>
          <a:solidFill>
            <a:srgbClr val="3A7896"/>
          </a:solidFill>
          <a:ln/>
        </p:spPr>
      </p:sp>
      <p:sp>
        <p:nvSpPr>
          <p:cNvPr id="12" name="Text 7"/>
          <p:cNvSpPr/>
          <p:nvPr/>
        </p:nvSpPr>
        <p:spPr>
          <a:xfrm>
            <a:off x="1003275" y="5429945"/>
            <a:ext cx="341869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22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TERMIKUS FESZÜLTSÉG: U_T ≈ 26 MV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5399746" y="2006230"/>
            <a:ext cx="618236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Munkapont megválasztása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5399746" y="2475055"/>
            <a:ext cx="6182364" cy="289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Legyen a beállított egyenáramú emitteráram: </a:t>
            </a:r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E4E9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8855" y="2502297"/>
            <a:ext cx="1089593" cy="2509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99746" y="3530130"/>
            <a:ext cx="618236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Kiszámított bemeneti ellenállás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5399746" y="3998956"/>
            <a:ext cx="6182364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E4E9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         </a:t>
            </a:r>
            <a:endParaRPr lang="en-US" sz="1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746" y="4026198"/>
            <a:ext cx="1564442" cy="2732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99746" y="5076355"/>
            <a:ext cx="618236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Tökéletes illesztés</a:t>
            </a:r>
            <a:endParaRPr lang="en-US" sz="2000" dirty="0"/>
          </a:p>
        </p:txBody>
      </p:sp>
      <p:sp>
        <p:nvSpPr>
          <p:cNvPr id="20" name="Text 13"/>
          <p:cNvSpPr/>
          <p:nvPr/>
        </p:nvSpPr>
        <p:spPr>
          <a:xfrm>
            <a:off x="5399746" y="5545181"/>
            <a:ext cx="6182364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Az 52 Ω elhanyagolható eltéréssel megegyezik a szabványos 50 Ω-os koaxiális kábel hullámimpedanciájával, így nincs jelreflexió!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5399746" y="3128764"/>
            <a:ext cx="6182364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22" name="Shape 15"/>
          <p:cNvSpPr/>
          <p:nvPr/>
        </p:nvSpPr>
        <p:spPr>
          <a:xfrm>
            <a:off x="5399746" y="4674989"/>
            <a:ext cx="6182364" cy="12700"/>
          </a:xfrm>
          <a:prstGeom prst="rect">
            <a:avLst/>
          </a:prstGeom>
          <a:solidFill>
            <a:srgbClr val="3F474C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SZÁMOLT PÉLDA 2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9585" y="961893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Példa: áramjel átalakítása feszültségjellé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09585" y="1839913"/>
            <a:ext cx="4907137" cy="4408488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6" name="Text 3"/>
          <p:cNvSpPr/>
          <p:nvPr/>
        </p:nvSpPr>
        <p:spPr>
          <a:xfrm>
            <a:off x="888978" y="2007394"/>
            <a:ext cx="462774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KIINDULÓ ADATOK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8978" y="2428240"/>
            <a:ext cx="4348351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BEMENETI ÁRAMVÁLTOZÁS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8978" y="2874691"/>
            <a:ext cx="4348351" cy="3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endParaRPr lang="en-US" sz="2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78" y="2886968"/>
            <a:ext cx="1376328" cy="3168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8978" y="3827026"/>
            <a:ext cx="4348351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ÁRAMERŐSÍTÉS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88978" y="4273477"/>
            <a:ext cx="4348351" cy="3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endParaRPr lang="en-US" sz="2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978" y="4285754"/>
            <a:ext cx="931938" cy="3168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8978" y="5225812"/>
            <a:ext cx="4348351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KOLLEKTOR ELLENÁLLÁS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88978" y="5672263"/>
            <a:ext cx="4348351" cy="3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</a:t>
            </a:r>
            <a:endParaRPr lang="en-US" sz="2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978" y="5684540"/>
            <a:ext cx="1164601" cy="31680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00808" y="2010000"/>
            <a:ext cx="548130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1. Kollektoráram-változás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6100808" y="2478826"/>
            <a:ext cx="5481302" cy="289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E4E9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                   </a:t>
            </a:r>
            <a:endParaRPr lang="en-US" sz="1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0808" y="2506067"/>
            <a:ext cx="3484872" cy="25092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00808" y="3541243"/>
            <a:ext cx="548130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2. Feszültségváltozás a kimeneten</a:t>
            </a:r>
            <a:endParaRPr lang="en-US" sz="2000" dirty="0"/>
          </a:p>
        </p:txBody>
      </p:sp>
      <p:sp>
        <p:nvSpPr>
          <p:cNvPr id="20" name="Text 13"/>
          <p:cNvSpPr/>
          <p:nvPr/>
        </p:nvSpPr>
        <p:spPr>
          <a:xfrm>
            <a:off x="6100808" y="4010069"/>
            <a:ext cx="5481302" cy="289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E4E9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                     </a:t>
            </a:r>
            <a:endParaRPr lang="en-US" sz="16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0808" y="4037310"/>
            <a:ext cx="4011909" cy="25092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00808" y="5072585"/>
            <a:ext cx="548130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Konklúzió</a:t>
            </a:r>
            <a:endParaRPr lang="en-US" sz="2000" dirty="0"/>
          </a:p>
        </p:txBody>
      </p:sp>
      <p:sp>
        <p:nvSpPr>
          <p:cNvPr id="23" name="Text 15"/>
          <p:cNvSpPr/>
          <p:nvPr/>
        </p:nvSpPr>
        <p:spPr>
          <a:xfrm>
            <a:off x="6100808" y="5541411"/>
            <a:ext cx="5481302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mA emitteráram-változás közel 2 V feszültségváltozást ad, ha a tranzisztor aktív tartományban marad.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RENDSZEREZŐ ÖSSZEFOGLALÓ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1893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Alkalmazások röviden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39913"/>
          <a:ext cx="10972526" cy="914400"/>
        </p:xfrm>
        <a:graphic>
          <a:graphicData uri="http://schemas.openxmlformats.org/drawingml/2006/table">
            <a:tbl>
              <a:tblPr/>
              <a:tblGrid>
                <a:gridCol w="4169465"/>
                <a:gridCol w="6803061"/>
              </a:tblGrid>
              <a:tr h="4119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104" kern="100" dirty="0">
                          <a:solidFill>
                            <a:srgbClr val="D3E6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ALKALMAZÁS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104" kern="100" dirty="0">
                          <a:solidFill>
                            <a:srgbClr val="D3E6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MIÉRT ELŐNYÖS A FÖLDELT BÁZISÚ KAPCSOLÁS?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63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Rádiófrekvenciás erősítő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Jó nagyfrekvenciás működés, kis belső kapacitív visszacsatolás és kiváló stabilitás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63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Kaszkód erősítő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Miller-hatás drasztikus csökkentése a kollektorfeszültség rögzítésével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63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50 Ω-os jelrendszerek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Természetes kis bemeneti impedancia, közvetlen illesztés transzformátor nélkül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9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Szélessávú mérőerősítő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Kiemelkedően nagy sávszélesség és fázishű átvitel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8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Áram–feszültség átalakítás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Közel egységnyi áramátvitel (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\alpha \approx 1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4E9E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), nagy kimeneti feszültséglengés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6030972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Összegzés: A földelt bázisú alapkapcsolás célszerszám speciális nagyfrekvenciás és illesztési igényekre.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ÖNELLENŐRZŐ KÉRDÉSEK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9585" y="961893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Gondolkodtató kérdések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585" y="2068513"/>
            <a:ext cx="6659694" cy="223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86080" indent="-38608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Miért nevezzük földelt bázisúnak a kapcsolást?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Miért kisebb az áramerősítése egynél?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Hogyan lehet nagy a feszültségerősítés, ha az áramerősítés kisebb egynél?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Font typeface="+mj-lt"/>
              <a:buAutoNum type="arabicPeriod" startAt="4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Miért nem fordítja meg a bemeneti jel fázisát?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Font typeface="+mj-lt"/>
              <a:buAutoNum type="arabicPeriod" startAt="5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Miért előnyös nagyfrekvenciás alkalmazásokban?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368" y="1839913"/>
            <a:ext cx="3855743" cy="44084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MÉRNÖKI DILEMMA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9585" y="961893"/>
            <a:ext cx="10972526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Miért nem a földelt emitteres kapcsolást használjuk rádiós erősítőben?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09585" y="2333625"/>
            <a:ext cx="5333867" cy="3914775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6" name="Text 3"/>
          <p:cNvSpPr/>
          <p:nvPr/>
        </p:nvSpPr>
        <p:spPr>
          <a:xfrm>
            <a:off x="838179" y="3528266"/>
            <a:ext cx="4876678" cy="1542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Nemcsak az áramerősítés számít, hanem a sávszélesség, a bemeneti impedancia és a nagyfrekvenciás stabilitás is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48244" y="2333625"/>
            <a:ext cx="5333867" cy="3914775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8" name="Text 5"/>
          <p:cNvSpPr/>
          <p:nvPr/>
        </p:nvSpPr>
        <p:spPr>
          <a:xfrm>
            <a:off x="6476838" y="3721048"/>
            <a:ext cx="4876678" cy="1156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földelt bázisú kapcsolás nem helyettesíti a földelt emitterest, hanem speciális feladatokra való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E4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182" y="889000"/>
            <a:ext cx="10769331" cy="4764286"/>
          </a:xfrm>
          <a:prstGeom prst="roundRect">
            <a:avLst>
              <a:gd name="adj" fmla="val 760"/>
            </a:avLst>
          </a:prstGeom>
          <a:solidFill>
            <a:srgbClr val="2A2E32"/>
          </a:solidFill>
          <a:ln/>
        </p:spPr>
      </p:sp>
      <p:sp>
        <p:nvSpPr>
          <p:cNvPr id="4" name="Text 1"/>
          <p:cNvSpPr/>
          <p:nvPr/>
        </p:nvSpPr>
        <p:spPr>
          <a:xfrm>
            <a:off x="1168371" y="1310481"/>
            <a:ext cx="1046453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ZÁRÓ ÖSSZEGZÉS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68371" y="1660017"/>
            <a:ext cx="9854953" cy="797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spc="-44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Amit érdemes megjegyezni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168371" y="2816847"/>
            <a:ext cx="9854953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Bemenet: emitter, kimenet: kollektor, közös: bázis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68371" y="3472087"/>
            <a:ext cx="9854953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Feszültségerősítésre és nagyfrekvenciás alkalmazásokra alkalmas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68371" y="4127328"/>
            <a:ext cx="9854953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Áramerősítése kisebb egynél, bemeneti ellenállása kicsi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68371" y="4782569"/>
            <a:ext cx="9854953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Nincs 180°-os fázisfordítás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168371" y="3274814"/>
            <a:ext cx="9854953" cy="12700"/>
          </a:xfrm>
          <a:prstGeom prst="rect">
            <a:avLst/>
          </a:prstGeom>
          <a:solidFill>
            <a:srgbClr val="D3E6EE"/>
          </a:solidFill>
          <a:ln/>
        </p:spPr>
      </p:sp>
      <p:sp>
        <p:nvSpPr>
          <p:cNvPr id="11" name="Shape 8"/>
          <p:cNvSpPr/>
          <p:nvPr/>
        </p:nvSpPr>
        <p:spPr>
          <a:xfrm>
            <a:off x="1168371" y="3930055"/>
            <a:ext cx="9854953" cy="12700"/>
          </a:xfrm>
          <a:prstGeom prst="rect">
            <a:avLst/>
          </a:prstGeom>
          <a:solidFill>
            <a:srgbClr val="D3E6EE"/>
          </a:solidFill>
          <a:ln/>
        </p:spPr>
      </p:sp>
      <p:sp>
        <p:nvSpPr>
          <p:cNvPr id="12" name="Shape 9"/>
          <p:cNvSpPr/>
          <p:nvPr/>
        </p:nvSpPr>
        <p:spPr>
          <a:xfrm>
            <a:off x="1168371" y="4585295"/>
            <a:ext cx="9854953" cy="12700"/>
          </a:xfrm>
          <a:prstGeom prst="rect">
            <a:avLst/>
          </a:prstGeom>
          <a:solidFill>
            <a:srgbClr val="D3E6E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2026-10-10T09:05:23Z</dcterms:created>
  <dcterms:modified xsi:type="dcterms:W3CDTF">2026-10-10T09:05:23Z</dcterms:modified>
</cp:coreProperties>
</file>