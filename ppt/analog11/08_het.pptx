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IBM Plex Sans"/>
      <p:regular r:id="rId201316"/>
    </p:embeddedFont>
    <p:embeddedFont>
      <p:font typeface="IBM Plex Sans SemiBold"/>
      <p:regular r:id="rId201317"/>
    </p:embeddedFont>
    <p:embeddedFont>
      <p:font typeface="IBM Plex Sans Bold"/>
      <p:regular r:id="rId201318"/>
    </p:embeddedFont>
    <p:embeddedFont>
      <p:font typeface="IBM Plex Sans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Vezessük be az emitterkövető (földelt kollektoros) kapcsolás témakörét: a cél annak megértése, miért nem feszültséget erősítünk vele, és miért elengedhetetlen pufferfokozat az analóg elektronikában.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Hangsúlyozzuk a diákoknak: a kollektor nem fizikailag a 0 V-ra van kötve egyenáramban, hanem AC szempontból van földpotenciálon a tápszűrő kondenzátorok miatt.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Mutassunk rá a grafikonon: az alak és a periódus változatlan, a fáziseltolás 0 fok, csupán a csúcsérték csökken elhanyagolható mértékben.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Tisztázzuk a gyakori félreértést: hogyan erősíthet egy áramkör, ha a feszültsége csökken? A kulcs a szorzat: az áramerősítés olyan nagy, hogy a kimenő teljesítmény sokszorosa a bemenőnek.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Mutassuk be a láncot a vázlaton: jelforrás -&gt; emitterkövető -&gt; terhelés. Ha közvetlenül kötnénk rá, a forrás belső ellenállása miatt a jel összeomlana.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Mutassuk be a konkrét eszközöket: miért torzítana a hangszerhangszedő puffer nélkül, és miért hamisítana az oszcilloszkóp, ha bemenete kis ellenállású lenne.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Kérjük meg a tanulókat, hogy keressék meg a táblázatban a szélsőértékeket: hol a legnagyobb a bemeneti ellenállás? Melyik fordít egyedül fázist? Ez a táblázat a dolgozatok tipikus kérdésköre.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Zárjuk a tanórát ezen kérdések közös megvitatásával. Hívjunk ki diákokat a táblához, hogy felrajzolják a blokkvázlatot és az impedancia-illesztés képleteit.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304800"/>
            <a:ext cx="3276617" cy="336649"/>
          </a:xfrm>
          <a:custGeom>
            <a:avLst/>
            <a:gdLst/>
            <a:ahLst/>
            <a:cxnLst/>
            <a:rect l="l" t="t" r="r" b="b"/>
            <a:pathLst>
              <a:path w="3276617" h="336649">
                <a:moveTo>
                  <a:pt x="152396" y="0"/>
                </a:moveTo>
                <a:lnTo>
                  <a:pt x="3124221" y="0"/>
                </a:lnTo>
                <a:arcTo hR="152400" wR="152396" stAng="16200000" swAng="5400000"/>
                <a:lnTo>
                  <a:pt x="3276617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2E6E7E"/>
          </a:solidFill>
          <a:ln/>
        </p:spPr>
      </p:sp>
      <p:sp>
        <p:nvSpPr>
          <p:cNvPr id="3" name="Text 1"/>
          <p:cNvSpPr/>
          <p:nvPr/>
        </p:nvSpPr>
        <p:spPr>
          <a:xfrm>
            <a:off x="840659" y="384350"/>
            <a:ext cx="362724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ELEKTRONIKA · 11. ÉVFOLYAM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1182" y="2431554"/>
            <a:ext cx="3911502" cy="2331641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5975" y="2739529"/>
            <a:ext cx="3301917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15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Az emitterkövető: földelt kollektoros kapcsolás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15975" y="4044295"/>
            <a:ext cx="3301917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Tranzisztoros alapkapcsolások</a:t>
            </a:r>
            <a:endParaRPr lang="en-US" sz="13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Impedanciaillesztés és pufferfokozat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0"/>
            <a:ext cx="71118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D3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28600"/>
            <a:ext cx="1952179" cy="336649"/>
          </a:xfrm>
          <a:custGeom>
            <a:avLst/>
            <a:gdLst/>
            <a:ahLst/>
            <a:cxnLst/>
            <a:rect l="l" t="t" r="r" b="b"/>
            <a:pathLst>
              <a:path w="1952179" h="336649">
                <a:moveTo>
                  <a:pt x="152396" y="0"/>
                </a:moveTo>
                <a:lnTo>
                  <a:pt x="1799783" y="0"/>
                </a:lnTo>
                <a:arcTo hR="152400" wR="152396" stAng="16200000" swAng="5400000"/>
                <a:lnTo>
                  <a:pt x="1952179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2E6E7E"/>
          </a:solidFill>
          <a:ln/>
        </p:spPr>
      </p:sp>
      <p:sp>
        <p:nvSpPr>
          <p:cNvPr id="3" name="Text 1"/>
          <p:cNvSpPr/>
          <p:nvPr/>
        </p:nvSpPr>
        <p:spPr>
          <a:xfrm>
            <a:off x="840659" y="308150"/>
            <a:ext cx="230281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KAPCSOLÁSI ELV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1182" y="758924"/>
            <a:ext cx="5755536" cy="4981476"/>
          </a:xfrm>
          <a:prstGeom prst="roundRect">
            <a:avLst>
              <a:gd name="adj" fmla="val 55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6773" y="1056104"/>
            <a:ext cx="5044353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kollektor közös, a bázis a bemenet, az emitter a kimenet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66773" y="1917005"/>
            <a:ext cx="431789" cy="4318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7" name="Text 5"/>
          <p:cNvSpPr/>
          <p:nvPr/>
        </p:nvSpPr>
        <p:spPr>
          <a:xfrm>
            <a:off x="1217880" y="2024955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F3A4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76358" y="1932087"/>
            <a:ext cx="443476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AC szempontból földelt kollektor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76358" y="2376904"/>
            <a:ext cx="443476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kollektor váltakozó áramú szempontból földön van.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66773" y="3000276"/>
            <a:ext cx="431789" cy="4318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1" name="Text 9"/>
          <p:cNvSpPr/>
          <p:nvPr/>
        </p:nvSpPr>
        <p:spPr>
          <a:xfrm>
            <a:off x="1217880" y="3108226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F3A4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76358" y="3015357"/>
            <a:ext cx="443476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Bázisosztó (R1, R2)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76358" y="3460174"/>
            <a:ext cx="443476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bázis előfeszítését feszültségosztó (R1, R2) adja.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66773" y="4083546"/>
            <a:ext cx="431789" cy="4318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17880" y="4191496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F3A4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76358" y="4098627"/>
            <a:ext cx="443476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Emitterkimenet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76358" y="4543445"/>
            <a:ext cx="443476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 emitter kimenete követi a bemenetet.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71411" y="758924"/>
            <a:ext cx="4709003" cy="4981476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4606" y="962124"/>
            <a:ext cx="4302613" cy="426650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71411" y="5320546"/>
            <a:ext cx="470900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Földelt kollektoros alapkapcsolás kapcsolási rajza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6E7E"/>
          </a:solidFill>
          <a:ln/>
        </p:spPr>
      </p:sp>
      <p:sp>
        <p:nvSpPr>
          <p:cNvPr id="22" name="Text 19"/>
          <p:cNvSpPr/>
          <p:nvPr/>
        </p:nvSpPr>
        <p:spPr>
          <a:xfrm>
            <a:off x="406390" y="6246931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 kollektor a tápforráson keresztül AC szempontból hidegített, ezért nevezzük földelt kollektorosnak.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28600"/>
            <a:ext cx="2373948" cy="336649"/>
          </a:xfrm>
          <a:custGeom>
            <a:avLst/>
            <a:gdLst/>
            <a:ahLst/>
            <a:cxnLst/>
            <a:rect l="l" t="t" r="r" b="b"/>
            <a:pathLst>
              <a:path w="2373948" h="336649">
                <a:moveTo>
                  <a:pt x="152396" y="0"/>
                </a:moveTo>
                <a:lnTo>
                  <a:pt x="2221551" y="0"/>
                </a:lnTo>
                <a:arcTo hR="152400" wR="152396" stAng="16200000" swAng="5400000"/>
                <a:lnTo>
                  <a:pt x="2373948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2E6E7E"/>
          </a:solidFill>
          <a:ln/>
        </p:spPr>
      </p:sp>
      <p:sp>
        <p:nvSpPr>
          <p:cNvPr id="3" name="Text 1"/>
          <p:cNvSpPr/>
          <p:nvPr/>
        </p:nvSpPr>
        <p:spPr>
          <a:xfrm>
            <a:off x="840659" y="308150"/>
            <a:ext cx="272457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JELALAKOK ÉS FÁZIS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1182" y="758924"/>
            <a:ext cx="5755536" cy="5057676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6773" y="1056104"/>
            <a:ext cx="5044353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Az emitter a bázisnál 0,7 V-tal kisebb feszültségen követi a jelet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773" y="1993205"/>
            <a:ext cx="5044353" cy="3716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6773" y="2684760"/>
            <a:ext cx="504435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Azonos fázis, alig kisebb amplitúdó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66773" y="3129578"/>
            <a:ext cx="504435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kapcsolás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nem fordít fázist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 bemeneti és a kimeneti szinuszhullám szinkronban fut.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66773" y="4022030"/>
            <a:ext cx="504435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Gyakorlati példa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66773" y="4466848"/>
            <a:ext cx="504435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Egy </a:t>
            </a:r>
            <a:pPr algn="l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amplitúdójú bemeneti váltakozó jelből tipikusan mintegy </a:t>
            </a:r>
            <a:pPr algn="l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-os kimenet keletkezik az emitteren.</a:t>
            </a:r>
            <a:endParaRPr lang="en-US" sz="1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25" y="4508599"/>
            <a:ext cx="316599" cy="253107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295" y="4821634"/>
            <a:ext cx="480901" cy="2531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771411" y="758924"/>
            <a:ext cx="4709003" cy="5057676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606" y="962124"/>
            <a:ext cx="4302613" cy="4333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71411" y="5387915"/>
            <a:ext cx="4709003" cy="231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bemeneti (</a:t>
            </a:r>
            <a:pPr algn="ctr" indent="0" marL="0">
              <a:lnSpc>
                <a:spcPct val="113000"/>
              </a:lnSpc>
              <a:buNone/>
            </a:pPr>
            <a:r>
              <a:rPr lang="en-US" sz="1250" i="1" spc="6" kern="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ctr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és kimeneti (</a:t>
            </a:r>
            <a:pPr algn="ctr" indent="0" marL="0">
              <a:lnSpc>
                <a:spcPct val="113000"/>
              </a:lnSpc>
              <a:buNone/>
            </a:pPr>
            <a:r>
              <a:rPr lang="en-US" sz="1250" i="1" spc="6" kern="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ctr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szinuszos feszültség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760" y="5407124"/>
            <a:ext cx="233555" cy="206276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961" y="5407124"/>
            <a:ext cx="211728" cy="206276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6E7E"/>
          </a:solidFill>
          <a:ln/>
        </p:spPr>
      </p:sp>
      <p:sp>
        <p:nvSpPr>
          <p:cNvPr id="19" name="Text 11"/>
          <p:cNvSpPr/>
          <p:nvPr/>
        </p:nvSpPr>
        <p:spPr>
          <a:xfrm>
            <a:off x="406390" y="6235720"/>
            <a:ext cx="11378915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 nyitott bázis-emitter dióda </a:t>
            </a:r>
            <a:pPr algn="ctr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feszültségesése okozza az egyenszintbeli eltolódást.</a:t>
            </a:r>
            <a:endParaRPr lang="en-US" sz="17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2200" y="6277471"/>
            <a:ext cx="1153786" cy="278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8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28600"/>
            <a:ext cx="2569900" cy="336649"/>
          </a:xfrm>
          <a:custGeom>
            <a:avLst/>
            <a:gdLst/>
            <a:ahLst/>
            <a:cxnLst/>
            <a:rect l="l" t="t" r="r" b="b"/>
            <a:pathLst>
              <a:path w="2569900" h="336649">
                <a:moveTo>
                  <a:pt x="152396" y="0"/>
                </a:moveTo>
                <a:lnTo>
                  <a:pt x="2417504" y="0"/>
                </a:lnTo>
                <a:arcTo hR="152400" wR="152396" stAng="16200000" swAng="5400000"/>
                <a:lnTo>
                  <a:pt x="2569900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2E6E7E"/>
          </a:solidFill>
          <a:ln/>
        </p:spPr>
      </p:sp>
      <p:sp>
        <p:nvSpPr>
          <p:cNvPr id="3" name="Text 1"/>
          <p:cNvSpPr/>
          <p:nvPr/>
        </p:nvSpPr>
        <p:spPr>
          <a:xfrm>
            <a:off x="840659" y="308150"/>
            <a:ext cx="292053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ERŐSÍTÉSI VISZONYOK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1182" y="758924"/>
            <a:ext cx="10769331" cy="4981476"/>
          </a:xfrm>
          <a:prstGeom prst="roundRect">
            <a:avLst>
              <a:gd name="adj" fmla="val 55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2173" y="1056104"/>
            <a:ext cx="1000735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Feszültséget alig, áramot jelentősen erősít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2173" y="1933178"/>
            <a:ext cx="3132555" cy="2996208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25399">
            <a:solidFill>
              <a:srgbClr val="C5D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0767" y="2187178"/>
            <a:ext cx="1352020" cy="336649"/>
          </a:xfrm>
          <a:prstGeom prst="roundRect">
            <a:avLst>
              <a:gd name="adj" fmla="val 49999"/>
            </a:avLst>
          </a:prstGeom>
          <a:solidFill>
            <a:srgbClr val="D9822B"/>
          </a:solidFill>
          <a:ln/>
        </p:spPr>
      </p:sp>
      <p:sp>
        <p:nvSpPr>
          <p:cNvPr id="8" name="Text 6"/>
          <p:cNvSpPr/>
          <p:nvPr/>
        </p:nvSpPr>
        <p:spPr>
          <a:xfrm>
            <a:off x="1450244" y="2266728"/>
            <a:ext cx="170265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Áramerősítés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767" y="2650827"/>
            <a:ext cx="2675367" cy="6454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0767" y="3425944"/>
            <a:ext cx="2675367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Jelentős áramerősítés: a kimeneti emitteráram a bázisáram több tíz- vagy százszorosa.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529520" y="1933178"/>
            <a:ext cx="3132555" cy="2996208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25399">
            <a:solidFill>
              <a:srgbClr val="C5D0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8115" y="2187178"/>
            <a:ext cx="1783908" cy="336649"/>
          </a:xfrm>
          <a:prstGeom prst="roundRect">
            <a:avLst>
              <a:gd name="adj" fmla="val 49999"/>
            </a:avLst>
          </a:prstGeom>
          <a:solidFill>
            <a:srgbClr val="2E6E7E"/>
          </a:solidFill>
          <a:ln/>
        </p:spPr>
      </p:sp>
      <p:sp>
        <p:nvSpPr>
          <p:cNvPr id="13" name="Text 10"/>
          <p:cNvSpPr/>
          <p:nvPr/>
        </p:nvSpPr>
        <p:spPr>
          <a:xfrm>
            <a:off x="4887592" y="2266728"/>
            <a:ext cx="21345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Feszültségerősítés</a:t>
            </a:r>
            <a:endParaRPr lang="en-US" sz="13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115" y="2650827"/>
            <a:ext cx="2675367" cy="3716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8115" y="3152199"/>
            <a:ext cx="267536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feszültségerősítés mindig 1-nél kissé kisebb, mert a nyitóirányú </a:t>
            </a:r>
            <a:pPr algn="l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levonódik.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02" y="3820021"/>
            <a:ext cx="391607" cy="265807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966868" y="1933178"/>
            <a:ext cx="3132654" cy="2996208"/>
          </a:xfrm>
          <a:prstGeom prst="roundRect">
            <a:avLst>
              <a:gd name="adj" fmla="val 6485"/>
            </a:avLst>
          </a:prstGeom>
          <a:solidFill>
            <a:srgbClr val="FFFFFF"/>
          </a:solidFill>
          <a:ln w="25399">
            <a:solidFill>
              <a:srgbClr val="C5D0D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195462" y="2187178"/>
            <a:ext cx="1297947" cy="336649"/>
          </a:xfrm>
          <a:prstGeom prst="roundRect">
            <a:avLst>
              <a:gd name="adj" fmla="val 49999"/>
            </a:avLst>
          </a:prstGeom>
          <a:solidFill>
            <a:srgbClr val="D9822B"/>
          </a:solidFill>
          <a:ln/>
        </p:spPr>
      </p:sp>
      <p:sp>
        <p:nvSpPr>
          <p:cNvPr id="19" name="Text 14"/>
          <p:cNvSpPr/>
          <p:nvPr/>
        </p:nvSpPr>
        <p:spPr>
          <a:xfrm>
            <a:off x="8324939" y="2266728"/>
            <a:ext cx="164857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Teljesítmény</a:t>
            </a:r>
            <a:endParaRPr lang="en-US" sz="13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462" y="2650827"/>
            <a:ext cx="2675466" cy="3716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95462" y="3152199"/>
            <a:ext cx="267546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Bár </a:t>
            </a:r>
            <a:pPr algn="l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 hatalmas áramerősítés miatt komoly teljesítményerősítést nyújt a tápegységből.</a:t>
            </a:r>
            <a:endParaRPr lang="en-US" sz="17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09" y="3193951"/>
            <a:ext cx="640143" cy="265807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6E7E"/>
          </a:solidFill>
          <a:ln/>
        </p:spPr>
      </p:sp>
      <p:sp>
        <p:nvSpPr>
          <p:cNvPr id="24" name="Text 17"/>
          <p:cNvSpPr/>
          <p:nvPr/>
        </p:nvSpPr>
        <p:spPr>
          <a:xfrm>
            <a:off x="406390" y="6246931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Energiamegmaradás: a teljesítménytöbbletet nem a bemeneti jel, hanem a DC tápegység biztosítja.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28600"/>
            <a:ext cx="1686081" cy="336649"/>
          </a:xfrm>
          <a:custGeom>
            <a:avLst/>
            <a:gdLst/>
            <a:ahLst/>
            <a:cxnLst/>
            <a:rect l="l" t="t" r="r" b="b"/>
            <a:pathLst>
              <a:path w="1686081" h="336649">
                <a:moveTo>
                  <a:pt x="152396" y="0"/>
                </a:moveTo>
                <a:lnTo>
                  <a:pt x="1533685" y="0"/>
                </a:lnTo>
                <a:arcTo hR="152400" wR="152396" stAng="16200000" swAng="5400000"/>
                <a:lnTo>
                  <a:pt x="1686081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2E6E7E"/>
          </a:solidFill>
          <a:ln/>
        </p:spPr>
      </p:sp>
      <p:sp>
        <p:nvSpPr>
          <p:cNvPr id="3" name="Text 1"/>
          <p:cNvSpPr/>
          <p:nvPr/>
        </p:nvSpPr>
        <p:spPr>
          <a:xfrm>
            <a:off x="840659" y="308150"/>
            <a:ext cx="203671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IMPEDANCIÁK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1182" y="758924"/>
            <a:ext cx="5929958" cy="4981476"/>
          </a:xfrm>
          <a:prstGeom prst="roundRect">
            <a:avLst>
              <a:gd name="adj" fmla="val 55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6773" y="1056104"/>
            <a:ext cx="5218776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Nagy bemeneti és kis kimeneti ellenállás: ezért jó puffer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66773" y="1980505"/>
            <a:ext cx="38099" cy="897533"/>
          </a:xfrm>
          <a:prstGeom prst="rect">
            <a:avLst/>
          </a:prstGeom>
          <a:solidFill>
            <a:srgbClr val="2E6E7E"/>
          </a:solidFill>
          <a:ln/>
        </p:spPr>
      </p:sp>
      <p:sp>
        <p:nvSpPr>
          <p:cNvPr id="7" name="Text 5"/>
          <p:cNvSpPr/>
          <p:nvPr/>
        </p:nvSpPr>
        <p:spPr>
          <a:xfrm>
            <a:off x="1308067" y="2046387"/>
            <a:ext cx="4977482" cy="327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Nagy bemeneti ellenállás (</a:t>
            </a:r>
            <a:pPr algn="l" indent="0" marL="0">
              <a:lnSpc>
                <a:spcPct val="104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)</a:t>
            </a:r>
            <a:endParaRPr lang="en-US" sz="1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963" y="2056705"/>
            <a:ext cx="355591" cy="3019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08067" y="2516902"/>
            <a:ext cx="497748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Több </a:t>
            </a:r>
            <a:pPr algn="l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– több tíz </a:t>
            </a:r>
            <a:pPr algn="l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66" y="2558653"/>
            <a:ext cx="263717" cy="253107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529" y="2558653"/>
            <a:ext cx="263717" cy="25310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66773" y="3030438"/>
            <a:ext cx="38099" cy="897533"/>
          </a:xfrm>
          <a:prstGeom prst="rect">
            <a:avLst/>
          </a:prstGeom>
          <a:solidFill>
            <a:srgbClr val="C5D0D8"/>
          </a:solidFill>
          <a:ln/>
        </p:spPr>
      </p:sp>
      <p:sp>
        <p:nvSpPr>
          <p:cNvPr id="13" name="Text 8"/>
          <p:cNvSpPr/>
          <p:nvPr/>
        </p:nvSpPr>
        <p:spPr>
          <a:xfrm>
            <a:off x="1308067" y="3096319"/>
            <a:ext cx="4977482" cy="327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Kis kimeneti ellenállás (</a:t>
            </a:r>
            <a:pPr algn="l" indent="0" marL="0">
              <a:lnSpc>
                <a:spcPct val="104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)</a:t>
            </a:r>
            <a:endParaRPr lang="en-US" sz="1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390" y="3106638"/>
            <a:ext cx="323643" cy="3019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08067" y="3566835"/>
            <a:ext cx="497748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Néhány tíz </a:t>
            </a:r>
            <a:pPr algn="l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– néhány száz </a:t>
            </a:r>
            <a:pPr algn="l" indent="0" marL="0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7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619" y="3608586"/>
            <a:ext cx="152297" cy="253107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006" y="3608586"/>
            <a:ext cx="152297" cy="25310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066773" y="4080371"/>
            <a:ext cx="38099" cy="871835"/>
          </a:xfrm>
          <a:prstGeom prst="rect">
            <a:avLst/>
          </a:prstGeom>
          <a:solidFill>
            <a:srgbClr val="C5D0D8"/>
          </a:solidFill>
          <a:ln/>
        </p:spPr>
      </p:sp>
      <p:sp>
        <p:nvSpPr>
          <p:cNvPr id="19" name="Text 11"/>
          <p:cNvSpPr/>
          <p:nvPr/>
        </p:nvSpPr>
        <p:spPr>
          <a:xfrm>
            <a:off x="1308067" y="4146252"/>
            <a:ext cx="497748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Frekvenciaátvitel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1308067" y="4591070"/>
            <a:ext cx="497748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Jó frekvenciaátvitel, széles sávszélesség.</a:t>
            </a:r>
            <a:endParaRPr lang="en-US" sz="1700" dirty="0"/>
          </a:p>
        </p:txBody>
      </p:sp>
      <p:sp>
        <p:nvSpPr>
          <p:cNvPr id="21" name="Shape 13"/>
          <p:cNvSpPr/>
          <p:nvPr/>
        </p:nvSpPr>
        <p:spPr>
          <a:xfrm>
            <a:off x="6945833" y="758924"/>
            <a:ext cx="4534580" cy="4981476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9028" y="962124"/>
            <a:ext cx="4128190" cy="40436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49028" y="5097701"/>
            <a:ext cx="412819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Jelfolyam: a nagy belső ellenállású forrástól a kis impedanciájú terhelésig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6E7E"/>
          </a:solidFill>
          <a:ln/>
        </p:spPr>
      </p:sp>
      <p:sp>
        <p:nvSpPr>
          <p:cNvPr id="25" name="Text 16"/>
          <p:cNvSpPr/>
          <p:nvPr/>
        </p:nvSpPr>
        <p:spPr>
          <a:xfrm>
            <a:off x="406390" y="6246931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Ideális puffer tulajdonság: nagy bemeneti ellenállás és kis kimeneti ellenállás mellett változatlan jelszint.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D3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28600"/>
            <a:ext cx="3175417" cy="336649"/>
          </a:xfrm>
          <a:custGeom>
            <a:avLst/>
            <a:gdLst/>
            <a:ahLst/>
            <a:cxnLst/>
            <a:rect l="l" t="t" r="r" b="b"/>
            <a:pathLst>
              <a:path w="3175417" h="336649">
                <a:moveTo>
                  <a:pt x="152396" y="0"/>
                </a:moveTo>
                <a:lnTo>
                  <a:pt x="3023020" y="0"/>
                </a:lnTo>
                <a:arcTo hR="152400" wR="152396" stAng="16200000" swAng="5400000"/>
                <a:lnTo>
                  <a:pt x="3175417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2E6E7E"/>
          </a:solidFill>
          <a:ln/>
        </p:spPr>
      </p:sp>
      <p:sp>
        <p:nvSpPr>
          <p:cNvPr id="3" name="Text 1"/>
          <p:cNvSpPr/>
          <p:nvPr/>
        </p:nvSpPr>
        <p:spPr>
          <a:xfrm>
            <a:off x="840659" y="308150"/>
            <a:ext cx="3526047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GYAKORLATI ALKALMAZÁSOK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1182" y="758924"/>
            <a:ext cx="10769331" cy="4981476"/>
          </a:xfrm>
          <a:prstGeom prst="roundRect">
            <a:avLst>
              <a:gd name="adj" fmla="val 55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6773" y="1030704"/>
            <a:ext cx="1005814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Négy helyen találkozol vele a gyakorlatban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66773" y="1597620"/>
            <a:ext cx="2285943" cy="36672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25399">
            <a:solidFill>
              <a:srgbClr val="C5D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4569" y="1775420"/>
            <a:ext cx="1413137" cy="336649"/>
          </a:xfrm>
          <a:prstGeom prst="roundRect">
            <a:avLst>
              <a:gd name="adj" fmla="val 49999"/>
            </a:avLst>
          </a:prstGeom>
          <a:solidFill>
            <a:srgbClr val="D9822B"/>
          </a:solidFill>
          <a:ln/>
        </p:spPr>
      </p:sp>
      <p:sp>
        <p:nvSpPr>
          <p:cNvPr id="8" name="Text 6"/>
          <p:cNvSpPr/>
          <p:nvPr/>
        </p:nvSpPr>
        <p:spPr>
          <a:xfrm>
            <a:off x="1374046" y="1854970"/>
            <a:ext cx="176376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1. Leválasztás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44569" y="2203351"/>
            <a:ext cx="193035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Pufferfokozatok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44569" y="2647851"/>
            <a:ext cx="1930352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Jel leválasztása a forrás és a terhelés között; megakadályozza a jelszint visszaesését.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509" y="1597620"/>
            <a:ext cx="2285943" cy="36672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25399">
            <a:solidFill>
              <a:srgbClr val="C5D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35304" y="1775420"/>
            <a:ext cx="1299832" cy="336649"/>
          </a:xfrm>
          <a:prstGeom prst="roundRect">
            <a:avLst>
              <a:gd name="adj" fmla="val 49999"/>
            </a:avLst>
          </a:prstGeom>
          <a:solidFill>
            <a:srgbClr val="D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3964781" y="1854970"/>
            <a:ext cx="165046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2. Meghajtás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5304" y="2188270"/>
            <a:ext cx="1930352" cy="1143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835304" y="3540026"/>
            <a:ext cx="193035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Fejhallgatók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3835304" y="3984526"/>
            <a:ext cx="193035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Kis impedanciájú (</a:t>
            </a:r>
            <a:pPr algn="l" indent="0" marL="0">
              <a:lnSpc>
                <a:spcPct val="121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fülesek nagy áramú meghajtása.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39" y="4020245"/>
            <a:ext cx="351325" cy="22969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48244" y="1597620"/>
            <a:ext cx="2285943" cy="36672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25399">
            <a:solidFill>
              <a:srgbClr val="C5D0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26039" y="1775420"/>
            <a:ext cx="955552" cy="336649"/>
          </a:xfrm>
          <a:prstGeom prst="roundRect">
            <a:avLst>
              <a:gd name="adj" fmla="val 49999"/>
            </a:avLst>
          </a:prstGeom>
          <a:solidFill>
            <a:srgbClr val="D9822B"/>
          </a:solidFill>
          <a:ln/>
        </p:spPr>
      </p:sp>
      <p:sp>
        <p:nvSpPr>
          <p:cNvPr id="20" name="Text 16"/>
          <p:cNvSpPr/>
          <p:nvPr/>
        </p:nvSpPr>
        <p:spPr>
          <a:xfrm>
            <a:off x="6555516" y="1854970"/>
            <a:ext cx="130618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3. Mérés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39" y="2188270"/>
            <a:ext cx="1930352" cy="1143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26039" y="3540026"/>
            <a:ext cx="193035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Mérőeszközök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6426039" y="3984526"/>
            <a:ext cx="193035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Oszcilloszkóp mérőfejek: a mérendő kört nem terheli le az áramkör.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838979" y="1597620"/>
            <a:ext cx="2285943" cy="36672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25399">
            <a:solidFill>
              <a:srgbClr val="C5D0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16774" y="1775420"/>
            <a:ext cx="1162715" cy="336649"/>
          </a:xfrm>
          <a:prstGeom prst="roundRect">
            <a:avLst>
              <a:gd name="adj" fmla="val 49999"/>
            </a:avLst>
          </a:prstGeom>
          <a:solidFill>
            <a:srgbClr val="D9822B"/>
          </a:solidFill>
          <a:ln/>
        </p:spPr>
      </p:sp>
      <p:sp>
        <p:nvSpPr>
          <p:cNvPr id="26" name="Text 21"/>
          <p:cNvSpPr/>
          <p:nvPr/>
        </p:nvSpPr>
        <p:spPr>
          <a:xfrm>
            <a:off x="9146252" y="1854970"/>
            <a:ext cx="1513346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4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4. Illesztés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9016774" y="2203351"/>
            <a:ext cx="193035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Impedanciaillesztés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9016774" y="2949476"/>
            <a:ext cx="193035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Közvetít a nagy impedanciájú forrás és a kis impedanciájú fogyasztó között.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6E7E"/>
          </a:solidFill>
          <a:ln/>
        </p:spPr>
      </p:sp>
      <p:sp>
        <p:nvSpPr>
          <p:cNvPr id="30" name="Text 25"/>
          <p:cNvSpPr/>
          <p:nvPr/>
        </p:nvSpPr>
        <p:spPr>
          <a:xfrm>
            <a:off x="711182" y="6090464"/>
            <a:ext cx="1076933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 mindennapi hangtechnikában és precíziós műszerekben szinte minden bemenetnél és kimenetnél jelen van.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04792" y="246380"/>
            <a:ext cx="1158211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földelt kollektoros kapcsolás a puffer, nem a feszültségerősítő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04792" y="813832"/>
            <a:ext cx="1188690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három alapkapcsolás összehasonlítása áram- és feszültségerősítés, fázisfordítás, ellenállások és jellemző feladat szerint.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1224161"/>
          <a:ext cx="11582110" cy="914400"/>
        </p:xfrm>
        <a:graphic>
          <a:graphicData uri="http://schemas.openxmlformats.org/drawingml/2006/table">
            <a:tbl>
              <a:tblPr/>
              <a:tblGrid>
                <a:gridCol w="2895528"/>
                <a:gridCol w="2895528"/>
                <a:gridCol w="2895528"/>
                <a:gridCol w="2895528"/>
              </a:tblGrid>
              <a:tr h="605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Tulajdonság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Földelt emitteres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Földelt bázisú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Földelt kollektoros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</a:tr>
              <a:tr h="605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Áramerősítés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Nagy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&lt; 1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Nagy (≈ β + 1)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</a:tr>
              <a:tr h="605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Feszültségerősítés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Nagy lehet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Nagy lehet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Közel 1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</a:tr>
              <a:tr h="605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Fázisfordítás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180°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0°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0°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</a:tr>
              <a:tr h="605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Bemeneti ellenállás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Közepes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Kicsi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Nagy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</a:tr>
              <a:tr h="605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Kimeneti ellenállás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Közepes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Nagy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Kicsi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</a:tr>
              <a:tr h="90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Jellemző feladat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Erősítés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Nagyfrekvenciás erősítés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Impedanciaillesztés, puffer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8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D3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28600"/>
            <a:ext cx="2371070" cy="336649"/>
          </a:xfrm>
          <a:custGeom>
            <a:avLst/>
            <a:gdLst/>
            <a:ahLst/>
            <a:cxnLst/>
            <a:rect l="l" t="t" r="r" b="b"/>
            <a:pathLst>
              <a:path w="2371070" h="336649">
                <a:moveTo>
                  <a:pt x="152396" y="0"/>
                </a:moveTo>
                <a:lnTo>
                  <a:pt x="2218674" y="0"/>
                </a:lnTo>
                <a:arcTo hR="152400" wR="152396" stAng="16200000" swAng="5400000"/>
                <a:lnTo>
                  <a:pt x="2371070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2E6E7E"/>
          </a:solidFill>
          <a:ln/>
        </p:spPr>
      </p:sp>
      <p:sp>
        <p:nvSpPr>
          <p:cNvPr id="3" name="Text 1"/>
          <p:cNvSpPr/>
          <p:nvPr/>
        </p:nvSpPr>
        <p:spPr>
          <a:xfrm>
            <a:off x="840659" y="308150"/>
            <a:ext cx="272170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ELLENŐRZÉS ÉS VITA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1182" y="758924"/>
            <a:ext cx="10769331" cy="4981476"/>
          </a:xfrm>
          <a:prstGeom prst="roundRect">
            <a:avLst>
              <a:gd name="adj" fmla="val 55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f3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2173" y="1056104"/>
            <a:ext cx="1000735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Gondolkodtató kérdések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2173" y="1742182"/>
            <a:ext cx="431789" cy="4318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7" name="Text 5"/>
          <p:cNvSpPr/>
          <p:nvPr/>
        </p:nvSpPr>
        <p:spPr>
          <a:xfrm>
            <a:off x="1243279" y="1850132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F3A4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01757" y="1757263"/>
            <a:ext cx="939776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Miért nevezzük földelt kollektorosnak a kapcsolást?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92173" y="2478782"/>
            <a:ext cx="431789" cy="4318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/>
          <p:nvPr/>
        </p:nvSpPr>
        <p:spPr>
          <a:xfrm>
            <a:off x="1243279" y="2586732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F3A4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01757" y="2493863"/>
            <a:ext cx="939776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Miért közel 1 a feszültségerősítése?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92173" y="3215382"/>
            <a:ext cx="431789" cy="4318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3279" y="3323332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F3A4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01757" y="3230463"/>
            <a:ext cx="939776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Hogyan lehet nagy a teljesítményerősítés, ha a feszültségerősítés közel 1?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092173" y="3951982"/>
            <a:ext cx="431789" cy="4318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43279" y="4059932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F3A4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01757" y="3967063"/>
            <a:ext cx="939776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Miért alkalmas impedanciaillesztésre?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092173" y="4688582"/>
            <a:ext cx="431789" cy="4318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3279" y="4796532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F3A4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01757" y="4703663"/>
            <a:ext cx="939776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Milyen előnyei és hátrányai vannak?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6E7E"/>
          </a:solidFill>
          <a:ln/>
        </p:spPr>
      </p:sp>
      <p:sp>
        <p:nvSpPr>
          <p:cNvPr id="22" name="Text 20"/>
          <p:cNvSpPr/>
          <p:nvPr/>
        </p:nvSpPr>
        <p:spPr>
          <a:xfrm>
            <a:off x="406390" y="6246931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Órai összefoglalás: válaszoljátok meg a kérdéseket párban, majd vitassuk meg közösen a táblánál!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2026-10-10T14:39:02Z</dcterms:created>
  <dcterms:modified xsi:type="dcterms:W3CDTF">2026-10-10T14:39:02Z</dcterms:modified>
</cp:coreProperties>
</file>