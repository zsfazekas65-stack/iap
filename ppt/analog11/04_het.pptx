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dn.gamma.app/zhbarj5mkuql04w/78b3b3fa028a4fe4ad03aae898cf6c91/file/IAP_11_evfolyam_Analog_aramkorok_04_het_Kozos_emitteres_erosito_IAP.pdf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Közös Emitteres Tranzisztoros Erősítő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 évfolyam • Analóg áramkörök • ANA-004 • 4. hét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65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5604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hét témája és céljai</a:t>
            </a:r>
            <a:endParaRPr lang="en-US" sz="2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148060"/>
            <a:ext cx="6296860" cy="12113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24876" y="1254323"/>
            <a:ext cx="170057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22205" y="1715095"/>
            <a:ext cx="59753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első analóg erősítőkapcsolás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22205" y="2000250"/>
            <a:ext cx="597539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közös emitteres kapcsolás felépítése és működési elve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465685"/>
            <a:ext cx="6296860" cy="12113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24876" y="2571948"/>
            <a:ext cx="170057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22205" y="3032720"/>
            <a:ext cx="59753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Munkapont megértése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22205" y="3317875"/>
            <a:ext cx="597539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jel nélküli állapot és a beállítás célja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783310"/>
            <a:ext cx="6296860" cy="12113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24876" y="3889573"/>
            <a:ext cx="170057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822205" y="4350345"/>
            <a:ext cx="59753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Oszcilloszkópos mérés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822205" y="4635500"/>
            <a:ext cx="597539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Feszültségerősítés meghatározása műszerrel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100935"/>
            <a:ext cx="6296860" cy="12113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724876" y="5207198"/>
            <a:ext cx="170057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822205" y="5667970"/>
            <a:ext cx="59753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Jelek összehasonlítása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822205" y="5953125"/>
            <a:ext cx="597539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Bemeneti és kimeneti szinuszjel vizsgálata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276" y="1090216"/>
            <a:ext cx="3276518" cy="3022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623417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Történelmi háttér – Az elektroncső kora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993727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1950-es évek előtt az erősítést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elektroncsövekkel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oldották meg – ezek voltak az elektronika munkáslovai évtizedeken át.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538067"/>
            <a:ext cx="3496877" cy="14423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475247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Nagy méret és energia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77479" y="5161161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Magas energiafogyasztás, jelentős hőtermelés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7359" y="4538067"/>
            <a:ext cx="3496877" cy="14423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63363" y="475247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Megbízhatatlanság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4663363" y="5161161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Fűtőszálak égtek ki, élettartam korlátozott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3244" y="4538067"/>
            <a:ext cx="3496877" cy="144234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49247" y="475247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kutatói cél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8349247" y="5161161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Szilárdtest-eszköz, amely erősít – elektroncső nélkül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6874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1947 – A tranzisztor megszületése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4100410" y="2260798"/>
            <a:ext cx="25399" cy="3706713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4" name="Shape 2"/>
          <p:cNvSpPr/>
          <p:nvPr/>
        </p:nvSpPr>
        <p:spPr>
          <a:xfrm>
            <a:off x="3358868" y="2460724"/>
            <a:ext cx="567021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5" name="Shape 3"/>
          <p:cNvSpPr/>
          <p:nvPr/>
        </p:nvSpPr>
        <p:spPr>
          <a:xfrm>
            <a:off x="3900489" y="226079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71379" y="229622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1475" y="2325688"/>
            <a:ext cx="2506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1947. december – Bell Laboratories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3105249"/>
            <a:ext cx="25066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Bardeen és Brattain működésre bírják az első pontérintkezős tranzisztort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00331" y="3594795"/>
            <a:ext cx="567021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0" name="Shape 8"/>
          <p:cNvSpPr/>
          <p:nvPr/>
        </p:nvSpPr>
        <p:spPr>
          <a:xfrm>
            <a:off x="3900489" y="339486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1379" y="343029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58145" y="3459758"/>
            <a:ext cx="2506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kutatócsoport vezére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5058145" y="4239320"/>
            <a:ext cx="250660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William Shockley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kidolgozza a rétegtranzisztor elméletét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358868" y="4590455"/>
            <a:ext cx="567021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5" name="Shape 13"/>
          <p:cNvSpPr/>
          <p:nvPr/>
        </p:nvSpPr>
        <p:spPr>
          <a:xfrm>
            <a:off x="3900489" y="439052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1379" y="442595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1475" y="4455418"/>
            <a:ext cx="25066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1956 – Nobel-díj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4939705"/>
            <a:ext cx="25066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Mindhárman fizikai Nobel-díjat kapnak a félvezetőkutatásért</a:t>
            </a:r>
            <a:endParaRPr lang="en-US" sz="14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1870174"/>
            <a:ext cx="3504219" cy="31175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8999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Miért volt forradalmi a tranzisztor?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354759"/>
            <a:ext cx="6296860" cy="2795786"/>
          </a:xfrm>
          <a:prstGeom prst="roundRect">
            <a:avLst>
              <a:gd name="adj" fmla="val 284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2361109"/>
            <a:ext cx="3142080" cy="1693962"/>
          </a:xfrm>
          <a:custGeom>
            <a:avLst/>
            <a:gdLst/>
            <a:ahLst/>
            <a:cxnLst/>
            <a:rect l="l" t="t" r="r" b="b"/>
            <a:pathLst>
              <a:path w="3142080" h="1693962">
                <a:moveTo>
                  <a:pt x="66156" y="0"/>
                </a:moveTo>
                <a:lnTo>
                  <a:pt x="3142080" y="0"/>
                </a:lnTo>
                <a:lnTo>
                  <a:pt x="3142080" y="1693962"/>
                </a:lnTo>
                <a:lnTo>
                  <a:pt x="0" y="1693962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5428717" y="2550120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Kisebb, hatékonyabb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2958802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Nem melegszik, nincs fűtőszál, töredék az energiaigénye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381790" y="2361109"/>
            <a:ext cx="3142080" cy="1693962"/>
          </a:xfrm>
          <a:custGeom>
            <a:avLst/>
            <a:gdLst/>
            <a:ahLst/>
            <a:cxnLst/>
            <a:rect l="l" t="t" r="r" b="b"/>
            <a:pathLst>
              <a:path w="3142080" h="1693962">
                <a:moveTo>
                  <a:pt x="0" y="0"/>
                </a:moveTo>
                <a:lnTo>
                  <a:pt x="3075924" y="0"/>
                </a:lnTo>
                <a:arcTo hR="66158" wR="66156" stAng="16200000" swAng="5400000"/>
                <a:lnTo>
                  <a:pt x="3142080" y="1693962"/>
                </a:lnTo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2361109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1" name="Text 8"/>
          <p:cNvSpPr/>
          <p:nvPr/>
        </p:nvSpPr>
        <p:spPr>
          <a:xfrm>
            <a:off x="8570797" y="2550120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Sokoldalú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70797" y="2958802"/>
            <a:ext cx="27640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Jelek erősítése és elektronikus kapcsolóként egyaránt alkalmazható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9710" y="4055070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hR="66158" wR="66156" stAng="0" swAng="5400000"/>
                <a:lnTo>
                  <a:pt x="66156" y="1089124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9710" y="4055070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5" name="Text 12"/>
          <p:cNvSpPr/>
          <p:nvPr/>
        </p:nvSpPr>
        <p:spPr>
          <a:xfrm>
            <a:off x="5428717" y="424408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Tömeggyártható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428717" y="4652764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Megindult a miniatürizálás és az integrált áramkörök kora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233360" y="536317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elektroncső → tranzisztor → integrált áramkör → mikroprocesszor → modern digitális elektronika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81238"/>
            <a:ext cx="3504219" cy="22954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2101354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közös emitteres kapcsolás felépítése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3471664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Bemenet: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bázison,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kimenet: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kollektoron,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emitter: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közös referencia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NPN tranzisztor (Q1) végzi az erősítést, tápfeszültség: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12 V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R1 (18 kΩ)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és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R2 (8,2 kΩ)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feszültségosztó → munkapont beállítása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R4 (2,2 kΩ)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kollektorellenállás → áramváltozást feszültségváltozássá alakít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57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alkatrészek szerepe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0445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01317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R3 – Emitterellenállás (2,7 kΩ)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21856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Munkapont stabilizálása negatív visszacsatolással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30445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301317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C1, C3 – Csatoló kondenzátorok (10 µF)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421856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Váltakozó jelet átengedik, egyenfeszültséget leválasztják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C2 – Bypass kondenzátor (0,1 µF)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Részben megkerüli R3-at, növeli az erősítést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R5 – Kimeneti terhelés (10 kΩ)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kimenet terheléseként vesz részt az áramkörben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munkapont – Jel nélküli állapot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239790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munkapont célja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442295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tranzisztort egy olyan egyenfeszültségű állapotba kell előfeszíteni, ahol a bemeneti váltakozó jel mindkét irányban torzítás nélkül erősíthető.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3734891"/>
            <a:ext cx="5315512" cy="256977"/>
          </a:xfrm>
          <a:prstGeom prst="roundRect">
            <a:avLst>
              <a:gd name="adj" fmla="val 15929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489" y="3812977"/>
            <a:ext cx="121738" cy="97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658" y="3804345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 a munkapont rosszul van beállítva, a jel levágódhat vagy torzulhat – még mielőtt erősítés történne.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9083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Hogyan erősít a kapcsolás?</a:t>
            </a:r>
            <a:endParaRPr lang="en-US" sz="3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2164953"/>
            <a:ext cx="945035" cy="11340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67402" y="2353965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Pozitív félperiódus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367402" y="2762647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U_B↑ → I_B↑ → I_C↑ → U_R4↑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U_C↓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3299023"/>
            <a:ext cx="945035" cy="11340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67402" y="3488035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Negatív félperiódus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6367402" y="3896717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U_B↓ → I_B↓ → I_C↓ → U_R4↓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U_C↑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4433094"/>
            <a:ext cx="945035" cy="11340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67402" y="4622105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Eredmény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6367402" y="5030788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Felerősített,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180°-kal fázisfordított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kimeneti jel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841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 mutat az oszcilloszkóp?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60401"/>
            <a:ext cx="3537060" cy="35371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5640" y="2775347"/>
            <a:ext cx="692083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Két csatorna – két történet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615640" y="3188295"/>
            <a:ext cx="692083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Nagy bemeneti jelnél (pl. 1,5 V) a kimenet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torzulhat vagy levágódhat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érdemes megfigyelni, mikor lép ki a tranzisztor a lineáris tartományból.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34893"/>
            <a:ext cx="5359365" cy="9821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4993" y="5522218"/>
            <a:ext cx="490852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PR1 – Bemenet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924993" y="5875139"/>
            <a:ext cx="490852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Kisebb amplitúdójú szinuszjel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0756" y="5334893"/>
            <a:ext cx="5359464" cy="9821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34274" y="5522218"/>
            <a:ext cx="490862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PR2 – Kimenet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6434274" y="5875139"/>
            <a:ext cx="490862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Nagyobb amplitúdójú, megfordított szinuszjel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568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BC337 Tranzisztor – Adatlap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68810"/>
            <a:ext cx="3523070" cy="35231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3081" y="1544538"/>
            <a:ext cx="691339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Főbb paraméterek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23081" y="2008287"/>
          <a:ext cx="9143771" cy="914400"/>
        </p:xfrm>
        <a:graphic>
          <a:graphicData uri="http://schemas.openxmlformats.org/drawingml/2006/table">
            <a:tbl>
              <a:tblPr/>
              <a:tblGrid>
                <a:gridCol w="2304463"/>
                <a:gridCol w="2304463"/>
                <a:gridCol w="2304463"/>
              </a:tblGrid>
              <a:tr h="489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Paraméter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Jelölés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Jelentés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492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Maximális feszültség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V_CEO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Üzemi határfeszültség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492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Maximális kollektoráram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I_C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Áramhatár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492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Erősítési tényező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h_FE (β)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Erősítés mértéke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492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Maximális disszipáció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P_tot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Hőteljesítmény-határ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489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Kivitel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TO-92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Tokozás típusa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623081" y="5158978"/>
            <a:ext cx="6913390" cy="936625"/>
          </a:xfrm>
          <a:prstGeom prst="roundRect">
            <a:avLst>
              <a:gd name="adj" fmla="val 7946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281" y="5411093"/>
            <a:ext cx="221451" cy="1772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98932" y="5352653"/>
            <a:ext cx="616033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Tervezői kérdés: Mi történik a munkaponttal és az erősítéssel, ha megváltoztatjuk a kollektor- vagy emitterellenállás értékét?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12" y="497185"/>
            <a:ext cx="4397563" cy="5863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32606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Laborfeladatok és értékelés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233360" y="1318022"/>
            <a:ext cx="6296860" cy="1265238"/>
          </a:xfrm>
          <a:prstGeom prst="roundRect">
            <a:avLst>
              <a:gd name="adj" fmla="val 578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13934" y="1498600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🔧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Labor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13934" y="1867098"/>
            <a:ext cx="593571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Kapcsolás felépítése próbapanelen; U_B, U_E, U_C mérése multiméterrel; erősítés meghatározása oszcilloszkóppal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33360" y="2743895"/>
            <a:ext cx="6296860" cy="1265238"/>
          </a:xfrm>
          <a:prstGeom prst="roundRect">
            <a:avLst>
              <a:gd name="adj" fmla="val 578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13934" y="2924473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📓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Labornapló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13934" y="3292971"/>
            <a:ext cx="593571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Feszültségek, amplitúdók, számított vs. mért erősítés, fázisfordítás dokumentálása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233360" y="4169767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3934" y="4350345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💻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Moodle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13934" y="4718844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feleletválasztós kérdés, 2 kapcsolási rajz elemzése, 3 számítási feladat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233360" y="5327848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13934" y="5508427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🏠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Házi feladat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413934" y="5876925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Rajzold le az alapkapcsolást, nevezd meg és írd le az alkatrészek szerepét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542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Következő hét előnézete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22292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2365" y="325834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5723" y="3287812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Munkapont-beállítás mélyebben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75723" y="3696494"/>
            <a:ext cx="470195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munkapont-beállítás módszereinek és jelentőségének részletes vizsgálata – hogyan befolyásolja a torzítást és a stabilitást?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3915" y="322292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84805" y="325834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28163" y="3287812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Alkalmazások a gyakorlatban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828163" y="3696494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közös emitteres fokozat alkalmazásai: érzékelő-erősítők, ipari elektronika, IC-k belső felépítése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7934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Források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7620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IAP_11_evfolyam_Analog_aramkorok_04_het_Kozos_emitteres_erosito_IAP.pdf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2026-09-18T19:07:21Z</dcterms:created>
  <dcterms:modified xsi:type="dcterms:W3CDTF">2026-09-18T19:07:21Z</dcterms:modified>
</cp:coreProperties>
</file>