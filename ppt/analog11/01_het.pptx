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ANA-001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4066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BEVEZETÉS AZ</a:t>
            </a:r>
            <a:br/>
            <a:r>
              <a:t>ANALÓG ELEKTRONIKÁBA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49807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Miért kell analóg áramkör a digitális világban?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0" y="4297680"/>
            <a:ext cx="274320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229600" y="2834640"/>
            <a:ext cx="228600" cy="146304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2834640"/>
            <a:ext cx="228600" cy="146304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0" y="3527136"/>
            <a:ext cx="228600" cy="770544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15400" y="3527136"/>
            <a:ext cx="228600" cy="770544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44000" y="3582955"/>
            <a:ext cx="228600" cy="714725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72600" y="3582955"/>
            <a:ext cx="228600" cy="714725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01200" y="2950776"/>
            <a:ext cx="228600" cy="1346904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29800" y="2950776"/>
            <a:ext cx="228600" cy="1346904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058400" y="2211821"/>
            <a:ext cx="228600" cy="2085859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87000" y="2211821"/>
            <a:ext cx="228600" cy="2085859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515600" y="2045483"/>
            <a:ext cx="228600" cy="2252197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744200" y="2045483"/>
            <a:ext cx="228600" cy="2252197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Az elektronika történetéből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Elektroncsőtől a korszerű integrált rendszerekig.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ELEKTRONCSŐ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926080"/>
            <a:ext cx="274319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2402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TRANZISZTOR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2926080"/>
            <a:ext cx="27432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2926080"/>
            <a:ext cx="274319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182880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2402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56ACD6"/>
                </a:solidFill>
                <a:latin typeface="Aptos"/>
              </a:defRPr>
            </a:pPr>
            <a:r>
              <a:t>KORSZERŰ</a:t>
            </a:r>
            <a:br/>
            <a:r>
              <a:t>RENDSZER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Ha a számítógépek digitálisak, miért kell még analóg elektronika?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DIGITÁLIS VILÁG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számítógép</a:t>
            </a:r>
            <a:br/>
            <a:r>
              <a:t>PLC</a:t>
            </a:r>
            <a:br/>
            <a:r>
              <a:t>vezérlő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VALÓS VILÁG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hőmérséklet</a:t>
            </a:r>
            <a:br/>
            <a:r>
              <a:t>fény</a:t>
            </a:r>
            <a:br/>
            <a:r>
              <a:t>nyomás</a:t>
            </a:r>
            <a:br/>
            <a:r>
              <a:t>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A valós világ jelei folyamatosan változnak.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IAP - heti küldetés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Mit kell tudni a hét végére?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SZEREP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analóg elektronika</a:t>
            </a:r>
            <a:br/>
            <a:r>
              <a:t>jelentősége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KÜLÖNBSÉG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analóg vs.</a:t>
            </a:r>
            <a:br/>
            <a:r>
              <a:t>digitális 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ipari analóg</a:t>
            </a:r>
            <a:br/>
            <a:r>
              <a:t>jelek felismerése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Fogalmak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Három alapfogalom, amire építünk.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ANALÓG 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folyamatos</a:t>
            </a:r>
            <a:br/>
            <a:r>
              <a:t>értékváltozás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DIGITÁLIS JEL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diszkrét</a:t>
            </a:r>
            <a:br/>
            <a:r>
              <a:t>állapotok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ANALÓG ÁRAMKÖR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analóg jeleket</a:t>
            </a:r>
            <a:br/>
            <a:r>
              <a:t>feldolgozó kapcsolás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Analóg és digitális jel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Folyamatos változás vagy állapotok?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2A74B2"/>
                </a:solidFill>
                <a:latin typeface="Aptos"/>
              </a:defRPr>
            </a:pPr>
            <a:r>
              <a:t>Analóg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108960"/>
            <a:ext cx="420624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14400" y="2194560"/>
            <a:ext cx="548640" cy="54864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463040" y="1920240"/>
            <a:ext cx="548640" cy="27432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11680" y="1920240"/>
            <a:ext cx="548640" cy="64008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60320" y="2560320"/>
            <a:ext cx="548640" cy="64008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2834640"/>
            <a:ext cx="548640" cy="36576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657600" y="2194560"/>
            <a:ext cx="548640" cy="64008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206240" y="2011680"/>
            <a:ext cx="640080" cy="18288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14630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D48B37"/>
                </a:solidFill>
                <a:latin typeface="Aptos"/>
              </a:defRPr>
            </a:pPr>
            <a:r>
              <a:t>Digitális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583680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2011680"/>
            <a:ext cx="5486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2320" y="3291840"/>
            <a:ext cx="5486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680960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2011680"/>
            <a:ext cx="5486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3291840"/>
            <a:ext cx="5486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78240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78240" y="2011680"/>
            <a:ext cx="5486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26880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3291840"/>
            <a:ext cx="548639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875519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75519" y="2011680"/>
            <a:ext cx="5486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424159" y="2011680"/>
            <a:ext cx="0" cy="128016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424159" y="3291840"/>
            <a:ext cx="548640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Az első három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heti tanulási út.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Bevezetés az analóg elektronikába</a:t>
            </a:r>
            <a:br/>
            <a:r>
              <a:t>példák gyűjtése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Analóg és digitális jelek</a:t>
            </a:r>
            <a:br/>
            <a:r>
              <a:t>összehasonlítása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73351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788920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0-10 V, 4-20 mA</a:t>
            </a:r>
            <a:br/>
            <a:r>
              <a:t>ipari analóg jelek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IPARI ANALÓG JELEK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47548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0-10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691640"/>
            <a:ext cx="47548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D48B37"/>
                </a:solidFill>
                <a:latin typeface="Aptos"/>
              </a:defRPr>
            </a:pPr>
            <a:r>
              <a:t>4-20 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B4DCF2"/>
                </a:solidFill>
                <a:latin typeface="Aptos"/>
              </a:defRPr>
            </a:pPr>
            <a:r>
              <a:t>PLC és frekvenciaváltó analóg bemenetei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Mit mutat az oszcilloszkóp?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Egyenfeszültség, váltakozó feszültség és négyszögjel.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918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A74B2"/>
                </a:solidFill>
                <a:latin typeface="Aptos"/>
              </a:defRPr>
            </a:pPr>
            <a:r>
              <a:t>DC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200400"/>
            <a:ext cx="2560320" cy="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40" y="141732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2918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48B37"/>
                </a:solidFill>
                <a:latin typeface="Aptos"/>
              </a:defRPr>
            </a:pPr>
            <a:r>
              <a:t>AC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800600" y="2286000"/>
            <a:ext cx="502920" cy="9144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2286000"/>
            <a:ext cx="502920" cy="9144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06440" y="3200400"/>
            <a:ext cx="502920" cy="9144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309360" y="3200400"/>
            <a:ext cx="502920" cy="9144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812280" y="2286000"/>
            <a:ext cx="502920" cy="9144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60" y="1417320"/>
            <a:ext cx="3291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32918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498B6A"/>
                </a:solidFill>
                <a:latin typeface="Aptos"/>
              </a:defRPr>
            </a:pPr>
            <a:r>
              <a:t>Négyszög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549640" y="2560320"/>
            <a:ext cx="0" cy="109728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2560320"/>
            <a:ext cx="502920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2560320"/>
            <a:ext cx="0" cy="109728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3657600"/>
            <a:ext cx="502920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555480" y="2560320"/>
            <a:ext cx="0" cy="109728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55480" y="2560320"/>
            <a:ext cx="502920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58400" y="2560320"/>
            <a:ext cx="0" cy="109728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400" y="3657600"/>
            <a:ext cx="502919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561319" y="2560320"/>
            <a:ext cx="0" cy="109728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61319" y="2560320"/>
            <a:ext cx="502921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064240" y="2560320"/>
            <a:ext cx="0" cy="109728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064240" y="3657600"/>
            <a:ext cx="502919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szenzor jele analóg, a vezérlő feldolgozza.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28600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SZENZOR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92608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28600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ANALÓG JEL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92608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28600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VEZÉRLŐ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292608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1828800"/>
            <a:ext cx="2468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828800"/>
            <a:ext cx="228600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56ACD6"/>
                </a:solidFill>
                <a:latin typeface="Aptos"/>
              </a:defRPr>
            </a:pPr>
            <a:r>
              <a:t>DÖNTÉS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Labornapló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mérés nem csak szám, hanem következtetés.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MIT MÉRTÉL?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mennyiség és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MIVEL MÉRTED?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multiméter vagy</a:t>
            </a:r>
            <a:br/>
            <a:r>
              <a:t>oszcilloszkóp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MIT JELENT?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következtetés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Analóg és digitális jelek megfigyelése.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8803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JELEK</a:t>
            </a:r>
            <a:br/>
            <a:r>
              <a:t>MEGFIGYELÉSE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7830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63240"/>
            <a:ext cx="28803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FESZÜLTSÉG-</a:t>
            </a:r>
            <a:br/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7830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063240"/>
            <a:ext cx="28803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JELALAK-</a:t>
            </a:r>
            <a:br/>
            <a:r>
              <a:t>ÖSSZEHASONLÍTÁS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Moodle és házi 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Rövid ellenőrzés + saját példák.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10 feleletválasztós</a:t>
            </a:r>
            <a:br/>
            <a:r>
              <a:t>2 párosító</a:t>
            </a:r>
            <a:br/>
            <a:r>
              <a:t>1 rövid kifejtős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HÁZI FELADAT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03120"/>
            <a:ext cx="4389120" cy="2606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10 analóg jel a</a:t>
            </a:r>
            <a:br/>
            <a:r>
              <a:t>mindennapi életből</a:t>
            </a:r>
            <a:br/>
            <a:r>
              <a:t>+ digitális feldolgozás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FÉLVEZETŐK ISMÉTLÉSE</a:t>
            </a:r>
            <a:br/>
            <a:r>
              <a:t>ANALÓG SZEMMEL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dióda • tranzisztor • anyagszerkezet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