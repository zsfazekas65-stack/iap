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CE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cdn.gamma.app/zhbarj5mkuql04w/2526670e36f2498fbaa0585d30a5e60b/file/06_het.pdf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87297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 HÉT – Földelt emitteres tranzisztoros kapcsolás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3720405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IAP tananyag · 5 tanóra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599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Tanulási cél és az 5 tanóra menete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83420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tanuló értse a földelt emitteres kapcsolás működését, a 180°-os fázisfordítást, a β áramerősítési tényezőt, a jelleggörbéket, a munkapont és a munkaegyenes jelentését; tudjon egyszerű számításokat végezni, és ismerje fel a gyakorlati alkalmazásokat.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99868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3260626"/>
            <a:ext cx="3512653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381375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óra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3739059"/>
            <a:ext cx="351265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Felépítés, működési elv, fázisfordítás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39422" y="299868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9422" y="3260626"/>
            <a:ext cx="351275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4339422" y="3381375"/>
            <a:ext cx="351275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óra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39422" y="3739059"/>
            <a:ext cx="351275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Jelleggörbék és működési tartományok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17468" y="299868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17468" y="3260626"/>
            <a:ext cx="3512653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8017468" y="3381375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óra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17468" y="3739059"/>
            <a:ext cx="351265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β, egyszerű számítások, Darlington-kapcsolás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475" y="4292997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4554934"/>
            <a:ext cx="5351626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4675684"/>
            <a:ext cx="535162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óra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1475" y="5033367"/>
            <a:ext cx="53516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Munkapont és munkaegyenes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8395" y="4292997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8395" y="4554934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2" name="Text 20"/>
          <p:cNvSpPr/>
          <p:nvPr/>
        </p:nvSpPr>
        <p:spPr>
          <a:xfrm>
            <a:off x="6178395" y="4675684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 óra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8395" y="5033367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Gyakorlati alkalmazások, számítási gyakorlat, összefoglalás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962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tanóra – Felépítés és működési elv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67048"/>
            <a:ext cx="10868745" cy="47712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05207" y="4865820"/>
            <a:ext cx="1905200" cy="29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Kapcsolás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505207" y="5243991"/>
            <a:ext cx="1905200" cy="471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Megismerése és áttekintése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854423" y="4792541"/>
            <a:ext cx="1905200" cy="29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Fázisfordítás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854423" y="5170712"/>
            <a:ext cx="1905200" cy="471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Elemzés és következmények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195516" y="1967383"/>
            <a:ext cx="1905200" cy="29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Működés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195516" y="2345554"/>
            <a:ext cx="1905200" cy="471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Elv és jelleggörbék értelmezése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6296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földelt emitteres (FE) kapcsolás lényege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13781"/>
            <a:ext cx="5232666" cy="25498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3904" y="229304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Alapelvek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303904" y="2716808"/>
            <a:ext cx="5232666" cy="1761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emitter a bemeneti és a kimeneti áramkör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közös pontja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(földön van)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Bemenet: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bázis–emitter (B-E)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Kimenet: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kollektor–emitter (C-E)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Kis bázisáram-változás → nagyobb kollektoráram-változás → feszültség-, áram- és teljesítményerősítés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303904" y="4664075"/>
            <a:ext cx="5232666" cy="644823"/>
          </a:xfrm>
          <a:prstGeom prst="roundRect">
            <a:avLst>
              <a:gd name="adj" fmla="val 10773"/>
            </a:avLst>
          </a:prstGeom>
          <a:solidFill>
            <a:srgbClr val="E1E1E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198" y="4910138"/>
            <a:ext cx="206667" cy="1652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41160" y="4854178"/>
            <a:ext cx="513970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Alapképlet: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IC ≈ β · IB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9194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180°-os fázisfordítás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42753"/>
            <a:ext cx="5232666" cy="18957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3904" y="232201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összefüggés lépései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303904" y="2745780"/>
            <a:ext cx="5232666" cy="1438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UBE ↑ → IB ↑ → IC ↑ → URC ↑ → UC ↓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kollektoráram növekedése nagyobb feszültségesést okoz RC-n → a kollektor feszültsége csökken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Eredmény: a kimeneti jel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180°-kal fázisfordított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bemenethez képest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303904" y="4370586"/>
            <a:ext cx="5232666" cy="909439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198" y="4616648"/>
            <a:ext cx="206667" cy="1652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41160" y="4560689"/>
            <a:ext cx="453011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Órai feladat: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Magyarázd el egy mondatban: miért csökken a kollektor feszültsége, amikor nő a bázisáram?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0710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FE kapcsolás előnyei és hátrányai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2871887"/>
            <a:ext cx="5470785" cy="1878905"/>
          </a:xfrm>
          <a:prstGeom prst="roundRect">
            <a:avLst>
              <a:gd name="adj" fmla="val 6338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3037185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✔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Előnyök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3460948"/>
            <a:ext cx="514019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Jó feszültségerősítés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Jó áramerősítés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Jelentős teljesítményerősítés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Egyszerű, sokféle erősítőben alkalmazható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303718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✘ Hátrányok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3904" y="3460948"/>
            <a:ext cx="523266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kimeneti jel fázist fordít (180°)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munkapont hőmérsékletfüggő lehet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Túl nagy bemeneti jel esetén torzítás lép fel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Stabil munkaponthoz további alkatrészek szükségesek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1085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tanóra – Jelleggörbék és működési tartományok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4060" y="1958280"/>
            <a:ext cx="6383575" cy="3788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7124" y="4868221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Telítés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347307" y="4868221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Aktív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314884" y="4868221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Lezárás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2634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Három működési tartomány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873772"/>
            <a:ext cx="3512653" cy="1957884"/>
          </a:xfrm>
          <a:prstGeom prst="roundRect">
            <a:avLst>
              <a:gd name="adj" fmla="val 354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3119" y="3045420"/>
            <a:ext cx="31693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Lezárás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3119" y="3403104"/>
            <a:ext cx="3169364" cy="1256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IB ≈ 0, IC ≈ 0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Kapcsolóüzem: 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KI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tranzisztor nem vezet, a kollektor feszültsége megközelíti az UCC-t.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39422" y="2873772"/>
            <a:ext cx="3512752" cy="1957884"/>
          </a:xfrm>
          <a:prstGeom prst="roundRect">
            <a:avLst>
              <a:gd name="adj" fmla="val 354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11066" y="3045420"/>
            <a:ext cx="31694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Aktív tartomány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11066" y="3403104"/>
            <a:ext cx="3169464" cy="1256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IC-t főként IB vezérli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Erősítőüzem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Erősítőként az aktív tartományban dolgoztatjuk a tranzisztort.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17468" y="2873772"/>
            <a:ext cx="3512653" cy="1957884"/>
          </a:xfrm>
          <a:prstGeom prst="roundRect">
            <a:avLst>
              <a:gd name="adj" fmla="val 354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89112" y="3045420"/>
            <a:ext cx="31693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Telítés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89112" y="3403104"/>
            <a:ext cx="3169364" cy="1256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UCE kicsi (kb. 0,1–0,3 V)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Kapcsolóüzem: 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Lezárás és telítés között kapcsolóként használható.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602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Bemeneti és kimeneti jelleggörbék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46833"/>
            <a:ext cx="5001690" cy="43291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3904" y="162609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Kimeneti jelleggörbe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303904" y="2049859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IC az UCE függvényében – minden görbe más IB-hez tartozik; nagyobb IB → nagyobb IC.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303904" y="274439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Bemeneti jelleggörbe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03904" y="3168154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bázis-emitter átmenet diódaszerű; szilíciumtranzisztornál kb. 0,6–0,7 V-tól nő erőteljesen az IB.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03904" y="3883422"/>
            <a:ext cx="5232666" cy="909439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198" y="4129484"/>
            <a:ext cx="206667" cy="16529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41160" y="4073525"/>
            <a:ext cx="453011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Gondolkodtató: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Mi történik a kollektorárammal, ha IB = 0? Miért nem jó erősítésre a telítési tartomány?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9018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tanóra – β, számítások és Darlington-kapcsolás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3237607"/>
            <a:ext cx="3512653" cy="1230213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3119" y="3409255"/>
            <a:ext cx="31693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β meghatározása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3119" y="3766939"/>
            <a:ext cx="31693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áramerősítési tényező: β = IC / IB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39422" y="3237607"/>
            <a:ext cx="3512752" cy="1230213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11066" y="3409255"/>
            <a:ext cx="31694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Számítási példák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11066" y="3766939"/>
            <a:ext cx="31694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Három mintafeladat β, IC és IB kiszámítására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17468" y="3237607"/>
            <a:ext cx="3512653" cy="1230213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89112" y="3409255"/>
            <a:ext cx="31693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Darlington-kapcsolás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89112" y="3766939"/>
            <a:ext cx="31693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Két tranzisztor összekapcsolása: βD ≈ β₁ · β₂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0254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áramerősítési tényező: β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949972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β megmutatja, hogy IC hányszorosa IB-nek: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β = IC / IB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 β nem állandó: tranzisztoronként, árammal és hőmérséklettel változhat (adatlapon: hFE).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400623"/>
            <a:ext cx="3512653" cy="1354832"/>
          </a:xfrm>
          <a:prstGeom prst="roundRect">
            <a:avLst>
              <a:gd name="adj" fmla="val 512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19" y="3584972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példa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5819" y="3942655"/>
            <a:ext cx="3143965" cy="628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β = 100, IB = 20 μA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IC = 100 · 20 μA =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 mA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422" y="3400623"/>
            <a:ext cx="3512752" cy="1354832"/>
          </a:xfrm>
          <a:prstGeom prst="roundRect">
            <a:avLst>
              <a:gd name="adj" fmla="val 512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3766" y="3584972"/>
            <a:ext cx="3144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példa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3766" y="3942655"/>
            <a:ext cx="3144064" cy="628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IC = 5 mA, β = 100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IB = 5 mA / 100 =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50 μA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3400623"/>
            <a:ext cx="3512653" cy="1354832"/>
          </a:xfrm>
          <a:prstGeom prst="roundRect">
            <a:avLst>
              <a:gd name="adj" fmla="val 512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01812" y="3584972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példa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01812" y="3942655"/>
            <a:ext cx="3143965" cy="628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IB = 40 μA, IC = 4 mA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β = 4000 / 40 =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100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027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Darlington-kapcsolás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51088"/>
            <a:ext cx="5232666" cy="29206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3904" y="233035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Főbb jellemzők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303904" y="2754114"/>
            <a:ext cx="5232666" cy="1174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Két bipoláris tranzisztor összekapcsolása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nagyon nagy áramerősítés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elérésére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βD ≈ β₁ · β₂ → ha β₁ = β₂ = 100, akkor βD ≈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10 000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Két bázis-emitter átmenet miatt szükséges UBE ≈ 1,2–1,4 V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303904" y="409356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Alkalmazások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03904" y="4517330"/>
            <a:ext cx="5232666" cy="58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Relé-, lámpa-, kisebb motor- és mágnesszelep-vezérlés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Pl. ULN2003 IC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190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tanóra – Munkapont és munkaegyenes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0065" y="2129334"/>
            <a:ext cx="8511466" cy="34466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73364" y="3421523"/>
            <a:ext cx="1908926" cy="305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Munkapont (Q)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2473364" y="3814152"/>
            <a:ext cx="1908926" cy="48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Tranzisztor nyugalmi állapota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150547" y="3416089"/>
            <a:ext cx="1908926" cy="3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Munkaegyenes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150547" y="3808718"/>
            <a:ext cx="1908926" cy="48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összes lehetséges UCE–IC párok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831466" y="3410655"/>
            <a:ext cx="1908926" cy="3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Kapcsolat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831466" y="3803284"/>
            <a:ext cx="1908926" cy="48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 a munkaegyenes egy pontja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6729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munkapont (Q)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2632075"/>
            <a:ext cx="5470785" cy="2358628"/>
          </a:xfrm>
          <a:prstGeom prst="roundRect">
            <a:avLst>
              <a:gd name="adj" fmla="val 5049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279737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Definíció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3221137"/>
            <a:ext cx="5140196" cy="1620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tranzisztor 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nyugalmi működési állapota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amikor még nincs rajta erősítendő váltakozó jel.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Megadása: 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 = (UCE ; IC)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fél tápfeszültségre beállított UCE mindkét irányban kitérési lehetőséget biztosít.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279737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Mintapélda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3904" y="3221137"/>
            <a:ext cx="523266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UCC = 12 V, RC = 2 kΩ, IC = 3 mA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URC = 3 mA · 2 kΩ = 6 V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UCE = 12 V − 6 V =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 V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Munkapont: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 = (6 V ; 3 mA)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113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munkaegyenes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528564"/>
            <a:ext cx="10868745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Megmutatja, hogy adott UCC és RC mellett milyen UCE–IC értékpárok lehetségesek.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Képlet: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UCE = UCC − IC · RC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615902"/>
            <a:ext cx="5232666" cy="1057077"/>
          </a:xfrm>
          <a:prstGeom prst="roundRect">
            <a:avLst>
              <a:gd name="adj" fmla="val 657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19" y="2800251"/>
            <a:ext cx="486397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Lezárás végpont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5819" y="3224014"/>
            <a:ext cx="486397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IC = 0 → UCE =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12 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3838277"/>
            <a:ext cx="5232666" cy="1057077"/>
          </a:xfrm>
          <a:prstGeom prst="roundRect">
            <a:avLst>
              <a:gd name="adj" fmla="val 657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5819" y="4022626"/>
            <a:ext cx="486397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Telítési végpont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5819" y="4446389"/>
            <a:ext cx="486397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UCE ≈ 0 → IC ≈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 mA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5081389"/>
            <a:ext cx="5232666" cy="909439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5327452"/>
            <a:ext cx="206667" cy="16529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98731" y="5271492"/>
            <a:ext cx="453011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Kulcsmondat: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munkapont megmutatja, hol dolgozik a tranzisztor. A munkaegyenes megmutatja, hol dolgozhat.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3904" y="2615902"/>
          <a:ext cx="5232666" cy="914400"/>
        </p:xfrm>
        <a:graphic>
          <a:graphicData uri="http://schemas.openxmlformats.org/drawingml/2006/table">
            <a:tbl>
              <a:tblPr/>
              <a:tblGrid>
                <a:gridCol w="2616333"/>
                <a:gridCol w="2616333"/>
              </a:tblGrid>
              <a:tr h="4789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UCE [V]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IC [mA]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6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6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89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12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Munkaegyenes – grafikus ábrázolás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795933"/>
            <a:ext cx="10868745" cy="60865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928941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munkaegyenes lineáris összefüggést mutat UCE és IC között. A munkapont Q = (6 V ; 3 mA) a vonal felezőpontján helyezkedik el, biztosítva a szimmetrikus jelkitérést mindkét irányban.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0970"/>
            <a:ext cx="10868745" cy="411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 tanóra – Alkalmazások és összefoglalás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82873"/>
            <a:ext cx="10868745" cy="5314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8809" y="1502742"/>
            <a:ext cx="2345290" cy="301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Kisjelű előerősítők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918809" y="1890559"/>
            <a:ext cx="2345290" cy="433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Gyenge jelek tisztítása és erősítése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918494" y="1502742"/>
            <a:ext cx="2345290" cy="603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Kommunikációs áramkörök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918494" y="2192492"/>
            <a:ext cx="2345290" cy="433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Jelátviteli és modulációs egységek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8809" y="4298307"/>
            <a:ext cx="2345290" cy="301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Érzékelő-erősítők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8809" y="4686123"/>
            <a:ext cx="2345290" cy="433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Szenzorok jelének kondicionálása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07591" y="4298307"/>
            <a:ext cx="2345290" cy="301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Kapcsolóáramkörök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907591" y="4686123"/>
            <a:ext cx="2345290" cy="433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Jelvezérlés és kapcsolási logika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9721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Hol találkozunk FE kapcsolással?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144639"/>
            <a:ext cx="413434" cy="413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1577" y="3144639"/>
            <a:ext cx="28649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Előerősítő fokozatok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81577" y="3502323"/>
            <a:ext cx="286496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Mikrofonos eszközök kisjelű előerősítő fokozataiban; régebbi rádiókban, magnókban, kaputelefonokban.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3213" y="3144639"/>
            <a:ext cx="413434" cy="4134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73315" y="3144639"/>
            <a:ext cx="286506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Kommunikációs áramkörök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973315" y="3502323"/>
            <a:ext cx="286506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Rádió- és kommunikációs áramkörökben, érzékelők kis jelének erősítésénél.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5050" y="3144639"/>
            <a:ext cx="413434" cy="4134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65152" y="3144639"/>
            <a:ext cx="286506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Kapcsolóáramkörök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665152" y="3502323"/>
            <a:ext cx="2865068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LED, relé, kisebb terhelés vezérlésénél. MIKROFON → FE ERŐSÍTŐ → NAGYOBB JEL → KÖVETKEZŐ FOKOZAT.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0310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Komplex mintafeladat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65053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Adott: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UCC = 12 V, RC = 2 kΩ, IB = 30 μA, β = 100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101181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3485" y="313218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98830" y="3158034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Kollektoráram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98830" y="3515717"/>
            <a:ext cx="479363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IC = β · IB = 100 · 30 μA =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 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9132" y="3101181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1142" y="313218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736487" y="3158034"/>
            <a:ext cx="47937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Feszültségesés RC-n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36487" y="3515717"/>
            <a:ext cx="479373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URC = IC · RC = 3 mA · 2 kΩ =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 V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4111030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3485" y="414203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98830" y="4167882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Kollektor-emitter feszültség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98830" y="4525566"/>
            <a:ext cx="479363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UCE = 12 V − 6 V =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 V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9132" y="4111030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1142" y="414203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736487" y="4167882"/>
            <a:ext cx="47937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Munkapont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36487" y="4525566"/>
            <a:ext cx="479373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 = (6 V ; 3 mA)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a tápfeszültség felénél, optimális kitérési lehetőséggel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6296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Összefoglalás és gyakorló feladatok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9304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Kulcsfogalmak összefoglalása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716808"/>
            <a:ext cx="5232666" cy="1819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FE: az emitter a közös pont; bemenet B-E, kimenet C-E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kimeneti jel 180°-kal fázisfordított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Erősítőüzem: aktív tartomány; β = IC / IB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munkapont a nyugalmi állapot; a munkaegyenes a lehetséges UCE–IC párokat mutatja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Darlington-pár: βD ≈ β₁ · β₂ → nagyon nagy áramerősítés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3904" y="229304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Gyakorló feladatok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3904" y="2716808"/>
            <a:ext cx="523266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β = 80, IB = 25 μA → IC = ?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IC = 6 mA, β = 120 → IB = ?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IB = 30 μA, IC = 3,6 mA → β = ?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UCC = 10 V, RC = 2 kΩ → munkaegyenes két végpontja?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3904" y="4134842"/>
            <a:ext cx="5232666" cy="1174055"/>
          </a:xfrm>
          <a:prstGeom prst="roundRect">
            <a:avLst>
              <a:gd name="adj" fmla="val 5917"/>
            </a:avLst>
          </a:prstGeom>
          <a:solidFill>
            <a:srgbClr val="E1E1E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9198" y="4380905"/>
            <a:ext cx="206667" cy="1652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41160" y="4324945"/>
            <a:ext cx="453011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IAP kihívás: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12 V-os FE erősítőnél RC = 2 kΩ. Állíts be UCE ≈ 6 V nyugalmi kollektoráramot, majd β = 100 feltételezésével számítsd ki a szükséges bázisáramot!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87297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Sources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3720405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06_het.pdf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B1B2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2026-10-04T14:35:16Z</dcterms:created>
  <dcterms:modified xsi:type="dcterms:W3CDTF">2026-10-04T14:35:16Z</dcterms:modified>
</cp:coreProperties>
</file>