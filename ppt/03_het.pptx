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82880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640080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ptos"/>
              </a:defRPr>
            </a:pPr>
            <a:r>
              <a:t>11. évfolyam • Analóg áramkörök • ANA-003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7040880" cy="13716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A BJT TRANZISZTOR</a:t>
            </a:r>
            <a:br/>
            <a:r>
              <a:t>MINT ERŐSÍTŐELEM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160520"/>
            <a:ext cx="7498079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B4DCF2"/>
                </a:solidFill>
                <a:latin typeface="Aptos"/>
              </a:defRPr>
            </a:pPr>
            <a:r>
              <a:t>Hogyan vezérel egy kis jel nagyobb teljesítményt?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601200" y="1920240"/>
            <a:ext cx="0" cy="2103120"/>
          </a:xfrm>
          <a:prstGeom prst="line">
            <a:avLst/>
          </a:prstGeom>
          <a:ln w="63500">
            <a:solidFill>
              <a:srgbClr val="D48B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412480" y="2971800"/>
            <a:ext cx="118872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9601200" y="1737360"/>
            <a:ext cx="1188720" cy="68580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601200" y="3520440"/>
            <a:ext cx="1188720" cy="68580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Az elektronika történetéből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1947: Bardeen • Brattain • Shockley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ELEKTRONCSŐ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korábbi technika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TRANZISZTOR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kisebb • gyorsabb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MODERN ELEKTRONIKA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alapvető építőelem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heti kérdés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Hogyan képes kis bázisáram nagyobb kollektoráramot vezérelni?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bázisáram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β / hFE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áramerősítés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kollektoráram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NPN és PNP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Két alapvető BJT-típus.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NPN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BC547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PNP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BC557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multiméterrel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három áram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IB • IC • 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bázisáram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kollektoráram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emitteráram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Áramerősítés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β (hFE) - a tranzisztor erősítése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KIS BÁZISÁRAM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vezérlő jel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ÁRAMERŐSÍTÉS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NAGYOBB 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vezérelt áram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1.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Felépítés, működés, szimbólumok.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NPN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PNP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felépítés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BC547 / BC557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azonosítás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2.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Áramerősítés és IB-IC-IE kapcsolat.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SZÁMÍTÁS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egyszerű feladatok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MÉRÉS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áramok vizsgálata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eredmények értelmezése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3. tanóra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tranzisztor mint kapcsoló.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RELÉ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KAPCSOLÓ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felépítés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Mit mutat az oszcilloszkóp?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Bemenő és kimenő jel összehasonlítása.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BEMENET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 amplitúdó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ERŐSÍTŐ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BJT fokozat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KIMENET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nagyobb amplitúdó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Kis áramú vezérlőkimenet -&gt; nagyobb fogyasztó.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PLC / MCU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kis áramú kimenet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TRANZISZTOR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illesztő fokozat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RELÉ / SZELEP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fogyasztó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Adatlap - BC547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A tervezéshez fontos paraméterek.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VCEO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üzemi feszültség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kollektoráram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hFE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áramerősítés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Ptot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max. disszipáció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13304E"/>
                </a:solidFill>
                <a:latin typeface="Aptos"/>
              </a:defRPr>
            </a:pPr>
            <a:r>
              <a:t>TO-92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tokozás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Tervezői gondolkodás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PLC: max. 20 mA • relé: 120 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PROBLÉMA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a PLC önmagában kevés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KÖZTES FOKOZAT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tranzisztoros vezérlés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biztonságos relévezérlés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Labornapló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Mérj és értelmezz.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TÍPUS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milyen tranzisztor?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IB / 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mért áramok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KÖVETKEZTETÉS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mit mutat a mérés?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Laborfeladat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BC547 méréstől a működő kapcsolóig.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BC547 MÉRÉSE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multiméter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UBE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nyitófeszültség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49047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LED VEZÉRLÉS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tranzisztorral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2004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64992"/>
            <a:ext cx="301752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56ACD6"/>
                </a:solidFill>
                <a:latin typeface="Aptos"/>
              </a:defRPr>
            </a:pPr>
            <a:r>
              <a:t>KAPCSOLÓ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2926080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felépítés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3304E"/>
                </a:solidFill>
                <a:latin typeface="Aptos"/>
              </a:defRPr>
            </a:pPr>
            <a:r>
              <a:t>Moodle és házi feladat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41248"/>
            <a:ext cx="10698480" cy="31089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5E7180"/>
                </a:solidFill>
                <a:latin typeface="Aptos"/>
              </a:defRPr>
            </a:pPr>
            <a:r>
              <a:t>Számítás + kapcsolási rajz + adatlap.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473952"/>
            <a:ext cx="2743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3304E"/>
                </a:solidFill>
                <a:latin typeface="Aptos"/>
              </a:defRPr>
            </a:pPr>
            <a:r>
              <a:t>IAP • ANA-003 • 3.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09960" y="6446520"/>
            <a:ext cx="457200" cy="20116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5E718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A74B2"/>
                </a:solidFill>
                <a:latin typeface="Aptos"/>
              </a:defRPr>
            </a:pPr>
            <a:r>
              <a:t>MOODLE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10 teszt • 3 számítás • 2 rajz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D48B37"/>
                </a:solidFill>
                <a:latin typeface="Aptos"/>
              </a:defRPr>
            </a:pPr>
            <a:r>
              <a:t>BC547 ADATLAP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VCEO • IC • hFE • Ptot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600200"/>
            <a:ext cx="32461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E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58200" y="1764792"/>
            <a:ext cx="28803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498B6A"/>
                </a:solidFill>
                <a:latin typeface="Aptos"/>
              </a:defRPr>
            </a:pPr>
            <a:r>
              <a:t>INDOKLÁS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286000"/>
            <a:ext cx="2788920" cy="2148839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0">
                <a:solidFill>
                  <a:srgbClr val="1F2D39"/>
                </a:solidFill>
                <a:latin typeface="Aptos"/>
              </a:defRPr>
            </a:pPr>
            <a:r>
              <a:t>melyik paraméter fontos?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B4DCF2"/>
                </a:solidFill>
                <a:latin typeface="Aptos"/>
              </a:defRPr>
            </a:pPr>
            <a:r>
              <a:t>KÖVETKEZŐ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00200"/>
            <a:ext cx="10332720" cy="6400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500" b="1">
                <a:solidFill>
                  <a:srgbClr val="FFFFFF"/>
                </a:solidFill>
                <a:latin typeface="Aptos"/>
              </a:defRPr>
            </a:pPr>
            <a:r>
              <a:t>4.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1887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3100" b="1">
                <a:solidFill>
                  <a:srgbClr val="D48B37"/>
                </a:solidFill>
                <a:latin typeface="Aptos"/>
              </a:defRPr>
            </a:pPr>
            <a:r>
              <a:t>KÖZÖS EMITTERES</a:t>
            </a:r>
            <a:br/>
            <a:r>
              <a:t>ERŐSÍTŐKAPCSOLÁS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