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7406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"/>
              </a:defRPr>
            </a:pPr>
            <a:r>
              <a:t>A TRANSZFORMÁTOR</a:t>
            </a:r>
            <a:br/>
            <a:r>
              <a:t>MŰKÖDÉSE ÉS FELÉPÍTÉSE</a:t>
            </a:r>
          </a:p>
        </p:txBody>
      </p:sp>
      <p:sp>
        <p:nvSpPr>
          <p:cNvPr id="5" name="Arc 4"/>
          <p:cNvSpPr/>
          <p:nvPr/>
        </p:nvSpPr>
        <p:spPr>
          <a:xfrm>
            <a:off x="8229600" y="173736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8229600" y="224028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8229600" y="274320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8229600" y="324612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9784080" y="173736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9784080" y="224028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9784080" y="274320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>
            <a:off x="9784080" y="3246120"/>
            <a:ext cx="822960" cy="640080"/>
          </a:xfrm>
          <a:prstGeom prst="arc">
            <a:avLst/>
          </a:prstGeom>
          <a:noFill/>
          <a:ln w="38100">
            <a:solidFill>
              <a:srgbClr val="B4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600200"/>
            <a:ext cx="502920" cy="2834640"/>
          </a:xfrm>
          <a:prstGeom prst="roundRect">
            <a:avLst/>
          </a:prstGeom>
          <a:solidFill>
            <a:srgbClr val="2B5376"/>
          </a:solidFill>
          <a:ln>
            <a:solidFill>
              <a:srgbClr val="82B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6858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primer • vasmag • szekunder • indukció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Miért kell transzformátor?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Nagyobb feszültség → kisebb áram → kisebb vezetékveszteség.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7548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400" b="1">
                <a:solidFill>
                  <a:srgbClr val="13304E"/>
                </a:solidFill>
                <a:latin typeface="Aptos"/>
              </a:defRPr>
            </a:pPr>
            <a:r>
              <a:t>Pvesz = I² · 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KISEBB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01568"/>
            <a:ext cx="28346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I</a:t>
            </a:r>
            <a:br/>
            <a:r>
              <a:t>nagyobb I²R veszteség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7432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90779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AZONOS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01568"/>
            <a:ext cx="28346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P = U · 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2918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907792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NAGYOBB 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401568"/>
            <a:ext cx="28346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I</a:t>
            </a:r>
            <a:br/>
            <a:r>
              <a:t>kisebb I²R veszteség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ZBD - magyar mérnöki mérföldkő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Ganz-gyár, 1885.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0175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A74B2"/>
                </a:solidFill>
                <a:latin typeface="Aptos"/>
              </a:defRPr>
            </a:pPr>
            <a:r>
              <a:t>ZIPERNOWSKY</a:t>
            </a:r>
            <a:br/>
            <a:r>
              <a:t>KÁROLY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30175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498B6A"/>
                </a:solidFill>
                <a:latin typeface="Aptos"/>
              </a:defRPr>
            </a:pPr>
            <a:r>
              <a:t>DÉRI</a:t>
            </a:r>
            <a:br/>
            <a:r>
              <a:t>MIKSA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508760"/>
            <a:ext cx="32918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301752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D48B37"/>
                </a:solidFill>
                <a:latin typeface="Aptos"/>
              </a:defRPr>
            </a:pPr>
            <a:r>
              <a:t>BLÁTHY OTTÓ</a:t>
            </a:r>
            <a:br/>
            <a:r>
              <a:t>TITUSZ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3304E"/>
                </a:solidFill>
                <a:latin typeface="Aptos"/>
              </a:defRPr>
            </a:pPr>
            <a:r>
              <a:t>ZÁRT VASMAGOS • PÁRHUZAMOS KAPCSOLÁSÚ TRANSZFORMÁTORRENDSZER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Mi a transzformátor?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Álló villamos gép - váltakozó feszültséget alakít 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PRIMER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váltakozó táplálás</a:t>
            </a:r>
            <a:br/>
            <a:r>
              <a:t>U₁, I₁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MÁGNESES TÉR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energiaátvitel</a:t>
            </a:r>
            <a:br/>
            <a:r>
              <a:t>vasmagon keresztül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291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73351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SZEKUNDER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67128"/>
            <a:ext cx="283464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indukált feszültség</a:t>
            </a:r>
            <a:br/>
            <a:r>
              <a:t>U₂, I₂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13304E"/>
                </a:solidFill>
                <a:latin typeface="Aptos"/>
              </a:defRPr>
            </a:pPr>
            <a:r>
              <a:t>A FREKVENCIA NEM VÁLTOZIK.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Működési 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Faraday elektromágneses indukciója.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VÁLTAKOZÓ</a:t>
            </a:r>
            <a:br/>
            <a:r>
              <a:t>PRIMER ÁRAM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834640"/>
            <a:ext cx="457201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2628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VÁLTOZÓ</a:t>
            </a:r>
            <a:br/>
            <a:r>
              <a:t>MÁGNESES TÉR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2834640"/>
            <a:ext cx="457200" cy="0"/>
          </a:xfrm>
          <a:prstGeom prst="line">
            <a:avLst/>
          </a:prstGeom>
          <a:ln w="50800">
            <a:solidFill>
              <a:srgbClr val="5E71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21040" y="1828800"/>
            <a:ext cx="3246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29718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INDUKÁLT</a:t>
            </a:r>
            <a:br/>
            <a:r>
              <a:t>SZEKUNDER 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700" b="1">
                <a:solidFill>
                  <a:srgbClr val="13304E"/>
                </a:solidFill>
                <a:latin typeface="Aptos"/>
              </a:defRPr>
            </a:pPr>
            <a:r>
              <a:t>I₁~  →  Φ~  →  U₂~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transzformátor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Hat alapvető szerkezeti elem.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VASMAG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6916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PRIMER TEKERCS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9164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SZEKUNDER TEKERCS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356616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KIVEZETÉSEK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246120"/>
            <a:ext cx="3337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566160"/>
            <a:ext cx="3063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HŰTŐRENDSZER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Primer és szekunder oldal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Melyik oldal mit csinál?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297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PRIMER OLDAL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384048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ide csatlakozik</a:t>
            </a:r>
            <a:br/>
            <a:r>
              <a:t>a tápláló 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554480"/>
            <a:ext cx="4297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19072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SZEKUNDER OLDAL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384048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itt jelenik meg</a:t>
            </a:r>
            <a:br/>
            <a:r>
              <a:t>az indukált feszültség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03520" y="3246120"/>
            <a:ext cx="1005840" cy="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A menetszám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menetszámarány határozza meg a feszültség átalakítását.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3304E"/>
                </a:solidFill>
                <a:latin typeface="Aptos"/>
              </a:defRPr>
            </a:pPr>
            <a:r>
              <a:t>U₁ / U₂ ≈ N₁ / N₂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4663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N₂ &gt; N₁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10128"/>
            <a:ext cx="42062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feszültségnövelő</a:t>
            </a:r>
            <a:br/>
            <a:r>
              <a:t>U₂ &gt; U₁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651760"/>
            <a:ext cx="46634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816352"/>
            <a:ext cx="429767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N₂ &lt; N₁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10128"/>
            <a:ext cx="420624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feszültségcsökkentő</a:t>
            </a:r>
            <a:br/>
            <a:r>
              <a:t>U₂ &lt; U₁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ENERGIAÚT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ERŐMŰ → NÖVELŐ TRAFÓ → TÁVVEZETÉK → CSÖKKENTŐ TRAFÓ → FOGYASZTÓ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880360"/>
            <a:ext cx="196596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880360"/>
            <a:ext cx="19659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ERŐMŰ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40279" y="3547872"/>
            <a:ext cx="274321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39" y="2880360"/>
            <a:ext cx="196596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2880360"/>
            <a:ext cx="19659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TR 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547872"/>
            <a:ext cx="274320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59" y="2880360"/>
            <a:ext cx="196596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880360"/>
            <a:ext cx="19659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TÁVVEZETÉK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19" y="3547872"/>
            <a:ext cx="274321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79" y="2880360"/>
            <a:ext cx="196596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9" y="2880360"/>
            <a:ext cx="19659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TR ↓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3547872"/>
            <a:ext cx="274319" cy="0"/>
          </a:xfrm>
          <a:prstGeom prst="line">
            <a:avLst/>
          </a:prstGeom>
          <a:ln w="50800">
            <a:solidFill>
              <a:srgbClr val="B4DC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0" y="2880360"/>
            <a:ext cx="1965960" cy="1325880"/>
          </a:xfrm>
          <a:prstGeom prst="roundRect">
            <a:avLst/>
          </a:prstGeom>
          <a:solidFill>
            <a:srgbClr val="1F4365"/>
          </a:solidFill>
          <a:ln>
            <a:solidFill>
              <a:srgbClr val="5A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880360"/>
            <a:ext cx="19659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FOGYASZTÓ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Gyakorlat - névtábla-vadászat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Keress transzformátorokat a tanműhelyben.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2A74B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PRIMER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498B6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SZEKUNDER 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56AC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3304E"/>
                </a:solidFill>
                <a:latin typeface="Aptos"/>
              </a:defRPr>
            </a:pPr>
            <a:r>
              <a:t>FELHASZNÁLÁS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7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kulcskérdés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ETE-021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transzformátor feladata?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Miért csak váltakozó feszültséggel működik?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 az elektromágneses indukció?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 a primer és a szekunder oldal szerepe?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74920"/>
            <a:ext cx="100584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Kik voltak a ZBD-rendszer megalkotói?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MÉRNÖKI 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„A villamosenergia-rendszer</a:t>
            </a:r>
            <a:br/>
            <a:r>
              <a:t>csendes óriásai a transzformátorok.”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DCF2"/>
                </a:solidFill>
                <a:latin typeface="Aptos"/>
              </a:defRPr>
            </a:pPr>
            <a:r>
              <a:t>Zipernowsky • Déri • Bláthy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