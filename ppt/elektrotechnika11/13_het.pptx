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58952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A HÁROMFÁZISÚ</a:t>
            </a:r>
            <a:br/>
            <a:r>
              <a:t>ASZINKRON MOTOR MŰKÖDÉSE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011680"/>
            <a:ext cx="2834640" cy="19202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0" y="2606040"/>
            <a:ext cx="731520" cy="594360"/>
          </a:xfrm>
          <a:prstGeom prst="roundRect">
            <a:avLst/>
          </a:prstGeom>
          <a:solidFill>
            <a:srgbClr val="78A0BE"/>
          </a:solidFill>
          <a:ln>
            <a:solidFill>
              <a:srgbClr val="78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7532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9828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2124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32720" y="2240280"/>
            <a:ext cx="0" cy="141732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886200"/>
            <a:ext cx="6675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sztátor • rotor • forgó mágneses tér • szlip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motorhoz vezető 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mérföldkő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1820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Ørsted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az áram mágneses hatása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8288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98B6A"/>
                </a:solidFill>
                <a:latin typeface="Aptos"/>
              </a:defRPr>
            </a:pPr>
            <a:r>
              <a:t>1831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6060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Faraday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elektromágneses indukció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1885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Ferraris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forgó mágneses tér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1888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060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Tesla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46120"/>
            <a:ext cx="2103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többfázisú motorok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Dolivo-Dobrovolszkij → a korszerű háromfázisú aszinkron motor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aszinkron motor fő részei.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937760" cy="3931920"/>
          </a:xfrm>
          <a:prstGeom prst="roundRect">
            <a:avLst/>
          </a:prstGeom>
          <a:solidFill>
            <a:srgbClr val="D2DEE7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8760" y="2103120"/>
            <a:ext cx="3749039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7400" y="2606040"/>
            <a:ext cx="2651760" cy="1828800"/>
          </a:xfrm>
          <a:prstGeom prst="roundRect">
            <a:avLst/>
          </a:prstGeom>
          <a:solidFill>
            <a:srgbClr val="AABECD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SZTÁTOR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200400"/>
            <a:ext cx="26517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ROTOR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3520440"/>
            <a:ext cx="1783080" cy="0"/>
          </a:xfrm>
          <a:prstGeom prst="line">
            <a:avLst/>
          </a:prstGeom>
          <a:ln w="1016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37760" y="3794760"/>
            <a:ext cx="1280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5E7180"/>
                </a:solidFill>
                <a:latin typeface="Aptos"/>
              </a:defRPr>
            </a:pPr>
            <a:r>
              <a:t>tengely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627632"/>
            <a:ext cx="38404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Állórész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21408"/>
            <a:ext cx="37490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háromfázisú tekercsek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78892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953512"/>
            <a:ext cx="38404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Forgórész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447287"/>
            <a:ext cx="37490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indukált áram + nyomaték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114800"/>
            <a:ext cx="4206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279392"/>
            <a:ext cx="38404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Kiegészítők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773168"/>
            <a:ext cx="37490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csapágy • ventilátor • kapocsdoboz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forgó mágneses tér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Három, 120°-kal eltolt áram → körbeforgó mágneses tér.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749039" y="1737360"/>
            <a:ext cx="0" cy="18288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0" y="1463039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L1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65252" y="3566160"/>
            <a:ext cx="1583787" cy="914400"/>
          </a:xfrm>
          <a:prstGeom prst="line">
            <a:avLst/>
          </a:prstGeom>
          <a:ln w="635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90932" y="420624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L2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3566160"/>
            <a:ext cx="1583788" cy="9144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58507" y="420624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880360"/>
            <a:ext cx="1371600" cy="1371600"/>
          </a:xfrm>
          <a:prstGeom prst="roundRect">
            <a:avLst/>
          </a:prstGeom>
          <a:solidFill>
            <a:srgbClr val="BECDD7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88036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ROTOR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4389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19072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Mi történik?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12848"/>
            <a:ext cx="3931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forgó mágneses tér áramot indukál a rotor vezetőiben. Az indukált áram és a mágneses tér kölcsönhatása forgatónyomatékot hoz létre.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szlip - miért kell a különbség?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rotor valamivel lassabb a forgó mágneses térnél.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FORGÓ MÁGNESES TÉR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2A74B2"/>
                </a:solidFill>
                <a:latin typeface="Aptos"/>
              </a:defRPr>
            </a:pPr>
            <a:r>
              <a:t>gyorsabb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389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ROTOR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kicsit lassabb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1907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4114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két fordulatszám közötti különbség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4572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1071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Miért nélkülözhetetlen?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04487"/>
            <a:ext cx="4114800" cy="9601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Szlip nélkül nem jönne létre indukció, ezért nyomaték sem keletkezne.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Hol dolgozik aszinkron motor?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ipari példái.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39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520439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93192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CNC gép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520439"/>
            <a:ext cx="3200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93192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Automatizált gyártósor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motor adattábla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Hat adatot kell biztosan megtalálnod.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669280" cy="4480560"/>
          </a:xfrm>
          <a:prstGeom prst="roundRect">
            <a:avLst/>
          </a:prstGeom>
          <a:solidFill>
            <a:srgbClr val="E6EAED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120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3~ ASYNCHRON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4028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névleges feszültség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70632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70632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névleges 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00984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31336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31336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61688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cosφ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61688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teljesítménytényező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9204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2A74B2"/>
                </a:solidFill>
                <a:latin typeface="Aptos"/>
              </a:defRPr>
            </a:pPr>
            <a:r>
              <a:t>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9204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F2D39"/>
                </a:solidFill>
                <a:latin typeface="Aptos"/>
              </a:defRPr>
            </a:pPr>
            <a:r>
              <a:t>védettségi fokozat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63040"/>
            <a:ext cx="4114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627632"/>
            <a:ext cx="3749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21408"/>
            <a:ext cx="36576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Olvasd le egy valódi motor adattáblájáról mind a hat adatot, és írd be a laborlap táblázatába.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A MOTOR BESZÉL.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3154680" cy="16916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Csapágyhiba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B4DCF2"/>
                </a:solidFill>
                <a:latin typeface="Aptos"/>
              </a:defRPr>
            </a:pPr>
            <a:r>
              <a:t>hang + rezgés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834640"/>
            <a:ext cx="3154680" cy="16916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154680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Fáziskimaradás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749039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B4DCF2"/>
                </a:solidFill>
                <a:latin typeface="Aptos"/>
              </a:defRPr>
            </a:pPr>
            <a:r>
              <a:t>megváltozott járás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834640"/>
            <a:ext cx="3154680" cy="16916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3154680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749039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B4DCF2"/>
                </a:solidFill>
                <a:latin typeface="Aptos"/>
              </a:defRPr>
            </a:pPr>
            <a:r>
              <a:t>hang, rezgés, melegedés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5780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 tapasztalt karbantartó gyakran már mérés előtt gyanút fog.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kérdései.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ETE-013 • 13.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forgó mágneses tér?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Mit jelent a szlip?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nem forog a rotor szinkron fordulatszámmal?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Sorold fel a motor fő részeit!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Nevezz meg legalább három ipari alkalmazást!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ASZINKRON MOTOROK</a:t>
            </a:r>
            <a:br/>
            <a:r>
              <a:t>INDÍTÁSI MÓDJAI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03320"/>
            <a:ext cx="242316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24231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3703320"/>
            <a:ext cx="242316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3703320"/>
            <a:ext cx="24231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Y / 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703320"/>
            <a:ext cx="242316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3703320"/>
            <a:ext cx="24231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LÁGYINDÍTÓ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703320"/>
            <a:ext cx="24231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FREKVENCIAVÁLTÓ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