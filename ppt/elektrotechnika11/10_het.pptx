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74519"/>
            <a:ext cx="7955279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t>HÁROMFÁZISÚ</a:t>
            </a:r>
            <a:br/>
            <a:r>
              <a:t>TELJESÍTMÉNYSZÁMÍTÁS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6616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B4DCF2"/>
                </a:solidFill>
                <a:latin typeface="Aptos"/>
              </a:defRPr>
            </a:pPr>
            <a:r>
              <a:t>P • Q • S • cos φ • √3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543800" y="2743200"/>
            <a:ext cx="59436" cy="37643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603236" y="2780843"/>
            <a:ext cx="59436" cy="3728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62672" y="2818124"/>
            <a:ext cx="59436" cy="3655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22108" y="2854683"/>
            <a:ext cx="59436" cy="3548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81544" y="2890168"/>
            <a:ext cx="59435" cy="34070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40979" y="2924238"/>
            <a:ext cx="59437" cy="3232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900416" y="2956565"/>
            <a:ext cx="59436" cy="3027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59852" y="2986837"/>
            <a:ext cx="59436" cy="2792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019288" y="3014762"/>
            <a:ext cx="59436" cy="2531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78724" y="3040073"/>
            <a:ext cx="59436" cy="2245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138160" y="3062524"/>
            <a:ext cx="59436" cy="1937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197596" y="3081900"/>
            <a:ext cx="59435" cy="1611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57031" y="3098014"/>
            <a:ext cx="59437" cy="1269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16468" y="3110711"/>
            <a:ext cx="59436" cy="915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75904" y="3119868"/>
            <a:ext cx="59436" cy="5530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35340" y="3125398"/>
            <a:ext cx="59436" cy="1850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494776" y="3125398"/>
            <a:ext cx="59436" cy="1850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554212" y="3119868"/>
            <a:ext cx="59436" cy="5530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613648" y="3110711"/>
            <a:ext cx="59436" cy="915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673084" y="3098014"/>
            <a:ext cx="59436" cy="1269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732520" y="3081900"/>
            <a:ext cx="59436" cy="1611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791956" y="3062524"/>
            <a:ext cx="59436" cy="1937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851392" y="3040073"/>
            <a:ext cx="59436" cy="2245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910828" y="3014762"/>
            <a:ext cx="59436" cy="2531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970264" y="2986837"/>
            <a:ext cx="59436" cy="2792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029700" y="2956565"/>
            <a:ext cx="59436" cy="3027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089136" y="2924238"/>
            <a:ext cx="59436" cy="3232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148572" y="2890168"/>
            <a:ext cx="59436" cy="34070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208008" y="2854683"/>
            <a:ext cx="59436" cy="3548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267444" y="2818124"/>
            <a:ext cx="59436" cy="3655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326880" y="2780843"/>
            <a:ext cx="59436" cy="3728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386316" y="2743200"/>
            <a:ext cx="59436" cy="37643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445752" y="2705556"/>
            <a:ext cx="59436" cy="3764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9505188" y="2668275"/>
            <a:ext cx="59436" cy="3728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564624" y="2631716"/>
            <a:ext cx="59436" cy="3655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624060" y="2596231"/>
            <a:ext cx="59436" cy="3548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683496" y="2562161"/>
            <a:ext cx="59436" cy="34070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742932" y="2529834"/>
            <a:ext cx="59436" cy="3232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802368" y="2499562"/>
            <a:ext cx="59436" cy="3027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861804" y="2471637"/>
            <a:ext cx="59436" cy="2792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921240" y="2446326"/>
            <a:ext cx="59436" cy="2531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980676" y="2423875"/>
            <a:ext cx="59436" cy="2245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0040112" y="2404499"/>
            <a:ext cx="59436" cy="1937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0099548" y="2388385"/>
            <a:ext cx="59436" cy="1611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0158984" y="2375688"/>
            <a:ext cx="59436" cy="1269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0218420" y="2366531"/>
            <a:ext cx="59436" cy="915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0277856" y="2361001"/>
            <a:ext cx="59436" cy="5530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337292" y="2359152"/>
            <a:ext cx="59436" cy="184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396728" y="2359152"/>
            <a:ext cx="59436" cy="184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456164" y="2361001"/>
            <a:ext cx="59436" cy="5530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515600" y="2366531"/>
            <a:ext cx="59436" cy="915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575036" y="2375688"/>
            <a:ext cx="59436" cy="1269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634472" y="2388385"/>
            <a:ext cx="59436" cy="1611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693908" y="2404499"/>
            <a:ext cx="59436" cy="1937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753344" y="2423875"/>
            <a:ext cx="59436" cy="2245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812780" y="2446326"/>
            <a:ext cx="59436" cy="2531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872216" y="2471637"/>
            <a:ext cx="59436" cy="2792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931652" y="2499562"/>
            <a:ext cx="59436" cy="3027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991088" y="2529834"/>
            <a:ext cx="59436" cy="3232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050524" y="2562161"/>
            <a:ext cx="59436" cy="34070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1109960" y="2596231"/>
            <a:ext cx="59436" cy="3548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1169396" y="2631716"/>
            <a:ext cx="59436" cy="3655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1228832" y="2668275"/>
            <a:ext cx="59435" cy="3728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288267" y="2705556"/>
            <a:ext cx="59437" cy="3764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543800" y="3713740"/>
            <a:ext cx="59436" cy="2042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603236" y="3690310"/>
            <a:ext cx="59436" cy="2343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662672" y="3664100"/>
            <a:ext cx="59436" cy="2621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722108" y="3635361"/>
            <a:ext cx="59436" cy="2873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781544" y="3604371"/>
            <a:ext cx="59435" cy="3099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840979" y="3571428"/>
            <a:ext cx="59437" cy="3294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900416" y="3536848"/>
            <a:ext cx="59436" cy="3458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959852" y="3500966"/>
            <a:ext cx="59436" cy="3588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019288" y="3464127"/>
            <a:ext cx="59436" cy="3683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078724" y="3426685"/>
            <a:ext cx="59436" cy="3744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138160" y="3389002"/>
            <a:ext cx="59436" cy="3768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197596" y="3351439"/>
            <a:ext cx="59435" cy="3756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257031" y="3314359"/>
            <a:ext cx="59437" cy="3708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316468" y="3278119"/>
            <a:ext cx="59436" cy="3624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375904" y="3243068"/>
            <a:ext cx="59436" cy="3505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435340" y="3209544"/>
            <a:ext cx="59436" cy="3352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494776" y="3177868"/>
            <a:ext cx="59436" cy="3167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554212" y="3148347"/>
            <a:ext cx="59436" cy="2952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613648" y="3121265"/>
            <a:ext cx="59436" cy="2708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673084" y="3096882"/>
            <a:ext cx="59436" cy="2438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732520" y="3075433"/>
            <a:ext cx="59436" cy="2144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791956" y="3057125"/>
            <a:ext cx="59436" cy="18308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851392" y="3042135"/>
            <a:ext cx="59436" cy="1499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910828" y="3030606"/>
            <a:ext cx="59436" cy="1152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970264" y="3022649"/>
            <a:ext cx="59436" cy="795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9029700" y="3018342"/>
            <a:ext cx="59436" cy="430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089136" y="3017725"/>
            <a:ext cx="59436" cy="61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48572" y="3017725"/>
            <a:ext cx="59436" cy="308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08008" y="3020805"/>
            <a:ext cx="59436" cy="674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67444" y="3027552"/>
            <a:ext cx="59436" cy="1034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6880" y="3037901"/>
            <a:ext cx="59436" cy="1385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386316" y="3051752"/>
            <a:ext cx="59436" cy="1722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445752" y="3068972"/>
            <a:ext cx="59436" cy="2042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05188" y="3089395"/>
            <a:ext cx="59436" cy="2343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564624" y="3112825"/>
            <a:ext cx="59436" cy="2621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624060" y="3139035"/>
            <a:ext cx="59436" cy="2873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683496" y="3167774"/>
            <a:ext cx="59436" cy="3099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742932" y="3198764"/>
            <a:ext cx="59436" cy="3294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802368" y="3231707"/>
            <a:ext cx="59436" cy="3458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61804" y="3266287"/>
            <a:ext cx="59436" cy="3588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921240" y="3302169"/>
            <a:ext cx="59436" cy="3683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980676" y="3339008"/>
            <a:ext cx="59436" cy="3744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0040112" y="3376450"/>
            <a:ext cx="59436" cy="3768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0099548" y="3414133"/>
            <a:ext cx="59436" cy="3756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0158984" y="3451696"/>
            <a:ext cx="59436" cy="3708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0218420" y="3488776"/>
            <a:ext cx="59436" cy="3624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0277856" y="3525016"/>
            <a:ext cx="59436" cy="3505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0337292" y="3560067"/>
            <a:ext cx="59436" cy="3352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0396728" y="3593591"/>
            <a:ext cx="59436" cy="3167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456164" y="3625267"/>
            <a:ext cx="59436" cy="2952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0515600" y="3654788"/>
            <a:ext cx="59436" cy="2708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0575036" y="3681870"/>
            <a:ext cx="59436" cy="2438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0634472" y="3706253"/>
            <a:ext cx="59436" cy="2144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0693908" y="3727702"/>
            <a:ext cx="59436" cy="18308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0753344" y="3746010"/>
            <a:ext cx="59436" cy="1499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0812780" y="3761000"/>
            <a:ext cx="59436" cy="1152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0872216" y="3772529"/>
            <a:ext cx="59436" cy="795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0931652" y="3780486"/>
            <a:ext cx="59436" cy="430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0991088" y="3784793"/>
            <a:ext cx="59436" cy="61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1050524" y="3782330"/>
            <a:ext cx="59436" cy="308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1109960" y="3775583"/>
            <a:ext cx="59436" cy="674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1169396" y="3765234"/>
            <a:ext cx="59436" cy="1034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1228832" y="3751383"/>
            <a:ext cx="59435" cy="1385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1288267" y="3734163"/>
            <a:ext cx="59437" cy="1722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7543800" y="3710120"/>
            <a:ext cx="59436" cy="17220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7603236" y="3696269"/>
            <a:ext cx="59436" cy="13851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7662672" y="3685920"/>
            <a:ext cx="59436" cy="10349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7722108" y="3679173"/>
            <a:ext cx="59436" cy="6747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7781544" y="3676093"/>
            <a:ext cx="59435" cy="3080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840979" y="3676093"/>
            <a:ext cx="59437" cy="617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900416" y="3676710"/>
            <a:ext cx="59436" cy="4307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959852" y="3681017"/>
            <a:ext cx="59436" cy="7957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019288" y="3688974"/>
            <a:ext cx="59436" cy="11529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8078724" y="3700503"/>
            <a:ext cx="59436" cy="14990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8138160" y="3715493"/>
            <a:ext cx="59436" cy="18308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8197596" y="3733801"/>
            <a:ext cx="59435" cy="21449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8257031" y="3755250"/>
            <a:ext cx="59437" cy="24383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8316468" y="3779633"/>
            <a:ext cx="59436" cy="27082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375904" y="3806715"/>
            <a:ext cx="59436" cy="29521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8435340" y="3836236"/>
            <a:ext cx="59436" cy="31676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8494776" y="3867912"/>
            <a:ext cx="59436" cy="33524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8554212" y="3901436"/>
            <a:ext cx="59436" cy="35051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613648" y="3936487"/>
            <a:ext cx="59436" cy="36240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673084" y="3972727"/>
            <a:ext cx="59436" cy="37080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732520" y="4009807"/>
            <a:ext cx="59436" cy="37563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791956" y="4047370"/>
            <a:ext cx="59436" cy="37683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851392" y="4085053"/>
            <a:ext cx="59436" cy="37442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8910828" y="4122495"/>
            <a:ext cx="59436" cy="36839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970264" y="4159334"/>
            <a:ext cx="59436" cy="35882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9029700" y="4195216"/>
            <a:ext cx="59436" cy="34580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9089136" y="4229796"/>
            <a:ext cx="59436" cy="32943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9148572" y="4262739"/>
            <a:ext cx="59436" cy="30990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9208008" y="4293729"/>
            <a:ext cx="59436" cy="28739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9267444" y="4322468"/>
            <a:ext cx="59436" cy="26210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9326880" y="4348678"/>
            <a:ext cx="59436" cy="23430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9386316" y="4372108"/>
            <a:ext cx="59436" cy="20423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9445752" y="4392531"/>
            <a:ext cx="59436" cy="17220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9505188" y="4409751"/>
            <a:ext cx="59436" cy="13851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9564624" y="4423602"/>
            <a:ext cx="59436" cy="10349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9624060" y="4433951"/>
            <a:ext cx="59436" cy="6747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9683496" y="4440698"/>
            <a:ext cx="59436" cy="3080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742932" y="4443161"/>
            <a:ext cx="59436" cy="617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802368" y="4438854"/>
            <a:ext cx="59436" cy="4307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861804" y="4430897"/>
            <a:ext cx="59436" cy="7957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921240" y="4419368"/>
            <a:ext cx="59436" cy="11529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980676" y="4404378"/>
            <a:ext cx="59436" cy="14990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0040112" y="4386070"/>
            <a:ext cx="59436" cy="18308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0099548" y="4364621"/>
            <a:ext cx="59436" cy="21449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0158984" y="4340238"/>
            <a:ext cx="59436" cy="24383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10218420" y="4313156"/>
            <a:ext cx="59436" cy="27082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0277856" y="4283635"/>
            <a:ext cx="59436" cy="29521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0337292" y="4251960"/>
            <a:ext cx="59436" cy="31675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0396728" y="4218435"/>
            <a:ext cx="59436" cy="33525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0456164" y="4183384"/>
            <a:ext cx="59436" cy="35051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0515600" y="4147144"/>
            <a:ext cx="59436" cy="36240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0575036" y="4110064"/>
            <a:ext cx="59436" cy="37080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0634472" y="4072501"/>
            <a:ext cx="59436" cy="37563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10693908" y="4034818"/>
            <a:ext cx="59436" cy="37683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0753344" y="3997376"/>
            <a:ext cx="59436" cy="37442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0812780" y="3960537"/>
            <a:ext cx="59436" cy="36839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0872216" y="3924655"/>
            <a:ext cx="59436" cy="35882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0931652" y="3890075"/>
            <a:ext cx="59436" cy="34580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0991088" y="3857132"/>
            <a:ext cx="59436" cy="32943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1050524" y="3826142"/>
            <a:ext cx="59436" cy="30990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1109960" y="3797403"/>
            <a:ext cx="59436" cy="28739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1169396" y="3771193"/>
            <a:ext cx="59436" cy="26210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1228832" y="3747763"/>
            <a:ext cx="59435" cy="23430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1288267" y="3727340"/>
            <a:ext cx="59437" cy="20423"/>
          </a:xfrm>
          <a:prstGeom prst="line">
            <a:avLst/>
          </a:prstGeom>
          <a:ln w="22860">
            <a:solidFill>
              <a:srgbClr val="78B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/>
          <p:cNvSpPr txBox="1"/>
          <p:nvPr/>
        </p:nvSpPr>
        <p:spPr>
          <a:xfrm>
            <a:off x="7406640" y="5074920"/>
            <a:ext cx="3931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400 V • 8 A • cos φ = 0,82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132320" y="5577840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t>S ≈ 5,54 kVA   P ≈ 4,55 kW   Q ≈ 3,18 kvar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ETE-010 • 10.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102412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00" b="1">
                <a:solidFill>
                  <a:srgbClr val="13304E"/>
                </a:solidFill>
                <a:latin typeface="Aptos"/>
              </a:defRPr>
            </a:pPr>
            <a:r>
              <a:t>Miért képes egy háromfázisú motor ugyanakkora áramerősség mellett</a:t>
            </a:r>
            <a:br/>
            <a:r>
              <a:t>nagyobb teljesítményt leadni, mint egy egyfázisú?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30632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926080"/>
            <a:ext cx="73152" cy="2057400"/>
          </a:xfrm>
          <a:prstGeom prst="rect">
            <a:avLst/>
          </a:prstGeom>
          <a:solidFill>
            <a:srgbClr val="2A74B2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3240"/>
            <a:ext cx="2651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1 fázis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93008"/>
            <a:ext cx="265176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P = U × I × cos φ</a:t>
            </a:r>
            <a:br/>
            <a:br/>
            <a:r>
              <a:t>Egyetlen váltakozó feszültség.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2" y="2926080"/>
            <a:ext cx="30632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2926080"/>
            <a:ext cx="73152" cy="2057400"/>
          </a:xfrm>
          <a:prstGeom prst="rect">
            <a:avLst/>
          </a:prstGeom>
          <a:solidFill>
            <a:srgbClr val="498B6A"/>
          </a:solidFill>
          <a:ln>
            <a:solidFill>
              <a:srgbClr val="498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3063240"/>
            <a:ext cx="2651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3 fázis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3493008"/>
            <a:ext cx="265176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P = √3 × U × I × cos φ</a:t>
            </a:r>
            <a:br/>
            <a:br/>
            <a:r>
              <a:t>A három fázis együtt dolgozik.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926080"/>
            <a:ext cx="30632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2926080"/>
            <a:ext cx="73152" cy="2057400"/>
          </a:xfrm>
          <a:prstGeom prst="rect">
            <a:avLst/>
          </a:prstGeom>
          <a:solidFill>
            <a:srgbClr val="D48B37"/>
          </a:solidFill>
          <a:ln>
            <a:solidFill>
              <a:srgbClr val="D48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063240"/>
            <a:ext cx="2651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A kulcs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493008"/>
            <a:ext cx="265176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A √3 tényező és a 400 V vonali feszültség nagyobb átvihető teljesítményt eredményez.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 három alapképlet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Vonali feszültséggel és vonali árammal számolunk.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ETE-010 • 10.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9718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2971800" cy="109728"/>
          </a:xfrm>
          <a:prstGeom prst="rect">
            <a:avLst/>
          </a:prstGeom>
          <a:solidFill>
            <a:srgbClr val="498B6A"/>
          </a:solidFill>
          <a:ln>
            <a:solidFill>
              <a:srgbClr val="498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606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HATÁSOS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2697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13304E"/>
                </a:solidFill>
                <a:latin typeface="Aptos"/>
              </a:defRPr>
            </a:pPr>
            <a:r>
              <a:t>P = √3 · U · I · cos 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2606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5E7180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2514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F2D39"/>
                </a:solidFill>
                <a:latin typeface="Aptos"/>
              </a:defRPr>
            </a:pPr>
            <a:r>
              <a:t>hasznos munkát végez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508760"/>
            <a:ext cx="29718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508760"/>
            <a:ext cx="2971800" cy="109728"/>
          </a:xfrm>
          <a:prstGeom prst="rect">
            <a:avLst/>
          </a:prstGeom>
          <a:solidFill>
            <a:srgbClr val="D48B37"/>
          </a:solidFill>
          <a:ln>
            <a:solidFill>
              <a:srgbClr val="D48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828800"/>
            <a:ext cx="2606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MEDDŐ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23160"/>
            <a:ext cx="2697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13304E"/>
                </a:solidFill>
                <a:latin typeface="Aptos"/>
              </a:defRPr>
            </a:pPr>
            <a:r>
              <a:t>Q = √3 · U · I · sin 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337560"/>
            <a:ext cx="2606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5E7180"/>
                </a:solidFill>
                <a:latin typeface="Aptos"/>
              </a:defRPr>
            </a:pPr>
            <a:r>
              <a:t>var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69080"/>
            <a:ext cx="2514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F2D39"/>
                </a:solidFill>
                <a:latin typeface="Aptos"/>
              </a:defRPr>
            </a:pPr>
            <a:r>
              <a:t>mezőket épít fel és bont 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1508760"/>
            <a:ext cx="29718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1508760"/>
            <a:ext cx="2971800" cy="109728"/>
          </a:xfrm>
          <a:prstGeom prst="rect">
            <a:avLst/>
          </a:prstGeom>
          <a:solidFill>
            <a:srgbClr val="2A74B2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828800"/>
            <a:ext cx="2606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LÁTSZÓLAGOS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80" y="2423160"/>
            <a:ext cx="2697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13304E"/>
                </a:solidFill>
                <a:latin typeface="Aptos"/>
              </a:defRPr>
            </a:pPr>
            <a:r>
              <a:t>S = √3 · U · 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337560"/>
            <a:ext cx="2606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5E7180"/>
                </a:solidFill>
                <a:latin typeface="Aptos"/>
              </a:defRPr>
            </a:pPr>
            <a:r>
              <a:t>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069080"/>
            <a:ext cx="2514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F2D39"/>
                </a:solidFill>
                <a:latin typeface="Aptos"/>
              </a:defRPr>
            </a:pPr>
            <a:r>
              <a:t>a hálózat teljes terhelése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Honnan jön a √3?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120°-kal eltolt fázisok vektoriális különbségéből.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ETE-010 • 10.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3657600"/>
            <a:ext cx="1600200" cy="0"/>
          </a:xfrm>
          <a:prstGeom prst="line">
            <a:avLst/>
          </a:prstGeom>
          <a:ln w="508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0" y="342900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L1</a:t>
            </a:r>
          </a:p>
        </p:txBody>
      </p:sp>
      <p:cxnSp>
        <p:nvCxnSpPr>
          <p:cNvPr id="8" name="Connector 7"/>
          <p:cNvCxnSpPr/>
          <p:nvPr/>
        </p:nvCxnSpPr>
        <p:spPr>
          <a:xfrm flipH="1" flipV="1">
            <a:off x="2857500" y="2271786"/>
            <a:ext cx="800100" cy="1385814"/>
          </a:xfrm>
          <a:prstGeom prst="line">
            <a:avLst/>
          </a:prstGeom>
          <a:ln w="508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28900" y="2043186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L2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857499" y="3657600"/>
            <a:ext cx="800101" cy="1385813"/>
          </a:xfrm>
          <a:prstGeom prst="line">
            <a:avLst/>
          </a:prstGeom>
          <a:ln w="508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28899" y="4814813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L3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33172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120°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57600" y="3657600"/>
            <a:ext cx="2697480" cy="0"/>
          </a:xfrm>
          <a:prstGeom prst="line">
            <a:avLst/>
          </a:prstGeom>
          <a:ln w="508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28800" y="5166360"/>
            <a:ext cx="3566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ULN = 230 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46120"/>
            <a:ext cx="4572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498B6A"/>
                </a:solidFill>
                <a:latin typeface="Aptos"/>
              </a:defRPr>
            </a:pPr>
            <a:r>
              <a:t>ULL = √3 × ULN ≈ 400 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251960"/>
            <a:ext cx="4251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1F2D39"/>
                </a:solidFill>
                <a:latin typeface="Aptos"/>
              </a:defRPr>
            </a:pPr>
            <a:r>
              <a:t>A √3 nem „plusz szorzó”: a háromfázisú rendszer geometriájából következik.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Teljesítményháromszög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P, Q és S kapcsolata egyetlen ábrán.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ETE-010 • 10.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5257800"/>
            <a:ext cx="4572000" cy="0"/>
          </a:xfrm>
          <a:prstGeom prst="line">
            <a:avLst/>
          </a:prstGeom>
          <a:ln w="762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400800" y="1874519"/>
            <a:ext cx="0" cy="3383281"/>
          </a:xfrm>
          <a:prstGeom prst="line">
            <a:avLst/>
          </a:prstGeom>
          <a:ln w="762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828800" y="1874519"/>
            <a:ext cx="4572000" cy="3383281"/>
          </a:xfrm>
          <a:prstGeom prst="line">
            <a:avLst/>
          </a:prstGeom>
          <a:ln w="762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94760" y="534924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498B6A"/>
                </a:solidFill>
                <a:latin typeface="Aptos"/>
              </a:defRPr>
            </a:pPr>
            <a:r>
              <a:t>P 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33756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D48B37"/>
                </a:solidFill>
                <a:latin typeface="Aptos"/>
              </a:defRPr>
            </a:pPr>
            <a:r>
              <a:t>Q [var]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324612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2A74B2"/>
                </a:solidFill>
                <a:latin typeface="Aptos"/>
              </a:defRPr>
            </a:pPr>
            <a:r>
              <a:t>S [VA]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01168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13304E"/>
                </a:solidFill>
                <a:latin typeface="Aptos"/>
              </a:defRPr>
            </a:pPr>
            <a:r>
              <a:t>cos φ = P /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97180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F2D39"/>
                </a:solidFill>
                <a:latin typeface="Aptos"/>
              </a:defRPr>
            </a:pPr>
            <a:r>
              <a:t>Q = √(S² − P²)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114800"/>
            <a:ext cx="3063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1F2D39"/>
                </a:solidFill>
                <a:latin typeface="Aptos"/>
              </a:defRPr>
            </a:pPr>
            <a:r>
              <a:t>Jó cos φ → kisebb áramterhelés ugyanahhoz a hasznos teljesítményhez.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U = 400 V • I = 8 A • cos φ = 0,82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ETE-010 • 10.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280160"/>
          </a:xfrm>
          <a:prstGeom prst="rect">
            <a:avLst/>
          </a:prstGeom>
          <a:solidFill>
            <a:srgbClr val="2A74B2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017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1. Látszólagos teljesítmény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84248"/>
            <a:ext cx="3017520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S = √3 × 400 × 8</a:t>
            </a:r>
            <a:br/>
            <a:r>
              <a:t>S ≈ 5543 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880360"/>
            <a:ext cx="73152" cy="1280160"/>
          </a:xfrm>
          <a:prstGeom prst="rect">
            <a:avLst/>
          </a:prstGeom>
          <a:solidFill>
            <a:srgbClr val="498B6A"/>
          </a:solidFill>
          <a:ln>
            <a:solidFill>
              <a:srgbClr val="498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3017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2. Hatásos teljesítmény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3017520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P = S × cos φ</a:t>
            </a:r>
            <a:br/>
            <a:r>
              <a:t>P ≈ 5543 × 0,82 ≈ 4545 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34340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343400"/>
            <a:ext cx="73152" cy="1280160"/>
          </a:xfrm>
          <a:prstGeom prst="rect">
            <a:avLst/>
          </a:prstGeom>
          <a:solidFill>
            <a:srgbClr val="D48B37"/>
          </a:solidFill>
          <a:ln>
            <a:solidFill>
              <a:srgbClr val="D48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3017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3. Meddő teljesítmény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10328"/>
            <a:ext cx="3017520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Q = √(S² − P²)</a:t>
            </a:r>
            <a:br/>
            <a:r>
              <a:t>Q ≈ 3175 var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417320"/>
            <a:ext cx="66751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1783080"/>
            <a:ext cx="5943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5E7180"/>
                </a:solidFill>
                <a:latin typeface="Aptos"/>
              </a:defRPr>
            </a:pPr>
            <a:r>
              <a:t>EREDMÉNY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423160"/>
            <a:ext cx="5943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100" b="1">
                <a:solidFill>
                  <a:srgbClr val="2A74B2"/>
                </a:solidFill>
                <a:latin typeface="Aptos"/>
              </a:defRPr>
            </a:pPr>
            <a:r>
              <a:t>5,54 kVA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246120"/>
            <a:ext cx="5943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100" b="1">
                <a:solidFill>
                  <a:srgbClr val="498B6A"/>
                </a:solidFill>
                <a:latin typeface="Aptos"/>
              </a:defRPr>
            </a:pPr>
            <a:r>
              <a:t>4,55 kW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4069080"/>
            <a:ext cx="5943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100" b="1">
                <a:solidFill>
                  <a:srgbClr val="D48B37"/>
                </a:solidFill>
                <a:latin typeface="Aptos"/>
              </a:defRPr>
            </a:pPr>
            <a:r>
              <a:t>3,18 kvar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Motor adattábla - mit olvasunk 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ETE-010 • 10.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669280" cy="4480560"/>
          </a:xfrm>
          <a:prstGeom prst="roundRect">
            <a:avLst/>
          </a:prstGeom>
          <a:solidFill>
            <a:srgbClr val="E6EAED"/>
          </a:solidFill>
          <a:ln>
            <a:solidFill>
              <a:srgbClr val="5E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5120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3~ ASYNCHRON MOTOR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240280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5E7180"/>
                </a:solidFill>
                <a:latin typeface="Aptos"/>
              </a:defRPr>
            </a:pPr>
            <a:r>
              <a:t>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24028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F2D39"/>
                </a:solidFill>
                <a:latin typeface="Aptos"/>
              </a:defRPr>
            </a:pPr>
            <a:r>
              <a:t>400 / 690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70632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5E7180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70632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F2D39"/>
                </a:solidFill>
                <a:latin typeface="Aptos"/>
              </a:defRPr>
            </a:pPr>
            <a:r>
              <a:t>8,2 / 4,7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300984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5E7180"/>
                </a:solidFill>
                <a:latin typeface="Aptos"/>
              </a:defRPr>
            </a:pPr>
            <a:r>
              <a:t>P₂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300984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F2D39"/>
                </a:solidFill>
                <a:latin typeface="Aptos"/>
              </a:defRPr>
            </a:pPr>
            <a:r>
              <a:t>4,0 kW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831336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5E7180"/>
                </a:solidFill>
                <a:latin typeface="Aptos"/>
              </a:defRPr>
            </a:pPr>
            <a:r>
              <a:t>cos 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831336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F2D39"/>
                </a:solidFill>
                <a:latin typeface="Aptos"/>
              </a:defRPr>
            </a:pPr>
            <a:r>
              <a:t>0,82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36168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5E7180"/>
                </a:solidFill>
                <a:latin typeface="Aptos"/>
              </a:defRPr>
            </a:pPr>
            <a:r>
              <a:t>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361688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F2D39"/>
                </a:solidFill>
                <a:latin typeface="Aptos"/>
              </a:defRPr>
            </a:pPr>
            <a:r>
              <a:t>88 %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892040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5E7180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9204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F2D39"/>
                </a:solidFill>
                <a:latin typeface="Aptos"/>
              </a:defRPr>
            </a:pPr>
            <a:r>
              <a:t>50 Hz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1325880"/>
            <a:ext cx="4297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1325880"/>
            <a:ext cx="73152" cy="1234440"/>
          </a:xfrm>
          <a:prstGeom prst="rect">
            <a:avLst/>
          </a:prstGeom>
          <a:solidFill>
            <a:srgbClr val="2A74B2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1463039"/>
            <a:ext cx="3886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A hálózat terhelése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1892807"/>
            <a:ext cx="388620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U, I és cos φ alapján számítható.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2788920"/>
            <a:ext cx="4297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03720" y="2788920"/>
            <a:ext cx="73152" cy="1234440"/>
          </a:xfrm>
          <a:prstGeom prst="rect">
            <a:avLst/>
          </a:prstGeom>
          <a:solidFill>
            <a:srgbClr val="498B6A"/>
          </a:solidFill>
          <a:ln>
            <a:solidFill>
              <a:srgbClr val="498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2926079"/>
            <a:ext cx="3886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A tengely hasznos teljesítménye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355848"/>
            <a:ext cx="388620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P₂ az adattáblán; a felvett P₁ ennél nagyobb a veszteségek miatt.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4251960"/>
            <a:ext cx="4297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03720" y="4251960"/>
            <a:ext cx="73152" cy="1234440"/>
          </a:xfrm>
          <a:prstGeom prst="rect">
            <a:avLst/>
          </a:prstGeom>
          <a:solidFill>
            <a:srgbClr val="D48B37"/>
          </a:solidFill>
          <a:ln>
            <a:solidFill>
              <a:srgbClr val="D48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4389120"/>
            <a:ext cx="3886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Motorválasztás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818888"/>
            <a:ext cx="388620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P, cos φ, hatásfok, indítási áram és kapcsolás együtt számít.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Mérőlabor - számítás és mérés találkozása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ETE-010 • 10.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6002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057400"/>
            <a:ext cx="594360" cy="594360"/>
          </a:xfrm>
          <a:prstGeom prst="roundRect">
            <a:avLst/>
          </a:prstGeom>
          <a:solidFill>
            <a:srgbClr val="2A74B2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3464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Adattábla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337560"/>
            <a:ext cx="1371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D39"/>
                </a:solidFill>
                <a:latin typeface="Aptos"/>
              </a:defRPr>
            </a:pPr>
            <a:r>
              <a:t>névleges adatok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80" y="3063240"/>
            <a:ext cx="274320" cy="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2032" y="1828800"/>
            <a:ext cx="16002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44952" y="2057400"/>
            <a:ext cx="594360" cy="594360"/>
          </a:xfrm>
          <a:prstGeom prst="roundRect">
            <a:avLst/>
          </a:prstGeom>
          <a:solidFill>
            <a:srgbClr val="2A74B2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0574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83464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U mérés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337560"/>
            <a:ext cx="1371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D39"/>
                </a:solidFill>
                <a:latin typeface="Aptos"/>
              </a:defRPr>
            </a:pPr>
            <a:r>
              <a:t>vonali feszültség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42232" y="3063240"/>
            <a:ext cx="274320" cy="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443984" y="1828800"/>
            <a:ext cx="16002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46904" y="2057400"/>
            <a:ext cx="594360" cy="594360"/>
          </a:xfrm>
          <a:prstGeom prst="roundRect">
            <a:avLst/>
          </a:prstGeom>
          <a:solidFill>
            <a:srgbClr val="2A74B2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20574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283464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I mérés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337560"/>
            <a:ext cx="1371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D39"/>
                </a:solidFill>
                <a:latin typeface="Aptos"/>
              </a:defRPr>
            </a:pPr>
            <a:r>
              <a:t>lakatfogó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44184" y="3063240"/>
            <a:ext cx="274320" cy="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45936" y="1828800"/>
            <a:ext cx="16002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48856" y="2057400"/>
            <a:ext cx="594360" cy="594360"/>
          </a:xfrm>
          <a:prstGeom prst="roundRect">
            <a:avLst/>
          </a:prstGeom>
          <a:solidFill>
            <a:srgbClr val="2A74B2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48856" y="20574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283464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cos 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3337560"/>
            <a:ext cx="1371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D39"/>
                </a:solidFill>
                <a:latin typeface="Aptos"/>
              </a:defRPr>
            </a:pPr>
            <a:r>
              <a:t>teljesítménymérő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46136" y="3063240"/>
            <a:ext cx="274320" cy="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47888" y="1828800"/>
            <a:ext cx="16002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50808" y="2057400"/>
            <a:ext cx="594360" cy="594360"/>
          </a:xfrm>
          <a:prstGeom prst="roundRect">
            <a:avLst/>
          </a:prstGeom>
          <a:solidFill>
            <a:srgbClr val="2A74B2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50808" y="20574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283464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P számítás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5" y="3337560"/>
            <a:ext cx="1371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D39"/>
                </a:solidFill>
                <a:latin typeface="Aptos"/>
              </a:defRPr>
            </a:pPr>
            <a:r>
              <a:t>√3·U·I·cosφ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48088" y="3063240"/>
            <a:ext cx="274320" cy="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149840" y="1828800"/>
            <a:ext cx="16002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652760" y="2057400"/>
            <a:ext cx="594360" cy="594360"/>
          </a:xfrm>
          <a:prstGeom prst="roundRect">
            <a:avLst/>
          </a:prstGeom>
          <a:solidFill>
            <a:srgbClr val="2A74B2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52760" y="20574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9567" y="283464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59567" y="3337560"/>
            <a:ext cx="1371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D39"/>
                </a:solidFill>
                <a:latin typeface="Aptos"/>
              </a:defRPr>
            </a:pPr>
            <a:r>
              <a:t>névleges adattal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498B6A"/>
                </a:solidFill>
                <a:latin typeface="Aptos"/>
              </a:defRPr>
            </a:pPr>
            <a:r>
              <a:t>Cél: a számított és mért teljesítményértékek összehasonlítása.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Négy tipikus hiba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Ezek viszik félre leggyakrabban a háromfázisú számítást.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ETE-010 • 10.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594360" cy="594360"/>
          </a:xfrm>
          <a:prstGeom prst="roundRect">
            <a:avLst/>
          </a:prstGeom>
          <a:solidFill>
            <a:srgbClr val="D48B37"/>
          </a:solidFill>
          <a:ln>
            <a:solidFill>
              <a:srgbClr val="D48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737360"/>
            <a:ext cx="3794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√3 kimarad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21991"/>
            <a:ext cx="3794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A számított teljesítmény túl kicsi lesz.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087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828800"/>
            <a:ext cx="594360" cy="594360"/>
          </a:xfrm>
          <a:prstGeom prst="roundRect">
            <a:avLst/>
          </a:prstGeom>
          <a:solidFill>
            <a:srgbClr val="D48B37"/>
          </a:solidFill>
          <a:ln>
            <a:solidFill>
              <a:srgbClr val="D48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737360"/>
            <a:ext cx="3794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U fázis/vonal keveredik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221991"/>
            <a:ext cx="3794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230 V és 400 V nem felcserélhető.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661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3886200"/>
            <a:ext cx="594360" cy="594360"/>
          </a:xfrm>
          <a:prstGeom prst="roundRect">
            <a:avLst/>
          </a:prstGeom>
          <a:solidFill>
            <a:srgbClr val="D48B37"/>
          </a:solidFill>
          <a:ln>
            <a:solidFill>
              <a:srgbClr val="D48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8862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794760"/>
            <a:ext cx="3794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cos φ hibás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279392"/>
            <a:ext cx="3794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A hatásos teljesítmény eredménye torzul.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5661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0" y="3886200"/>
            <a:ext cx="594360" cy="594360"/>
          </a:xfrm>
          <a:prstGeom prst="roundRect">
            <a:avLst/>
          </a:prstGeom>
          <a:solidFill>
            <a:srgbClr val="D48B37"/>
          </a:solidFill>
          <a:ln>
            <a:solidFill>
              <a:srgbClr val="D48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88620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794760"/>
            <a:ext cx="3794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Mértékegység téves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4279392"/>
            <a:ext cx="3794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W, var és VA nem ugyanaz.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IAP MÉRNÖKI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417320"/>
            <a:ext cx="100584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Alkalmas-e a meglévő tápkábel</a:t>
            </a:r>
            <a:br/>
            <a:r>
              <a:t>egy új motor ellátására?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46120"/>
            <a:ext cx="3154680" cy="160020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456432"/>
            <a:ext cx="2788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1. Motor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977639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ptos"/>
              </a:defRPr>
            </a:pPr>
            <a:r>
              <a:t>P, U, I, cos φ, 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3246120"/>
            <a:ext cx="3154680" cy="160020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3456432"/>
            <a:ext cx="2788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2. Kábel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977639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ptos"/>
              </a:defRPr>
            </a:pPr>
            <a:r>
              <a:t>keresztmetszet, hossz, fektetés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3246120"/>
            <a:ext cx="3154680" cy="160020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3456432"/>
            <a:ext cx="2788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3. Védelem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977639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ptos"/>
              </a:defRPr>
            </a:pPr>
            <a:r>
              <a:t>terhelhetőség, zárlat, feszültségesés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32120"/>
            <a:ext cx="9966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A teljesítményszámítás csak az első lépés a méretezésben.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Amit ezen a héten megtanultál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ETE-010 • 10.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73152" cy="1828800"/>
          </a:xfrm>
          <a:prstGeom prst="rect">
            <a:avLst/>
          </a:prstGeom>
          <a:solidFill>
            <a:srgbClr val="2A74B2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39"/>
            <a:ext cx="292607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Képletek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92807"/>
            <a:ext cx="2926079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P = √3·U·I·cos φ</a:t>
            </a:r>
            <a:br/>
            <a:r>
              <a:t>Q = √3·U·I·sin φ</a:t>
            </a:r>
            <a:br/>
            <a:r>
              <a:t>S = √3·U·I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73152" cy="1828800"/>
          </a:xfrm>
          <a:prstGeom prst="rect">
            <a:avLst/>
          </a:prstGeom>
          <a:solidFill>
            <a:srgbClr val="498B6A"/>
          </a:solidFill>
          <a:ln>
            <a:solidFill>
              <a:srgbClr val="498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463039"/>
            <a:ext cx="292607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Értelmezés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92807"/>
            <a:ext cx="2926079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P = hasznos</a:t>
            </a:r>
            <a:br/>
            <a:r>
              <a:t>Q = meddő</a:t>
            </a:r>
            <a:br/>
            <a:r>
              <a:t>S = hálózati terhelés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73152" cy="1828800"/>
          </a:xfrm>
          <a:prstGeom prst="rect">
            <a:avLst/>
          </a:prstGeom>
          <a:solidFill>
            <a:srgbClr val="D48B37"/>
          </a:solidFill>
          <a:ln>
            <a:solidFill>
              <a:srgbClr val="D48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63039"/>
            <a:ext cx="292607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304E"/>
                </a:solidFill>
                <a:latin typeface="Aptos"/>
              </a:defRPr>
            </a:pPr>
            <a:r>
              <a:t>Gyakorlat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92807"/>
            <a:ext cx="2926079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D39"/>
                </a:solidFill>
                <a:latin typeface="Aptos"/>
              </a:defRPr>
            </a:pPr>
            <a:r>
              <a:t>motor adattábla</a:t>
            </a:r>
            <a:br/>
            <a:r>
              <a:t>mérés</a:t>
            </a:r>
            <a:br/>
            <a:r>
              <a:t>ellenőrzés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77639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3304E"/>
                </a:solidFill>
                <a:latin typeface="Aptos"/>
              </a:defRPr>
            </a:pPr>
            <a:r>
              <a:t>HÁZI FELADAT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80560"/>
            <a:ext cx="67665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1F2D39"/>
                </a:solidFill>
                <a:latin typeface="Aptos"/>
              </a:defRPr>
            </a:pPr>
            <a:r>
              <a:t>400 V • 12 A • cos φ = 0,86</a:t>
            </a:r>
            <a:br/>
            <a:r>
              <a:t>Számítsd ki a motor látszólagos és hatásos teljesítményét!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4069080"/>
            <a:ext cx="2514600" cy="1325880"/>
          </a:xfrm>
          <a:prstGeom prst="roundRect">
            <a:avLst/>
          </a:prstGeom>
          <a:solidFill>
            <a:srgbClr val="13304E"/>
          </a:solidFill>
          <a:ln>
            <a:solidFill>
              <a:srgbClr val="13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4069080"/>
            <a:ext cx="25146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S = ?</a:t>
            </a:r>
            <a:br/>
            <a:r>
              <a:t>P =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t>A HÁROMFÁZISÚ</a:t>
            </a:r>
            <a:br/>
            <a:r>
              <a:t>ASZINKRONMOTOR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3756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ptos"/>
              </a:defRPr>
            </a:pPr>
            <a:r>
              <a:t>felépítés • forgó mágneses tér • szlip • működés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69080" y="4251960"/>
            <a:ext cx="4023360" cy="118872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389120" y="4434840"/>
            <a:ext cx="0" cy="822960"/>
          </a:xfrm>
          <a:prstGeom prst="line">
            <a:avLst/>
          </a:prstGeom>
          <a:ln w="25400">
            <a:solidFill>
              <a:srgbClr val="96C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892040" y="4434840"/>
            <a:ext cx="0" cy="822960"/>
          </a:xfrm>
          <a:prstGeom prst="line">
            <a:avLst/>
          </a:prstGeom>
          <a:ln w="25400">
            <a:solidFill>
              <a:srgbClr val="96C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394960" y="4434840"/>
            <a:ext cx="0" cy="822960"/>
          </a:xfrm>
          <a:prstGeom prst="line">
            <a:avLst/>
          </a:prstGeom>
          <a:ln w="25400">
            <a:solidFill>
              <a:srgbClr val="96C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97880" y="4434840"/>
            <a:ext cx="0" cy="822960"/>
          </a:xfrm>
          <a:prstGeom prst="line">
            <a:avLst/>
          </a:prstGeom>
          <a:ln w="25400">
            <a:solidFill>
              <a:srgbClr val="96C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4434840"/>
            <a:ext cx="0" cy="822960"/>
          </a:xfrm>
          <a:prstGeom prst="line">
            <a:avLst/>
          </a:prstGeom>
          <a:ln w="25400">
            <a:solidFill>
              <a:srgbClr val="96C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03720" y="4434840"/>
            <a:ext cx="0" cy="822960"/>
          </a:xfrm>
          <a:prstGeom prst="line">
            <a:avLst/>
          </a:prstGeom>
          <a:ln w="25400">
            <a:solidFill>
              <a:srgbClr val="96C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06640" y="4434840"/>
            <a:ext cx="0" cy="822960"/>
          </a:xfrm>
          <a:prstGeom prst="line">
            <a:avLst/>
          </a:prstGeom>
          <a:ln w="25400">
            <a:solidFill>
              <a:srgbClr val="96C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092440" y="4617720"/>
            <a:ext cx="1051560" cy="457200"/>
          </a:xfrm>
          <a:prstGeom prst="rect">
            <a:avLst/>
          </a:prstGeom>
          <a:solidFill>
            <a:srgbClr val="78A0BE"/>
          </a:solidFill>
          <a:ln>
            <a:solidFill>
              <a:srgbClr val="78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