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30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8288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97280"/>
            <a:ext cx="64008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ptos"/>
              </a:defRPr>
            </a:pPr>
            <a:r>
              <a:t>11. évfolyam • Elektrotechnika • ETE-017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737360"/>
            <a:ext cx="7498079" cy="1554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100" b="1">
                <a:solidFill>
                  <a:srgbClr val="FFFFFF"/>
                </a:solidFill>
                <a:latin typeface="Aptos"/>
              </a:defRPr>
            </a:pPr>
            <a:r>
              <a:t>FREKVENCIAVÁLTÓK</a:t>
            </a:r>
            <a:br/>
            <a:r>
              <a:t>PARAMÉTEREZÉSE ÉS ÜZEMBE HELYEZÉSE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38160" y="1828800"/>
            <a:ext cx="822960" cy="822960"/>
          </a:xfrm>
          <a:prstGeom prst="roundRect">
            <a:avLst/>
          </a:prstGeom>
          <a:solidFill>
            <a:srgbClr val="2B5376"/>
          </a:solidFill>
          <a:ln>
            <a:solidFill>
              <a:srgbClr val="82B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0" y="1828800"/>
            <a:ext cx="82296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89720" y="1828800"/>
            <a:ext cx="822960" cy="822960"/>
          </a:xfrm>
          <a:prstGeom prst="roundRect">
            <a:avLst/>
          </a:prstGeom>
          <a:solidFill>
            <a:srgbClr val="2B5376"/>
          </a:solidFill>
          <a:ln>
            <a:solidFill>
              <a:srgbClr val="82B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89720" y="1828800"/>
            <a:ext cx="82296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241280" y="1828800"/>
            <a:ext cx="822960" cy="822960"/>
          </a:xfrm>
          <a:prstGeom prst="roundRect">
            <a:avLst/>
          </a:prstGeom>
          <a:solidFill>
            <a:srgbClr val="2B5376"/>
          </a:solidFill>
          <a:ln>
            <a:solidFill>
              <a:srgbClr val="82B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0" y="1828800"/>
            <a:ext cx="82296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3063240"/>
            <a:ext cx="822960" cy="822960"/>
          </a:xfrm>
          <a:prstGeom prst="roundRect">
            <a:avLst/>
          </a:prstGeom>
          <a:solidFill>
            <a:srgbClr val="2B5376"/>
          </a:solidFill>
          <a:ln>
            <a:solidFill>
              <a:srgbClr val="82B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3063240"/>
            <a:ext cx="82296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f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89720" y="3063240"/>
            <a:ext cx="822960" cy="822960"/>
          </a:xfrm>
          <a:prstGeom prst="roundRect">
            <a:avLst/>
          </a:prstGeom>
          <a:solidFill>
            <a:srgbClr val="2B5376"/>
          </a:solidFill>
          <a:ln>
            <a:solidFill>
              <a:srgbClr val="82B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89720" y="3063240"/>
            <a:ext cx="82296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t↑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41280" y="3063240"/>
            <a:ext cx="822960" cy="822960"/>
          </a:xfrm>
          <a:prstGeom prst="roundRect">
            <a:avLst/>
          </a:prstGeom>
          <a:solidFill>
            <a:srgbClr val="2B5376"/>
          </a:solidFill>
          <a:ln>
            <a:solidFill>
              <a:srgbClr val="82B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0" y="3063240"/>
            <a:ext cx="82296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t↓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069080"/>
            <a:ext cx="64008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800" b="0">
                <a:solidFill>
                  <a:srgbClr val="B4DCF2"/>
                </a:solidFill>
                <a:latin typeface="Aptos"/>
              </a:defRPr>
            </a:pPr>
            <a:r>
              <a:t>motoradatok • rámpák • I/O • próbaüzem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700" b="1">
                <a:solidFill>
                  <a:srgbClr val="13304E"/>
                </a:solidFill>
                <a:latin typeface="Aptos"/>
              </a:defRPr>
            </a:pPr>
            <a:r>
              <a:t>Üzembe helyezés - 9 lépés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A jó indítás sorrenddel kezdődik.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ETE-017 • 17.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25880"/>
            <a:ext cx="33375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39"/>
            <a:ext cx="306324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A74B2"/>
                </a:solidFill>
                <a:latin typeface="Aptos"/>
              </a:defRPr>
            </a:pPr>
            <a:r>
              <a:t>1. Szemrevételezés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325880"/>
            <a:ext cx="33375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40" y="1463039"/>
            <a:ext cx="306324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98B6A"/>
                </a:solidFill>
                <a:latin typeface="Aptos"/>
              </a:defRPr>
            </a:pPr>
            <a:r>
              <a:t>2. Bekötések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1325880"/>
            <a:ext cx="33375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463039"/>
            <a:ext cx="306324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48B37"/>
                </a:solidFill>
                <a:latin typeface="Aptos"/>
              </a:defRPr>
            </a:pPr>
            <a:r>
              <a:t>3. Földelés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834639"/>
            <a:ext cx="33375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971799"/>
            <a:ext cx="306324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A74B2"/>
                </a:solidFill>
                <a:latin typeface="Aptos"/>
              </a:defRPr>
            </a:pPr>
            <a:r>
              <a:t>4. Motoradatok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2834639"/>
            <a:ext cx="33375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2971799"/>
            <a:ext cx="306324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98B6A"/>
                </a:solidFill>
                <a:latin typeface="Aptos"/>
              </a:defRPr>
            </a:pPr>
            <a:r>
              <a:t>5. Paraméterezés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2834639"/>
            <a:ext cx="33375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2971799"/>
            <a:ext cx="306324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48B37"/>
                </a:solidFill>
                <a:latin typeface="Aptos"/>
              </a:defRPr>
            </a:pPr>
            <a:r>
              <a:t>6. Próbaindítás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343400"/>
            <a:ext cx="33375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480560"/>
            <a:ext cx="306324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A74B2"/>
                </a:solidFill>
                <a:latin typeface="Aptos"/>
              </a:defRPr>
            </a:pPr>
            <a:r>
              <a:t>7. Forgásirány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0" y="4343400"/>
            <a:ext cx="33375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34840" y="4480560"/>
            <a:ext cx="306324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98B6A"/>
                </a:solidFill>
                <a:latin typeface="Aptos"/>
              </a:defRPr>
            </a:pPr>
            <a:r>
              <a:t>8. Terheléses próba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92440" y="4343400"/>
            <a:ext cx="33375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0" y="4480560"/>
            <a:ext cx="306324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48B37"/>
                </a:solidFill>
                <a:latin typeface="Aptos"/>
              </a:defRPr>
            </a:pPr>
            <a:r>
              <a:t>9. Dokumentálás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700" b="1">
                <a:solidFill>
                  <a:srgbClr val="13304E"/>
                </a:solidFill>
                <a:latin typeface="Aptos"/>
              </a:defRPr>
            </a:pPr>
            <a:r>
              <a:t>A motor adattáblája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A paraméterezés alapja.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ETE-017 • 17.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242316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214884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A74B2"/>
                </a:solidFill>
                <a:latin typeface="Aptos"/>
              </a:defRPr>
            </a:pPr>
            <a:r>
              <a:t>Feszültség U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79" y="1417320"/>
            <a:ext cx="242316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0439" y="1737360"/>
            <a:ext cx="214884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98B6A"/>
                </a:solidFill>
                <a:latin typeface="Aptos"/>
              </a:defRPr>
            </a:pPr>
            <a:r>
              <a:t>Áram 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417320"/>
            <a:ext cx="242316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737360"/>
            <a:ext cx="214884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D48B37"/>
                </a:solidFill>
                <a:latin typeface="Aptos"/>
              </a:defRPr>
            </a:pPr>
            <a:r>
              <a:t>Teljesítmény 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19" y="1417320"/>
            <a:ext cx="242316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98280" y="1737360"/>
            <a:ext cx="214884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A74B2"/>
                </a:solidFill>
                <a:latin typeface="Aptos"/>
              </a:defRPr>
            </a:pPr>
            <a:r>
              <a:t>Frekvencia f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3337560"/>
            <a:ext cx="242316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657600"/>
            <a:ext cx="214884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98B6A"/>
                </a:solidFill>
                <a:latin typeface="Aptos"/>
              </a:defRPr>
            </a:pPr>
            <a:r>
              <a:t>Fordulatszám 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83279" y="3337560"/>
            <a:ext cx="242316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39" y="3657600"/>
            <a:ext cx="214884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D48B37"/>
                </a:solidFill>
                <a:latin typeface="Aptos"/>
              </a:defRPr>
            </a:pPr>
            <a:r>
              <a:t>cosφ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337560"/>
            <a:ext cx="242316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3657600"/>
            <a:ext cx="214884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A74B2"/>
                </a:solidFill>
                <a:latin typeface="Aptos"/>
              </a:defRPr>
            </a:pPr>
            <a:r>
              <a:t>Hatásfok 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257800"/>
            <a:ext cx="103327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100" b="1">
                <a:solidFill>
                  <a:srgbClr val="13304E"/>
                </a:solidFill>
                <a:latin typeface="Aptos"/>
              </a:defRPr>
            </a:pPr>
            <a:r>
              <a:t>Hibás motoradat → hibás hajtásbeállítás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700" b="1">
                <a:solidFill>
                  <a:srgbClr val="13304E"/>
                </a:solidFill>
                <a:latin typeface="Aptos"/>
              </a:defRPr>
            </a:pPr>
            <a:r>
              <a:t>A legfontosabb paraméterek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Mit kell elsőként beállítani?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ETE-017 • 17.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338328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81912"/>
            <a:ext cx="30175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A74B2"/>
                </a:solidFill>
                <a:latin typeface="Aptos"/>
              </a:defRPr>
            </a:pPr>
            <a:r>
              <a:t>MOTORADATOK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75688"/>
            <a:ext cx="2926080" cy="274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névleges P</a:t>
            </a:r>
            <a:br/>
            <a:r>
              <a:t>névleges U</a:t>
            </a:r>
            <a:br/>
            <a:r>
              <a:t>névleges 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17320"/>
            <a:ext cx="338328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581912"/>
            <a:ext cx="30175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98B6A"/>
                </a:solidFill>
                <a:latin typeface="Aptos"/>
              </a:defRPr>
            </a:pPr>
            <a:r>
              <a:t>RÁMPÁK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075688"/>
            <a:ext cx="2926080" cy="274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gyorsítási idő</a:t>
            </a:r>
            <a:br/>
            <a:r>
              <a:t>lassítási idő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417320"/>
            <a:ext cx="338328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19" y="1581912"/>
            <a:ext cx="30175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D48B37"/>
                </a:solidFill>
                <a:latin typeface="Aptos"/>
              </a:defRPr>
            </a:pPr>
            <a:r>
              <a:t>FREKVENCIA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075688"/>
            <a:ext cx="2926080" cy="274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minimum</a:t>
            </a:r>
            <a:br/>
            <a:r>
              <a:t>maximum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700" b="1">
                <a:solidFill>
                  <a:srgbClr val="13304E"/>
                </a:solidFill>
                <a:latin typeface="Aptos"/>
              </a:defRPr>
            </a:pPr>
            <a:r>
              <a:t>Gyorsítás és lassítás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A rámpák kímélik a hajtást és a gépet.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ETE-017 • 17.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5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1005840" y="1508760"/>
            <a:ext cx="0" cy="3246120"/>
          </a:xfrm>
          <a:prstGeom prst="line">
            <a:avLst/>
          </a:prstGeom>
          <a:ln w="25400">
            <a:solidFill>
              <a:srgbClr val="5E71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05840" y="4754880"/>
            <a:ext cx="4480560" cy="0"/>
          </a:xfrm>
          <a:prstGeom prst="line">
            <a:avLst/>
          </a:prstGeom>
          <a:ln w="25400">
            <a:solidFill>
              <a:srgbClr val="5E71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1188720" y="1828800"/>
            <a:ext cx="4023360" cy="2743200"/>
          </a:xfrm>
          <a:prstGeom prst="line">
            <a:avLst/>
          </a:prstGeom>
          <a:ln w="76200">
            <a:solidFill>
              <a:srgbClr val="498B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103120" y="2743200"/>
            <a:ext cx="20116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498B6A"/>
                </a:solidFill>
                <a:latin typeface="Aptos"/>
              </a:defRPr>
            </a:pPr>
            <a:r>
              <a:t>GYORSÍTÁS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6492240" y="1508760"/>
            <a:ext cx="0" cy="3246120"/>
          </a:xfrm>
          <a:prstGeom prst="line">
            <a:avLst/>
          </a:prstGeom>
          <a:ln w="25400">
            <a:solidFill>
              <a:srgbClr val="5E71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492240" y="4754880"/>
            <a:ext cx="4480560" cy="0"/>
          </a:xfrm>
          <a:prstGeom prst="line">
            <a:avLst/>
          </a:prstGeom>
          <a:ln w="25400">
            <a:solidFill>
              <a:srgbClr val="5E71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675120" y="1828800"/>
            <a:ext cx="4023360" cy="2743200"/>
          </a:xfrm>
          <a:prstGeom prst="line">
            <a:avLst/>
          </a:prstGeom>
          <a:ln w="76200">
            <a:solidFill>
              <a:srgbClr val="D4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772400" y="2743200"/>
            <a:ext cx="20116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D48B37"/>
                </a:solidFill>
                <a:latin typeface="Aptos"/>
              </a:defRPr>
            </a:pPr>
            <a:r>
              <a:t>LASSÍTÁS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700" b="1">
                <a:solidFill>
                  <a:srgbClr val="13304E"/>
                </a:solidFill>
                <a:latin typeface="Aptos"/>
              </a:defRPr>
            </a:pPr>
            <a:r>
              <a:t>Digitális vezérlés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Egyszerű parancsok a hajtásnak.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ETE-017 • 17.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246888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331720"/>
            <a:ext cx="22860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b="1">
                <a:solidFill>
                  <a:srgbClr val="498B6A"/>
                </a:solidFill>
                <a:latin typeface="Aptos"/>
              </a:defRPr>
            </a:pPr>
            <a:r>
              <a:t>START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40" y="1828800"/>
            <a:ext cx="246888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80" y="2331720"/>
            <a:ext cx="22860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b="1">
                <a:solidFill>
                  <a:srgbClr val="D48B37"/>
                </a:solidFill>
                <a:latin typeface="Aptos"/>
              </a:defRPr>
            </a:pPr>
            <a:r>
              <a:t>STOP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828800"/>
            <a:ext cx="246888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2331720"/>
            <a:ext cx="22860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b="1">
                <a:solidFill>
                  <a:srgbClr val="2A74B2"/>
                </a:solidFill>
                <a:latin typeface="Aptos"/>
              </a:defRPr>
            </a:pPr>
            <a:r>
              <a:t>ELŐRE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89720" y="1828800"/>
            <a:ext cx="246888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81160" y="2331720"/>
            <a:ext cx="22860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b="1">
                <a:solidFill>
                  <a:srgbClr val="56ACD6"/>
                </a:solidFill>
                <a:latin typeface="Aptos"/>
              </a:defRPr>
            </a:pPr>
            <a:r>
              <a:t>HÁTRA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800600"/>
            <a:ext cx="103327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13304E"/>
                </a:solidFill>
                <a:latin typeface="Aptos"/>
              </a:defRPr>
            </a:pPr>
            <a:r>
              <a:t>Digitális bemenet = kétállapotú vezérlőjel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700" b="1">
                <a:solidFill>
                  <a:srgbClr val="13304E"/>
                </a:solidFill>
                <a:latin typeface="Aptos"/>
              </a:defRPr>
            </a:pPr>
            <a:r>
              <a:t>Analóg vezérlés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Folyamatos alapjel a frekvenciához vagy fordulatszámhoz.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ETE-017 • 17.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554480"/>
            <a:ext cx="429768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719072"/>
            <a:ext cx="39319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A74B2"/>
                </a:solidFill>
                <a:latin typeface="Aptos"/>
              </a:defRPr>
            </a:pPr>
            <a:r>
              <a:t>0-10 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212848"/>
            <a:ext cx="3840480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feszültségalapú analóg vezérlőjel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554480"/>
            <a:ext cx="429768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719072"/>
            <a:ext cx="39319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98B6A"/>
                </a:solidFill>
                <a:latin typeface="Aptos"/>
              </a:defRPr>
            </a:pPr>
            <a:r>
              <a:t>4-20 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212848"/>
            <a:ext cx="3840480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áramalapú ipari analóg jel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166360"/>
            <a:ext cx="97840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13304E"/>
                </a:solidFill>
                <a:latin typeface="Aptos"/>
              </a:defRPr>
            </a:pPr>
            <a:r>
              <a:t>ANALÓG ALAPJEL → KÍVÁNT HAJTÁSÁLLAPOT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700" b="1">
                <a:solidFill>
                  <a:srgbClr val="13304E"/>
                </a:solidFill>
                <a:latin typeface="Aptos"/>
              </a:defRPr>
            </a:pPr>
            <a:r>
              <a:t>PLC + HMI + frekvenciaváltó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Egy tipikus ipari hajtáslánc.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ETE-017 • 17.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828800"/>
            <a:ext cx="31546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288036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b="1">
                <a:solidFill>
                  <a:srgbClr val="2A74B2"/>
                </a:solidFill>
                <a:latin typeface="Aptos"/>
              </a:defRPr>
            </a:pPr>
            <a:r>
              <a:t>PLC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88920"/>
            <a:ext cx="27889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0">
                <a:solidFill>
                  <a:srgbClr val="1F2D39"/>
                </a:solidFill>
                <a:latin typeface="Aptos"/>
              </a:defRPr>
            </a:pPr>
            <a:r>
              <a:t>vezérli a hajtást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749040" y="2743200"/>
            <a:ext cx="640080" cy="0"/>
          </a:xfrm>
          <a:prstGeom prst="line">
            <a:avLst/>
          </a:prstGeom>
          <a:ln w="50800">
            <a:solidFill>
              <a:srgbClr val="5E71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480560" y="1828800"/>
            <a:ext cx="31546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2103120"/>
            <a:ext cx="288036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b="1">
                <a:solidFill>
                  <a:srgbClr val="D48B37"/>
                </a:solidFill>
                <a:latin typeface="Aptos"/>
              </a:defRPr>
            </a:pPr>
            <a:r>
              <a:t>VFD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788920"/>
            <a:ext cx="27889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0">
                <a:solidFill>
                  <a:srgbClr val="1F2D39"/>
                </a:solidFill>
                <a:latin typeface="Aptos"/>
              </a:defRPr>
            </a:pPr>
            <a:r>
              <a:t>hajtja a motort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635240" y="2743200"/>
            <a:ext cx="640080" cy="0"/>
          </a:xfrm>
          <a:prstGeom prst="line">
            <a:avLst/>
          </a:prstGeom>
          <a:ln w="50800">
            <a:solidFill>
              <a:srgbClr val="5E71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366760" y="1828800"/>
            <a:ext cx="31546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2103120"/>
            <a:ext cx="288036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b="1">
                <a:solidFill>
                  <a:srgbClr val="498B6A"/>
                </a:solidFill>
                <a:latin typeface="Aptos"/>
              </a:defRPr>
            </a:pPr>
            <a:r>
              <a:t>MOTOR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2788920"/>
            <a:ext cx="27889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0">
                <a:solidFill>
                  <a:srgbClr val="1F2D39"/>
                </a:solidFill>
                <a:latin typeface="Aptos"/>
              </a:defRPr>
            </a:pPr>
            <a:r>
              <a:t>mechanikai munka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26280" y="4343400"/>
            <a:ext cx="31546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343400"/>
            <a:ext cx="2971800" cy="10515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56ACD6"/>
                </a:solidFill>
                <a:latin typeface="Aptos"/>
              </a:defRPr>
            </a:pPr>
            <a:r>
              <a:t>HMI: állapot • f • I • hibák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30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85800"/>
            <a:ext cx="106984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B4DCF2"/>
                </a:solidFill>
                <a:latin typeface="Aptos"/>
              </a:defRPr>
            </a:pPr>
            <a:r>
              <a:t>IPARI PÉLDA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Aptos"/>
              </a:defRPr>
            </a:pPr>
            <a:r>
              <a:t>TARTÁLYSZINT → PLC → FREKVENCIAVÁLTÓ → SZIVATTYÚ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971800"/>
            <a:ext cx="2423160" cy="1371600"/>
          </a:xfrm>
          <a:prstGeom prst="roundRect">
            <a:avLst/>
          </a:prstGeom>
          <a:solidFill>
            <a:srgbClr val="1F4365"/>
          </a:solidFill>
          <a:ln>
            <a:solidFill>
              <a:srgbClr val="5A8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971800"/>
            <a:ext cx="2423160" cy="1371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SZINTJEL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926080" y="3657600"/>
            <a:ext cx="365759" cy="0"/>
          </a:xfrm>
          <a:prstGeom prst="line">
            <a:avLst/>
          </a:prstGeom>
          <a:ln w="50800">
            <a:solidFill>
              <a:srgbClr val="B4DC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383280" y="2971800"/>
            <a:ext cx="2423160" cy="1371600"/>
          </a:xfrm>
          <a:prstGeom prst="roundRect">
            <a:avLst/>
          </a:prstGeom>
          <a:solidFill>
            <a:srgbClr val="1F4365"/>
          </a:solidFill>
          <a:ln>
            <a:solidFill>
              <a:srgbClr val="5A8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0" y="2971800"/>
            <a:ext cx="2423160" cy="1371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PLC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806440" y="3657600"/>
            <a:ext cx="365760" cy="0"/>
          </a:xfrm>
          <a:prstGeom prst="line">
            <a:avLst/>
          </a:prstGeom>
          <a:ln w="50800">
            <a:solidFill>
              <a:srgbClr val="B4DC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263640" y="2971800"/>
            <a:ext cx="2423160" cy="1371600"/>
          </a:xfrm>
          <a:prstGeom prst="roundRect">
            <a:avLst/>
          </a:prstGeom>
          <a:solidFill>
            <a:srgbClr val="1F4365"/>
          </a:solidFill>
          <a:ln>
            <a:solidFill>
              <a:srgbClr val="5A8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2971800"/>
            <a:ext cx="2423160" cy="1371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VFD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686800" y="3657600"/>
            <a:ext cx="365759" cy="0"/>
          </a:xfrm>
          <a:prstGeom prst="line">
            <a:avLst/>
          </a:prstGeom>
          <a:ln w="50800">
            <a:solidFill>
              <a:srgbClr val="B4DC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144000" y="2971800"/>
            <a:ext cx="2423160" cy="1371600"/>
          </a:xfrm>
          <a:prstGeom prst="roundRect">
            <a:avLst/>
          </a:prstGeom>
          <a:solidFill>
            <a:srgbClr val="1F4365"/>
          </a:solidFill>
          <a:ln>
            <a:solidFill>
              <a:srgbClr val="5A8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0" y="2971800"/>
            <a:ext cx="2423160" cy="1371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SZIVATTYÚ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700" b="1">
                <a:solidFill>
                  <a:srgbClr val="13304E"/>
                </a:solidFill>
                <a:latin typeface="Aptos"/>
              </a:defRPr>
            </a:pPr>
            <a:r>
              <a:t>Labor - első paraméterezés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Motoradatok → rámpák → próbaindítás → forgásirány.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ETE-017 • 17.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002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828800"/>
            <a:ext cx="960120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800" b="1">
                <a:solidFill>
                  <a:srgbClr val="2A74B2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108960"/>
            <a:ext cx="214884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13304E"/>
                </a:solidFill>
                <a:latin typeface="Aptos"/>
              </a:defRPr>
            </a:pPr>
            <a:r>
              <a:t>Motoradatok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6002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40" y="1828800"/>
            <a:ext cx="960120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800" b="1">
                <a:solidFill>
                  <a:srgbClr val="498B6A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3108960"/>
            <a:ext cx="214884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13304E"/>
                </a:solidFill>
                <a:latin typeface="Aptos"/>
              </a:defRPr>
            </a:pPr>
            <a:r>
              <a:t>t gyors / t lassú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6002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0" y="1828800"/>
            <a:ext cx="960120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800" b="1">
                <a:solidFill>
                  <a:srgbClr val="D48B37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3108960"/>
            <a:ext cx="214884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13304E"/>
                </a:solidFill>
                <a:latin typeface="Aptos"/>
              </a:defRPr>
            </a:pPr>
            <a:r>
              <a:t>Próbaindítás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98280" y="16002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0" y="1828800"/>
            <a:ext cx="960120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800" b="1">
                <a:solidFill>
                  <a:srgbClr val="56ACD6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81160" y="3108960"/>
            <a:ext cx="214884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13304E"/>
                </a:solidFill>
                <a:latin typeface="Aptos"/>
              </a:defRPr>
            </a:pPr>
            <a:r>
              <a:t>Forgásirány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30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85800"/>
            <a:ext cx="106984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B4DCF2"/>
                </a:solidFill>
                <a:latin typeface="Aptos"/>
              </a:defRPr>
            </a:pPr>
            <a:r>
              <a:t>MŰHELYTITOK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08760"/>
            <a:ext cx="1033272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Aptos"/>
              </a:defRPr>
            </a:pPr>
            <a:r>
              <a:t>ELSŐ INDÍTÁS ELŐTT: ELLENŐRIZD ÚJRA.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743200"/>
            <a:ext cx="4572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907792"/>
            <a:ext cx="42062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98B6A"/>
                </a:solidFill>
                <a:latin typeface="Aptos"/>
              </a:defRPr>
            </a:pPr>
            <a:r>
              <a:t>MOTOR ADATTÁBLA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401568"/>
            <a:ext cx="411480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helyes U • I • P • f • 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2743200"/>
            <a:ext cx="4572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0" y="2907792"/>
            <a:ext cx="42062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D48B37"/>
                </a:solidFill>
                <a:latin typeface="Aptos"/>
              </a:defRPr>
            </a:pPr>
            <a:r>
              <a:t>BEKÖTÉSEK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03720" y="3401568"/>
            <a:ext cx="411480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hálózat • motor • földelés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700" b="1">
                <a:solidFill>
                  <a:srgbClr val="13304E"/>
                </a:solidFill>
                <a:latin typeface="Aptos"/>
              </a:defRPr>
            </a:pPr>
            <a:r>
              <a:t>Üzembe helyezési ellenőrzőlista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Öt pont, amit dokumentálni is kell.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ETE-017 • 17.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325880"/>
            <a:ext cx="100584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1325880"/>
            <a:ext cx="548640" cy="7132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498B6A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325880"/>
            <a:ext cx="8686800" cy="7132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600" b="1">
                <a:solidFill>
                  <a:srgbClr val="1F2D39"/>
                </a:solidFill>
                <a:latin typeface="Aptos"/>
              </a:defRPr>
            </a:pPr>
            <a:r>
              <a:t>Bekötések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286000"/>
            <a:ext cx="100584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2286000"/>
            <a:ext cx="548640" cy="7132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498B6A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286000"/>
            <a:ext cx="8686800" cy="7132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600" b="1">
                <a:solidFill>
                  <a:srgbClr val="1F2D39"/>
                </a:solidFill>
                <a:latin typeface="Aptos"/>
              </a:defRPr>
            </a:pPr>
            <a:r>
              <a:t>Földelés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246120"/>
            <a:ext cx="100584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246120"/>
            <a:ext cx="548640" cy="7132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498B6A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246120"/>
            <a:ext cx="8686800" cy="7132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600" b="1">
                <a:solidFill>
                  <a:srgbClr val="1F2D39"/>
                </a:solidFill>
                <a:latin typeface="Aptos"/>
              </a:defRPr>
            </a:pPr>
            <a:r>
              <a:t>Paraméterek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206240"/>
            <a:ext cx="100584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4206240"/>
            <a:ext cx="548640" cy="7132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498B6A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4206240"/>
            <a:ext cx="8686800" cy="7132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600" b="1">
                <a:solidFill>
                  <a:srgbClr val="1F2D39"/>
                </a:solidFill>
                <a:latin typeface="Aptos"/>
              </a:defRPr>
            </a:pPr>
            <a:r>
              <a:t>Próbaüzem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5166360"/>
            <a:ext cx="100584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5166360"/>
            <a:ext cx="548640" cy="7132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498B6A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5166360"/>
            <a:ext cx="8686800" cy="7132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600" b="1">
                <a:solidFill>
                  <a:srgbClr val="1F2D39"/>
                </a:solidFill>
                <a:latin typeface="Aptos"/>
              </a:defRPr>
            </a:pPr>
            <a:r>
              <a:t>Dokumentálás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30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6984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B4DCF2"/>
                </a:solidFill>
                <a:latin typeface="Aptos"/>
              </a:defRPr>
            </a:pPr>
            <a:r>
              <a:t>KÖVETKEZŐ HÉT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08760"/>
            <a:ext cx="10332720" cy="1234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500" b="1">
                <a:solidFill>
                  <a:srgbClr val="FFFFFF"/>
                </a:solidFill>
                <a:latin typeface="Aptos"/>
              </a:defRPr>
            </a:pPr>
            <a:r>
              <a:t>PLC ÉS FREKVENCIAVÁLTÓ</a:t>
            </a:r>
            <a:br/>
            <a:r>
              <a:t>KOMMUNIKÁCIÓ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3657600"/>
            <a:ext cx="2514600" cy="1234440"/>
          </a:xfrm>
          <a:prstGeom prst="roundRect">
            <a:avLst/>
          </a:prstGeom>
          <a:solidFill>
            <a:srgbClr val="2B5376"/>
          </a:solidFill>
          <a:ln>
            <a:solidFill>
              <a:srgbClr val="82B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657600"/>
            <a:ext cx="2514600" cy="1234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DIGITÁLIS I/O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3657600"/>
            <a:ext cx="2514600" cy="1234440"/>
          </a:xfrm>
          <a:prstGeom prst="roundRect">
            <a:avLst/>
          </a:prstGeom>
          <a:solidFill>
            <a:srgbClr val="2B5376"/>
          </a:solidFill>
          <a:ln>
            <a:solidFill>
              <a:srgbClr val="82B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29000" y="3657600"/>
            <a:ext cx="2514600" cy="1234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ANALÓG JELEK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3657600"/>
            <a:ext cx="2514600" cy="1234440"/>
          </a:xfrm>
          <a:prstGeom prst="roundRect">
            <a:avLst/>
          </a:prstGeom>
          <a:solidFill>
            <a:srgbClr val="2B5376"/>
          </a:solidFill>
          <a:ln>
            <a:solidFill>
              <a:srgbClr val="82B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3640" y="3657600"/>
            <a:ext cx="2514600" cy="1234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MODBUS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98280" y="3657600"/>
            <a:ext cx="2514600" cy="1234440"/>
          </a:xfrm>
          <a:prstGeom prst="roundRect">
            <a:avLst/>
          </a:prstGeom>
          <a:solidFill>
            <a:srgbClr val="2B5376"/>
          </a:solidFill>
          <a:ln>
            <a:solidFill>
              <a:srgbClr val="82B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98280" y="3657600"/>
            <a:ext cx="2514600" cy="1234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ÁLLAPOT / HIBA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