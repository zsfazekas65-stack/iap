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Elektrotechnika • ETE-030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68580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ASZINKRON MOTOR</a:t>
            </a:r>
            <a:br/>
            <a:r>
              <a:t>INDÍTÁSI MÓDOK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60520"/>
            <a:ext cx="749807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0">
                <a:solidFill>
                  <a:srgbClr val="B4DCF2"/>
                </a:solidFill>
                <a:latin typeface="Aptos"/>
              </a:defRPr>
            </a:pPr>
            <a:r>
              <a:t>DOL • csillag–háromszög • lágyindító • frekvenciaváltó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508760"/>
            <a:ext cx="2468880" cy="246888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508760"/>
            <a:ext cx="2468880" cy="2468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t>M</a:t>
            </a:r>
            <a:br/>
            <a:r>
              <a:t>3~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Miért nem indítunk minden nagy motort közvetlenül?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ETE-030 • 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44805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NAGY INDÍTÁSI ÁRAM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438912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 hálózatot</a:t>
            </a:r>
            <a:br/>
            <a:r>
              <a:t>jelentősen terheli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41732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581912"/>
            <a:ext cx="44805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MECHANIKAI LÖKÉS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075688"/>
            <a:ext cx="438912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 hajtást és</a:t>
            </a:r>
            <a:br/>
            <a:r>
              <a:t>a gépet terheli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Négy indítási mód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hét fő összehasonlítása.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ETE-030 • 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508760"/>
            <a:ext cx="25146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73351"/>
            <a:ext cx="2148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DOL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67128"/>
            <a:ext cx="2057400" cy="2468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közvetlen</a:t>
            </a:r>
            <a:br/>
            <a:r>
              <a:t>hálózati indítás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508760"/>
            <a:ext cx="25146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673351"/>
            <a:ext cx="2148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Y–Δ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67128"/>
            <a:ext cx="2057400" cy="2468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csillag–háromszög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08760"/>
            <a:ext cx="25146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673351"/>
            <a:ext cx="2148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56ACD6"/>
                </a:solidFill>
                <a:latin typeface="Aptos"/>
              </a:defRPr>
            </a:pPr>
            <a:r>
              <a:t>LÁGYINDÍTÓ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67128"/>
            <a:ext cx="2057400" cy="2468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elektronikus</a:t>
            </a:r>
            <a:br/>
            <a:r>
              <a:t>felfutás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508760"/>
            <a:ext cx="25146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1673351"/>
            <a:ext cx="2148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FREKVENCIAVÁLTÓ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167128"/>
            <a:ext cx="2057400" cy="2468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szabályozott</a:t>
            </a:r>
            <a:br/>
            <a:r>
              <a:t>frekvencia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DOL – közvetlen indítás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Egyszerű megoldás, nagy indítási árammal.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ETE-030 • 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200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2834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ELŐNY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274320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egyszerű</a:t>
            </a:r>
            <a:br/>
            <a:r>
              <a:t>kapcsolás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00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581912"/>
            <a:ext cx="2834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INDÍTÁSI ÁRAM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075688"/>
            <a:ext cx="274320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 példában</a:t>
            </a:r>
            <a:br/>
            <a:r>
              <a:t>6 × 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17320"/>
            <a:ext cx="3200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581912"/>
            <a:ext cx="2834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KÖVETKEZMÉNY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075688"/>
            <a:ext cx="274320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nagyobb hálózati</a:t>
            </a:r>
            <a:br/>
            <a:r>
              <a:t>igénybevétel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Csillag–háromszög indítás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Kapcsolási sorrend és alkalmazási feltétel.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ETE-030 • 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1. CSILLAG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278892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indítás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2. ÁTKAPCSOLÁS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58568"/>
            <a:ext cx="278892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megfelelő</a:t>
            </a:r>
            <a:br/>
            <a:r>
              <a:t>időzítéssel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3. HÁROMSZÖG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58568"/>
            <a:ext cx="278892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üzemi állapot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83480"/>
            <a:ext cx="10241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3304E"/>
                </a:solidFill>
                <a:latin typeface="Aptos"/>
              </a:defRPr>
            </a:pPr>
            <a:r>
              <a:t>Csak olyan motornál, amely üzemben Δ kapcsolásban működik.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Lágyindító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Elektronikus megoldás az indítás kíméletesebbé tételére.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ETE-030 • 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914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13304E"/>
                </a:solidFill>
                <a:latin typeface="Aptos"/>
              </a:defRPr>
            </a:pPr>
            <a:r>
              <a:t>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4389120"/>
            <a:ext cx="914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13304E"/>
                </a:solidFill>
                <a:latin typeface="Aptos"/>
              </a:defRPr>
            </a:pPr>
            <a:r>
              <a:t>100%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371600" y="1645920"/>
            <a:ext cx="9144000" cy="2560320"/>
          </a:xfrm>
          <a:prstGeom prst="line">
            <a:avLst/>
          </a:prstGeom>
          <a:ln w="889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0" y="2331720"/>
            <a:ext cx="48463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56ACD6"/>
                </a:solidFill>
                <a:latin typeface="Aptos"/>
              </a:defRPr>
            </a:pPr>
            <a:r>
              <a:t>fokozatos felfutás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10241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3304E"/>
                </a:solidFill>
                <a:latin typeface="Aptos"/>
              </a:defRPr>
            </a:pPr>
            <a:r>
              <a:t>csökkentett indítási áram • kisebb mechanikai igénybevétel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B4DCF2"/>
                </a:solidFill>
                <a:latin typeface="Aptos"/>
              </a:defRPr>
            </a:pPr>
            <a:r>
              <a:t>FREKVENCIAVÁLTÓS INDÍTÁS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3327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ptos"/>
              </a:defRPr>
            </a:pPr>
            <a:r>
              <a:t>f  +  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D48B37"/>
                </a:solidFill>
                <a:latin typeface="Aptos"/>
              </a:defRPr>
            </a:pPr>
            <a:r>
              <a:t>szabályozottan változik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B4DCF2"/>
                </a:solidFill>
                <a:latin typeface="Aptos"/>
              </a:defRPr>
            </a:pPr>
            <a:r>
              <a:t>→ korszerű elektronikus indítás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Mitől függ a választás?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forrásanyag három döntési szempontja.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ETE-030 • 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2461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88036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2A74B2"/>
                </a:solidFill>
                <a:latin typeface="Aptos"/>
              </a:defRPr>
            </a:pPr>
            <a:r>
              <a:t>MOTOR</a:t>
            </a:r>
            <a:br/>
            <a:r>
              <a:t>TELJESÍTMÉNYE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554480"/>
            <a:ext cx="32461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011680"/>
            <a:ext cx="288036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D48B37"/>
                </a:solidFill>
                <a:latin typeface="Aptos"/>
              </a:defRPr>
            </a:pPr>
            <a:r>
              <a:t>TERHELÉS</a:t>
            </a:r>
            <a:br/>
            <a:r>
              <a:t>JELLEGE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554480"/>
            <a:ext cx="32461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2011680"/>
            <a:ext cx="288036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498B6A"/>
                </a:solidFill>
                <a:latin typeface="Aptos"/>
              </a:defRPr>
            </a:pPr>
            <a:r>
              <a:t>HÁLÓZAT</a:t>
            </a:r>
            <a:br/>
            <a:r>
              <a:t>TERHELHETŐSÉGE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Számítási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DOL indítás: hatszoros névleges áram.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ETE-030 • 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2412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A74B2"/>
                </a:solidFill>
                <a:latin typeface="Aptos"/>
              </a:defRPr>
            </a:pPr>
            <a:r>
              <a:t>Iₙ = 18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2412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13304E"/>
                </a:solidFill>
                <a:latin typeface="Aptos"/>
              </a:defRPr>
            </a:pPr>
            <a:r>
              <a:t>Iind ≈ 6 × Iₙ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2412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D48B37"/>
                </a:solidFill>
                <a:latin typeface="Aptos"/>
              </a:defRPr>
            </a:pPr>
            <a:r>
              <a:t>6 × 18 A = 108 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Mérőlabor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Indítási áram és indítási idő összehasonlítása.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ETE-030 • 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3154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2880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D48B37"/>
                </a:solidFill>
                <a:latin typeface="Aptos"/>
              </a:defRPr>
            </a:pPr>
            <a:r>
              <a:t>DOL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278892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3304E"/>
                </a:solidFill>
                <a:latin typeface="Aptos"/>
              </a:defRPr>
            </a:pPr>
            <a:r>
              <a:t>Iind = ?</a:t>
            </a:r>
            <a:br/>
            <a:r>
              <a:t>tind = 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508760"/>
            <a:ext cx="3154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783080"/>
            <a:ext cx="2880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2A74B2"/>
                </a:solidFill>
                <a:latin typeface="Aptos"/>
              </a:defRPr>
            </a:pPr>
            <a:r>
              <a:t>Y–Δ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743200"/>
            <a:ext cx="278892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3304E"/>
                </a:solidFill>
                <a:latin typeface="Aptos"/>
              </a:defRPr>
            </a:pPr>
            <a:r>
              <a:t>Iind = ?</a:t>
            </a:r>
            <a:br/>
            <a:r>
              <a:t>tind =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508760"/>
            <a:ext cx="3154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83080"/>
            <a:ext cx="2880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498B6A"/>
                </a:solidFill>
                <a:latin typeface="Aptos"/>
              </a:defRPr>
            </a:pPr>
            <a:r>
              <a:t>LÁGYINDÍTÓ / VFD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743200"/>
            <a:ext cx="278892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3304E"/>
                </a:solidFill>
                <a:latin typeface="Aptos"/>
              </a:defRPr>
            </a:pPr>
            <a:r>
              <a:t>Iind = ?</a:t>
            </a:r>
            <a:br/>
            <a:r>
              <a:t>tind = 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Gyakori mérési hibák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Négy tipikus hiba a forrásanyagból.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ETE-030 • 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ROSSZ ÁRAMMÉRÉSI</a:t>
            </a:r>
            <a:br/>
            <a:r>
              <a:t>TARTOMÁNY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HIBÁS KAPCSOLÁSI</a:t>
            </a:r>
            <a:br/>
            <a:r>
              <a:t>SORREND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ADATTÁBLA</a:t>
            </a:r>
            <a:br/>
            <a:r>
              <a:t>FIGYELMEN KÍVÜL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HIBÁS Y–Δ</a:t>
            </a:r>
            <a:br/>
            <a:r>
              <a:t>IDŐZÍTÉS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B4DCF2"/>
                </a:solidFill>
                <a:latin typeface="Aptos"/>
              </a:defRPr>
            </a:pPr>
            <a:r>
              <a:t>A JÓ INDÍTÁS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ptos"/>
              </a:defRPr>
            </a:pPr>
            <a:r>
              <a:t>INDÍTÁSI ÁRAM 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MECHANIKAI IGÉNYBEVÉTEL 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400" b="1">
                <a:solidFill>
                  <a:srgbClr val="B4DCF2"/>
                </a:solidFill>
                <a:latin typeface="Aptos"/>
              </a:defRPr>
            </a:pPr>
            <a:r>
              <a:t>ÜZEMBIZTONSÁG 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Mesterfeladat és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Összehasonlítás és ipari döntés.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ETE-030 • 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48463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73351"/>
            <a:ext cx="44805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MESTERFELADAT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67128"/>
            <a:ext cx="438912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DOL • Y–Δ • lágyindító • VFD</a:t>
            </a:r>
            <a:br/>
            <a:r>
              <a:t>előnyök / hátrányok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508760"/>
            <a:ext cx="48463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673351"/>
            <a:ext cx="44805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MÉRNÖKI KIHÍVÁS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167128"/>
            <a:ext cx="438912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22 kW-os szivattyúmotor:</a:t>
            </a:r>
            <a:br/>
            <a:r>
              <a:t>válassz indítási módot és indokold.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Öt kérdés a feltöltött anyagból.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ETE-030 • 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23444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1. Mi a DOL indítás?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2. Mikor alkalmazható a csillag–háromszög?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7180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7180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3. Mi a lágyindító előnye?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40479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79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4. Mire jó a frekvenciaváltó?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70916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70916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5. Miért fontos az indítási áram csökkentése?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500" b="1">
                <a:solidFill>
                  <a:srgbClr val="FFFFFF"/>
                </a:solidFill>
                <a:latin typeface="Aptos"/>
              </a:defRPr>
            </a:pPr>
            <a:r>
              <a:t>31.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900" b="1">
                <a:solidFill>
                  <a:srgbClr val="D48B37"/>
                </a:solidFill>
                <a:latin typeface="Aptos"/>
              </a:defRPr>
            </a:pPr>
            <a:r>
              <a:t>AZ ASZINKRON MOTOR JELLEGGÖRBÉI</a:t>
            </a:r>
            <a:br/>
            <a:r>
              <a:t>ÉS ÜZEMI JELLEMZŐI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