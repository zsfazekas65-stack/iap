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704088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ptos"/>
              </a:defRPr>
            </a:pPr>
            <a:r>
              <a:t>VILLAMOS GÉPEK</a:t>
            </a:r>
            <a:br/>
            <a:r>
              <a:t>ÉS EGYENÁRAMÚ GÉPEK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554480"/>
            <a:ext cx="2468880" cy="246888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554480"/>
            <a:ext cx="2468880" cy="2468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60520"/>
            <a:ext cx="6858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0">
                <a:solidFill>
                  <a:srgbClr val="B4DCF2"/>
                </a:solidFill>
                <a:latin typeface="Aptos"/>
              </a:defRPr>
            </a:pPr>
            <a:r>
              <a:t>villamos energia ↔ mechanikai munka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Mi a villamos gép?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Energiaátalakító berendezés.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ETE-024 •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46634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73351"/>
            <a:ext cx="429767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MOTOR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67128"/>
            <a:ext cx="4206240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villamos energia</a:t>
            </a:r>
            <a:br/>
            <a:r>
              <a:t>→ mechanikai energia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508760"/>
            <a:ext cx="46634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673351"/>
            <a:ext cx="429767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GENERÁTOR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167128"/>
            <a:ext cx="4206240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mechanikai energia</a:t>
            </a:r>
            <a:br/>
            <a:r>
              <a:t>→ villamos energia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10241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3304E"/>
                </a:solidFill>
                <a:latin typeface="Aptos"/>
              </a:defRPr>
            </a:pPr>
            <a:r>
              <a:t>A kapcsolat kétirányú.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A villamos gépek csoportosítása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Álló, forgó és generátor jellegű gépek.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ETE-024 •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30632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ÁLLÓ GÉP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75688"/>
            <a:ext cx="297180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transzformátor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81912"/>
            <a:ext cx="30632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FORGÓ GÉPEK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75688"/>
            <a:ext cx="297180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DC motor</a:t>
            </a:r>
            <a:br/>
            <a:r>
              <a:t>aszinkron motor</a:t>
            </a:r>
            <a:br/>
            <a:r>
              <a:t>szinkron motor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1581912"/>
            <a:ext cx="30632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GENERÁTOROK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075688"/>
            <a:ext cx="297180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DC generátor</a:t>
            </a:r>
            <a:br/>
            <a:r>
              <a:t>szinkrongenerátor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Történelmi mérföldkövek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villamos gépek fejlődésének fontos nevei.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ETE-024 •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514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22402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2A74B2"/>
                </a:solidFill>
                <a:latin typeface="Aptos"/>
              </a:defRPr>
            </a:pPr>
            <a:r>
              <a:t>FARADAY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00200"/>
            <a:ext cx="2514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514600"/>
            <a:ext cx="22402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498B6A"/>
                </a:solidFill>
                <a:latin typeface="Aptos"/>
              </a:defRPr>
            </a:pPr>
            <a:r>
              <a:t>GRAMME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2514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22402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D48B37"/>
                </a:solidFill>
                <a:latin typeface="Aptos"/>
              </a:defRPr>
            </a:pPr>
            <a:r>
              <a:t>SIEMENS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600200"/>
            <a:ext cx="2514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2514600"/>
            <a:ext cx="22402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56ACD6"/>
                </a:solidFill>
                <a:latin typeface="Aptos"/>
              </a:defRPr>
            </a:pPr>
            <a:r>
              <a:t>TESLA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3304E"/>
                </a:solidFill>
                <a:latin typeface="Aptos"/>
              </a:defRPr>
            </a:pPr>
            <a:r>
              <a:t>A XIX. század második felében az elektromos motorok átalakították az ipart.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Az egyenáramú gép fő részei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Hat fontos szerkezeti elem.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ETE-024 •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ÁLLÓRÉSZ</a:t>
            </a:r>
            <a:br/>
            <a:r>
              <a:t>STATOR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0020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FORGÓRÉSZ</a:t>
            </a:r>
            <a:br/>
            <a:r>
              <a:t>ROTOR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7160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0020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48B37"/>
                </a:solidFill>
                <a:latin typeface="Aptos"/>
              </a:defRPr>
            </a:pPr>
            <a:r>
              <a:t>KOMMUTÁTOR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4612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SZÉNKEFÉK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24612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47472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GERJESZTÉS /</a:t>
            </a:r>
            <a:br/>
            <a:r>
              <a:t>ÁLLANDÓ MÁGNES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24612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47472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48B37"/>
                </a:solidFill>
                <a:latin typeface="Aptos"/>
              </a:defRPr>
            </a:pPr>
            <a:r>
              <a:t>TENGELY +</a:t>
            </a:r>
            <a:br/>
            <a:r>
              <a:t>CSAPÁGY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Működési elv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Áramjárta vezető + mágneses tér → forgatónyomaték.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ETE-024 •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46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971800" cy="2011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2A74B2"/>
                </a:solidFill>
                <a:latin typeface="Aptos"/>
              </a:defRPr>
            </a:pPr>
            <a:r>
              <a:t>ÁRAM A</a:t>
            </a:r>
            <a:br/>
            <a:r>
              <a:t>ROTORBAN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77639" y="2834640"/>
            <a:ext cx="457201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26280" y="1828800"/>
            <a:ext cx="3246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2971800" cy="2011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D48B37"/>
                </a:solidFill>
                <a:latin typeface="Aptos"/>
              </a:defRPr>
            </a:pPr>
            <a:r>
              <a:t>MÁGNESES</a:t>
            </a:r>
            <a:br/>
            <a:r>
              <a:t>TÉR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0" y="2834640"/>
            <a:ext cx="45720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321040" y="1828800"/>
            <a:ext cx="3246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828800"/>
            <a:ext cx="2971800" cy="2011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498B6A"/>
                </a:solidFill>
                <a:latin typeface="Aptos"/>
              </a:defRPr>
            </a:pPr>
            <a:r>
              <a:t>FORGATÓ-</a:t>
            </a:r>
            <a:br/>
            <a:r>
              <a:t>NYOMATÉK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10241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13304E"/>
                </a:solidFill>
                <a:latin typeface="Aptos"/>
              </a:defRPr>
            </a:pPr>
            <a:r>
              <a:t>A tengely forog.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B4DCF2"/>
                </a:solidFill>
                <a:latin typeface="Aptos"/>
              </a:defRPr>
            </a:pPr>
            <a:r>
              <a:t>A KOMMUTÁTOR FELADATA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EGYIRÁNYÚ FORGATÓNYOMATÉK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2880360"/>
            <a:ext cx="2926080" cy="141732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880360"/>
            <a:ext cx="292608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SZÉNKEFE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60520" y="3584448"/>
            <a:ext cx="594360" cy="0"/>
          </a:xfrm>
          <a:prstGeom prst="line">
            <a:avLst/>
          </a:prstGeom>
          <a:ln w="50800">
            <a:solidFill>
              <a:srgbClr val="B4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892040" y="2880360"/>
            <a:ext cx="2926080" cy="141732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2880360"/>
            <a:ext cx="292608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KOMMUTÁTOR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18120" y="3584448"/>
            <a:ext cx="594360" cy="0"/>
          </a:xfrm>
          <a:prstGeom prst="line">
            <a:avLst/>
          </a:prstGeom>
          <a:ln w="50800">
            <a:solidFill>
              <a:srgbClr val="B4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549640" y="2880360"/>
            <a:ext cx="2926080" cy="141732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2880360"/>
            <a:ext cx="292608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FORGÓRÉSZ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Motor és generátor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Ugyanaz az energiaátalakítás - ellentétes irányban.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ETE-024 •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1945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2A74B2"/>
                </a:solidFill>
                <a:latin typeface="Aptos"/>
              </a:defRPr>
            </a:pPr>
            <a:r>
              <a:t>VILLAMOS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34640" y="2194560"/>
            <a:ext cx="1737360" cy="0"/>
          </a:xfrm>
          <a:prstGeom prst="line">
            <a:avLst/>
          </a:prstGeom>
          <a:ln w="635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0" y="1508760"/>
            <a:ext cx="3017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01752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13304E"/>
                </a:solidFill>
                <a:latin typeface="Aptos"/>
              </a:defRPr>
            </a:pPr>
            <a:r>
              <a:t>MOTOR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89520" y="2194560"/>
            <a:ext cx="1691640" cy="0"/>
          </a:xfrm>
          <a:prstGeom prst="line">
            <a:avLst/>
          </a:prstGeom>
          <a:ln w="635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0" y="1828800"/>
            <a:ext cx="2286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498B6A"/>
                </a:solidFill>
                <a:latin typeface="Aptos"/>
              </a:defRPr>
            </a:pPr>
            <a:r>
              <a:t>MECHANIKAI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60520"/>
            <a:ext cx="23774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498B6A"/>
                </a:solidFill>
                <a:latin typeface="Aptos"/>
              </a:defRPr>
            </a:pPr>
            <a:r>
              <a:t>MECHANIKAI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34640" y="4526280"/>
            <a:ext cx="1737360" cy="0"/>
          </a:xfrm>
          <a:prstGeom prst="line">
            <a:avLst/>
          </a:prstGeom>
          <a:ln w="635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0" y="3840480"/>
            <a:ext cx="3017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840480"/>
            <a:ext cx="301752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3304E"/>
                </a:solidFill>
                <a:latin typeface="Aptos"/>
              </a:defRPr>
            </a:pPr>
            <a:r>
              <a:t>GENERÁTOR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89520" y="4526280"/>
            <a:ext cx="1691640" cy="0"/>
          </a:xfrm>
          <a:prstGeom prst="line">
            <a:avLst/>
          </a:prstGeom>
          <a:ln w="635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0" y="4160520"/>
            <a:ext cx="2286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2A74B2"/>
                </a:solidFill>
                <a:latin typeface="Aptos"/>
              </a:defRPr>
            </a:pPr>
            <a:r>
              <a:t>VILLAMOS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Hol találkozunk DC motorral?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forrásanyag alkalmazási példái.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ETE-024 •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AUTÓINDÍTÓ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0020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ABLAKTÖRLŐ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7160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0020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AKKUS</a:t>
            </a:r>
            <a:br/>
            <a:r>
              <a:t>KÉZISZERSZÁM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4612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ROBOT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24612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47472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SZÁLLÍTÓSZALAG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24612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47472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KIS HAJTÁS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Tanműhely - vizsgálj meg egy DC motort!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Adattábla + szerkezeti elemek.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ETE-024 •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A74B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2402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NÉVLEGES 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498B6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54680"/>
            <a:ext cx="22402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TELJESÍTMÉNY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D48B3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22402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FORDULATSZÁM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56ACD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154680"/>
            <a:ext cx="22402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FELHASZNÁLÁS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Kulcsfogalmak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hét szakmai szókincse.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ETE-024 •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22860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A74B2"/>
                </a:solidFill>
                <a:latin typeface="Aptos"/>
              </a:defRPr>
            </a:pPr>
            <a:r>
              <a:t>VILLAMOS GÉP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7160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645920"/>
            <a:ext cx="22860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498B6A"/>
                </a:solidFill>
                <a:latin typeface="Aptos"/>
              </a:defRPr>
            </a:pPr>
            <a:r>
              <a:t>MOTOR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45920"/>
            <a:ext cx="22860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D48B37"/>
                </a:solidFill>
                <a:latin typeface="Aptos"/>
              </a:defRPr>
            </a:pPr>
            <a:r>
              <a:t>GENERÁTOR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137160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645920"/>
            <a:ext cx="22860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56ACD6"/>
                </a:solidFill>
                <a:latin typeface="Aptos"/>
              </a:defRPr>
            </a:pPr>
            <a:r>
              <a:t>ÁLLÓRÉSZ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3756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611879"/>
            <a:ext cx="22860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A74B2"/>
                </a:solidFill>
                <a:latin typeface="Aptos"/>
              </a:defRPr>
            </a:pPr>
            <a:r>
              <a:t>FORGÓRÉSZ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333756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3611879"/>
            <a:ext cx="22860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498B6A"/>
                </a:solidFill>
                <a:latin typeface="Aptos"/>
              </a:defRPr>
            </a:pPr>
            <a:r>
              <a:t>KOMMUTÁTOR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33756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611879"/>
            <a:ext cx="22860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D48B37"/>
                </a:solidFill>
                <a:latin typeface="Aptos"/>
              </a:defRPr>
            </a:pPr>
            <a:r>
              <a:t>SZÉNKEFE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333756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3611879"/>
            <a:ext cx="22860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56ACD6"/>
                </a:solidFill>
                <a:latin typeface="Aptos"/>
              </a:defRPr>
            </a:pPr>
            <a:r>
              <a:t>FORGATÓNYOMATÉK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forrásanyag hét kérdése.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ETE-024 •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051560"/>
            <a:ext cx="105156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05156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1F2D39"/>
                </a:solidFill>
                <a:latin typeface="Aptos"/>
              </a:defRPr>
            </a:pPr>
            <a:r>
              <a:t>1. Mit nevezünk villamos gépnek?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64792"/>
            <a:ext cx="105156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64792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1F2D39"/>
                </a:solidFill>
                <a:latin typeface="Aptos"/>
              </a:defRPr>
            </a:pPr>
            <a:r>
              <a:t>2. Mi a különbség a motor és a generátor között?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78024"/>
            <a:ext cx="105156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78024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1F2D39"/>
                </a:solidFill>
                <a:latin typeface="Aptos"/>
              </a:defRPr>
            </a:pPr>
            <a:r>
              <a:t>3. Melyek a DC motor fő részei?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191256"/>
            <a:ext cx="105156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91256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1F2D39"/>
                </a:solidFill>
                <a:latin typeface="Aptos"/>
              </a:defRPr>
            </a:pPr>
            <a:r>
              <a:t>4. Mi a kommutátor feladata?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04487"/>
            <a:ext cx="105156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904487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1F2D39"/>
                </a:solidFill>
                <a:latin typeface="Aptos"/>
              </a:defRPr>
            </a:pPr>
            <a:r>
              <a:t>5. Mi a szénkefék szerepe?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617720"/>
            <a:ext cx="105156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61772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1F2D39"/>
                </a:solidFill>
                <a:latin typeface="Aptos"/>
              </a:defRPr>
            </a:pPr>
            <a:r>
              <a:t>6. Hol alkalmaznak DC motorokat?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330952"/>
            <a:ext cx="105156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30952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1F2D39"/>
                </a:solidFill>
                <a:latin typeface="Aptos"/>
              </a:defRPr>
            </a:pPr>
            <a:r>
              <a:t>7. Mi hozza létre a forgatónyomatékot?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MÉRNÖKI GONDOLAT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"/>
              </a:defRPr>
            </a:pPr>
            <a:r>
              <a:t>VILLAMOS ENERGIA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D48B37"/>
                </a:solidFill>
                <a:latin typeface="Aptos"/>
              </a:defRPr>
            </a:pPr>
            <a:r>
              <a:t>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B4DCF2"/>
                </a:solidFill>
                <a:latin typeface="Aptos"/>
              </a:defRPr>
            </a:pPr>
            <a:r>
              <a:t>MECHANIKAI MUNKA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32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A villamos gép a kettő közötti híd.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