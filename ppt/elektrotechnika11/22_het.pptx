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Elektrotechnika • ETE-022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7772400" cy="1600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TRANSZFORMÁTOR:</a:t>
            </a:r>
            <a:br/>
            <a:r>
              <a:t>VESZTESÉGEK • HATÁSFOK • RÖVIDZÁRÁSI VIZSGÁLAT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0"/>
            <a:ext cx="1188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56ACD6"/>
                </a:solidFill>
                <a:latin typeface="Aptos"/>
              </a:defRPr>
            </a:pPr>
            <a:r>
              <a:t>Pbe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828800"/>
            <a:ext cx="548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1554480"/>
            <a:ext cx="1463040" cy="118872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0" y="1554480"/>
            <a:ext cx="146304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063240"/>
            <a:ext cx="548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063240"/>
            <a:ext cx="1188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498B6A"/>
                </a:solidFill>
                <a:latin typeface="Aptos"/>
              </a:defRPr>
            </a:pPr>
            <a:r>
              <a:t>Pki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4251960"/>
            <a:ext cx="2286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veszteség → hő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Hová tűnik a teljesítmény?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primer oldalon felvett teljesítmény nem jelenik meg teljes egészében a szekunderen.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ETE-022 • 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828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2A74B2"/>
                </a:solidFill>
                <a:latin typeface="Aptos"/>
              </a:defRPr>
            </a:pPr>
            <a:r>
              <a:t>Pbe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2194560"/>
            <a:ext cx="1097280" cy="0"/>
          </a:xfrm>
          <a:prstGeom prst="line">
            <a:avLst/>
          </a:prstGeom>
          <a:ln w="635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57600" y="1463040"/>
            <a:ext cx="2926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463040"/>
            <a:ext cx="2926080" cy="1554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3304E"/>
                </a:solidFill>
                <a:latin typeface="Aptos"/>
              </a:defRPr>
            </a:pPr>
            <a:r>
              <a:t>TRANSZFORMÁTOR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0" y="2194560"/>
            <a:ext cx="1097280" cy="0"/>
          </a:xfrm>
          <a:prstGeom prst="line">
            <a:avLst/>
          </a:prstGeom>
          <a:ln w="635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680960" y="1828800"/>
            <a:ext cx="1828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498B6A"/>
                </a:solidFill>
                <a:latin typeface="Aptos"/>
              </a:defRPr>
            </a:pPr>
            <a:r>
              <a:t>Pki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20640" y="3017520"/>
            <a:ext cx="0" cy="960119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886200" y="3977639"/>
            <a:ext cx="246888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D48B37"/>
                </a:solidFill>
                <a:latin typeface="Aptos"/>
              </a:defRPr>
            </a:pPr>
            <a:r>
              <a:t>VESZTESÉG</a:t>
            </a:r>
            <a:br/>
            <a:r>
              <a:t>→ HŐ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A veszteségek típusai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Négy csoport a forrásanyag szerint.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ETE-022 • 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81912"/>
            <a:ext cx="46634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VASVESZTESÉG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5720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hiszterézis + örvényáram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81912"/>
            <a:ext cx="46634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RÉZVESZTESÉG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75688"/>
            <a:ext cx="45720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tekercsek ellenállása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74720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639312"/>
            <a:ext cx="46634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56ACD6"/>
                </a:solidFill>
                <a:latin typeface="Aptos"/>
              </a:defRPr>
            </a:pPr>
            <a:r>
              <a:t>SZÓRÁSI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33087"/>
            <a:ext cx="45720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mágneses szórás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474720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639312"/>
            <a:ext cx="46634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JÁRULÉKOS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133087"/>
            <a:ext cx="45720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egyéb veszteségek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Vasveszteség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vasmagban keletkező két fontos veszteség.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ETE-022 • 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46634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27632"/>
            <a:ext cx="429767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HISZTERÉZIS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21408"/>
            <a:ext cx="4206240" cy="2468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mágneses domének</a:t>
            </a:r>
            <a:br/>
            <a:r>
              <a:t>átfordulása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463040"/>
            <a:ext cx="46634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627632"/>
            <a:ext cx="429767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ÖRVÉNYÁRAM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121408"/>
            <a:ext cx="4206240" cy="2468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 vasmagban</a:t>
            </a:r>
            <a:br/>
            <a:r>
              <a:t>indukált áramok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10241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13304E"/>
                </a:solidFill>
                <a:latin typeface="Aptos"/>
              </a:defRPr>
            </a:pPr>
            <a:r>
              <a:t>VÉKONY LEMEZEK → KISEBB VASVESZTESÉG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Rézveszteség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tekercsek ellenállása miatt keletkezik.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ETE-022 • 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13304E"/>
                </a:solidFill>
                <a:latin typeface="Aptos"/>
              </a:defRPr>
            </a:pPr>
            <a:r>
              <a:t>P = I² · 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0779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I 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01568"/>
            <a:ext cx="278892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terhelőáram nő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74320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90779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I² ↑↑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401568"/>
            <a:ext cx="278892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négyzetesen nő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74320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90779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Pvesz 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401568"/>
            <a:ext cx="278892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több hő keletkezik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Hatásfok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Mekkora része hasznosul a felvett teljesítménynek?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ETE-022 • 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400" b="1">
                <a:solidFill>
                  <a:srgbClr val="13304E"/>
                </a:solidFill>
                <a:latin typeface="Aptos"/>
              </a:defRPr>
            </a:pPr>
            <a:r>
              <a:t>η = (Pki / Pbe) × 100%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4206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07792"/>
            <a:ext cx="384047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KORSZERŰ TRANSZFORMÁTOR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01568"/>
            <a:ext cx="3749039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98 - 99,5%</a:t>
            </a:r>
            <a:br/>
            <a:r>
              <a:t>hatásfok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743200"/>
            <a:ext cx="4206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907792"/>
            <a:ext cx="384047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VESZTESÉG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01568"/>
            <a:ext cx="3749039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 különbség</a:t>
            </a:r>
            <a:br/>
            <a:r>
              <a:t>hővé alakul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GYAKORLATI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"/>
              </a:defRPr>
            </a:pPr>
            <a:r>
              <a:t>400 kVA • 99% HATÁSFOK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1069848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600" b="1">
                <a:solidFill>
                  <a:srgbClr val="D48B37"/>
                </a:solidFill>
                <a:latin typeface="Aptos"/>
              </a:defRPr>
            </a:pPr>
            <a:r>
              <a:t>≈ 4 kW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teljesítmény alakul hővé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17720"/>
            <a:ext cx="106984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B4DCF2"/>
                </a:solidFill>
                <a:latin typeface="Aptos"/>
              </a:defRPr>
            </a:pPr>
            <a:r>
              <a:t>EZÉRT FONTOS A MEGFELELŐ HŰTÉS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Rövidzárási vizsgálat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rézveszteség és a rövidzárási impedancia meghatározása.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ETE-022 • 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00200"/>
            <a:ext cx="24688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783080"/>
            <a:ext cx="10058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900" b="1">
                <a:solidFill>
                  <a:srgbClr val="D48B3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219456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SZEKUNDER</a:t>
            </a:r>
            <a:br/>
            <a:r>
              <a:t>RÖVIDRE ZÁRÁS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80360" y="3063240"/>
            <a:ext cx="32004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91840" y="1600200"/>
            <a:ext cx="24688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1783080"/>
            <a:ext cx="10058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900" b="1">
                <a:solidFill>
                  <a:srgbClr val="2A74B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971800"/>
            <a:ext cx="219456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PRIMER</a:t>
            </a:r>
            <a:br/>
            <a:r>
              <a:t>KIS FESZÜLTSÉG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60720" y="3063240"/>
            <a:ext cx="32004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72200" y="1600200"/>
            <a:ext cx="24688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1783080"/>
            <a:ext cx="10058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900" b="1">
                <a:solidFill>
                  <a:srgbClr val="56ACD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971800"/>
            <a:ext cx="219456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U • I • P</a:t>
            </a:r>
            <a:br/>
            <a:r>
              <a:t>MÉRÉS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41080" y="3063240"/>
            <a:ext cx="32004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52559" y="1600200"/>
            <a:ext cx="24688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1783080"/>
            <a:ext cx="10058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900" b="1">
                <a:solidFill>
                  <a:srgbClr val="498B6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2971800"/>
            <a:ext cx="219456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RÉZVESZTESÉG</a:t>
            </a:r>
            <a:br/>
            <a:r>
              <a:t>+ Zk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Mit mérünk?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rövidzárási vizsgálat három alapmennyisége.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ETE-022 • 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24612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19659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800" b="1">
                <a:solidFill>
                  <a:srgbClr val="2A74B2"/>
                </a:solidFill>
                <a:latin typeface="Aptos"/>
              </a:defRPr>
            </a:pPr>
            <a:r>
              <a:t>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2697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3304E"/>
                </a:solidFill>
                <a:latin typeface="Aptos"/>
              </a:defRPr>
            </a:pPr>
            <a:r>
              <a:t>feszültség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600200"/>
            <a:ext cx="324612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828800"/>
            <a:ext cx="19659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800" b="1">
                <a:solidFill>
                  <a:srgbClr val="D48B37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3200400"/>
            <a:ext cx="2697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3304E"/>
                </a:solidFill>
                <a:latin typeface="Aptos"/>
              </a:defRPr>
            </a:pPr>
            <a:r>
              <a:t>áramerősség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600200"/>
            <a:ext cx="324612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828800"/>
            <a:ext cx="19659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800" b="1">
                <a:solidFill>
                  <a:srgbClr val="498B6A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200400"/>
            <a:ext cx="2697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3304E"/>
                </a:solidFill>
                <a:latin typeface="Aptos"/>
              </a:defRPr>
            </a:pPr>
            <a:r>
              <a:t>teljesítmény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10241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13304E"/>
                </a:solidFill>
                <a:latin typeface="Aptos"/>
              </a:defRPr>
            </a:pPr>
            <a:r>
              <a:t>Ezekből: rézveszteség + rövidzárási impedancia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Tanműhely - adattábla vizsgálata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Valós transzformátor adatainak leolvasása.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ETE-022 • 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2461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2971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PRIMER 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2461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83080"/>
            <a:ext cx="2971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SZEKUNDER 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417320"/>
            <a:ext cx="32461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783080"/>
            <a:ext cx="2971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NÉVLEGES 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83280"/>
            <a:ext cx="32461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49040"/>
            <a:ext cx="2971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ÁRAM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383280"/>
            <a:ext cx="32461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3749040"/>
            <a:ext cx="2971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HŰTÉSI MÓD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Kulcsfogalmak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hét szakmai szókincse.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ETE-022 • 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22860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A74B2"/>
                </a:solidFill>
                <a:latin typeface="Aptos"/>
              </a:defRPr>
            </a:pPr>
            <a:r>
              <a:t>VASVESZTESÉG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7160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645920"/>
            <a:ext cx="22860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498B6A"/>
                </a:solidFill>
                <a:latin typeface="Aptos"/>
              </a:defRPr>
            </a:pPr>
            <a:r>
              <a:t>HISZTERÉZIS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45920"/>
            <a:ext cx="22860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D48B37"/>
                </a:solidFill>
                <a:latin typeface="Aptos"/>
              </a:defRPr>
            </a:pPr>
            <a:r>
              <a:t>ÖRVÉNYÁRAM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137160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645920"/>
            <a:ext cx="22860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56ACD6"/>
                </a:solidFill>
                <a:latin typeface="Aptos"/>
              </a:defRPr>
            </a:pPr>
            <a:r>
              <a:t>RÉZVESZTESÉG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3756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611879"/>
            <a:ext cx="22860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A74B2"/>
                </a:solidFill>
                <a:latin typeface="Aptos"/>
              </a:defRPr>
            </a:pPr>
            <a:r>
              <a:t>HATÁSFOK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333756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3611879"/>
            <a:ext cx="22860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498B6A"/>
                </a:solidFill>
                <a:latin typeface="Aptos"/>
              </a:defRPr>
            </a:pPr>
            <a:r>
              <a:t>RÖVIDZÁRÁSI VIZSGÁLAT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33756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611879"/>
            <a:ext cx="22860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D48B37"/>
                </a:solidFill>
                <a:latin typeface="Aptos"/>
              </a:defRPr>
            </a:pPr>
            <a:r>
              <a:t>IMPEDANCIA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forrásanyag ellenőrző kérdései.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ETE-022 • 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143000"/>
            <a:ext cx="1051560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143000"/>
            <a:ext cx="1005840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1">
                <a:solidFill>
                  <a:srgbClr val="1F2D39"/>
                </a:solidFill>
                <a:latin typeface="Aptos"/>
              </a:defRPr>
            </a:pPr>
            <a:r>
              <a:t>1. Milyen veszteségek keletkeznek?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47672"/>
            <a:ext cx="1051560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47672"/>
            <a:ext cx="1005840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1">
                <a:solidFill>
                  <a:srgbClr val="1F2D39"/>
                </a:solidFill>
                <a:latin typeface="Aptos"/>
              </a:defRPr>
            </a:pPr>
            <a:r>
              <a:t>2. Mi okozza a hiszterézis-veszteséget?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52344"/>
            <a:ext cx="1051560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752344"/>
            <a:ext cx="1005840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1">
                <a:solidFill>
                  <a:srgbClr val="1F2D39"/>
                </a:solidFill>
                <a:latin typeface="Aptos"/>
              </a:defRPr>
            </a:pPr>
            <a:r>
              <a:t>3. Miért lemezes a vasmag?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57016"/>
            <a:ext cx="1051560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57016"/>
            <a:ext cx="1005840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1">
                <a:solidFill>
                  <a:srgbClr val="1F2D39"/>
                </a:solidFill>
                <a:latin typeface="Aptos"/>
              </a:defRPr>
            </a:pPr>
            <a:r>
              <a:t>4. Mitől függ a rézveszteség?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361688"/>
            <a:ext cx="1051560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61688"/>
            <a:ext cx="1005840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1">
                <a:solidFill>
                  <a:srgbClr val="1F2D39"/>
                </a:solidFill>
                <a:latin typeface="Aptos"/>
              </a:defRPr>
            </a:pPr>
            <a:r>
              <a:t>5. Mit jelent a hatásfok?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166360"/>
            <a:ext cx="1051560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166360"/>
            <a:ext cx="1005840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1">
                <a:solidFill>
                  <a:srgbClr val="1F2D39"/>
                </a:solidFill>
                <a:latin typeface="Aptos"/>
              </a:defRPr>
            </a:pPr>
            <a:r>
              <a:t>6. Mi a rövidzárási vizsgálat célja?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MÉRNÖKI GONDOLAT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ptos"/>
              </a:defRPr>
            </a:pPr>
            <a:r>
              <a:t>MŰKÖDJÖN.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B4DCF2"/>
                </a:solidFill>
                <a:latin typeface="Aptos"/>
              </a:defRPr>
            </a:pPr>
            <a:r>
              <a:t>LEGYEN MEGBÍZHATÓ.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D48B37"/>
                </a:solidFill>
                <a:latin typeface="Aptos"/>
              </a:defRPr>
            </a:pPr>
            <a:r>
              <a:t>ÉS LEGYEN MINÉL KISEBB A VESZTESÉGE.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