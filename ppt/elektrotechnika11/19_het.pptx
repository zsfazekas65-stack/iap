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30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8288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ptos"/>
              </a:defRPr>
            </a:pPr>
            <a:r>
              <a:t>IAP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97280"/>
            <a:ext cx="64008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ptos"/>
              </a:defRPr>
            </a:pPr>
            <a:r>
              <a:t>11. évfolyam • Elektrotechnika • ETE-019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828800"/>
            <a:ext cx="6675120" cy="1371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ptos"/>
              </a:defRPr>
            </a:pPr>
            <a:r>
              <a:t>SZERVOHAJTÁSOK</a:t>
            </a:r>
            <a:br/>
            <a:r>
              <a:t>ÉS ENKÓDEREK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80960" y="1783080"/>
            <a:ext cx="1554480" cy="1143000"/>
          </a:xfrm>
          <a:prstGeom prst="roundRect">
            <a:avLst/>
          </a:prstGeom>
          <a:solidFill>
            <a:srgbClr val="2B5376"/>
          </a:solidFill>
          <a:ln>
            <a:solidFill>
              <a:srgbClr val="82B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0" y="1783080"/>
            <a:ext cx="1554480" cy="1143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PLC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555480" y="1783080"/>
            <a:ext cx="1554480" cy="1143000"/>
          </a:xfrm>
          <a:prstGeom prst="roundRect">
            <a:avLst/>
          </a:prstGeom>
          <a:solidFill>
            <a:srgbClr val="2B5376"/>
          </a:solidFill>
          <a:ln>
            <a:solidFill>
              <a:srgbClr val="82B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555480" y="1783080"/>
            <a:ext cx="1554480" cy="1143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SERVO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80960" y="3337560"/>
            <a:ext cx="1554480" cy="1143000"/>
          </a:xfrm>
          <a:prstGeom prst="roundRect">
            <a:avLst/>
          </a:prstGeom>
          <a:solidFill>
            <a:srgbClr val="2B5376"/>
          </a:solidFill>
          <a:ln>
            <a:solidFill>
              <a:srgbClr val="82B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0" y="3337560"/>
            <a:ext cx="1554480" cy="1143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MOTOR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55480" y="3337560"/>
            <a:ext cx="1554480" cy="1143000"/>
          </a:xfrm>
          <a:prstGeom prst="roundRect">
            <a:avLst/>
          </a:prstGeom>
          <a:solidFill>
            <a:srgbClr val="2B5376"/>
          </a:solidFill>
          <a:ln>
            <a:solidFill>
              <a:srgbClr val="82B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55480" y="3337560"/>
            <a:ext cx="1554480" cy="1143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ENC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069080"/>
            <a:ext cx="64008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800" b="0">
                <a:solidFill>
                  <a:srgbClr val="B4DCF2"/>
                </a:solidFill>
                <a:latin typeface="Aptos"/>
              </a:defRPr>
            </a:pPr>
            <a:r>
              <a:t>pontosság • visszacsatolás • pozíció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700" b="1">
                <a:solidFill>
                  <a:srgbClr val="13304E"/>
                </a:solidFill>
                <a:latin typeface="Aptos"/>
              </a:defRPr>
            </a:pPr>
            <a:r>
              <a:t>Mi a szervohajtás?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Zárt szabályozási körben működő pontos villamos hajtás.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ETE-019 • 19.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329184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81912"/>
            <a:ext cx="29260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A74B2"/>
                </a:solidFill>
                <a:latin typeface="Aptos"/>
              </a:defRPr>
            </a:pPr>
            <a:r>
              <a:t>PARANCS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075688"/>
            <a:ext cx="2834640" cy="2743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kívánt helyzet vagy sebesség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417320"/>
            <a:ext cx="329184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581912"/>
            <a:ext cx="29260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D48B37"/>
                </a:solidFill>
                <a:latin typeface="Aptos"/>
              </a:defRPr>
            </a:pPr>
            <a:r>
              <a:t>MOZGÁS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075688"/>
            <a:ext cx="2834640" cy="2743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szervohajtás + szervomotor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417320"/>
            <a:ext cx="329184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1581912"/>
            <a:ext cx="29260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498B6A"/>
                </a:solidFill>
                <a:latin typeface="Aptos"/>
              </a:defRPr>
            </a:pPr>
            <a:r>
              <a:t>VISSZAJELZÉS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2075688"/>
            <a:ext cx="2834640" cy="2743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enkóder méri a tényleges állapotot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700" b="1">
                <a:solidFill>
                  <a:srgbClr val="13304E"/>
                </a:solidFill>
                <a:latin typeface="Aptos"/>
              </a:defRPr>
            </a:pPr>
            <a:r>
              <a:t>Nyílt és zárt szabályozás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A döntő különbség a visszajelzés.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ETE-019 • 19.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475488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27632"/>
            <a:ext cx="43891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D48B37"/>
                </a:solidFill>
                <a:latin typeface="Aptos"/>
              </a:defRPr>
            </a:pPr>
            <a:r>
              <a:t>NYÍLT SZABÁLYOZÁS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21408"/>
            <a:ext cx="4297680" cy="2560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parancs → beavatkozás</a:t>
            </a:r>
            <a:br/>
            <a:r>
              <a:t>NINCS visszajelzés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29400" y="1463040"/>
            <a:ext cx="475488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12280" y="1627632"/>
            <a:ext cx="43891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498B6A"/>
                </a:solidFill>
                <a:latin typeface="Aptos"/>
              </a:defRPr>
            </a:pPr>
            <a:r>
              <a:t>ZÁRT SZABÁLYOZÁS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2121408"/>
            <a:ext cx="4297680" cy="2560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kívánt ↔ tényleges érték</a:t>
            </a:r>
            <a:br/>
            <a:r>
              <a:t>folyamatos összehasonlítás és korrekció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257800"/>
            <a:ext cx="102412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 b="1">
                <a:solidFill>
                  <a:srgbClr val="13304E"/>
                </a:solidFill>
                <a:latin typeface="Aptos"/>
              </a:defRPr>
            </a:pPr>
            <a:r>
              <a:t>A szervohajtás zárt körben dolgozik.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700" b="1">
                <a:solidFill>
                  <a:srgbClr val="13304E"/>
                </a:solidFill>
                <a:latin typeface="Aptos"/>
              </a:defRPr>
            </a:pPr>
            <a:r>
              <a:t>Mit mér az enkóder?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A motor mozgásáról ad visszajelzést.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ETE-019 • 19.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291840" cy="265176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965960"/>
            <a:ext cx="301752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 b="1">
                <a:solidFill>
                  <a:srgbClr val="2A74B2"/>
                </a:solidFill>
                <a:latin typeface="Aptos"/>
              </a:defRPr>
            </a:pPr>
            <a:r>
              <a:t>HELYZET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926080"/>
            <a:ext cx="265176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700" b="1">
                <a:solidFill>
                  <a:srgbClr val="13304E"/>
                </a:solidFill>
                <a:latin typeface="Aptos"/>
              </a:defRPr>
            </a:pPr>
            <a:r>
              <a:t>ENCODER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1645920"/>
            <a:ext cx="3291840" cy="265176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965960"/>
            <a:ext cx="301752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 b="1">
                <a:solidFill>
                  <a:srgbClr val="498B6A"/>
                </a:solidFill>
                <a:latin typeface="Aptos"/>
              </a:defRPr>
            </a:pPr>
            <a:r>
              <a:t>FORDULATSZÁM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2926080"/>
            <a:ext cx="265176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700" b="1">
                <a:solidFill>
                  <a:srgbClr val="13304E"/>
                </a:solidFill>
                <a:latin typeface="Aptos"/>
              </a:defRPr>
            </a:pPr>
            <a:r>
              <a:t>ENCODER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21040" y="1645920"/>
            <a:ext cx="3291840" cy="265176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58200" y="1965960"/>
            <a:ext cx="301752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 b="1">
                <a:solidFill>
                  <a:srgbClr val="D48B37"/>
                </a:solidFill>
                <a:latin typeface="Aptos"/>
              </a:defRPr>
            </a:pPr>
            <a:r>
              <a:t>FORGÁSIRÁNY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41080" y="2926080"/>
            <a:ext cx="265176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700" b="1">
                <a:solidFill>
                  <a:srgbClr val="13304E"/>
                </a:solidFill>
                <a:latin typeface="Aptos"/>
              </a:defRPr>
            </a:pPr>
            <a:r>
              <a:t>ENCODER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700" b="1">
                <a:solidFill>
                  <a:srgbClr val="13304E"/>
                </a:solidFill>
                <a:latin typeface="Aptos"/>
              </a:defRPr>
            </a:pPr>
            <a:r>
              <a:t>Enkódertípusok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A jegyzet két fő típust emel ki.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ETE-019 • 19.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508760"/>
            <a:ext cx="438912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673351"/>
            <a:ext cx="4023359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A74B2"/>
                </a:solidFill>
                <a:latin typeface="Aptos"/>
              </a:defRPr>
            </a:pPr>
            <a:r>
              <a:t>INKREMENTÁLIS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167128"/>
            <a:ext cx="3931920" cy="2651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impulzusokkal jelzi a mozgást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508760"/>
            <a:ext cx="438912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673351"/>
            <a:ext cx="4023359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498B6A"/>
                </a:solidFill>
                <a:latin typeface="Aptos"/>
              </a:defRPr>
            </a:pPr>
            <a:r>
              <a:t>ABSZOLÚT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2167128"/>
            <a:ext cx="3931920" cy="2651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a helyzethez egyedi érték tartozik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700" b="1">
                <a:solidFill>
                  <a:srgbClr val="13304E"/>
                </a:solidFill>
                <a:latin typeface="Aptos"/>
              </a:defRPr>
            </a:pPr>
            <a:r>
              <a:t>A szervorendszer felépítése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A visszacsatolás zárja a szabályozási kört.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ETE-019 • 19.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828800"/>
            <a:ext cx="233172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828800"/>
            <a:ext cx="2148840" cy="1463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A74B2"/>
                </a:solidFill>
                <a:latin typeface="Aptos"/>
              </a:defRPr>
            </a:pPr>
            <a:r>
              <a:t>PLC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743200" y="2560320"/>
            <a:ext cx="411480" cy="0"/>
          </a:xfrm>
          <a:prstGeom prst="line">
            <a:avLst/>
          </a:prstGeom>
          <a:ln w="50800">
            <a:solidFill>
              <a:srgbClr val="5E71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246120" y="1828800"/>
            <a:ext cx="233172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828800"/>
            <a:ext cx="2148840" cy="1463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D48B37"/>
                </a:solidFill>
                <a:latin typeface="Aptos"/>
              </a:defRPr>
            </a:pPr>
            <a:r>
              <a:t>SZERVOHAJTÁS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577840" y="2560320"/>
            <a:ext cx="411480" cy="0"/>
          </a:xfrm>
          <a:prstGeom prst="line">
            <a:avLst/>
          </a:prstGeom>
          <a:ln w="50800">
            <a:solidFill>
              <a:srgbClr val="5E71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080760" y="1828800"/>
            <a:ext cx="233172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72200" y="1828800"/>
            <a:ext cx="2148840" cy="1463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498B6A"/>
                </a:solidFill>
                <a:latin typeface="Aptos"/>
              </a:defRPr>
            </a:pPr>
            <a:r>
              <a:t>SZERVOMOTOR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412480" y="2560320"/>
            <a:ext cx="411480" cy="0"/>
          </a:xfrm>
          <a:prstGeom prst="line">
            <a:avLst/>
          </a:prstGeom>
          <a:ln w="50800">
            <a:solidFill>
              <a:srgbClr val="5E71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915400" y="1828800"/>
            <a:ext cx="233172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06840" y="1828800"/>
            <a:ext cx="2148840" cy="1463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56ACD6"/>
                </a:solidFill>
                <a:latin typeface="Aptos"/>
              </a:defRPr>
            </a:pPr>
            <a:r>
              <a:t>ENKÓDER</a:t>
            </a:r>
          </a:p>
        </p:txBody>
      </p:sp>
      <p:cxnSp>
        <p:nvCxnSpPr>
          <p:cNvPr id="17" name="Connector 16"/>
          <p:cNvCxnSpPr/>
          <p:nvPr/>
        </p:nvCxnSpPr>
        <p:spPr>
          <a:xfrm flipH="1">
            <a:off x="4297680" y="3840480"/>
            <a:ext cx="5120640" cy="0"/>
          </a:xfrm>
          <a:prstGeom prst="line">
            <a:avLst/>
          </a:prstGeom>
          <a:ln w="5080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4297680" y="3337560"/>
            <a:ext cx="0" cy="502920"/>
          </a:xfrm>
          <a:prstGeom prst="line">
            <a:avLst/>
          </a:prstGeom>
          <a:ln w="5080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669280" y="3977639"/>
            <a:ext cx="27432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56ACD6"/>
                </a:solidFill>
                <a:latin typeface="Aptos"/>
              </a:defRPr>
            </a:pPr>
            <a:r>
              <a:t>VISSZACSATOLÁS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700" b="1">
                <a:solidFill>
                  <a:srgbClr val="13304E"/>
                </a:solidFill>
                <a:latin typeface="Aptos"/>
              </a:defRPr>
            </a:pPr>
            <a:r>
              <a:t>A PLC szerepe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A mozgásvezérlés magasabb szintű irányítása.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ETE-019 • 19.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691640"/>
            <a:ext cx="2514600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423160"/>
            <a:ext cx="224028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A74B2"/>
                </a:solidFill>
                <a:latin typeface="Aptos"/>
              </a:defRPr>
            </a:pPr>
            <a:r>
              <a:t>POZÍCIÓPARANCS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691640"/>
            <a:ext cx="2514600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0" y="2423160"/>
            <a:ext cx="224028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498B6A"/>
                </a:solidFill>
                <a:latin typeface="Aptos"/>
              </a:defRPr>
            </a:pPr>
            <a:r>
              <a:t>SEBESSÉGVEZÉRLÉS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691640"/>
            <a:ext cx="2514600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423160"/>
            <a:ext cx="224028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D48B37"/>
                </a:solidFill>
                <a:latin typeface="Aptos"/>
              </a:defRPr>
            </a:pPr>
            <a:r>
              <a:t>HIBAFELÜGYELET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98280" y="1691640"/>
            <a:ext cx="2514600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35440" y="2423160"/>
            <a:ext cx="224028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56ACD6"/>
                </a:solidFill>
                <a:latin typeface="Aptos"/>
              </a:defRPr>
            </a:pPr>
            <a:r>
              <a:t>TÖBB TENGELY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074920"/>
            <a:ext cx="1024128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900" b="1">
                <a:solidFill>
                  <a:srgbClr val="13304E"/>
                </a:solidFill>
                <a:latin typeface="Aptos"/>
              </a:defRPr>
            </a:pPr>
            <a:r>
              <a:t>A PLC összehangolhat több szervotengelyt is.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700" b="1">
                <a:solidFill>
                  <a:srgbClr val="13304E"/>
                </a:solidFill>
                <a:latin typeface="Aptos"/>
              </a:defRPr>
            </a:pPr>
            <a:r>
              <a:t>Hol használunk szervohajtást?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Pontosságot és ismételhetőséget igénylő gépekben.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ETE-019 • 19.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324612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297180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700" b="1">
                <a:solidFill>
                  <a:srgbClr val="2A74B2"/>
                </a:solidFill>
                <a:latin typeface="Aptos"/>
              </a:defRPr>
            </a:pPr>
            <a:r>
              <a:t>CNC gép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417320"/>
            <a:ext cx="324612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1783080"/>
            <a:ext cx="297180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700" b="1">
                <a:solidFill>
                  <a:srgbClr val="498B6A"/>
                </a:solidFill>
                <a:latin typeface="Aptos"/>
              </a:defRPr>
            </a:pPr>
            <a:r>
              <a:t>Ipari robot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19" y="1417320"/>
            <a:ext cx="324612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83879" y="1783080"/>
            <a:ext cx="297180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700" b="1">
                <a:solidFill>
                  <a:srgbClr val="D48B37"/>
                </a:solidFill>
                <a:latin typeface="Aptos"/>
              </a:defRPr>
            </a:pPr>
            <a:r>
              <a:t>Csomagológép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383280"/>
            <a:ext cx="324612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749040"/>
            <a:ext cx="297180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700" b="1">
                <a:solidFill>
                  <a:srgbClr val="2A74B2"/>
                </a:solidFill>
                <a:latin typeface="Aptos"/>
              </a:defRPr>
            </a:pPr>
            <a:r>
              <a:t>Automata raktár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3383280"/>
            <a:ext cx="324612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0560" y="3749040"/>
            <a:ext cx="297180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700" b="1">
                <a:solidFill>
                  <a:srgbClr val="498B6A"/>
                </a:solidFill>
                <a:latin typeface="Aptos"/>
              </a:defRPr>
            </a:pPr>
            <a:r>
              <a:t>Pick-and-place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30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69848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B4DCF2"/>
                </a:solidFill>
                <a:latin typeface="Aptos"/>
              </a:defRPr>
            </a:pPr>
            <a:r>
              <a:t>IPARI MOZGÁSVEZÉRLÉS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17320"/>
            <a:ext cx="1078992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900" b="1">
                <a:solidFill>
                  <a:srgbClr val="FFFFFF"/>
                </a:solidFill>
                <a:latin typeface="Aptos"/>
              </a:defRPr>
            </a:pPr>
            <a:r>
              <a:t>POZÍCIÓ → MOZGÁS → MÉRÉS → KORREKCIÓ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2788920"/>
            <a:ext cx="2423160" cy="1600200"/>
          </a:xfrm>
          <a:prstGeom prst="roundRect">
            <a:avLst/>
          </a:prstGeom>
          <a:solidFill>
            <a:srgbClr val="1F4365"/>
          </a:solidFill>
          <a:ln>
            <a:solidFill>
              <a:srgbClr val="5A8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88920"/>
            <a:ext cx="2423160" cy="1600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KÍVÁNT</a:t>
            </a:r>
            <a:br/>
            <a:r>
              <a:t>POZÍCIÓ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926080" y="3584448"/>
            <a:ext cx="365759" cy="0"/>
          </a:xfrm>
          <a:prstGeom prst="line">
            <a:avLst/>
          </a:prstGeom>
          <a:ln w="50800">
            <a:solidFill>
              <a:srgbClr val="B4DC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3383280" y="2788920"/>
            <a:ext cx="2423160" cy="1600200"/>
          </a:xfrm>
          <a:prstGeom prst="roundRect">
            <a:avLst/>
          </a:prstGeom>
          <a:solidFill>
            <a:srgbClr val="1F4365"/>
          </a:solidFill>
          <a:ln>
            <a:solidFill>
              <a:srgbClr val="5A8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83280" y="2788920"/>
            <a:ext cx="2423160" cy="1600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SZERVO</a:t>
            </a:r>
            <a:br/>
            <a:r>
              <a:t>MOZGÁS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806440" y="3584448"/>
            <a:ext cx="365760" cy="0"/>
          </a:xfrm>
          <a:prstGeom prst="line">
            <a:avLst/>
          </a:prstGeom>
          <a:ln w="50800">
            <a:solidFill>
              <a:srgbClr val="B4DC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263640" y="2788920"/>
            <a:ext cx="2423160" cy="1600200"/>
          </a:xfrm>
          <a:prstGeom prst="roundRect">
            <a:avLst/>
          </a:prstGeom>
          <a:solidFill>
            <a:srgbClr val="1F4365"/>
          </a:solidFill>
          <a:ln>
            <a:solidFill>
              <a:srgbClr val="5A8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2788920"/>
            <a:ext cx="2423160" cy="1600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ENKÓDER</a:t>
            </a:r>
            <a:br/>
            <a:r>
              <a:t>MÉRÉS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686800" y="3584448"/>
            <a:ext cx="365759" cy="0"/>
          </a:xfrm>
          <a:prstGeom prst="line">
            <a:avLst/>
          </a:prstGeom>
          <a:ln w="50800">
            <a:solidFill>
              <a:srgbClr val="B4DC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9144000" y="2788920"/>
            <a:ext cx="2423160" cy="1600200"/>
          </a:xfrm>
          <a:prstGeom prst="roundRect">
            <a:avLst/>
          </a:prstGeom>
          <a:solidFill>
            <a:srgbClr val="1F4365"/>
          </a:solidFill>
          <a:ln>
            <a:solidFill>
              <a:srgbClr val="5A8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0" y="2788920"/>
            <a:ext cx="2423160" cy="1600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KORREKCIÓ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700" b="1">
                <a:solidFill>
                  <a:srgbClr val="13304E"/>
                </a:solidFill>
                <a:latin typeface="Aptos"/>
              </a:defRPr>
            </a:pPr>
            <a:r>
              <a:t>Labor - vizsgálj meg egy enkódert!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Csatlakozók, jelvezetékek és impulzusjelek.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ETE-019 • 19.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554480"/>
            <a:ext cx="251460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1783080"/>
            <a:ext cx="960120" cy="9601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800" b="1">
                <a:solidFill>
                  <a:srgbClr val="2A74B2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54680"/>
            <a:ext cx="224028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13304E"/>
                </a:solidFill>
                <a:latin typeface="Aptos"/>
              </a:defRPr>
            </a:pPr>
            <a:r>
              <a:t>CSATLAKOZÓK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554480"/>
            <a:ext cx="251460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06240" y="1783080"/>
            <a:ext cx="960120" cy="9601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800" b="1">
                <a:solidFill>
                  <a:srgbClr val="498B6A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3154680"/>
            <a:ext cx="224028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13304E"/>
                </a:solidFill>
                <a:latin typeface="Aptos"/>
              </a:defRPr>
            </a:pPr>
            <a:r>
              <a:t>JELVEZETÉKEK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554480"/>
            <a:ext cx="251460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40880" y="1783080"/>
            <a:ext cx="960120" cy="9601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800" b="1">
                <a:solidFill>
                  <a:srgbClr val="D48B37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154680"/>
            <a:ext cx="224028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13304E"/>
                </a:solidFill>
                <a:latin typeface="Aptos"/>
              </a:defRPr>
            </a:pPr>
            <a:r>
              <a:t>IMPULZUSJEL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98280" y="1554480"/>
            <a:ext cx="251460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0" y="1783080"/>
            <a:ext cx="960120" cy="9601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800" b="1">
                <a:solidFill>
                  <a:srgbClr val="56ACD6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0" y="3154680"/>
            <a:ext cx="224028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13304E"/>
                </a:solidFill>
                <a:latin typeface="Aptos"/>
              </a:defRPr>
            </a:pPr>
            <a:r>
              <a:t>FORGÁSIRÁNY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30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85800"/>
            <a:ext cx="1069848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B4DCF2"/>
                </a:solidFill>
                <a:latin typeface="Aptos"/>
              </a:defRPr>
            </a:pPr>
            <a:r>
              <a:t>MŰHELYTITOK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69848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Aptos"/>
              </a:defRPr>
            </a:pPr>
            <a:r>
              <a:t>PONTATLANSÁG ≠ FELTÉTLENÜL ELEKTRONIKAI HIBA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743200"/>
            <a:ext cx="4572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907792"/>
            <a:ext cx="420624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D48B37"/>
                </a:solidFill>
                <a:latin typeface="Aptos"/>
              </a:defRPr>
            </a:pPr>
            <a:r>
              <a:t>TENGELYKAPCSOLÓ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401568"/>
            <a:ext cx="4114800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mechanikus hiba vagy holtjáték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0" y="2743200"/>
            <a:ext cx="4572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0" y="2907792"/>
            <a:ext cx="420624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498B6A"/>
                </a:solidFill>
                <a:latin typeface="Aptos"/>
              </a:defRPr>
            </a:pPr>
            <a:r>
              <a:t>ENKÓDER KÁBEL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03720" y="3401568"/>
            <a:ext cx="4114800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jelhiba vagy csatlakozási probléma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700" b="1">
                <a:solidFill>
                  <a:srgbClr val="13304E"/>
                </a:solidFill>
                <a:latin typeface="Aptos"/>
              </a:defRPr>
            </a:pPr>
            <a:r>
              <a:t>Projektfeladat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PLC-vezérelt pozicionáló rendszer.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ETE-019 • 19.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828800"/>
            <a:ext cx="192024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828800"/>
            <a:ext cx="1920240" cy="1508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2A74B2"/>
                </a:solidFill>
                <a:latin typeface="Aptos"/>
              </a:defRPr>
            </a:pPr>
            <a:r>
              <a:t>PLC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286000" y="2578608"/>
            <a:ext cx="320040" cy="0"/>
          </a:xfrm>
          <a:prstGeom prst="line">
            <a:avLst/>
          </a:prstGeom>
          <a:ln w="50800">
            <a:solidFill>
              <a:srgbClr val="5E71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697479" y="1828800"/>
            <a:ext cx="192024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97479" y="1828800"/>
            <a:ext cx="1920240" cy="1508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D48B37"/>
                </a:solidFill>
                <a:latin typeface="Aptos"/>
              </a:defRPr>
            </a:pPr>
            <a:r>
              <a:t>SZERVOHAJTÁS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617720" y="2578608"/>
            <a:ext cx="320040" cy="0"/>
          </a:xfrm>
          <a:prstGeom prst="line">
            <a:avLst/>
          </a:prstGeom>
          <a:ln w="50800">
            <a:solidFill>
              <a:srgbClr val="5E71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029200" y="1828800"/>
            <a:ext cx="192024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0" y="1828800"/>
            <a:ext cx="1920240" cy="1508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498B6A"/>
                </a:solidFill>
                <a:latin typeface="Aptos"/>
              </a:defRPr>
            </a:pPr>
            <a:r>
              <a:t>SZERVOMOTOR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949440" y="2578608"/>
            <a:ext cx="320040" cy="0"/>
          </a:xfrm>
          <a:prstGeom prst="line">
            <a:avLst/>
          </a:prstGeom>
          <a:ln w="50800">
            <a:solidFill>
              <a:srgbClr val="5E71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7360919" y="1828800"/>
            <a:ext cx="192024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60919" y="1828800"/>
            <a:ext cx="1920240" cy="1508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56ACD6"/>
                </a:solidFill>
                <a:latin typeface="Aptos"/>
              </a:defRPr>
            </a:pPr>
            <a:r>
              <a:t>ENKÓDER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281159" y="2578608"/>
            <a:ext cx="320041" cy="0"/>
          </a:xfrm>
          <a:prstGeom prst="line">
            <a:avLst/>
          </a:prstGeom>
          <a:ln w="50800">
            <a:solidFill>
              <a:srgbClr val="5E71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9692640" y="1828800"/>
            <a:ext cx="192024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92640" y="1828800"/>
            <a:ext cx="1920240" cy="1508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13304E"/>
                </a:solidFill>
                <a:latin typeface="Aptos"/>
              </a:defRPr>
            </a:pPr>
            <a:r>
              <a:t>HMI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297680"/>
            <a:ext cx="1024128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13304E"/>
                </a:solidFill>
                <a:latin typeface="Aptos"/>
              </a:defRPr>
            </a:pPr>
            <a:r>
              <a:t>Tervezd meg a parancsokat, visszacsatolást és a HMI-n megjelenő adatokat.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700" b="1">
                <a:solidFill>
                  <a:srgbClr val="13304E"/>
                </a:solidFill>
                <a:latin typeface="Aptos"/>
              </a:defRPr>
            </a:pPr>
            <a:r>
              <a:t>Önellenőrzés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Az eredeti jegyzet öt kérdése.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ETE-019 • 19.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234440"/>
            <a:ext cx="105156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234440"/>
            <a:ext cx="10058400" cy="7132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500" b="1">
                <a:solidFill>
                  <a:srgbClr val="1F2D39"/>
                </a:solidFill>
                <a:latin typeface="Aptos"/>
              </a:defRPr>
            </a:pPr>
            <a:r>
              <a:t>1. Mi a különbség a nyílt és zárt szabályozás között?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194560"/>
            <a:ext cx="105156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194560"/>
            <a:ext cx="10058400" cy="7132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500" b="1">
                <a:solidFill>
                  <a:srgbClr val="1F2D39"/>
                </a:solidFill>
                <a:latin typeface="Aptos"/>
              </a:defRPr>
            </a:pPr>
            <a:r>
              <a:t>2. Mire szolgál az enkóder?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154680"/>
            <a:ext cx="105156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3154680"/>
            <a:ext cx="10058400" cy="7132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500" b="1">
                <a:solidFill>
                  <a:srgbClr val="1F2D39"/>
                </a:solidFill>
                <a:latin typeface="Aptos"/>
              </a:defRPr>
            </a:pPr>
            <a:r>
              <a:t>3. Mi a különbség az inkrementális és abszolút enkóder között?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4114800"/>
            <a:ext cx="105156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4114800"/>
            <a:ext cx="10058400" cy="7132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500" b="1">
                <a:solidFill>
                  <a:srgbClr val="1F2D39"/>
                </a:solidFill>
                <a:latin typeface="Aptos"/>
              </a:defRPr>
            </a:pPr>
            <a:r>
              <a:t>4. Miért fontos a visszacsatolás?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5074920"/>
            <a:ext cx="105156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5074920"/>
            <a:ext cx="10058400" cy="7132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500" b="1">
                <a:solidFill>
                  <a:srgbClr val="1F2D39"/>
                </a:solidFill>
                <a:latin typeface="Aptos"/>
              </a:defRPr>
            </a:pPr>
            <a:r>
              <a:t>5. Hol alkalmaznak szervohajtásokat?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30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69848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B4DCF2"/>
                </a:solidFill>
                <a:latin typeface="Aptos"/>
              </a:defRPr>
            </a:pPr>
            <a:r>
              <a:t>KÖVETKEZŐ HÉT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69848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  <a:latin typeface="Aptos"/>
              </a:defRPr>
            </a:pPr>
            <a:r>
              <a:t>KOMPLEX IPARI HAJTÁSRENDSZEREK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3337560"/>
            <a:ext cx="2514600" cy="1325880"/>
          </a:xfrm>
          <a:prstGeom prst="roundRect">
            <a:avLst/>
          </a:prstGeom>
          <a:solidFill>
            <a:srgbClr val="2B5376"/>
          </a:solidFill>
          <a:ln>
            <a:solidFill>
              <a:srgbClr val="82B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337560"/>
            <a:ext cx="2514600" cy="1325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PLC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3337560"/>
            <a:ext cx="2514600" cy="1325880"/>
          </a:xfrm>
          <a:prstGeom prst="roundRect">
            <a:avLst/>
          </a:prstGeom>
          <a:solidFill>
            <a:srgbClr val="2B5376"/>
          </a:solidFill>
          <a:ln>
            <a:solidFill>
              <a:srgbClr val="82B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29000" y="3337560"/>
            <a:ext cx="2514600" cy="1325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HMI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3337560"/>
            <a:ext cx="2514600" cy="1325880"/>
          </a:xfrm>
          <a:prstGeom prst="roundRect">
            <a:avLst/>
          </a:prstGeom>
          <a:solidFill>
            <a:srgbClr val="2B5376"/>
          </a:solidFill>
          <a:ln>
            <a:solidFill>
              <a:srgbClr val="82B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63640" y="3337560"/>
            <a:ext cx="2514600" cy="1325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FREKVENCIAVÁLTÓ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98280" y="3337560"/>
            <a:ext cx="2514600" cy="1325880"/>
          </a:xfrm>
          <a:prstGeom prst="roundRect">
            <a:avLst/>
          </a:prstGeom>
          <a:solidFill>
            <a:srgbClr val="2B5376"/>
          </a:solidFill>
          <a:ln>
            <a:solidFill>
              <a:srgbClr val="82B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98280" y="3337560"/>
            <a:ext cx="2514600" cy="1325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SZERVO + SZENZOR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