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3152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ASZINKRON MOTOROK</a:t>
            </a:r>
            <a:br/>
            <a:r>
              <a:t>INDÍTÁSI MÓDJAI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82880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82880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82880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82880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Y / 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38328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338328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SOFT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383280"/>
            <a:ext cx="150876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3383280"/>
            <a:ext cx="15087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6492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indítási áram • mechanikai terhelés • szabályozás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Miért nagy az indítási áram?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Álló helyzetben a motor nem termel ellenfeszültséget.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2788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motor áll. Az indítási áram a névleges áram többszöröse is lehet.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2763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VILLAMOS HATÁS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21408"/>
            <a:ext cx="2788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melegedés</a:t>
            </a:r>
            <a:br/>
            <a:r>
              <a:t>feszültségesés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6304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62763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MECHANIKAI HATÁS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21408"/>
            <a:ext cx="2788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 mechanikai igénybevétel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1. Közvetlen indítás - DOL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legegyszerűbb megoldás.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A74B2"/>
                </a:solidFill>
                <a:latin typeface="Aptos"/>
              </a:defRPr>
            </a:pPr>
            <a:r>
              <a:t>HÁLÓZAT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560320"/>
            <a:ext cx="91440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18288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74320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D48B37"/>
                </a:solidFill>
                <a:latin typeface="Aptos"/>
              </a:defRPr>
            </a:pPr>
            <a:r>
              <a:t>KAPCSOLÓ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0" y="2560320"/>
            <a:ext cx="91440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18288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274320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98B6A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1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36007"/>
            <a:ext cx="256032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egyszerű • olcsó • megbízható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977639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142231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Hátrány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636007"/>
            <a:ext cx="256032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 indítási áram és mechanikai terhelés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977639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142231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636007"/>
            <a:ext cx="2560320" cy="5029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kisebb teljesítményű motorok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2. Csillag-háromszög 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Indítás Y-ban, felgyorsulás után Δ-ban.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004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500" b="1">
                <a:solidFill>
                  <a:srgbClr val="2A74B2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200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INDÍTÁS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148840"/>
            <a:ext cx="2286000" cy="0"/>
          </a:xfrm>
          <a:prstGeom prst="line">
            <a:avLst/>
          </a:prstGeom>
          <a:ln w="635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51960" y="1600200"/>
            <a:ext cx="2011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5E7180"/>
                </a:solidFill>
                <a:latin typeface="Aptos"/>
              </a:defRPr>
            </a:pPr>
            <a:r>
              <a:t>átkapcsolás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32004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500" b="1">
                <a:solidFill>
                  <a:srgbClr val="D48B37"/>
                </a:solidFill>
                <a:latin typeface="Aptos"/>
              </a:defRPr>
            </a:pPr>
            <a:r>
              <a:t>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3200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ÜZEM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50791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544568"/>
            <a:ext cx="4297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kisebb indítási áram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86200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50791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Kompromisszum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44568"/>
            <a:ext cx="4297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az indítónyomaték is csökken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3. Lágyindító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kapocsfeszültség fokozatos növelése.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97280" y="1554480"/>
            <a:ext cx="0" cy="338328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4937760"/>
            <a:ext cx="53035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80160" y="1828800"/>
            <a:ext cx="4846320" cy="2880360"/>
          </a:xfrm>
          <a:prstGeom prst="line">
            <a:avLst/>
          </a:prstGeom>
          <a:ln w="762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141732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074920"/>
            <a:ext cx="731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5E7180"/>
                </a:solidFill>
                <a:latin typeface="Aptos"/>
              </a:defRPr>
            </a:pPr>
            <a:r>
              <a:t>idő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5448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19072"/>
            <a:ext cx="3474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Áramlökés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212848"/>
            <a:ext cx="3383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csökken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24612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410712"/>
            <a:ext cx="3474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Mechanikai igénybevétel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904487"/>
            <a:ext cx="3383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csökken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4. Frekvenciaváltós 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Feszültség és frekvencia egyidejű szabályozása.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FINOM INDÍTÁS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92608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kisebb indítási 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73351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67128"/>
            <a:ext cx="292608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szabályozható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087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73351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67128"/>
            <a:ext cx="292608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takarékos működés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304E"/>
                </a:solidFill>
                <a:latin typeface="Aptos"/>
              </a:defRPr>
            </a:pPr>
            <a:r>
              <a:t>U + f → szabályozott motorüzem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négy megoldás egymás mellett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jegyzet alapján.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146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331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DOL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1488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D39"/>
                </a:solidFill>
                <a:latin typeface="Aptos"/>
              </a:defRPr>
            </a:pPr>
            <a:r>
              <a:t>egyszerű, nagy áram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5E7180"/>
                </a:solidFill>
                <a:latin typeface="Aptos"/>
              </a:defRPr>
            </a:pPr>
            <a:r>
              <a:t>kisebb motor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508760"/>
            <a:ext cx="25146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783080"/>
            <a:ext cx="2331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Y /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60320"/>
            <a:ext cx="21488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D39"/>
                </a:solidFill>
                <a:latin typeface="Aptos"/>
              </a:defRPr>
            </a:pPr>
            <a:r>
              <a:t>kisebb áram,</a:t>
            </a:r>
            <a:br/>
            <a:r>
              <a:t>kisebb nyomaték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40690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5E7180"/>
                </a:solidFill>
                <a:latin typeface="Aptos"/>
              </a:defRPr>
            </a:pPr>
            <a:r>
              <a:t>klasszikus</a:t>
            </a:r>
            <a:br/>
            <a:r>
              <a:t>megoldás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508760"/>
            <a:ext cx="25146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83080"/>
            <a:ext cx="2331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Lágyindító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560320"/>
            <a:ext cx="21488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D39"/>
                </a:solidFill>
                <a:latin typeface="Aptos"/>
              </a:defRPr>
            </a:pPr>
            <a:r>
              <a:t>fokozatos 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40690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5E7180"/>
                </a:solidFill>
                <a:latin typeface="Aptos"/>
              </a:defRPr>
            </a:pPr>
            <a:r>
              <a:t>kíméletes</a:t>
            </a:r>
            <a:br/>
            <a:r>
              <a:t>indítás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508760"/>
            <a:ext cx="25146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783080"/>
            <a:ext cx="2331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56ACD6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560320"/>
            <a:ext cx="21488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D39"/>
                </a:solidFill>
                <a:latin typeface="Aptos"/>
              </a:defRPr>
            </a:pPr>
            <a:r>
              <a:t>finom indítás,</a:t>
            </a:r>
            <a:br/>
            <a:r>
              <a:t>fordulatszám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4069080"/>
            <a:ext cx="2148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5E7180"/>
                </a:solidFill>
                <a:latin typeface="Aptos"/>
              </a:defRPr>
            </a:pPr>
            <a:r>
              <a:t>szabályozott</a:t>
            </a:r>
            <a:br/>
            <a:r>
              <a:t>hajtás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22 kW-OS SZÁLLÍTÓSZALAG-MOTOR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4480560" cy="19202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Közvetlen indítás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3931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B4DCF2"/>
                </a:solidFill>
                <a:latin typeface="Aptos"/>
              </a:defRPr>
            </a:pPr>
            <a:r>
              <a:t>nagyobb indítási áram</a:t>
            </a:r>
            <a:br/>
            <a:r>
              <a:t>nagyobb mechanikai terhelés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743200"/>
            <a:ext cx="4480560" cy="19202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971800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657600"/>
            <a:ext cx="3931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B4DCF2"/>
                </a:solidFill>
                <a:latin typeface="Aptos"/>
              </a:defRPr>
            </a:pPr>
            <a:r>
              <a:t>finom indítás</a:t>
            </a:r>
            <a:br/>
            <a:r>
              <a:t>kisebb áram és terhelés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motorvezérlő szekrény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Azonosítsd a készülékeket és az indítási módot.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8346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MÁGNES-</a:t>
            </a:r>
            <a:br/>
            <a:r>
              <a:t>KAPCSOLÓ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74519"/>
            <a:ext cx="28346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MOTORVÉDŐ</a:t>
            </a:r>
            <a:br/>
            <a:r>
              <a:t>KAPCSOLÓ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0876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19"/>
            <a:ext cx="28346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HŐKIOLDÓ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→ A készülékek és a bekötés alapján: DOL / Y-Δ / lágyindító / VFD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eredeti jegyzet öt kérdése.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ETE-014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Miért nagy az indítási áram?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Mikor alkalmazunk közvetlen indítást?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 a csillag-háromszög indítás lényege?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Mire szolgál a lágyindító?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Milyen előnyei vannak a frekvenciaváltónak?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A FREKVENCIAVÁLTÓ</a:t>
            </a:r>
            <a:br/>
            <a:r>
              <a:t>BELSEJÉBEN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DC-KÖZBENSŐKÖR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657600"/>
            <a:ext cx="2514600" cy="12344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0"/>
            <a:ext cx="25146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PWM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