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Aptos"/>
              </a:defRPr>
            </a:pPr>
            <a:r>
              <a:t>11. évfolyam • Elektrotechnika • ETE-007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57400"/>
            <a:ext cx="109728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"/>
              </a:defRPr>
            </a:pPr>
            <a:r>
              <a:t>TELJESÍTMÉNY</a:t>
            </a:r>
            <a:br/>
            <a:r>
              <a:t>VÁLTAKOZÓ ÁRAMÚ KÖRÖKBEN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Aptos"/>
              </a:defRPr>
            </a:pPr>
            <a:r>
              <a:t>P • Q • S • cos φ • fázisjavítás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73A5E"/>
                </a:solidFill>
                <a:latin typeface="Aptos"/>
              </a:defRPr>
            </a:pPr>
            <a:r>
              <a:t>A világ nagy kérdése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263746"/>
                </a:solidFill>
                <a:latin typeface="Aptos"/>
              </a:defRPr>
            </a:pPr>
            <a:r>
              <a:t>Miért fizethet egy ipari üzem többet a villamos energiáért,</a:t>
            </a:r>
            <a:br/>
            <a:r>
              <a:t>mint egy hasonló teljesítményű fűtőüzem?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64465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ETE-007 • 7. hét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73A5E"/>
                </a:solidFill>
                <a:latin typeface="Aptos"/>
              </a:defRPr>
            </a:pPr>
            <a:r>
              <a:t>A három teljesítmény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263746"/>
                </a:solidFill>
                <a:latin typeface="Aptos"/>
              </a:defRPr>
            </a:pPr>
            <a:r>
              <a:t>P = hatásos teljesítmény [W]</a:t>
            </a:r>
            <a:br/>
            <a:r>
              <a:t>Q = meddő teljesítmény [var]</a:t>
            </a:r>
            <a:br/>
            <a:r>
              <a:t>S = látszólagos teljesítmény [VA]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64465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ETE-007 • 7. hét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73A5E"/>
                </a:solidFill>
                <a:latin typeface="Aptos"/>
              </a:defRPr>
            </a:pPr>
            <a:r>
              <a:t>Teljesítménytényező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263746"/>
                </a:solidFill>
                <a:latin typeface="Aptos"/>
              </a:defRPr>
            </a:pPr>
            <a:r>
              <a:t>cos φ</a:t>
            </a:r>
            <a:br/>
            <a:br/>
            <a:r>
              <a:t>A teljesítménytényező jelentősége az AC hálózatokban.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64465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ETE-007 • 7. hét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73A5E"/>
                </a:solidFill>
                <a:latin typeface="Aptos"/>
              </a:defRPr>
            </a:pPr>
            <a:r>
              <a:t>Alapösszefüggések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263746"/>
                </a:solidFill>
                <a:latin typeface="Aptos"/>
              </a:defRPr>
            </a:pPr>
            <a:r>
              <a:t>S = U × I</a:t>
            </a:r>
            <a:br/>
            <a:r>
              <a:t>P = U × I × cos φ</a:t>
            </a:r>
            <a:br/>
            <a:r>
              <a:t>Q = √(S² - P²)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64465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ETE-007 • 7. hét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73A5E"/>
                </a:solidFill>
                <a:latin typeface="Aptos"/>
              </a:defRPr>
            </a:pPr>
            <a:r>
              <a:t>Számítási példa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263746"/>
                </a:solidFill>
                <a:latin typeface="Aptos"/>
              </a:defRPr>
            </a:pPr>
            <a:r>
              <a:t>U = 230 V • I = 5 A • cos φ = 0,8</a:t>
            </a:r>
            <a:br/>
            <a:br/>
            <a:r>
              <a:t>S = 1150 VA</a:t>
            </a:r>
            <a:br/>
            <a:r>
              <a:t>P = 920 W</a:t>
            </a:r>
            <a:br/>
            <a:r>
              <a:t>Q = 690 var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64465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ETE-007 • 7. hét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73A5E"/>
                </a:solidFill>
                <a:latin typeface="Aptos"/>
              </a:defRPr>
            </a:pPr>
            <a:r>
              <a:t>Teljesítményháromszög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263746"/>
                </a:solidFill>
                <a:latin typeface="Aptos"/>
              </a:defRPr>
            </a:pPr>
            <a:r>
              <a:t>P • Q • S</a:t>
            </a:r>
            <a:br/>
            <a:br/>
            <a:r>
              <a:t>Rajzold fel, és jelöld a három teljesítményt.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64465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ETE-007 • 7. hét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73A5E"/>
                </a:solidFill>
                <a:latin typeface="Aptos"/>
              </a:defRPr>
            </a:pPr>
            <a:r>
              <a:t>Fázisjavítás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263746"/>
                </a:solidFill>
                <a:latin typeface="Aptos"/>
              </a:defRPr>
            </a:pPr>
            <a:r>
              <a:t>Kondenzátortelepekkel csökkenthető a meddő teljesítmény igénye.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64465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ETE-007 • 7. hét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73A5E"/>
                </a:solidFill>
                <a:latin typeface="Aptos"/>
              </a:defRPr>
            </a:pPr>
            <a:r>
              <a:t>Mérőlabor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263746"/>
                </a:solidFill>
                <a:latin typeface="Aptos"/>
              </a:defRPr>
            </a:pPr>
            <a:r>
              <a:t>Izzólámpa • transzformátor • ventilátormotor</a:t>
            </a:r>
            <a:br/>
            <a:br/>
            <a:r>
              <a:t>Áramfelvétel és viselkedés összehasonlítása.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64465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ETE-007 • 7. hét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73A5E"/>
                </a:solidFill>
                <a:latin typeface="Aptos"/>
              </a:defRPr>
            </a:pPr>
            <a:r>
              <a:t>IAP Mérnöki kihívás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263746"/>
                </a:solidFill>
                <a:latin typeface="Aptos"/>
              </a:defRPr>
            </a:pPr>
            <a:r>
              <a:t>Hogyan javítható egy ipari üzem 0,55-ös teljesítménytényezője 0,95 közelébe?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64465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ETE-007 • 7. hét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73A5E"/>
                </a:solidFill>
                <a:latin typeface="Aptos"/>
              </a:defRPr>
            </a:pPr>
            <a:r>
              <a:t>Következő hét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263746"/>
                </a:solidFill>
                <a:latin typeface="Aptos"/>
              </a:defRPr>
            </a:pPr>
            <a:r>
              <a:t>A HÁROMFÁZISÚ RENDSZEREK ALAPJAI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64465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ETE-007 • 7. hét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