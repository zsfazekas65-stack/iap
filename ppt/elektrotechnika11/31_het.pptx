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Elektrotechnika • ETE-031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58368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ASZINKRON MOTOR</a:t>
            </a:r>
            <a:br/>
            <a:r>
              <a:t>JELLEGGÖRBÉI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132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600" b="0">
                <a:solidFill>
                  <a:srgbClr val="B4DCF2"/>
                </a:solidFill>
                <a:latin typeface="Aptos"/>
              </a:defRPr>
            </a:pPr>
            <a:r>
              <a:t>nyomaték • áram • hatásfok • cosφ • üzemi pont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8229600" y="1645920"/>
            <a:ext cx="0" cy="246888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29600" y="4114800"/>
            <a:ext cx="2743200" cy="0"/>
          </a:xfrm>
          <a:prstGeom prst="line">
            <a:avLst/>
          </a:prstGeom>
          <a:ln w="38100">
            <a:solidFill>
              <a:srgbClr val="56AC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412480" y="2743200"/>
            <a:ext cx="822960" cy="1005839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235440" y="2103120"/>
            <a:ext cx="822960" cy="64008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103120"/>
            <a:ext cx="731520" cy="10058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Miért változik I, M és η a terhelés növekedésével?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terheléssel</a:t>
            </a:r>
            <a:br/>
            <a:r>
              <a:t>nő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 mértékben</a:t>
            </a:r>
            <a:br/>
            <a:r>
              <a:t>csökken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HATÁSFOK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58568"/>
            <a:ext cx="2788920" cy="2194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üzemi ponttól</a:t>
            </a:r>
            <a:br/>
            <a:r>
              <a:t>függ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hét öt kulcsfogalma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forrásanyag fő témái.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2A74B2"/>
                </a:solidFill>
                <a:latin typeface="Aptos"/>
              </a:defRPr>
            </a:pPr>
            <a:r>
              <a:t>M–n GÖRBE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48B37"/>
                </a:solidFill>
                <a:latin typeface="Aptos"/>
              </a:defRPr>
            </a:pPr>
            <a:r>
              <a:t>I–TERHELÉS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7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19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498B6A"/>
                </a:solidFill>
                <a:latin typeface="Aptos"/>
              </a:defRPr>
            </a:pPr>
            <a:r>
              <a:t>HATÁSFOK 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19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56ACD6"/>
                </a:solidFill>
                <a:latin typeface="Aptos"/>
              </a:defRPr>
            </a:pPr>
            <a:r>
              <a:t>cosφ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19" y="1645920"/>
            <a:ext cx="20116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59" y="2148840"/>
            <a:ext cx="182880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3304E"/>
                </a:solidFill>
                <a:latin typeface="Aptos"/>
              </a:defRPr>
            </a:pPr>
            <a:r>
              <a:t>ÜZEMI PONT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Nyomaték–fordulatszám görbe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Billenőnyomaték és névleges üzem.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1325880"/>
            <a:ext cx="0" cy="374904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5074920"/>
            <a:ext cx="9418320" cy="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3304E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5212080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3304E"/>
                </a:solidFill>
                <a:latin typeface="Aptos"/>
              </a:defRPr>
            </a:pPr>
            <a:r>
              <a:t>n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554480" y="3657600"/>
            <a:ext cx="1188720" cy="64008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43200" y="2651760"/>
            <a:ext cx="1188720" cy="10058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931920" y="1828800"/>
            <a:ext cx="1188720" cy="82296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1828800"/>
            <a:ext cx="1097280" cy="32004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17920" y="2148840"/>
            <a:ext cx="1097280" cy="59436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2743200"/>
            <a:ext cx="1188720" cy="68580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03920" y="3429000"/>
            <a:ext cx="1188720" cy="68580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2640" y="4114800"/>
            <a:ext cx="640080" cy="45720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51960" y="1325880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D48B37"/>
                </a:solidFill>
                <a:latin typeface="Aptos"/>
              </a:defRPr>
            </a:pPr>
            <a:r>
              <a:t>billenőnyomaték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788920"/>
            <a:ext cx="2011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98B6A"/>
                </a:solidFill>
                <a:latin typeface="Aptos"/>
              </a:defRPr>
            </a:pPr>
            <a:r>
              <a:t>névleges üzem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Áram–terhelés kapcsolat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terhelés növekedésével nő az áram.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1325880"/>
            <a:ext cx="0" cy="374904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5074920"/>
            <a:ext cx="9418320" cy="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3304E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521208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3304E"/>
                </a:solidFill>
                <a:latin typeface="Aptos"/>
              </a:defRPr>
            </a:pPr>
            <a:r>
              <a:t>terhelés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645920" y="1737360"/>
            <a:ext cx="8503920" cy="2834640"/>
          </a:xfrm>
          <a:prstGeom prst="line">
            <a:avLst/>
          </a:prstGeom>
          <a:ln w="762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0" y="1417320"/>
            <a:ext cx="1097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D48B37"/>
                </a:solidFill>
                <a:latin typeface="Aptos"/>
              </a:defRPr>
            </a:pPr>
            <a:r>
              <a:t>I 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Fordulatszám–terhelés kapcsolat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fordulatszám csak kis mértékben csökken.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371600" y="1325880"/>
            <a:ext cx="0" cy="374904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5074920"/>
            <a:ext cx="9418320" cy="0"/>
          </a:xfrm>
          <a:prstGeom prst="line">
            <a:avLst/>
          </a:prstGeom>
          <a:ln w="38100">
            <a:solidFill>
              <a:srgbClr val="1330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800" b="1">
                <a:solidFill>
                  <a:srgbClr val="13304E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521208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3304E"/>
                </a:solidFill>
                <a:latin typeface="Aptos"/>
              </a:defRPr>
            </a:pPr>
            <a:r>
              <a:t>terhelés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1828800"/>
            <a:ext cx="8503920" cy="1188720"/>
          </a:xfrm>
          <a:prstGeom prst="line">
            <a:avLst/>
          </a:prstGeom>
          <a:ln w="76200">
            <a:solidFill>
              <a:srgbClr val="2A7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40880" y="306324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n ↓ kis mértékben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Hatásfok és cosφ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Két fontos üzemi jellemző.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HATÁSFOK 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motorokat célszerű</a:t>
            </a:r>
            <a:br/>
            <a:r>
              <a:t>a névleges terhelés</a:t>
            </a:r>
            <a:br/>
            <a:r>
              <a:t>közelében üzemeltetni.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17320"/>
            <a:ext cx="4846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81912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cosφ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75688"/>
            <a:ext cx="4389120" cy="2651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teljesítménytényező</a:t>
            </a:r>
            <a:br/>
            <a:r>
              <a:t>terheléssel együtt</a:t>
            </a:r>
            <a:br/>
            <a:r>
              <a:t>változik.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B4DCF2"/>
                </a:solidFill>
                <a:latin typeface="Aptos"/>
              </a:defRPr>
            </a:pPr>
            <a:r>
              <a:t>ÜZEMI PONT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"/>
              </a:defRPr>
            </a:pPr>
            <a:r>
              <a:t>jelleggörbék + 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D48B37"/>
                </a:solidFill>
                <a:latin typeface="Aptos"/>
              </a:defRPr>
            </a:pPr>
            <a:r>
              <a:t>→ megfelelő motorválasztás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B4DCF2"/>
                </a:solidFill>
                <a:latin typeface="Aptos"/>
              </a:defRPr>
            </a:pPr>
            <a:r>
              <a:t>áram • nyomaték • hatásfok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Számítási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Névleges áram: 12 A • félterhelés: 7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13304E"/>
                </a:solidFill>
                <a:latin typeface="Aptos"/>
              </a:defRPr>
            </a:pPr>
            <a:r>
              <a:t>7 A / 12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2A74B2"/>
                </a:solidFill>
                <a:latin typeface="Aptos"/>
              </a:defRPr>
            </a:pPr>
            <a:r>
              <a:t>= 0,583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800" b="1">
                <a:solidFill>
                  <a:srgbClr val="D48B37"/>
                </a:solidFill>
                <a:latin typeface="Aptos"/>
              </a:defRPr>
            </a:pPr>
            <a:r>
              <a:t>≈ 58,3%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félterhelésen mért áram / névleges áram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Mérőlabor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Üresjárás • félterhelés • névleges 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2A74B2"/>
                </a:solidFill>
                <a:latin typeface="Aptos"/>
              </a:defRPr>
            </a:pPr>
            <a:r>
              <a:t>ÜRESJÁRÁS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I = ?</a:t>
            </a:r>
            <a:br/>
            <a:r>
              <a:t>n = 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D48B37"/>
                </a:solidFill>
                <a:latin typeface="Aptos"/>
              </a:defRPr>
            </a:pPr>
            <a:r>
              <a:t>FÉLTERHELÉS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I = ?</a:t>
            </a:r>
            <a:br/>
            <a:r>
              <a:t>n =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08760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2880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498B6A"/>
                </a:solidFill>
                <a:latin typeface="Aptos"/>
              </a:defRPr>
            </a:pPr>
            <a:r>
              <a:t>NÉVLEGES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743200"/>
            <a:ext cx="27889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13304E"/>
                </a:solidFill>
                <a:latin typeface="Aptos"/>
              </a:defRPr>
            </a:pPr>
            <a:r>
              <a:t>I = ?</a:t>
            </a:r>
            <a:br/>
            <a:r>
              <a:t>n =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Gyakori mérési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Négy tipikus hiba a forrásanyagból.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 TERHELÉSI</a:t>
            </a:r>
            <a:br/>
            <a:r>
              <a:t>BEÁLLÍTÁS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PONTATLAN</a:t>
            </a:r>
            <a:br/>
            <a:r>
              <a:t>ÁRAMMÉRÉS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HIBÁS FORDULAT-</a:t>
            </a:r>
            <a:br/>
            <a:r>
              <a:t>SZÁMMÉRÉS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6002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1828800"/>
            <a:ext cx="9601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D48B37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15468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3304E"/>
                </a:solidFill>
                <a:latin typeface="Aptos"/>
              </a:defRPr>
            </a:pPr>
            <a:r>
              <a:t>ADATTÁBLA</a:t>
            </a:r>
            <a:br/>
            <a:r>
              <a:t>FIGYELMEN KÍVÜL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B4DCF2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NÉVLEGES TERHELÉS KÖZELÉBEN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 b="1">
                <a:solidFill>
                  <a:srgbClr val="D48B37"/>
                </a:solidFill>
                <a:latin typeface="Aptos"/>
              </a:defRPr>
            </a:pPr>
            <a:r>
              <a:t>a legjobb a motor hatásfoka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B4DCF2"/>
                </a:solidFill>
                <a:latin typeface="Aptos"/>
              </a:defRPr>
            </a:pPr>
            <a:r>
              <a:t>→ ne méretezzünk indokolatlanul túl nagy motort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Mesterfeladat és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Adattábla + jelleggörbe → mérnöki döntés.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MESTERFELADAT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Értékelj egy motort</a:t>
            </a:r>
            <a:br/>
            <a:r>
              <a:t>adattábla és jelleggörbék alapján.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8463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73351"/>
            <a:ext cx="4480559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MÉRNÖKI KIHÍVÁS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67128"/>
            <a:ext cx="4389120" cy="2560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Válassz motort</a:t>
            </a:r>
            <a:br/>
            <a:r>
              <a:t>egy szállítószalaghoz.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Öt kérdés a feltöltött anyagból.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ETE-031 • 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1. Mi a billenőnyomaték?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2. Hogyan változik az áram terhelésre?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7180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3. Miért fontos a hatásfok?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840479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79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4. Mit mutat a cosφ?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709160"/>
            <a:ext cx="10515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100584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>
                <a:solidFill>
                  <a:srgbClr val="1F2D39"/>
                </a:solidFill>
                <a:latin typeface="Aptos"/>
              </a:defRPr>
            </a:pPr>
            <a:r>
              <a:t>5. Mi az üzemi pont?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FREKVENCIAVÁLTÓS</a:t>
            </a:r>
            <a:br/>
            <a:r>
              <a:t>HAJTÁSOK ALAPJAI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