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31520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DC MOTOR</a:t>
            </a:r>
            <a:br/>
            <a:r>
              <a:t>FORDULATSZÁM-SZABÁLYOZÁS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6858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PWM • kitöltési tényező • átlagfeszültség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8229600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0" y="2011680"/>
            <a:ext cx="292608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22208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823960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3960" y="2011680"/>
            <a:ext cx="292608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16568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418320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18320" y="2011680"/>
            <a:ext cx="292608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10928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012680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012680" y="2011680"/>
            <a:ext cx="292608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05288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607040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607040" y="2011680"/>
            <a:ext cx="292608" cy="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99648" y="2011680"/>
            <a:ext cx="0" cy="1828800"/>
          </a:xfrm>
          <a:prstGeom prst="line">
            <a:avLst/>
          </a:prstGeom>
          <a:ln w="508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nem előtétellenállással szabályozunk?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ELLENÁLLÁSOS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veszteség → hő</a:t>
            </a:r>
            <a:br/>
            <a:r>
              <a:t>rosszabb hatásfok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PWM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kapcsolóüzem</a:t>
            </a:r>
            <a:br/>
            <a:r>
              <a:t>nagy hatásfok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három szabályozási 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három fő megközelítése.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ARMATÚRA-U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103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fordulatszám</a:t>
            </a:r>
            <a:br/>
            <a:r>
              <a:t>feszültséggel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GERJESZTÉS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103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mezőgyengítés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PWM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103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kitöltési tényező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 a PWM?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Az amplitúdó állandó, a bekapcsolási idő aránya változik.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20%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45920" y="2423160"/>
            <a:ext cx="932688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828800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28800" y="1737360"/>
            <a:ext cx="256031" cy="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084831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108960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08960" y="1737360"/>
            <a:ext cx="256031" cy="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64991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389120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89120" y="1737360"/>
            <a:ext cx="256032" cy="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45152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669279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79" y="1737360"/>
            <a:ext cx="256033" cy="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25312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949440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1737360"/>
            <a:ext cx="256032" cy="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05472" y="1737360"/>
            <a:ext cx="0" cy="685800"/>
          </a:xfrm>
          <a:prstGeom prst="line">
            <a:avLst/>
          </a:prstGeom>
          <a:ln w="381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292608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50%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45920" y="3840480"/>
            <a:ext cx="932688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28800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3154680"/>
            <a:ext cx="640080" cy="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68880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08960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08960" y="3154680"/>
            <a:ext cx="640079" cy="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49039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389120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89120" y="3154680"/>
            <a:ext cx="640080" cy="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29200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669279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69279" y="3154680"/>
            <a:ext cx="640080" cy="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09359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949440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49440" y="3154680"/>
            <a:ext cx="640079" cy="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89519" y="3154680"/>
            <a:ext cx="0" cy="685800"/>
          </a:xfrm>
          <a:prstGeom prst="line">
            <a:avLst/>
          </a:prstGeom>
          <a:ln w="381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4343400"/>
            <a:ext cx="914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80%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45920" y="5257800"/>
            <a:ext cx="9326880" cy="0"/>
          </a:xfrm>
          <a:prstGeom prst="line">
            <a:avLst/>
          </a:prstGeom>
          <a:ln w="254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828800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828800" y="4572000"/>
            <a:ext cx="1024128" cy="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52928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108960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108960" y="4572000"/>
            <a:ext cx="1024127" cy="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133087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389120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389120" y="4572000"/>
            <a:ext cx="1024128" cy="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413248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669279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669279" y="4572000"/>
            <a:ext cx="1024128" cy="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693407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949440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49440" y="4572000"/>
            <a:ext cx="1024127" cy="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973567" y="4572000"/>
            <a:ext cx="0" cy="685800"/>
          </a:xfrm>
          <a:prstGeom prst="line">
            <a:avLst/>
          </a:prstGeom>
          <a:ln w="381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Kitöltési tényező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Nagyobb kitöltés → nagyobb átlagfeszültség.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A74B2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10896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4,8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56ACD6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10896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9,6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7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192024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498B6A"/>
                </a:solidFill>
                <a:latin typeface="Aptos"/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310896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14,4 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9" y="192024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D48B37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310896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19,2 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1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19" y="192024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13304E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108960"/>
            <a:ext cx="20116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24 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24 V × 40%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D48B37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B4DCF2"/>
                </a:solidFill>
                <a:latin typeface="Aptos"/>
              </a:defRPr>
            </a:pPr>
            <a:r>
              <a:t>9,6 V ÁTLAGFESZÜLTSÉG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PWM és fordulatszám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kitöltési tényező növelésével nő a fordulatszám.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1417320"/>
            <a:ext cx="0" cy="361188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5029200"/>
            <a:ext cx="941832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645920" y="1737360"/>
            <a:ext cx="8595360" cy="2880360"/>
          </a:xfrm>
          <a:prstGeom prst="line">
            <a:avLst/>
          </a:prstGeom>
          <a:ln w="63500">
            <a:solidFill>
              <a:srgbClr val="498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5212080"/>
            <a:ext cx="2103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>
                <a:solidFill>
                  <a:srgbClr val="13304E"/>
                </a:solidFill>
                <a:latin typeface="Aptos"/>
              </a:defRPr>
            </a:pPr>
            <a:r>
              <a:t>kitöltési tényező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20–100% kitöltés mellett mérjük n és I értékét.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011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2A74B2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20116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D39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64592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828800"/>
            <a:ext cx="2011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56ACD6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880360"/>
            <a:ext cx="20116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D39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2011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498B6A"/>
                </a:solidFill>
                <a:latin typeface="Aptos"/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80360"/>
            <a:ext cx="20116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D39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64592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828800"/>
            <a:ext cx="2011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48B37"/>
                </a:solidFill>
                <a:latin typeface="Aptos"/>
              </a:defRPr>
            </a:pPr>
            <a: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880360"/>
            <a:ext cx="20116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D39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64592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828800"/>
            <a:ext cx="2011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3304E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880360"/>
            <a:ext cx="201168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F2D39"/>
                </a:solidFill>
                <a:latin typeface="Aptos"/>
              </a:defRPr>
            </a:pPr>
            <a:r>
              <a:t>n = ?</a:t>
            </a:r>
            <a:br/>
            <a:r>
              <a:t>I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Oszcilloszkóp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PWM jelalak közvetlenül megfigyelhető.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241280" cy="3840480"/>
          </a:xfrm>
          <a:prstGeom prst="roundRect">
            <a:avLst/>
          </a:prstGeom>
          <a:solidFill>
            <a:srgbClr val="192730"/>
          </a:solidFill>
          <a:ln>
            <a:solidFill>
              <a:srgbClr val="5E71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92024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92608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3776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8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6112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66960" y="1600200"/>
            <a:ext cx="0" cy="347472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97280" y="2057400"/>
            <a:ext cx="9875520" cy="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97280" y="2697480"/>
            <a:ext cx="9875520" cy="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97280" y="3337559"/>
            <a:ext cx="9875520" cy="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7280" y="3977639"/>
            <a:ext cx="9875520" cy="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97280" y="4617720"/>
            <a:ext cx="9875520" cy="0"/>
          </a:xfrm>
          <a:prstGeom prst="line">
            <a:avLst/>
          </a:prstGeom>
          <a:ln w="12700">
            <a:solidFill>
              <a:srgbClr val="4155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28016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80160" y="2103120"/>
            <a:ext cx="640079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920239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20239" y="4389120"/>
            <a:ext cx="640081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6032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60320" y="2103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200400" y="4389120"/>
            <a:ext cx="640079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40479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40479" y="2103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80559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80559" y="4389120"/>
            <a:ext cx="640081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12064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0" y="2103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6072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760720" y="4389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40080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0" y="2103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04088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40880" y="4389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68096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680960" y="2103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21040" y="2103120"/>
            <a:ext cx="0" cy="228600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321040" y="4389120"/>
            <a:ext cx="64008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mérési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tipikus hiba a forrásanyagból.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HIBÁS</a:t>
            </a:r>
            <a:br/>
            <a:r>
              <a:t>KITÖLTÉS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ROSSZ SZKÓP-</a:t>
            </a:r>
            <a:br/>
            <a:r>
              <a:t>BEÁLLÍTÁS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HIBÁS</a:t>
            </a:r>
            <a:br/>
            <a:r>
              <a:t>FORDULATSZÁM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TÚLTERHELÉS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PWM FREKVENCIA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200" b="1">
                <a:solidFill>
                  <a:srgbClr val="D48B37"/>
                </a:solidFill>
                <a:latin typeface="Aptos"/>
              </a:defRPr>
            </a:pPr>
            <a:r>
              <a:t>16–20 kHz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B4DCF2"/>
                </a:solidFill>
                <a:latin typeface="Aptos"/>
              </a:defRPr>
            </a:pPr>
            <a:r>
              <a:t>→ a motor szinte hangtalan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Hol használjuk?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gyakorlati példái.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E-BIKE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ROBOTIKA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48B37"/>
                </a:solidFill>
                <a:latin typeface="Aptos"/>
              </a:defRPr>
            </a:pPr>
            <a:r>
              <a:t>SZÁLLÍTÓSZALAG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A74B2"/>
                </a:solidFill>
                <a:latin typeface="Aptos"/>
              </a:defRPr>
            </a:pPr>
            <a:r>
              <a:t>CNC ELŐTOLÁS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39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20439"/>
            <a:ext cx="3063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98B6A"/>
                </a:solidFill>
                <a:latin typeface="Aptos"/>
              </a:defRPr>
            </a:pPr>
            <a:r>
              <a:t>AKKUS SZERSZÁM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24 V-os szállítószalag PWM hajtása.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754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73351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TERVEZD MEG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429768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PWM szabályozás</a:t>
            </a:r>
            <a:br/>
            <a:r>
              <a:t>24 V DC motorhoz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508760"/>
            <a:ext cx="47548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73351"/>
            <a:ext cx="4389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HASONLÍTSD ÖSSZE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67128"/>
            <a:ext cx="4297680" cy="2468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ellenállásos</a:t>
            </a:r>
            <a:br/>
            <a:r>
              <a:t>vs. PWM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ETE-027 • 27.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PWM?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 a kitöltési tényező?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Miért hatékony?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Hogyan változik a fordulatszám?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Hol alkalmazzuk?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28.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AZ ASZINKRON MOTOR</a:t>
            </a:r>
            <a:br/>
            <a:r>
              <a:t>FELÉPÍTÉSE ÉS MŰKÖDÉSE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