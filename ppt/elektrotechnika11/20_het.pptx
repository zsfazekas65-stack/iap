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30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8288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97280"/>
            <a:ext cx="6400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ptos"/>
              </a:defRPr>
            </a:pPr>
            <a:r>
              <a:t>11. évfolyam • Elektrotechnika • ETE-020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828800"/>
            <a:ext cx="6949440" cy="1371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500" b="1">
                <a:solidFill>
                  <a:srgbClr val="FFFFFF"/>
                </a:solidFill>
                <a:latin typeface="Aptos"/>
              </a:defRPr>
            </a:pPr>
            <a:r>
              <a:t>KOMPLEX IPARI</a:t>
            </a:r>
            <a:br/>
            <a:r>
              <a:t>HAJTÁSRENDSZEREK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43800" y="1691640"/>
            <a:ext cx="1051560" cy="960120"/>
          </a:xfrm>
          <a:prstGeom prst="roundRect">
            <a:avLst/>
          </a:prstGeom>
          <a:solidFill>
            <a:srgbClr val="2B5376"/>
          </a:solidFill>
          <a:ln>
            <a:solidFill>
              <a:srgbClr val="82B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43800" y="1691640"/>
            <a:ext cx="105156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PLC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23960" y="1691640"/>
            <a:ext cx="1051560" cy="960120"/>
          </a:xfrm>
          <a:prstGeom prst="roundRect">
            <a:avLst/>
          </a:prstGeom>
          <a:solidFill>
            <a:srgbClr val="2B5376"/>
          </a:solidFill>
          <a:ln>
            <a:solidFill>
              <a:srgbClr val="82B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23960" y="1691640"/>
            <a:ext cx="105156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HMI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104120" y="1691640"/>
            <a:ext cx="1051560" cy="960120"/>
          </a:xfrm>
          <a:prstGeom prst="roundRect">
            <a:avLst/>
          </a:prstGeom>
          <a:solidFill>
            <a:srgbClr val="2B5376"/>
          </a:solidFill>
          <a:ln>
            <a:solidFill>
              <a:srgbClr val="82B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04120" y="1691640"/>
            <a:ext cx="105156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VFD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43800" y="3108960"/>
            <a:ext cx="1051560" cy="960120"/>
          </a:xfrm>
          <a:prstGeom prst="roundRect">
            <a:avLst/>
          </a:prstGeom>
          <a:solidFill>
            <a:srgbClr val="2B5376"/>
          </a:solidFill>
          <a:ln>
            <a:solidFill>
              <a:srgbClr val="82B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43800" y="3108960"/>
            <a:ext cx="105156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SERVO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23960" y="3108960"/>
            <a:ext cx="1051560" cy="960120"/>
          </a:xfrm>
          <a:prstGeom prst="roundRect">
            <a:avLst/>
          </a:prstGeom>
          <a:solidFill>
            <a:srgbClr val="2B5376"/>
          </a:solidFill>
          <a:ln>
            <a:solidFill>
              <a:srgbClr val="82B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23960" y="3108960"/>
            <a:ext cx="105156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SENSOR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104120" y="3108960"/>
            <a:ext cx="1051560" cy="960120"/>
          </a:xfrm>
          <a:prstGeom prst="roundRect">
            <a:avLst/>
          </a:prstGeom>
          <a:solidFill>
            <a:srgbClr val="2B5376"/>
          </a:solidFill>
          <a:ln>
            <a:solidFill>
              <a:srgbClr val="82B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104120" y="3108960"/>
            <a:ext cx="105156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SAFE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114800"/>
            <a:ext cx="68580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700" b="0">
                <a:solidFill>
                  <a:srgbClr val="B4DCF2"/>
                </a:solidFill>
                <a:latin typeface="Aptos"/>
              </a:defRPr>
            </a:pPr>
            <a:r>
              <a:t>együttműködés • kommunikáció • diagnosztika • biztonság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700" b="1">
                <a:solidFill>
                  <a:srgbClr val="13304E"/>
                </a:solidFill>
                <a:latin typeface="Aptos"/>
              </a:defRPr>
            </a:pPr>
            <a:r>
              <a:t>A rendszer fő elemei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Egy modern hajtásrendszer nem egyetlen készülék.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ETE-020 • 20.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33375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90472"/>
            <a:ext cx="29718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PLC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84248"/>
            <a:ext cx="2880360" cy="73151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központi vezérlés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325880"/>
            <a:ext cx="33375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490472"/>
            <a:ext cx="29718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56ACD6"/>
                </a:solidFill>
                <a:latin typeface="Aptos"/>
              </a:defRPr>
            </a:pPr>
            <a:r>
              <a:t>HMI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1984248"/>
            <a:ext cx="2880360" cy="73151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kezelői felület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325880"/>
            <a:ext cx="33375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1490472"/>
            <a:ext cx="29718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VFD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1984248"/>
            <a:ext cx="2880360" cy="73151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fordulatszám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291839"/>
            <a:ext cx="33375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456432"/>
            <a:ext cx="29718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SZERVO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950207"/>
            <a:ext cx="2880360" cy="73151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pozicionálás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3291839"/>
            <a:ext cx="33375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0" y="3456432"/>
            <a:ext cx="29718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SZENZOR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3950207"/>
            <a:ext cx="2880360" cy="73151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állapotérzékelés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92440" y="3291839"/>
            <a:ext cx="33375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5320" y="3456432"/>
            <a:ext cx="29718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BEAVATKOZÓ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3950207"/>
            <a:ext cx="2880360" cy="73151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motor • szelep • henger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700" b="1">
                <a:solidFill>
                  <a:srgbClr val="13304E"/>
                </a:solidFill>
                <a:latin typeface="Aptos"/>
              </a:defRPr>
            </a:pPr>
            <a:r>
              <a:t>Az információ útja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Érzékelés → döntés → beavatkozás → visszajelzés.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ETE-020 • 20.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920240"/>
            <a:ext cx="23317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20240"/>
            <a:ext cx="2148840" cy="1508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56ACD6"/>
                </a:solidFill>
                <a:latin typeface="Aptos"/>
              </a:defRPr>
            </a:pPr>
            <a:r>
              <a:t>SZENZOROK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743200" y="2670048"/>
            <a:ext cx="411480" cy="0"/>
          </a:xfrm>
          <a:prstGeom prst="line">
            <a:avLst/>
          </a:prstGeom>
          <a:ln w="50800">
            <a:solidFill>
              <a:srgbClr val="5E71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246120" y="1920240"/>
            <a:ext cx="23317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920240"/>
            <a:ext cx="2148840" cy="1508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PLC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577840" y="2670048"/>
            <a:ext cx="411480" cy="0"/>
          </a:xfrm>
          <a:prstGeom prst="line">
            <a:avLst/>
          </a:prstGeom>
          <a:ln w="50800">
            <a:solidFill>
              <a:srgbClr val="5E71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080760" y="1920240"/>
            <a:ext cx="23317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72200" y="1920240"/>
            <a:ext cx="2148840" cy="1508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HAJTÁSOK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412480" y="2670048"/>
            <a:ext cx="411480" cy="0"/>
          </a:xfrm>
          <a:prstGeom prst="line">
            <a:avLst/>
          </a:prstGeom>
          <a:ln w="50800">
            <a:solidFill>
              <a:srgbClr val="5E71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915400" y="1920240"/>
            <a:ext cx="23317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06840" y="1920240"/>
            <a:ext cx="2148840" cy="1508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GÉP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3291840" y="4114800"/>
            <a:ext cx="6080760" cy="0"/>
          </a:xfrm>
          <a:prstGeom prst="line">
            <a:avLst/>
          </a:prstGeom>
          <a:ln w="5080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3291840" y="3474720"/>
            <a:ext cx="0" cy="640080"/>
          </a:xfrm>
          <a:prstGeom prst="line">
            <a:avLst/>
          </a:prstGeom>
          <a:ln w="5080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72000" y="4251960"/>
            <a:ext cx="38404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56ACD6"/>
                </a:solidFill>
                <a:latin typeface="Aptos"/>
              </a:defRPr>
            </a:pPr>
            <a:r>
              <a:t>VISSZAJELZÉS / DIAGNOSZTIKA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700" b="1">
                <a:solidFill>
                  <a:srgbClr val="13304E"/>
                </a:solidFill>
                <a:latin typeface="Aptos"/>
              </a:defRPr>
            </a:pPr>
            <a:r>
              <a:t>Ipari kommunikáció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A hálózat parancsot, mérést és diagnosztikát továbbít.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ETE-020 • 20.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32461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297180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2A74B2"/>
                </a:solidFill>
                <a:latin typeface="Aptos"/>
              </a:defRPr>
            </a:pPr>
            <a:r>
              <a:t>Modbus RTU/TCP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417320"/>
            <a:ext cx="32461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783080"/>
            <a:ext cx="297180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498B6A"/>
                </a:solidFill>
                <a:latin typeface="Aptos"/>
              </a:defRPr>
            </a:pPr>
            <a:r>
              <a:t>PROFINET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19" y="1417320"/>
            <a:ext cx="32461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79" y="1783080"/>
            <a:ext cx="297180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D48B37"/>
                </a:solidFill>
                <a:latin typeface="Aptos"/>
              </a:defRPr>
            </a:pPr>
            <a:r>
              <a:t>EtherNet/IP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383280"/>
            <a:ext cx="32461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749040"/>
            <a:ext cx="297180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2A74B2"/>
                </a:solidFill>
                <a:latin typeface="Aptos"/>
              </a:defRPr>
            </a:pPr>
            <a:r>
              <a:t>EtherCAT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3383280"/>
            <a:ext cx="32461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3749040"/>
            <a:ext cx="297180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498B6A"/>
                </a:solidFill>
                <a:latin typeface="Aptos"/>
              </a:defRPr>
            </a:pPr>
            <a:r>
              <a:t>CANopen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30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B4DCF2"/>
                </a:solidFill>
                <a:latin typeface="Aptos"/>
              </a:defRPr>
            </a:pPr>
            <a:r>
              <a:t>IPARI PÉLDA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984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100" b="1">
                <a:solidFill>
                  <a:srgbClr val="FFFFFF"/>
                </a:solidFill>
                <a:latin typeface="Aptos"/>
              </a:defRPr>
            </a:pPr>
            <a:r>
              <a:t>AUTOMATA CSOMAGOLÓGÉP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2743200"/>
            <a:ext cx="1965960" cy="1371600"/>
          </a:xfrm>
          <a:prstGeom prst="roundRect">
            <a:avLst/>
          </a:prstGeom>
          <a:solidFill>
            <a:srgbClr val="1F4365"/>
          </a:solidFill>
          <a:ln>
            <a:solidFill>
              <a:srgbClr val="5A8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2743200"/>
            <a:ext cx="1965960" cy="1371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ÉRZÉKELŐK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240279" y="3429000"/>
            <a:ext cx="274321" cy="0"/>
          </a:xfrm>
          <a:prstGeom prst="line">
            <a:avLst/>
          </a:prstGeom>
          <a:ln w="50800">
            <a:solidFill>
              <a:srgbClr val="B4D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606039" y="2743200"/>
            <a:ext cx="1965960" cy="1371600"/>
          </a:xfrm>
          <a:prstGeom prst="roundRect">
            <a:avLst/>
          </a:prstGeom>
          <a:solidFill>
            <a:srgbClr val="1F4365"/>
          </a:solidFill>
          <a:ln>
            <a:solidFill>
              <a:srgbClr val="5A8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06039" y="2743200"/>
            <a:ext cx="1965960" cy="1371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PLC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0" y="3429000"/>
            <a:ext cx="274320" cy="0"/>
          </a:xfrm>
          <a:prstGeom prst="line">
            <a:avLst/>
          </a:prstGeom>
          <a:ln w="50800">
            <a:solidFill>
              <a:srgbClr val="B4D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937759" y="2743200"/>
            <a:ext cx="1965960" cy="1371600"/>
          </a:xfrm>
          <a:prstGeom prst="roundRect">
            <a:avLst/>
          </a:prstGeom>
          <a:solidFill>
            <a:srgbClr val="1F4365"/>
          </a:solidFill>
          <a:ln>
            <a:solidFill>
              <a:srgbClr val="5A8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59" y="2743200"/>
            <a:ext cx="1965960" cy="1371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VFD + SZALAG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903719" y="3429000"/>
            <a:ext cx="274321" cy="0"/>
          </a:xfrm>
          <a:prstGeom prst="line">
            <a:avLst/>
          </a:prstGeom>
          <a:ln w="50800">
            <a:solidFill>
              <a:srgbClr val="B4D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269479" y="2743200"/>
            <a:ext cx="1965960" cy="1371600"/>
          </a:xfrm>
          <a:prstGeom prst="roundRect">
            <a:avLst/>
          </a:prstGeom>
          <a:solidFill>
            <a:srgbClr val="1F4365"/>
          </a:solidFill>
          <a:ln>
            <a:solidFill>
              <a:srgbClr val="5A8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69479" y="2743200"/>
            <a:ext cx="1965960" cy="1371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SZERVO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235440" y="3429000"/>
            <a:ext cx="274319" cy="0"/>
          </a:xfrm>
          <a:prstGeom prst="line">
            <a:avLst/>
          </a:prstGeom>
          <a:ln w="50800">
            <a:solidFill>
              <a:srgbClr val="B4D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601200" y="2743200"/>
            <a:ext cx="1965960" cy="1371600"/>
          </a:xfrm>
          <a:prstGeom prst="roundRect">
            <a:avLst/>
          </a:prstGeom>
          <a:solidFill>
            <a:srgbClr val="1F4365"/>
          </a:solidFill>
          <a:ln>
            <a:solidFill>
              <a:srgbClr val="5A8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0" y="2743200"/>
            <a:ext cx="1965960" cy="1371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HMI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754880"/>
            <a:ext cx="106984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B4DCF2"/>
                </a:solidFill>
                <a:latin typeface="Aptos"/>
              </a:defRPr>
            </a:pPr>
            <a:r>
              <a:t>A PLC összehangolja az érzékelést, szállítást, pozicionálást és kezelői információkat.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700" b="1">
                <a:solidFill>
                  <a:srgbClr val="13304E"/>
                </a:solidFill>
                <a:latin typeface="Aptos"/>
              </a:defRPr>
            </a:pPr>
            <a:r>
              <a:t>Biztonsági rendszer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A hajtásrendszer csak biztonságosan lehet teljes.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ETE-020 • 20.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33375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306324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48B37"/>
                </a:solidFill>
                <a:latin typeface="Aptos"/>
              </a:defRPr>
            </a:pPr>
            <a:r>
              <a:t>VÉSZLEÁLLÍTÓ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371600"/>
            <a:ext cx="33375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1691640"/>
            <a:ext cx="306324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A74B2"/>
                </a:solidFill>
                <a:latin typeface="Aptos"/>
              </a:defRPr>
            </a:pPr>
            <a:r>
              <a:t>BIZTONSÁGI RELÉ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1371600"/>
            <a:ext cx="33375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691640"/>
            <a:ext cx="306324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98B6A"/>
                </a:solidFill>
                <a:latin typeface="Aptos"/>
              </a:defRPr>
            </a:pPr>
            <a:r>
              <a:t>AJTÓKAPCSOLÓ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200400"/>
            <a:ext cx="33375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520440"/>
            <a:ext cx="306324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48B37"/>
                </a:solidFill>
                <a:latin typeface="Aptos"/>
              </a:defRPr>
            </a:pPr>
            <a:r>
              <a:t>FÉNYFÜGGÖNY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3200400"/>
            <a:ext cx="33375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3520440"/>
            <a:ext cx="306324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A74B2"/>
                </a:solidFill>
                <a:latin typeface="Aptos"/>
              </a:defRPr>
            </a:pPr>
            <a:r>
              <a:t>MOTORVÉDELEM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3200400"/>
            <a:ext cx="33375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3520440"/>
            <a:ext cx="306324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98B6A"/>
                </a:solidFill>
                <a:latin typeface="Aptos"/>
              </a:defRPr>
            </a:pPr>
            <a:r>
              <a:t>TÚLTERHELÉS-VÉDELEM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257800"/>
            <a:ext cx="102412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900" b="1">
                <a:solidFill>
                  <a:srgbClr val="13304E"/>
                </a:solidFill>
                <a:latin typeface="Aptos"/>
              </a:defRPr>
            </a:pPr>
            <a:r>
              <a:t>BIZTONSÁG = EMBER + GÉP + FOLYAMAT VÉDELME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700" b="1">
                <a:solidFill>
                  <a:srgbClr val="13304E"/>
                </a:solidFill>
                <a:latin typeface="Aptos"/>
              </a:defRPr>
            </a:pPr>
            <a:r>
              <a:t>Diagnosztika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Mit figyelhet a PLC?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ETE-020 • 20.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33375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306324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2A74B2"/>
                </a:solidFill>
                <a:latin typeface="Aptos"/>
              </a:defRPr>
            </a:pPr>
            <a:r>
              <a:t>Motoráram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17320"/>
            <a:ext cx="33375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737360"/>
            <a:ext cx="306324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498B6A"/>
                </a:solidFill>
                <a:latin typeface="Aptos"/>
              </a:defRPr>
            </a:pPr>
            <a:r>
              <a:t>Frekvencia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80" y="1417320"/>
            <a:ext cx="33375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737360"/>
            <a:ext cx="306324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D48B37"/>
                </a:solidFill>
                <a:latin typeface="Aptos"/>
              </a:defRPr>
            </a:pPr>
            <a:r>
              <a:t>Hőmérséklet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246120"/>
            <a:ext cx="33375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566160"/>
            <a:ext cx="306324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2A74B2"/>
                </a:solidFill>
                <a:latin typeface="Aptos"/>
              </a:defRPr>
            </a:pPr>
            <a:r>
              <a:t>Hibakód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3246120"/>
            <a:ext cx="33375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3566160"/>
            <a:ext cx="306324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498B6A"/>
                </a:solidFill>
                <a:latin typeface="Aptos"/>
              </a:defRPr>
            </a:pPr>
            <a:r>
              <a:t>Kommunikáció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80" y="3246120"/>
            <a:ext cx="33375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3566160"/>
            <a:ext cx="306324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D48B37"/>
                </a:solidFill>
                <a:latin typeface="Aptos"/>
              </a:defRPr>
            </a:pPr>
            <a:r>
              <a:t>Szenzorállapot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212080"/>
            <a:ext cx="106984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13304E"/>
                </a:solidFill>
                <a:latin typeface="Aptos"/>
              </a:defRPr>
            </a:pPr>
            <a:r>
              <a:t>A diagnosztika célja: gyorsabb hibakeresés és nagyobb rendelkezésre állás.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30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85800"/>
            <a:ext cx="106984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B4DCF2"/>
                </a:solidFill>
                <a:latin typeface="Aptos"/>
              </a:defRPr>
            </a:pPr>
            <a:r>
              <a:t>MŰHELYTITOK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900" b="1">
                <a:solidFill>
                  <a:srgbClr val="FFFFFF"/>
                </a:solidFill>
                <a:latin typeface="Aptos"/>
              </a:defRPr>
            </a:pPr>
            <a:r>
              <a:t>NE CSAK A HIBÁSNAK TŰNŐ KÉSZÜLÉKET NÉZD.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6984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900" b="1">
                <a:solidFill>
                  <a:srgbClr val="B4DCF2"/>
                </a:solidFill>
                <a:latin typeface="Aptos"/>
              </a:defRPr>
            </a:pPr>
            <a:r>
              <a:t>VIZSGÁLD A TELJES RENDSZER MŰKÖDÉSÉT.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4069080"/>
            <a:ext cx="2514600" cy="1051560"/>
          </a:xfrm>
          <a:prstGeom prst="roundRect">
            <a:avLst/>
          </a:prstGeom>
          <a:solidFill>
            <a:srgbClr val="2B5376"/>
          </a:solidFill>
          <a:ln>
            <a:solidFill>
              <a:srgbClr val="82B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4069080"/>
            <a:ext cx="2514600" cy="1051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JEL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4069080"/>
            <a:ext cx="2514600" cy="1051560"/>
          </a:xfrm>
          <a:prstGeom prst="roundRect">
            <a:avLst/>
          </a:prstGeom>
          <a:solidFill>
            <a:srgbClr val="2B5376"/>
          </a:solidFill>
          <a:ln>
            <a:solidFill>
              <a:srgbClr val="82B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29000" y="4069080"/>
            <a:ext cx="2514600" cy="1051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KOMMUNIKÁCIÓ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4069080"/>
            <a:ext cx="2514600" cy="1051560"/>
          </a:xfrm>
          <a:prstGeom prst="roundRect">
            <a:avLst/>
          </a:prstGeom>
          <a:solidFill>
            <a:srgbClr val="2B5376"/>
          </a:solidFill>
          <a:ln>
            <a:solidFill>
              <a:srgbClr val="82B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4069080"/>
            <a:ext cx="2514600" cy="1051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HAJTÁS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98280" y="4069080"/>
            <a:ext cx="2514600" cy="1051560"/>
          </a:xfrm>
          <a:prstGeom prst="roundRect">
            <a:avLst/>
          </a:prstGeom>
          <a:solidFill>
            <a:srgbClr val="2B5376"/>
          </a:solidFill>
          <a:ln>
            <a:solidFill>
              <a:srgbClr val="82B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98280" y="4069080"/>
            <a:ext cx="2514600" cy="1051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MECHANIKA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700" b="1">
                <a:solidFill>
                  <a:srgbClr val="13304E"/>
                </a:solidFill>
                <a:latin typeface="Aptos"/>
              </a:defRPr>
            </a:pPr>
            <a:r>
              <a:t>Labor - gyártósor blokkvázlata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Jelöld az eszközöket és a kommunikációs kapcsolatokat.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ETE-020 • 20.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33375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45919"/>
            <a:ext cx="306324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2A74B2"/>
                </a:solidFill>
                <a:latin typeface="Aptos"/>
              </a:defRPr>
            </a:pPr>
            <a:r>
              <a:t>PLC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325880"/>
            <a:ext cx="33375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1645919"/>
            <a:ext cx="306324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56ACD6"/>
                </a:solidFill>
                <a:latin typeface="Aptos"/>
              </a:defRPr>
            </a:pPr>
            <a:r>
              <a:t>HMI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1325880"/>
            <a:ext cx="33375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645919"/>
            <a:ext cx="306324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D48B37"/>
                </a:solidFill>
                <a:latin typeface="Aptos"/>
              </a:defRPr>
            </a:pPr>
            <a:r>
              <a:t>VFD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200400"/>
            <a:ext cx="33375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520440"/>
            <a:ext cx="306324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498B6A"/>
                </a:solidFill>
                <a:latin typeface="Aptos"/>
              </a:defRPr>
            </a:pPr>
            <a:r>
              <a:t>SZERVO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3200400"/>
            <a:ext cx="33375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3520440"/>
            <a:ext cx="306324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2A74B2"/>
                </a:solidFill>
                <a:latin typeface="Aptos"/>
              </a:defRPr>
            </a:pPr>
            <a:r>
              <a:t>MOTOROK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3200400"/>
            <a:ext cx="33375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3520440"/>
            <a:ext cx="306324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56ACD6"/>
                </a:solidFill>
                <a:latin typeface="Aptos"/>
              </a:defRPr>
            </a:pPr>
            <a:r>
              <a:t>SZENZOROK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257800"/>
            <a:ext cx="102412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900" b="1">
                <a:solidFill>
                  <a:srgbClr val="13304E"/>
                </a:solidFill>
                <a:latin typeface="Aptos"/>
              </a:defRPr>
            </a:pPr>
            <a:r>
              <a:t>+ kommunikációs vonalak + biztonsági rendszer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700" b="1">
                <a:solidFill>
                  <a:srgbClr val="13304E"/>
                </a:solidFill>
                <a:latin typeface="Aptos"/>
              </a:defRPr>
            </a:pPr>
            <a:r>
              <a:t>Projekt - automatikus szállítószalag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A tervhez I/O-lista és működési leírás is kell.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ETE-020 • 20.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34290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581912"/>
            <a:ext cx="30632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I/O-LISTA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75688"/>
            <a:ext cx="2971800" cy="2651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érzékelők</a:t>
            </a:r>
            <a:br/>
            <a:r>
              <a:t>nyomógombok</a:t>
            </a:r>
            <a:br/>
            <a:r>
              <a:t>hajtásparancsok</a:t>
            </a:r>
            <a:br/>
            <a:r>
              <a:t>visszajelzések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17320"/>
            <a:ext cx="34290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581912"/>
            <a:ext cx="30632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MŰKÖDÉS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075688"/>
            <a:ext cx="2971800" cy="2651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indítás</a:t>
            </a:r>
            <a:br/>
            <a:r>
              <a:t>szállítás</a:t>
            </a:r>
            <a:br/>
            <a:r>
              <a:t>pozicionálás</a:t>
            </a:r>
            <a:br/>
            <a:r>
              <a:t>leállítás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417320"/>
            <a:ext cx="34290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581912"/>
            <a:ext cx="30632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BIZTONSÁG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075688"/>
            <a:ext cx="2971800" cy="2651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vészleállító</a:t>
            </a:r>
            <a:br/>
            <a:r>
              <a:t>ajtókapcsoló</a:t>
            </a:r>
            <a:br/>
            <a:r>
              <a:t>fényfüggöny</a:t>
            </a:r>
            <a:br/>
            <a:r>
              <a:t>motorvédelem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700" b="1">
                <a:solidFill>
                  <a:srgbClr val="13304E"/>
                </a:solidFill>
                <a:latin typeface="Aptos"/>
              </a:defRPr>
            </a:pPr>
            <a:r>
              <a:t>Modulösszefoglalás - 13-20. hét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Az ipari hajtásoktól a teljes automatizált rendszerig.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ETE-020 • 20.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246888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1508760"/>
            <a:ext cx="2249424" cy="10972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2A74B2"/>
                </a:solidFill>
                <a:latin typeface="Aptos"/>
              </a:defRPr>
            </a:pPr>
            <a:r>
              <a:t>13. hét</a:t>
            </a:r>
            <a:br/>
            <a:r>
              <a:t>Aszinkron motor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325880"/>
            <a:ext cx="246888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47288" y="1508760"/>
            <a:ext cx="2249424" cy="10972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498B6A"/>
                </a:solidFill>
                <a:latin typeface="Aptos"/>
              </a:defRPr>
            </a:pPr>
            <a:r>
              <a:t>14. hét</a:t>
            </a:r>
            <a:br/>
            <a:r>
              <a:t>Indítási módok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325880"/>
            <a:ext cx="246888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81928" y="1508760"/>
            <a:ext cx="2249424" cy="10972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D48B37"/>
                </a:solidFill>
                <a:latin typeface="Aptos"/>
              </a:defRPr>
            </a:pPr>
            <a:r>
              <a:t>15. hét</a:t>
            </a:r>
            <a:br/>
            <a:r>
              <a:t>Frekvenciaváltó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06840" y="1325880"/>
            <a:ext cx="246888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16568" y="1508760"/>
            <a:ext cx="2249424" cy="10972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56ACD6"/>
                </a:solidFill>
                <a:latin typeface="Aptos"/>
              </a:defRPr>
            </a:pPr>
            <a:r>
              <a:t>16. hét</a:t>
            </a:r>
            <a:br/>
            <a:r>
              <a:t>PWM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291839"/>
            <a:ext cx="246888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" y="3474720"/>
            <a:ext cx="2249424" cy="10972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2A74B2"/>
                </a:solidFill>
                <a:latin typeface="Aptos"/>
              </a:defRPr>
            </a:pPr>
            <a:r>
              <a:t>17. hét</a:t>
            </a:r>
            <a:br/>
            <a:r>
              <a:t>Paraméterezés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37560" y="3291839"/>
            <a:ext cx="246888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47288" y="3474720"/>
            <a:ext cx="2249424" cy="10972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498B6A"/>
                </a:solidFill>
                <a:latin typeface="Aptos"/>
              </a:defRPr>
            </a:pPr>
            <a:r>
              <a:t>18. hét</a:t>
            </a:r>
            <a:br/>
            <a:r>
              <a:t>PLC-kommunikáció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291839"/>
            <a:ext cx="246888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81928" y="3474720"/>
            <a:ext cx="2249424" cy="10972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D48B37"/>
                </a:solidFill>
                <a:latin typeface="Aptos"/>
              </a:defRPr>
            </a:pPr>
            <a:r>
              <a:t>19. hét</a:t>
            </a:r>
            <a:br/>
            <a:r>
              <a:t>Szervohajtás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06840" y="3291839"/>
            <a:ext cx="246888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16568" y="3474720"/>
            <a:ext cx="2249424" cy="10972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56ACD6"/>
                </a:solidFill>
                <a:latin typeface="Aptos"/>
              </a:defRPr>
            </a:pPr>
            <a:r>
              <a:t>20. hét</a:t>
            </a:r>
            <a:br/>
            <a:r>
              <a:t>Komplex rendszer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700" b="1">
                <a:solidFill>
                  <a:srgbClr val="13304E"/>
                </a:solidFill>
                <a:latin typeface="Aptos"/>
              </a:defRPr>
            </a:pPr>
            <a:r>
              <a:t>Önellenőrzés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A jegyzet öt kulcskérdése.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ETE-020 • 20.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234440"/>
            <a:ext cx="105156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234440"/>
            <a:ext cx="10058400" cy="7132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500" b="1">
                <a:solidFill>
                  <a:srgbClr val="1F2D39"/>
                </a:solidFill>
                <a:latin typeface="Aptos"/>
              </a:defRPr>
            </a:pPr>
            <a:r>
              <a:t>1. Mi a PLC szerepe?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194560"/>
            <a:ext cx="105156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194560"/>
            <a:ext cx="10058400" cy="7132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500" b="1">
                <a:solidFill>
                  <a:srgbClr val="1F2D39"/>
                </a:solidFill>
                <a:latin typeface="Aptos"/>
              </a:defRPr>
            </a:pPr>
            <a:r>
              <a:t>2. Mi a HMI feladata?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154680"/>
            <a:ext cx="105156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154680"/>
            <a:ext cx="10058400" cy="7132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500" b="1">
                <a:solidFill>
                  <a:srgbClr val="1F2D39"/>
                </a:solidFill>
                <a:latin typeface="Aptos"/>
              </a:defRPr>
            </a:pPr>
            <a:r>
              <a:t>3. Mire használható a frekvenciaváltó?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114800"/>
            <a:ext cx="105156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4114800"/>
            <a:ext cx="10058400" cy="7132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500" b="1">
                <a:solidFill>
                  <a:srgbClr val="1F2D39"/>
                </a:solidFill>
                <a:latin typeface="Aptos"/>
              </a:defRPr>
            </a:pPr>
            <a:r>
              <a:t>4. Miben különbözik a szervohajtás?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5074920"/>
            <a:ext cx="105156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5074920"/>
            <a:ext cx="10058400" cy="7132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500" b="1">
                <a:solidFill>
                  <a:srgbClr val="1F2D39"/>
                </a:solidFill>
                <a:latin typeface="Aptos"/>
              </a:defRPr>
            </a:pPr>
            <a:r>
              <a:t>5. Miért fontos az ipari kommunikáció?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30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6984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B4DCF2"/>
                </a:solidFill>
                <a:latin typeface="Aptos"/>
              </a:defRPr>
            </a:pPr>
            <a:r>
              <a:t>KÖVETKEZŐ MODUL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Aptos"/>
              </a:defRPr>
            </a:pPr>
            <a:r>
              <a:t>IPARI KOMMUNIKÁCIÓS RENDSZEREK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3337560"/>
            <a:ext cx="2514600" cy="1325880"/>
          </a:xfrm>
          <a:prstGeom prst="roundRect">
            <a:avLst/>
          </a:prstGeom>
          <a:solidFill>
            <a:srgbClr val="2B5376"/>
          </a:solidFill>
          <a:ln>
            <a:solidFill>
              <a:srgbClr val="82B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337560"/>
            <a:ext cx="2514600" cy="1325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HÁLÓZAT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3337560"/>
            <a:ext cx="2514600" cy="1325880"/>
          </a:xfrm>
          <a:prstGeom prst="roundRect">
            <a:avLst/>
          </a:prstGeom>
          <a:solidFill>
            <a:srgbClr val="2B5376"/>
          </a:solidFill>
          <a:ln>
            <a:solidFill>
              <a:srgbClr val="82B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29000" y="3337560"/>
            <a:ext cx="2514600" cy="1325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PROTOKOLL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3337560"/>
            <a:ext cx="2514600" cy="1325880"/>
          </a:xfrm>
          <a:prstGeom prst="roundRect">
            <a:avLst/>
          </a:prstGeom>
          <a:solidFill>
            <a:srgbClr val="2B5376"/>
          </a:solidFill>
          <a:ln>
            <a:solidFill>
              <a:srgbClr val="82B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3337560"/>
            <a:ext cx="2514600" cy="1325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ADATCSERE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98280" y="3337560"/>
            <a:ext cx="2514600" cy="1325880"/>
          </a:xfrm>
          <a:prstGeom prst="roundRect">
            <a:avLst/>
          </a:prstGeom>
          <a:solidFill>
            <a:srgbClr val="2B5376"/>
          </a:solidFill>
          <a:ln>
            <a:solidFill>
              <a:srgbClr val="82B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98280" y="3337560"/>
            <a:ext cx="2514600" cy="1325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DIAGNOSZTIKA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