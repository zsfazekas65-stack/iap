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731520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PWM</a:t>
            </a:r>
            <a:br/>
            <a:r>
              <a:t>IMPULZUSSZÉLESSÉG-MODULÁCIÓ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7863840" y="2011680"/>
            <a:ext cx="0" cy="1645920"/>
          </a:xfrm>
          <a:prstGeom prst="line">
            <a:avLst/>
          </a:prstGeom>
          <a:ln w="254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863840" y="2011680"/>
            <a:ext cx="228600" cy="0"/>
          </a:xfrm>
          <a:prstGeom prst="line">
            <a:avLst/>
          </a:prstGeom>
          <a:ln w="635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092440" y="2011680"/>
            <a:ext cx="0" cy="1645920"/>
          </a:xfrm>
          <a:prstGeom prst="line">
            <a:avLst/>
          </a:prstGeom>
          <a:ln w="254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257031" y="2011680"/>
            <a:ext cx="0" cy="1645920"/>
          </a:xfrm>
          <a:prstGeom prst="line">
            <a:avLst/>
          </a:prstGeom>
          <a:ln w="254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57031" y="2011680"/>
            <a:ext cx="457201" cy="0"/>
          </a:xfrm>
          <a:prstGeom prst="line">
            <a:avLst/>
          </a:prstGeom>
          <a:ln w="635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14232" y="2011680"/>
            <a:ext cx="0" cy="1645920"/>
          </a:xfrm>
          <a:prstGeom prst="line">
            <a:avLst/>
          </a:prstGeom>
          <a:ln w="254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878824" y="2011680"/>
            <a:ext cx="0" cy="1645920"/>
          </a:xfrm>
          <a:prstGeom prst="line">
            <a:avLst/>
          </a:prstGeom>
          <a:ln w="254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78824" y="2011680"/>
            <a:ext cx="822960" cy="0"/>
          </a:xfrm>
          <a:prstGeom prst="line">
            <a:avLst/>
          </a:prstGeom>
          <a:ln w="635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701784" y="2011680"/>
            <a:ext cx="0" cy="1645920"/>
          </a:xfrm>
          <a:prstGeom prst="line">
            <a:avLst/>
          </a:prstGeom>
          <a:ln w="254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866376" y="2011680"/>
            <a:ext cx="0" cy="1645920"/>
          </a:xfrm>
          <a:prstGeom prst="line">
            <a:avLst/>
          </a:prstGeom>
          <a:ln w="254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66376" y="2011680"/>
            <a:ext cx="457200" cy="0"/>
          </a:xfrm>
          <a:prstGeom prst="line">
            <a:avLst/>
          </a:prstGeom>
          <a:ln w="635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23576" y="2011680"/>
            <a:ext cx="0" cy="1645920"/>
          </a:xfrm>
          <a:prstGeom prst="line">
            <a:avLst/>
          </a:prstGeom>
          <a:ln w="254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488167" y="2011680"/>
            <a:ext cx="0" cy="1645920"/>
          </a:xfrm>
          <a:prstGeom prst="line">
            <a:avLst/>
          </a:prstGeom>
          <a:ln w="254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88167" y="2011680"/>
            <a:ext cx="228600" cy="0"/>
          </a:xfrm>
          <a:prstGeom prst="line">
            <a:avLst/>
          </a:prstGeom>
          <a:ln w="635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716767" y="2011680"/>
            <a:ext cx="0" cy="1645920"/>
          </a:xfrm>
          <a:prstGeom prst="line">
            <a:avLst/>
          </a:prstGeom>
          <a:ln w="254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069080"/>
            <a:ext cx="6400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B4DCF2"/>
                </a:solidFill>
                <a:latin typeface="Aptos"/>
              </a:defRPr>
            </a:pPr>
            <a:r>
              <a:t>digitális kapcsolás → analóg hatás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Mi a PWM?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Nem a feszültség nagyságát, hanem a bekapcsolási idő arányát változtatjuk.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ETE-016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JELSZINT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83464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teljes tápfeszültség kapcsol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291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2763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IDŐARÁNY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21408"/>
            <a:ext cx="283464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bekapcsolási idő változik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291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2763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HATÁS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21408"/>
            <a:ext cx="283464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fogyasztó az impulzusok átlagos hatását érzékeli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Alapfogalmak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T, f és Duty Cycle.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ETE-016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83464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periódusidő</a:t>
            </a:r>
            <a:br/>
            <a:r>
              <a:t>egy teljes ciklus ideje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2763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21408"/>
            <a:ext cx="283464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frekvencia</a:t>
            </a:r>
            <a:br/>
            <a:r>
              <a:t>ciklusok száma másodpercenként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2763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21408"/>
            <a:ext cx="283464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D = tBE / T × 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kitöltési tényező láthatóvá téve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Ugyanaz a jelszint, eltérő bekapcsolási idő.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ETE-016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19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3304E"/>
                </a:solidFill>
                <a:latin typeface="Aptos"/>
              </a:defRPr>
            </a:pPr>
            <a:r>
              <a:t>25%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828800" y="150876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1508760"/>
            <a:ext cx="594360" cy="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23160" y="150876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23160" y="2331720"/>
            <a:ext cx="178308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434840" y="150876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34840" y="1508760"/>
            <a:ext cx="594360" cy="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0" y="150876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0" y="2331720"/>
            <a:ext cx="1783079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040879" y="150876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79" y="1508760"/>
            <a:ext cx="594361" cy="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35240" y="150876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35240" y="2331720"/>
            <a:ext cx="1783079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06324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3304E"/>
                </a:solidFill>
                <a:latin typeface="Aptos"/>
              </a:defRPr>
            </a:pPr>
            <a:r>
              <a:t>50%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828800" y="292608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0" y="2926080"/>
            <a:ext cx="1188720" cy="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17520" y="292608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17520" y="3749040"/>
            <a:ext cx="118872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434840" y="292608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34840" y="2926080"/>
            <a:ext cx="1188719" cy="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23559" y="292608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749040"/>
            <a:ext cx="118872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040879" y="292608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40879" y="2926080"/>
            <a:ext cx="1188721" cy="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29600" y="292608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29600" y="3749040"/>
            <a:ext cx="1188719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448056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3304E"/>
                </a:solidFill>
                <a:latin typeface="Aptos"/>
              </a:defRPr>
            </a:pPr>
            <a:r>
              <a:t>75%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828800" y="434340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0" y="4343400"/>
            <a:ext cx="1783080" cy="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611880" y="434340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11880" y="5166360"/>
            <a:ext cx="59436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434840" y="434340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434840" y="4343400"/>
            <a:ext cx="1783080" cy="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217920" y="434340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217920" y="5166360"/>
            <a:ext cx="594359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040879" y="434340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040879" y="4343400"/>
            <a:ext cx="1783080" cy="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59" y="4343400"/>
            <a:ext cx="0" cy="8229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823959" y="5166360"/>
            <a:ext cx="59436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Átlagfeszültség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Uátlag = Utáp ×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ETE-016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743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2A74B2"/>
                </a:solidFill>
                <a:latin typeface="Aptos"/>
              </a:defRPr>
            </a:pPr>
            <a:r>
              <a:t>24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4592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5E7180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743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D48B37"/>
                </a:solidFill>
                <a:latin typeface="Aptos"/>
              </a:defRPr>
            </a:pPr>
            <a:r>
              <a:t>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5E7180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743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498B6A"/>
                </a:solidFill>
                <a:latin typeface="Aptos"/>
              </a:defRPr>
            </a:pPr>
            <a:r>
              <a:t>12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39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22191"/>
            <a:ext cx="1965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3304E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9392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6,0 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749039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822191"/>
            <a:ext cx="1965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3304E"/>
                </a:solidFill>
                <a:latin typeface="Aptos"/>
              </a:defRPr>
            </a:pPr>
            <a: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79392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9,6 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3749039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3822191"/>
            <a:ext cx="1965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3304E"/>
                </a:solidFill>
                <a:latin typeface="Aptos"/>
              </a:defRPr>
            </a:pPr>
            <a:r>
              <a:t>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279392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12,0 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749039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3822191"/>
            <a:ext cx="1965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3304E"/>
                </a:solidFill>
                <a:latin typeface="Aptos"/>
              </a:defRPr>
            </a:pPr>
            <a:r>
              <a:t>75%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279392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18,0 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3749039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3822191"/>
            <a:ext cx="1965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3304E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279392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24,0 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PWM a frekvenciaváltóban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IGBT kapcsolásokból közel szinuszos háromfázisú motoráram.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ETE-016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96596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965960"/>
            <a:ext cx="16916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A74B2"/>
                </a:solidFill>
                <a:latin typeface="Aptos"/>
              </a:defRPr>
            </a:pPr>
            <a:r>
              <a:t>HÁLÓZAT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670048"/>
            <a:ext cx="393192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51760" y="196596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965960"/>
            <a:ext cx="16916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498B6A"/>
                </a:solidFill>
                <a:latin typeface="Aptos"/>
              </a:defRPr>
            </a:pPr>
            <a:r>
              <a:t>EGYENIRÁNYÍTÓ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26279" y="2670048"/>
            <a:ext cx="393193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83479" y="196596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19" y="1965960"/>
            <a:ext cx="16916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D48B37"/>
                </a:solidFill>
                <a:latin typeface="Aptos"/>
              </a:defRPr>
            </a:pPr>
            <a:r>
              <a:t>DC-KÖR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7999" y="2670048"/>
            <a:ext cx="393193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199" y="196596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965960"/>
            <a:ext cx="16916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56ACD6"/>
                </a:solidFill>
                <a:latin typeface="Aptos"/>
              </a:defRPr>
            </a:pPr>
            <a:r>
              <a:t>IGBT + PWM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89719" y="2670048"/>
            <a:ext cx="393192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46919" y="1965960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59" y="1965960"/>
            <a:ext cx="16916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51960"/>
            <a:ext cx="10332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A motor tekercsei az impulzusokból közel szinuszos áramot alakítanak ki.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Arduino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8 bites PWM: 0...255.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ETE-016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5669280" cy="1828800"/>
          </a:xfrm>
          <a:prstGeom prst="roundRect">
            <a:avLst/>
          </a:prstGeom>
          <a:solidFill>
            <a:srgbClr val="202B35"/>
          </a:solidFill>
          <a:ln>
            <a:solidFill>
              <a:srgbClr val="20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965960"/>
            <a:ext cx="50292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analogWrite(9,128);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508760"/>
            <a:ext cx="374903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673351"/>
            <a:ext cx="33832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128 / 255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167128"/>
            <a:ext cx="3291839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≈ 50% kitöltési tényező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1498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A kimenet gyorsan kapcsol 0 és a teljes tápfeszültség között.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Hol találkozunk PWM-mel?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ipari alkalmazásai.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ETE-016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LED fényerő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79" y="137160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169164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DC motor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19" y="137160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9164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Robotika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3756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CNC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79" y="333756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365760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Kapcsolóüzemű táp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33756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65760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Elektromos jármű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Labor - PWM az oszcilloszkópon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Változtasd D-t, figyeld a jelalakot és a LED fényerejét.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ETE-016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1. MÉRJ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83464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PWM jel oszcilloszkóppal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291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2763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2. VÁLTOZTASS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21408"/>
            <a:ext cx="283464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25% → 40% → 50% → 75% →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291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2763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3. FIGYELJ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21408"/>
            <a:ext cx="283464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hogyan változik a LED fényereje?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A PWM NEM „KISEBB FESZÜLTSÉG”.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B4DCF2"/>
                </a:solidFill>
                <a:latin typeface="Aptos"/>
              </a:defRPr>
            </a:pPr>
            <a:r>
              <a:t>A teljes tápfeszültséget kapcsolja rendkívül gyorsan.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A szabályozást a BEKAPCSOLÁSI IDŐ ARÁNYA biztosítja.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eredeti jegyzet öt kérdése.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ETE-016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Mit jelent a PWM?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 a kitöltési tényező?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Hogyan számítható az átlagfeszültség?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Miért nem villog a LED?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Hol alkalmazzák a PWM-et az iparban?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FREKVENCIAVÁLTÓK</a:t>
            </a:r>
            <a:br/>
            <a:r>
              <a:t>PARAMÉTEREZÉSE ÉS ÜZEMBE HELYEZÉSE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MOTORADATOK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RÁMPÁK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VEZÉRLÉS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