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4630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43891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0">
                <a:solidFill>
                  <a:srgbClr val="CDDAE5"/>
                </a:solidFill>
                <a:latin typeface="Aptos"/>
              </a:defRPr>
            </a:pPr>
            <a:r>
              <a:t>21. hét • Folyamatirányítás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649224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500" b="1">
                <a:solidFill>
                  <a:srgbClr val="E69130"/>
                </a:solidFill>
                <a:latin typeface="Aptos"/>
              </a:defRPr>
            </a:pPr>
            <a:r>
              <a:t>SZERVOHAJTÁSOK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42032"/>
            <a:ext cx="63093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Aptos"/>
              </a:defRPr>
            </a:pPr>
            <a:r>
              <a:t>Pontosság • visszacsatolás • mozgásvezérlés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1554480"/>
            <a:ext cx="1508760" cy="1234440"/>
          </a:xfrm>
          <a:prstGeom prst="roundRect">
            <a:avLst/>
          </a:prstGeom>
          <a:solidFill>
            <a:srgbClr val="1C3449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783080"/>
            <a:ext cx="123444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SERVO</a:t>
            </a:r>
            <a:br/>
            <a:r>
              <a:t>MOTOR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189720" y="2176272"/>
            <a:ext cx="548640" cy="0"/>
          </a:xfrm>
          <a:prstGeom prst="line">
            <a:avLst/>
          </a:prstGeom>
          <a:ln w="63500">
            <a:solidFill>
              <a:srgbClr val="E691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9674352" y="1938528"/>
            <a:ext cx="320040" cy="475488"/>
          </a:xfrm>
          <a:prstGeom prst="ellipse">
            <a:avLst/>
          </a:prstGeom>
          <a:solidFill>
            <a:srgbClr val="25323D"/>
          </a:solidFill>
          <a:ln>
            <a:solidFill>
              <a:srgbClr val="253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0" y="3886200"/>
            <a:ext cx="3474720" cy="777240"/>
          </a:xfrm>
          <a:prstGeom prst="roundRect">
            <a:avLst/>
          </a:prstGeom>
          <a:solidFill>
            <a:srgbClr val="0A1925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52360" y="4069080"/>
            <a:ext cx="3200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pozíció ↔ sebesség ↔ nyomaték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Mi a szervohajtás?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Nagy pontosságú villamos hajtás folyamatos visszacsatolással.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21.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1508760" cy="1234440"/>
          </a:xfrm>
          <a:prstGeom prst="roundRect">
            <a:avLst/>
          </a:prstGeom>
          <a:solidFill>
            <a:srgbClr val="1C3449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123444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SERVO</a:t>
            </a:r>
            <a:br/>
            <a:r>
              <a:t>MOTOR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40280" y="2542032"/>
            <a:ext cx="548640" cy="0"/>
          </a:xfrm>
          <a:prstGeom prst="line">
            <a:avLst/>
          </a:prstGeom>
          <a:ln w="63500">
            <a:solidFill>
              <a:srgbClr val="E691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724912" y="2304288"/>
            <a:ext cx="320040" cy="475488"/>
          </a:xfrm>
          <a:prstGeom prst="ellipse">
            <a:avLst/>
          </a:prstGeom>
          <a:solidFill>
            <a:srgbClr val="25323D"/>
          </a:solidFill>
          <a:ln>
            <a:solidFill>
              <a:srgbClr val="253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0" y="1645920"/>
            <a:ext cx="20574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77640" y="1965960"/>
            <a:ext cx="17830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6ACC4"/>
                </a:solidFill>
                <a:latin typeface="Aptos"/>
              </a:defRPr>
            </a:pPr>
            <a:r>
              <a:t>HELYZET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2514600"/>
            <a:ext cx="169164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0">
                <a:solidFill>
                  <a:srgbClr val="25323D"/>
                </a:solidFill>
                <a:latin typeface="Aptos"/>
              </a:defRPr>
            </a:pPr>
            <a:r>
              <a:t>folyamatos</a:t>
            </a:r>
            <a:br/>
            <a:r>
              <a:t>szabályozás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645920"/>
            <a:ext cx="20574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965960"/>
            <a:ext cx="17830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369A0"/>
                </a:solidFill>
                <a:latin typeface="Aptos"/>
              </a:defRPr>
            </a:pPr>
            <a:r>
              <a:t>SEBESSÉG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514600"/>
            <a:ext cx="169164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0">
                <a:solidFill>
                  <a:srgbClr val="25323D"/>
                </a:solidFill>
                <a:latin typeface="Aptos"/>
              </a:defRPr>
            </a:pPr>
            <a:r>
              <a:t>folyamatos</a:t>
            </a:r>
            <a:br/>
            <a:r>
              <a:t>szabályozás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0" y="1645920"/>
            <a:ext cx="20574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06840" y="1965960"/>
            <a:ext cx="17830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E69130"/>
                </a:solidFill>
                <a:latin typeface="Aptos"/>
              </a:defRPr>
            </a:pPr>
            <a:r>
              <a:t>NYOMATÉK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59" y="2514600"/>
            <a:ext cx="169164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0">
                <a:solidFill>
                  <a:srgbClr val="25323D"/>
                </a:solidFill>
                <a:latin typeface="Aptos"/>
              </a:defRPr>
            </a:pPr>
            <a:r>
              <a:t>folyamatos</a:t>
            </a:r>
            <a:br/>
            <a:r>
              <a:t>szabályozás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4617720"/>
            <a:ext cx="6126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102336"/>
                </a:solidFill>
                <a:latin typeface="Aptos"/>
              </a:defRPr>
            </a:pPr>
            <a:r>
              <a:t>A kulcsszó: VISSZACSATOLÁS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Frekvenciaváltó vagy szervohajtás?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A jegyzet a fő különbséget a szabályozási célban fogalmazza meg.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21.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493776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28800"/>
            <a:ext cx="42976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2369A0"/>
                </a:solidFill>
                <a:latin typeface="Aptos"/>
              </a:defRPr>
            </a:pPr>
            <a:r>
              <a:t>FREKVENCIAVÁLTÓ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606040"/>
            <a:ext cx="40233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687580"/>
                </a:solidFill>
                <a:latin typeface="Aptos"/>
              </a:defRPr>
            </a:pPr>
            <a:r>
              <a:t>elsősorban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420624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102336"/>
                </a:solidFill>
                <a:latin typeface="Aptos"/>
              </a:defRPr>
            </a:pPr>
            <a:r>
              <a:t>FORDULATSZÁM-</a:t>
            </a:r>
            <a:br/>
            <a:r>
              <a:t>SZABÁLYOZÁS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508760"/>
            <a:ext cx="493776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12280" y="1828800"/>
            <a:ext cx="42976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E69130"/>
                </a:solidFill>
                <a:latin typeface="Aptos"/>
              </a:defRPr>
            </a:pPr>
            <a:r>
              <a:t>SZERVOHAJTÁS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2606040"/>
            <a:ext cx="40233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687580"/>
                </a:solidFill>
                <a:latin typeface="Aptos"/>
              </a:defRPr>
            </a:pPr>
            <a:r>
              <a:t>elsősorban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2971800"/>
            <a:ext cx="448056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100" b="1">
                <a:solidFill>
                  <a:srgbClr val="102336"/>
                </a:solidFill>
                <a:latin typeface="Aptos"/>
              </a:defRPr>
            </a:pPr>
            <a:r>
              <a:t>PONTOS POZICIONÁLÁS</a:t>
            </a:r>
            <a:br/>
            <a:r>
              <a:t>ÉS MOZGÁSVEZÉRLÉS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A szervorendszer fő elemei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Négy fő egység együtt alkot zárt szabályozási rendszert.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21.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828800"/>
            <a:ext cx="2331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2057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369A0"/>
                </a:solidFill>
                <a:latin typeface="Aptos"/>
              </a:defRPr>
            </a:pPr>
            <a:r>
              <a:t>PLC / MOZGÁS-</a:t>
            </a:r>
            <a:br/>
            <a:r>
              <a:t>VEZÉRLŐ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1828800"/>
            <a:ext cx="2331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79" y="2148840"/>
            <a:ext cx="2057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3D9169"/>
                </a:solidFill>
                <a:latin typeface="Aptos"/>
              </a:defRPr>
            </a:pPr>
            <a:r>
              <a:t>SZERVO-</a:t>
            </a:r>
            <a:br/>
            <a:r>
              <a:t>VEZÉRLŐ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1828800"/>
            <a:ext cx="2331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2148840"/>
            <a:ext cx="2057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E69130"/>
                </a:solidFill>
                <a:latin typeface="Aptos"/>
              </a:defRPr>
            </a:pPr>
            <a:r>
              <a:t>SZERVO-</a:t>
            </a:r>
            <a:br/>
            <a:r>
              <a:t>MOTOR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15400" y="1828800"/>
            <a:ext cx="2331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0" y="2148840"/>
            <a:ext cx="2057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36ACC4"/>
                </a:solidFill>
                <a:latin typeface="Aptos"/>
              </a:defRPr>
            </a:pPr>
            <a:r>
              <a:t>ENKÓDER /</a:t>
            </a:r>
            <a:br/>
            <a:r>
              <a:t>RESOLVER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331720"/>
            <a:ext cx="457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2331720"/>
            <a:ext cx="457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331720"/>
            <a:ext cx="457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058400" y="3246120"/>
            <a:ext cx="0" cy="914400"/>
          </a:xfrm>
          <a:prstGeom prst="line">
            <a:avLst/>
          </a:prstGeom>
          <a:ln w="38100">
            <a:solidFill>
              <a:srgbClr val="36AC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4389120" y="4160520"/>
            <a:ext cx="5669280" cy="0"/>
          </a:xfrm>
          <a:prstGeom prst="line">
            <a:avLst/>
          </a:prstGeom>
          <a:ln w="38100">
            <a:solidFill>
              <a:srgbClr val="36AC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4389120" y="3246120"/>
            <a:ext cx="0" cy="914400"/>
          </a:xfrm>
          <a:prstGeom prst="line">
            <a:avLst/>
          </a:prstGeom>
          <a:ln w="38100">
            <a:solidFill>
              <a:srgbClr val="36AC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852160" y="4251960"/>
            <a:ext cx="2743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36ACC4"/>
                </a:solidFill>
                <a:latin typeface="Aptos"/>
              </a:defRPr>
            </a:pPr>
            <a:r>
              <a:t>visszacsatolás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A visszacsatolás szerepe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Az enkóder mér, a vezérlő összehasonlít és azonnal korrigál.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21.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1945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12848"/>
            <a:ext cx="18288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2369A0"/>
                </a:solidFill>
                <a:latin typeface="Aptos"/>
              </a:defRPr>
            </a:pPr>
            <a:r>
              <a:t>ALAPJEL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828800"/>
            <a:ext cx="21945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2212848"/>
            <a:ext cx="18288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3D9169"/>
                </a:solidFill>
                <a:latin typeface="Aptos"/>
              </a:defRPr>
            </a:pPr>
            <a:r>
              <a:t>VEZÉRLŐ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828800"/>
            <a:ext cx="21945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212848"/>
            <a:ext cx="18288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E69130"/>
                </a:solidFill>
                <a:latin typeface="Aptos"/>
              </a:defRPr>
            </a:pPr>
            <a:r>
              <a:t>MOTOR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0" y="1828800"/>
            <a:ext cx="20116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0" y="2212848"/>
            <a:ext cx="1645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36ACC4"/>
                </a:solidFill>
                <a:latin typeface="Aptos"/>
              </a:defRPr>
            </a:pPr>
            <a:r>
              <a:t>ENKÓDER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221992"/>
            <a:ext cx="5486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3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2221992"/>
            <a:ext cx="5486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3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2221992"/>
            <a:ext cx="5486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3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332720" y="3017520"/>
            <a:ext cx="0" cy="1234440"/>
          </a:xfrm>
          <a:prstGeom prst="line">
            <a:avLst/>
          </a:prstGeom>
          <a:ln w="38100">
            <a:solidFill>
              <a:srgbClr val="36AC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4754880" y="4251960"/>
            <a:ext cx="5577840" cy="0"/>
          </a:xfrm>
          <a:prstGeom prst="line">
            <a:avLst/>
          </a:prstGeom>
          <a:ln w="38100">
            <a:solidFill>
              <a:srgbClr val="36AC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4754880" y="3017520"/>
            <a:ext cx="0" cy="1234440"/>
          </a:xfrm>
          <a:prstGeom prst="line">
            <a:avLst/>
          </a:prstGeom>
          <a:ln w="38100">
            <a:solidFill>
              <a:srgbClr val="36AC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60720" y="4407408"/>
            <a:ext cx="36576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36ACC4"/>
                </a:solidFill>
                <a:latin typeface="Aptos"/>
              </a:defRPr>
            </a:pPr>
            <a:r>
              <a:t>mért helyzet + fordulatszám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5074920"/>
            <a:ext cx="58521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102336"/>
                </a:solidFill>
                <a:latin typeface="Aptos"/>
              </a:defRPr>
            </a:pPr>
            <a:r>
              <a:t>ELTÉRÉS → AZONNALI KORREKCIÓ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Hol találkozunk szervohajtással?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Olyan gépeknél, ahol a mozgásnak pontosnak és ismételhetőnek kell lennie.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21.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91640"/>
            <a:ext cx="20116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2057400"/>
            <a:ext cx="822960" cy="822960"/>
          </a:xfrm>
          <a:prstGeom prst="ellipse">
            <a:avLst/>
          </a:prstGeom>
          <a:solidFill>
            <a:srgbClr val="2369A0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267712"/>
            <a:ext cx="8229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3246120"/>
            <a:ext cx="1682496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2369A0"/>
                </a:solidFill>
                <a:latin typeface="Aptos"/>
              </a:defRPr>
            </a:pPr>
            <a:r>
              <a:t>CNC</a:t>
            </a:r>
            <a:br/>
            <a:r>
              <a:t>GÉPEK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691640"/>
            <a:ext cx="20116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337560" y="2057400"/>
            <a:ext cx="822960" cy="822960"/>
          </a:xfrm>
          <a:prstGeom prst="ellipse">
            <a:avLst/>
          </a:prstGeom>
          <a:solidFill>
            <a:srgbClr val="E69130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2267712"/>
            <a:ext cx="8229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07792" y="3246120"/>
            <a:ext cx="1682496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E69130"/>
                </a:solidFill>
                <a:latin typeface="Aptos"/>
              </a:defRPr>
            </a:pPr>
            <a:r>
              <a:t>IPARI</a:t>
            </a:r>
            <a:br/>
            <a:r>
              <a:t>ROBOTOK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74920" y="1691640"/>
            <a:ext cx="20116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669280" y="2057400"/>
            <a:ext cx="822960" cy="822960"/>
          </a:xfrm>
          <a:prstGeom prst="ellipse">
            <a:avLst/>
          </a:prstGeom>
          <a:solidFill>
            <a:srgbClr val="3D9169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0" y="2267712"/>
            <a:ext cx="8229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9512" y="3246120"/>
            <a:ext cx="1682496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3D9169"/>
                </a:solidFill>
                <a:latin typeface="Aptos"/>
              </a:defRPr>
            </a:pPr>
            <a:r>
              <a:t>CSOMAGOLÓ-</a:t>
            </a:r>
            <a:br/>
            <a:r>
              <a:t>GÉPEK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1691640"/>
            <a:ext cx="20116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001000" y="2057400"/>
            <a:ext cx="822960" cy="822960"/>
          </a:xfrm>
          <a:prstGeom prst="ellipse">
            <a:avLst/>
          </a:prstGeom>
          <a:solidFill>
            <a:srgbClr val="36ACC4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1000" y="2267712"/>
            <a:ext cx="8229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71231" y="3246120"/>
            <a:ext cx="1682496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36ACC4"/>
                </a:solidFill>
                <a:latin typeface="Aptos"/>
              </a:defRPr>
            </a:pPr>
            <a:r>
              <a:t>AUTOMATA</a:t>
            </a:r>
            <a:br/>
            <a:r>
              <a:t>SZERELŐSOR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38359" y="1691640"/>
            <a:ext cx="20116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C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332719" y="2057400"/>
            <a:ext cx="822960" cy="822960"/>
          </a:xfrm>
          <a:prstGeom prst="ellipse">
            <a:avLst/>
          </a:prstGeom>
          <a:solidFill>
            <a:srgbClr val="C44444"/>
          </a:solidFill>
          <a:ln>
            <a:solidFill>
              <a:srgbClr val="C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32719" y="2267712"/>
            <a:ext cx="8229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02951" y="3246120"/>
            <a:ext cx="1682496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C44444"/>
                </a:solidFill>
                <a:latin typeface="Aptos"/>
              </a:defRPr>
            </a:pPr>
            <a:r>
              <a:t>NYOMDA-</a:t>
            </a:r>
            <a:br/>
            <a:r>
              <a:t>GÉPEK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Előnyök és korlátok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A nagy teljesítmény nagyobb költséggel és összetettebb beállítással jár.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21.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0749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5262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100" b="1">
                <a:solidFill>
                  <a:srgbClr val="3D9169"/>
                </a:solidFill>
                <a:latin typeface="Aptos"/>
              </a:defRPr>
            </a:pPr>
            <a:r>
              <a:t>ELŐNYÖK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606040"/>
            <a:ext cx="3931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 b="1">
                <a:solidFill>
                  <a:srgbClr val="25323D"/>
                </a:solidFill>
                <a:latin typeface="Aptos"/>
              </a:defRPr>
            </a:pPr>
            <a:r>
              <a:t>✓  Nagy pontosság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200400"/>
            <a:ext cx="3931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 b="1">
                <a:solidFill>
                  <a:srgbClr val="25323D"/>
                </a:solidFill>
                <a:latin typeface="Aptos"/>
              </a:defRPr>
            </a:pPr>
            <a:r>
              <a:t>✓  Gyors reakció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794760"/>
            <a:ext cx="3931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 b="1">
                <a:solidFill>
                  <a:srgbClr val="25323D"/>
                </a:solidFill>
                <a:latin typeface="Aptos"/>
              </a:defRPr>
            </a:pPr>
            <a:r>
              <a:t>✓  Ismétlési pontosság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554480"/>
            <a:ext cx="50749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C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828800"/>
            <a:ext cx="45262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100" b="1">
                <a:solidFill>
                  <a:srgbClr val="C44444"/>
                </a:solidFill>
                <a:latin typeface="Aptos"/>
              </a:defRPr>
            </a:pPr>
            <a:r>
              <a:t>KORLÁTOK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2788920"/>
            <a:ext cx="3840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 b="1">
                <a:solidFill>
                  <a:srgbClr val="25323D"/>
                </a:solidFill>
                <a:latin typeface="Aptos"/>
              </a:defRPr>
            </a:pPr>
            <a:r>
              <a:t>•  Magasabb költség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3566160"/>
            <a:ext cx="3840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 b="1">
                <a:solidFill>
                  <a:srgbClr val="25323D"/>
                </a:solidFill>
                <a:latin typeface="Aptos"/>
              </a:defRPr>
            </a:pPr>
            <a:r>
              <a:t>•  Összetettebb beállítás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Gyakorlati kihívás: csomagológép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Tervezd meg egy továbbító tengely szervohajtását.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21.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65960"/>
            <a:ext cx="12801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2369A0"/>
                </a:solidFill>
                <a:latin typeface="Aptos"/>
              </a:defRPr>
            </a:pPr>
            <a:r>
              <a:t>PLC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2057400"/>
            <a:ext cx="457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1783080"/>
            <a:ext cx="16459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3D9169"/>
                </a:solidFill>
                <a:latin typeface="Aptos"/>
              </a:defRPr>
            </a:pPr>
            <a:r>
              <a:t>SERVO</a:t>
            </a:r>
            <a:br/>
            <a:r>
              <a:t>DRIVE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2057400"/>
            <a:ext cx="457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600200"/>
            <a:ext cx="1508760" cy="1234440"/>
          </a:xfrm>
          <a:prstGeom prst="roundRect">
            <a:avLst/>
          </a:prstGeom>
          <a:solidFill>
            <a:srgbClr val="1C3449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828800"/>
            <a:ext cx="123444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SERVO</a:t>
            </a:r>
            <a:br/>
            <a:r>
              <a:t>MOTOR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60720" y="2221992"/>
            <a:ext cx="548640" cy="0"/>
          </a:xfrm>
          <a:prstGeom prst="line">
            <a:avLst/>
          </a:prstGeom>
          <a:ln w="63500">
            <a:solidFill>
              <a:srgbClr val="E691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6245352" y="1984248"/>
            <a:ext cx="320040" cy="475488"/>
          </a:xfrm>
          <a:prstGeom prst="ellipse">
            <a:avLst/>
          </a:prstGeom>
          <a:solidFill>
            <a:srgbClr val="25323D"/>
          </a:solidFill>
          <a:ln>
            <a:solidFill>
              <a:srgbClr val="253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2057400"/>
            <a:ext cx="457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1554480"/>
            <a:ext cx="4114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60920" y="1938528"/>
            <a:ext cx="36576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E69130"/>
                </a:solidFill>
                <a:latin typeface="Aptos"/>
              </a:defRPr>
            </a:pPr>
            <a:r>
              <a:t>TOVÁBBÍTÓ TENGELY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029200" y="2834640"/>
            <a:ext cx="0" cy="1051560"/>
          </a:xfrm>
          <a:prstGeom prst="line">
            <a:avLst/>
          </a:prstGeom>
          <a:ln w="38100">
            <a:solidFill>
              <a:srgbClr val="36AC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2971800" y="3886200"/>
            <a:ext cx="2057400" cy="0"/>
          </a:xfrm>
          <a:prstGeom prst="line">
            <a:avLst/>
          </a:prstGeom>
          <a:ln w="38100">
            <a:solidFill>
              <a:srgbClr val="36AC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971800" y="2606040"/>
            <a:ext cx="0" cy="1280160"/>
          </a:xfrm>
          <a:prstGeom prst="line">
            <a:avLst/>
          </a:prstGeom>
          <a:ln w="38100">
            <a:solidFill>
              <a:srgbClr val="36AC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474720" y="4041648"/>
            <a:ext cx="29260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36ACC4"/>
                </a:solidFill>
                <a:latin typeface="Aptos"/>
              </a:defRPr>
            </a:pPr>
            <a:r>
              <a:t>enkóder-visszacsatolás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983480"/>
            <a:ext cx="85039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02336"/>
                </a:solidFill>
                <a:latin typeface="Aptos"/>
              </a:defRPr>
            </a:pPr>
            <a:r>
              <a:t>Indokold: miért fontos itt a pontos és ismételhető mozgás?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6984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Aptos"/>
              </a:defRPr>
            </a:pPr>
            <a:r>
              <a:t>PONTOS • GYORS • ISMÉTELHETŐ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148840"/>
            <a:ext cx="9875520" cy="1143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300" b="1">
                <a:solidFill>
                  <a:srgbClr val="E69130"/>
                </a:solidFill>
                <a:latin typeface="Aptos"/>
              </a:defRPr>
            </a:pPr>
            <a:r>
              <a:t>A szervohajtás ott válik nélkülözhetetlenné,</a:t>
            </a:r>
            <a:br/>
            <a:r>
              <a:t>ahol a mozgás pontossága maga a technológia.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251960"/>
            <a:ext cx="1014984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Aptos"/>
              </a:defRPr>
            </a:pPr>
            <a:r>
              <a:t>„A pontos pozicionálás a korszerű automatizálás egyik legfontosabb követelménye.”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3840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IAP • Folyamatirányítás • 21. hét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