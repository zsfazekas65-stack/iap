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36.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676656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E69130"/>
                </a:solidFill>
                <a:latin typeface="Aptos"/>
              </a:defRPr>
            </a:pPr>
            <a:r>
              <a:t>INTEGRÁLT</a:t>
            </a:r>
            <a:br/>
            <a:r>
              <a:t>AUTOMATIZÁLÁSI RENDSZER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Év végi összefoglalás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6583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gépészet • villamosság • automatizálás • informatika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155448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810512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417320"/>
            <a:ext cx="155448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1810512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063240"/>
            <a:ext cx="155448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456432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063240"/>
            <a:ext cx="155448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3456432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IIoT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teljes rendszer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egyes eszközök csak együtt alkotnak korszerű automatizált gyártórendszert.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PLC / HMI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HAJTÁSOK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ROBOT / 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IIoT /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Kommunikáció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gyártócella több kommunikációs szintet kapcsol össze.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5146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69A0"/>
                </a:solidFill>
                <a:latin typeface="Aptos"/>
              </a:defRPr>
            </a:pPr>
            <a:r>
              <a:t>GÉPI SZINT</a:t>
            </a:r>
            <a:br/>
            <a:r>
              <a:t>PROFINET / ETHERNET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743200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468880"/>
            <a:ext cx="25146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SCADA</a:t>
            </a:r>
            <a:br/>
            <a:r>
              <a:t>OPC 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43200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25146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E69130"/>
                </a:solidFill>
                <a:latin typeface="Aptos"/>
              </a:defRPr>
            </a:pPr>
            <a:r>
              <a:t>FELHŐ</a:t>
            </a:r>
            <a:br/>
            <a:r>
              <a:t>MQTT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12080"/>
            <a:ext cx="8595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HELYI VEZÉRLÉS → FELÜGYELET → FELHŐKAPCSOLAT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Adatból döntés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valós idejű mérési adatokból felügyelet, riport és karbantartási információ lesz.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02336"/>
                </a:solidFill>
                <a:latin typeface="Aptos"/>
              </a:defRPr>
            </a:pPr>
            <a:r>
              <a:t>RIPORT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754880"/>
            <a:ext cx="8138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VALÓS IDEJŰ ADATGYŰJTÉS ÉS FELÜGYELET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Karbantartás +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mért állapot és a virtuális modell együtt segíti a megelőzést és optimalizálást.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498348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251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E69130"/>
                </a:solidFill>
                <a:latin typeface="Aptos"/>
              </a:defRPr>
            </a:pPr>
            <a:r>
              <a:t>PREDIKTÍV</a:t>
            </a:r>
            <a:br/>
            <a:r>
              <a:t>KARBANTARTÁS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3977639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rezgés • hőmérséklet • áram</a:t>
            </a:r>
            <a:br/>
            <a:r>
              <a:t>trend • előrejelzés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498348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4251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D9169"/>
                </a:solidFill>
                <a:latin typeface="Aptos"/>
              </a:defRPr>
            </a:pPr>
            <a:r>
              <a:t>DIGITAL TWIN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154680"/>
            <a:ext cx="3977639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virtuális modell</a:t>
            </a:r>
            <a:br/>
            <a:r>
              <a:t>tesztelés • optimalizálás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Biztonság minden szinten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fizikai és digitális biztonság ugyanannak a rendszernek a része.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ROBOTCELLA</a:t>
            </a:r>
            <a:br/>
            <a:r>
              <a:t>VÉDELME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SAFETY PLC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KIBERBIZTONSÁG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JOGOSULTSÁG-</a:t>
            </a:r>
            <a:br/>
            <a:r>
              <a:t>KEZELÉS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Komplex esettanulmány: automata szerelőcella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Egyetlen cellában találkozik a tanév szinte minden fontos technológiája.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69164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331720"/>
            <a:ext cx="1417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69130"/>
                </a:solidFill>
                <a:latin typeface="Aptos"/>
              </a:defRPr>
            </a:pPr>
            <a:r>
              <a:t>SZÁLLÍTÓSZALAG</a:t>
            </a:r>
            <a:br/>
            <a:r>
              <a:t>+ VFD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51460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69164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331720"/>
            <a:ext cx="1417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1460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69164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2331720"/>
            <a:ext cx="1417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6ACC4"/>
                </a:solidFill>
                <a:latin typeface="Aptos"/>
              </a:defRPr>
            </a:pPr>
            <a:r>
              <a:t>SZERVO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51460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69164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331720"/>
            <a:ext cx="1417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C44444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51460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69164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331720"/>
            <a:ext cx="1417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D9169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51460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69164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331720"/>
            <a:ext cx="1417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2336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389120"/>
            <a:ext cx="5669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590288"/>
            <a:ext cx="5212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IIoT → CLOUD → PREDIKTÍV KARBANTARTÁS + DIGITAL TWIN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Az integráció lényege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modern mechatronika több szakterület közös nyelve.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87451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GÉPÉSZET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514600"/>
            <a:ext cx="187451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VILLAMOSSÁG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187451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D9169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514600"/>
            <a:ext cx="187451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6ACC4"/>
                </a:solidFill>
                <a:latin typeface="Aptos"/>
              </a:defRPr>
            </a:pPr>
            <a:r>
              <a:t>INFORMATIKA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516636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EGY RENDSZER • EGYÜTTMŰKÖDŐ SZAKTERÜLETEK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Záró 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Tervezd meg az intelligens gyártócellát az egész éves tudás felhasználásával!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2395728"/>
            <a:ext cx="165506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ÉRZÉKELŐK</a:t>
            </a:r>
            <a:br/>
            <a:r>
              <a:t>PLC • HMI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395728"/>
            <a:ext cx="165506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VFD • SZERVO</a:t>
            </a:r>
            <a:br/>
            <a:r>
              <a:t>ROBOT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2395728"/>
            <a:ext cx="165506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SCADA</a:t>
            </a:r>
            <a:br/>
            <a:r>
              <a:t>OPC UA • MQTT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6056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3" y="2395728"/>
            <a:ext cx="165506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IIoT</a:t>
            </a:r>
            <a:br/>
            <a:r>
              <a:t>DIGITAL TWIN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74936" y="2395728"/>
            <a:ext cx="165506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83480"/>
            <a:ext cx="9875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Jelöld az eszközök feladatát, kommunikációját és az adatáramlás irányát.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36 HÉT • EGY RENDSZER • EGY SZEMLÉLET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E69130"/>
                </a:solidFill>
                <a:latin typeface="Aptos"/>
              </a:defRPr>
            </a:pPr>
            <a:r>
              <a:t>az automatizálás értéke az összehangolt együttműködésben rejlik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„Az automatizálás valódi értéke nem az egyes eszközökben, hanem azok összehangolt együttműködésében rejlik.”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36.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