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74980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Mechatronikai technikus • Folyamatirányítás • 12.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6492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SZENZOROK 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67712"/>
            <a:ext cx="6492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E19137"/>
                </a:solidFill>
                <a:latin typeface="Aptos"/>
              </a:defRPr>
            </a:pPr>
            <a:r>
              <a:t>BEAVATKOZÓK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6492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együttműködése az automatizált rendszerekben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828800"/>
            <a:ext cx="1325880" cy="1005840"/>
          </a:xfrm>
          <a:prstGeom prst="roundRect">
            <a:avLst/>
          </a:prstGeom>
          <a:solidFill>
            <a:srgbClr val="1F405E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084831"/>
            <a:ext cx="1234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AA9C4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1828800"/>
            <a:ext cx="1325880" cy="1005840"/>
          </a:xfrm>
          <a:prstGeom prst="roundRect">
            <a:avLst/>
          </a:prstGeom>
          <a:solidFill>
            <a:srgbClr val="1F405E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2084831"/>
            <a:ext cx="1234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19137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828800"/>
            <a:ext cx="1417320" cy="1005840"/>
          </a:xfrm>
          <a:prstGeom prst="roundRect">
            <a:avLst/>
          </a:prstGeom>
          <a:solidFill>
            <a:srgbClr val="1F405E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2084831"/>
            <a:ext cx="13258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E9169"/>
                </a:solidFill>
                <a:latin typeface="Aptos"/>
              </a:defRPr>
            </a:pPr>
            <a:r>
              <a:t>BEAVATKOZÓ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23960" y="2331720"/>
            <a:ext cx="320040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69880" y="2331720"/>
            <a:ext cx="64008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0" y="388620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VISSZACSATOLÁS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201400" y="2971800"/>
            <a:ext cx="0" cy="73152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138160" y="3703320"/>
            <a:ext cx="3063240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38160" y="2971800"/>
            <a:ext cx="0" cy="73152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A zárt szabályozási kör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789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rendszer folyamatosan mér, dönt és beavatkozik.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43000"/>
            <a:ext cx="1143000" cy="4572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130552"/>
            <a:ext cx="16367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42B44"/>
                </a:solidFill>
                <a:latin typeface="Aptos"/>
              </a:defRPr>
            </a:pPr>
            <a:r>
              <a:t>FOLYAMAT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06039"/>
            <a:ext cx="156362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kiinduló állapot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9659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2" y="2130552"/>
            <a:ext cx="16367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606039"/>
            <a:ext cx="156362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adatgyűjtés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9659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2130552"/>
            <a:ext cx="16367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PLC / DDC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606039"/>
            <a:ext cx="156362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döntés és vezérlés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9659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2130552"/>
            <a:ext cx="16367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BEAVATKOZÓ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2606039"/>
            <a:ext cx="156362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utasítás végrehajtása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19659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1512" y="2130552"/>
            <a:ext cx="16367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ÚJ MÉRÉS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088" y="2606039"/>
            <a:ext cx="156362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visszacsatolás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68880" y="2880360"/>
            <a:ext cx="320040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54879" y="2880360"/>
            <a:ext cx="320041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40879" y="2880360"/>
            <a:ext cx="320041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326880" y="2880360"/>
            <a:ext cx="320040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461772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42B44"/>
                </a:solidFill>
                <a:latin typeface="Aptos"/>
              </a:defRPr>
            </a:pPr>
            <a:r>
              <a:t>Folyamat → Érzékelő → PLC/DDC → Beavatkozó → Folyamat változása → Új mérés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Ki mit csinál?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789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Három szerep - egy összehangolt rendszer.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43000"/>
            <a:ext cx="1143000" cy="4572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19072"/>
            <a:ext cx="3008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2935224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Megfigyeli a folyamatot és adatot szolgáltat.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719072"/>
            <a:ext cx="3008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194560"/>
            <a:ext cx="2935224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Kiértékeli a jelet, döntést hoz és vezérel.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55448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719072"/>
            <a:ext cx="3008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BEAVATKOZÓ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194560"/>
            <a:ext cx="2935224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 vezérlő utasítását fizikai változássá alakítja.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Digitális és analóg jelek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789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PLC különböző jelalakokkal találkozik.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43000"/>
            <a:ext cx="1143000" cy="4572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49834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73351"/>
            <a:ext cx="46542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DIGITÁLIS JEL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48839"/>
            <a:ext cx="4581144" cy="2697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Két állapot: 0 / 1</a:t>
            </a:r>
            <a:br/>
            <a:br/>
            <a:r>
              <a:t>Példa: fotoérzékelő kapcsolási állapota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08760"/>
            <a:ext cx="49834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673351"/>
            <a:ext cx="46542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ANALÓG JEL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148839"/>
            <a:ext cx="4581144" cy="2697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Folyamatosan változó érték</a:t>
            </a:r>
            <a:br/>
            <a:br/>
            <a:r>
              <a:t>Gyakori szabványok: 0–10 V és 4–20 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49240"/>
            <a:ext cx="9966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2B44"/>
                </a:solidFill>
                <a:latin typeface="Aptos"/>
              </a:defRPr>
            </a:pPr>
            <a:r>
              <a:t>A jel típusa meghatározza a PLC bemenetét és a feldolgozás módját.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Miért szeretjük a 4–20 mA jelet?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789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jegyzet három fontos előnyt emel ki.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43000"/>
            <a:ext cx="1143000" cy="4572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375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3008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NAGY TÁVOLSÁG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2935224" cy="2331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pontos jelátvitel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91640"/>
            <a:ext cx="33375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856232"/>
            <a:ext cx="3008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ZAVARVÉDETT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331720"/>
            <a:ext cx="2935224" cy="2331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ipari környezetben előnyös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691640"/>
            <a:ext cx="33375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856232"/>
            <a:ext cx="3008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0 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331720"/>
            <a:ext cx="2935224" cy="2331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vezetékhibára utal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166360"/>
            <a:ext cx="8412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42B44"/>
                </a:solidFill>
                <a:latin typeface="Aptos"/>
              </a:defRPr>
            </a:pPr>
            <a:r>
              <a:t>4 mA = élő nulla • 20 mA = felső mérési érték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Példa 1 - Tartályszint-szabályozás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789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rendszer automatikusan tartja a kívánt szintet.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43000"/>
            <a:ext cx="1143000" cy="4572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993392"/>
            <a:ext cx="218541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ULTRAHANGOS</a:t>
            </a:r>
            <a:br/>
            <a:r>
              <a:t>SZINTMÉRŐ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68880"/>
            <a:ext cx="2112264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mérés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926080"/>
            <a:ext cx="365760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9184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993392"/>
            <a:ext cx="218541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468880"/>
            <a:ext cx="2112264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kiértékelés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2926080"/>
            <a:ext cx="365760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7220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93392"/>
            <a:ext cx="218541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468880"/>
            <a:ext cx="2112264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motorvezérlés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0" y="2926080"/>
            <a:ext cx="365759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559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1" y="1993392"/>
            <a:ext cx="218541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SZIVATTYÚ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468880"/>
            <a:ext cx="2112264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beavatkozás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54880"/>
            <a:ext cx="9966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42B44"/>
                </a:solidFill>
                <a:latin typeface="Aptos"/>
              </a:defRPr>
            </a:pPr>
            <a:r>
              <a:t>A szint változása új mérést eredményez - ez a visszacsatolás.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Példa 2 - Hőmérséklet-szabályozás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789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PT100 érzékelő + PLC PID + fűtőbetét.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43000"/>
            <a:ext cx="1143000" cy="4572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7432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93392"/>
            <a:ext cx="241401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PT100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68880"/>
            <a:ext cx="2340864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méri a hőmérsékletet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828800"/>
            <a:ext cx="27432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1993392"/>
            <a:ext cx="241401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PLC + PID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468880"/>
            <a:ext cx="2340864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összehasonlít és szabályoz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828800"/>
            <a:ext cx="27432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1993392"/>
            <a:ext cx="241401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FŰTŐBETÉT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2468880"/>
            <a:ext cx="2340864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megváltoztatja a folyamatot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3017520"/>
            <a:ext cx="1005840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52360" y="3017520"/>
            <a:ext cx="1005840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28800" y="4846320"/>
            <a:ext cx="8503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42B44"/>
                </a:solidFill>
                <a:latin typeface="Aptos"/>
              </a:defRPr>
            </a:pPr>
            <a:r>
              <a:t>Mérés → döntés → beavatkozás → új mérés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Példa 3 - Szállítószalag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789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Több érzékelő és beavatkozó összehangolt működése.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43000"/>
            <a:ext cx="1143000" cy="4572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81912"/>
            <a:ext cx="3008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FOTOÉRZÉKELŐ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57400"/>
            <a:ext cx="293522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érzékel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173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581912"/>
            <a:ext cx="3008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057400"/>
            <a:ext cx="293522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dönt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173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581912"/>
            <a:ext cx="3008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ASZINKRON 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57400"/>
            <a:ext cx="293522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hajt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5661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730752"/>
            <a:ext cx="3008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MUNKAHENGER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206240"/>
            <a:ext cx="293522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mozgat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5661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3730752"/>
            <a:ext cx="30083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MÁGNESSZELEP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206240"/>
            <a:ext cx="293522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kapcsol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Hibakeresés - mindig rendszerben gondolkodj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789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jegyzet javasolt ellenőrzési sorrendje.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43000"/>
            <a:ext cx="1143000" cy="4572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92024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1913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606040"/>
            <a:ext cx="1499616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1">
                <a:solidFill>
                  <a:srgbClr val="142B44"/>
                </a:solidFill>
                <a:latin typeface="Aptos"/>
              </a:defRPr>
            </a:pPr>
            <a:r>
              <a:t>TÁPELLÁTÁS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65960" y="2633472"/>
            <a:ext cx="256032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58568" y="192024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2084831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191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606040"/>
            <a:ext cx="1499616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1">
                <a:solidFill>
                  <a:srgbClr val="142B44"/>
                </a:solidFill>
                <a:latin typeface="Aptos"/>
              </a:defRPr>
            </a:pPr>
            <a:r>
              <a:t>ÉRZÉKELŐ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04488" y="2633472"/>
            <a:ext cx="256032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97096" y="192024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2084831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191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2606040"/>
            <a:ext cx="1499616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1">
                <a:solidFill>
                  <a:srgbClr val="142B44"/>
                </a:solidFill>
                <a:latin typeface="Aptos"/>
              </a:defRPr>
            </a:pPr>
            <a:r>
              <a:t>PLC BEMENET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43016" y="2633472"/>
            <a:ext cx="256032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35624" y="192024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9984" y="2084831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1913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2606040"/>
            <a:ext cx="1499616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1">
                <a:solidFill>
                  <a:srgbClr val="142B44"/>
                </a:solidFill>
                <a:latin typeface="Aptos"/>
              </a:defRPr>
            </a:pPr>
            <a:r>
              <a:t>PLC KIMENET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81544" y="2633472"/>
            <a:ext cx="256031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74152" y="192024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084831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1913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2606040"/>
            <a:ext cx="1499616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1">
                <a:solidFill>
                  <a:srgbClr val="142B44"/>
                </a:solidFill>
                <a:latin typeface="Aptos"/>
              </a:defRPr>
            </a:pPr>
            <a:r>
              <a:t>BEAVATKOZÓ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20072" y="2633472"/>
            <a:ext cx="256032" cy="0"/>
          </a:xfrm>
          <a:prstGeom prst="line">
            <a:avLst/>
          </a:prstGeom>
          <a:ln w="2794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12680" y="192024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2084831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1913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5832" y="2606040"/>
            <a:ext cx="1499616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1">
                <a:solidFill>
                  <a:srgbClr val="142B44"/>
                </a:solidFill>
                <a:latin typeface="Aptos"/>
              </a:defRPr>
            </a:pPr>
            <a:r>
              <a:t>MECHANIKA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5196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63441"/>
                </a:solidFill>
                <a:latin typeface="Aptos"/>
              </a:defRPr>
            </a:pPr>
            <a:r>
              <a:t>Ne csak a PLC-programot keresd: a hiba lehet villamos, érzékelési, kimeneti vagy mechanikai 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IAP gyakorlati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789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Automatikus üvegház hőmérséklet-szabályozása.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43000"/>
            <a:ext cx="1143000" cy="4572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73351"/>
            <a:ext cx="20939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1. ÉRZÉKELŐ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48839"/>
            <a:ext cx="2020824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Válassz megfelelő hőmérséklet-érzékelőt.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087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673351"/>
            <a:ext cx="20939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2. VEZÉRLŐ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148839"/>
            <a:ext cx="2020824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Határozd meg a vezérlő feladatát.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73351"/>
            <a:ext cx="20939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3. BEAVATKOZÓ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48839"/>
            <a:ext cx="2020824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Válassz fűtő vagy hűtő beavatkozót.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5087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1673351"/>
            <a:ext cx="209397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4. BLOKKVÁZLAT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8" y="2148839"/>
            <a:ext cx="2020824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Rajzold fel a teljes visszacsatolt rendszert.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10332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42B44"/>
                </a:solidFill>
                <a:latin typeface="Aptos"/>
              </a:defRPr>
            </a:pPr>
            <a:r>
              <a:t>A cél: az érzékelés, a döntés és a beavatkozás egyetlen összehangolt folyamattá váljon.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8961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A mechatronikai rendszer megbízhatósága az együttműködésen múlik.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40280"/>
            <a:ext cx="2423160" cy="1965960"/>
          </a:xfrm>
          <a:prstGeom prst="roundRect">
            <a:avLst/>
          </a:prstGeom>
          <a:solidFill>
            <a:srgbClr val="1F405E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2240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ÉRZÉKELÉS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2240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adat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240280"/>
            <a:ext cx="2423160" cy="1965960"/>
          </a:xfrm>
          <a:prstGeom prst="roundRect">
            <a:avLst/>
          </a:prstGeom>
          <a:solidFill>
            <a:srgbClr val="1F405E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39" y="2514600"/>
            <a:ext cx="2240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3154680"/>
            <a:ext cx="2240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PLC / DDC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40280"/>
            <a:ext cx="2423160" cy="1965960"/>
          </a:xfrm>
          <a:prstGeom prst="roundRect">
            <a:avLst/>
          </a:prstGeom>
          <a:solidFill>
            <a:srgbClr val="1F405E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2514600"/>
            <a:ext cx="2240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BEAVATKOZÁS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3154680"/>
            <a:ext cx="2240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végrehajtás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39" y="2240280"/>
            <a:ext cx="2423160" cy="1965960"/>
          </a:xfrm>
          <a:prstGeom prst="roundRect">
            <a:avLst/>
          </a:prstGeom>
          <a:solidFill>
            <a:srgbClr val="1F405E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514600"/>
            <a:ext cx="2240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VISSZACSATOLÁS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3154680"/>
            <a:ext cx="2240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új mérés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103327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„A mechatronikai rendszer akkor működik jól, ha az érzékelés, a döntés és a beavatkozás egyetlen összehangolt folyamattá válik.”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