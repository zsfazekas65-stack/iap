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0B9F2"/>
                </a:solidFill>
                <a:latin typeface="Aptos"/>
              </a:rPr>
              <a:t>28. HÉT · 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6583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Robotprogramozás</a:t>
            </a:r>
            <a:br/>
            <a:r>
              <a:t>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423160"/>
            <a:ext cx="5577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D2E4F1"/>
                </a:solidFill>
                <a:latin typeface="Aptos"/>
              </a:rPr>
              <a:t>Teach Pendant · pontbetanítás · mozgásparancsok · Pick &amp; 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3303270"/>
            <a:ext cx="1392174" cy="403250"/>
          </a:xfrm>
          <a:prstGeom prst="roundRect">
            <a:avLst/>
          </a:prstGeom>
          <a:solidFill>
            <a:srgbClr val="07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8235086" y="2631186"/>
            <a:ext cx="796900" cy="672084"/>
          </a:xfrm>
          <a:prstGeom prst="line">
            <a:avLst/>
          </a:prstGeom>
          <a:ln w="173355">
            <a:solidFill>
              <a:srgbClr val="0E7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031986" y="2007108"/>
            <a:ext cx="768096" cy="624078"/>
          </a:xfrm>
          <a:prstGeom prst="line">
            <a:avLst/>
          </a:prstGeom>
          <a:ln w="173355">
            <a:solidFill>
              <a:srgbClr val="0E7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800082" y="2007108"/>
            <a:ext cx="768096" cy="268833"/>
          </a:xfrm>
          <a:prstGeom prst="line">
            <a:avLst/>
          </a:prstGeom>
          <a:ln w="173355">
            <a:solidFill>
              <a:srgbClr val="0E7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081467" y="3149650"/>
            <a:ext cx="307238" cy="307238"/>
          </a:xfrm>
          <a:prstGeom prst="ellipse">
            <a:avLst/>
          </a:prstGeom>
          <a:solidFill>
            <a:srgbClr val="20B9F2"/>
          </a:solidFill>
          <a:ln>
            <a:solidFill>
              <a:srgbClr val="07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78366" y="2477566"/>
            <a:ext cx="307238" cy="307238"/>
          </a:xfrm>
          <a:prstGeom prst="ellipse">
            <a:avLst/>
          </a:prstGeom>
          <a:solidFill>
            <a:srgbClr val="20B9F2"/>
          </a:solidFill>
          <a:ln>
            <a:solidFill>
              <a:srgbClr val="07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46462" y="1853488"/>
            <a:ext cx="307238" cy="307238"/>
          </a:xfrm>
          <a:prstGeom prst="ellipse">
            <a:avLst/>
          </a:prstGeom>
          <a:solidFill>
            <a:srgbClr val="20B9F2"/>
          </a:solidFill>
          <a:ln>
            <a:solidFill>
              <a:srgbClr val="07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568178" y="2275941"/>
            <a:ext cx="432054" cy="172822"/>
          </a:xfrm>
          <a:prstGeom prst="line">
            <a:avLst/>
          </a:prstGeom>
          <a:ln w="66675">
            <a:solidFill>
              <a:srgbClr val="071D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981029" y="2227935"/>
            <a:ext cx="259233" cy="220828"/>
          </a:xfrm>
          <a:prstGeom prst="line">
            <a:avLst/>
          </a:prstGeom>
          <a:ln w="40005">
            <a:solidFill>
              <a:srgbClr val="071D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81029" y="2448763"/>
            <a:ext cx="259233" cy="192024"/>
          </a:xfrm>
          <a:prstGeom prst="line">
            <a:avLst/>
          </a:prstGeom>
          <a:ln w="40005">
            <a:solidFill>
              <a:srgbClr val="071D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" y="5074920"/>
            <a:ext cx="5303520" cy="822960"/>
          </a:xfrm>
          <a:prstGeom prst="roundRect">
            <a:avLst/>
          </a:prstGeom>
          <a:solidFill>
            <a:srgbClr val="0B3050"/>
          </a:solidFill>
          <a:ln>
            <a:solidFill>
              <a:srgbClr val="195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239512"/>
            <a:ext cx="4846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 robot csak azt hajtja végre pontosan,</a:t>
            </a:r>
            <a:br/>
            <a:r>
              <a:t>amit pontosan megtanítottunk neki.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17220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0C1DA"/>
                </a:solidFill>
                <a:latin typeface="Aptos"/>
              </a:rPr>
              <a:t>IAP · Integrált Automatika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71D34"/>
                </a:solidFill>
                <a:latin typeface="Aptos"/>
              </a:rPr>
              <a:t>Mit fogunk megtanulni?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0467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D82"/>
                </a:solidFill>
                <a:latin typeface="Aptos"/>
              </a:rPr>
              <a:t>A hét oktatási céljai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5B6D82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D82"/>
                </a:solidFill>
                <a:latin typeface="Aptos"/>
              </a:rPr>
              <a:t>IAP ·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B6D82"/>
                </a:solidFill>
                <a:latin typeface="Aptos"/>
              </a:rPr>
              <a:t>28. hét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82296" cy="1645920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81912"/>
            <a:ext cx="4800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Robotprogram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84248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Mit határoz meg egy robotprogram?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82296" cy="1645920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81912"/>
            <a:ext cx="4800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Teach Pendant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84248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Mozgatás, ponttanítás, programozás, diagnosztika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82296" cy="1645920"/>
          </a:xfrm>
          <a:prstGeom prst="rect">
            <a:avLst/>
          </a:prstGeom>
          <a:solidFill>
            <a:srgbClr val="DE8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30752"/>
            <a:ext cx="4800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Pontok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33088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Home · Approach · Pick · Retreat · Place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56616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566160"/>
            <a:ext cx="82296" cy="1645920"/>
          </a:xfrm>
          <a:prstGeom prst="rect">
            <a:avLst/>
          </a:prstGeom>
          <a:solidFill>
            <a:srgbClr val="268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730752"/>
            <a:ext cx="4800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Pick &amp; 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33088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Egy egyszerű ciklus logikája és I/O-kezelése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71D34"/>
                </a:solidFill>
                <a:latin typeface="Aptos"/>
              </a:rPr>
              <a:t>Mit tartalmaz egy robotprogram?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0467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D82"/>
                </a:solidFill>
                <a:latin typeface="Aptos"/>
              </a:rPr>
              <a:t>A program a mozgás és a technológiai műveletek sorrendje.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5B6D82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D82"/>
                </a:solidFill>
                <a:latin typeface="Aptos"/>
              </a:rPr>
              <a:t>IAP ·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B6D82"/>
                </a:solidFill>
                <a:latin typeface="Aptos"/>
              </a:rPr>
              <a:t>28. hét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2468880" cy="1828800"/>
          </a:xfrm>
          <a:prstGeom prst="roundRect">
            <a:avLst/>
          </a:prstGeom>
          <a:solidFill>
            <a:srgbClr val="F1F7FB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E70B7"/>
                </a:solidFill>
                <a:latin typeface="Aptos"/>
              </a:rPr>
              <a:t>MOZGÁS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4243A"/>
                </a:solidFill>
                <a:latin typeface="Aptos"/>
              </a:rPr>
              <a:t>hová és milyen pályán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554480"/>
            <a:ext cx="2468880" cy="1828800"/>
          </a:xfrm>
          <a:prstGeom prst="roundRect">
            <a:avLst/>
          </a:prstGeom>
          <a:solidFill>
            <a:srgbClr val="F1F7FB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8105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0B9F2"/>
                </a:solidFill>
                <a:latin typeface="Aptos"/>
              </a:rPr>
              <a:t>SEBESSÉG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04288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4243A"/>
                </a:solidFill>
                <a:latin typeface="Aptos"/>
              </a:rPr>
              <a:t>milyen gyorsan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2468880" cy="1828800"/>
          </a:xfrm>
          <a:prstGeom prst="roundRect">
            <a:avLst/>
          </a:prstGeom>
          <a:solidFill>
            <a:srgbClr val="F1F7FB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105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E8B24"/>
                </a:solidFill>
                <a:latin typeface="Aptos"/>
              </a:rPr>
              <a:t>VÁRAKOZÁS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04288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4243A"/>
                </a:solidFill>
                <a:latin typeface="Aptos"/>
              </a:rPr>
              <a:t>mikor álljon meg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1554480"/>
            <a:ext cx="2468880" cy="1828800"/>
          </a:xfrm>
          <a:prstGeom prst="roundRect">
            <a:avLst/>
          </a:prstGeom>
          <a:solidFill>
            <a:srgbClr val="F1F7FB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39" y="18105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68952"/>
                </a:solidFill>
                <a:latin typeface="Aptos"/>
              </a:rPr>
              <a:t>I/O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304288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4243A"/>
                </a:solidFill>
                <a:latin typeface="Aptos"/>
              </a:rPr>
              <a:t>megfogó, érzékelők, jelek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71D34"/>
                </a:solidFill>
                <a:latin typeface="Aptos"/>
              </a:rPr>
              <a:t>PROGRAM = pontok + mozgásparancsok + technológiai műveletek + logika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37760"/>
            <a:ext cx="9326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5B6D82"/>
                </a:solidFill>
                <a:latin typeface="Aptos"/>
              </a:rPr>
              <a:t>A jó program áttekinthető, ismételhető és biztonságosan tesztelhető.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71D34"/>
                </a:solidFill>
                <a:latin typeface="Aptos"/>
              </a:rPr>
              <a:t>Teach Pendant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0467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D82"/>
                </a:solidFill>
                <a:latin typeface="Aptos"/>
              </a:rPr>
              <a:t>A robot kézi kezelő- és programozóeszköze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5B6D82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D82"/>
                </a:solidFill>
                <a:latin typeface="Aptos"/>
              </a:rPr>
              <a:t>IAP ·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B6D82"/>
                </a:solidFill>
                <a:latin typeface="Aptos"/>
              </a:rPr>
              <a:t>28. hét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325880"/>
            <a:ext cx="3749039" cy="4389120"/>
          </a:xfrm>
          <a:prstGeom prst="roundRect">
            <a:avLst/>
          </a:prstGeom>
          <a:solidFill>
            <a:srgbClr val="071D34"/>
          </a:solidFill>
          <a:ln>
            <a:solidFill>
              <a:srgbClr val="07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1691640"/>
            <a:ext cx="3108960" cy="1600200"/>
          </a:xfrm>
          <a:prstGeom prst="roundRect">
            <a:avLst/>
          </a:prstGeom>
          <a:solidFill>
            <a:srgbClr val="D2EBF4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96596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71D34"/>
                </a:solidFill>
                <a:latin typeface="Aptos"/>
              </a:rPr>
              <a:t>ROBOT / TEACH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611880"/>
            <a:ext cx="530352" cy="310896"/>
          </a:xfrm>
          <a:prstGeom prst="roundRect">
            <a:avLst/>
          </a:prstGeom>
          <a:solidFill>
            <a:srgbClr val="EBF1F6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38528" y="3611880"/>
            <a:ext cx="530352" cy="310896"/>
          </a:xfrm>
          <a:prstGeom prst="roundRect">
            <a:avLst/>
          </a:prstGeom>
          <a:solidFill>
            <a:srgbClr val="EBF1F6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88336" y="3611880"/>
            <a:ext cx="530352" cy="310896"/>
          </a:xfrm>
          <a:prstGeom prst="roundRect">
            <a:avLst/>
          </a:prstGeom>
          <a:solidFill>
            <a:srgbClr val="EBF1F6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38144" y="3611880"/>
            <a:ext cx="530352" cy="310896"/>
          </a:xfrm>
          <a:prstGeom prst="roundRect">
            <a:avLst/>
          </a:prstGeom>
          <a:solidFill>
            <a:srgbClr val="EBF1F6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88720" y="4142232"/>
            <a:ext cx="530352" cy="310896"/>
          </a:xfrm>
          <a:prstGeom prst="roundRect">
            <a:avLst/>
          </a:prstGeom>
          <a:solidFill>
            <a:srgbClr val="EBF1F6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38528" y="4142232"/>
            <a:ext cx="530352" cy="310896"/>
          </a:xfrm>
          <a:prstGeom prst="roundRect">
            <a:avLst/>
          </a:prstGeom>
          <a:solidFill>
            <a:srgbClr val="EBF1F6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88336" y="4142232"/>
            <a:ext cx="530352" cy="310896"/>
          </a:xfrm>
          <a:prstGeom prst="roundRect">
            <a:avLst/>
          </a:prstGeom>
          <a:solidFill>
            <a:srgbClr val="EBF1F6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38144" y="4142232"/>
            <a:ext cx="530352" cy="310896"/>
          </a:xfrm>
          <a:prstGeom prst="roundRect">
            <a:avLst/>
          </a:prstGeom>
          <a:solidFill>
            <a:srgbClr val="EBF1F6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88720" y="4672584"/>
            <a:ext cx="530352" cy="310896"/>
          </a:xfrm>
          <a:prstGeom prst="roundRect">
            <a:avLst/>
          </a:prstGeom>
          <a:solidFill>
            <a:srgbClr val="EBF1F6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938528" y="4672584"/>
            <a:ext cx="530352" cy="310896"/>
          </a:xfrm>
          <a:prstGeom prst="roundRect">
            <a:avLst/>
          </a:prstGeom>
          <a:solidFill>
            <a:srgbClr val="EBF1F6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88336" y="4672584"/>
            <a:ext cx="530352" cy="310896"/>
          </a:xfrm>
          <a:prstGeom prst="roundRect">
            <a:avLst/>
          </a:prstGeom>
          <a:solidFill>
            <a:srgbClr val="EBF1F6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38144" y="4672584"/>
            <a:ext cx="530352" cy="310896"/>
          </a:xfrm>
          <a:prstGeom prst="roundRect">
            <a:avLst/>
          </a:prstGeom>
          <a:solidFill>
            <a:srgbClr val="EBF1F6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40280" y="5166360"/>
            <a:ext cx="822960" cy="411480"/>
          </a:xfrm>
          <a:prstGeom prst="ellipse">
            <a:avLst/>
          </a:prstGeom>
          <a:solidFill>
            <a:srgbClr val="BE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83480" y="1325880"/>
            <a:ext cx="6126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3480" y="1325880"/>
            <a:ext cx="82296" cy="914400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1490472"/>
            <a:ext cx="5715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Kézi mozgatás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1892807"/>
            <a:ext cx="571500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A tengelyek és a robot TCP-jének mozgatása.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2441448"/>
            <a:ext cx="6126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3480" y="2441448"/>
            <a:ext cx="82296" cy="914400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2606040"/>
            <a:ext cx="5715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Ponttanítás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008376"/>
            <a:ext cx="571500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Koordináták rögzítése a vezérlőben.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80" y="3557015"/>
            <a:ext cx="6126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83480" y="3557015"/>
            <a:ext cx="82296" cy="914400"/>
          </a:xfrm>
          <a:prstGeom prst="rect">
            <a:avLst/>
          </a:prstGeom>
          <a:solidFill>
            <a:srgbClr val="DE8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3721607"/>
            <a:ext cx="5715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Programkészítés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123944"/>
            <a:ext cx="571500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Utasítások felvétele és sorrendbe rendezése.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3480" y="4672584"/>
            <a:ext cx="6126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83480" y="4672584"/>
            <a:ext cx="82296" cy="914400"/>
          </a:xfrm>
          <a:prstGeom prst="rect">
            <a:avLst/>
          </a:prstGeom>
          <a:solidFill>
            <a:srgbClr val="268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4837176"/>
            <a:ext cx="5715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Diagnosztika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5239512"/>
            <a:ext cx="571500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Hibák, állapotok és I/O jelek ellenőrzése.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71D34"/>
                </a:solidFill>
                <a:latin typeface="Aptos"/>
              </a:rPr>
              <a:t>Három alapvető üzemmód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0467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D82"/>
                </a:solidFill>
                <a:latin typeface="Aptos"/>
              </a:rPr>
              <a:t>Más cél, más működési logika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5B6D82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D82"/>
                </a:solidFill>
                <a:latin typeface="Aptos"/>
              </a:rPr>
              <a:t>IAP ·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B6D82"/>
                </a:solidFill>
                <a:latin typeface="Aptos"/>
              </a:rPr>
              <a:t>28. hét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20240" y="1737360"/>
            <a:ext cx="960120" cy="960120"/>
          </a:xfrm>
          <a:prstGeom prst="ellipse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D34"/>
                </a:solidFill>
                <a:latin typeface="Aptos"/>
              </a:rPr>
              <a:t>TEACH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64992"/>
            <a:ext cx="2880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E70B7"/>
                </a:solidFill>
                <a:latin typeface="Aptos"/>
              </a:rPr>
              <a:t>Kézi tanítás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931920"/>
            <a:ext cx="2651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4243A"/>
                </a:solidFill>
                <a:latin typeface="Aptos"/>
              </a:rPr>
              <a:t>Pontok felvétele, beállítás, biztonságos kézi mozgatás.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5000" y="1737360"/>
            <a:ext cx="960120" cy="960120"/>
          </a:xfrm>
          <a:prstGeom prst="ellipse">
            <a:avLst/>
          </a:prstGeom>
          <a:solidFill>
            <a:srgbClr val="268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880360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D34"/>
                </a:solidFill>
                <a:latin typeface="Aptos"/>
              </a:rPr>
              <a:t>AUTOMATIC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364992"/>
            <a:ext cx="2880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8952"/>
                </a:solidFill>
                <a:latin typeface="Aptos"/>
              </a:rPr>
              <a:t>Automatikus futás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3931920"/>
            <a:ext cx="2651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4243A"/>
                </a:solidFill>
                <a:latin typeface="Aptos"/>
              </a:rPr>
              <a:t>A kész program önálló, ciklikus végrehajtása.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09760" y="1737360"/>
            <a:ext cx="960120" cy="960120"/>
          </a:xfrm>
          <a:prstGeom prst="ellipse">
            <a:avLst/>
          </a:prstGeom>
          <a:solidFill>
            <a:srgbClr val="DE8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880360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71D34"/>
                </a:solidFill>
                <a:latin typeface="Aptos"/>
              </a:rPr>
              <a:t>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364992"/>
            <a:ext cx="2880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DE8B24"/>
                </a:solidFill>
                <a:latin typeface="Aptos"/>
              </a:rPr>
              <a:t>Lépésenként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9368" y="3931920"/>
            <a:ext cx="2651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4243A"/>
                </a:solidFill>
                <a:latin typeface="Aptos"/>
              </a:rPr>
              <a:t>Utasításonkénti futtatás hibakereséshez.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71D34"/>
                </a:solidFill>
                <a:latin typeface="Aptos"/>
              </a:rPr>
              <a:t>Pontok betanítása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0467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D82"/>
                </a:solidFill>
                <a:latin typeface="Aptos"/>
              </a:rPr>
              <a:t>A vezérlő eltárolja a betanított pozíciók koordinátáit.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5B6D82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D82"/>
                </a:solidFill>
                <a:latin typeface="Aptos"/>
              </a:rPr>
              <a:t>IAP ·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B6D82"/>
                </a:solidFill>
                <a:latin typeface="Aptos"/>
              </a:rPr>
              <a:t>28. hét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389120"/>
            <a:ext cx="640080" cy="640080"/>
          </a:xfrm>
          <a:prstGeom prst="ellipse">
            <a:avLst/>
          </a:prstGeom>
          <a:solidFill>
            <a:srgbClr val="07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858768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71D34"/>
                </a:solidFill>
                <a:latin typeface="Aptos"/>
              </a:rPr>
              <a:t>HOME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554480" y="3246120"/>
            <a:ext cx="1280160" cy="1463039"/>
          </a:xfrm>
          <a:prstGeom prst="line">
            <a:avLst/>
          </a:prstGeom>
          <a:ln w="38100">
            <a:solidFill>
              <a:srgbClr val="DD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34640" y="2926080"/>
            <a:ext cx="640080" cy="640080"/>
          </a:xfrm>
          <a:prstGeom prst="ellipse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395728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E70B7"/>
                </a:solidFill>
                <a:latin typeface="Aptos"/>
              </a:rPr>
              <a:t>APPROACH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3246120"/>
            <a:ext cx="1325880" cy="1325880"/>
          </a:xfrm>
          <a:prstGeom prst="line">
            <a:avLst/>
          </a:prstGeom>
          <a:ln w="38100">
            <a:solidFill>
              <a:srgbClr val="DD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800600" y="4251960"/>
            <a:ext cx="640080" cy="640080"/>
          </a:xfrm>
          <a:prstGeom prst="ellipse">
            <a:avLst/>
          </a:prstGeom>
          <a:solidFill>
            <a:srgbClr val="DE8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721608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E8B24"/>
                </a:solidFill>
                <a:latin typeface="Aptos"/>
              </a:rPr>
              <a:t>PICK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440680" y="3246120"/>
            <a:ext cx="1371600" cy="1325880"/>
          </a:xfrm>
          <a:prstGeom prst="line">
            <a:avLst/>
          </a:prstGeom>
          <a:ln w="38100">
            <a:solidFill>
              <a:srgbClr val="DD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812280" y="2926080"/>
            <a:ext cx="640080" cy="640080"/>
          </a:xfrm>
          <a:prstGeom prst="ellipse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95728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B9F2"/>
                </a:solidFill>
                <a:latin typeface="Aptos"/>
              </a:rPr>
              <a:t>RETREAT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52360" y="3246120"/>
            <a:ext cx="1783080" cy="1325880"/>
          </a:xfrm>
          <a:prstGeom prst="line">
            <a:avLst/>
          </a:prstGeom>
          <a:ln w="38100">
            <a:solidFill>
              <a:srgbClr val="DD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235440" y="4251960"/>
            <a:ext cx="640080" cy="640080"/>
          </a:xfrm>
          <a:prstGeom prst="ellipse">
            <a:avLst/>
          </a:prstGeom>
          <a:solidFill>
            <a:srgbClr val="268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3721608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68952"/>
                </a:solidFill>
                <a:latin typeface="Aptos"/>
              </a:rPr>
              <a:t>PLACE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2674620"/>
            <a:ext cx="928115" cy="268833"/>
          </a:xfrm>
          <a:prstGeom prst="roundRect">
            <a:avLst/>
          </a:prstGeom>
          <a:solidFill>
            <a:srgbClr val="07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4392777" y="2226564"/>
            <a:ext cx="531267" cy="448056"/>
          </a:xfrm>
          <a:prstGeom prst="line">
            <a:avLst/>
          </a:prstGeom>
          <a:ln w="115570">
            <a:solidFill>
              <a:srgbClr val="0E7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924044" y="1810512"/>
            <a:ext cx="512064" cy="416052"/>
          </a:xfrm>
          <a:prstGeom prst="line">
            <a:avLst/>
          </a:prstGeom>
          <a:ln w="115570">
            <a:solidFill>
              <a:srgbClr val="0E7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36108" y="1810512"/>
            <a:ext cx="512063" cy="179222"/>
          </a:xfrm>
          <a:prstGeom prst="line">
            <a:avLst/>
          </a:prstGeom>
          <a:ln w="115570">
            <a:solidFill>
              <a:srgbClr val="0E7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290364" y="2572207"/>
            <a:ext cx="204825" cy="204825"/>
          </a:xfrm>
          <a:prstGeom prst="ellipse">
            <a:avLst/>
          </a:prstGeom>
          <a:solidFill>
            <a:srgbClr val="20B9F2"/>
          </a:solidFill>
          <a:ln>
            <a:solidFill>
              <a:srgbClr val="07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21631" y="2124151"/>
            <a:ext cx="204825" cy="204825"/>
          </a:xfrm>
          <a:prstGeom prst="ellipse">
            <a:avLst/>
          </a:prstGeom>
          <a:solidFill>
            <a:srgbClr val="20B9F2"/>
          </a:solidFill>
          <a:ln>
            <a:solidFill>
              <a:srgbClr val="07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33695" y="1708099"/>
            <a:ext cx="204825" cy="204825"/>
          </a:xfrm>
          <a:prstGeom prst="ellipse">
            <a:avLst/>
          </a:prstGeom>
          <a:solidFill>
            <a:srgbClr val="20B9F2"/>
          </a:solidFill>
          <a:ln>
            <a:solidFill>
              <a:srgbClr val="07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5948171" y="1989734"/>
            <a:ext cx="288036" cy="115214"/>
          </a:xfrm>
          <a:prstGeom prst="line">
            <a:avLst/>
          </a:prstGeom>
          <a:ln w="44450">
            <a:solidFill>
              <a:srgbClr val="071D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23406" y="1957730"/>
            <a:ext cx="172821" cy="147218"/>
          </a:xfrm>
          <a:prstGeom prst="line">
            <a:avLst/>
          </a:prstGeom>
          <a:ln w="26669">
            <a:solidFill>
              <a:srgbClr val="071D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223406" y="2104948"/>
            <a:ext cx="172821" cy="128016"/>
          </a:xfrm>
          <a:prstGeom prst="line">
            <a:avLst/>
          </a:prstGeom>
          <a:ln w="26669">
            <a:solidFill>
              <a:srgbClr val="071D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2960" y="539496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71D34"/>
                </a:solidFill>
                <a:latin typeface="Aptos"/>
              </a:rPr>
              <a:t>A pont neve legyen beszédes: később ebből értjük meg a program működését.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71D34"/>
                </a:solidFill>
                <a:latin typeface="Aptos"/>
              </a:rPr>
              <a:t>Alapvető robotutasítások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0467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D82"/>
                </a:solidFill>
                <a:latin typeface="Aptos"/>
              </a:rPr>
              <a:t>A mozgásparancs és az I/O művelet együtt építi fel a ciklust.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5B6D82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D82"/>
                </a:solidFill>
                <a:latin typeface="Aptos"/>
              </a:rPr>
              <a:t>IAP ·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B6D82"/>
                </a:solidFill>
                <a:latin typeface="Aptos"/>
              </a:rPr>
              <a:t>28. hét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82296" cy="1783080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9047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MoveJ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92807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Tengelymozgás</a:t>
            </a:r>
            <a:br/>
            <a:r>
              <a:t>Gyors helyváltoztatás; a pálya nem feltétlenül egyenes.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325880"/>
            <a:ext cx="82296" cy="1783080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49047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MoveL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892807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Lineáris mozgás</a:t>
            </a:r>
            <a:br/>
            <a:r>
              <a:t>A TCP egyenes vonal mentén mozog.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325880"/>
            <a:ext cx="82296" cy="1783080"/>
          </a:xfrm>
          <a:prstGeom prst="rect">
            <a:avLst/>
          </a:prstGeom>
          <a:solidFill>
            <a:srgbClr val="DE8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49047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MoveC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892807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Körív</a:t>
            </a:r>
            <a:br/>
            <a:r>
              <a:t>Íves pálya két vagy több geometriai ponttal.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566160"/>
            <a:ext cx="82296" cy="1783080"/>
          </a:xfrm>
          <a:prstGeom prst="rect">
            <a:avLst/>
          </a:prstGeom>
          <a:solidFill>
            <a:srgbClr val="5B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3075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Wait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3308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Várakozás</a:t>
            </a:r>
            <a:br/>
            <a:r>
              <a:t>Időre vagy feltételre várakozás.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3566160"/>
            <a:ext cx="82296" cy="1783080"/>
          </a:xfrm>
          <a:prstGeom prst="rect">
            <a:avLst/>
          </a:prstGeom>
          <a:solidFill>
            <a:srgbClr val="268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373075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Set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13308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Kimenet BE</a:t>
            </a:r>
            <a:br/>
            <a:r>
              <a:t>Például a megfogó zárása.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3566160"/>
            <a:ext cx="82296" cy="1783080"/>
          </a:xfrm>
          <a:prstGeom prst="rect">
            <a:avLst/>
          </a:prstGeom>
          <a:solidFill>
            <a:srgbClr val="BE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73075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Reset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13308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Kimenet KI</a:t>
            </a:r>
            <a:br/>
            <a:r>
              <a:t>Például a megfogó nyitása.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71D34"/>
                </a:solidFill>
                <a:latin typeface="Aptos"/>
              </a:rPr>
              <a:t>MoveJ vagy MoveL?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0467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D82"/>
                </a:solidFill>
                <a:latin typeface="Aptos"/>
              </a:rPr>
              <a:t>Ugyanaz a célpont, de nem ugyanaz a pálya.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5B6D82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D82"/>
                </a:solidFill>
                <a:latin typeface="Aptos"/>
              </a:rPr>
              <a:t>IAP ·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B6D82"/>
                </a:solidFill>
                <a:latin typeface="Aptos"/>
              </a:rPr>
              <a:t>28. hét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27632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E70B7"/>
                </a:solidFill>
                <a:latin typeface="Aptos"/>
              </a:rPr>
              <a:t>MoveJ · tengelymozgás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4243A"/>
                </a:solidFill>
                <a:latin typeface="Aptos"/>
              </a:rPr>
              <a:t>A robot tengelyei optimálisan mozognak.</a:t>
            </a:r>
            <a:br/>
            <a:r>
              <a:t>Gyors, de a TCP pályája nem kötött.</a:t>
            </a:r>
          </a:p>
        </p:txBody>
      </p:sp>
      <p:sp>
        <p:nvSpPr>
          <p:cNvPr id="12" name="Oval 11"/>
          <p:cNvSpPr/>
          <p:nvPr/>
        </p:nvSpPr>
        <p:spPr>
          <a:xfrm>
            <a:off x="1417320" y="4480560"/>
            <a:ext cx="384048" cy="384048"/>
          </a:xfrm>
          <a:prstGeom prst="ellipse">
            <a:avLst/>
          </a:prstGeom>
          <a:solidFill>
            <a:srgbClr val="07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7760" y="2971800"/>
            <a:ext cx="384048" cy="384048"/>
          </a:xfrm>
          <a:prstGeom prst="ellipse">
            <a:avLst/>
          </a:prstGeom>
          <a:solidFill>
            <a:srgbClr val="07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rc 13"/>
          <p:cNvSpPr/>
          <p:nvPr/>
        </p:nvSpPr>
        <p:spPr>
          <a:xfrm>
            <a:off x="1600200" y="2788920"/>
            <a:ext cx="3337560" cy="1874519"/>
          </a:xfrm>
          <a:prstGeom prst="arc">
            <a:avLst/>
          </a:prstGeom>
          <a:noFill/>
          <a:ln w="50800">
            <a:solidFill>
              <a:srgbClr val="0E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27632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0B9F2"/>
                </a:solidFill>
                <a:latin typeface="Aptos"/>
              </a:rPr>
              <a:t>MoveL · lineáris mozgás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48840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4243A"/>
                </a:solidFill>
                <a:latin typeface="Aptos"/>
              </a:rPr>
              <a:t>A TCP egyenes pályán halad.</a:t>
            </a:r>
            <a:br/>
            <a:r>
              <a:t>Hasznos megközelítésnél és technológiai mozgásnál.</a:t>
            </a:r>
          </a:p>
        </p:txBody>
      </p:sp>
      <p:sp>
        <p:nvSpPr>
          <p:cNvPr id="18" name="Oval 17"/>
          <p:cNvSpPr/>
          <p:nvPr/>
        </p:nvSpPr>
        <p:spPr>
          <a:xfrm>
            <a:off x="6995160" y="4480560"/>
            <a:ext cx="384048" cy="384048"/>
          </a:xfrm>
          <a:prstGeom prst="ellipse">
            <a:avLst/>
          </a:prstGeom>
          <a:solidFill>
            <a:srgbClr val="07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0" y="2971800"/>
            <a:ext cx="384048" cy="384048"/>
          </a:xfrm>
          <a:prstGeom prst="ellipse">
            <a:avLst/>
          </a:prstGeom>
          <a:solidFill>
            <a:srgbClr val="07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7360920" y="3154680"/>
            <a:ext cx="3154680" cy="1463040"/>
          </a:xfrm>
          <a:prstGeom prst="line">
            <a:avLst/>
          </a:prstGeom>
          <a:ln w="50800">
            <a:solidFill>
              <a:srgbClr val="20B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71D34"/>
                </a:solidFill>
                <a:latin typeface="Aptos"/>
              </a:rPr>
              <a:t>Pick &amp; Place ciklus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0467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D82"/>
                </a:solidFill>
                <a:latin typeface="Aptos"/>
              </a:rPr>
              <a:t>A ciklus lépései egyetlen áttekinthető folyamatban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5B6D82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D82"/>
                </a:solidFill>
                <a:latin typeface="Aptos"/>
              </a:rPr>
              <a:t>IAP ·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B6D82"/>
                </a:solidFill>
                <a:latin typeface="Aptos"/>
              </a:rPr>
              <a:t>28. hét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423160"/>
            <a:ext cx="1325880" cy="1051560"/>
          </a:xfrm>
          <a:prstGeom prst="roundRect">
            <a:avLst/>
          </a:prstGeom>
          <a:solidFill>
            <a:srgbClr val="07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2606040"/>
            <a:ext cx="11795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2944368"/>
            <a:ext cx="301752" cy="0"/>
          </a:xfrm>
          <a:prstGeom prst="line">
            <a:avLst/>
          </a:prstGeom>
          <a:ln w="31750">
            <a:solidFill>
              <a:srgbClr val="5B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75688" y="2423160"/>
            <a:ext cx="1325880" cy="1051560"/>
          </a:xfrm>
          <a:prstGeom prst="round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606040"/>
            <a:ext cx="11795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APPROACH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01568" y="2944368"/>
            <a:ext cx="301752" cy="0"/>
          </a:xfrm>
          <a:prstGeom prst="line">
            <a:avLst/>
          </a:prstGeom>
          <a:ln w="31750">
            <a:solidFill>
              <a:srgbClr val="5B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39896" y="2423160"/>
            <a:ext cx="1325880" cy="1051560"/>
          </a:xfrm>
          <a:prstGeom prst="roundRect">
            <a:avLst/>
          </a:prstGeom>
          <a:solidFill>
            <a:srgbClr val="DE8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2606040"/>
            <a:ext cx="11795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PICK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65776" y="2944368"/>
            <a:ext cx="301752" cy="0"/>
          </a:xfrm>
          <a:prstGeom prst="line">
            <a:avLst/>
          </a:prstGeom>
          <a:ln w="31750">
            <a:solidFill>
              <a:srgbClr val="5B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04104" y="2423160"/>
            <a:ext cx="1325880" cy="1051560"/>
          </a:xfrm>
          <a:prstGeom prst="roundRect">
            <a:avLst/>
          </a:prstGeom>
          <a:solidFill>
            <a:srgbClr val="268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77256" y="2606040"/>
            <a:ext cx="11795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GRIPPER</a:t>
            </a:r>
            <a:br/>
            <a:r>
              <a:t>CLOSE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29984" y="2944368"/>
            <a:ext cx="301752" cy="0"/>
          </a:xfrm>
          <a:prstGeom prst="line">
            <a:avLst/>
          </a:prstGeom>
          <a:ln w="31750">
            <a:solidFill>
              <a:srgbClr val="5B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68312" y="2423160"/>
            <a:ext cx="1325880" cy="1051560"/>
          </a:xfrm>
          <a:prstGeom prst="round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1464" y="2606040"/>
            <a:ext cx="11795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94192" y="2944368"/>
            <a:ext cx="301752" cy="0"/>
          </a:xfrm>
          <a:prstGeom prst="line">
            <a:avLst/>
          </a:prstGeom>
          <a:ln w="31750">
            <a:solidFill>
              <a:srgbClr val="5B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732519" y="2423160"/>
            <a:ext cx="1325880" cy="1051560"/>
          </a:xfrm>
          <a:prstGeom prst="roundRect">
            <a:avLst/>
          </a:prstGeom>
          <a:solidFill>
            <a:srgbClr val="BE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2606040"/>
            <a:ext cx="11795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GRIPPER</a:t>
            </a:r>
            <a:br/>
            <a:r>
              <a:t>OPEN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58399" y="2944368"/>
            <a:ext cx="301752" cy="0"/>
          </a:xfrm>
          <a:prstGeom prst="line">
            <a:avLst/>
          </a:prstGeom>
          <a:ln w="31750">
            <a:solidFill>
              <a:srgbClr val="5B6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396728" y="2423160"/>
            <a:ext cx="1325880" cy="1051560"/>
          </a:xfrm>
          <a:prstGeom prst="roundRect">
            <a:avLst/>
          </a:prstGeom>
          <a:solidFill>
            <a:srgbClr val="07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9880" y="2606040"/>
            <a:ext cx="11795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052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71D34"/>
                </a:solidFill>
                <a:latin typeface="Aptos"/>
              </a:rPr>
              <a:t>Mozgás → pozíció → megfogó vezérlése → új pozíció → elengedés → visszatérés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9418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B6D82"/>
                </a:solidFill>
                <a:latin typeface="Aptos"/>
              </a:rPr>
              <a:t>A megbízható ciklushoz a pontok, a sorrend és az I/O jelek egyaránt szükségesek.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71D34"/>
                </a:solidFill>
                <a:latin typeface="Aptos"/>
              </a:rPr>
              <a:t>Egy egyszerű program logikája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0467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D82"/>
                </a:solidFill>
                <a:latin typeface="Aptos"/>
              </a:rPr>
              <a:t>Szemléltető pszeudokód – a gyártói szintaxis eltérhet.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5B6D82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D82"/>
                </a:solidFill>
                <a:latin typeface="Aptos"/>
              </a:rPr>
              <a:t>IAP ·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B6D82"/>
                </a:solidFill>
                <a:latin typeface="Aptos"/>
              </a:rPr>
              <a:t>28. hét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6492240" cy="4480560"/>
          </a:xfrm>
          <a:prstGeom prst="roundRect">
            <a:avLst/>
          </a:prstGeom>
          <a:solidFill>
            <a:srgbClr val="071D34"/>
          </a:solidFill>
          <a:ln>
            <a:solidFill>
              <a:srgbClr val="07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7276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0B9F2"/>
                </a:solidFill>
                <a:latin typeface="Apto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572768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MoveJ 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0B9F2"/>
                </a:solidFill>
                <a:latin typeface="Aptos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11680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MoveJ 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450591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0B9F2"/>
                </a:solidFill>
                <a:latin typeface="Aptos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450591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MoveL  PICK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9504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0B9F2"/>
                </a:solidFill>
                <a:latin typeface="Aptos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889504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Set Output  GRIPPER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28415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0B9F2"/>
                </a:solidFill>
                <a:latin typeface="Aptos Mono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328415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Wait  0.5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673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0B9F2"/>
                </a:solidFill>
                <a:latin typeface="Aptos Mono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767328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MoveL  RETREAT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0624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0B9F2"/>
                </a:solidFill>
                <a:latin typeface="Aptos Mono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06240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MoveJ  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4515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0B9F2"/>
                </a:solidFill>
                <a:latin typeface="Aptos Mono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64515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Reset Output  GRIPPER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084064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0B9F2"/>
                </a:solidFill>
                <a:latin typeface="Aptos Mono"/>
              </a:rPr>
              <a:t>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084064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 Mono"/>
              </a:rPr>
              <a:t>MoveJ  HOME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1508760"/>
            <a:ext cx="3657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35240" y="1508760"/>
            <a:ext cx="82296" cy="1280160"/>
          </a:xfrm>
          <a:prstGeom prst="rect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1673351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Mozgás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075688"/>
            <a:ext cx="324612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MoveJ / MoveL a betanított pontok között.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2971800"/>
            <a:ext cx="3657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35240" y="2971800"/>
            <a:ext cx="82296" cy="1280160"/>
          </a:xfrm>
          <a:prstGeom prst="rect">
            <a:avLst/>
          </a:prstGeom>
          <a:solidFill>
            <a:srgbClr val="268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3136392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I/O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538728"/>
            <a:ext cx="324612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Set / Reset Output vezérli a megfogót.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4434840"/>
            <a:ext cx="3657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35240" y="4434840"/>
            <a:ext cx="82296" cy="1280160"/>
          </a:xfrm>
          <a:prstGeom prst="rect">
            <a:avLst/>
          </a:prstGeom>
          <a:solidFill>
            <a:srgbClr val="DE8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4599431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71D34"/>
                </a:solidFill>
                <a:latin typeface="Aptos"/>
              </a:rPr>
              <a:t>Időzítés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001768"/>
            <a:ext cx="324612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43A"/>
                </a:solidFill>
                <a:latin typeface="Aptos"/>
              </a:rPr>
              <a:t>Wait biztosíthat időt a művelet végrehajtására.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71D34"/>
                </a:solidFill>
                <a:latin typeface="Aptos"/>
              </a:rPr>
              <a:t>Gyakorlati munkamenet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0467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D82"/>
                </a:solidFill>
                <a:latin typeface="Aptos"/>
              </a:rPr>
              <a:t>Hogyan építsünk fel biztonságosan egy Pick &amp; Place programot?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5B6D82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D82"/>
                </a:solidFill>
                <a:latin typeface="Aptos"/>
              </a:rPr>
              <a:t>IAP ·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B6D82"/>
                </a:solidFill>
                <a:latin typeface="Aptos"/>
              </a:rPr>
              <a:t>28. hét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234440"/>
            <a:ext cx="566928" cy="566928"/>
          </a:xfrm>
          <a:prstGeom prst="ellipse">
            <a:avLst/>
          </a:prstGeom>
          <a:solidFill>
            <a:srgbClr val="0E7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07592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21615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71D34"/>
                </a:solidFill>
                <a:latin typeface="Aptos"/>
              </a:rPr>
              <a:t>Teach mód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216152"/>
            <a:ext cx="7132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Biztonságos kézi mozgatás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06424" y="1801368"/>
            <a:ext cx="0" cy="365760"/>
          </a:xfrm>
          <a:prstGeom prst="line">
            <a:avLst/>
          </a:prstGeom>
          <a:ln w="25400">
            <a:solidFill>
              <a:srgbClr val="DD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22960" y="2176272"/>
            <a:ext cx="566928" cy="566928"/>
          </a:xfrm>
          <a:prstGeom prst="ellipse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249424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2157984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71D34"/>
                </a:solidFill>
                <a:latin typeface="Aptos"/>
              </a:rPr>
              <a:t>Pontfelvétel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157984"/>
            <a:ext cx="7132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Home, Approach, Pick, Retreat, Place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06424" y="2743200"/>
            <a:ext cx="0" cy="365760"/>
          </a:xfrm>
          <a:prstGeom prst="line">
            <a:avLst/>
          </a:prstGeom>
          <a:ln w="25400">
            <a:solidFill>
              <a:srgbClr val="DD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22960" y="3118104"/>
            <a:ext cx="566928" cy="566928"/>
          </a:xfrm>
          <a:prstGeom prst="ellipse">
            <a:avLst/>
          </a:prstGeom>
          <a:solidFill>
            <a:srgbClr val="DE8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91256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099816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71D34"/>
                </a:solidFill>
                <a:latin typeface="Aptos"/>
              </a:rPr>
              <a:t>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099816"/>
            <a:ext cx="7132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Mozgás + I/O + várakozás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06424" y="3685032"/>
            <a:ext cx="0" cy="365759"/>
          </a:xfrm>
          <a:prstGeom prst="line">
            <a:avLst/>
          </a:prstGeom>
          <a:ln w="25400">
            <a:solidFill>
              <a:srgbClr val="DD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22960" y="4059935"/>
            <a:ext cx="566928" cy="566928"/>
          </a:xfrm>
          <a:prstGeom prst="ellipse">
            <a:avLst/>
          </a:prstGeom>
          <a:solidFill>
            <a:srgbClr val="5B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33087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404164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71D34"/>
                </a:solidFill>
                <a:latin typeface="Aptos"/>
              </a:rPr>
              <a:t>Step teszt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041648"/>
            <a:ext cx="7132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Utasításonkénti ellenőrzés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06424" y="4626864"/>
            <a:ext cx="0" cy="365759"/>
          </a:xfrm>
          <a:prstGeom prst="line">
            <a:avLst/>
          </a:prstGeom>
          <a:ln w="25400">
            <a:solidFill>
              <a:srgbClr val="DD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22960" y="5001768"/>
            <a:ext cx="566928" cy="566928"/>
          </a:xfrm>
          <a:prstGeom prst="ellipse">
            <a:avLst/>
          </a:prstGeom>
          <a:solidFill>
            <a:srgbClr val="268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0749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498348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71D34"/>
                </a:solidFill>
                <a:latin typeface="Aptos"/>
              </a:rPr>
              <a:t>Automatic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4983480"/>
            <a:ext cx="7132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Csak ellenőrzött programmal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20B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71D34"/>
                </a:solidFill>
                <a:latin typeface="Aptos"/>
              </a:rPr>
              <a:t>Összefoglalás és 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0467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D82"/>
                </a:solidFill>
                <a:latin typeface="Aptos"/>
              </a:rPr>
              <a:t>A hét kulcsfogalmai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5B6D82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D82"/>
                </a:solidFill>
                <a:latin typeface="Aptos"/>
              </a:rPr>
              <a:t>IAP ·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B6D82"/>
                </a:solidFill>
                <a:latin typeface="Aptos"/>
              </a:rPr>
              <a:t>28. hét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5074920" cy="4526280"/>
          </a:xfrm>
          <a:prstGeom prst="roundRect">
            <a:avLst/>
          </a:prstGeom>
          <a:solidFill>
            <a:srgbClr val="F1F7FB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36192"/>
            <a:ext cx="4526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71D34"/>
                </a:solidFill>
                <a:latin typeface="Aptos"/>
              </a:rPr>
              <a:t>Amit tudnod kell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2996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0B9F2"/>
                </a:solidFill>
                <a:latin typeface="Apto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993392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Teach Pendant szerepe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51176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0B9F2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514600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Teach · Automatic · Step üzemmód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7238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0B9F2"/>
                </a:solidFill>
                <a:latin typeface="Aptos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035808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Home · Approach · Pick · Retreat · 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9359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0B9F2"/>
                </a:solidFill>
                <a:latin typeface="Aptos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557016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MoveJ · MoveL · MoveC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0B9F2"/>
                </a:solidFill>
                <a:latin typeface="Aptos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078224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Wait · Set Output · Reset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3600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0B9F2"/>
                </a:solidFill>
                <a:latin typeface="Aptos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599431"/>
            <a:ext cx="4069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Pick &amp; Place ciklus felépítése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2344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361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71D34"/>
                </a:solidFill>
                <a:latin typeface="Aptos"/>
              </a:rPr>
              <a:t>Ellenőrző kérdések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01168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E70B7"/>
                </a:solidFill>
                <a:latin typeface="Aptos"/>
              </a:rPr>
              <a:t>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1984248"/>
            <a:ext cx="4069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Mi a Teach Pendant feladata?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633472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E70B7"/>
                </a:solidFill>
                <a:latin typeface="Aptos"/>
              </a:rPr>
              <a:t>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2606040"/>
            <a:ext cx="4069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Milyen üzemmódokat ismersz?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55264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E70B7"/>
                </a:solidFill>
                <a:latin typeface="Aptos"/>
              </a:rPr>
              <a:t>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227832"/>
            <a:ext cx="4069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Miért fontos a pontok betanítása?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877056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E70B7"/>
                </a:solidFill>
                <a:latin typeface="Aptos"/>
              </a:rPr>
              <a:t>4.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3849624"/>
            <a:ext cx="4069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Mi a különbség a MoveJ és MoveL között?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98848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E70B7"/>
                </a:solidFill>
                <a:latin typeface="Aptos"/>
              </a:rPr>
              <a:t>5.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4471416"/>
            <a:ext cx="4069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Aptos"/>
              </a:rPr>
              <a:t>Hogyan épül fel egy Pick &amp; Place ciklus?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989320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B6D82"/>
                </a:solidFill>
                <a:latin typeface="Aptos"/>
              </a:rPr>
              <a:t>„A jól felépített robotprogram nemcsak működik, hanem évekkel később is könnyen érthető és módosítható.”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