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4630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4389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CDDAE5"/>
                </a:solidFill>
                <a:latin typeface="Aptos"/>
              </a:defRPr>
            </a:pPr>
            <a:r>
              <a:t>27. hét • Folyamatirányítás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08760"/>
            <a:ext cx="6858000" cy="1325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900" b="1">
                <a:solidFill>
                  <a:srgbClr val="E69130"/>
                </a:solidFill>
                <a:latin typeface="Aptos"/>
              </a:defRPr>
            </a:pPr>
            <a:r>
              <a:t>ROBOTKOORDINÁTA-</a:t>
            </a:r>
            <a:br/>
            <a:r>
              <a:t>RENDSZEREK ÉS MOZGÁSOK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063240"/>
            <a:ext cx="68580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ptos"/>
              </a:defRPr>
            </a:pPr>
            <a:r>
              <a:t>World • Base • TCP • Workpiece • Joint • Linear • Circular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595360" y="4389120"/>
            <a:ext cx="1714500" cy="0"/>
          </a:xfrm>
          <a:prstGeom prst="line">
            <a:avLst/>
          </a:prstGeom>
          <a:ln w="50800">
            <a:solidFill>
              <a:srgbClr val="C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8595360" y="2674620"/>
            <a:ext cx="0" cy="1714500"/>
          </a:xfrm>
          <a:prstGeom prst="line">
            <a:avLst/>
          </a:prstGeom>
          <a:ln w="50800">
            <a:solidFill>
              <a:srgbClr val="3D9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8595360" y="3360420"/>
            <a:ext cx="1028700" cy="1028700"/>
          </a:xfrm>
          <a:prstGeom prst="line">
            <a:avLst/>
          </a:prstGeom>
          <a:ln w="50800">
            <a:solidFill>
              <a:srgbClr val="2369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309860" y="4251959"/>
            <a:ext cx="274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200" b="1">
                <a:solidFill>
                  <a:srgbClr val="C44444"/>
                </a:solidFill>
                <a:latin typeface="Aptos"/>
              </a:defRPr>
            </a:pPr>
            <a:r>
              <a:t>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2331720"/>
            <a:ext cx="274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200" b="1">
                <a:solidFill>
                  <a:srgbClr val="3D9169"/>
                </a:solidFill>
                <a:latin typeface="Aptos"/>
              </a:defRPr>
            </a:pPr>
            <a:r>
              <a:t>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81210" y="3131820"/>
            <a:ext cx="274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200" b="1">
                <a:solidFill>
                  <a:srgbClr val="2369A0"/>
                </a:solidFill>
                <a:latin typeface="Aptos"/>
              </a:defRPr>
            </a:pPr>
            <a:r>
              <a:t>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645920"/>
            <a:ext cx="2468880" cy="1097280"/>
          </a:xfrm>
          <a:prstGeom prst="roundRect">
            <a:avLst/>
          </a:prstGeom>
          <a:solidFill>
            <a:srgbClr val="1C3449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2520" y="1965960"/>
            <a:ext cx="1554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300" b="1">
                <a:solidFill>
                  <a:srgbClr val="36ACC4"/>
                </a:solidFill>
                <a:latin typeface="Aptos"/>
              </a:defRPr>
            </a:pPr>
            <a:r>
              <a:t>TCP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Négy fontos koordináta-rendszer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A robotmozgás mindig valamilyen viszonyítási rendszerben értelmezhető.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27.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233172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645919" y="2971800"/>
            <a:ext cx="754381" cy="0"/>
          </a:xfrm>
          <a:prstGeom prst="line">
            <a:avLst/>
          </a:prstGeom>
          <a:ln w="50800">
            <a:solidFill>
              <a:srgbClr val="C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645919" y="2217420"/>
            <a:ext cx="0" cy="754380"/>
          </a:xfrm>
          <a:prstGeom prst="line">
            <a:avLst/>
          </a:prstGeom>
          <a:ln w="50800">
            <a:solidFill>
              <a:srgbClr val="3D9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645919" y="2519172"/>
            <a:ext cx="452629" cy="452628"/>
          </a:xfrm>
          <a:prstGeom prst="line">
            <a:avLst/>
          </a:prstGeom>
          <a:ln w="50800">
            <a:solidFill>
              <a:srgbClr val="2369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400300" y="2834640"/>
            <a:ext cx="274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200" b="1">
                <a:solidFill>
                  <a:srgbClr val="C44444"/>
                </a:solidFill>
                <a:latin typeface="Aptos"/>
              </a:defRPr>
            </a:pPr>
            <a:r>
              <a:t>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066543"/>
            <a:ext cx="274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200" b="1">
                <a:solidFill>
                  <a:srgbClr val="3D9169"/>
                </a:solidFill>
                <a:latin typeface="Aptos"/>
              </a:defRPr>
            </a:pPr>
            <a:r>
              <a:t>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23694" y="2418588"/>
            <a:ext cx="274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200" b="1">
                <a:solidFill>
                  <a:srgbClr val="2369A0"/>
                </a:solidFill>
                <a:latin typeface="Aptos"/>
              </a:defRPr>
            </a:pPr>
            <a:r>
              <a:t>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886200"/>
            <a:ext cx="19659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369A0"/>
                </a:solidFill>
                <a:latin typeface="Aptos"/>
              </a:defRPr>
            </a:pPr>
            <a:r>
              <a:t>WORLD</a:t>
            </a:r>
            <a:br/>
            <a:r>
              <a:t>világ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1600200"/>
            <a:ext cx="233172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4480560" y="2971800"/>
            <a:ext cx="754380" cy="0"/>
          </a:xfrm>
          <a:prstGeom prst="line">
            <a:avLst/>
          </a:prstGeom>
          <a:ln w="50800">
            <a:solidFill>
              <a:srgbClr val="C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4480560" y="2217420"/>
            <a:ext cx="0" cy="754380"/>
          </a:xfrm>
          <a:prstGeom prst="line">
            <a:avLst/>
          </a:prstGeom>
          <a:ln w="50800">
            <a:solidFill>
              <a:srgbClr val="3D9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4480560" y="2519172"/>
            <a:ext cx="452628" cy="452628"/>
          </a:xfrm>
          <a:prstGeom prst="line">
            <a:avLst/>
          </a:prstGeom>
          <a:ln w="50800">
            <a:solidFill>
              <a:srgbClr val="2369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234940" y="2834640"/>
            <a:ext cx="274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200" b="1">
                <a:solidFill>
                  <a:srgbClr val="C44444"/>
                </a:solidFill>
                <a:latin typeface="Aptos"/>
              </a:defRPr>
            </a:pPr>
            <a:r>
              <a:t>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2066543"/>
            <a:ext cx="274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200" b="1">
                <a:solidFill>
                  <a:srgbClr val="3D9169"/>
                </a:solidFill>
                <a:latin typeface="Aptos"/>
              </a:defRPr>
            </a:pPr>
            <a:r>
              <a:t>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58334" y="2418588"/>
            <a:ext cx="274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200" b="1">
                <a:solidFill>
                  <a:srgbClr val="2369A0"/>
                </a:solidFill>
                <a:latin typeface="Aptos"/>
              </a:defRPr>
            </a:pPr>
            <a:r>
              <a:t>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3886200"/>
            <a:ext cx="19659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3D9169"/>
                </a:solidFill>
                <a:latin typeface="Aptos"/>
              </a:defRPr>
            </a:pPr>
            <a:r>
              <a:t>BASE</a:t>
            </a:r>
            <a:br/>
            <a:r>
              <a:t>bázis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600200"/>
            <a:ext cx="233172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7315200" y="2971800"/>
            <a:ext cx="754379" cy="0"/>
          </a:xfrm>
          <a:prstGeom prst="line">
            <a:avLst/>
          </a:prstGeom>
          <a:ln w="50800">
            <a:solidFill>
              <a:srgbClr val="C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7315200" y="2217420"/>
            <a:ext cx="0" cy="754380"/>
          </a:xfrm>
          <a:prstGeom prst="line">
            <a:avLst/>
          </a:prstGeom>
          <a:ln w="50800">
            <a:solidFill>
              <a:srgbClr val="3D9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7315200" y="2519172"/>
            <a:ext cx="452627" cy="452628"/>
          </a:xfrm>
          <a:prstGeom prst="line">
            <a:avLst/>
          </a:prstGeom>
          <a:ln w="50800">
            <a:solidFill>
              <a:srgbClr val="2369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069579" y="2834640"/>
            <a:ext cx="274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200" b="1">
                <a:solidFill>
                  <a:srgbClr val="C44444"/>
                </a:solidFill>
                <a:latin typeface="Aptos"/>
              </a:defRPr>
            </a:pPr>
            <a:r>
              <a:t>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2066543"/>
            <a:ext cx="274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200" b="1">
                <a:solidFill>
                  <a:srgbClr val="3D9169"/>
                </a:solidFill>
                <a:latin typeface="Aptos"/>
              </a:defRPr>
            </a:pPr>
            <a:r>
              <a:t>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92974" y="2418588"/>
            <a:ext cx="274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200" b="1">
                <a:solidFill>
                  <a:srgbClr val="2369A0"/>
                </a:solidFill>
                <a:latin typeface="Aptos"/>
              </a:defRPr>
            </a:pPr>
            <a:r>
              <a:t>Z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886200"/>
            <a:ext cx="19659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E69130"/>
                </a:solidFill>
                <a:latin typeface="Aptos"/>
              </a:defRPr>
            </a:pPr>
            <a:r>
              <a:t>TOOL / TCP</a:t>
            </a:r>
            <a:br/>
            <a:r>
              <a:t>szerszám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98280" y="1600200"/>
            <a:ext cx="233172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10149840" y="2971800"/>
            <a:ext cx="754380" cy="0"/>
          </a:xfrm>
          <a:prstGeom prst="line">
            <a:avLst/>
          </a:prstGeom>
          <a:ln w="50800">
            <a:solidFill>
              <a:srgbClr val="C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10149840" y="2217420"/>
            <a:ext cx="0" cy="754380"/>
          </a:xfrm>
          <a:prstGeom prst="line">
            <a:avLst/>
          </a:prstGeom>
          <a:ln w="50800">
            <a:solidFill>
              <a:srgbClr val="3D9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0149840" y="2519172"/>
            <a:ext cx="452628" cy="452628"/>
          </a:xfrm>
          <a:prstGeom prst="line">
            <a:avLst/>
          </a:prstGeom>
          <a:ln w="50800">
            <a:solidFill>
              <a:srgbClr val="2369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0904220" y="2834640"/>
            <a:ext cx="274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200" b="1">
                <a:solidFill>
                  <a:srgbClr val="C44444"/>
                </a:solidFill>
                <a:latin typeface="Aptos"/>
              </a:defRPr>
            </a:pPr>
            <a:r>
              <a:t>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12680" y="2066543"/>
            <a:ext cx="274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200" b="1">
                <a:solidFill>
                  <a:srgbClr val="3D9169"/>
                </a:solidFill>
                <a:latin typeface="Aptos"/>
              </a:defRPr>
            </a:pPr>
            <a:r>
              <a:t>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27614" y="2418588"/>
            <a:ext cx="274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200" b="1">
                <a:solidFill>
                  <a:srgbClr val="2369A0"/>
                </a:solidFill>
                <a:latin typeface="Aptos"/>
              </a:defRPr>
            </a:pPr>
            <a:r>
              <a:t>Z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81160" y="3886200"/>
            <a:ext cx="19659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36ACC4"/>
                </a:solidFill>
                <a:latin typeface="Aptos"/>
              </a:defRPr>
            </a:pPr>
            <a:r>
              <a:t>WORKPIECE</a:t>
            </a:r>
            <a:br/>
            <a:r>
              <a:t>munkadarab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Világ- és báziskoordináta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Közös cellareferencia kontra a robot talpához kötött referencia.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27.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493776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3891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2369A0"/>
                </a:solidFill>
                <a:latin typeface="Aptos"/>
              </a:defRPr>
            </a:pPr>
            <a:r>
              <a:t>WORLD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60320" y="4206240"/>
            <a:ext cx="1097280" cy="0"/>
          </a:xfrm>
          <a:prstGeom prst="line">
            <a:avLst/>
          </a:prstGeom>
          <a:ln w="50800">
            <a:solidFill>
              <a:srgbClr val="C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2560320" y="3108959"/>
            <a:ext cx="0" cy="1097281"/>
          </a:xfrm>
          <a:prstGeom prst="line">
            <a:avLst/>
          </a:prstGeom>
          <a:ln w="50800">
            <a:solidFill>
              <a:srgbClr val="3D9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2560320" y="3547871"/>
            <a:ext cx="658368" cy="658369"/>
          </a:xfrm>
          <a:prstGeom prst="line">
            <a:avLst/>
          </a:prstGeom>
          <a:ln w="50800">
            <a:solidFill>
              <a:srgbClr val="2369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657600" y="4069079"/>
            <a:ext cx="274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200" b="1">
                <a:solidFill>
                  <a:srgbClr val="C44444"/>
                </a:solidFill>
                <a:latin typeface="Aptos"/>
              </a:defRPr>
            </a:pPr>
            <a:r>
              <a:t>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2889503"/>
            <a:ext cx="274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200" b="1">
                <a:solidFill>
                  <a:srgbClr val="3D9169"/>
                </a:solidFill>
                <a:latin typeface="Aptos"/>
              </a:defRPr>
            </a:pPr>
            <a:r>
              <a:t>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55263" y="3401568"/>
            <a:ext cx="274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200" b="1">
                <a:solidFill>
                  <a:srgbClr val="2369A0"/>
                </a:solidFill>
                <a:latin typeface="Aptos"/>
              </a:defRPr>
            </a:pPr>
            <a:r>
              <a:t>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434840"/>
            <a:ext cx="3931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0">
                <a:solidFill>
                  <a:srgbClr val="25323D"/>
                </a:solidFill>
                <a:latin typeface="Aptos"/>
              </a:defRPr>
            </a:pPr>
            <a:r>
              <a:t>a teljes robotcella</a:t>
            </a:r>
            <a:br/>
            <a:r>
              <a:t>közös viszonyítási rendszere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1508760"/>
            <a:ext cx="493776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1828800"/>
            <a:ext cx="43891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3D9169"/>
                </a:solidFill>
                <a:latin typeface="Aptos"/>
              </a:defRPr>
            </a:pPr>
            <a:r>
              <a:t>BASE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321040" y="4206240"/>
            <a:ext cx="1097280" cy="0"/>
          </a:xfrm>
          <a:prstGeom prst="line">
            <a:avLst/>
          </a:prstGeom>
          <a:ln w="50800">
            <a:solidFill>
              <a:srgbClr val="C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8321040" y="3108959"/>
            <a:ext cx="0" cy="1097281"/>
          </a:xfrm>
          <a:prstGeom prst="line">
            <a:avLst/>
          </a:prstGeom>
          <a:ln w="50800">
            <a:solidFill>
              <a:srgbClr val="3D9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8321040" y="3547871"/>
            <a:ext cx="658368" cy="658369"/>
          </a:xfrm>
          <a:prstGeom prst="line">
            <a:avLst/>
          </a:prstGeom>
          <a:ln w="50800">
            <a:solidFill>
              <a:srgbClr val="2369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418320" y="4069079"/>
            <a:ext cx="274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200" b="1">
                <a:solidFill>
                  <a:srgbClr val="C44444"/>
                </a:solidFill>
                <a:latin typeface="Aptos"/>
              </a:defRPr>
            </a:pPr>
            <a:r>
              <a:t>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2889503"/>
            <a:ext cx="274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200" b="1">
                <a:solidFill>
                  <a:srgbClr val="3D9169"/>
                </a:solidFill>
                <a:latin typeface="Aptos"/>
              </a:defRPr>
            </a:pPr>
            <a:r>
              <a:t>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15984" y="3401568"/>
            <a:ext cx="274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200" b="1">
                <a:solidFill>
                  <a:srgbClr val="2369A0"/>
                </a:solidFill>
                <a:latin typeface="Aptos"/>
              </a:defRPr>
            </a:pPr>
            <a:r>
              <a:t>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4434840"/>
            <a:ext cx="3931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0">
                <a:solidFill>
                  <a:srgbClr val="25323D"/>
                </a:solidFill>
                <a:latin typeface="Aptos"/>
              </a:defRPr>
            </a:pPr>
            <a:r>
              <a:t>a robot talpához</a:t>
            </a:r>
            <a:br/>
            <a:r>
              <a:t>kapcsolódik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TCP és munkadarab-koordináta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A szerszám működési pontja és a munkadarabhoz kötött referencia.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27.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50749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3891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E69130"/>
                </a:solidFill>
                <a:latin typeface="Aptos"/>
              </a:defRPr>
            </a:pPr>
            <a:r>
              <a:t>TCP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423160"/>
            <a:ext cx="42976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02336"/>
                </a:solidFill>
                <a:latin typeface="Aptos"/>
              </a:defRPr>
            </a:pPr>
            <a:r>
              <a:t>Tool Center 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46120"/>
            <a:ext cx="42062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0">
                <a:solidFill>
                  <a:srgbClr val="25323D"/>
                </a:solidFill>
                <a:latin typeface="Aptos"/>
              </a:defRPr>
            </a:pPr>
            <a:r>
              <a:t>a szerszám működési pontja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554480"/>
            <a:ext cx="50749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1828800"/>
            <a:ext cx="43891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300" b="1">
                <a:solidFill>
                  <a:srgbClr val="36ACC4"/>
                </a:solidFill>
                <a:latin typeface="Aptos"/>
              </a:defRPr>
            </a:pPr>
            <a:r>
              <a:t>WORKPIECE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2423160"/>
            <a:ext cx="43891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02336"/>
                </a:solidFill>
                <a:latin typeface="Aptos"/>
              </a:defRPr>
            </a:pPr>
            <a:r>
              <a:t>munkadarab-koordináta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154680"/>
            <a:ext cx="43891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0">
                <a:solidFill>
                  <a:srgbClr val="25323D"/>
                </a:solidFill>
                <a:latin typeface="Aptos"/>
              </a:defRPr>
            </a:pPr>
            <a:r>
              <a:t>egyszerűbb program-módosítás</a:t>
            </a:r>
            <a:br/>
            <a:r>
              <a:t>eltérő munkadarab-helyzeteknél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Három alapvető robotmozgás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Joint, Linear és Circular Move.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27.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554480"/>
            <a:ext cx="352044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2971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2369A0"/>
                </a:solidFill>
                <a:latin typeface="Aptos"/>
              </a:defRPr>
            </a:pPr>
            <a:r>
              <a:t>JOINT MOVE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343400"/>
            <a:ext cx="2971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0">
                <a:solidFill>
                  <a:srgbClr val="25323D"/>
                </a:solidFill>
                <a:latin typeface="Aptos"/>
              </a:defRPr>
            </a:pPr>
            <a:r>
              <a:t>gyors tengelymozgás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554480"/>
            <a:ext cx="352044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828800"/>
            <a:ext cx="2971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3D9169"/>
                </a:solidFill>
                <a:latin typeface="Aptos"/>
              </a:defRPr>
            </a:pPr>
            <a:r>
              <a:t>LINEAR MOVE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4343400"/>
            <a:ext cx="2971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0">
                <a:solidFill>
                  <a:srgbClr val="25323D"/>
                </a:solidFill>
                <a:latin typeface="Aptos"/>
              </a:defRPr>
            </a:pPr>
            <a:r>
              <a:t>egyenes vonalú mozgás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554480"/>
            <a:ext cx="352044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9640" y="1828800"/>
            <a:ext cx="2971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E69130"/>
                </a:solidFill>
                <a:latin typeface="Aptos"/>
              </a:defRPr>
            </a:pPr>
            <a:r>
              <a:t>CIRCULAR MOVE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4343400"/>
            <a:ext cx="2971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0">
                <a:solidFill>
                  <a:srgbClr val="25323D"/>
                </a:solidFill>
                <a:latin typeface="Aptos"/>
              </a:defRPr>
            </a:pPr>
            <a:r>
              <a:t>köríves mozgás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4892040" y="2606040"/>
            <a:ext cx="2423160" cy="1280160"/>
          </a:xfrm>
          <a:prstGeom prst="line">
            <a:avLst/>
          </a:prstGeom>
          <a:ln w="63500">
            <a:solidFill>
              <a:srgbClr val="3D9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8869680" y="3291840"/>
            <a:ext cx="365760" cy="594360"/>
          </a:xfrm>
          <a:prstGeom prst="line">
            <a:avLst/>
          </a:prstGeom>
          <a:ln w="63500">
            <a:solidFill>
              <a:srgbClr val="E691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9235440" y="2880360"/>
            <a:ext cx="548640" cy="411480"/>
          </a:xfrm>
          <a:prstGeom prst="line">
            <a:avLst/>
          </a:prstGeom>
          <a:ln w="63500">
            <a:solidFill>
              <a:srgbClr val="E691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9784080" y="2743200"/>
            <a:ext cx="640080" cy="137160"/>
          </a:xfrm>
          <a:prstGeom prst="line">
            <a:avLst/>
          </a:prstGeom>
          <a:ln w="63500">
            <a:solidFill>
              <a:srgbClr val="E691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424160" y="2743200"/>
            <a:ext cx="640080" cy="228600"/>
          </a:xfrm>
          <a:prstGeom prst="line">
            <a:avLst/>
          </a:prstGeom>
          <a:ln w="63500">
            <a:solidFill>
              <a:srgbClr val="E691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914400" y="2834640"/>
            <a:ext cx="411480" cy="914399"/>
          </a:xfrm>
          <a:prstGeom prst="line">
            <a:avLst/>
          </a:prstGeom>
          <a:ln w="38100">
            <a:solidFill>
              <a:srgbClr val="2369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417320" y="2697480"/>
            <a:ext cx="411480" cy="1051559"/>
          </a:xfrm>
          <a:prstGeom prst="line">
            <a:avLst/>
          </a:prstGeom>
          <a:ln w="38100">
            <a:solidFill>
              <a:srgbClr val="2369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920240" y="2560320"/>
            <a:ext cx="411480" cy="1188719"/>
          </a:xfrm>
          <a:prstGeom prst="line">
            <a:avLst/>
          </a:prstGeom>
          <a:ln w="38100">
            <a:solidFill>
              <a:srgbClr val="2369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423160" y="2423160"/>
            <a:ext cx="411480" cy="1325879"/>
          </a:xfrm>
          <a:prstGeom prst="line">
            <a:avLst/>
          </a:prstGeom>
          <a:ln w="38100">
            <a:solidFill>
              <a:srgbClr val="2369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Hol számít a helyes mozgásválasztás?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Tipikus ipari alkalmazások.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27.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697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369A0"/>
                </a:solidFill>
                <a:latin typeface="Aptos"/>
              </a:defRPr>
            </a:pPr>
            <a:r>
              <a:t>ALKATRÉSZKEZELÉS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0876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920240"/>
            <a:ext cx="2697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C44444"/>
                </a:solidFill>
                <a:latin typeface="Aptos"/>
              </a:defRPr>
            </a:pPr>
            <a:r>
              <a:t>HEGESZTÉS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50876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920240"/>
            <a:ext cx="2697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3D9169"/>
                </a:solidFill>
                <a:latin typeface="Aptos"/>
              </a:defRPr>
            </a:pPr>
            <a:r>
              <a:t>RAGASZTÁS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2900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40480"/>
            <a:ext cx="2697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36ACC4"/>
                </a:solidFill>
                <a:latin typeface="Aptos"/>
              </a:defRPr>
            </a:pPr>
            <a:r>
              <a:t>FESTÉS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342900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3840480"/>
            <a:ext cx="2697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E69130"/>
                </a:solidFill>
                <a:latin typeface="Aptos"/>
              </a:defRPr>
            </a:pPr>
            <a:r>
              <a:t>SZERELÉS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342900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10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3840480"/>
            <a:ext cx="2697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02336"/>
                </a:solidFill>
                <a:latin typeface="Aptos"/>
              </a:defRPr>
            </a:pPr>
            <a:r>
              <a:t>ANYAGMOZGATÁS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Gyakorlati kihívás: Pick &amp; Place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Alkatrész a szállítószalagról a szerelőállomásra.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27.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20240"/>
            <a:ext cx="27432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22860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369A0"/>
                </a:solidFill>
                <a:latin typeface="Aptos"/>
              </a:defRPr>
            </a:pPr>
            <a:r>
              <a:t>SZÁLLÍTÓSZALAG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1600200"/>
            <a:ext cx="24688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2057400"/>
            <a:ext cx="18288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E69130"/>
                </a:solidFill>
                <a:latin typeface="Aptos"/>
              </a:defRPr>
            </a:pPr>
            <a:r>
              <a:t>ROBOT</a:t>
            </a:r>
            <a:br/>
            <a:r>
              <a:t>+ TCP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49640" y="1920240"/>
            <a:ext cx="27432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0" y="2286000"/>
            <a:ext cx="22860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D9169"/>
                </a:solidFill>
                <a:latin typeface="Aptos"/>
              </a:defRPr>
            </a:pPr>
            <a:r>
              <a:t>SZERELŐÁLLOMÁS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337560" y="2560320"/>
            <a:ext cx="1371600" cy="0"/>
          </a:xfrm>
          <a:prstGeom prst="line">
            <a:avLst/>
          </a:prstGeom>
          <a:ln w="50800">
            <a:solidFill>
              <a:srgbClr val="36AC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178040" y="2560320"/>
            <a:ext cx="1371600" cy="0"/>
          </a:xfrm>
          <a:prstGeom prst="line">
            <a:avLst/>
          </a:prstGeom>
          <a:ln w="50800">
            <a:solidFill>
              <a:srgbClr val="36AC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97280" y="4663440"/>
            <a:ext cx="99669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02336"/>
                </a:solidFill>
                <a:latin typeface="Aptos"/>
              </a:defRPr>
            </a:pPr>
            <a:r>
              <a:t>Válaszd ki minden szakaszhoz a koordináta-rendszert és a mozgástípust!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69848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900" b="1">
                <a:solidFill>
                  <a:srgbClr val="FFFFFF"/>
                </a:solidFill>
                <a:latin typeface="Aptos"/>
              </a:defRPr>
            </a:pPr>
            <a:r>
              <a:t>JÓ REFERENCIA + JÓ MOZGÁSTÍPUS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31720"/>
            <a:ext cx="103327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E69130"/>
                </a:solidFill>
                <a:latin typeface="Aptos"/>
              </a:defRPr>
            </a:pPr>
            <a:r>
              <a:t>pontosabb • egyszerűbben programozható • könnyebben módosítható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86200"/>
            <a:ext cx="103327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Aptos"/>
              </a:defRPr>
            </a:pPr>
            <a:r>
              <a:t>„A jó robotprogram nem attól jó, hogy rövid, hanem attól, hogy könnyen karbantartható és egyszerűen módosítható.”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3840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IAP • Folyamatirányítás • 27. hét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