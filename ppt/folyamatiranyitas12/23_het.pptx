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463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CDDAE5"/>
                </a:solidFill>
                <a:latin typeface="Aptos"/>
              </a:defRPr>
            </a:pPr>
            <a:r>
              <a:t>23. hét • Folyamatirányítás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658368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E69130"/>
                </a:solidFill>
                <a:latin typeface="Aptos"/>
              </a:defRPr>
            </a:pPr>
            <a:r>
              <a:t>POZICIONÁLÁS ÉS</a:t>
            </a:r>
            <a:br/>
            <a:r>
              <a:t>MOZGÁSVEZÉRLÉS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6035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Referencia • pozíció • mozgásprofil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0" y="3931920"/>
            <a:ext cx="3749040" cy="0"/>
          </a:xfrm>
          <a:prstGeom prst="line">
            <a:avLst/>
          </a:prstGeom>
          <a:ln w="508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498079" y="3520440"/>
            <a:ext cx="320040" cy="822960"/>
          </a:xfrm>
          <a:prstGeom prst="rect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19" y="4480560"/>
            <a:ext cx="5943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8549640" y="3520440"/>
            <a:ext cx="320040" cy="822960"/>
          </a:xfrm>
          <a:prstGeom prst="rect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4480560"/>
            <a:ext cx="5943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3520440"/>
            <a:ext cx="320040" cy="822960"/>
          </a:xfrm>
          <a:prstGeom prst="rect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4480560"/>
            <a:ext cx="5943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44200" y="3520440"/>
            <a:ext cx="320040" cy="822960"/>
          </a:xfrm>
          <a:prstGeom prst="rect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0" y="4480560"/>
            <a:ext cx="5943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Mi a pozicionálás?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Egy tengelyt meghatározott helyzetbe mozgatunk pontosan és ismételhetően.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05840" y="2834640"/>
            <a:ext cx="9966960" cy="0"/>
          </a:xfrm>
          <a:prstGeom prst="line">
            <a:avLst/>
          </a:prstGeom>
          <a:ln w="50800">
            <a:solidFill>
              <a:srgbClr val="236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371600" y="2331720"/>
            <a:ext cx="594360" cy="1005840"/>
          </a:xfrm>
          <a:prstGeom prst="rect">
            <a:avLst/>
          </a:prstGeom>
          <a:solidFill>
            <a:srgbClr val="687580"/>
          </a:solidFill>
          <a:ln>
            <a:solidFill>
              <a:srgbClr val="687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566160"/>
            <a:ext cx="1234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687580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2331720"/>
            <a:ext cx="594360" cy="1005840"/>
          </a:xfrm>
          <a:prstGeom prst="rect">
            <a:avLst/>
          </a:prstGeom>
          <a:solidFill>
            <a:srgbClr val="3D916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3566160"/>
            <a:ext cx="1234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D9169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2331720"/>
            <a:ext cx="594360" cy="1005840"/>
          </a:xfrm>
          <a:prstGeom prst="rect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566160"/>
            <a:ext cx="1234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69130"/>
                </a:solidFill>
                <a:latin typeface="Aptos"/>
              </a:defRPr>
            </a:pPr>
            <a:r>
              <a:t>P2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2331720"/>
            <a:ext cx="594360" cy="1005840"/>
          </a:xfrm>
          <a:prstGeom prst="rect">
            <a:avLst/>
          </a:prstGeom>
          <a:solidFill>
            <a:srgbClr val="36ACC4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3566160"/>
            <a:ext cx="1234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6ACC4"/>
                </a:solidFill>
                <a:latin typeface="Aptos"/>
              </a:defRPr>
            </a:pPr>
            <a:r>
              <a:t>CÉL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572000"/>
            <a:ext cx="21031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02336"/>
                </a:solidFill>
                <a:latin typeface="Aptos"/>
              </a:defRPr>
            </a:pPr>
            <a:r>
              <a:t>PONTOS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572000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687580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572000"/>
            <a:ext cx="2926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E69130"/>
                </a:solidFill>
                <a:latin typeface="Aptos"/>
              </a:defRPr>
            </a:pPr>
            <a:r>
              <a:t>ISMÉTELHETŐ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Referenciafelvétel - Homing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Bekapcsolás után meg kell határozni a tengely kiindulási helyzetét.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1089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25603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369A0"/>
                </a:solidFill>
                <a:latin typeface="Aptos"/>
              </a:defRPr>
            </a:pPr>
            <a:r>
              <a:t>VÉGÁLLÁS-</a:t>
            </a:r>
            <a:br/>
            <a:r>
              <a:t>KAPCSOLÓ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54680"/>
            <a:ext cx="24688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5323D"/>
                </a:solidFill>
                <a:latin typeface="Aptos"/>
              </a:defRPr>
            </a:pPr>
            <a:r>
              <a:t>mechanikus referencia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00200"/>
            <a:ext cx="31089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1965960"/>
            <a:ext cx="25603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3D9169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154680"/>
            <a:ext cx="24688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5323D"/>
                </a:solidFill>
                <a:latin typeface="Aptos"/>
              </a:defRPr>
            </a:pPr>
            <a:r>
              <a:t>érintésmentes referencia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00200"/>
            <a:ext cx="31089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965960"/>
            <a:ext cx="25603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E69130"/>
                </a:solidFill>
                <a:latin typeface="Aptos"/>
              </a:defRPr>
            </a:pPr>
            <a:r>
              <a:t>ABSZOLÚT</a:t>
            </a:r>
            <a:br/>
            <a:r>
              <a:t>ENKÓDER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154680"/>
            <a:ext cx="24688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5323D"/>
                </a:solidFill>
                <a:latin typeface="Aptos"/>
              </a:defRPr>
            </a:pPr>
            <a:r>
              <a:t>pozíció ismert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074920"/>
            <a:ext cx="795527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02336"/>
                </a:solidFill>
                <a:latin typeface="Aptos"/>
              </a:defRPr>
            </a:pPr>
            <a:r>
              <a:t>A referenciahelyzet a további pozíciók alapja.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Mozgásprofil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mozgás három fő szakasza: gyorsítás, állandó sebesség, lassítás.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280160" y="1828800"/>
            <a:ext cx="2194560" cy="2743200"/>
          </a:xfrm>
          <a:prstGeom prst="line">
            <a:avLst/>
          </a:prstGeom>
          <a:ln w="63500">
            <a:solidFill>
              <a:srgbClr val="3D9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74720" y="1828800"/>
            <a:ext cx="4572000" cy="0"/>
          </a:xfrm>
          <a:prstGeom prst="line">
            <a:avLst/>
          </a:prstGeom>
          <a:ln w="63500">
            <a:solidFill>
              <a:srgbClr val="236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046720" y="1828800"/>
            <a:ext cx="2286000" cy="2743200"/>
          </a:xfrm>
          <a:prstGeom prst="line">
            <a:avLst/>
          </a:prstGeom>
          <a:ln w="63500">
            <a:solidFill>
              <a:srgbClr val="E69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" y="4572000"/>
            <a:ext cx="9692640" cy="0"/>
          </a:xfrm>
          <a:prstGeom prst="line">
            <a:avLst/>
          </a:prstGeom>
          <a:ln w="25400">
            <a:solidFill>
              <a:srgbClr val="687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7280" y="1371600"/>
            <a:ext cx="0" cy="3200400"/>
          </a:xfrm>
          <a:prstGeom prst="line">
            <a:avLst/>
          </a:prstGeom>
          <a:ln w="25400">
            <a:solidFill>
              <a:srgbClr val="687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17320" y="4892040"/>
            <a:ext cx="2377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D9169"/>
                </a:solidFill>
                <a:latin typeface="Aptos"/>
              </a:defRPr>
            </a:pPr>
            <a:r>
              <a:t>GYORSÍTÁS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234440"/>
            <a:ext cx="33832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69A0"/>
                </a:solidFill>
                <a:latin typeface="Aptos"/>
              </a:defRPr>
            </a:pPr>
            <a:r>
              <a:t>ÁLLANDÓ SEBESSÉG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892040"/>
            <a:ext cx="2194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69130"/>
                </a:solidFill>
                <a:latin typeface="Aptos"/>
              </a:defRPr>
            </a:pPr>
            <a:r>
              <a:t>LASSÍTÁS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2057400"/>
            <a:ext cx="731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>
                <a:solidFill>
                  <a:srgbClr val="687580"/>
                </a:solidFill>
                <a:latin typeface="Aptos"/>
              </a:defRPr>
            </a:pPr>
            <a:r>
              <a:t>sebesség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1320" y="4754880"/>
            <a:ext cx="5486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>
                <a:solidFill>
                  <a:srgbClr val="687580"/>
                </a:solidFill>
                <a:latin typeface="Aptos"/>
              </a:defRPr>
            </a:pPr>
            <a:r>
              <a:t>idő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Abszolút vagy relatív pozicionálás?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Két eltérő mód a célhelyzet megadására.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9377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389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2369A0"/>
                </a:solidFill>
                <a:latin typeface="Aptos"/>
              </a:defRPr>
            </a:pPr>
            <a:r>
              <a:t>ABSZOLÚT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4023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102336"/>
                </a:solidFill>
                <a:latin typeface="Aptos"/>
              </a:defRPr>
            </a:pPr>
            <a:r>
              <a:t>→  X = 500 mm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56616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5323D"/>
                </a:solidFill>
                <a:latin typeface="Aptos"/>
              </a:defRPr>
            </a:pPr>
            <a:r>
              <a:t>meghatározott koordinátára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554480"/>
            <a:ext cx="49377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828800"/>
            <a:ext cx="4389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E69130"/>
                </a:solidFill>
                <a:latin typeface="Aptos"/>
              </a:defRPr>
            </a:pPr>
            <a:r>
              <a:t>RELATÍV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743200"/>
            <a:ext cx="4023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102336"/>
                </a:solidFill>
                <a:latin typeface="Aptos"/>
              </a:defRPr>
            </a:pPr>
            <a:r>
              <a:t>→  +100 mm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566160"/>
            <a:ext cx="4480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5323D"/>
                </a:solidFill>
                <a:latin typeface="Aptos"/>
              </a:defRPr>
            </a:pPr>
            <a:r>
              <a:t>az aktuális helyzethez képest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A PLC szerepe a mozgásvezérlésben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Parancsokat küld és felügyeli a tengely állapotát.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743200" cy="2377440"/>
          </a:xfrm>
          <a:prstGeom prst="roundRect">
            <a:avLst/>
          </a:prstGeom>
          <a:solidFill>
            <a:srgbClr val="1C3449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21945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PLC /</a:t>
            </a:r>
            <a:br/>
            <a:r>
              <a:t>MOZGÁSVEZÉRLŐ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00200"/>
            <a:ext cx="19202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201168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6ACC4"/>
                </a:solidFill>
                <a:latin typeface="Aptos"/>
              </a:defRPr>
            </a:pPr>
            <a:r>
              <a:t>POZÍCIÓ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74720" y="2743200"/>
            <a:ext cx="1737360" cy="0"/>
          </a:xfrm>
          <a:prstGeom prst="line">
            <a:avLst/>
          </a:prstGeom>
          <a:ln w="254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629400" y="1600200"/>
            <a:ext cx="19202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01168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D9169"/>
                </a:solidFill>
                <a:latin typeface="Aptos"/>
              </a:defRPr>
            </a:pPr>
            <a:r>
              <a:t>SEBESSÉG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74720" y="2743200"/>
            <a:ext cx="4069080" cy="0"/>
          </a:xfrm>
          <a:prstGeom prst="line">
            <a:avLst/>
          </a:prstGeom>
          <a:ln w="25400">
            <a:solidFill>
              <a:srgbClr val="3D9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961120" y="1600200"/>
            <a:ext cx="19202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201168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69130"/>
                </a:solidFill>
                <a:latin typeface="Aptos"/>
              </a:defRPr>
            </a:pPr>
            <a:r>
              <a:t>GYORSÍTÁS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74720" y="2743200"/>
            <a:ext cx="6400800" cy="0"/>
          </a:xfrm>
          <a:prstGeom prst="line">
            <a:avLst/>
          </a:prstGeom>
          <a:ln w="25400">
            <a:solidFill>
              <a:srgbClr val="E69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86400" y="4023360"/>
            <a:ext cx="3657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4251960"/>
            <a:ext cx="3291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C44444"/>
                </a:solidFill>
                <a:latin typeface="Aptos"/>
              </a:defRPr>
            </a:pPr>
            <a:r>
              <a:t>TENGELY ÁLLAPOTÁNAK FELÜGYELETE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Gyakorlati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Pozicionálás mindenütt, ahol a mozgásnak célhelyzete van.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3736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148840"/>
            <a:ext cx="822960" cy="822960"/>
          </a:xfrm>
          <a:prstGeom prst="ellipse">
            <a:avLst/>
          </a:prstGeom>
          <a:solidFill>
            <a:srgbClr val="2369A0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95728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83280"/>
            <a:ext cx="1737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369A0"/>
                </a:solidFill>
                <a:latin typeface="Aptos"/>
              </a:defRPr>
            </a:pPr>
            <a:r>
              <a:t>CNC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79" y="173736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91839" y="2148840"/>
            <a:ext cx="822960" cy="822960"/>
          </a:xfrm>
          <a:prstGeom prst="ellipse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39" y="2395728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3383280"/>
            <a:ext cx="1737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E69130"/>
                </a:solidFill>
                <a:latin typeface="Aptos"/>
              </a:defRPr>
            </a:pPr>
            <a:r>
              <a:t>ROBOT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73736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23560" y="2148840"/>
            <a:ext cx="822960" cy="822960"/>
          </a:xfrm>
          <a:prstGeom prst="ellipse">
            <a:avLst/>
          </a:prstGeom>
          <a:solidFill>
            <a:srgbClr val="3D916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2395728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383280"/>
            <a:ext cx="1737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D9169"/>
                </a:solidFill>
                <a:latin typeface="Aptos"/>
              </a:defRPr>
            </a:pPr>
            <a:r>
              <a:t>CSOMAGOLÁS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19" y="173736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55279" y="2148840"/>
            <a:ext cx="822960" cy="822960"/>
          </a:xfrm>
          <a:prstGeom prst="ellipse">
            <a:avLst/>
          </a:prstGeom>
          <a:solidFill>
            <a:srgbClr val="36ACC4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2395728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383280"/>
            <a:ext cx="1737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6ACC4"/>
                </a:solidFill>
                <a:latin typeface="Aptos"/>
              </a:defRPr>
            </a:pPr>
            <a:r>
              <a:t>SZERELŐSOR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173736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87000" y="2148840"/>
            <a:ext cx="822960" cy="822960"/>
          </a:xfrm>
          <a:prstGeom prst="ellipse">
            <a:avLst/>
          </a:prstGeom>
          <a:solidFill>
            <a:srgbClr val="C44444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87000" y="2395728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3383280"/>
            <a:ext cx="1737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C44444"/>
                </a:solidFill>
                <a:latin typeface="Aptos"/>
              </a:defRPr>
            </a:pPr>
            <a:r>
              <a:t>ANYAGMOZGATÁS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Gyakorlati kihívás: háromállásos csomagológép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Tervezd meg a referenciahelyzetet, pozíciókat és a mozgásprofilt.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2834640"/>
            <a:ext cx="10058400" cy="0"/>
          </a:xfrm>
          <a:prstGeom prst="line">
            <a:avLst/>
          </a:prstGeom>
          <a:ln w="50800">
            <a:solidFill>
              <a:srgbClr val="236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280160" y="2331720"/>
            <a:ext cx="640080" cy="1005840"/>
          </a:xfrm>
          <a:prstGeom prst="rect">
            <a:avLst/>
          </a:prstGeom>
          <a:solidFill>
            <a:srgbClr val="C44444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C44444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2331720"/>
            <a:ext cx="640080" cy="1005840"/>
          </a:xfrm>
          <a:prstGeom prst="rect">
            <a:avLst/>
          </a:prstGeom>
          <a:solidFill>
            <a:srgbClr val="3D916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56616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D9169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331720"/>
            <a:ext cx="640080" cy="1005840"/>
          </a:xfrm>
          <a:prstGeom prst="rect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56616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69130"/>
                </a:solidFill>
                <a:latin typeface="Aptos"/>
              </a:defRPr>
            </a:pPr>
            <a:r>
              <a:t>P2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2331720"/>
            <a:ext cx="640080" cy="1005840"/>
          </a:xfrm>
          <a:prstGeom prst="rect">
            <a:avLst/>
          </a:prstGeom>
          <a:solidFill>
            <a:srgbClr val="36ACC4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56616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6ACC4"/>
                </a:solidFill>
                <a:latin typeface="Aptos"/>
              </a:defRPr>
            </a:pPr>
            <a:r>
              <a:t>P3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2377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02336"/>
                </a:solidFill>
                <a:latin typeface="Aptos"/>
              </a:defRPr>
            </a:pPr>
            <a:r>
              <a:t>1. referenciahelyzet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617720"/>
            <a:ext cx="2194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02336"/>
                </a:solidFill>
                <a:latin typeface="Aptos"/>
              </a:defRPr>
            </a:pPr>
            <a:r>
              <a:t>2. célpozíciók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61772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02336"/>
                </a:solidFill>
                <a:latin typeface="Aptos"/>
              </a:defRPr>
            </a:pPr>
            <a:r>
              <a:t>3. gyorsítás + lassítás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PONTOS MÉRÉS • HELYES REFERENCIA • JÓ MOZGÁSPROFIL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331720"/>
            <a:ext cx="9784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E69130"/>
                </a:solidFill>
                <a:latin typeface="Aptos"/>
              </a:defRPr>
            </a:pPr>
            <a:r>
              <a:t>Ez a pontos pozicionálás három alapja.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69080"/>
            <a:ext cx="103327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„A precíz mozgás mindig a pontos mérés és a megfelelő mechanikai kialakítás eredménye.”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3840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IAP • Folyamatirányítás • 23.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