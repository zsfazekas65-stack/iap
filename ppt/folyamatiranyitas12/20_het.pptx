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4630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4389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CDDAE5"/>
                </a:solidFill>
                <a:latin typeface="Aptos"/>
              </a:defRPr>
            </a:pPr>
            <a:r>
              <a:t>20. hét • Folyamatirányítás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64208"/>
            <a:ext cx="58521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900" b="1">
                <a:solidFill>
                  <a:srgbClr val="E69130"/>
                </a:solidFill>
                <a:latin typeface="Aptos"/>
              </a:defRPr>
            </a:pPr>
            <a:r>
              <a:t>HIBAKERESÉS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5943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Aptos"/>
              </a:defRPr>
            </a:pPr>
            <a:r>
              <a:t>Frekvenciaváltók diagnosztikája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234440"/>
            <a:ext cx="2194560" cy="2651760"/>
          </a:xfrm>
          <a:prstGeom prst="roundRect">
            <a:avLst/>
          </a:prstGeom>
          <a:solidFill>
            <a:srgbClr val="1C3449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0" y="1344168"/>
            <a:ext cx="19202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VFD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1828800"/>
            <a:ext cx="1554480" cy="685800"/>
          </a:xfrm>
          <a:prstGeom prst="rect">
            <a:avLst/>
          </a:prstGeom>
          <a:solidFill>
            <a:srgbClr val="0A1925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47672"/>
            <a:ext cx="1463039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C44444"/>
                </a:solidFill>
                <a:latin typeface="Aptos"/>
              </a:defRPr>
            </a:pPr>
            <a:r>
              <a:t>OC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2788920"/>
            <a:ext cx="475488" cy="320040"/>
          </a:xfrm>
          <a:prstGeom prst="roundRect">
            <a:avLst/>
          </a:prstGeom>
          <a:solidFill>
            <a:srgbClr val="374855"/>
          </a:solidFill>
          <a:ln>
            <a:solidFill>
              <a:srgbClr val="374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2852928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47888" y="2788920"/>
            <a:ext cx="475488" cy="320040"/>
          </a:xfrm>
          <a:prstGeom prst="roundRect">
            <a:avLst/>
          </a:prstGeom>
          <a:solidFill>
            <a:srgbClr val="374855"/>
          </a:solidFill>
          <a:ln>
            <a:solidFill>
              <a:srgbClr val="374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2852928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STOP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14816" y="2788920"/>
            <a:ext cx="475488" cy="320040"/>
          </a:xfrm>
          <a:prstGeom prst="roundRect">
            <a:avLst/>
          </a:prstGeom>
          <a:solidFill>
            <a:srgbClr val="374855"/>
          </a:solidFill>
          <a:ln>
            <a:solidFill>
              <a:srgbClr val="374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14816" y="2852928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RESET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4389120"/>
            <a:ext cx="1417320" cy="393192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59" y="4434840"/>
            <a:ext cx="1325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36ACC4"/>
                </a:solidFill>
                <a:latin typeface="Aptos"/>
              </a:defRPr>
            </a:pPr>
            <a:r>
              <a:t>MÉR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4389120"/>
            <a:ext cx="1417320" cy="393192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4434840"/>
            <a:ext cx="1325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E69130"/>
                </a:solidFill>
                <a:latin typeface="Aptos"/>
              </a:defRPr>
            </a:pPr>
            <a:r>
              <a:t>ELEMEZ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21240" y="4389120"/>
            <a:ext cx="1417320" cy="393192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0" y="4434840"/>
            <a:ext cx="1325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3D9169"/>
                </a:solidFill>
                <a:latin typeface="Aptos"/>
              </a:defRPr>
            </a:pPr>
            <a:r>
              <a:t>BEAVATKOZIK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5166360"/>
            <a:ext cx="43891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Nem találgatunk.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Miért fontos a hibakeresés?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gyors és szakszerű diagnosztika közvetlenül hat az üzem biztonságára.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2461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C44444"/>
                </a:solidFill>
                <a:latin typeface="Aptos"/>
              </a:defRPr>
            </a:pPr>
            <a:r>
              <a:t>ÁLLÁSIDŐ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25323D"/>
                </a:solidFill>
                <a:latin typeface="Aptos"/>
              </a:defRPr>
            </a:pPr>
            <a:r>
              <a:t>csökkentése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600200"/>
            <a:ext cx="32461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920240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E69130"/>
                </a:solidFill>
                <a:latin typeface="Aptos"/>
              </a:defRPr>
            </a:pPr>
            <a:r>
              <a:t>BIZTONSÁG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743200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25323D"/>
                </a:solidFill>
                <a:latin typeface="Aptos"/>
              </a:defRPr>
            </a:pPr>
            <a:r>
              <a:t>növelése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600200"/>
            <a:ext cx="32461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920240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3D9169"/>
                </a:solidFill>
                <a:latin typeface="Aptos"/>
              </a:defRPr>
            </a:pPr>
            <a:r>
              <a:t>MEGBÍZHATÓSÁG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743200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25323D"/>
                </a:solidFill>
                <a:latin typeface="Aptos"/>
              </a:defRPr>
            </a:pPr>
            <a:r>
              <a:t>növelése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03120" y="4617720"/>
            <a:ext cx="8001000" cy="731520"/>
          </a:xfrm>
          <a:prstGeom prst="roundRect">
            <a:avLst/>
          </a:prstGeom>
          <a:solidFill>
            <a:srgbClr val="FFF5E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0" y="4773168"/>
            <a:ext cx="76352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C44444"/>
                </a:solidFill>
                <a:latin typeface="Aptos"/>
              </a:defRPr>
            </a:pPr>
            <a:r>
              <a:t>ELSŐ A BIZTONSÁG: vizsgálat előtt biztonságos áramtalanítás.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A hibakeresés logikus menete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jegyzet hét egymásra épülő lépést 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965960"/>
            <a:ext cx="14173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58952" y="1572768"/>
            <a:ext cx="530352" cy="530352"/>
          </a:xfrm>
          <a:prstGeom prst="ellipse">
            <a:avLst/>
          </a:prstGeom>
          <a:solidFill>
            <a:srgbClr val="36ACC4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682496"/>
            <a:ext cx="53035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423160"/>
            <a:ext cx="1197864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36ACC4"/>
                </a:solidFill>
                <a:latin typeface="Aptos"/>
              </a:defRPr>
            </a:pPr>
            <a:r>
              <a:t>MEGFIGYELÉS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578608"/>
            <a:ext cx="31089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84248" y="1965960"/>
            <a:ext cx="14173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23160" y="1572768"/>
            <a:ext cx="530352" cy="530352"/>
          </a:xfrm>
          <a:prstGeom prst="ellipse">
            <a:avLst/>
          </a:prstGeom>
          <a:solidFill>
            <a:srgbClr val="C44444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23160" y="1682496"/>
            <a:ext cx="53035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93976" y="2423160"/>
            <a:ext cx="1197864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C44444"/>
                </a:solidFill>
                <a:latin typeface="Aptos"/>
              </a:defRPr>
            </a:pPr>
            <a:r>
              <a:t>HIBAKÓD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2578608"/>
            <a:ext cx="31089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48456" y="1965960"/>
            <a:ext cx="14173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087368" y="1572768"/>
            <a:ext cx="530352" cy="530352"/>
          </a:xfrm>
          <a:prstGeom prst="ellipse">
            <a:avLst/>
          </a:prstGeom>
          <a:solidFill>
            <a:srgbClr val="2369A0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87368" y="1682496"/>
            <a:ext cx="53035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58184" y="2423160"/>
            <a:ext cx="1197864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2369A0"/>
                </a:solidFill>
                <a:latin typeface="Aptos"/>
              </a:defRPr>
            </a:pPr>
            <a:r>
              <a:t>BEKÖTÉS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0056" y="2578608"/>
            <a:ext cx="31089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12664" y="1965960"/>
            <a:ext cx="14173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51575" y="1572768"/>
            <a:ext cx="530352" cy="530352"/>
          </a:xfrm>
          <a:prstGeom prst="ellipse">
            <a:avLst/>
          </a:prstGeom>
          <a:solidFill>
            <a:srgbClr val="E69130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51575" y="1682496"/>
            <a:ext cx="53035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22392" y="2423160"/>
            <a:ext cx="1197864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E69130"/>
                </a:solidFill>
                <a:latin typeface="Aptos"/>
              </a:defRPr>
            </a:pPr>
            <a:r>
              <a:t>MOTOR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84264" y="2578608"/>
            <a:ext cx="31089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76872" y="1965960"/>
            <a:ext cx="14173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15783" y="1572768"/>
            <a:ext cx="530352" cy="530352"/>
          </a:xfrm>
          <a:prstGeom prst="ellipse">
            <a:avLst/>
          </a:prstGeom>
          <a:solidFill>
            <a:srgbClr val="3D9169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15783" y="1682496"/>
            <a:ext cx="53035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2423160"/>
            <a:ext cx="1197864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3D9169"/>
                </a:solidFill>
                <a:latin typeface="Aptos"/>
              </a:defRPr>
            </a:pPr>
            <a:r>
              <a:t>PARAMÉTER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8471" y="2578608"/>
            <a:ext cx="31089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41080" y="1965960"/>
            <a:ext cx="14173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079992" y="1572768"/>
            <a:ext cx="530352" cy="530352"/>
          </a:xfrm>
          <a:prstGeom prst="ellipse">
            <a:avLst/>
          </a:prstGeom>
          <a:solidFill>
            <a:srgbClr val="36ACC4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79992" y="1682496"/>
            <a:ext cx="53035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50807" y="2423160"/>
            <a:ext cx="1197864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36ACC4"/>
                </a:solidFill>
                <a:latin typeface="Aptos"/>
              </a:defRPr>
            </a:pPr>
            <a:r>
              <a:t>PRÓBAÜZEM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2578608"/>
            <a:ext cx="31089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305288" y="1965960"/>
            <a:ext cx="14173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10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744200" y="1572768"/>
            <a:ext cx="530352" cy="530352"/>
          </a:xfrm>
          <a:prstGeom prst="ellipse">
            <a:avLst/>
          </a:prstGeom>
          <a:solidFill>
            <a:srgbClr val="102336"/>
          </a:solidFill>
          <a:ln>
            <a:solidFill>
              <a:srgbClr val="10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44200" y="1682496"/>
            <a:ext cx="53035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15015" y="2423160"/>
            <a:ext cx="1197864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102336"/>
                </a:solidFill>
                <a:latin typeface="Aptos"/>
              </a:defRPr>
            </a:pPr>
            <a:r>
              <a:t>DOKUMENTÁLÁS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4709160"/>
            <a:ext cx="83210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02336"/>
                </a:solidFill>
                <a:latin typeface="Aptos"/>
              </a:defRPr>
            </a:pPr>
            <a:r>
              <a:t>A sorrend célja: az okot keressük, nem csak a tünetet töröljük.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Gyakori hibakódok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Öt tipikus hiba, amelyet a jegyzet külön kiemel.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00200"/>
            <a:ext cx="20574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78408" y="1874519"/>
            <a:ext cx="914400" cy="914400"/>
          </a:xfrm>
          <a:prstGeom prst="ellipse">
            <a:avLst/>
          </a:prstGeom>
          <a:solidFill>
            <a:srgbClr val="C44444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121408"/>
            <a:ext cx="914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54680"/>
            <a:ext cx="1783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C44444"/>
                </a:solidFill>
                <a:latin typeface="Aptos"/>
              </a:defRPr>
            </a:pPr>
            <a:r>
              <a:t>TÚLÁRAM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600200"/>
            <a:ext cx="20574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10128" y="1874519"/>
            <a:ext cx="914400" cy="914400"/>
          </a:xfrm>
          <a:prstGeom prst="ellipse">
            <a:avLst/>
          </a:prstGeom>
          <a:solidFill>
            <a:srgbClr val="E69130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128" y="2121408"/>
            <a:ext cx="914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OV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3154680"/>
            <a:ext cx="1783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E69130"/>
                </a:solidFill>
                <a:latin typeface="Aptos"/>
              </a:defRPr>
            </a:pPr>
            <a:r>
              <a:t>TÚLFESZÜLTSÉG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1600200"/>
            <a:ext cx="20574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41848" y="1874519"/>
            <a:ext cx="914400" cy="914400"/>
          </a:xfrm>
          <a:prstGeom prst="ellipse">
            <a:avLst/>
          </a:prstGeom>
          <a:solidFill>
            <a:srgbClr val="2369A0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41848" y="2121408"/>
            <a:ext cx="914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UV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154680"/>
            <a:ext cx="1783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2369A0"/>
                </a:solidFill>
                <a:latin typeface="Aptos"/>
              </a:defRPr>
            </a:pPr>
            <a:r>
              <a:t>ALULFESZÜLTSÉG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1600200"/>
            <a:ext cx="20574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73567" y="1874519"/>
            <a:ext cx="914400" cy="914400"/>
          </a:xfrm>
          <a:prstGeom prst="ellipse">
            <a:avLst/>
          </a:prstGeom>
          <a:solidFill>
            <a:srgbClr val="C44444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73567" y="2121408"/>
            <a:ext cx="914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OH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3154680"/>
            <a:ext cx="1783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C44444"/>
                </a:solidFill>
                <a:latin typeface="Aptos"/>
              </a:defRPr>
            </a:pPr>
            <a:r>
              <a:t>TÚLMELEGEDÉS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38359" y="1600200"/>
            <a:ext cx="20574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05287" y="1874519"/>
            <a:ext cx="914400" cy="914400"/>
          </a:xfrm>
          <a:prstGeom prst="ellipse">
            <a:avLst/>
          </a:prstGeom>
          <a:solidFill>
            <a:srgbClr val="E69130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05287" y="2121408"/>
            <a:ext cx="914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19" y="3154680"/>
            <a:ext cx="1783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E69130"/>
                </a:solidFill>
                <a:latin typeface="Aptos"/>
              </a:defRPr>
            </a:pPr>
            <a:r>
              <a:t>MOTOR TÚLTERHELÉS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166360"/>
            <a:ext cx="10332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02336"/>
                </a:solidFill>
                <a:latin typeface="Aptos"/>
              </a:defRPr>
            </a:pPr>
            <a:r>
              <a:t>Lehetséges általános okok: hibás bekötés • túlterhelés • rossz paraméterezés • mechanikai hiba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Mit nézünk a diagnosztikában?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kijelző és a kezelőszoftver a hiba környezetéről ad adatokat.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2194560" cy="2651760"/>
          </a:xfrm>
          <a:prstGeom prst="roundRect">
            <a:avLst/>
          </a:prstGeom>
          <a:solidFill>
            <a:srgbClr val="1C3449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18488"/>
            <a:ext cx="19202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VFD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103120"/>
            <a:ext cx="1554480" cy="685800"/>
          </a:xfrm>
          <a:prstGeom prst="rect">
            <a:avLst/>
          </a:prstGeom>
          <a:solidFill>
            <a:srgbClr val="0A1925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221991"/>
            <a:ext cx="1463039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C44444"/>
                </a:solidFill>
                <a:latin typeface="Aptos"/>
              </a:defRPr>
            </a:pPr>
            <a:r>
              <a:t>OC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063239"/>
            <a:ext cx="475488" cy="320040"/>
          </a:xfrm>
          <a:prstGeom prst="roundRect">
            <a:avLst/>
          </a:prstGeom>
          <a:solidFill>
            <a:srgbClr val="374855"/>
          </a:solidFill>
          <a:ln>
            <a:solidFill>
              <a:srgbClr val="374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81328" y="3063239"/>
            <a:ext cx="475488" cy="320040"/>
          </a:xfrm>
          <a:prstGeom prst="roundRect">
            <a:avLst/>
          </a:prstGeom>
          <a:solidFill>
            <a:srgbClr val="374855"/>
          </a:solidFill>
          <a:ln>
            <a:solidFill>
              <a:srgbClr val="374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81328" y="3127248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STOP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48256" y="3063239"/>
            <a:ext cx="475488" cy="320040"/>
          </a:xfrm>
          <a:prstGeom prst="roundRect">
            <a:avLst/>
          </a:prstGeom>
          <a:solidFill>
            <a:srgbClr val="374855"/>
          </a:solidFill>
          <a:ln>
            <a:solidFill>
              <a:srgbClr val="374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48256" y="3127248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RESET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1417320"/>
            <a:ext cx="2240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47288" y="1645920"/>
            <a:ext cx="2020824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36ACC4"/>
                </a:solidFill>
                <a:latin typeface="Aptos"/>
              </a:defRPr>
            </a:pPr>
            <a:r>
              <a:t>AKTUÁLIS 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2194560"/>
            <a:ext cx="2020824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02336"/>
                </a:solidFill>
                <a:latin typeface="Aptos"/>
              </a:defRPr>
            </a:pPr>
            <a:r>
              <a:t>Hz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1417320"/>
            <a:ext cx="2240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53328" y="1645920"/>
            <a:ext cx="2020824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C44444"/>
                </a:solidFill>
                <a:latin typeface="Aptos"/>
              </a:defRPr>
            </a:pPr>
            <a:r>
              <a:t>MOTORÁRAM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8" y="2194560"/>
            <a:ext cx="2020824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02336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49640" y="1417320"/>
            <a:ext cx="2240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59367" y="1645920"/>
            <a:ext cx="2020824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2369A0"/>
                </a:solidFill>
                <a:latin typeface="Aptos"/>
              </a:defRPr>
            </a:pPr>
            <a:r>
              <a:t>KIMENETI 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59367" y="2194560"/>
            <a:ext cx="2020824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02336"/>
                </a:solidFill>
                <a:latin typeface="Aptos"/>
              </a:defRPr>
            </a:pPr>
            <a:r>
              <a:t>V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7560" y="3383280"/>
            <a:ext cx="2240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47288" y="3611880"/>
            <a:ext cx="2020824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E69130"/>
                </a:solidFill>
                <a:latin typeface="Aptos"/>
              </a:defRPr>
            </a:pPr>
            <a:r>
              <a:t>DC-KÖRI 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47288" y="4160520"/>
            <a:ext cx="2020824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02336"/>
                </a:solidFill>
                <a:latin typeface="Aptos"/>
              </a:defRPr>
            </a:pPr>
            <a:r>
              <a:t>V DC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3383280"/>
            <a:ext cx="2240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53328" y="3611880"/>
            <a:ext cx="2020824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C44444"/>
                </a:solidFill>
                <a:latin typeface="Aptos"/>
              </a:defRPr>
            </a:pPr>
            <a:r>
              <a:t>HŐMÉRSÉKLET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53328" y="4160520"/>
            <a:ext cx="2020824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02336"/>
                </a:solidFill>
                <a:latin typeface="Aptos"/>
              </a:defRPr>
            </a:pPr>
            <a:r>
              <a:t>°C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49640" y="3383280"/>
            <a:ext cx="2240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59367" y="3611880"/>
            <a:ext cx="2020824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3D9169"/>
                </a:solidFill>
                <a:latin typeface="Aptos"/>
              </a:defRPr>
            </a:pPr>
            <a:r>
              <a:t>HIBATÖRTÉNET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59367" y="4160520"/>
            <a:ext cx="2020824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02336"/>
                </a:solidFill>
                <a:latin typeface="Aptos"/>
              </a:defRPr>
            </a:pPr>
            <a:r>
              <a:t>események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Esettanulmány: OC indításkor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gyakorlati feladat: építsünk fel ellenőrzési tervet Over Current hibára.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2011680" cy="2423160"/>
          </a:xfrm>
          <a:prstGeom prst="roundRect">
            <a:avLst/>
          </a:prstGeom>
          <a:solidFill>
            <a:srgbClr val="1C3449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38528"/>
            <a:ext cx="1737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VFD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423160"/>
            <a:ext cx="1371600" cy="685800"/>
          </a:xfrm>
          <a:prstGeom prst="rect">
            <a:avLst/>
          </a:prstGeom>
          <a:solidFill>
            <a:srgbClr val="0A1925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42032"/>
            <a:ext cx="12801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C44444"/>
                </a:solidFill>
                <a:latin typeface="Aptos"/>
              </a:defRPr>
            </a:pPr>
            <a:r>
              <a:t>OC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83280"/>
            <a:ext cx="475488" cy="320040"/>
          </a:xfrm>
          <a:prstGeom prst="roundRect">
            <a:avLst/>
          </a:prstGeom>
          <a:solidFill>
            <a:srgbClr val="374855"/>
          </a:solidFill>
          <a:ln>
            <a:solidFill>
              <a:srgbClr val="374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47288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89888" y="3383280"/>
            <a:ext cx="475488" cy="320040"/>
          </a:xfrm>
          <a:prstGeom prst="roundRect">
            <a:avLst/>
          </a:prstGeom>
          <a:solidFill>
            <a:srgbClr val="374855"/>
          </a:solidFill>
          <a:ln>
            <a:solidFill>
              <a:srgbClr val="374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447288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STOP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56816" y="3383280"/>
            <a:ext cx="475488" cy="320040"/>
          </a:xfrm>
          <a:prstGeom prst="roundRect">
            <a:avLst/>
          </a:prstGeom>
          <a:solidFill>
            <a:srgbClr val="374855"/>
          </a:solidFill>
          <a:ln>
            <a:solidFill>
              <a:srgbClr val="374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56816" y="3447288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RESET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08960" y="1417320"/>
            <a:ext cx="2286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18688" y="1554480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36ACC4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1691640"/>
            <a:ext cx="16002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102336"/>
                </a:solidFill>
                <a:latin typeface="Aptos"/>
              </a:defRPr>
            </a:pPr>
            <a:r>
              <a:t>HIBA MEGFIGYELÉSE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1417320"/>
            <a:ext cx="2286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70448" y="1554480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C4444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691640"/>
            <a:ext cx="16002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102336"/>
                </a:solidFill>
                <a:latin typeface="Aptos"/>
              </a:defRPr>
            </a:pPr>
            <a:r>
              <a:t>OC FELJEGYZÉSE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1417320"/>
            <a:ext cx="2286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22207" y="1554480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2369A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1691640"/>
            <a:ext cx="16002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102336"/>
                </a:solidFill>
                <a:latin typeface="Aptos"/>
              </a:defRPr>
            </a:pPr>
            <a:r>
              <a:t>BEKÖTÉSEK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08960" y="3291839"/>
            <a:ext cx="2286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18688" y="3428999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E6913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3566159"/>
            <a:ext cx="16002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102336"/>
                </a:solidFill>
                <a:latin typeface="Aptos"/>
              </a:defRPr>
            </a:pPr>
            <a:r>
              <a:t>MOTOR ÁLLAPOTA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60720" y="3291839"/>
            <a:ext cx="2286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70448" y="3428999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3D9169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3566159"/>
            <a:ext cx="16002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102336"/>
                </a:solidFill>
                <a:latin typeface="Aptos"/>
              </a:defRPr>
            </a:pPr>
            <a:r>
              <a:t>PARAMÉTEREK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46120" y="4800600"/>
            <a:ext cx="2148840" cy="393192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39" y="4846320"/>
            <a:ext cx="2057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C44444"/>
                </a:solidFill>
                <a:latin typeface="Aptos"/>
              </a:defRPr>
            </a:pPr>
            <a:r>
              <a:t>Lehetséges ok: bekötés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0" y="4800600"/>
            <a:ext cx="1600200" cy="393192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32120" y="4846320"/>
            <a:ext cx="1508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E69130"/>
                </a:solidFill>
                <a:latin typeface="Aptos"/>
              </a:defRPr>
            </a:pPr>
            <a:r>
              <a:t>túlterhelés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78040" y="4800600"/>
            <a:ext cx="1828800" cy="393192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59" y="4846320"/>
            <a:ext cx="17373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3D9169"/>
                </a:solidFill>
                <a:latin typeface="Aptos"/>
              </a:defRPr>
            </a:pPr>
            <a:r>
              <a:t>paraméterezés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98280" y="4800600"/>
            <a:ext cx="1920240" cy="393192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4846320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2369A0"/>
                </a:solidFill>
                <a:latin typeface="Aptos"/>
              </a:defRPr>
            </a:pPr>
            <a:r>
              <a:t>mechanikai hiba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Megelőző karbantartás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hibakeresés legjobb társa: a rendszeres ellenőrzés.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33172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34440" y="2148840"/>
            <a:ext cx="118872" cy="914400"/>
          </a:xfrm>
          <a:prstGeom prst="rect">
            <a:avLst/>
          </a:prstGeom>
          <a:solidFill>
            <a:srgbClr val="36ACC4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08760" y="2148840"/>
            <a:ext cx="118872" cy="914400"/>
          </a:xfrm>
          <a:prstGeom prst="rect">
            <a:avLst/>
          </a:prstGeom>
          <a:solidFill>
            <a:srgbClr val="36ACC4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83080" y="2148840"/>
            <a:ext cx="118872" cy="914400"/>
          </a:xfrm>
          <a:prstGeom prst="rect">
            <a:avLst/>
          </a:prstGeom>
          <a:solidFill>
            <a:srgbClr val="36ACC4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57400" y="2148840"/>
            <a:ext cx="118872" cy="914400"/>
          </a:xfrm>
          <a:prstGeom prst="rect">
            <a:avLst/>
          </a:prstGeom>
          <a:solidFill>
            <a:srgbClr val="36ACC4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31720" y="2148840"/>
            <a:ext cx="118872" cy="914400"/>
          </a:xfrm>
          <a:prstGeom prst="rect">
            <a:avLst/>
          </a:prstGeom>
          <a:solidFill>
            <a:srgbClr val="36ACC4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37560"/>
            <a:ext cx="19659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6ACC4"/>
                </a:solidFill>
                <a:latin typeface="Aptos"/>
              </a:defRPr>
            </a:pPr>
            <a:r>
              <a:t>HŰTŐBORDA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965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25323D"/>
                </a:solidFill>
                <a:latin typeface="Aptos"/>
              </a:defRPr>
            </a:pPr>
            <a:r>
              <a:t>tisztaság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39" y="1645920"/>
            <a:ext cx="233172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97679" y="2057400"/>
            <a:ext cx="777240" cy="777240"/>
          </a:xfrm>
          <a:prstGeom prst="ellipse">
            <a:avLst/>
          </a:prstGeom>
          <a:solidFill>
            <a:srgbClr val="3D9169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79" y="2176272"/>
            <a:ext cx="7772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337560"/>
            <a:ext cx="19659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D9169"/>
                </a:solidFill>
                <a:latin typeface="Aptos"/>
              </a:defRPr>
            </a:pPr>
            <a:r>
              <a:t>VENTILÁTOR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3886200"/>
            <a:ext cx="1965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25323D"/>
                </a:solidFill>
                <a:latin typeface="Aptos"/>
              </a:defRPr>
            </a:pPr>
            <a:r>
              <a:t>működés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1645920"/>
            <a:ext cx="233172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exagon 19"/>
          <p:cNvSpPr/>
          <p:nvPr/>
        </p:nvSpPr>
        <p:spPr>
          <a:xfrm>
            <a:off x="6967727" y="2148840"/>
            <a:ext cx="1005840" cy="594360"/>
          </a:xfrm>
          <a:prstGeom prst="hexagon">
            <a:avLst/>
          </a:prstGeom>
          <a:solidFill>
            <a:srgbClr val="E69130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67727" y="2267712"/>
            <a:ext cx="1005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337560"/>
            <a:ext cx="19659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E69130"/>
                </a:solidFill>
                <a:latin typeface="Aptos"/>
              </a:defRPr>
            </a:pPr>
            <a:r>
              <a:t>CSATLAKOZÁSOK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886200"/>
            <a:ext cx="1965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25323D"/>
                </a:solidFill>
                <a:latin typeface="Aptos"/>
              </a:defRPr>
            </a:pPr>
            <a:r>
              <a:t>szorosság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1645920"/>
            <a:ext cx="233172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9601200" y="2468880"/>
            <a:ext cx="1325880" cy="0"/>
          </a:xfrm>
          <a:prstGeom prst="line">
            <a:avLst/>
          </a:prstGeom>
          <a:ln w="76200">
            <a:solidFill>
              <a:srgbClr val="236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509759" y="2267712"/>
            <a:ext cx="228600" cy="402336"/>
          </a:xfrm>
          <a:prstGeom prst="rect">
            <a:avLst/>
          </a:prstGeom>
          <a:solidFill>
            <a:srgbClr val="25323D"/>
          </a:solidFill>
          <a:ln>
            <a:solidFill>
              <a:srgbClr val="253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835640" y="2267712"/>
            <a:ext cx="228600" cy="402336"/>
          </a:xfrm>
          <a:prstGeom prst="rect">
            <a:avLst/>
          </a:prstGeom>
          <a:solidFill>
            <a:srgbClr val="25323D"/>
          </a:solidFill>
          <a:ln>
            <a:solidFill>
              <a:srgbClr val="253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59" y="3337560"/>
            <a:ext cx="19659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369A0"/>
                </a:solidFill>
                <a:latin typeface="Aptos"/>
              </a:defRPr>
            </a:pPr>
            <a:r>
              <a:t>KÁBELEK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59" y="3886200"/>
            <a:ext cx="1965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25323D"/>
                </a:solidFill>
                <a:latin typeface="Aptos"/>
              </a:defRPr>
            </a:pPr>
            <a:r>
              <a:t>állapot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IAP gyakorlati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OC hibánál ne töröld azonnal a hibát - előbb építs fel bizonyítható diagnózist.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371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800" b="1">
                <a:solidFill>
                  <a:srgbClr val="C44444"/>
                </a:solidFill>
                <a:latin typeface="Aptos"/>
              </a:defRPr>
            </a:pPr>
            <a:r>
              <a:t>OC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57400" y="1874519"/>
            <a:ext cx="685800" cy="0"/>
          </a:xfrm>
          <a:prstGeom prst="line">
            <a:avLst/>
          </a:prstGeom>
          <a:ln w="50800">
            <a:solidFill>
              <a:srgbClr val="C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43200" y="1417320"/>
            <a:ext cx="1417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16352" y="1664208"/>
            <a:ext cx="127101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36ACC4"/>
                </a:solidFill>
                <a:latin typeface="Aptos"/>
              </a:defRPr>
            </a:pPr>
            <a:r>
              <a:t>MEGFIGYELÉS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673352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417320"/>
            <a:ext cx="1417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664208"/>
            <a:ext cx="127101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2369A0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1673352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417320"/>
            <a:ext cx="1417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1664208"/>
            <a:ext cx="127101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E69130"/>
                </a:solidFill>
                <a:latin typeface="Aptos"/>
              </a:defRPr>
            </a:pPr>
            <a:r>
              <a:t>ELEMZÉS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1673352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1417320"/>
            <a:ext cx="1417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91272" y="1664208"/>
            <a:ext cx="127101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3D9169"/>
                </a:solidFill>
                <a:latin typeface="Aptos"/>
              </a:defRPr>
            </a:pPr>
            <a:r>
              <a:t>PRÓBAÜZEM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1673352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9760" y="1417320"/>
            <a:ext cx="1417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10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82912" y="1664208"/>
            <a:ext cx="127101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102336"/>
                </a:solidFill>
                <a:latin typeface="Aptos"/>
              </a:defRPr>
            </a:pPr>
            <a:r>
              <a:t>DOKUMENTÁLÁS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2971800"/>
            <a:ext cx="10287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3246120"/>
            <a:ext cx="21945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02336"/>
                </a:solidFill>
                <a:latin typeface="Aptos"/>
              </a:defRPr>
            </a:pPr>
            <a:r>
              <a:t>Kérdés a tanulónak: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182112"/>
            <a:ext cx="74066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5323D"/>
                </a:solidFill>
                <a:latin typeface="Aptos"/>
              </a:defRPr>
            </a:pPr>
            <a:r>
              <a:t>Melyik ellenőrzés milyen hibaokot tud kizárni vagy megerősíteni?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257800"/>
            <a:ext cx="83210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02336"/>
                </a:solidFill>
                <a:latin typeface="Aptos"/>
              </a:defRPr>
            </a:pPr>
            <a:r>
              <a:t>A cél nem a hibakód memorizálása, hanem a hibakeresési gondolkodás.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"/>
              </a:defRPr>
            </a:pPr>
            <a:r>
              <a:t>MÉR → ELEMEZ → BEAVATKOZIK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148840"/>
            <a:ext cx="3017520" cy="1874519"/>
          </a:xfrm>
          <a:prstGeom prst="roundRect">
            <a:avLst/>
          </a:prstGeom>
          <a:solidFill>
            <a:srgbClr val="1C3449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487168"/>
            <a:ext cx="2651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C44444"/>
                </a:solidFill>
                <a:latin typeface="Aptos"/>
              </a:defRPr>
            </a:pPr>
            <a:r>
              <a:t>HIBAKÓD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154680"/>
            <a:ext cx="2651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ptos"/>
              </a:defRPr>
            </a:pPr>
            <a:r>
              <a:t>tünet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2148840"/>
            <a:ext cx="3017520" cy="1874519"/>
          </a:xfrm>
          <a:prstGeom prst="roundRect">
            <a:avLst/>
          </a:prstGeom>
          <a:solidFill>
            <a:srgbClr val="1C3449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00600" y="2487168"/>
            <a:ext cx="2651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E69130"/>
                </a:solidFill>
                <a:latin typeface="Aptos"/>
              </a:defRPr>
            </a:pPr>
            <a:r>
              <a:t>DIAGNOSZTIKA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3154680"/>
            <a:ext cx="2651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ptos"/>
              </a:defRPr>
            </a:pPr>
            <a:r>
              <a:t>bizonyíték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2148840"/>
            <a:ext cx="3017520" cy="1874519"/>
          </a:xfrm>
          <a:prstGeom prst="roundRect">
            <a:avLst/>
          </a:prstGeom>
          <a:solidFill>
            <a:srgbClr val="1C3449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19" y="2487168"/>
            <a:ext cx="2651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3D9169"/>
                </a:solidFill>
                <a:latin typeface="Aptos"/>
              </a:defRPr>
            </a:pPr>
            <a:r>
              <a:t>JAVÍTÁS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3154680"/>
            <a:ext cx="2651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ptos"/>
              </a:defRPr>
            </a:pPr>
            <a:r>
              <a:t>ok megszüntetése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00600"/>
            <a:ext cx="103327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0">
                <a:solidFill>
                  <a:srgbClr val="FFFFFF"/>
                </a:solidFill>
                <a:latin typeface="Aptos"/>
              </a:defRPr>
            </a:pPr>
            <a:r>
              <a:t>„A jó karbantartó nem találgat, hanem mér, elemez és csak ezután avatkozik be.”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19088"/>
            <a:ext cx="3840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IAP • Folyamatirányítás • 20. hét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