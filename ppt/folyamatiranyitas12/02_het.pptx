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5-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Folyamattípusok a Folyamatirányításban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Folyamatirányítás – 2. hét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5219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kell ismerni a folyamattípusokat?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31695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4251" y="235237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847608" y="2381845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Párhuzamos működés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847608" y="2790527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modern üzemekben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folytonos, szakaszos, szekvenciális és diszkrét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folyamatok egyszerre működnek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3360" y="3773388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4251" y="380880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847608" y="3838277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Különböző eszközök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847608" y="4246959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szabályozástechnika és a PLC-technika más-más folyamattípusra ad hatékony eszközt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522982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4251" y="526524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47608" y="5294709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Tervezés alapja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847608" y="5703391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helyes típusazonosítás az irányítási rendszer tervezésének alapja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83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négy folyamattípus áttekintése</a:t>
            </a:r>
            <a:endParaRPr lang="en-US" sz="3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36986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Típus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Jellemző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Ipari példa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85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Folyamatos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Fizikai jellemzők folytonosan változnak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Hőmérséklet, nyomás, szint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85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Szakaszos (batch)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Adott mennyiség feldolgozása ciklusként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Keverőtartály, vegyipari reaktor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Szekvenciális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Meghatározott lépések sorrendben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Töltés → keverés → ürítés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Diszkrét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Elkülönülő logikai állapotok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Érzékelés, válogatás, szállítópálya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352848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Folyamatos folyamatok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156123"/>
            <a:ext cx="2175019" cy="33253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370534"/>
            <a:ext cx="16446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Folytonos változás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3150096"/>
            <a:ext cx="1644609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fizikai jellemzők (hőmérséklet, nyomás, szint, fordulatszám)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folytonosan változnak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az idő függvényében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2156123"/>
            <a:ext cx="2175118" cy="33253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370534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Dinamikus reakció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3150096"/>
            <a:ext cx="1644708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bemenet megváltozására a kimenet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dinamikusan, fokozatosan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reagál – nem ugrik azonnal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1353" y="2156123"/>
            <a:ext cx="2175118" cy="33253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370534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Kulcsfogalmak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2854821"/>
            <a:ext cx="164470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Időállandó, erősítés, késleltetés, holtidő, stabilitás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87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Folyamatos folyamat – fűtött tartály példa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84488"/>
            <a:ext cx="3496877" cy="95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64053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Input: fűtőteljesítmény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4049216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Beadott hőteljesítmény (W)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359" y="2600920"/>
            <a:ext cx="3496877" cy="952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36366" y="335696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Process: tartály + folyadék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536366" y="3765649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Hőközlés és hőtárolás dinamikája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244" y="2317452"/>
            <a:ext cx="3496877" cy="952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2251" y="307349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Output: hőmérséklet T(t)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222251" y="3482181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Időfüggő hőmérsékletválasz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753273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020965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4989513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Irányítási logika: Folyamatos folyamat → Mérés → Szabályozási kör → P / PI / PID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3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7234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Szakaszos (Batch) folyamatok</a:t>
            </a:r>
            <a:endParaRPr lang="en-US" sz="3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1318121"/>
            <a:ext cx="841652" cy="10100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24928" y="1486396"/>
            <a:ext cx="530529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Feltöltés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2328168"/>
            <a:ext cx="841652" cy="10100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24928" y="2496443"/>
            <a:ext cx="530529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Keverés</a:t>
            </a:r>
            <a:endParaRPr lang="en-US" sz="16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3338215"/>
            <a:ext cx="841652" cy="101004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24928" y="3506490"/>
            <a:ext cx="530529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Fűtés &amp; Hőntartás</a:t>
            </a:r>
            <a:endParaRPr lang="en-US" sz="16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4348262"/>
            <a:ext cx="841652" cy="101004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24928" y="4516537"/>
            <a:ext cx="5305292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Ürítés → Új ciklus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5233360" y="5526980"/>
            <a:ext cx="62968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Meghatározott mennyiségű anyagot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egy adagban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dolgozunk fel. A batch technológián belül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folyamatos szabályozások is működhetnek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(pl. PID a hőmérsékletre), a műveleti sorrendet PLC vezérli.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97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Szekvenciális folyamatok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33885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Előre meghatározott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állapotok és lépések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sorrendben hajtódnak végre. A következő lépés csak akkor indul, ha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továbblépési feltétel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teljesült.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851348"/>
          <a:ext cx="9143771" cy="914400"/>
        </p:xfrm>
        <a:graphic>
          <a:graphicData uri="http://schemas.openxmlformats.org/drawingml/2006/table">
            <a:tbl>
              <a:tblPr/>
              <a:tblGrid>
                <a:gridCol w="2301090"/>
                <a:gridCol w="2301090"/>
                <a:gridCol w="2301090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Lépés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Esemény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Továbblépési feltétel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850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1. Töltés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Betöltőszelep kinyit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Felső szintérzékelő jelez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2. Keverés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Keverőmotor elindul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Időzítő lejár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847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3. Ürítés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Ürítőszelep kinyit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Alsó szintérzékelő jelez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69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Diszkrét folyamatok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3005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Folyamatos jellemző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14340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Analóg, folytonos értékkészlet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30577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Diszkrét jellemző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790057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Logikai állapot: van/nincs, be/ki, igaz/hamis, 0/1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Példa: fotoelektromos érzékelő → PLC → pneumatikus munkahenger működtetése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2776" y="2353667"/>
          <a:ext cx="9143771" cy="914400"/>
        </p:xfrm>
        <a:graphic>
          <a:graphicData uri="http://schemas.openxmlformats.org/drawingml/2006/table">
            <a:tbl>
              <a:tblPr/>
              <a:tblGrid>
                <a:gridCol w="2601897"/>
                <a:gridCol w="2601897"/>
              </a:tblGrid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Folyamatos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Diszkrét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Hőmérséklet: 63,7 °C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Fűtés: BE / KI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Nyomás: 4,2 bar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Nyomáskapcsoló: 0 / 1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Szint: 72,5 %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Szintkapcsoló: 0 / 1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84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Fordulatszám: 1430 1/min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Motor: áll / jár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9393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Vezérlés vs. Szabályozás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1568053"/>
            <a:ext cx="6296860" cy="3325019"/>
          </a:xfrm>
          <a:prstGeom prst="roundRect">
            <a:avLst>
              <a:gd name="adj" fmla="val 23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1574403"/>
            <a:ext cx="6284160" cy="1504950"/>
          </a:xfrm>
          <a:custGeom>
            <a:avLst/>
            <a:gdLst/>
            <a:ahLst/>
            <a:cxnLst/>
            <a:rect l="l" t="t" r="r" b="b"/>
            <a:pathLst>
              <a:path w="6284160" h="1504950">
                <a:moveTo>
                  <a:pt x="66156" y="0"/>
                </a:moveTo>
                <a:lnTo>
                  <a:pt x="6218004" y="0"/>
                </a:lnTo>
                <a:arcTo hR="66158" wR="66156" stAng="16200000" swAng="5400000"/>
                <a:lnTo>
                  <a:pt x="6284160" y="1504950"/>
                </a:lnTo>
                <a:lnTo>
                  <a:pt x="0" y="1504950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176341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Vezérlés – nyílt hatáslánc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2172097"/>
            <a:ext cx="5906146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Parancs → Vezérlő → Beavatkozó → Folyamat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kimenet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nem kerül visszacsatolásra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nincs korrekció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9710" y="3079353"/>
            <a:ext cx="6284160" cy="1807369"/>
          </a:xfrm>
          <a:custGeom>
            <a:avLst/>
            <a:gdLst/>
            <a:ahLst/>
            <a:cxnLst/>
            <a:rect l="l" t="t" r="r" b="b"/>
            <a:pathLst>
              <a:path w="6284160" h="1807369">
                <a:moveTo>
                  <a:pt x="0" y="0"/>
                </a:moveTo>
                <a:lnTo>
                  <a:pt x="6284160" y="0"/>
                </a:lnTo>
                <a:lnTo>
                  <a:pt x="6284160" y="1741211"/>
                </a:lnTo>
                <a:arcTo hR="66158" wR="66156" stAng="0" swAng="5400000"/>
                <a:lnTo>
                  <a:pt x="66156" y="1807369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5239710" y="307935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5428717" y="326836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Szabályozás – zárt hatáslánc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3677047"/>
            <a:ext cx="5906146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mért kimeneti értéket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visszacsatoljuk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összehasonlítjuk az alapjellel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Eltérés esetén a szabályozó beavatkozik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5105698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5373390"/>
            <a:ext cx="236234" cy="1890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47608" y="5341938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folyamat típusa és az irányítás módja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két külön kérdés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bármely típushoz alkalmazható mindkét megközelítés.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95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Összefoglalás &amp; Ellenőrző kérdések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08225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50358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Folyamatos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912269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Fizikai jellemző folytonosan változik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PID szabályozás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308225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50358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Szakaszos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912269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Adagonként termelünk, ciklusok váltják egymást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PLC + PID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901480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09684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Szekvenciális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505523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Állapotok meghatározott sorrendben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PLC állapotgép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901480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09684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Diszkrét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505523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Logikai állapotok és események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PLC logika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2159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Következő hét: folyamatos folyamatok dinamikus viselkedése –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időállandó, késleltetés, holtidő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2026-09-11T03:32:29Z</dcterms:created>
  <dcterms:modified xsi:type="dcterms:W3CDTF">2026-09-11T03:32:29Z</dcterms:modified>
</cp:coreProperties>
</file>