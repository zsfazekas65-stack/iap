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0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8288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</a:defRPr>
            </a:pPr>
            <a:r>
              <a:t>IAP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68580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12. évfolyam • Folyamatirányítás • FOLY-002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694944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Aptos"/>
              </a:defRPr>
            </a:pPr>
            <a:r>
              <a:t>FOLYAMATOK</a:t>
            </a:r>
            <a:br/>
            <a:r>
              <a:t>TÍPUSAI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60520"/>
            <a:ext cx="71323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900" b="0">
                <a:solidFill>
                  <a:srgbClr val="B4DCF2"/>
                </a:solidFill>
                <a:latin typeface="Aptos"/>
              </a:defRPr>
            </a:pPr>
            <a:r>
              <a:t>folyamatos • szakaszos • diszkrét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17320"/>
            <a:ext cx="2560320" cy="868680"/>
          </a:xfrm>
          <a:prstGeom prst="roundRect">
            <a:avLst/>
          </a:prstGeom>
          <a:solidFill>
            <a:srgbClr val="2B5376"/>
          </a:solidFill>
          <a:ln>
            <a:solidFill>
              <a:srgbClr val="56A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256032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FOLYAMATOS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2651760"/>
            <a:ext cx="2560320" cy="868680"/>
          </a:xfrm>
          <a:prstGeom prst="roundRect">
            <a:avLst/>
          </a:prstGeom>
          <a:solidFill>
            <a:srgbClr val="2B5376"/>
          </a:solidFill>
          <a:ln>
            <a:solidFill>
              <a:srgbClr val="D48B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651760"/>
            <a:ext cx="256032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BATCH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3886200"/>
            <a:ext cx="2560320" cy="868680"/>
          </a:xfrm>
          <a:prstGeom prst="roundRect">
            <a:avLst/>
          </a:prstGeom>
          <a:solidFill>
            <a:srgbClr val="2B5376"/>
          </a:solidFill>
          <a:ln>
            <a:solidFill>
              <a:srgbClr val="498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3886200"/>
            <a:ext cx="256032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DISZKRÉT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A világ nagy kérdése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Miért igényel eltérő irányítást egy olajfinomító és egy autóipari szerelősor?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2A74B2"/>
                </a:solidFill>
                <a:latin typeface="Aptos"/>
              </a:defRPr>
            </a:pPr>
            <a:r>
              <a:t>OLAJFINOMÍTÓ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folyamatos technológia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IRÁNYÍTÁS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a folyamathoz igazodik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SZERELŐSOR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diszkrét események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Három fő folyamattípus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A technológia jellege meghatározza az automatizálást.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56ACD6"/>
                </a:solidFill>
                <a:latin typeface="Aptos"/>
              </a:defRPr>
            </a:pPr>
            <a:r>
              <a:t>FOLYAMATOS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állandó anyag- és energiaáram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SZAKASZOS / BATCH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adagok és receptúrák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DISZKRÉT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darabok és események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1.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Folyamatos folyamatok.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2A74B2"/>
                </a:solidFill>
                <a:latin typeface="Aptos"/>
              </a:defRPr>
            </a:pPr>
            <a:r>
              <a:t>ERŐMŰ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energiafolyamat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56ACD6"/>
                </a:solidFill>
                <a:latin typeface="Aptos"/>
              </a:defRPr>
            </a:pPr>
            <a:r>
              <a:t>VÍZMŰ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vízkezelés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VEGYIPAR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folyamatos technológia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2.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Szakaszos (batch) folyamatok.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2A74B2"/>
                </a:solidFill>
                <a:latin typeface="Aptos"/>
              </a:defRPr>
            </a:pPr>
            <a:r>
              <a:t>RECEPTÚRA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előírt lépések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KEVERÉS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adagok feldolgozása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GYÓGYSZER / ÉLELMISZER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batch gyártás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3. tanóra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Diszkrét folyamatok.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2A74B2"/>
                </a:solidFill>
                <a:latin typeface="Aptos"/>
              </a:defRPr>
            </a:pPr>
            <a:r>
              <a:t>ROBOTCELLA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műveleti sorrend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SZERELŐSOR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darabos gyártás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CSOMAGOLÁS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eseményvezérelt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Miért fontos a besorolás?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A folyamattípus meghatározza a vezérlési és szabályozási módszereket.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2A74B2"/>
                </a:solidFill>
                <a:latin typeface="Aptos"/>
              </a:defRPr>
            </a:pPr>
            <a:r>
              <a:t>MÓDSZER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vezérlés / szabályozás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ESZKÖZ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automatizálási rendszer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STRATÉGIA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a technológiához igazítva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Ipari példák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Öt különböző technológia.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3017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56ACD6"/>
                </a:solidFill>
                <a:latin typeface="Aptos"/>
              </a:defRPr>
            </a:pPr>
            <a:r>
              <a:t>VÍZTISZTÍTÓ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29260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folyamatos elemek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32588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90472"/>
            <a:ext cx="3017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SÖRFŐZDE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29260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batch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2588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1490472"/>
            <a:ext cx="3017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AUTÓGYÁRTÁS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29260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diszkrét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20040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64992"/>
            <a:ext cx="3017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2A74B2"/>
                </a:solidFill>
                <a:latin typeface="Aptos"/>
              </a:defRPr>
            </a:pPr>
            <a:r>
              <a:t>GYÓGYSZERGYÁRTÁS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86200"/>
            <a:ext cx="29260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batch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20040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3364992"/>
            <a:ext cx="3017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13304E"/>
                </a:solidFill>
                <a:latin typeface="Aptos"/>
              </a:defRPr>
            </a:pPr>
            <a:r>
              <a:t>LOGISZTIKA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886200"/>
            <a:ext cx="29260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diszkrét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Műhelytitok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Egy gyárban több folyamattípus is együtt élhet.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GYÁRTÁS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diszkrét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56ACD6"/>
                </a:solidFill>
                <a:latin typeface="Aptos"/>
              </a:defRPr>
            </a:pPr>
            <a:r>
              <a:t>FOLYADÉKELLÁTÁS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folyamatos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ADAGOLÁS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batch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Laborötlet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Öt technológia besorolása és indoklása.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2A74B2"/>
                </a:solidFill>
                <a:latin typeface="Aptos"/>
              </a:defRPr>
            </a:pPr>
            <a:r>
              <a:t>AZONOSÍTÁS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milyen folyamat?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BESOROLÁS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folyamatos • batch • diszkrét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INDOKLÁS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miért?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IAP Mesterfeladat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Összehasonlító táblázat.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56ACD6"/>
                </a:solidFill>
                <a:latin typeface="Aptos"/>
              </a:defRPr>
            </a:pPr>
            <a:r>
              <a:t>FOLYAMATOS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jellemzők + példák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BATCH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jellemzők + példák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DISZKRÉT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jellemzők + példák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IAP Mérnöki kihívás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Automata autómosó elemzése.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2A74B2"/>
                </a:solidFill>
                <a:latin typeface="Aptos"/>
              </a:defRPr>
            </a:pPr>
            <a:r>
              <a:t>JÁRMŰ MOZGÁSA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diszkrét / sorrendi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56ACD6"/>
                </a:solidFill>
                <a:latin typeface="Aptos"/>
              </a:defRPr>
            </a:pPr>
            <a:r>
              <a:t>VÍZ ÉS VEGYSZER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folyamatos elemek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MOSÁSI CIKLUS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szakaszos jelleg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Önellenőrzés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Öt kulcskérdés.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3017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56ACD6"/>
                </a:solidFill>
                <a:latin typeface="Aptos"/>
              </a:defRPr>
            </a:pPr>
            <a:r>
              <a:t>FOLYAMATOS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29260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mit jelent?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32588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90472"/>
            <a:ext cx="3017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BATCH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29260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mit jelent?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2588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19" y="1490472"/>
            <a:ext cx="3017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DISZKRÉT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29260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mit jelent?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20040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64992"/>
            <a:ext cx="3017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2A74B2"/>
                </a:solidFill>
                <a:latin typeface="Aptos"/>
              </a:defRPr>
            </a:pPr>
            <a:r>
              <a:t>PÉLDÁK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886200"/>
            <a:ext cx="29260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mindháromra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200400"/>
            <a:ext cx="338328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3364992"/>
            <a:ext cx="30175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13304E"/>
                </a:solidFill>
                <a:latin typeface="Aptos"/>
              </a:defRPr>
            </a:pPr>
            <a:r>
              <a:t>BESOROLÁS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886200"/>
            <a:ext cx="292608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miért fontos?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3304E"/>
                </a:solidFill>
                <a:latin typeface="Aptos"/>
              </a:defRPr>
            </a:pPr>
            <a:r>
              <a:t>Moodle és házi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41248"/>
            <a:ext cx="1069848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5E7180"/>
                </a:solidFill>
                <a:latin typeface="Aptos"/>
              </a:defRPr>
            </a:pPr>
            <a:r>
              <a:t>A besorolás gyakorlása.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73952"/>
            <a:ext cx="27432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3304E"/>
                </a:solidFill>
                <a:latin typeface="Aptos"/>
              </a:defRPr>
            </a:pPr>
            <a:r>
              <a:t>IAP • FOLY-002 • 2.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6446520"/>
            <a:ext cx="4572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5E7180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2A74B2"/>
                </a:solidFill>
                <a:latin typeface="Aptos"/>
              </a:defRPr>
            </a:pPr>
            <a:r>
              <a:t>MOODLE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6 teszt • 2 párosító • 1 eset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D48B37"/>
                </a:solidFill>
                <a:latin typeface="Aptos"/>
              </a:defRPr>
            </a:pPr>
            <a:r>
              <a:t>HÁZI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3 hazai ipari példa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600200"/>
            <a:ext cx="324612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DE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764792"/>
            <a:ext cx="28803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498B6A"/>
                </a:solidFill>
                <a:latin typeface="Aptos"/>
              </a:defRPr>
            </a:pPr>
            <a:r>
              <a:t>FELADAT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286000"/>
            <a:ext cx="2788920" cy="214883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1F2D39"/>
                </a:solidFill>
                <a:latin typeface="Aptos"/>
              </a:defRPr>
            </a:pPr>
            <a:r>
              <a:t>besorolás és indoklás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0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B4DCF2"/>
                </a:solidFill>
                <a:latin typeface="Aptos"/>
              </a:defRPr>
            </a:pPr>
            <a:r>
              <a:t>KÖVETKEZŐ HÉT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00200"/>
            <a:ext cx="1033272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500" b="1">
                <a:solidFill>
                  <a:srgbClr val="FFFFFF"/>
                </a:solidFill>
                <a:latin typeface="Aptos"/>
              </a:defRPr>
            </a:pPr>
            <a:r>
              <a:t>3. HÉT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200" b="1">
                <a:solidFill>
                  <a:srgbClr val="D48B37"/>
                </a:solidFill>
                <a:latin typeface="Aptos"/>
              </a:defRPr>
            </a:pPr>
            <a:r>
              <a:t>A SZABÁLYOZÁSI KÖR ELEMEI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