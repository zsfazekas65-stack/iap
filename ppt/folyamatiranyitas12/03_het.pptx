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D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82880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Aptos"/>
              </a:defRPr>
            </a:pPr>
            <a:r>
              <a:t>IAP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73152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tos"/>
              </a:defRPr>
            </a:pPr>
            <a:r>
              <a:t>Mechatronikai technikus • Folyamatirányítás • 3. hét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6675120" cy="685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A SZABÁLYOZÁSI KÖR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68880"/>
            <a:ext cx="667512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800" b="1">
                <a:solidFill>
                  <a:srgbClr val="DE9136"/>
                </a:solidFill>
                <a:latin typeface="Aptos"/>
              </a:defRPr>
            </a:pPr>
            <a:r>
              <a:t>ELEMEI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325880"/>
            <a:ext cx="3749039" cy="3840480"/>
          </a:xfrm>
          <a:prstGeom prst="roundRect">
            <a:avLst/>
          </a:prstGeom>
          <a:solidFill>
            <a:srgbClr val="1F4465"/>
          </a:solidFill>
          <a:ln>
            <a:solidFill>
              <a:srgbClr val="42AA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09560" y="1600200"/>
            <a:ext cx="320040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1">
                <a:solidFill>
                  <a:srgbClr val="42AAD2"/>
                </a:solidFill>
                <a:latin typeface="Aptos"/>
              </a:defRPr>
            </a:pPr>
            <a:r>
              <a:t>ALAPJEL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2057400"/>
            <a:ext cx="914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ptos"/>
              </a:defRPr>
            </a:pPr>
            <a: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2514600"/>
            <a:ext cx="35661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SZABÁLYOZÓ → BEAVATKOZÓ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3154680"/>
            <a:ext cx="320040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↓ FOLYAMAT 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3794760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900" b="1">
                <a:solidFill>
                  <a:srgbClr val="DE9136"/>
                </a:solidFill>
                <a:latin typeface="Aptos"/>
              </a:defRPr>
            </a:pPr>
            <a:r>
              <a:t>ÉRZÉKELŐ 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A világ nagy kérdése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Mitől lesz egy technológiai folyamat stabil és önszabályozó?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6576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Folyamatirányítás • 3.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2B78B8"/>
                </a:solidFill>
                <a:latin typeface="Aptos"/>
              </a:defRPr>
            </a:pPr>
            <a:r>
              <a:t>MÉRÉS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érzékelő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DE9136"/>
                </a:solidFill>
                <a:latin typeface="Aptos"/>
              </a:defRPr>
            </a:pPr>
            <a:r>
              <a:t>DÖNTÉS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szabályozó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BEAVATKOZÁS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aktuátor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Történelmi kitekintés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Watttól a PLC- és DCS-rendszerekig.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6576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Folyamatirányítás • 3.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2B78B8"/>
                </a:solidFill>
                <a:latin typeface="Aptos"/>
              </a:defRPr>
            </a:pPr>
            <a:r>
              <a:t>WATT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centrifugális szabályozó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42AAD2"/>
                </a:solidFill>
                <a:latin typeface="Aptos"/>
              </a:defRPr>
            </a:pPr>
            <a:r>
              <a:t>ALAPELV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mérés • döntés • beavatkozás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PLC / DCS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A szabályozási kör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A zárt kör fő elemei.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6576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Folyamatirányítás • 3.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49377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2B78B8"/>
                </a:solidFill>
                <a:latin typeface="Aptos"/>
              </a:defRPr>
            </a:pPr>
            <a:r>
              <a:t>ALAPJEL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39112"/>
            <a:ext cx="484632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kívánt érték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1732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554480"/>
            <a:ext cx="49377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42AAD2"/>
                </a:solidFill>
                <a:latin typeface="Aptos"/>
              </a:defRPr>
            </a:pPr>
            <a:r>
              <a:t>ÉRZÉKELŐ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39112"/>
            <a:ext cx="484632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mért érték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7472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11879"/>
            <a:ext cx="49377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DE9136"/>
                </a:solidFill>
                <a:latin typeface="Aptos"/>
              </a:defRPr>
            </a:pPr>
            <a:r>
              <a:t>SZABÁLYOZÓ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096511"/>
            <a:ext cx="484632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összehasonlítás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47472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3611879"/>
            <a:ext cx="49377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BEAVATKOZÓ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096511"/>
            <a:ext cx="484632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folyamatmódosítás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Visszacsatolás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A folyamatos korrekció alapja.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6576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Folyamatirányítás • 3.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49377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2B78B8"/>
                </a:solidFill>
                <a:latin typeface="Aptos"/>
              </a:defRPr>
            </a:pPr>
            <a:r>
              <a:t>FOLYAMAT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39112"/>
            <a:ext cx="484632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kimenet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1732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554480"/>
            <a:ext cx="49377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42AAD2"/>
                </a:solidFill>
                <a:latin typeface="Aptos"/>
              </a:defRPr>
            </a:pPr>
            <a:r>
              <a:t>MÉRÉS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39112"/>
            <a:ext cx="484632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visszajelzés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7472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11879"/>
            <a:ext cx="49377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DE9136"/>
                </a:solidFill>
                <a:latin typeface="Aptos"/>
              </a:defRPr>
            </a:pPr>
            <a:r>
              <a:t>ELTÉRÉS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096511"/>
            <a:ext cx="484632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hiba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47472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3611879"/>
            <a:ext cx="49377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KORREKCIÓ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096511"/>
            <a:ext cx="484632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beavatkozás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P&amp;ID példa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Tartály szintszabályozása.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6576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Folyamatirányítás • 3.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49377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2B78B8"/>
                </a:solidFill>
                <a:latin typeface="Aptos"/>
              </a:defRPr>
            </a:pPr>
            <a:r>
              <a:t>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39112"/>
            <a:ext cx="484632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szintérzékelő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1732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554480"/>
            <a:ext cx="49377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42AAD2"/>
                </a:solidFill>
                <a:latin typeface="Aptos"/>
              </a:defRPr>
            </a:pPr>
            <a:r>
              <a:t>PLC / PID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39112"/>
            <a:ext cx="484632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szabályozó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7472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11879"/>
            <a:ext cx="49377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DE9136"/>
                </a:solidFill>
                <a:latin typeface="Aptos"/>
              </a:defRPr>
            </a:pPr>
            <a:r>
              <a:t>LV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096511"/>
            <a:ext cx="484632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szabályozó szelep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474720"/>
            <a:ext cx="521208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3611879"/>
            <a:ext cx="493776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TARTÁLY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096511"/>
            <a:ext cx="484632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folyamat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Ipari példák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Ugyanaz az elv különböző technológiákban.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6576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Folyamatirányítás • 3.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2B78B8"/>
                </a:solidFill>
                <a:latin typeface="Aptos"/>
              </a:defRPr>
            </a:pPr>
            <a:r>
              <a:t>KAZÁN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hőmérséklet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42AAD2"/>
                </a:solidFill>
                <a:latin typeface="Aptos"/>
              </a:defRPr>
            </a:pPr>
            <a:r>
              <a:t>TARTÁLY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szint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VENTILÁTOR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fordulatszám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Laborfeladat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Rajzolj és magyarázz el egy zárt szabályozási kört.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6576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Folyamatirányítás • 3.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2B78B8"/>
                </a:solidFill>
                <a:latin typeface="Aptos"/>
              </a:defRPr>
            </a:pPr>
            <a:r>
              <a:t>RAJZ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elemek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42AAD2"/>
                </a:solidFill>
                <a:latin typeface="Aptos"/>
              </a:defRPr>
            </a:pPr>
            <a:r>
              <a:t>JELÚT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érzékelőtől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MAGYARÁZAT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beavatkozásig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Műhelytitok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A szabályozás minősége a mérésen is múlik.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6576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Folyamatirányítás • 3.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DE9136"/>
                </a:solidFill>
                <a:latin typeface="Aptos"/>
              </a:defRPr>
            </a:pPr>
            <a:r>
              <a:t>HIBÁS ÉRZÉKELŐ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rossz adat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2B78B8"/>
                </a:solidFill>
                <a:latin typeface="Aptos"/>
              </a:defRPr>
            </a:pPr>
            <a:r>
              <a:t>SZABÁLYOZÓ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rossz döntés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FOLYAMAT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hibás működés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IAP Mesterfeladat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Hőmérséklet-szabályozó blokkdiagram.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6576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Folyamatirányítás • 3.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2B78B8"/>
                </a:solidFill>
                <a:latin typeface="Aptos"/>
              </a:defRPr>
            </a:pPr>
            <a:r>
              <a:t>ÉRZÉKELŐ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T mérés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42AAD2"/>
                </a:solidFill>
                <a:latin typeface="Aptos"/>
              </a:defRPr>
            </a:pPr>
            <a:r>
              <a:t>SZABÁLYOZÓ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PLC / PID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VISSZACSATOLÁS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jelöld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500" b="1">
                <a:solidFill>
                  <a:srgbClr val="122D48"/>
                </a:solidFill>
                <a:latin typeface="Aptos"/>
              </a:defRPr>
            </a:pPr>
            <a:r>
              <a:t>Következő hét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69848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00" b="0">
                <a:solidFill>
                  <a:srgbClr val="637380"/>
                </a:solidFill>
                <a:latin typeface="Aptos"/>
              </a:defRPr>
            </a:pPr>
            <a:r>
              <a:t>Jelek a folyamatirányításban.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446520"/>
            <a:ext cx="36576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900" b="1">
                <a:solidFill>
                  <a:srgbClr val="122D48"/>
                </a:solidFill>
                <a:latin typeface="Aptos"/>
              </a:defRPr>
            </a:pPr>
            <a:r>
              <a:t>IAP • Folyamatirányítás • 3. hét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28232"/>
            <a:ext cx="4114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637380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2B78B8"/>
                </a:solidFill>
                <a:latin typeface="Aptos"/>
              </a:defRPr>
            </a:pPr>
            <a:r>
              <a:t>ANALÓG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folytonos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42AAD2"/>
                </a:solidFill>
                <a:latin typeface="Aptos"/>
              </a:defRPr>
            </a:pPr>
            <a:r>
              <a:t>DIGITÁLIS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kétállapotú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1508760"/>
            <a:ext cx="3310128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C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1645919"/>
            <a:ext cx="3035808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500" b="1">
                <a:solidFill>
                  <a:srgbClr val="3F8F68"/>
                </a:solidFill>
                <a:latin typeface="Aptos"/>
              </a:defRPr>
            </a:pPr>
            <a:r>
              <a:t>IPARI JELEK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130552"/>
            <a:ext cx="2944368" cy="23774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300" b="0">
                <a:solidFill>
                  <a:srgbClr val="243441"/>
                </a:solidFill>
                <a:latin typeface="Aptos"/>
              </a:defRPr>
            </a:pPr>
            <a:r>
              <a:t>alkalmazás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