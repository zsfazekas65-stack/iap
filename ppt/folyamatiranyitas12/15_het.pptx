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Mechatronikai technikus • Folyamatirányítás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29260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600" b="1">
                <a:solidFill>
                  <a:srgbClr val="E19137"/>
                </a:solidFill>
                <a:latin typeface="Aptos"/>
              </a:defRPr>
            </a:pPr>
            <a:r>
              <a:t>PID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645920"/>
            <a:ext cx="56692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6766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Gyakorlati alkalmazás • stabilitás • pontosság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4206240"/>
            <a:ext cx="256032" cy="18288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90688" y="3886200"/>
            <a:ext cx="256032" cy="50292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74736" y="3566160"/>
            <a:ext cx="256032" cy="82296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58784" y="3246120"/>
            <a:ext cx="256032" cy="114300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2832" y="3063239"/>
            <a:ext cx="256032" cy="132588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3154679"/>
            <a:ext cx="256032" cy="123444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10928" y="3337560"/>
            <a:ext cx="256032" cy="105156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94976" y="3474720"/>
            <a:ext cx="256032" cy="91440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429000"/>
            <a:ext cx="256032" cy="96012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63072" y="3474720"/>
            <a:ext cx="256032" cy="914400"/>
          </a:xfrm>
          <a:prstGeom prst="rect">
            <a:avLst/>
          </a:prstGeom>
          <a:solidFill>
            <a:srgbClr val="E19137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AA9C4"/>
                </a:solidFill>
                <a:latin typeface="Aptos"/>
              </a:defRPr>
            </a:pPr>
            <a:r>
              <a:t>ALAPJEL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2423160"/>
            <a:ext cx="3749039" cy="73152"/>
          </a:xfrm>
          <a:prstGeom prst="rect">
            <a:avLst/>
          </a:prstGeom>
          <a:solidFill>
            <a:srgbClr val="3AA9C4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A szabályozási kör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cél: a technológiai jellemző előírt értéken tartása.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82880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ALAPJEL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kívánt érték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2788920"/>
            <a:ext cx="32004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51760" y="182880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965960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87168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szabályozó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788920"/>
            <a:ext cx="320039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83479" y="182880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965960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BEAVATKOZÓ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2487168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végrehajtás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59" y="2788920"/>
            <a:ext cx="32004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199" y="182880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965960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2B44"/>
                </a:solidFill>
                <a:latin typeface="Aptos"/>
              </a:defRPr>
            </a:pPr>
            <a:r>
              <a:t>FOLYAMAT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487168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technológia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0" y="2788920"/>
            <a:ext cx="320039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19" y="182880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965960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799" y="2487168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57200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2B44"/>
                </a:solidFill>
                <a:latin typeface="Aptos"/>
              </a:defRPr>
            </a:pPr>
            <a:r>
              <a:t>VISSZACSATOLÁS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378440" y="3886200"/>
            <a:ext cx="0" cy="105156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325880" y="4937760"/>
            <a:ext cx="905256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25880" y="3886200"/>
            <a:ext cx="0" cy="105156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A PID három tagja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Mindhárom tag más módon alakítja a rendszer válaszát.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19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 - PROPORCIONÁLIS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880360" cy="2697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Gyors reakció.</a:t>
            </a:r>
            <a:br/>
            <a:r>
              <a:t>A pillanatnyi hibára reagál.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461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I - INTEGRÁLÓ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67128"/>
            <a:ext cx="2880360" cy="2697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Megszünteti az állandósult hibát.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2461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19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D - DERIVÁLÓ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67128"/>
            <a:ext cx="2880360" cy="2697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Csökkenti a lengéseket és javítja a stabilitást.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Példa 1 - Hőmérséklet-szabályozás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PT100 → PLC PID → SSR → fűtőbetét.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PT100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hőmérséklet-mérés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926080"/>
            <a:ext cx="36576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PLC 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szabályozás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926080"/>
            <a:ext cx="36576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SSR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teljesítménykapcsolás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0" y="2926080"/>
            <a:ext cx="365759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FŰTŐBETÉT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beavatkozás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2B44"/>
                </a:solidFill>
                <a:latin typeface="Aptos"/>
              </a:defRPr>
            </a:pPr>
            <a:r>
              <a:t>A PLC PID algoritmusa az SSR-en keresztül szabályozza a fűtőbetét teljesítményét.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Példa 2 - Nyomásszabályozás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Állandó nyomás frekvenciaváltóval vezérelt szivattyúval.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NYOMÁSÉRZÉKELŐ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4-20 mA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926080"/>
            <a:ext cx="36576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PLC 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számítás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926080"/>
            <a:ext cx="36576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fordulatszám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0" y="2926080"/>
            <a:ext cx="365759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nyomás létrehozása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PID hangolás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Kp, Ti és Td helyes beállítása gyors, stabil és pontos szabályozást eredményez.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1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Kp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67128"/>
            <a:ext cx="297180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 proporcionális hatás beállítása.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1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67128"/>
            <a:ext cx="297180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Az integráló hatás időparamétere.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1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67128"/>
            <a:ext cx="297180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 deriváló hatás időparamétere.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166360"/>
            <a:ext cx="35204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42B44"/>
                </a:solidFill>
                <a:latin typeface="Aptos"/>
              </a:defRPr>
            </a:pPr>
            <a:r>
              <a:t>AUTO-TUNING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Mit keresünk a hangolással?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Nem a leggyorsabb válasz a cél, hanem a gyors, stabil és pontos működés.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39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GYORS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880360" cy="251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 rendszer megfelelő sebességgel reagál.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91639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STABIL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12848"/>
            <a:ext cx="2880360" cy="251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 lengések csökkennek, a folyamat nem válik instabillá.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5448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91639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PONTOS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212848"/>
            <a:ext cx="2880360" cy="251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 szabályozott jellemző a kívánt értéken marad.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Hol találkozunk PID szabályozással?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jegyzet ipari alkalmazási területei.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HVAC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75688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PID alkalmazás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39" y="141732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8999" y="1554480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KEMENCÉK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75688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PID alkalmazás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141732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SZIVATTYÚÁLLOMÁS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75688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PID alkalmazás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41732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554480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VEGYIPAR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075688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PID alkalmazás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7472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11879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ROBOTIKA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33087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PID alkalmazás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39" y="347472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8999" y="3611879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CSOMAGOLÓGÉP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133087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PID alkalmazás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59" y="347472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611879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EXTRUDER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133087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PID alkalmazás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Tervezd meg egy 60 °C-os szárítókamra PID szabályozását!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4688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2194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67128"/>
            <a:ext cx="21031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Mit mérsz és mivel?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508760"/>
            <a:ext cx="24688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645919"/>
            <a:ext cx="2194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VEZÉRLŐ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167128"/>
            <a:ext cx="21031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Hol fut a PID?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1508760"/>
            <a:ext cx="24688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645919"/>
            <a:ext cx="2194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BEAVATKOZÓ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167128"/>
            <a:ext cx="21031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Mivel változtatod a hőmérsékletet?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1976" y="1508760"/>
            <a:ext cx="24688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1645919"/>
            <a:ext cx="2194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ZAVARÁS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2167128"/>
            <a:ext cx="21031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Mi térítheti el a folyamatot?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983480"/>
            <a:ext cx="6675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42B44"/>
                </a:solidFill>
                <a:latin typeface="Aptos"/>
              </a:defRPr>
            </a:pPr>
            <a:r>
              <a:t>SZABÁLYOZOTT JELLEMZŐ: 60 °C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PID = PONTOSSÁG + STABILITÁS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05740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2770AB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60" y="205740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E19137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05740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3E9169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880360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gyors reakció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880360"/>
            <a:ext cx="3566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állandósult hiba megszüntetése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880360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lengések csökkentése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„A jó szabályozó nem a leggyorsabb, hanem az, amelyik a legstabilabban tartja a kívánt állapotot.”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15.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