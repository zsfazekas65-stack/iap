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 ExtraBold"/>
      <p:regular r:id="rId201315"/>
    </p:embeddedFont>
    <p:embeddedFont>
      <p:font typeface="Noto Sans"/>
      <p:regular r:id="rId201316"/>
    </p:embeddedFont>
    <p:embeddedFont>
      <p:font typeface="Noto Sans Medium"/>
      <p:regular r:id="rId201317"/>
    </p:embeddedFont>
    <p:embeddedFont>
      <p:font typeface="Noto Sans Semi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Üdvözöljük a hallgatókat! Ez a tananyag az elektrotechnika egyik legfontosabb módszertanát mutatja be: hogyan redukálható bármely bonyolult lineáris hálózat egyetlen forrásra és egyetlen belső ellenállásra.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Hangsúlyozzuk ki a lényeget: a fogyasztó nem tudja, mi van a dobozban. Legyen szó száz alkatrészből álló tápegységről vagy egyszerű osztóról, a két kivezetés felől ugyanazt a feszültséget és áramot érzékeli.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Mutassuk be a kapcsolási rajzot: ez egy klasszikus terheletlen feszültségosztó. R1 és R2 sorba van kötve a 12 voltos táppal. Az A és B pontok közötti kimenetre fogjuk később a fogyasztót csatlakoztatni.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Vezessük le a lépéseket: a feszültségosztó képletéből azonnal adódik az üresjárási feszültség (8 V). A belső ellenállás kiszámításához a tápegységet rövidzárnak tekintjük, így a 2 kΩ és 4 kΩ párhuzamosan kapcsolódik.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Norton-helyettesítésnél a rövidzárási áramot számoljuk ki: ha A és B összeér, R2 kiesik, csak R1 korlátozza a 12 V-os áramot (6 mA). Az áramosztás képletével kapott 1,5 mA megerősíti a teljes ekvivalenciát.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táblázat kristálytisztán mutatja az egyezést. Felhívhatjuk a figyelmet az Ohm-törvény szerinti átváltásra is: a 6 mA szorozva az 1,33 kΩ-mal pontosan kiadja a 8 V-os Thévenin-feszültséget.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Záró kérdés a fogalmi megértés ellenőrzésére: a forrásparaméterek a vizsgált hálózatot jellemzik, függetlenek a kimenetre kapcsolt fogyasztó nagyságától.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51874"/>
            <a:ext cx="70356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VILLAMOS ALAPISMERETEK · IAP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2027834"/>
            <a:ext cx="6578435" cy="1355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4600" spc="-4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Thévenin és Norton</a:t>
            </a:r>
            <a:endParaRPr lang="en-US" sz="4600" dirty="0"/>
          </a:p>
          <a:p>
            <a:pPr algn="l" indent="0" marL="0">
              <a:lnSpc>
                <a:spcPct val="97000"/>
              </a:lnSpc>
              <a:buNone/>
            </a:pPr>
            <a:r>
              <a:rPr lang="en-US" sz="4600" spc="-4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tételének </a:t>
            </a:r>
            <a:pPr algn="l" indent="0" marL="0">
              <a:lnSpc>
                <a:spcPct val="97000"/>
              </a:lnSpc>
              <a:buNone/>
            </a:pPr>
            <a:r>
              <a:rPr lang="en-US" sz="4600" i="1" spc="-46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jelentősége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279393" y="3611463"/>
            <a:ext cx="1644609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4080728"/>
            <a:ext cx="6578435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Lineáris kétpólusok helyettesítő kapcsolásai és számítási elvei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9393" y="4851499"/>
            <a:ext cx="703562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spc="15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Tanulj! Alkalmazz! Alkoss! · Rövid elmélet és két levezetett példa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9393" y="5212655"/>
            <a:ext cx="703562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Integrált Automatika Program · Technikus képzés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11" name="Text 9"/>
          <p:cNvSpPr/>
          <p:nvPr/>
        </p:nvSpPr>
        <p:spPr>
          <a:xfrm>
            <a:off x="7619809" y="2100888"/>
            <a:ext cx="406389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CÉLKITŰZÉS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19809" y="2474913"/>
            <a:ext cx="406389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Összetett lineáris áramkörök leegyszerűsítése a terhelő kétpólus szemszögéből egyetlen forrásra és impedanciára.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19809" y="3950624"/>
            <a:ext cx="406389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EREDMÉNY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19809" y="4324648"/>
            <a:ext cx="406389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Feszültség- és áramgenerátoros egyenértékűség gyors terhelésvizsgálathoz és illesztéshez.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19809" y="3733800"/>
            <a:ext cx="4063898" cy="127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16" name="Text 14"/>
          <p:cNvSpPr/>
          <p:nvPr/>
        </p:nvSpPr>
        <p:spPr>
          <a:xfrm>
            <a:off x="609585" y="6446540"/>
            <a:ext cx="11410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01 / 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51874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ELMÉLET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21589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Alapelvek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19243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104659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MODELLEK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72944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 · Technikus modul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73450"/>
            <a:ext cx="868658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1B265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Egy bonyolult hálózat két kivezetés felől egyszerű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52300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805583"/>
            <a:ext cx="86865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Bármilyen kiterjedt, lineáris ellenállásokból és forrásokból álló hálózat a terhelés felől két egyszerű ekvivalenssel írható le: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46326" y="2535169"/>
            <a:ext cx="289552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4E0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FESZÜLTSÉGGENERÁTOR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6326" y="2813308"/>
            <a:ext cx="266693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659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Thévenin-modell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946326" y="3270448"/>
            <a:ext cx="2666933" cy="802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Ideális feszültségforrás (</a:t>
            </a:r>
            <a:pPr algn="l" indent="0" marL="0">
              <a:lnSpc>
                <a:spcPct val="117000"/>
              </a:lnSpc>
              <a:buNone/>
            </a:pPr>
            <a:r>
              <a:rPr lang="en-US" sz="1450" i="1" dirty="0">
                <a:solidFill>
                  <a:srgbClr val="22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és soros belső ellenállás (</a:t>
            </a:r>
            <a:pPr algn="l" indent="0" marL="0">
              <a:lnSpc>
                <a:spcPct val="117000"/>
              </a:lnSpc>
              <a:buNone/>
            </a:pPr>
            <a:r>
              <a:rPr lang="en-US" sz="1450" i="1" dirty="0">
                <a:solidFill>
                  <a:srgbClr val="22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).</a:t>
            </a:r>
            <a:endParaRPr lang="en-US" sz="1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5810" y="3303786"/>
            <a:ext cx="302709" cy="229691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603" y="3571577"/>
            <a:ext cx="316897" cy="22969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46326" y="4205287"/>
            <a:ext cx="266693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A5F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Közvetlenül mutatja a kimeneti feszültséget és a terhelés hatását a kapocsfeszültségre.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070448" y="2535169"/>
            <a:ext cx="266693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4E0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ÁRAMGENERÁTOR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070448" y="2813308"/>
            <a:ext cx="2438339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659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Norton-modell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6070448" y="3270448"/>
            <a:ext cx="2438339" cy="802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Ideális áramforrás (</a:t>
            </a:r>
            <a:pPr algn="l" indent="0" marL="0">
              <a:lnSpc>
                <a:spcPct val="117000"/>
              </a:lnSpc>
              <a:buNone/>
            </a:pPr>
            <a:r>
              <a:rPr lang="en-US" sz="1450" i="1" dirty="0">
                <a:solidFill>
                  <a:srgbClr val="22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és párhuzamos belső ellenállás (</a:t>
            </a:r>
            <a:pPr algn="l" indent="0" marL="0">
              <a:lnSpc>
                <a:spcPct val="117000"/>
              </a:lnSpc>
              <a:buNone/>
            </a:pPr>
            <a:r>
              <a:rPr lang="en-US" sz="1450" i="1" dirty="0">
                <a:solidFill>
                  <a:srgbClr val="22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).</a:t>
            </a:r>
            <a:endParaRPr lang="en-US" sz="15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396" y="3303786"/>
            <a:ext cx="188709" cy="229691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316" y="3838277"/>
            <a:ext cx="248140" cy="2296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070448" y="4205287"/>
            <a:ext cx="243833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A5F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Párhuzamos ágak, csomóponti árameloszlás és áramhurkok vizsgálatánál kifejezetten kényelmes.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965976" y="2535169"/>
            <a:ext cx="266693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4E0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GYAKORLATI HASZON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965976" y="2813308"/>
            <a:ext cx="2666933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1B2659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Automatikai technikusoknak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8965976" y="3584079"/>
            <a:ext cx="2666933" cy="801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fogyasztó (</a:t>
            </a:r>
            <a:pPr algn="l" indent="0" marL="0">
              <a:lnSpc>
                <a:spcPct val="117000"/>
              </a:lnSpc>
              <a:buNone/>
            </a:pPr>
            <a:r>
              <a:rPr lang="en-US" sz="1450" i="1" dirty="0">
                <a:solidFill>
                  <a:srgbClr val="22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mindkét modell felől pontosan ugyanúgy viselkedik.</a:t>
            </a:r>
            <a:endParaRPr lang="en-US" sz="15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733" y="3617416"/>
            <a:ext cx="201211" cy="2296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65976" y="4517826"/>
            <a:ext cx="266693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A5F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Kulcsfontosságú az ipari érzékelők, analóg bemenetek és elektronikus kimenetek impedancia-illesztéséhez.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30" name="Shape 23"/>
          <p:cNvSpPr/>
          <p:nvPr/>
        </p:nvSpPr>
        <p:spPr>
          <a:xfrm>
            <a:off x="5835504" y="2527895"/>
            <a:ext cx="12700" cy="3542705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31" name="Shape 24"/>
          <p:cNvSpPr/>
          <p:nvPr/>
        </p:nvSpPr>
        <p:spPr>
          <a:xfrm>
            <a:off x="8731032" y="2527895"/>
            <a:ext cx="12700" cy="3542705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32" name="Text 25"/>
          <p:cNvSpPr/>
          <p:nvPr/>
        </p:nvSpPr>
        <p:spPr>
          <a:xfrm>
            <a:off x="609585" y="6446540"/>
            <a:ext cx="11410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02 / 07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51874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MINTAPÉLDA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21589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Lépés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19243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104659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KIINDULÁS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72944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 = 12 V osztó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73450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1B265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Kiinduló áramkör: 12 V-os feszültségosztó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11154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396634"/>
            <a:ext cx="363210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4E0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HÁLÓZATI PARAMÉTEREK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46326" y="1699220"/>
            <a:ext cx="3632109" cy="1014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Tápfeszültség: 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U = 12 V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Felső ellenállás: 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R₁ = 2 kΩ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Alsó ellenállás: 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dirty="0">
                <a:solidFill>
                  <a:srgbClr val="22262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R₂ = 4 kΩ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46326" y="2845594"/>
            <a:ext cx="363210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Az </a:t>
            </a:r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22262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A–B pontok</a:t>
            </a:r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között vizsgáljuk a hálózatot: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46326" y="3511550"/>
            <a:ext cx="3632109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A5F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Az </a:t>
            </a:r>
            <a:pPr algn="l" indent="0" marL="0">
              <a:lnSpc>
                <a:spcPct val="108000"/>
              </a:lnSpc>
              <a:buNone/>
            </a:pPr>
            <a:r>
              <a:rPr lang="en-US" sz="1250" b="1" spc="12" kern="100" dirty="0">
                <a:solidFill>
                  <a:srgbClr val="5A5F6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 pont</a:t>
            </a:r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A5F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az R₁ és R₂ közös csomópontja, míg a </a:t>
            </a:r>
            <a:pPr algn="l" indent="0" marL="0">
              <a:lnSpc>
                <a:spcPct val="108000"/>
              </a:lnSpc>
              <a:buNone/>
            </a:pPr>
            <a:r>
              <a:rPr lang="en-US" sz="1250" b="1" spc="12" kern="100" dirty="0">
                <a:solidFill>
                  <a:srgbClr val="5A5F6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B pont</a:t>
            </a:r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A5F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az alsó közös referenciavezeték.</a:t>
            </a:r>
            <a:endParaRPr lang="en-US" sz="12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3129" y="2408535"/>
            <a:ext cx="4749780" cy="2642791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17" name="Text 14"/>
          <p:cNvSpPr/>
          <p:nvPr/>
        </p:nvSpPr>
        <p:spPr>
          <a:xfrm>
            <a:off x="609585" y="6446540"/>
            <a:ext cx="11410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03 / 07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51874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HELYETTESÍTÉS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21589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Thévenin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19243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104659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8 V · 1,33 KΩ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72944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 · Számítás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73450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1B265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Thévenin-helyettesítés: 8 V és 1,33 kΩ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11154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396634"/>
            <a:ext cx="447028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4E0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1. LÉPÉS: ÜRESJÁRÁSI FESZÜLTSÉG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6326" y="1699220"/>
            <a:ext cx="4470288" cy="62914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946326" y="2462640"/>
            <a:ext cx="4470288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4E0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2. LÉPÉS: BELSŐ ELLENÁLLÁS (FORRÁS RÖVIDZÁR)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326" y="2948087"/>
            <a:ext cx="4470288" cy="6144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46326" y="3696822"/>
            <a:ext cx="447028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4E0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TERHELÉS CSATLAKOZTATÁSA (RT = 4 KΩ)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326" y="3999409"/>
            <a:ext cx="4470288" cy="1303933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308" y="2464792"/>
            <a:ext cx="3911502" cy="2530277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19" name="Text 13"/>
          <p:cNvSpPr/>
          <p:nvPr/>
        </p:nvSpPr>
        <p:spPr>
          <a:xfrm>
            <a:off x="609585" y="6446540"/>
            <a:ext cx="11410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04 / 07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51874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HELYETTESÍTÉS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21589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Norton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19243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104659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6 MA · 1,33 KΩ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72944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 · Számítás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73450"/>
            <a:ext cx="86865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1B265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Norton-helyettesítés: ugyanaz a hálózat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11154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11" name="Text 9"/>
          <p:cNvSpPr/>
          <p:nvPr/>
        </p:nvSpPr>
        <p:spPr>
          <a:xfrm>
            <a:off x="2946326" y="1396634"/>
            <a:ext cx="447028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4E0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1. LÉPÉS: RÖVIDZÁRÁSI ÁRAM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46326" y="1703983"/>
            <a:ext cx="44702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Az A–B pontokat rövidre zárjuk; ekkor R₂-re 0 V jut, az áramot R₁ korlátozza: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6326" y="2359620"/>
            <a:ext cx="4470288" cy="64551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946326" y="3139411"/>
            <a:ext cx="447028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4E0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2. LÉPÉS: NORTON-ELLENÁLLÁS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326" y="3441998"/>
            <a:ext cx="4470288" cy="3716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46326" y="3947945"/>
            <a:ext cx="4470288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8A4E0E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3. LÉPÉS: ÁRAMOSZTÁS A FOGYASZTÓN (RT = 4 KΩ)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326" y="4433391"/>
            <a:ext cx="4470288" cy="1292523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308" y="2464792"/>
            <a:ext cx="3911502" cy="2530277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20" name="Text 14"/>
          <p:cNvSpPr/>
          <p:nvPr/>
        </p:nvSpPr>
        <p:spPr>
          <a:xfrm>
            <a:off x="609585" y="6446540"/>
            <a:ext cx="11410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05 / 07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51874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SZINTÉZIS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521123"/>
            <a:ext cx="215894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Mérleg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393" y="1924348"/>
            <a:ext cx="482588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2104659"/>
            <a:ext cx="215894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FFFFFF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ÖSSZEVETÉS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393" y="5772944"/>
            <a:ext cx="215894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IAP · Ekvivalencia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46326" y="473450"/>
            <a:ext cx="8686583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spc="-30" kern="100" dirty="0">
                <a:solidFill>
                  <a:srgbClr val="1B2659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Összehasonlítás: két leírás, ugyanaz az eredmény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46326" y="1523008"/>
            <a:ext cx="8686583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46326" y="1800820"/>
          <a:ext cx="8686583" cy="914400"/>
        </p:xfrm>
        <a:graphic>
          <a:graphicData uri="http://schemas.openxmlformats.org/drawingml/2006/table">
            <a:tbl>
              <a:tblPr/>
              <a:tblGrid>
                <a:gridCol w="2953371"/>
                <a:gridCol w="2866556"/>
                <a:gridCol w="2866656"/>
              </a:tblGrid>
              <a:tr h="4685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spc="135" kern="100" dirty="0">
                          <a:solidFill>
                            <a:srgbClr val="1B2659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JELLEMZŐ</a:t>
                      </a:r>
                      <a:endParaRPr lang="en-US" sz="13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spc="135" kern="100" dirty="0">
                          <a:solidFill>
                            <a:srgbClr val="1B2659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THÉVENIN</a:t>
                      </a:r>
                      <a:endParaRPr lang="en-US" sz="13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spc="135" kern="100" dirty="0">
                          <a:solidFill>
                            <a:srgbClr val="1B2659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NORTON</a:t>
                      </a:r>
                      <a:endParaRPr lang="en-US" sz="13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Helyettesítő forrás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8 V (feszültséggenerátor)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6 mA (áramgenerátor)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Belső ellenállás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1,33 kΩ (soros kapcsolás)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1,33 kΩ (párhuzamos kapcsolás)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Fogyasztó (Rt)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 kΩ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 kΩ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Fogyasztó árama (It)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≈ 1,5 mA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262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≈ 1,5 mA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52396" marR="152396" marT="101598" marB="101598" anchor="ctr">
                    <a:lnL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F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2946326" y="5874544"/>
            <a:ext cx="924536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5A5F6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Közvetlen átjárás a két modell között: U_Th = I_N · R_belső (8 V = 6 mA · 1,33 kΩ).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431989" y="0"/>
            <a:ext cx="12700" cy="6858000"/>
          </a:xfrm>
          <a:prstGeom prst="rect">
            <a:avLst/>
          </a:prstGeom>
          <a:solidFill>
            <a:srgbClr val="E3A33B"/>
          </a:solidFill>
          <a:ln/>
        </p:spPr>
      </p:sp>
      <p:sp>
        <p:nvSpPr>
          <p:cNvPr id="14" name="Text 11"/>
          <p:cNvSpPr/>
          <p:nvPr/>
        </p:nvSpPr>
        <p:spPr>
          <a:xfrm>
            <a:off x="609585" y="6446540"/>
            <a:ext cx="11410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06 / 07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3" name="Shape 1"/>
          <p:cNvSpPr/>
          <p:nvPr/>
        </p:nvSpPr>
        <p:spPr>
          <a:xfrm>
            <a:off x="279294" y="330200"/>
            <a:ext cx="660284" cy="660301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9393" y="1251874"/>
            <a:ext cx="784840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GONDOLKODTATÓ KÉRDÉS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9393" y="1836713"/>
            <a:ext cx="7340416" cy="223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3800" spc="-38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Ha a 4 kΩ-os fogyasztót 2 kΩ-osra cseréljük, megváltozik-e a Thévenin-feszültség vagy a Norton-áram?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79393" y="4312444"/>
            <a:ext cx="1835104" cy="31651"/>
          </a:xfrm>
          <a:prstGeom prst="roundRect">
            <a:avLst>
              <a:gd name="adj" fmla="val 49998"/>
            </a:avLst>
          </a:prstGeom>
          <a:solidFill>
            <a:srgbClr val="E3A33B"/>
          </a:solidFill>
          <a:ln/>
        </p:spPr>
      </p:sp>
      <p:sp>
        <p:nvSpPr>
          <p:cNvPr id="7" name="Text 5"/>
          <p:cNvSpPr/>
          <p:nvPr/>
        </p:nvSpPr>
        <p:spPr>
          <a:xfrm>
            <a:off x="279393" y="4496276"/>
            <a:ext cx="7848404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E3A3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Válasz: Nem.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9393" y="4916884"/>
            <a:ext cx="73404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helyettesítő források és ellenállások az eredeti, változatlan hálózat jellemzői. A fogyasztó árama és feszültsége változik.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9393" y="5544741"/>
            <a:ext cx="73404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spc="12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Összegzés: Thévenin és Norton nem új villamos törvények, hanem ugyanazon lineáris hálózat kétféle, a terhelés felől egyenértékű leírásai.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1B2659"/>
          </a:solidFill>
          <a:ln/>
        </p:spPr>
      </p:sp>
      <p:sp>
        <p:nvSpPr>
          <p:cNvPr id="11" name="Shape 9"/>
          <p:cNvSpPr/>
          <p:nvPr/>
        </p:nvSpPr>
        <p:spPr>
          <a:xfrm>
            <a:off x="8361451" y="2087860"/>
            <a:ext cx="3037704" cy="3037780"/>
          </a:xfrm>
          <a:prstGeom prst="ellipse">
            <a:avLst/>
          </a:prstGeom>
          <a:noFill/>
          <a:ln w="19050">
            <a:solidFill>
              <a:srgbClr val="E3A3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17033" y="3249295"/>
            <a:ext cx="2491618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800" spc="-38" kern="100" dirty="0">
                <a:solidFill>
                  <a:srgbClr val="FFFFFF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Rt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9345279" y="3859739"/>
            <a:ext cx="167963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16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FÜGGETLEN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585" y="6446540"/>
            <a:ext cx="1141086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spc="48" kern="100" dirty="0">
                <a:solidFill>
                  <a:srgbClr val="E3A33B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07 / 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2026-10-10T17:15:35Z</dcterms:created>
  <dcterms:modified xsi:type="dcterms:W3CDTF">2026-10-10T17:15:35Z</dcterms:modified>
</cp:coreProperties>
</file>