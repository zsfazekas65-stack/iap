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6. hét • Norton-tétel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515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17089"/>
                </a:solidFill>
                <a:latin typeface="DejaVu Sans"/>
              </a:defRPr>
            </a:pPr>
            <a:r>
              <a:t>Aktív kétpólusok áramforrásos helyettesítése • 16–18. óra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62179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76D2"/>
                </a:solidFill>
                <a:latin typeface="DejaVu Sans"/>
              </a:defRPr>
            </a:pPr>
            <a:r>
              <a:t>Ugyanaz a hálózat.</a:t>
            </a:r>
            <a:br/>
            <a:r>
              <a:t>Másik nézőpont.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645920"/>
            <a:ext cx="3840480" cy="146304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2671" y="1773936"/>
            <a:ext cx="35112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62671" y="2212848"/>
            <a:ext cx="3511296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Norton-áram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3429000"/>
            <a:ext cx="3840480" cy="146304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62671" y="3557016"/>
            <a:ext cx="35112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1" y="3995928"/>
            <a:ext cx="3511296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Párhuzamos Norton-ellenállás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Történelmi nyitó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5156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17089"/>
                </a:solidFill>
                <a:latin typeface="DejaVu Sans"/>
              </a:defRPr>
            </a:pPr>
            <a:r>
              <a:t>Edward Lawry Norton • 1898–1983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45336"/>
            <a:ext cx="48828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Bell Labs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4882896" cy="2779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Amerikai villamosmérnök. Telefon- és hálózattechnikai problémákkal foglalkozott.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21208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1" y="1545336"/>
            <a:ext cx="48828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Norton-modell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1" y="1984248"/>
            <a:ext cx="4882896" cy="2779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A lineáris kétpólus áramforrásos helyettesítő alakja az ő nevéhez kapcsolódik.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Miért jelentős?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7472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45336"/>
            <a:ext cx="31455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Ekvivalens 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84248"/>
            <a:ext cx="3145536" cy="2871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Ugyanazt a kapocsviselkedést más szerkezetű helyettesítővel írjuk 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47472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545336"/>
            <a:ext cx="31455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Áramosztás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1984248"/>
            <a:ext cx="3145536" cy="2871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Párhuzamos hálózatok és áramviszonyok elemzésénél természetes forma.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417320"/>
            <a:ext cx="347472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545336"/>
            <a:ext cx="31455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Forrásátalakítás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1984248"/>
            <a:ext cx="3145536" cy="2871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Thévenin ↔ Norton szabadon átalakítható.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A Norton-tétel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4846320" cy="329184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636776"/>
            <a:ext cx="45171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Eredeti hálózat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75688"/>
            <a:ext cx="4517136" cy="2596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Bármely lineáris aktív kétpólus a terhelés felől vizsgálva.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508760"/>
            <a:ext cx="4846320" cy="329184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11112" y="1636776"/>
            <a:ext cx="45171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Norton-helyettesítő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075688"/>
            <a:ext cx="4517136" cy="2596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IN ideális áramforrás</a:t>
            </a:r>
            <a:br/>
            <a:r>
              <a:t>párhuzamosan</a:t>
            </a:r>
            <a:br/>
            <a:r>
              <a:t>RN ellenállással.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A két Norton-adat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507492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636776"/>
            <a:ext cx="47457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IN = Irz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075688"/>
            <a:ext cx="474573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A Norton-áram a kimeneti kapcsok rövidzárási árama.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508760"/>
            <a:ext cx="507492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636776"/>
            <a:ext cx="47457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RN = 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075688"/>
            <a:ext cx="474573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A kapcsok felől látható helyettesítő ellenállás.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Thévenin ↔ Norton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02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76D2"/>
                </a:solidFill>
                <a:latin typeface="DejaVu Sans"/>
              </a:defRPr>
            </a:pPr>
            <a:r>
              <a:t>IN = UTh / RTh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502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UTh = IN · 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1508760"/>
            <a:ext cx="4663440" cy="29260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2552" y="1636776"/>
            <a:ext cx="43342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Az ellenállás nem változik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2552" y="2075688"/>
            <a:ext cx="4334255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RN = RTh</a:t>
            </a:r>
            <a:br/>
            <a:br/>
            <a:r>
              <a:t>Csak a forrásmodell alakul át.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Példa • átalakítás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45336"/>
            <a:ext cx="30540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Thévenin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84248"/>
            <a:ext cx="305409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UTh = 12 V</a:t>
            </a:r>
            <a:br/>
            <a:r>
              <a:t>RTh = 3 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45336"/>
            <a:ext cx="30540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Átalakítás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84248"/>
            <a:ext cx="305409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IN = 12/3</a:t>
            </a:r>
            <a:br/>
            <a:r>
              <a:t>IN = 4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545336"/>
            <a:ext cx="30540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Norton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984248"/>
            <a:ext cx="305409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IN = 4 A</a:t>
            </a:r>
            <a:br/>
            <a:r>
              <a:t>RN = 3 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Példa • Rt = 6 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45336"/>
            <a:ext cx="30540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Áramosztás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84248"/>
            <a:ext cx="305409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It = IN·RN/(RN+Rt)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45336"/>
            <a:ext cx="30540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Terhelőáram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84248"/>
            <a:ext cx="305409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It = 4·3/(3+6)</a:t>
            </a:r>
            <a:br/>
            <a:r>
              <a:t>It = 1,333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545336"/>
            <a:ext cx="30540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Feszültség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984248"/>
            <a:ext cx="305409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Ut = It·Rt</a:t>
            </a:r>
            <a:br/>
            <a:r>
              <a:t>Ut ≈ 8 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Thévenin és Norton ugyanazt adja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507492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636776"/>
            <a:ext cx="47457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Thévenin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075688"/>
            <a:ext cx="474573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12 V + 3 Ω sorosan</a:t>
            </a:r>
            <a:br/>
            <a:r>
              <a:t>Rt = 6 Ω</a:t>
            </a:r>
            <a:br/>
            <a:r>
              <a:t>It = 1,333 A</a:t>
            </a:r>
            <a:br/>
            <a:r>
              <a:t>Ut ≈ 8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508760"/>
            <a:ext cx="507492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636776"/>
            <a:ext cx="47457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Norton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075688"/>
            <a:ext cx="4745736" cy="2688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4 A || 3 Ω</a:t>
            </a:r>
            <a:br/>
            <a:r>
              <a:t>Rt = 6 Ω</a:t>
            </a:r>
            <a:br/>
            <a:r>
              <a:t>It = 1,333 A</a:t>
            </a:r>
            <a:br/>
            <a:r>
              <a:t>Ut ≈ 8 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Tipikus hibák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6636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45336"/>
            <a:ext cx="48371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Figyelj!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4837176" cy="2871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• IN nem a normál terhelőáram</a:t>
            </a:r>
            <a:br/>
            <a:r>
              <a:t>• RN párhuzamos</a:t>
            </a:r>
            <a:br/>
            <a:r>
              <a:t>• RN = RTh</a:t>
            </a:r>
            <a:br/>
            <a:r>
              <a:t>• rövidzárás csak biztonságosan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17320"/>
            <a:ext cx="516636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545336"/>
            <a:ext cx="48371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Algoritmus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984248"/>
            <a:ext cx="4837176" cy="28712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Terhelés le → IN → RN → Norton-kör → terhelés vissza → áramosztás → ellenőrzés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⚡ IAP heti kihívás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976D2"/>
                </a:solidFill>
                <a:latin typeface="DejaVu Sans"/>
              </a:defRPr>
            </a:pPr>
            <a:r>
              <a:t>UTh = 15 V   •   RTh = 5 Ω   •   Rt = 10 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2331720"/>
            <a:ext cx="8503920" cy="237744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93392" y="2459736"/>
            <a:ext cx="817473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Feladat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2898648"/>
            <a:ext cx="8174736" cy="16824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20" b="0">
                <a:solidFill>
                  <a:srgbClr val="183A5A"/>
                </a:solidFill>
                <a:latin typeface="DejaVu Sans"/>
              </a:defRPr>
            </a:pPr>
            <a:r>
              <a:t>Alakítsd Norton-helyettesítővé!</a:t>
            </a:r>
            <a:br/>
            <a:r>
              <a:t>Számítsd ki It és Ut értékét.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61A30"/>
                </a:solidFill>
                <a:latin typeface="DejaVu Sans"/>
              </a:defRPr>
            </a:pPr>
            <a:r>
              <a:t>Tanulj! Alkalmazz! Alkoss!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