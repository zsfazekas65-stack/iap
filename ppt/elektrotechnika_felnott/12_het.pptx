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47A1"/>
                </a:solidFill>
                <a:latin typeface="Aptos Display"/>
              </a:defRPr>
            </a:pPr>
            <a:r>
              <a:t>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4243A"/>
                </a:solidFill>
                <a:latin typeface="Aptos Display"/>
              </a:defRPr>
            </a:pPr>
            <a:r>
              <a:t>Elektromágneses indukció és induktivitás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657600"/>
            <a:ext cx="6309360" cy="77724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200" b="1">
                <a:solidFill>
                  <a:srgbClr val="14243A"/>
                </a:solidFill>
                <a:latin typeface="Aptos"/>
              </a:defRPr>
            </a:pPr>
            <a:r>
              <a:t>Felnőtt oktatás • Elektrotechnika • IAP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Miért fontos az indukció?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Aptos"/>
              </a:defRPr>
            </a:pPr>
            <a:r>
              <a:t>Generátor: mozgásból villamos feszültség</a:t>
            </a:r>
          </a:p>
          <a:p>
            <a:pPr>
              <a:spcBef>
                <a:spcPts val="800"/>
              </a:spcBef>
              <a:defRPr sz="1800">
                <a:solidFill>
                  <a:srgbClr val="14243A"/>
                </a:solidFill>
                <a:latin typeface="Aptos"/>
              </a:defRPr>
            </a:pPr>
            <a:r>
              <a:t>Transzformátor: energiaátvitel két tekercs között</a:t>
            </a:r>
          </a:p>
          <a:p>
            <a:pPr>
              <a:spcBef>
                <a:spcPts val="800"/>
              </a:spcBef>
              <a:defRPr sz="1800">
                <a:solidFill>
                  <a:srgbClr val="14243A"/>
                </a:solidFill>
                <a:latin typeface="Aptos"/>
              </a:defRPr>
            </a:pPr>
            <a:r>
              <a:t>Relé, mágneskapcsoló: tekercs mágneses tere dolgozik</a:t>
            </a:r>
          </a:p>
          <a:p>
            <a:pPr>
              <a:spcBef>
                <a:spcPts val="800"/>
              </a:spcBef>
              <a:defRPr sz="1800">
                <a:solidFill>
                  <a:srgbClr val="14243A"/>
                </a:solidFill>
                <a:latin typeface="Aptos"/>
              </a:defRPr>
            </a:pPr>
            <a:r>
              <a:t>Ipari érzékelők: a mágneses tér változását figyelik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1508760" cy="91440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1800" b="1">
                <a:solidFill>
                  <a:srgbClr val="14243A"/>
                </a:solidFill>
                <a:latin typeface="Aptos"/>
              </a:defRPr>
            </a:pPr>
            <a:r>
              <a:t>Mozgás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1508760" cy="91440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1800" b="1">
                <a:solidFill>
                  <a:srgbClr val="14243A"/>
                </a:solidFill>
                <a:latin typeface="Aptos"/>
              </a:defRPr>
            </a:pPr>
            <a:r>
              <a:t>Mágneses tér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103120"/>
            <a:ext cx="1508760" cy="91440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1800" b="1">
                <a:solidFill>
                  <a:srgbClr val="14243A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2331720"/>
            <a:ext cx="411480" cy="457200"/>
          </a:xfrm>
          <a:prstGeom prst="rightArrow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9646920" y="2331720"/>
            <a:ext cx="411480" cy="457200"/>
          </a:xfrm>
          <a:prstGeom prst="rightArrow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3840480"/>
            <a:ext cx="4343400" cy="100584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000" b="1">
                <a:solidFill>
                  <a:srgbClr val="14243A"/>
                </a:solidFill>
                <a:latin typeface="Aptos"/>
              </a:defRPr>
            </a:pPr>
            <a:r>
              <a:t>A lényeg: a változó mágneses tér feszültséget hoz létre.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Mágneses fluxus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0040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000" b="1">
                <a:solidFill>
                  <a:srgbClr val="14243A"/>
                </a:solidFill>
                <a:latin typeface="Aptos"/>
              </a:defRPr>
            </a:pPr>
            <a:r>
              <a:t>B – mágneses indukció</a:t>
            </a:r>
            <a:br/>
            <a:r>
              <a:t>[T]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20040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000" b="1">
                <a:solidFill>
                  <a:srgbClr val="14243A"/>
                </a:solidFill>
                <a:latin typeface="Aptos"/>
              </a:defRPr>
            </a:pPr>
            <a:r>
              <a:t>A – felület</a:t>
            </a:r>
            <a:br/>
            <a:r>
              <a:t>[m²]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20040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000" b="1">
                <a:solidFill>
                  <a:srgbClr val="14243A"/>
                </a:solidFill>
                <a:latin typeface="Aptos"/>
              </a:defRPr>
            </a:pPr>
            <a:r>
              <a:t>Φ – mágneses fluxus</a:t>
            </a:r>
            <a:br/>
            <a:r>
              <a:t>[Wb]</a:t>
            </a:r>
          </a:p>
        </p:txBody>
      </p:sp>
      <p:sp>
        <p:nvSpPr>
          <p:cNvPr id="8" name="Oval 7"/>
          <p:cNvSpPr/>
          <p:nvPr/>
        </p:nvSpPr>
        <p:spPr>
          <a:xfrm>
            <a:off x="4069080" y="1828800"/>
            <a:ext cx="365760" cy="36576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828800"/>
            <a:ext cx="365760" cy="36576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3840480"/>
            <a:ext cx="5760720" cy="91440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800" b="1">
                <a:solidFill>
                  <a:srgbClr val="14243A"/>
                </a:solidFill>
                <a:latin typeface="Aptos"/>
              </a:defRPr>
            </a:pPr>
            <a:r>
              <a:t>Egyszerű esetben: Φ = B ·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Faraday törvénye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63040"/>
            <a:ext cx="66751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3400" b="1">
                <a:solidFill>
                  <a:srgbClr val="14243A"/>
                </a:solidFill>
                <a:latin typeface="Aptos"/>
              </a:defRPr>
            </a:pPr>
            <a:r>
              <a:t>Ui = -N · ΔΦ / Δt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Aptos"/>
              </a:defRPr>
            </a:pPr>
            <a:r>
              <a:t>N: menetszám</a:t>
            </a:r>
          </a:p>
          <a:p>
            <a:pPr>
              <a:spcBef>
                <a:spcPts val="800"/>
              </a:spcBef>
              <a:defRPr sz="1800">
                <a:solidFill>
                  <a:srgbClr val="14243A"/>
                </a:solidFill>
                <a:latin typeface="Aptos"/>
              </a:defRPr>
            </a:pPr>
            <a:r>
              <a:t>ΔΦ: fluxusváltozás</a:t>
            </a:r>
          </a:p>
          <a:p>
            <a:pPr>
              <a:spcBef>
                <a:spcPts val="800"/>
              </a:spcBef>
              <a:defRPr sz="1800">
                <a:solidFill>
                  <a:srgbClr val="14243A"/>
                </a:solidFill>
                <a:latin typeface="Aptos"/>
              </a:defRPr>
            </a:pPr>
            <a:r>
              <a:t>Δt: időtartam</a:t>
            </a:r>
          </a:p>
          <a:p>
            <a:pPr>
              <a:spcBef>
                <a:spcPts val="800"/>
              </a:spcBef>
              <a:defRPr sz="1800">
                <a:solidFill>
                  <a:srgbClr val="14243A"/>
                </a:solidFill>
                <a:latin typeface="Aptos"/>
              </a:defRPr>
            </a:pPr>
            <a:r>
              <a:t>A negatív előjel az irányra utal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246120"/>
            <a:ext cx="4480560" cy="146304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200" b="1">
                <a:solidFill>
                  <a:srgbClr val="14243A"/>
                </a:solidFill>
                <a:latin typeface="Aptos"/>
              </a:defRPr>
            </a:pPr>
            <a:r>
              <a:t>Nem az állandó mágneses tér a döntő, hanem a változás.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Lenz törvénye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57200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200" b="1">
                <a:solidFill>
                  <a:srgbClr val="14243A"/>
                </a:solidFill>
                <a:latin typeface="Aptos"/>
              </a:defRPr>
            </a:pPr>
            <a:r>
              <a:t>Az indukált áram „tiltakozik” a változás ellen.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57200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200" b="1">
                <a:solidFill>
                  <a:srgbClr val="14243A"/>
                </a:solidFill>
                <a:latin typeface="Aptos"/>
              </a:defRPr>
            </a:pPr>
            <a:r>
              <a:t>Ezért a tekercs nem szereti a hirtelen áramváltozást.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4243A"/>
                </a:solidFill>
                <a:latin typeface="Aptos"/>
              </a:defRPr>
            </a:pPr>
            <a:r>
              <a:t>Bekapcsoláskor az áram lassabban épül fel.</a:t>
            </a:r>
          </a:p>
          <a:p>
            <a:pPr>
              <a:spcBef>
                <a:spcPts val="800"/>
              </a:spcBef>
              <a:defRPr sz="2100">
                <a:solidFill>
                  <a:srgbClr val="14243A"/>
                </a:solidFill>
                <a:latin typeface="Aptos"/>
              </a:defRPr>
            </a:pPr>
            <a:r>
              <a:t>Kikapcsoláskor feszültséglökés keletkezhet.</a:t>
            </a:r>
          </a:p>
          <a:p>
            <a:pPr>
              <a:spcBef>
                <a:spcPts val="800"/>
              </a:spcBef>
              <a:defRPr sz="2100">
                <a:solidFill>
                  <a:srgbClr val="14243A"/>
                </a:solidFill>
                <a:latin typeface="Aptos"/>
              </a:defRPr>
            </a:pPr>
            <a:r>
              <a:t>A védelem: dióda, RC tag vagy varisztor.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Induktivitás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017520" cy="118872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800" b="1">
                <a:solidFill>
                  <a:srgbClr val="14243A"/>
                </a:solidFill>
                <a:latin typeface="Aptos"/>
              </a:defRPr>
            </a:pPr>
            <a:r>
              <a:t>Jele: 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017520" cy="118872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400" b="1">
                <a:solidFill>
                  <a:srgbClr val="14243A"/>
                </a:solidFill>
                <a:latin typeface="Aptos"/>
              </a:defRPr>
            </a:pPr>
            <a:r>
              <a:t>Mértékegység: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017520" cy="118872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100" b="1">
                <a:solidFill>
                  <a:srgbClr val="14243A"/>
                </a:solidFill>
                <a:latin typeface="Aptos"/>
              </a:defRPr>
            </a:pPr>
            <a:r>
              <a:t>Tekercs jellemzője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657600"/>
            <a:ext cx="6675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3000" b="1">
                <a:solidFill>
                  <a:srgbClr val="14243A"/>
                </a:solidFill>
                <a:latin typeface="Aptos"/>
              </a:defRPr>
            </a:pPr>
            <a:r>
              <a:t>Váltakozó áramnál: XL = 2πfL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Számítási példa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243A"/>
                </a:solidFill>
                <a:latin typeface="Aptos"/>
              </a:defRPr>
            </a:pPr>
            <a:r>
              <a:t>N = 200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ΔΦ = 0,015 Wb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Δt = 0,05 s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Ui =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00200"/>
            <a:ext cx="585216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600" b="1">
                <a:solidFill>
                  <a:srgbClr val="14243A"/>
                </a:solidFill>
                <a:latin typeface="Aptos"/>
              </a:defRPr>
            </a:pPr>
            <a:r>
              <a:t>Ui = N · ΔΦ / Δt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154680"/>
            <a:ext cx="5852160" cy="109728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400" b="1">
                <a:solidFill>
                  <a:srgbClr val="14243A"/>
                </a:solidFill>
                <a:latin typeface="Aptos"/>
              </a:defRPr>
            </a:pPr>
            <a:r>
              <a:t>Ui = 200 · 0,015 / 0,05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4709160"/>
            <a:ext cx="5852160" cy="10058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3000" b="1">
                <a:solidFill>
                  <a:srgbClr val="14243A"/>
                </a:solidFill>
                <a:latin typeface="Aptos"/>
              </a:defRPr>
            </a:pPr>
            <a:r>
              <a:t>Ui = 60 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Gyakori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243A"/>
                </a:solidFill>
                <a:latin typeface="Aptos"/>
              </a:defRPr>
            </a:pPr>
            <a:r>
              <a:t>Fluxus és mágneses indukció összekeverése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Menetszám kihagyása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Milliszekundum helyett másodperc kell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A negatív előjel nem nagyság, hanem irány</a:t>
            </a:r>
          </a:p>
          <a:p>
            <a:pPr>
              <a:spcBef>
                <a:spcPts val="800"/>
              </a:spcBef>
              <a:defRPr sz="2200">
                <a:solidFill>
                  <a:srgbClr val="14243A"/>
                </a:solidFill>
                <a:latin typeface="Aptos"/>
              </a:defRPr>
            </a:pPr>
            <a:r>
              <a:t>Eredmény ellenőrzése nélkül nincs kész számítás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61A30"/>
          </a:solidFill>
          <a:ln>
            <a:solidFill>
              <a:srgbClr val="06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17089"/>
                </a:solidFill>
                <a:latin typeface="Aptos"/>
              </a:defRPr>
            </a:pPr>
            <a:r>
              <a:t>IAP – Felnőtt oktatás • Elektrotechnika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D47A1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9966960" cy="137160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defRPr sz="2200" b="1">
                <a:solidFill>
                  <a:srgbClr val="14243A"/>
                </a:solidFill>
                <a:latin typeface="Aptos"/>
              </a:defRPr>
            </a:pPr>
            <a:r>
              <a:t>Miért veszélyesebb elektronikára nézve egy relétekercs kikapcsolása, mint egy azonos áramú ellenállás kikapcsolása?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576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4243A"/>
                </a:solidFill>
                <a:latin typeface="Aptos"/>
              </a:defRPr>
            </a:pPr>
            <a:r>
              <a:t>A tekercs önindukciós feszültséget hoz létre.</a:t>
            </a:r>
          </a:p>
          <a:p>
            <a:pPr>
              <a:spcBef>
                <a:spcPts val="800"/>
              </a:spcBef>
              <a:defRPr sz="2100">
                <a:solidFill>
                  <a:srgbClr val="14243A"/>
                </a:solidFill>
                <a:latin typeface="Aptos"/>
              </a:defRPr>
            </a:pPr>
            <a:r>
              <a:t>Ez feszültséglökést okozhat a vezérlő kimenetén.</a:t>
            </a:r>
          </a:p>
          <a:p>
            <a:pPr>
              <a:spcBef>
                <a:spcPts val="800"/>
              </a:spcBef>
              <a:defRPr sz="2100">
                <a:solidFill>
                  <a:srgbClr val="14243A"/>
                </a:solidFill>
                <a:latin typeface="Aptos"/>
              </a:defRPr>
            </a:pPr>
            <a:r>
              <a:t>Védőelem nélkül a félvezető vagy érintkező károsodhat.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