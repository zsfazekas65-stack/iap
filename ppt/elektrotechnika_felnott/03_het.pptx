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3035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61A30"/>
                </a:solidFill>
                <a:latin typeface="DejaVu Sans"/>
              </a:defRPr>
            </a:pPr>
            <a:r>
              <a:t>3. hét • Ideális és valós feszültségforrás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115568"/>
            <a:ext cx="107899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0">
                <a:solidFill>
                  <a:srgbClr val="617089"/>
                </a:solidFill>
                <a:latin typeface="DejaVu Sans"/>
              </a:defRPr>
            </a:pPr>
            <a:r>
              <a:t>Felnőtt oktatás – Elektrotechnika • 3 óra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64008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976D2"/>
                </a:solidFill>
                <a:latin typeface="DejaVu Sans"/>
              </a:defRPr>
            </a:pPr>
            <a:r>
              <a:t>Belső ellenállás</a:t>
            </a:r>
            <a:br/>
            <a:r>
              <a:t>Terhelés hatása</a:t>
            </a:r>
            <a:br/>
            <a:r>
              <a:t>Kapocsfeszültség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691640"/>
            <a:ext cx="3840480" cy="20116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90688" y="1837944"/>
            <a:ext cx="34381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976D2"/>
                </a:solidFill>
                <a:latin typeface="DejaVu Sans"/>
              </a:defRPr>
            </a:pPr>
            <a:r>
              <a:t>IAP cél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0688" y="2295144"/>
            <a:ext cx="3438144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0">
                <a:solidFill>
                  <a:srgbClr val="183A5A"/>
                </a:solidFill>
                <a:latin typeface="DejaVu Sans"/>
              </a:defRPr>
            </a:pPr>
            <a:r>
              <a:t>Értsük meg, miért esik a forrás feszültsége terheléskor.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3886200"/>
            <a:ext cx="3840480" cy="13258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90688" y="4032504"/>
            <a:ext cx="34381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976D2"/>
                </a:solidFill>
                <a:latin typeface="DejaVu Sans"/>
              </a:defRPr>
            </a:pPr>
            <a:r>
              <a:t>Kulcsképlet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90688" y="4489704"/>
            <a:ext cx="3438144" cy="59435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0">
                <a:solidFill>
                  <a:srgbClr val="183A5A"/>
                </a:solidFill>
                <a:latin typeface="DejaVu Sans"/>
              </a:defRPr>
            </a:pPr>
            <a:r>
              <a:t>Uk = U0 - I · Rb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3035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61A30"/>
                </a:solidFill>
                <a:latin typeface="DejaVu Sans"/>
              </a:defRPr>
            </a:pPr>
            <a:r>
              <a:t>Ideális feszültségforrás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474720" cy="347472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563624"/>
            <a:ext cx="307238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976D2"/>
                </a:solidFill>
                <a:latin typeface="DejaVu Sans"/>
              </a:defRPr>
            </a:pPr>
            <a:r>
              <a:t>Állandó feszültség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020824"/>
            <a:ext cx="3072384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0">
                <a:solidFill>
                  <a:srgbClr val="183A5A"/>
                </a:solidFill>
                <a:latin typeface="DejaVu Sans"/>
              </a:defRPr>
            </a:pPr>
            <a:r>
              <a:t>A kapocsfeszültség terheléstől független.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17320"/>
            <a:ext cx="3474720" cy="347472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44568" y="1563624"/>
            <a:ext cx="307238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976D2"/>
                </a:solidFill>
                <a:latin typeface="DejaVu Sans"/>
              </a:defRPr>
            </a:pPr>
            <a:r>
              <a:t>Rb = 0 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4568" y="2020824"/>
            <a:ext cx="3072384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0">
                <a:solidFill>
                  <a:srgbClr val="183A5A"/>
                </a:solidFill>
                <a:latin typeface="DejaVu Sans"/>
              </a:defRPr>
            </a:pPr>
            <a:r>
              <a:t>Nincs belső feszültségesés, nincs belső veszteség.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417320"/>
            <a:ext cx="3474720" cy="347472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1563624"/>
            <a:ext cx="307238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976D2"/>
                </a:solidFill>
                <a:latin typeface="DejaVu Sans"/>
              </a:defRPr>
            </a:pPr>
            <a:r>
              <a:t>Modell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020824"/>
            <a:ext cx="3072384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0">
                <a:solidFill>
                  <a:srgbClr val="183A5A"/>
                </a:solidFill>
                <a:latin typeface="DejaVu Sans"/>
              </a:defRPr>
            </a:pPr>
            <a:r>
              <a:t>A valóság egyszerűsítése, számításokhoz nagyon hasznos.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3035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61A30"/>
                </a:solidFill>
                <a:latin typeface="DejaVu Sans"/>
              </a:defRPr>
            </a:pPr>
            <a:r>
              <a:t>Valós feszültségforrás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474720" cy="347472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563624"/>
            <a:ext cx="307238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976D2"/>
                </a:solidFill>
                <a:latin typeface="DejaVu Sans"/>
              </a:defRPr>
            </a:pPr>
            <a:r>
              <a:t>Belső ellenállás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020824"/>
            <a:ext cx="3072384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0">
                <a:solidFill>
                  <a:srgbClr val="183A5A"/>
                </a:solidFill>
                <a:latin typeface="DejaVu Sans"/>
              </a:defRPr>
            </a:pPr>
            <a:r>
              <a:t>Minden valós forrásnak van belső ellenállása.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17320"/>
            <a:ext cx="3474720" cy="347472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44568" y="1563624"/>
            <a:ext cx="307238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976D2"/>
                </a:solidFill>
                <a:latin typeface="DejaVu Sans"/>
              </a:defRPr>
            </a:pPr>
            <a:r>
              <a:t>Terheléskor áram folyik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4568" y="2020824"/>
            <a:ext cx="3072384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0">
                <a:solidFill>
                  <a:srgbClr val="183A5A"/>
                </a:solidFill>
                <a:latin typeface="DejaVu Sans"/>
              </a:defRPr>
            </a:pPr>
            <a:r>
              <a:t>A belső ellenálláson feszültségesés jön létre.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417320"/>
            <a:ext cx="3474720" cy="347472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1563624"/>
            <a:ext cx="307238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976D2"/>
                </a:solidFill>
                <a:latin typeface="DejaVu Sans"/>
              </a:defRPr>
            </a:pPr>
            <a:r>
              <a:t>Uk kisebb lesz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020824"/>
            <a:ext cx="3072384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0">
                <a:solidFill>
                  <a:srgbClr val="183A5A"/>
                </a:solidFill>
                <a:latin typeface="DejaVu Sans"/>
              </a:defRPr>
            </a:pPr>
            <a:r>
              <a:t>A kapocsfeszültség terhelés alatt csökken.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3035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61A30"/>
                </a:solidFill>
                <a:latin typeface="DejaVu Sans"/>
              </a:defRPr>
            </a:pPr>
            <a:r>
              <a:t>Alapképletek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4937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76D2"/>
                </a:solidFill>
                <a:latin typeface="DejaVu Sans"/>
              </a:defRPr>
            </a:pPr>
            <a:r>
              <a:t>I = U0 / (Rb + Rt)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4937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76D2"/>
                </a:solidFill>
                <a:latin typeface="DejaVu Sans"/>
              </a:defRPr>
            </a:pPr>
            <a:r>
              <a:t>Uk = I · 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063240"/>
            <a:ext cx="49377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76D2"/>
                </a:solidFill>
                <a:latin typeface="DejaVu Sans"/>
              </a:defRPr>
            </a:pPr>
            <a:r>
              <a:t>Pb = I² · Rb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508760"/>
            <a:ext cx="4937760" cy="320040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55063"/>
            <a:ext cx="453542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976D2"/>
                </a:solidFill>
                <a:latin typeface="DejaVu Sans"/>
              </a:defRPr>
            </a:pPr>
            <a:r>
              <a:t>Értelmezés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112264"/>
            <a:ext cx="4535424" cy="2468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0">
                <a:solidFill>
                  <a:srgbClr val="183A5A"/>
                </a:solidFill>
                <a:latin typeface="DejaVu Sans"/>
              </a:defRPr>
            </a:pPr>
            <a:r>
              <a:t>A belső ellenállás is része az áramkörnek. A terhelés és a belső ellenállás együtt határozza meg az áramot és a kapocsfeszültséget.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3035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61A30"/>
                </a:solidFill>
                <a:latin typeface="DejaVu Sans"/>
              </a:defRPr>
            </a:pPr>
            <a:r>
              <a:t>Példa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420624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976D2"/>
                </a:solidFill>
                <a:latin typeface="DejaVu Sans"/>
              </a:defRPr>
            </a:pPr>
            <a:r>
              <a:t>U0 = 12 V</a:t>
            </a:r>
            <a:br/>
            <a:r>
              <a:t>Rb = 1 Ω</a:t>
            </a:r>
            <a:br/>
            <a:r>
              <a:t>Rt = 11 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57800" y="1417320"/>
            <a:ext cx="2834640" cy="265176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58968" y="1563624"/>
            <a:ext cx="24323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976D2"/>
                </a:solidFill>
                <a:latin typeface="DejaVu Sans"/>
              </a:defRPr>
            </a:pPr>
            <a:r>
              <a:t>Áram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58968" y="2020824"/>
            <a:ext cx="2432304" cy="19202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0">
                <a:solidFill>
                  <a:srgbClr val="183A5A"/>
                </a:solidFill>
                <a:latin typeface="DejaVu Sans"/>
              </a:defRPr>
            </a:pPr>
            <a:r>
              <a:t>I = 12 / (1 + 11)</a:t>
            </a:r>
            <a:br/>
            <a:r>
              <a:t>I = 1 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1417320"/>
            <a:ext cx="2834640" cy="265176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13648" y="1563624"/>
            <a:ext cx="24323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976D2"/>
                </a:solidFill>
                <a:latin typeface="DejaVu Sans"/>
              </a:defRPr>
            </a:pPr>
            <a:r>
              <a:t>Kapocsfeszültség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13648" y="2020824"/>
            <a:ext cx="2432304" cy="19202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0">
                <a:solidFill>
                  <a:srgbClr val="183A5A"/>
                </a:solidFill>
                <a:latin typeface="DejaVu Sans"/>
              </a:defRPr>
            </a:pPr>
            <a:r>
              <a:t>Uk = 1 · 11</a:t>
            </a:r>
            <a:br/>
            <a:r>
              <a:t>Uk = 11 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57800" y="4343400"/>
            <a:ext cx="5989320" cy="96012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58968" y="4489704"/>
            <a:ext cx="558698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976D2"/>
                </a:solidFill>
                <a:latin typeface="DejaVu Sans"/>
              </a:defRPr>
            </a:pPr>
            <a:r>
              <a:t>Következtetés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58968" y="4946904"/>
            <a:ext cx="5586983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0">
                <a:solidFill>
                  <a:srgbClr val="183A5A"/>
                </a:solidFill>
                <a:latin typeface="DejaVu Sans"/>
              </a:defRPr>
            </a:pPr>
            <a:r>
              <a:t>A belső ellenálláson 1 V esik, ezért nem 12 V jut a terhelésre.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3035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61A30"/>
                </a:solidFill>
                <a:latin typeface="DejaVu Sans"/>
              </a:defRPr>
            </a:pPr>
            <a:r>
              <a:t>Jelleggörbe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5212080" cy="347472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563624"/>
            <a:ext cx="48097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976D2"/>
                </a:solidFill>
                <a:latin typeface="DejaVu Sans"/>
              </a:defRPr>
            </a:pPr>
            <a:r>
              <a:t>Ideális forrás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020824"/>
            <a:ext cx="4809744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0">
                <a:solidFill>
                  <a:srgbClr val="183A5A"/>
                </a:solidFill>
                <a:latin typeface="DejaVu Sans"/>
              </a:defRPr>
            </a:pPr>
            <a:r>
              <a:t>Vízszintes jelleggörbe: a feszültség az áramtól függetlenül állandó.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417320"/>
            <a:ext cx="5212080" cy="347472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7" y="1563624"/>
            <a:ext cx="48097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976D2"/>
                </a:solidFill>
                <a:latin typeface="DejaVu Sans"/>
              </a:defRPr>
            </a:pPr>
            <a:r>
              <a:t>Valós forrás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7" y="2020824"/>
            <a:ext cx="4809744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0">
                <a:solidFill>
                  <a:srgbClr val="183A5A"/>
                </a:solidFill>
                <a:latin typeface="DejaVu Sans"/>
              </a:defRPr>
            </a:pPr>
            <a:r>
              <a:t>Csökkenő egyenes: nagyobb terhelőáramnál kisebb kapocsfeszültség.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3035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61A30"/>
                </a:solidFill>
                <a:latin typeface="DejaVu Sans"/>
              </a:defRPr>
            </a:pPr>
            <a:r>
              <a:t>Rövidzárási áram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45720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976D2"/>
                </a:solidFill>
                <a:latin typeface="DejaVu Sans"/>
              </a:defRPr>
            </a:pPr>
            <a:r>
              <a:t>Iz = U0 / Rb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423160"/>
            <a:ext cx="4937760" cy="219456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569464"/>
            <a:ext cx="453542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976D2"/>
                </a:solidFill>
                <a:latin typeface="DejaVu Sans"/>
              </a:defRPr>
            </a:pPr>
            <a:r>
              <a:t>Modell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3026664"/>
            <a:ext cx="4535424" cy="1463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0">
                <a:solidFill>
                  <a:srgbClr val="183A5A"/>
                </a:solidFill>
                <a:latin typeface="DejaVu Sans"/>
              </a:defRPr>
            </a:pPr>
            <a:r>
              <a:t>Ha Rt = 0 Ω, az áramot a belső ellenállás korlátozza.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23160"/>
            <a:ext cx="4937760" cy="219456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7" y="2569464"/>
            <a:ext cx="453542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976D2"/>
                </a:solidFill>
                <a:latin typeface="DejaVu Sans"/>
              </a:defRPr>
            </a:pPr>
            <a:r>
              <a:t>Gyakorlat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7" y="3026664"/>
            <a:ext cx="4535424" cy="146303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0">
                <a:solidFill>
                  <a:srgbClr val="183A5A"/>
                </a:solidFill>
                <a:latin typeface="DejaVu Sans"/>
              </a:defRPr>
            </a:pPr>
            <a:r>
              <a:t>A rövidzár veszélyes állapot. Oktatásban csak számítási példaként kezeljük.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3035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61A30"/>
                </a:solidFill>
                <a:latin typeface="DejaVu Sans"/>
              </a:defRPr>
            </a:pPr>
            <a:r>
              <a:t>Gyakorlati jelentőség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417320"/>
            <a:ext cx="3474720" cy="347472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86968" y="1563624"/>
            <a:ext cx="307238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976D2"/>
                </a:solidFill>
                <a:latin typeface="DejaVu Sans"/>
              </a:defRPr>
            </a:pPr>
            <a:r>
              <a:t>Elem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020824"/>
            <a:ext cx="3072384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0">
                <a:solidFill>
                  <a:srgbClr val="183A5A"/>
                </a:solidFill>
                <a:latin typeface="DejaVu Sans"/>
              </a:defRPr>
            </a:pPr>
            <a:r>
              <a:t>Üresjárásban még jónak tűnhet, terhelve leeshet.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417320"/>
            <a:ext cx="3474720" cy="347472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44568" y="1563624"/>
            <a:ext cx="307238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976D2"/>
                </a:solidFill>
                <a:latin typeface="DejaVu Sans"/>
              </a:defRPr>
            </a:pPr>
            <a:r>
              <a:t>Akkumulátor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4568" y="2020824"/>
            <a:ext cx="3072384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0">
                <a:solidFill>
                  <a:srgbClr val="183A5A"/>
                </a:solidFill>
                <a:latin typeface="DejaVu Sans"/>
              </a:defRPr>
            </a:pPr>
            <a:r>
              <a:t>Indításkor nagy áram miatt nagy feszültségesés jelentkezhet.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1417320"/>
            <a:ext cx="3474720" cy="347472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1563624"/>
            <a:ext cx="307238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976D2"/>
                </a:solidFill>
                <a:latin typeface="DejaVu Sans"/>
              </a:defRPr>
            </a:pPr>
            <a:r>
              <a:t>Tápegység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020824"/>
            <a:ext cx="3072384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0">
                <a:solidFill>
                  <a:srgbClr val="183A5A"/>
                </a:solidFill>
                <a:latin typeface="DejaVu Sans"/>
              </a:defRPr>
            </a:pPr>
            <a:r>
              <a:t>A jó forrás kicsi belső ellenállással tartja a feszültséget.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53035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61A30"/>
                </a:solidFill>
                <a:latin typeface="DejaVu Sans"/>
              </a:defRPr>
            </a:pPr>
            <a:r>
              <a:t>⚡ IAP heti kihívás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384048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76D2"/>
                </a:solidFill>
                <a:latin typeface="DejaVu Sans"/>
              </a:defRPr>
            </a:pPr>
            <a:r>
              <a:t>U0 = 24 V</a:t>
            </a:r>
            <a:br/>
            <a:r>
              <a:t>Rb = 2 Ω</a:t>
            </a:r>
            <a:br/>
            <a:r>
              <a:t>Rt = 10 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371600"/>
            <a:ext cx="6583680" cy="3383280"/>
          </a:xfrm>
          <a:prstGeom prst="roundRect">
            <a:avLst/>
          </a:prstGeom>
          <a:solidFill>
            <a:srgbClr val="EAF4FF"/>
          </a:solidFill>
          <a:ln>
            <a:solidFill>
              <a:srgbClr val="BED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56048" y="1517904"/>
            <a:ext cx="618134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976D2"/>
                </a:solidFill>
                <a:latin typeface="DejaVu Sans"/>
              </a:defRPr>
            </a:pPr>
            <a:r>
              <a:t>Feladat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6048" y="1975104"/>
            <a:ext cx="6181344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 b="0">
                <a:solidFill>
                  <a:srgbClr val="183A5A"/>
                </a:solidFill>
                <a:latin typeface="DejaVu Sans"/>
              </a:defRPr>
            </a:pPr>
            <a:r>
              <a:t>Számítsd ki az áramot, a kapocsfeszültséget és a belső ellenálláson elvesző teljesítményt.</a:t>
            </a:r>
            <a:br/>
            <a:br/>
            <a:r>
              <a:t>Magyarázd el: miért nem marad 24 V a kapocsfeszültség?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789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700" b="1">
                <a:solidFill>
                  <a:srgbClr val="061A30"/>
                </a:solidFill>
                <a:latin typeface="DejaVu Sans"/>
              </a:defRPr>
            </a:pPr>
            <a:r>
              <a:t>Tanulj! Alkalmazz! Alkoss!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