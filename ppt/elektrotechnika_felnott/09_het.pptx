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9. hét • Villamos erőtér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2. témakör • Villamos erőtér, kondenzátor • 25–27.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12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76D2"/>
                </a:solidFill>
                <a:latin typeface="DejaVu Sans"/>
              </a:defRPr>
            </a:pPr>
            <a:r>
              <a:t>A töltéstől</a:t>
            </a:r>
            <a:br/>
            <a:r>
              <a:t>a villamos térig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02336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773936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Alapkérdés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2212848"/>
            <a:ext cx="36941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Hogyan hat egymásra két elektromos töltés?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402336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3557016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Mérnöki kapcsolat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995928"/>
            <a:ext cx="36941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térerősség • szigetelés • kondenzátor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Történelmi nyitó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Charles-Augustin de Coulomb • 1736–1806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Kísérlet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Torziós mérleggel vizsgálta az elektromos töltések közötti erőt.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Örökség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1785: elektrosztatikus erőtörvény.</a:t>
            </a:r>
            <a:br/>
            <a:r>
              <a:t>A töltés SI-egysége: coulomb (C).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Coulomb-törvény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976D2"/>
                </a:solidFill>
                <a:latin typeface="DejaVu Sans"/>
              </a:defRPr>
            </a:pPr>
            <a:r>
              <a:t>F = k · |Q₁Q₂| / 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3931920" cy="32918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545336"/>
            <a:ext cx="3602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 ≈ 8,99·10⁹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984248"/>
            <a:ext cx="3602736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N·m²/C²</a:t>
            </a:r>
            <a:br/>
            <a:br/>
            <a:r>
              <a:t>Azonos előjel → taszítás</a:t>
            </a:r>
            <a:br/>
            <a:r>
              <a:t>Ellentétes → vonzás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Kidolgozott példa • Coulomb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Adatok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0540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Q₁ = +2 μC</a:t>
            </a:r>
            <a:br/>
            <a:r>
              <a:t>Q₂ = −3 μC</a:t>
            </a:r>
            <a:br/>
            <a:r>
              <a:t>r = 0,20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Számítás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84248"/>
            <a:ext cx="30540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F ≈ 1,35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832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Értelmezés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984248"/>
            <a:ext cx="30540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Ellentétes előjel</a:t>
            </a:r>
            <a:br/>
            <a:r>
              <a:t>→ vonzó erő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Mi a villamos erőtér?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Definíció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töltés körüli térrész, amelyben más töltésre villamos erő 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Térerősség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 = F / Qpróba</a:t>
            </a:r>
            <a:br/>
            <a:br/>
            <a:r>
              <a:t>mértékegység:</a:t>
            </a:r>
            <a:br/>
            <a:r>
              <a:t>N/C = V/m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Ponttöltés tere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976D2"/>
                </a:solidFill>
                <a:latin typeface="DejaVu Sans"/>
              </a:defRPr>
            </a:pPr>
            <a:r>
              <a:t>E = k · |Q| / 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663440" cy="32918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1545336"/>
            <a:ext cx="433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Irány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984248"/>
            <a:ext cx="4334255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+Q: kifelé</a:t>
            </a:r>
            <a:br/>
            <a:r>
              <a:t>−Q: befelé</a:t>
            </a:r>
            <a:br/>
            <a:br/>
            <a:r>
              <a:t>E vektormennyiség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Erővonalak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Irány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Az érintő megadja E irányát.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Sűrűség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Sűrűbb vonalak → nagyobb térerősség.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Szabály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Az erővonalak nem metszik egymást.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Homogén villamos tér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1976D2"/>
                </a:solidFill>
                <a:latin typeface="DejaVu Sans"/>
              </a:defRPr>
            </a:pPr>
            <a:r>
              <a:t>E = U / 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17320"/>
            <a:ext cx="52120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08192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Párhuzamos lemezek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1984248"/>
            <a:ext cx="488289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szélektől távol a tér közel homogén.</a:t>
            </a:r>
            <a:br/>
            <a:br/>
            <a:r>
              <a:t>U = feszültség</a:t>
            </a:r>
            <a:br/>
            <a:r>
              <a:t>d = lemeztávolság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Példa • homogén tér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Adatok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U = 600 V</a:t>
            </a:r>
            <a:br/>
            <a:r>
              <a:t>d = 3 mm = 0,003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Eredmény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 = 600 / 0,003</a:t>
            </a:r>
            <a:br/>
            <a:r>
              <a:t>= 200 000 V/m</a:t>
            </a:r>
            <a:br/>
            <a:r>
              <a:t>= 200 kV/m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Miért fontos a szigetelésnél?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Nagy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szigetelőanyag villamos igénybevétele nő.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Következmény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Túl nagy helyi térerősség → részleges kisülés vagy átütés kockázata.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Tipikus hibák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Mértékegység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μC → C</a:t>
            </a:r>
            <a:br/>
            <a:r>
              <a:t>mm → m</a:t>
            </a:r>
            <a:br/>
            <a:r>
              <a:t>cm →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Képlet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r² ne maradjon el!</a:t>
            </a:r>
            <a:br/>
            <a:r>
              <a:t>E ≠ U</a:t>
            </a:r>
            <a:br/>
            <a:r>
              <a:t>E = U/d csak homogén térben.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976D2"/>
                </a:solidFill>
                <a:latin typeface="DejaVu Sans"/>
              </a:defRPr>
            </a:pPr>
            <a:r>
              <a:t>U = 900 V   •   d = 5 mm   •   Q = +2 μC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240280"/>
            <a:ext cx="9052560" cy="2606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072" y="2368296"/>
            <a:ext cx="8723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807208"/>
            <a:ext cx="872337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Számítsd ki E térerősséget!</a:t>
            </a:r>
            <a:br/>
            <a:r>
              <a:t>Mekkora erő hat a próbatöltésre?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A30"/>
                </a:solidFill>
                <a:latin typeface="DejaVu San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