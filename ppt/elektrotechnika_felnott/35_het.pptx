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35. hét • Komplex hibadiagnosztika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71600"/>
            <a:ext cx="10972800" cy="4572000"/>
          </a:xfrm>
          <a:prstGeom prst="roundRect">
            <a:avLst/>
          </a:prstGeom>
          <a:solidFill>
            <a:srgbClr val="F5F9FD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274320"/>
          <a:lstStyle/>
          <a:p>
            <a:pPr algn="ctr">
              <a:spcAft>
                <a:spcPts val="1100"/>
              </a:spcAft>
              <a:defRPr sz="2000">
                <a:solidFill>
                  <a:srgbClr val="183A5A"/>
                </a:solidFill>
              </a:defRPr>
            </a:pPr>
            <a:r>
              <a:t>Tünet → hipotézis → mérés → döntés</a:t>
            </a:r>
          </a:p>
          <a:p>
            <a:pPr>
              <a:spcAft>
                <a:spcPts val="1100"/>
              </a:spcAft>
              <a:defRPr sz="2000">
                <a:solidFill>
                  <a:srgbClr val="183A5A"/>
                </a:solidFill>
              </a:defRPr>
            </a:pPr>
            <a:r>
              <a:t>A műszer adatot ad. A diagnózist a szakember állítja fel.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Tünet ≠ hiba oka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71600"/>
            <a:ext cx="10972800" cy="4572000"/>
          </a:xfrm>
          <a:prstGeom prst="roundRect">
            <a:avLst/>
          </a:prstGeom>
          <a:solidFill>
            <a:srgbClr val="F5F9FD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274320"/>
          <a:lstStyle/>
          <a:p>
            <a:pPr algn="ctr">
              <a:spcAft>
                <a:spcPts val="1100"/>
              </a:spcAft>
              <a:defRPr sz="2000">
                <a:solidFill>
                  <a:srgbClr val="183A5A"/>
                </a:solidFill>
              </a:defRPr>
            </a:pPr>
            <a:r>
              <a:t>Leoldás, melegedés, leállás, feszültségingadozás: tünetek.</a:t>
            </a:r>
          </a:p>
          <a:p>
            <a:pPr>
              <a:spcAft>
                <a:spcPts val="1100"/>
              </a:spcAft>
              <a:defRPr sz="2000">
                <a:solidFill>
                  <a:srgbClr val="183A5A"/>
                </a:solidFill>
              </a:defRPr>
            </a:pPr>
            <a:r>
              <a:t>Egy tünet mögött több különböző ok állhat.</a:t>
            </a:r>
          </a:p>
          <a:p>
            <a:pPr>
              <a:spcAft>
                <a:spcPts val="1100"/>
              </a:spcAft>
              <a:defRPr sz="2000">
                <a:solidFill>
                  <a:srgbClr val="183A5A"/>
                </a:solidFill>
              </a:defRPr>
            </a:pPr>
            <a:r>
              <a:t>Először lehetséges okokat állítunk fel.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Hibahipotézis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71600"/>
            <a:ext cx="10972800" cy="4572000"/>
          </a:xfrm>
          <a:prstGeom prst="roundRect">
            <a:avLst/>
          </a:prstGeom>
          <a:solidFill>
            <a:srgbClr val="F5F9FD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274320"/>
          <a:lstStyle/>
          <a:p>
            <a:pPr algn="ctr">
              <a:spcAft>
                <a:spcPts val="1100"/>
              </a:spcAft>
              <a:defRPr sz="2000">
                <a:solidFill>
                  <a:srgbClr val="183A5A"/>
                </a:solidFill>
              </a:defRPr>
            </a:pPr>
            <a:r>
              <a:t>Motor nem indulhat fáziskimaradás miatt.</a:t>
            </a:r>
          </a:p>
          <a:p>
            <a:pPr>
              <a:spcAft>
                <a:spcPts val="1100"/>
              </a:spcAft>
              <a:defRPr sz="2000">
                <a:solidFill>
                  <a:srgbClr val="183A5A"/>
                </a:solidFill>
              </a:defRPr>
            </a:pPr>
            <a:r>
              <a:t>Lehet alacsony kapocsfeszültség.</a:t>
            </a:r>
          </a:p>
          <a:p>
            <a:pPr>
              <a:spcAft>
                <a:spcPts val="1100"/>
              </a:spcAft>
              <a:defRPr sz="2000">
                <a:solidFill>
                  <a:srgbClr val="183A5A"/>
                </a:solidFill>
              </a:defRPr>
            </a:pPr>
            <a:r>
              <a:t>Lehet kontaktor-, vezeték- vagy motorhiba.</a:t>
            </a:r>
          </a:p>
          <a:p>
            <a:pPr>
              <a:spcAft>
                <a:spcPts val="1100"/>
              </a:spcAft>
              <a:defRPr sz="2000">
                <a:solidFill>
                  <a:srgbClr val="183A5A"/>
                </a:solidFill>
              </a:defRPr>
            </a:pPr>
            <a:r>
              <a:t>A mérés feladata a lehetőségek szűkítése.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Mérési lánc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71600"/>
            <a:ext cx="10972800" cy="4572000"/>
          </a:xfrm>
          <a:prstGeom prst="roundRect">
            <a:avLst/>
          </a:prstGeom>
          <a:solidFill>
            <a:srgbClr val="F5F9FD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274320"/>
          <a:lstStyle/>
          <a:p>
            <a:pPr algn="ctr">
              <a:spcAft>
                <a:spcPts val="1100"/>
              </a:spcAft>
              <a:defRPr sz="2000">
                <a:solidFill>
                  <a:srgbClr val="183A5A"/>
                </a:solidFill>
              </a:defRPr>
            </a:pPr>
            <a:r>
              <a:t>Betáplálás</a:t>
            </a:r>
          </a:p>
          <a:p>
            <a:pPr>
              <a:spcAft>
                <a:spcPts val="1100"/>
              </a:spcAft>
              <a:defRPr sz="2000">
                <a:solidFill>
                  <a:srgbClr val="183A5A"/>
                </a:solidFill>
              </a:defRPr>
            </a:pPr>
            <a:r>
              <a:t>Védelem</a:t>
            </a:r>
          </a:p>
          <a:p>
            <a:pPr>
              <a:spcAft>
                <a:spcPts val="1100"/>
              </a:spcAft>
              <a:defRPr sz="2000">
                <a:solidFill>
                  <a:srgbClr val="183A5A"/>
                </a:solidFill>
              </a:defRPr>
            </a:pPr>
            <a:r>
              <a:t>Kapcsolókészülék</a:t>
            </a:r>
          </a:p>
          <a:p>
            <a:pPr>
              <a:spcAft>
                <a:spcPts val="1100"/>
              </a:spcAft>
              <a:defRPr sz="2000">
                <a:solidFill>
                  <a:srgbClr val="183A5A"/>
                </a:solidFill>
              </a:defRPr>
            </a:pPr>
            <a:r>
              <a:t>Vezeték</a:t>
            </a:r>
          </a:p>
          <a:p>
            <a:pPr>
              <a:spcAft>
                <a:spcPts val="1100"/>
              </a:spcAft>
              <a:defRPr sz="2000">
                <a:solidFill>
                  <a:srgbClr val="183A5A"/>
                </a:solidFill>
              </a:defRPr>
            </a:pPr>
            <a:r>
              <a:t>Fogyasztó</a:t>
            </a:r>
          </a:p>
          <a:p>
            <a:pPr>
              <a:spcAft>
                <a:spcPts val="1100"/>
              </a:spcAft>
              <a:defRPr sz="2000">
                <a:solidFill>
                  <a:srgbClr val="183A5A"/>
                </a:solidFill>
              </a:defRPr>
            </a:pPr>
            <a:r>
              <a:t>Haladjunk logikusan a hálózaton!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Terhelés alatti mérés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71600"/>
            <a:ext cx="10972800" cy="4572000"/>
          </a:xfrm>
          <a:prstGeom prst="roundRect">
            <a:avLst/>
          </a:prstGeom>
          <a:solidFill>
            <a:srgbClr val="F5F9FD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274320"/>
          <a:lstStyle/>
          <a:p>
            <a:pPr algn="ctr">
              <a:spcAft>
                <a:spcPts val="1100"/>
              </a:spcAft>
              <a:defRPr sz="2000">
                <a:solidFill>
                  <a:srgbClr val="183A5A"/>
                </a:solidFill>
              </a:defRPr>
            </a:pPr>
            <a:r>
              <a:t>Üresjárásban egy rossz kötés rejtve maradhat.</a:t>
            </a:r>
          </a:p>
          <a:p>
            <a:pPr>
              <a:spcAft>
                <a:spcPts val="1100"/>
              </a:spcAft>
              <a:defRPr sz="2000">
                <a:solidFill>
                  <a:srgbClr val="183A5A"/>
                </a:solidFill>
              </a:defRPr>
            </a:pPr>
            <a:r>
              <a:t>Terheléskor feszültségesés és melegedés jelenhet meg.</a:t>
            </a:r>
          </a:p>
          <a:p>
            <a:pPr>
              <a:spcAft>
                <a:spcPts val="1100"/>
              </a:spcAft>
              <a:defRPr sz="2000">
                <a:solidFill>
                  <a:srgbClr val="183A5A"/>
                </a:solidFill>
              </a:defRPr>
            </a:pPr>
            <a:r>
              <a:t>Mindig jegyezzük fel az üzemi állapotot.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Hőmérséklet mint jel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71600"/>
            <a:ext cx="10972800" cy="4572000"/>
          </a:xfrm>
          <a:prstGeom prst="roundRect">
            <a:avLst/>
          </a:prstGeom>
          <a:solidFill>
            <a:srgbClr val="F5F9FD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274320"/>
          <a:lstStyle/>
          <a:p>
            <a:pPr algn="ctr">
              <a:spcAft>
                <a:spcPts val="1100"/>
              </a:spcAft>
              <a:defRPr sz="2000">
                <a:solidFill>
                  <a:srgbClr val="183A5A"/>
                </a:solidFill>
              </a:defRPr>
            </a:pPr>
            <a:r>
              <a:t>Szokatlan melegedés → vizsgálati pont</a:t>
            </a:r>
          </a:p>
          <a:p>
            <a:pPr>
              <a:spcAft>
                <a:spcPts val="1100"/>
              </a:spcAft>
              <a:defRPr sz="2000">
                <a:solidFill>
                  <a:srgbClr val="183A5A"/>
                </a:solidFill>
              </a:defRPr>
            </a:pPr>
            <a:r>
              <a:t>Lehetséges nagy átmeneti ellenállás</a:t>
            </a:r>
          </a:p>
          <a:p>
            <a:pPr>
              <a:spcAft>
                <a:spcPts val="1100"/>
              </a:spcAft>
              <a:defRPr sz="2000">
                <a:solidFill>
                  <a:srgbClr val="183A5A"/>
                </a:solidFill>
              </a:defRPr>
            </a:pPr>
            <a:r>
              <a:t>Lehetséges túlterhelés vagy rossz érintkezés</a:t>
            </a:r>
          </a:p>
          <a:p>
            <a:pPr>
              <a:spcAft>
                <a:spcPts val="1100"/>
              </a:spcAft>
              <a:defRPr sz="2000">
                <a:solidFill>
                  <a:srgbClr val="183A5A"/>
                </a:solidFill>
              </a:defRPr>
            </a:pPr>
            <a:r>
              <a:t>A hőkép önmagában még nem diagnózis.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A védelem leoldása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71600"/>
            <a:ext cx="10972800" cy="4572000"/>
          </a:xfrm>
          <a:prstGeom prst="roundRect">
            <a:avLst/>
          </a:prstGeom>
          <a:solidFill>
            <a:srgbClr val="F5F9FD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274320"/>
          <a:lstStyle/>
          <a:p>
            <a:pPr algn="ctr">
              <a:spcAft>
                <a:spcPts val="1100"/>
              </a:spcAft>
              <a:defRPr sz="2000">
                <a:solidFill>
                  <a:srgbClr val="183A5A"/>
                </a:solidFill>
              </a:defRPr>
            </a:pPr>
            <a:r>
              <a:t>A leoldó készülék gyakran helyesen működik.</a:t>
            </a:r>
          </a:p>
          <a:p>
            <a:pPr>
              <a:spcAft>
                <a:spcPts val="1100"/>
              </a:spcAft>
              <a:defRPr sz="2000">
                <a:solidFill>
                  <a:srgbClr val="183A5A"/>
                </a:solidFill>
              </a:defRPr>
            </a:pPr>
            <a:r>
              <a:t>Kismegszakító: túlterhelés/zárlat iránya.</a:t>
            </a:r>
          </a:p>
          <a:p>
            <a:pPr>
              <a:spcAft>
                <a:spcPts val="1100"/>
              </a:spcAft>
              <a:defRPr sz="2000">
                <a:solidFill>
                  <a:srgbClr val="183A5A"/>
                </a:solidFill>
              </a:defRPr>
            </a:pPr>
            <a:r>
              <a:t>RCD: hibaáram/szigetelési/N-PE irány.</a:t>
            </a:r>
          </a:p>
          <a:p>
            <a:pPr>
              <a:spcAft>
                <a:spcPts val="1100"/>
              </a:spcAft>
              <a:defRPr sz="2000">
                <a:solidFill>
                  <a:srgbClr val="183A5A"/>
                </a:solidFill>
              </a:defRPr>
            </a:pPr>
            <a:r>
              <a:t>Az okot keressük, nem találomra cserélünk.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Komplex eset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71600"/>
            <a:ext cx="10972800" cy="4572000"/>
          </a:xfrm>
          <a:prstGeom prst="roundRect">
            <a:avLst/>
          </a:prstGeom>
          <a:solidFill>
            <a:srgbClr val="F5F9FD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274320"/>
          <a:lstStyle/>
          <a:p>
            <a:pPr algn="ctr">
              <a:spcAft>
                <a:spcPts val="1100"/>
              </a:spcAft>
              <a:defRPr sz="2000">
                <a:solidFill>
                  <a:srgbClr val="183A5A"/>
                </a:solidFill>
              </a:defRPr>
            </a:pPr>
            <a:r>
              <a:t>L1 = 8,6 A</a:t>
            </a:r>
          </a:p>
          <a:p>
            <a:pPr>
              <a:spcAft>
                <a:spcPts val="1100"/>
              </a:spcAft>
              <a:defRPr sz="2000">
                <a:solidFill>
                  <a:srgbClr val="183A5A"/>
                </a:solidFill>
              </a:defRPr>
            </a:pPr>
            <a:r>
              <a:t>L2 = 8,4 A</a:t>
            </a:r>
          </a:p>
          <a:p>
            <a:pPr>
              <a:spcAft>
                <a:spcPts val="1100"/>
              </a:spcAft>
              <a:defRPr sz="2000">
                <a:solidFill>
                  <a:srgbClr val="183A5A"/>
                </a:solidFill>
              </a:defRPr>
            </a:pPr>
            <a:r>
              <a:t>L3 = 3,2 A</a:t>
            </a:r>
          </a:p>
          <a:p>
            <a:pPr>
              <a:spcAft>
                <a:spcPts val="1100"/>
              </a:spcAft>
              <a:defRPr sz="2000">
                <a:solidFill>
                  <a:srgbClr val="183A5A"/>
                </a:solidFill>
              </a:defRPr>
            </a:pPr>
            <a:r>
              <a:t>A vonali feszültségek közel 400 V.</a:t>
            </a:r>
          </a:p>
          <a:p>
            <a:pPr>
              <a:spcAft>
                <a:spcPts val="1100"/>
              </a:spcAft>
              <a:defRPr sz="2000">
                <a:solidFill>
                  <a:srgbClr val="183A5A"/>
                </a:solidFill>
              </a:defRPr>
            </a:pPr>
            <a:r>
              <a:t>Az L3 kontaktorkapocs erősen meleg.</a:t>
            </a:r>
          </a:p>
          <a:p>
            <a:pPr>
              <a:spcAft>
                <a:spcPts val="1100"/>
              </a:spcAft>
              <a:defRPr sz="2000">
                <a:solidFill>
                  <a:srgbClr val="183A5A"/>
                </a:solidFill>
              </a:defRPr>
            </a:pPr>
            <a:r>
              <a:t>Milyen hibahipotézist állítasz fel?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IAP-kihívás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71600"/>
            <a:ext cx="10972800" cy="4572000"/>
          </a:xfrm>
          <a:prstGeom prst="roundRect">
            <a:avLst/>
          </a:prstGeom>
          <a:solidFill>
            <a:srgbClr val="F5F9FD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274320"/>
          <a:lstStyle/>
          <a:p>
            <a:pPr algn="ctr">
              <a:spcAft>
                <a:spcPts val="1100"/>
              </a:spcAft>
              <a:defRPr sz="2000">
                <a:solidFill>
                  <a:srgbClr val="183A5A"/>
                </a:solidFill>
              </a:defRPr>
            </a:pPr>
            <a:r>
              <a:t>L1 = 9,0 A • L2 = 8,8 A • L3 = 3,1 A</a:t>
            </a:r>
          </a:p>
          <a:p>
            <a:pPr>
              <a:spcAft>
                <a:spcPts val="1100"/>
              </a:spcAft>
              <a:defRPr sz="2000">
                <a:solidFill>
                  <a:srgbClr val="183A5A"/>
                </a:solidFill>
              </a:defRPr>
            </a:pPr>
            <a:r>
              <a:t>Az L3 kapocs 25 °C-kal melegebb.</a:t>
            </a:r>
          </a:p>
          <a:p>
            <a:pPr>
              <a:spcAft>
                <a:spcPts val="1100"/>
              </a:spcAft>
              <a:defRPr sz="2000">
                <a:solidFill>
                  <a:srgbClr val="183A5A"/>
                </a:solidFill>
              </a:defRPr>
            </a:pPr>
            <a:r>
              <a:t>Állíts fel háromlépcsős vizsgálati sorrendet!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