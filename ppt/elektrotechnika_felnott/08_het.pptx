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8. hét • Összefoglalás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DejaVu Sans"/>
              </a:defRPr>
            </a:pPr>
            <a:r>
              <a:t>Aktív és passzív hálózatok • 22–24. óra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76D2"/>
                </a:solidFill>
                <a:latin typeface="DejaVu Sans"/>
              </a:defRPr>
            </a:pPr>
            <a:r>
              <a:t>7 hét módszerei</a:t>
            </a:r>
            <a:br/>
            <a:r>
              <a:t>→ 1 egységes rendszer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645920"/>
            <a:ext cx="3840480" cy="14173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62671" y="1773936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Cél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62671" y="2212848"/>
            <a:ext cx="3511296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Modellt választani, nem képletet keresni.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383280"/>
            <a:ext cx="3840480" cy="14173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1" y="3511296"/>
            <a:ext cx="35112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Ellenőrzés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2671" y="3950208"/>
            <a:ext cx="3511296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Számítás + mérés + fizikai értelmezés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Történelmi nyitó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5156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617089"/>
                </a:solidFill>
                <a:latin typeface="DejaVu Sans"/>
              </a:defRPr>
            </a:pPr>
            <a:r>
              <a:t>Az egyszerűsítés mint mérnöki gondolkodás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45336"/>
            <a:ext cx="4882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Absztrakció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84248"/>
            <a:ext cx="488289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A bonyolult hálózatból azt tartjuk meg, amit a vizsgált kapcsok felől „látni” kell.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347472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545336"/>
            <a:ext cx="48828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Modellek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1984248"/>
            <a:ext cx="4882896" cy="277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Kétpólus • valós forrás • Thévenin • Norton • teljesítményillesztés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A témakör térképe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60604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45336"/>
            <a:ext cx="2276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1–2. hét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984248"/>
            <a:ext cx="227685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Aktív/passzív</a:t>
            </a:r>
            <a:br/>
            <a:r>
              <a:t>Kétpólus</a:t>
            </a:r>
            <a:br/>
            <a:r>
              <a:t>U–I jelleggörbe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417320"/>
            <a:ext cx="260604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0712" y="1545336"/>
            <a:ext cx="2276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3–4. hét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1984248"/>
            <a:ext cx="227685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Valós feszültség-</a:t>
            </a:r>
            <a:br/>
            <a:r>
              <a:t>és áramforrás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417320"/>
            <a:ext cx="260604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1545336"/>
            <a:ext cx="2276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5–6. hét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1984248"/>
            <a:ext cx="227685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Thévenin</a:t>
            </a:r>
            <a:br/>
            <a:r>
              <a:t>↔</a:t>
            </a:r>
            <a:br/>
            <a:r>
              <a:t>Norton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417320"/>
            <a:ext cx="260604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7112" y="1545336"/>
            <a:ext cx="2276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7. hét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1984248"/>
            <a:ext cx="227685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Terhelés</a:t>
            </a:r>
            <a:br/>
            <a:r>
              <a:t>Pmax</a:t>
            </a:r>
            <a:br/>
            <a:r>
              <a:t>hatásfok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Thévenin és Norton • egy kétpólus, két modell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Thévenin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483717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UTh feszültségforrás</a:t>
            </a:r>
            <a:br/>
            <a:r>
              <a:t>+</a:t>
            </a:r>
            <a:br/>
            <a:r>
              <a:t>RTh sorosan</a:t>
            </a:r>
            <a:br/>
            <a:br/>
            <a:r>
              <a:t>UTh = üresjárási feszültség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6636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Norton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84248"/>
            <a:ext cx="483717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IN áramforrás</a:t>
            </a:r>
            <a:br/>
            <a:r>
              <a:t>||</a:t>
            </a:r>
            <a:br/>
            <a:r>
              <a:t>RN párhuzamosan</a:t>
            </a:r>
            <a:br/>
            <a:br/>
            <a:r>
              <a:t>IN = rövidzárási áram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A kapcsolat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976D2"/>
                </a:solidFill>
                <a:latin typeface="DejaVu Sans"/>
              </a:defRPr>
            </a:pPr>
            <a:r>
              <a:t>RN = 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IN = UTh / 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UTh = IN · 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508760"/>
            <a:ext cx="4572000" cy="31089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1636776"/>
            <a:ext cx="4242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Lényeg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2075688"/>
            <a:ext cx="4242816" cy="2414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A kapocsviselkedés azonos.</a:t>
            </a:r>
            <a:br/>
            <a:r>
              <a:t>A terhelés ugyanazt az U–I kapcsolatot „látja”.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Komplex példa • eredeti hálózat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33832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45336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Adatok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84248"/>
            <a:ext cx="3054096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U = 24 V</a:t>
            </a:r>
            <a:br/>
            <a:r>
              <a:t>R1 = 6 Ω</a:t>
            </a:r>
            <a:br/>
            <a:r>
              <a:t>R2 = 6 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33832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545336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Thévenin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984248"/>
            <a:ext cx="3054096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UTh = 12 V</a:t>
            </a:r>
            <a:br/>
            <a:r>
              <a:t>RTh = 3 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417320"/>
            <a:ext cx="3383280" cy="33832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545336"/>
            <a:ext cx="30540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Norton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984248"/>
            <a:ext cx="3054096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IN = 4 A</a:t>
            </a:r>
            <a:br/>
            <a:r>
              <a:t>RN = 3 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Rt = 6 Ω • három módszer, egy eredmény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52044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45336"/>
            <a:ext cx="3191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Eredeti hálózat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984248"/>
            <a:ext cx="319125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R2 || Rt = 3 Ω</a:t>
            </a:r>
            <a:br/>
            <a:r>
              <a:t>Ut ≈ 8 V</a:t>
            </a:r>
            <a:br/>
            <a:r>
              <a:t>It ≈ 1,333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52044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545336"/>
            <a:ext cx="3191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Thévenin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1984248"/>
            <a:ext cx="319125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It = 12/(3+6)</a:t>
            </a:r>
            <a:br/>
            <a:r>
              <a:t>≈ 1,333 A</a:t>
            </a:r>
            <a:br/>
            <a:r>
              <a:t>Ut ≈ 8 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417320"/>
            <a:ext cx="352044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545336"/>
            <a:ext cx="3191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Norton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1984248"/>
            <a:ext cx="319125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Áramosztás</a:t>
            </a:r>
            <a:br/>
            <a:r>
              <a:t>It ≈ 1,333 A</a:t>
            </a:r>
            <a:br/>
            <a:r>
              <a:t>Ut ≈ 8 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Illesztés • Rt = RTh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5074920" cy="33832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36776"/>
            <a:ext cx="4745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Maximális teljesítmény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075688"/>
            <a:ext cx="4745736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Rt = 3 Ω</a:t>
            </a:r>
            <a:br/>
            <a:r>
              <a:t>I = 2 A</a:t>
            </a:r>
            <a:br/>
            <a:r>
              <a:t>Ut = 6 V</a:t>
            </a:r>
            <a:br/>
            <a:r>
              <a:t>Pt = 12 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08760"/>
            <a:ext cx="5074920" cy="338328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636776"/>
            <a:ext cx="47457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Hatásfok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075688"/>
            <a:ext cx="4745736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Pb = 12 W</a:t>
            </a:r>
            <a:br/>
            <a:r>
              <a:t>η = 50%</a:t>
            </a:r>
            <a:br/>
            <a:br/>
            <a:r>
              <a:t>Pmax nem egyenlő ηmax!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Melyik módszert válasszam?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60604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45336"/>
            <a:ext cx="2276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Közvetlen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984248"/>
            <a:ext cx="227685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Egyszerű hálózat</a:t>
            </a:r>
            <a:br/>
            <a:r>
              <a:t>egy üzemállapot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417320"/>
            <a:ext cx="260604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0712" y="1545336"/>
            <a:ext cx="2276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Thévenin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1984248"/>
            <a:ext cx="227685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Változó terhelés</a:t>
            </a:r>
            <a:br/>
            <a:r>
              <a:t>feszültségszemlélet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417320"/>
            <a:ext cx="260604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1545336"/>
            <a:ext cx="2276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Norton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53912" y="1984248"/>
            <a:ext cx="227685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Párhuzamos ágak</a:t>
            </a:r>
            <a:br/>
            <a:r>
              <a:t>áramszemlélet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417320"/>
            <a:ext cx="260604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97112" y="1545336"/>
            <a:ext cx="22768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P-vizsgálat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1984248"/>
            <a:ext cx="227685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Terhelésillesztés</a:t>
            </a:r>
            <a:br/>
            <a:r>
              <a:t>veszteség</a:t>
            </a:r>
            <a:br/>
            <a:r>
              <a:t>hatásfok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Vizsgamegoldási algoritmus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66360" cy="3749039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9961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1–3.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38528"/>
            <a:ext cx="4837176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1. Tiszta rajz és kapcsok</a:t>
            </a:r>
            <a:br/>
            <a:r>
              <a:t>2. Adatok, források, terhelés</a:t>
            </a:r>
            <a:br/>
            <a:r>
              <a:t>3. Megfelelő modell kiválasztása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66360" cy="3749039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49961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4–7.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38528"/>
            <a:ext cx="4837176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4. Képlet számok előtt</a:t>
            </a:r>
            <a:br/>
            <a:r>
              <a:t>5. Mértékegységek</a:t>
            </a:r>
            <a:br/>
            <a:r>
              <a:t>6. Ellenőrzés</a:t>
            </a:r>
            <a:br/>
            <a:r>
              <a:t>7. Mérnöki következtetés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Tipikus hibák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Hálózathelyettesítés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483717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• terhelés rajta marad UTh-nál</a:t>
            </a:r>
            <a:br/>
            <a:r>
              <a:t>• hibás forráskikapcsolás</a:t>
            </a:r>
            <a:br/>
            <a:r>
              <a:t>• IN ≠ normál terhelőáram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166360" cy="356616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545336"/>
            <a:ext cx="48371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Teljesítmény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84248"/>
            <a:ext cx="4837176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• Pmax ≠ ηmax</a:t>
            </a:r>
            <a:br/>
            <a:r>
              <a:t>• RTh ≠ tetszőleges ellenállás</a:t>
            </a:r>
            <a:br/>
            <a:r>
              <a:t>• eredmény ellenőrzése elmarad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7548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61A30"/>
                </a:solidFill>
                <a:latin typeface="DejaVu Sans"/>
              </a:defRPr>
            </a:pPr>
            <a:r>
              <a:t>⚡ IAP záró 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976D2"/>
                </a:solidFill>
                <a:latin typeface="DejaVu Sans"/>
              </a:defRPr>
            </a:pPr>
            <a:r>
              <a:t>Uü = 18 V   •   Irz = 3 A   •   Rt = 6 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54480" y="2240280"/>
            <a:ext cx="9052560" cy="2606040"/>
          </a:xfrm>
          <a:prstGeom prst="roundRect">
            <a:avLst/>
          </a:prstGeom>
          <a:solidFill>
            <a:srgbClr val="EAF4FF"/>
          </a:solidFill>
          <a:ln>
            <a:solidFill>
              <a:srgbClr val="BE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19072" y="2368296"/>
            <a:ext cx="87233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76D2"/>
                </a:solidFill>
                <a:latin typeface="DejaVu Sans"/>
              </a:defRPr>
            </a:pPr>
            <a:r>
              <a:t>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9072" y="2807208"/>
            <a:ext cx="8723376" cy="191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83A5A"/>
                </a:solidFill>
                <a:latin typeface="DejaVu Sans"/>
              </a:defRPr>
            </a:pPr>
            <a:r>
              <a:t>Határozd meg a Thévenin- és Norton-helyettesítőt!</a:t>
            </a:r>
            <a:br/>
            <a:r>
              <a:t>Számítsd ki It, Ut és Pt értékét!</a:t>
            </a:r>
            <a:br/>
            <a:r>
              <a:t>Döntsd el: illesztett-e a terhelés?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61A30"/>
                </a:solidFill>
                <a:latin typeface="DejaVu Sans"/>
              </a:defRPr>
            </a:pPr>
            <a:r>
              <a:t>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