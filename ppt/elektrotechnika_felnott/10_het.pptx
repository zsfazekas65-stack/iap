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10. hét • Kondenzátor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17089"/>
                </a:solidFill>
                <a:latin typeface="DejaVu Sans"/>
              </a:defRPr>
            </a:pPr>
            <a:r>
              <a:t>2. témakör • Villamos erőtér, kondenzátor • 28-30. óra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6035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976D2"/>
                </a:solidFill>
                <a:latin typeface="DejaVu Sans"/>
              </a:defRPr>
            </a:pPr>
            <a:r>
              <a:t>Töltés és energia</a:t>
            </a:r>
            <a:br/>
            <a:r>
              <a:t>a villamos erőtérben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45920"/>
            <a:ext cx="4023360" cy="146304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79792" y="1773936"/>
            <a:ext cx="3694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Alapösszefüggés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9792" y="2212848"/>
            <a:ext cx="369417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C = Q / 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429000"/>
            <a:ext cx="4023360" cy="146304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9792" y="3557016"/>
            <a:ext cx="3694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Kulcsszó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9792" y="3995928"/>
            <a:ext cx="369417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kapacitás • dielektrikum • energia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Történelmi nyitó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17089"/>
                </a:solidFill>
                <a:latin typeface="DejaVu Sans"/>
              </a:defRPr>
            </a:pPr>
            <a:r>
              <a:t>A leideni palacktól a modern kondenzátorig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45336"/>
            <a:ext cx="4882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Korai energiatároló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84248"/>
            <a:ext cx="488289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Két vezető felület és közöttük szigetelőanyag: a kondenzátor alapelve.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545336"/>
            <a:ext cx="4882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Mai szerep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1984248"/>
            <a:ext cx="488289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Tápegység • szűrő • időzítés • motor • kompenzálás • energiatárolás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Kapacitás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300" b="1">
                <a:solidFill>
                  <a:srgbClr val="1976D2"/>
                </a:solidFill>
                <a:latin typeface="DejaVu Sans"/>
              </a:defRPr>
            </a:pPr>
            <a:r>
              <a:t>C = Q / 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371600"/>
            <a:ext cx="530352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16752" y="1499616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Mértékegység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6752" y="1938528"/>
            <a:ext cx="497433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farad (F)</a:t>
            </a:r>
            <a:br/>
            <a:r>
              <a:t>μF • nF • pF</a:t>
            </a:r>
            <a:br/>
            <a:br/>
            <a:r>
              <a:t>Q = C·U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Kidolgozott példa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4533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Adatok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483717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C = 470 μF</a:t>
            </a:r>
            <a:br/>
            <a:r>
              <a:t>U = 12 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16636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54533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Eredmény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984248"/>
            <a:ext cx="483717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Q = C·U</a:t>
            </a:r>
            <a:br/>
            <a:r>
              <a:t>= 5,64 mC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Síkkondenzátor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976D2"/>
                </a:solidFill>
                <a:latin typeface="DejaVu Sans"/>
              </a:defRPr>
            </a:pPr>
            <a:r>
              <a:t>C = ε₀ · εᵣ · A / 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371600"/>
            <a:ext cx="393192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71231" y="1499616"/>
            <a:ext cx="3602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Mitől függ?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71231" y="1938528"/>
            <a:ext cx="360273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A ↑ → C ↑</a:t>
            </a:r>
            <a:br/>
            <a:r>
              <a:t>εᵣ ↑ → C ↑</a:t>
            </a:r>
            <a:br/>
            <a:r>
              <a:t>d ↑ → C 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A villamos tér kapcsolata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4533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9.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483717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E = U / 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16636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54533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10. hét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984248"/>
            <a:ext cx="483717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A dielektrikumot a villamos tér terheli.</a:t>
            </a:r>
            <a:br/>
            <a:r>
              <a:t>Túl nagy E → átütési kockázat.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Tárolt 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976D2"/>
                </a:solidFill>
                <a:latin typeface="DejaVu Sans"/>
              </a:defRPr>
            </a:pPr>
            <a:r>
              <a:t>W = ½ · C · U²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484632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499616"/>
            <a:ext cx="4517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Fontos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1938528"/>
            <a:ext cx="451713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Az energia a villamos erőtérben tárolódik.</a:t>
            </a:r>
            <a:br/>
            <a:r>
              <a:t>A feszültség négyzetesen számít.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Párhuzamos kapcsolás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976D2"/>
                </a:solidFill>
                <a:latin typeface="DejaVu Sans"/>
              </a:defRPr>
            </a:pPr>
            <a:r>
              <a:t>Cₚ = C₁ + C₂ + 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371600"/>
            <a:ext cx="402336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79792" y="1499616"/>
            <a:ext cx="3694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Példa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9792" y="1938528"/>
            <a:ext cx="369417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10 + 22 + 47 μF</a:t>
            </a:r>
            <a:br/>
            <a:r>
              <a:t>= 79 μF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Soros kapcsolás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976D2"/>
                </a:solidFill>
                <a:latin typeface="DejaVu Sans"/>
              </a:defRPr>
            </a:pPr>
            <a:r>
              <a:t>1/Cₛ = 1/C₁ + 1/C₂ + 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71600"/>
            <a:ext cx="356616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36992" y="1499616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Két tag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38528"/>
            <a:ext cx="323697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Cₛ = C₁C₂/(C₁+C₂)</a:t>
            </a:r>
            <a:br/>
            <a:br/>
            <a:r>
              <a:t>Mindig kisebb.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RC időállandó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300" b="1">
                <a:solidFill>
                  <a:srgbClr val="1976D2"/>
                </a:solidFill>
                <a:latin typeface="DejaVu Sans"/>
              </a:defRPr>
            </a:pPr>
            <a:r>
              <a:t>τ = R · 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371600"/>
            <a:ext cx="548640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25312" y="1499616"/>
            <a:ext cx="5157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Exponenciális folyamat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5312" y="1938528"/>
            <a:ext cx="515721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1τ: töltés ≈ 63%</a:t>
            </a:r>
            <a:br/>
            <a:r>
              <a:t>1τ: kisütés ≈ 37%</a:t>
            </a:r>
            <a:br/>
            <a:r>
              <a:t>5τ: gyakorlatilag beállt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Biztonság és kiválasztás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45336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Névleges feszültség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84248"/>
            <a:ext cx="314553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Nem léphető túl.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545336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Polaritás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984248"/>
            <a:ext cx="314553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Elektrolitnál kötelező.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545336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Kisütés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1984248"/>
            <a:ext cx="314553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Lekapcsolva is maradhat veszélyes töltés.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⚡ IAP heti 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976D2"/>
                </a:solidFill>
                <a:latin typeface="DejaVu Sans"/>
              </a:defRPr>
            </a:pPr>
            <a:r>
              <a:t>C₁ = 100 μF   •   C₂ = 220 μF   •   U = 24 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2240280"/>
            <a:ext cx="9052560" cy="260604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19072" y="2368296"/>
            <a:ext cx="8723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Feladat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9072" y="2807208"/>
            <a:ext cx="8723376" cy="191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Párhuzamos kapcsolás: számítsd ki Ceredő, Qössz és W értékét!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1A30"/>
                </a:solidFill>
                <a:latin typeface="DejaVu Sans"/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