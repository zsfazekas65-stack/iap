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IAP • Villamos szerelések • 11. évfolyam • 15.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65392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978"/>
                </a:solidFill>
              </a:defRPr>
            </a:pPr>
            <a:r>
              <a:t>Túlfeszültség-védelem • Integrált Automatika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65836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0D47A1"/>
                </a:solidFill>
              </a:defRPr>
            </a:pPr>
            <a:r>
              <a:t>IAP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676656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4200" b="1">
                <a:solidFill>
                  <a:srgbClr val="0D47A1"/>
                </a:solidFill>
              </a:defRPr>
            </a:pPr>
            <a:r>
              <a:t>TÚLFESZÜLTSÉG-</a:t>
            </a:r>
            <a:br/>
            <a:r>
              <a:t>VÉDELEM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880360"/>
            <a:ext cx="69494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800" b="0">
                <a:solidFill>
                  <a:srgbClr val="455A64"/>
                </a:solidFill>
              </a:defRPr>
            </a:pPr>
            <a:r>
              <a:t>SPD • T1/T2/T3 • PE/EPH • rövid bekötés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474720"/>
            <a:ext cx="62179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0">
                <a:solidFill>
                  <a:srgbClr val="455A64"/>
                </a:solidFill>
              </a:defRPr>
            </a:pPr>
            <a:r>
              <a:t>15. hét • Villamos szerelések • 11. évfolyam</a:t>
            </a:r>
          </a:p>
        </p:txBody>
      </p:sp>
      <p:sp>
        <p:nvSpPr>
          <p:cNvPr id="9" name="Oval 8"/>
          <p:cNvSpPr/>
          <p:nvPr/>
        </p:nvSpPr>
        <p:spPr>
          <a:xfrm>
            <a:off x="8458200" y="960120"/>
            <a:ext cx="960120" cy="960120"/>
          </a:xfrm>
          <a:prstGeom prst="ellipse">
            <a:avLst/>
          </a:prstGeom>
          <a:solidFill>
            <a:srgbClr val="F9A825"/>
          </a:solidFill>
          <a:ln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2240280"/>
            <a:ext cx="3383280" cy="6858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D47A1"/>
                </a:solidFill>
              </a:defRPr>
            </a:pPr>
            <a:r>
              <a:t>A feszültségcsúcsot</a:t>
            </a:r>
            <a:br/>
            <a:r>
              <a:t>nem a készülék kapja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3657600"/>
            <a:ext cx="1508760" cy="438912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D47A1"/>
                </a:solidFill>
              </a:defRPr>
            </a:pPr>
            <a:r>
              <a:t>Külső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4206240"/>
            <a:ext cx="1508760" cy="438912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D47A1"/>
                </a:solidFill>
              </a:defRPr>
            </a:pPr>
            <a:r>
              <a:t>Belső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4892040"/>
            <a:ext cx="1508760" cy="438912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D47A1"/>
                </a:solidFill>
              </a:defRPr>
            </a:pPr>
            <a:r>
              <a:t>Hálózati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IAP • Villamos szerelések • 11. évfolyam • 15.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65392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978"/>
                </a:solidFill>
              </a:defRPr>
            </a:pPr>
            <a:r>
              <a:t>Túlfeszültség-védelem • Integrált Automatika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6766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Kapcsolódás az előző hetekhez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25880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55A64"/>
                </a:solidFill>
              </a:defRPr>
            </a:pPr>
            <a:r>
              <a:t>Hibavédelem után: berendezésvédelem és zavarállóság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286000"/>
            <a:ext cx="960120" cy="96012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429000"/>
            <a:ext cx="16002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>
                <a:solidFill>
                  <a:srgbClr val="102A43"/>
                </a:solidFill>
              </a:defRPr>
            </a:pPr>
            <a:r>
              <a:t>Hibavédelem</a:t>
            </a:r>
            <a:br/>
            <a:r>
              <a:t>alapjai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2286000"/>
            <a:ext cx="960120" cy="96012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3429000"/>
            <a:ext cx="16002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>
                <a:solidFill>
                  <a:srgbClr val="102A43"/>
                </a:solidFill>
              </a:defRPr>
            </a:pPr>
            <a:r>
              <a:t>ÁVK</a:t>
            </a:r>
            <a:br/>
            <a:r>
              <a:t>szerepe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0" y="2286000"/>
            <a:ext cx="960120" cy="960120"/>
          </a:xfrm>
          <a:prstGeom prst="ellipse">
            <a:avLst/>
          </a:prstGeom>
          <a:solidFill>
            <a:srgbClr val="F9A825"/>
          </a:solidFill>
          <a:ln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3429000"/>
            <a:ext cx="16002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>
                <a:solidFill>
                  <a:srgbClr val="102A43"/>
                </a:solidFill>
              </a:defRPr>
            </a:pPr>
            <a:r>
              <a:t>Túlfeszültség-</a:t>
            </a:r>
            <a:br/>
            <a:r>
              <a:t>védelem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0" y="2286000"/>
            <a:ext cx="960120" cy="96012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3429000"/>
            <a:ext cx="16002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>
                <a:solidFill>
                  <a:srgbClr val="102A43"/>
                </a:solidFill>
              </a:defRPr>
            </a:pPr>
            <a:r>
              <a:t>PE és EPH</a:t>
            </a:r>
            <a:br/>
            <a:r>
              <a:t>gyakorlat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65960" y="2761488"/>
            <a:ext cx="1325879" cy="0"/>
          </a:xfrm>
          <a:prstGeom prst="line">
            <a:avLst/>
          </a:prstGeom>
          <a:ln w="254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709160" y="2761488"/>
            <a:ext cx="1325880" cy="0"/>
          </a:xfrm>
          <a:prstGeom prst="line">
            <a:avLst/>
          </a:prstGeom>
          <a:ln w="254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452360" y="2761488"/>
            <a:ext cx="1325880" cy="0"/>
          </a:xfrm>
          <a:prstGeom prst="line">
            <a:avLst/>
          </a:prstGeom>
          <a:ln w="254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IAP • Villamos szerelések • 11. évfolyam • 15.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65392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978"/>
                </a:solidFill>
              </a:defRPr>
            </a:pPr>
            <a:r>
              <a:t>Túlfeszültség-védelem • Integrált Automatika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6766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Mi az a túlfeszültség?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25880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55A64"/>
                </a:solidFill>
              </a:defRPr>
            </a:pPr>
            <a:r>
              <a:t>Rövid idejű, de nagy igénybevétel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02A43"/>
                </a:solidFill>
              </a:defRPr>
            </a:pPr>
            <a:r>
              <a:t>• A névlegesnél nagyobb feszültség jelenik meg.</a:t>
            </a:r>
          </a:p>
          <a:p>
            <a:pPr>
              <a:defRPr sz="1800">
                <a:solidFill>
                  <a:srgbClr val="102A43"/>
                </a:solidFill>
              </a:defRPr>
            </a:pPr>
            <a:r>
              <a:t>• Gyakran nagyon rövid ideig tart.</a:t>
            </a:r>
          </a:p>
          <a:p>
            <a:pPr>
              <a:defRPr sz="1800">
                <a:solidFill>
                  <a:srgbClr val="102A43"/>
                </a:solidFill>
              </a:defRPr>
            </a:pPr>
            <a:r>
              <a:t>• Az elektronika sokszor hamarabb sérül, mint a vezeték.</a:t>
            </a:r>
          </a:p>
          <a:p>
            <a:pPr>
              <a:defRPr sz="1800">
                <a:solidFill>
                  <a:srgbClr val="102A43"/>
                </a:solidFill>
              </a:defRPr>
            </a:pPr>
            <a:r>
              <a:t>• A cél: a csúcs energiáját biztonságos útra terelni.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92240" y="4754880"/>
            <a:ext cx="4663440" cy="0"/>
          </a:xfrm>
          <a:prstGeom prst="line">
            <a:avLst/>
          </a:prstGeom>
          <a:ln>
            <a:solidFill>
              <a:srgbClr val="455A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583680" y="4389120"/>
            <a:ext cx="640080" cy="0"/>
          </a:xfrm>
          <a:prstGeom prst="line">
            <a:avLst/>
          </a:prstGeom>
          <a:ln w="38100">
            <a:solidFill>
              <a:srgbClr val="C6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7223760" y="1920240"/>
            <a:ext cx="137160" cy="2468880"/>
          </a:xfrm>
          <a:prstGeom prst="line">
            <a:avLst/>
          </a:prstGeom>
          <a:ln w="38100">
            <a:solidFill>
              <a:srgbClr val="C6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60920" y="1920240"/>
            <a:ext cx="137159" cy="2468880"/>
          </a:xfrm>
          <a:prstGeom prst="line">
            <a:avLst/>
          </a:prstGeom>
          <a:ln w="38100">
            <a:solidFill>
              <a:srgbClr val="C6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498079" y="4389120"/>
            <a:ext cx="914401" cy="0"/>
          </a:xfrm>
          <a:prstGeom prst="line">
            <a:avLst/>
          </a:prstGeom>
          <a:ln w="38100">
            <a:solidFill>
              <a:srgbClr val="C6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8412480" y="2926080"/>
            <a:ext cx="137160" cy="1463040"/>
          </a:xfrm>
          <a:prstGeom prst="line">
            <a:avLst/>
          </a:prstGeom>
          <a:ln w="38100">
            <a:solidFill>
              <a:srgbClr val="C6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549640" y="2926080"/>
            <a:ext cx="137160" cy="1463040"/>
          </a:xfrm>
          <a:prstGeom prst="line">
            <a:avLst/>
          </a:prstGeom>
          <a:ln w="38100">
            <a:solidFill>
              <a:srgbClr val="C6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686800" y="4389120"/>
            <a:ext cx="2103120" cy="0"/>
          </a:xfrm>
          <a:prstGeom prst="line">
            <a:avLst/>
          </a:prstGeom>
          <a:ln w="38100">
            <a:solidFill>
              <a:srgbClr val="C6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720840" y="1143000"/>
            <a:ext cx="411480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>
                <a:solidFill>
                  <a:srgbClr val="C62828"/>
                </a:solidFill>
              </a:defRPr>
            </a:pPr>
            <a:r>
              <a:t>feszültségcsúcs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IAP • Villamos szerelések • 11. évfolyam • 15.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65392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978"/>
                </a:solidFill>
              </a:defRPr>
            </a:pPr>
            <a:r>
              <a:t>Túlfeszültség-védelem • Integrált Automatika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6766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Túlfeszültség forrásai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25880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55A64"/>
                </a:solidFill>
              </a:defRPr>
            </a:pPr>
            <a:r>
              <a:t>Nem csak villám okozhat problémát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828800"/>
            <a:ext cx="960120" cy="960120"/>
          </a:xfrm>
          <a:prstGeom prst="ellipse">
            <a:avLst/>
          </a:prstGeom>
          <a:solidFill>
            <a:srgbClr val="F9A825"/>
          </a:solidFill>
          <a:ln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71800"/>
            <a:ext cx="2926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900" b="1">
                <a:solidFill>
                  <a:srgbClr val="0D47A1"/>
                </a:solidFill>
              </a:defRPr>
            </a:pPr>
            <a:r>
              <a:t>Villám és közeli becsapás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30175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0">
                <a:solidFill>
                  <a:srgbClr val="102A43"/>
                </a:solidFill>
              </a:defRPr>
            </a:pPr>
            <a:r>
              <a:t>nagy energia, meredek impulzus</a:t>
            </a:r>
          </a:p>
        </p:txBody>
      </p:sp>
      <p:sp>
        <p:nvSpPr>
          <p:cNvPr id="10" name="Oval 9"/>
          <p:cNvSpPr/>
          <p:nvPr/>
        </p:nvSpPr>
        <p:spPr>
          <a:xfrm>
            <a:off x="4572000" y="1828800"/>
            <a:ext cx="960120" cy="96012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971800"/>
            <a:ext cx="2926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900" b="1">
                <a:solidFill>
                  <a:srgbClr val="0D47A1"/>
                </a:solidFill>
              </a:defRPr>
            </a:pPr>
            <a:r>
              <a:t>Kapcsolási jelenségek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474720"/>
            <a:ext cx="30175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0">
                <a:solidFill>
                  <a:srgbClr val="102A43"/>
                </a:solidFill>
              </a:defRPr>
            </a:pPr>
            <a:r>
              <a:t>motor, mágneskapcsoló, induktív terhelés</a:t>
            </a:r>
          </a:p>
        </p:txBody>
      </p:sp>
      <p:sp>
        <p:nvSpPr>
          <p:cNvPr id="13" name="Oval 12"/>
          <p:cNvSpPr/>
          <p:nvPr/>
        </p:nvSpPr>
        <p:spPr>
          <a:xfrm>
            <a:off x="8321040" y="1828800"/>
            <a:ext cx="960120" cy="96012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971800"/>
            <a:ext cx="2926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900" b="1">
                <a:solidFill>
                  <a:srgbClr val="0D47A1"/>
                </a:solidFill>
              </a:defRPr>
            </a:pPr>
            <a:r>
              <a:t>Hálózati hiba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9" y="3474720"/>
            <a:ext cx="30175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0">
                <a:solidFill>
                  <a:srgbClr val="102A43"/>
                </a:solidFill>
              </a:defRPr>
            </a:pPr>
            <a:r>
              <a:t>nullavezető-hiba, rossz kötés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IAP • Villamos szerelések • 11. évfolyam • 15.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65392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978"/>
                </a:solidFill>
              </a:defRPr>
            </a:pPr>
            <a:r>
              <a:t>Túlfeszültség-védelem • Integrált Automatika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6766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SPD - a túlfeszültség-védelmi eszköz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25880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55A64"/>
                </a:solidFill>
              </a:defRPr>
            </a:pPr>
            <a:r>
              <a:t>Normál üzemben nem dolgozik, lökésnél beavatkozik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02A43"/>
                </a:solidFill>
              </a:defRPr>
            </a:pPr>
            <a:r>
              <a:t>• Normál üzemben nagy ellenállású állapot.</a:t>
            </a:r>
          </a:p>
          <a:p>
            <a:pPr>
              <a:defRPr sz="1700">
                <a:solidFill>
                  <a:srgbClr val="102A43"/>
                </a:solidFill>
              </a:defRPr>
            </a:pPr>
            <a:r>
              <a:t>• Túlfeszültségnél vezetővé válik.</a:t>
            </a:r>
          </a:p>
          <a:p>
            <a:pPr>
              <a:defRPr sz="1700">
                <a:solidFill>
                  <a:srgbClr val="102A43"/>
                </a:solidFill>
              </a:defRPr>
            </a:pPr>
            <a:r>
              <a:t>• A veszélyes energiát PE/EPH irányába vezeti.</a:t>
            </a:r>
          </a:p>
          <a:p>
            <a:pPr>
              <a:defRPr sz="1700">
                <a:solidFill>
                  <a:srgbClr val="102A43"/>
                </a:solidFill>
              </a:defRPr>
            </a:pPr>
            <a:r>
              <a:t>• Állapotjelzése karbantartási információ.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783080"/>
            <a:ext cx="1280160" cy="6858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D47A1"/>
                </a:solidFill>
              </a:defRPr>
            </a:pPr>
            <a:r>
              <a:t>L/N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783080"/>
            <a:ext cx="1371600" cy="6858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D47A1"/>
                </a:solidFill>
              </a:defRPr>
            </a:pPr>
            <a:r>
              <a:t>SPD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49840" y="1783080"/>
            <a:ext cx="1280160" cy="6858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D47A1"/>
                </a:solidFill>
              </a:defRPr>
            </a:pPr>
            <a:r>
              <a:t>PE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63840" y="2121408"/>
            <a:ext cx="457200" cy="0"/>
          </a:xfrm>
          <a:prstGeom prst="line">
            <a:avLst/>
          </a:prstGeom>
          <a:ln w="38100">
            <a:solidFill>
              <a:srgbClr val="0D47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692640" y="2121408"/>
            <a:ext cx="457200" cy="0"/>
          </a:xfrm>
          <a:prstGeom prst="line">
            <a:avLst/>
          </a:prstGeom>
          <a:ln w="38100">
            <a:solidFill>
              <a:srgbClr val="0D47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92240" y="2971800"/>
            <a:ext cx="475488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200" b="1">
                <a:solidFill>
                  <a:srgbClr val="102A43"/>
                </a:solidFill>
              </a:defRPr>
            </a:pPr>
            <a:r>
              <a:t>A védelem útja legyen rövid, rendezett és megbízható.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IAP • Villamos szerelések • 11. évfolyam • 15.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65392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978"/>
                </a:solidFill>
              </a:defRPr>
            </a:pPr>
            <a:r>
              <a:t>Túlfeszültség-védelem • Integrált Automatika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6766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T1 • T2 • T3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25880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55A64"/>
                </a:solidFill>
              </a:defRPr>
            </a:pPr>
            <a:r>
              <a:t>A védelem fokozatokban gondolkodik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1874519"/>
            <a:ext cx="960120" cy="960120"/>
          </a:xfrm>
          <a:prstGeom prst="ellipse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T1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19202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>
                <a:solidFill>
                  <a:srgbClr val="0D47A1"/>
                </a:solidFill>
              </a:defRPr>
            </a:pPr>
            <a:r>
              <a:t>durvavédelem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79" y="3474720"/>
            <a:ext cx="25603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0">
                <a:solidFill>
                  <a:srgbClr val="102A43"/>
                </a:solidFill>
              </a:defRPr>
            </a:pPr>
            <a:r>
              <a:t>villámáram-rész, főelosztó</a:t>
            </a:r>
          </a:p>
        </p:txBody>
      </p:sp>
      <p:sp>
        <p:nvSpPr>
          <p:cNvPr id="10" name="Oval 9"/>
          <p:cNvSpPr/>
          <p:nvPr/>
        </p:nvSpPr>
        <p:spPr>
          <a:xfrm>
            <a:off x="4663440" y="1874519"/>
            <a:ext cx="960120" cy="960120"/>
          </a:xfrm>
          <a:prstGeom prst="ellipse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T2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971800"/>
            <a:ext cx="19202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>
                <a:solidFill>
                  <a:srgbClr val="0D47A1"/>
                </a:solidFill>
              </a:defRPr>
            </a:pPr>
            <a:r>
              <a:t>elosztói védelem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3474720"/>
            <a:ext cx="25603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0">
                <a:solidFill>
                  <a:srgbClr val="102A43"/>
                </a:solidFill>
              </a:defRPr>
            </a:pPr>
            <a:r>
              <a:t>általános túlfeszültség-védelem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0" y="1874519"/>
            <a:ext cx="960120" cy="960120"/>
          </a:xfrm>
          <a:prstGeom prst="ellipse">
            <a:avLst/>
          </a:prstGeom>
          <a:solidFill>
            <a:srgbClr val="F9A825"/>
          </a:solidFill>
          <a:ln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T3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971800"/>
            <a:ext cx="19202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>
                <a:solidFill>
                  <a:srgbClr val="0D47A1"/>
                </a:solidFill>
              </a:defRPr>
            </a:pPr>
            <a:r>
              <a:t>finomvédelem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59" y="3474720"/>
            <a:ext cx="25603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0">
                <a:solidFill>
                  <a:srgbClr val="102A43"/>
                </a:solidFill>
              </a:defRPr>
            </a:pPr>
            <a:r>
              <a:t>érzékeny készülék közelében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IAP • Villamos szerelések • 11. évfolyam • 15.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65392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978"/>
                </a:solidFill>
              </a:defRPr>
            </a:pPr>
            <a:r>
              <a:t>Túlfeszültség-védelem • Integrált Automatika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6766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Bekötési alapelv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25880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55A64"/>
                </a:solidFill>
              </a:defRPr>
            </a:pPr>
            <a:r>
              <a:t>A hosszú vezeték útja is számít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02A43"/>
                </a:solidFill>
              </a:defRPr>
            </a:pPr>
            <a:r>
              <a:t>• Betáplálás közelében legyen.</a:t>
            </a:r>
          </a:p>
          <a:p>
            <a:pPr>
              <a:defRPr sz="1800">
                <a:solidFill>
                  <a:srgbClr val="102A43"/>
                </a:solidFill>
              </a:defRPr>
            </a:pPr>
            <a:r>
              <a:t>• A PE/EPH kapcsolat legyen biztos.</a:t>
            </a:r>
          </a:p>
          <a:p>
            <a:pPr>
              <a:defRPr sz="1800">
                <a:solidFill>
                  <a:srgbClr val="102A43"/>
                </a:solidFill>
              </a:defRPr>
            </a:pPr>
            <a:r>
              <a:t>• A bekötővezeték legyen rövid.</a:t>
            </a:r>
          </a:p>
          <a:p>
            <a:pPr>
              <a:defRPr sz="1800">
                <a:solidFill>
                  <a:srgbClr val="102A43"/>
                </a:solidFill>
              </a:defRPr>
            </a:pPr>
            <a:r>
              <a:t>• Kerüljük a felesleges hurkokat.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417320"/>
            <a:ext cx="4297680" cy="5029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D47A1"/>
                </a:solidFill>
              </a:defRPr>
            </a:pPr>
            <a:r>
              <a:t>helyes: rövid út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4160520"/>
            <a:ext cx="4297680" cy="502920"/>
          </a:xfrm>
          <a:prstGeom prst="roundRect">
            <a:avLst/>
          </a:prstGeom>
          <a:solidFill>
            <a:srgbClr val="FFEBEE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D47A1"/>
                </a:solidFill>
              </a:defRPr>
            </a:pPr>
            <a:r>
              <a:t>hibás: hosszú hurok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0" y="2423160"/>
            <a:ext cx="3566160" cy="0"/>
          </a:xfrm>
          <a:prstGeom prst="line">
            <a:avLst/>
          </a:prstGeom>
          <a:ln w="508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58000" y="5166360"/>
            <a:ext cx="3566160" cy="0"/>
          </a:xfrm>
          <a:prstGeom prst="line">
            <a:avLst/>
          </a:prstGeom>
          <a:ln w="50800">
            <a:solidFill>
              <a:srgbClr val="C6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720840" y="2176272"/>
            <a:ext cx="502920" cy="50292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D47A1"/>
                </a:solidFill>
              </a:defRPr>
            </a:pPr>
          </a:p>
        </p:txBody>
      </p:sp>
      <p:sp>
        <p:nvSpPr>
          <p:cNvPr id="13" name="Rounded Rectangle 12"/>
          <p:cNvSpPr/>
          <p:nvPr/>
        </p:nvSpPr>
        <p:spPr>
          <a:xfrm>
            <a:off x="10378440" y="2176272"/>
            <a:ext cx="502920" cy="50292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D47A1"/>
                </a:solidFill>
              </a:defRPr>
            </a:pPr>
          </a:p>
        </p:txBody>
      </p:sp>
      <p:sp>
        <p:nvSpPr>
          <p:cNvPr id="14" name="Rounded Rectangle 13"/>
          <p:cNvSpPr/>
          <p:nvPr/>
        </p:nvSpPr>
        <p:spPr>
          <a:xfrm>
            <a:off x="6720840" y="4919472"/>
            <a:ext cx="502920" cy="50292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D47A1"/>
                </a:solidFill>
              </a:defRPr>
            </a:pPr>
          </a:p>
        </p:txBody>
      </p:sp>
      <p:sp>
        <p:nvSpPr>
          <p:cNvPr id="15" name="Rounded Rectangle 14"/>
          <p:cNvSpPr/>
          <p:nvPr/>
        </p:nvSpPr>
        <p:spPr>
          <a:xfrm>
            <a:off x="10378440" y="4919472"/>
            <a:ext cx="502920" cy="50292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D47A1"/>
                </a:solidFill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IAP • Villamos szerelések • 11. évfolyam • 15.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65392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978"/>
                </a:solidFill>
              </a:defRPr>
            </a:pPr>
            <a:r>
              <a:t>Túlfeszültség-védelem • Integrált Automatika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6766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Túlfeszültség-védelem és EPH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25880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55A64"/>
                </a:solidFill>
              </a:defRPr>
            </a:pPr>
            <a:r>
              <a:t>A levezetéshez közös potenciálrendszer kell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02A43"/>
                </a:solidFill>
              </a:defRPr>
            </a:pPr>
            <a:r>
              <a:t>• Az SPD önmagában nem csodaszer.</a:t>
            </a:r>
          </a:p>
          <a:p>
            <a:pPr>
              <a:defRPr sz="1800">
                <a:solidFill>
                  <a:srgbClr val="102A43"/>
                </a:solidFill>
              </a:defRPr>
            </a:pPr>
            <a:r>
              <a:t>• A PE és EPH adja a biztonságos levezetési irányt.</a:t>
            </a:r>
          </a:p>
          <a:p>
            <a:pPr>
              <a:defRPr sz="1800">
                <a:solidFill>
                  <a:srgbClr val="102A43"/>
                </a:solidFill>
              </a:defRPr>
            </a:pPr>
            <a:r>
              <a:t>• Laza kötés, hiányos EPH vagy rossz sínkapcsolat rontja a védelmet.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743200"/>
            <a:ext cx="1325880" cy="59436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47A1"/>
                </a:solidFill>
              </a:defRPr>
            </a:pPr>
            <a:r>
              <a:t>PE sín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743200"/>
            <a:ext cx="1325880" cy="59436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47A1"/>
                </a:solidFill>
              </a:defRPr>
            </a:pPr>
            <a:r>
              <a:t>EPH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0" y="2743200"/>
            <a:ext cx="1325880" cy="59436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47A1"/>
                </a:solidFill>
              </a:defRPr>
            </a:pPr>
            <a:r>
              <a:t>földelés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26679" y="3044952"/>
            <a:ext cx="502921" cy="0"/>
          </a:xfrm>
          <a:prstGeom prst="line">
            <a:avLst/>
          </a:prstGeom>
          <a:ln w="381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55480" y="3044952"/>
            <a:ext cx="502920" cy="0"/>
          </a:xfrm>
          <a:prstGeom prst="line">
            <a:avLst/>
          </a:prstGeom>
          <a:ln w="381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IAP • Villamos szerelések • 11. évfolyam • 15.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65392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978"/>
                </a:solidFill>
              </a:defRPr>
            </a:pPr>
            <a:r>
              <a:t>Túlfeszültség-védelem • Integrált Automatika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6766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Mit nem helyettesít az SPD?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25880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55A64"/>
                </a:solidFill>
              </a:defRPr>
            </a:pPr>
            <a:r>
              <a:t>A védelmeket nem szabad összekeverni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828800"/>
            <a:ext cx="2926080" cy="59436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D47A1"/>
                </a:solidFill>
              </a:defRPr>
            </a:pPr>
            <a:r>
              <a:t>Kismegszakító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938528"/>
            <a:ext cx="49377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900" b="1">
                <a:solidFill>
                  <a:srgbClr val="102A43"/>
                </a:solidFill>
              </a:defRPr>
            </a:pPr>
            <a:r>
              <a:t>túláram, zárlat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880360"/>
            <a:ext cx="2926080" cy="59436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D47A1"/>
                </a:solidFill>
              </a:defRPr>
            </a:pPr>
            <a:r>
              <a:t>ÁVK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990088"/>
            <a:ext cx="49377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900" b="1">
                <a:solidFill>
                  <a:srgbClr val="102A43"/>
                </a:solidFill>
              </a:defRPr>
            </a:pPr>
            <a:r>
              <a:t>hibaáram, érintésvédelem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3931920"/>
            <a:ext cx="2926080" cy="59436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D47A1"/>
                </a:solidFill>
              </a:defRPr>
            </a:pPr>
            <a:r>
              <a:t>SPD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4041648"/>
            <a:ext cx="49377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900" b="1">
                <a:solidFill>
                  <a:srgbClr val="102A43"/>
                </a:solidFill>
              </a:defRPr>
            </a:pPr>
            <a:r>
              <a:t>feszültségcsúcs korlátozása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349240"/>
            <a:ext cx="98755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200" b="1">
                <a:solidFill>
                  <a:srgbClr val="C62828"/>
                </a:solidFill>
              </a:defRPr>
            </a:pPr>
            <a:r>
              <a:t>Egyik védelem sem váltja ki automatikusan a másikat.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IAP • Villamos szerelések • 11. évfolyam • 15.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65392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978"/>
                </a:solidFill>
              </a:defRPr>
            </a:pPr>
            <a:r>
              <a:t>Túlfeszültség-védelem • Integrált Automatika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6766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Tipikus szerelési hibák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25880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55A64"/>
                </a:solidFill>
              </a:defRPr>
            </a:pPr>
            <a:r>
              <a:t>A védelem papíron megvan, de nem hatásos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058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02A43"/>
                </a:solidFill>
              </a:defRPr>
            </a:pPr>
            <a:r>
              <a:t>• Hiányos vagy laza PE/EPH kapcsolat.</a:t>
            </a:r>
          </a:p>
          <a:p>
            <a:pPr>
              <a:defRPr sz="2000">
                <a:solidFill>
                  <a:srgbClr val="102A43"/>
                </a:solidFill>
              </a:defRPr>
            </a:pPr>
            <a:r>
              <a:t>• Túl hosszú SPD bekötés, rendezetlen vezetékút.</a:t>
            </a:r>
          </a:p>
          <a:p>
            <a:pPr>
              <a:defRPr sz="2000">
                <a:solidFill>
                  <a:srgbClr val="102A43"/>
                </a:solidFill>
              </a:defRPr>
            </a:pPr>
            <a:r>
              <a:t>• Csak dugaljba dugható finomvédelem, elosztói védelem nélkül.</a:t>
            </a:r>
          </a:p>
          <a:p>
            <a:pPr>
              <a:defRPr sz="2000">
                <a:solidFill>
                  <a:srgbClr val="102A43"/>
                </a:solidFill>
              </a:defRPr>
            </a:pPr>
            <a:r>
              <a:t>• Állapotjelző figyelmen kívül hagyása.</a:t>
            </a:r>
          </a:p>
          <a:p>
            <a:pPr>
              <a:defRPr sz="2000">
                <a:solidFill>
                  <a:srgbClr val="102A43"/>
                </a:solidFill>
              </a:defRPr>
            </a:pPr>
            <a:r>
              <a:t>• A túlfeszültség-védelem összekeverése a túláramvédelemmel.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IAP • Villamos szerelések • 11. évfolyam • 15.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65392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978"/>
                </a:solidFill>
              </a:defRPr>
            </a:pPr>
            <a:r>
              <a:t>Túlfeszültség-védelem • Integrált Automatika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6766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Órai ellenőrzési sorrend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25880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55A64"/>
                </a:solidFill>
              </a:defRPr>
            </a:pPr>
            <a:r>
              <a:t>Mit nézz meg egy elosztón?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194560"/>
            <a:ext cx="960120" cy="96012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383280"/>
            <a:ext cx="1645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>
                <a:solidFill>
                  <a:srgbClr val="102A43"/>
                </a:solidFill>
              </a:defRPr>
            </a:pPr>
            <a:r>
              <a:t>Betáplálás</a:t>
            </a:r>
          </a:p>
        </p:txBody>
      </p:sp>
      <p:sp>
        <p:nvSpPr>
          <p:cNvPr id="9" name="Oval 8"/>
          <p:cNvSpPr/>
          <p:nvPr/>
        </p:nvSpPr>
        <p:spPr>
          <a:xfrm>
            <a:off x="2971800" y="2194560"/>
            <a:ext cx="960120" cy="96012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3383280"/>
            <a:ext cx="1645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>
                <a:solidFill>
                  <a:srgbClr val="102A43"/>
                </a:solidFill>
              </a:defRPr>
            </a:pPr>
            <a:r>
              <a:t>Védelmi fokozat</a:t>
            </a:r>
          </a:p>
        </p:txBody>
      </p:sp>
      <p:sp>
        <p:nvSpPr>
          <p:cNvPr id="11" name="Oval 10"/>
          <p:cNvSpPr/>
          <p:nvPr/>
        </p:nvSpPr>
        <p:spPr>
          <a:xfrm>
            <a:off x="5212080" y="2194560"/>
            <a:ext cx="960120" cy="96012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3383280"/>
            <a:ext cx="1645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>
                <a:solidFill>
                  <a:srgbClr val="102A43"/>
                </a:solidFill>
              </a:defRPr>
            </a:pPr>
            <a:r>
              <a:t>PE/EPH kapcsolat</a:t>
            </a:r>
          </a:p>
        </p:txBody>
      </p:sp>
      <p:sp>
        <p:nvSpPr>
          <p:cNvPr id="13" name="Oval 12"/>
          <p:cNvSpPr/>
          <p:nvPr/>
        </p:nvSpPr>
        <p:spPr>
          <a:xfrm>
            <a:off x="7452360" y="2194560"/>
            <a:ext cx="960120" cy="96012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3383280"/>
            <a:ext cx="1645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>
                <a:solidFill>
                  <a:srgbClr val="102A43"/>
                </a:solidFill>
              </a:defRPr>
            </a:pPr>
            <a:r>
              <a:t>Vezetékút</a:t>
            </a:r>
          </a:p>
        </p:txBody>
      </p:sp>
      <p:sp>
        <p:nvSpPr>
          <p:cNvPr id="15" name="Oval 14"/>
          <p:cNvSpPr/>
          <p:nvPr/>
        </p:nvSpPr>
        <p:spPr>
          <a:xfrm>
            <a:off x="9692640" y="2194560"/>
            <a:ext cx="960120" cy="96012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3383280"/>
            <a:ext cx="1645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>
                <a:solidFill>
                  <a:srgbClr val="102A43"/>
                </a:solidFill>
              </a:defRPr>
            </a:pPr>
            <a:r>
              <a:t>Állapotjelzés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IAP • Villamos szerelések • 11. évfolyam • 15.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65392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978"/>
                </a:solidFill>
              </a:defRPr>
            </a:pPr>
            <a:r>
              <a:t>Túlfeszültség-védelem • Integrált Automatika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6766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Gyakorlati feladat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25880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55A64"/>
                </a:solidFill>
              </a:defRPr>
            </a:pPr>
            <a:r>
              <a:t>SPD helyének és bekötési útjának elemzése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02A43"/>
                </a:solidFill>
              </a:defRPr>
            </a:pPr>
            <a:r>
              <a:t>• Azonosítsd a PE és N sínt.</a:t>
            </a:r>
          </a:p>
          <a:p>
            <a:pPr>
              <a:defRPr sz="1800">
                <a:solidFill>
                  <a:srgbClr val="102A43"/>
                </a:solidFill>
              </a:defRPr>
            </a:pPr>
            <a:r>
              <a:t>• Jelöld ki az SPD lehetséges helyét.</a:t>
            </a:r>
          </a:p>
          <a:p>
            <a:pPr>
              <a:defRPr sz="1800">
                <a:solidFill>
                  <a:srgbClr val="102A43"/>
                </a:solidFill>
              </a:defRPr>
            </a:pPr>
            <a:r>
              <a:t>• Rajzold be a levezetési útvonalat.</a:t>
            </a:r>
          </a:p>
          <a:p>
            <a:pPr>
              <a:defRPr sz="1800">
                <a:solidFill>
                  <a:srgbClr val="102A43"/>
                </a:solidFill>
              </a:defRPr>
            </a:pPr>
            <a:r>
              <a:t>• Indokold a rövid bekötés szükségességét.</a:t>
            </a:r>
          </a:p>
          <a:p>
            <a:pPr>
              <a:defRPr sz="1800">
                <a:solidFill>
                  <a:srgbClr val="102A43"/>
                </a:solidFill>
              </a:defRPr>
            </a:pPr>
            <a:r>
              <a:t>• Ellenőrizd az állapotjelzés jelentését.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828800"/>
            <a:ext cx="4389120" cy="237744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D47A1"/>
                </a:solidFill>
              </a:defRPr>
            </a:pPr>
            <a:r>
              <a:t>Kimenet:</a:t>
            </a:r>
            <a:br/>
            <a:r>
              <a:t>1 oldal tanulói dokumentáció</a:t>
            </a:r>
            <a:br/>
            <a:r>
              <a:t>+ egyszerű elosztóvázlat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IAP • Villamos szerelések • 11. évfolyam • 15.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65392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978"/>
                </a:solidFill>
              </a:defRPr>
            </a:pPr>
            <a:r>
              <a:t>Túlfeszültség-védelem • Integrált Automatika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6766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IAP heti kihívás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25880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55A64"/>
                </a:solidFill>
              </a:defRPr>
            </a:pPr>
            <a:r>
              <a:t>Hiba felismerése szakmai szemmel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332720" cy="1051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1">
                <a:solidFill>
                  <a:srgbClr val="102A43"/>
                </a:solidFill>
              </a:defRPr>
            </a:pPr>
            <a:r>
              <a:t>Beépítették az SPD-t, de a PE-sín kötése laza, a bekötővezeték hosszú hurkot képez. Jó megoldás?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3657600"/>
            <a:ext cx="6263640" cy="914400"/>
          </a:xfrm>
          <a:prstGeom prst="roundRect">
            <a:avLst/>
          </a:prstGeom>
          <a:solidFill>
            <a:srgbClr val="FFEBEE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D47A1"/>
                </a:solidFill>
              </a:defRPr>
            </a:pPr>
            <a:r>
              <a:t>Nem. Jó PE/EPH kapcsolat és rövid bekötés nélkül az SPD nem hatásos.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IAP • Villamos szerelések • 11. évfolyam • 15.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65392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978"/>
                </a:solidFill>
              </a:defRPr>
            </a:pPr>
            <a:r>
              <a:t>Túlfeszültség-védelem • Integrált Automatika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6766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Összefoglalás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25880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55A64"/>
                </a:solidFill>
              </a:defRPr>
            </a:pPr>
            <a:r>
              <a:t>A túlfeszültség-védelem rendszerben működik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058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102A43"/>
                </a:solidFill>
              </a:defRPr>
            </a:pPr>
            <a:r>
              <a:t>• A túlfeszültség rövid, de veszélyes feszültségcsúcs.</a:t>
            </a:r>
          </a:p>
          <a:p>
            <a:pPr>
              <a:defRPr sz="2100">
                <a:solidFill>
                  <a:srgbClr val="102A43"/>
                </a:solidFill>
              </a:defRPr>
            </a:pPr>
            <a:r>
              <a:t>• Az SPD a csúcs energiáját PE/EPH irányba vezeti.</a:t>
            </a:r>
          </a:p>
          <a:p>
            <a:pPr>
              <a:defRPr sz="2100">
                <a:solidFill>
                  <a:srgbClr val="102A43"/>
                </a:solidFill>
              </a:defRPr>
            </a:pPr>
            <a:r>
              <a:t>• T1, T2 és T3 fokozatok eltérő feladatot látnak el.</a:t>
            </a:r>
          </a:p>
          <a:p>
            <a:pPr>
              <a:defRPr sz="2100">
                <a:solidFill>
                  <a:srgbClr val="102A43"/>
                </a:solidFill>
              </a:defRPr>
            </a:pPr>
            <a:r>
              <a:t>• A rövid bekötés és a jó EPH nem részletkérdés, hanem működési feltétel.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623560"/>
            <a:ext cx="102412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000" b="1">
                <a:solidFill>
                  <a:srgbClr val="0D47A1"/>
                </a:solidFill>
              </a:defRPr>
            </a:pPr>
            <a:r>
              <a:t>Következő hét: védővezetők és EPH gyakorlati szerepe.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