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5. hét • Thévenin-tétel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51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17089"/>
                </a:solidFill>
                <a:latin typeface="DejaVu Sans"/>
              </a:defRPr>
            </a:pPr>
            <a:r>
              <a:t>Aktív kétpólusok helyettesítése • 13–15. óra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976D2"/>
                </a:solidFill>
                <a:latin typeface="DejaVu Sans"/>
              </a:defRPr>
            </a:pPr>
            <a:r>
              <a:t>Egy összetett hálózat</a:t>
            </a:r>
            <a:br/>
            <a:r>
              <a:t>két adattal jellemezhető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645920"/>
            <a:ext cx="3749039" cy="14630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773936"/>
            <a:ext cx="3419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2212848"/>
            <a:ext cx="34198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Thévenin-feszültség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429000"/>
            <a:ext cx="3749039" cy="14630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9831" y="3557016"/>
            <a:ext cx="3419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9831" y="3995928"/>
            <a:ext cx="341985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Thévenin-ellenállás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Történelmi nyitó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51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17089"/>
                </a:solidFill>
                <a:latin typeface="DejaVu Sans"/>
              </a:defRPr>
            </a:pPr>
            <a:r>
              <a:t>Léon Charles Thévenin • 1857–1926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45336"/>
            <a:ext cx="4882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Francia mérnök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4882896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Távírómérnök és oktató. Ohm és Kirchhoff törvényeinek hálózati alkalmazásával foglalkozott.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545336"/>
            <a:ext cx="4882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1883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1" y="1984248"/>
            <a:ext cx="4882896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Publikálta a róla elnevezett hálózathelyettesítési eredményt. A módszer az összetett hálózatok kezelését egyszerűsítette.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Miért jelentős a tétel?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1455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Egyszerűsít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14553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Nem kell minden terhelésváltozásnál az egész eredeti hálózatot újraszámítani.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545336"/>
            <a:ext cx="31455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Modellez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984248"/>
            <a:ext cx="314553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A terhelés felől a hálózat UTh és RTh segítségével írható 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47472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545336"/>
            <a:ext cx="31455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Mérnöki szemlélet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1984248"/>
            <a:ext cx="314553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A bonyolult belső rendszert olyan egyszerű modellel váltjuk ki, amely megőrzi a fontos külső viselkedést.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A Thévenin-tétel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61A30"/>
                </a:solidFill>
                <a:latin typeface="DejaVu Sans"/>
              </a:defRPr>
            </a:pPr>
            <a:r>
              <a:t>Lineáris aktív kétpólus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0574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500" b="1">
                <a:solidFill>
                  <a:srgbClr val="1976D2"/>
                </a:solidFill>
                <a:latin typeface="DejaVu Sans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417320"/>
            <a:ext cx="5303520" cy="320040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9592" y="1545336"/>
            <a:ext cx="4974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Thévenin-helyettesítő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79592" y="1984248"/>
            <a:ext cx="4974336" cy="2505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UTh ideális feszültségforrás</a:t>
            </a:r>
            <a:br/>
            <a:r>
              <a:t>+</a:t>
            </a:r>
            <a:br/>
            <a:r>
              <a:t>RTh soros ellenállás</a:t>
            </a:r>
            <a:br/>
            <a:br/>
            <a:r>
              <a:t>A terhelés felől azonos U–I viselkedés.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A helyettesítés 6 lépése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Terhelés leválasztása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UTh = üresjárási feszültség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Független források kikapcsolása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91839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1985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85876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RTh meghatározása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291839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41985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85876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Helyettesítő kör felrajzolása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291839"/>
            <a:ext cx="3337560" cy="1508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3419856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858768"/>
            <a:ext cx="3008376" cy="813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Terhelés vissza + számítás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Forráskikapcsolási szabály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636776"/>
            <a:ext cx="47457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Feszültségforrás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075688"/>
            <a:ext cx="474573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Ideális független feszültségforrás</a:t>
            </a:r>
            <a:br/>
            <a:r>
              <a:t>→ Rb = 0 Ω</a:t>
            </a:r>
            <a:br/>
            <a:r>
              <a:t>→ rövidzár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508760"/>
            <a:ext cx="507492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636776"/>
            <a:ext cx="47457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Áramforrás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075688"/>
            <a:ext cx="474573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Ideális független áramforrás</a:t>
            </a:r>
            <a:br/>
            <a:r>
              <a:t>→ Rb → ∞</a:t>
            </a:r>
            <a:br/>
            <a:r>
              <a:t>→ szakadás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Alapképletek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It = UTh / (RTh + 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Ut = It · 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URTh = It · 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508760"/>
            <a:ext cx="4480560" cy="2651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636776"/>
            <a:ext cx="4151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Ellenőrzés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2075688"/>
            <a:ext cx="4151376" cy="195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Kirchhoff II. törvénye:</a:t>
            </a:r>
            <a:br/>
            <a:r>
              <a:t>UTh = URTh +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Szemléltető példa • eredeti hálózat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Adatok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U = 24 V</a:t>
            </a:r>
            <a:br/>
            <a:r>
              <a:t>R1 = 6 Ω</a:t>
            </a:r>
            <a:br/>
            <a:r>
              <a:t>R2 = 6 Ω</a:t>
            </a:r>
            <a:br/>
            <a:r>
              <a:t>Rt = 6 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1. 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Terhelés le:</a:t>
            </a:r>
            <a:br/>
            <a:r>
              <a:t>UTh = 24·6/(6+6)</a:t>
            </a:r>
            <a:br/>
            <a:r>
              <a:t>UTh = 12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2. RTh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Forrás rövidzár:</a:t>
            </a:r>
            <a:br/>
            <a:r>
              <a:t>RTh = 6 || 6</a:t>
            </a:r>
            <a:br/>
            <a:r>
              <a:t>RTh = 3 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Szemléltető példa • Thévenin-kör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Helyettesítő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UTh = 12 V</a:t>
            </a:r>
            <a:br/>
            <a:r>
              <a:t>RTh = 3 Ω</a:t>
            </a:r>
            <a:br/>
            <a:r>
              <a:t>Rt = 6 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Terhelőáram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It = 12/(3+6)</a:t>
            </a:r>
            <a:br/>
            <a:r>
              <a:t>It = 1,333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Terhelőfeszültség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Ut = 1,333·6</a:t>
            </a:r>
            <a:br/>
            <a:r>
              <a:t>Ut ≈ 8 V</a:t>
            </a:r>
            <a:br/>
            <a:br/>
            <a:r>
              <a:t>URTh ≈ 4 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Ellenőrzés az eredeti hálózaton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45336"/>
            <a:ext cx="48371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Eredeti kör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483717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R2 || Rt = 3 Ω</a:t>
            </a:r>
            <a:br/>
            <a:r>
              <a:t>Reredő = 6 + 3 = 9 Ω</a:t>
            </a:r>
            <a:br/>
            <a:r>
              <a:t>Iforrás = 24/9 = 2,667 A</a:t>
            </a:r>
            <a:br/>
            <a:r>
              <a:t>Ut ≈ 8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545336"/>
            <a:ext cx="48371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Thévenin-kör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984248"/>
            <a:ext cx="483717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It = 1,333 A</a:t>
            </a:r>
            <a:br/>
            <a:r>
              <a:t>Ut ≈ 8 V</a:t>
            </a:r>
            <a:br/>
            <a:br/>
            <a:r>
              <a:t>A terhelés szempontjából ugyanazt az eredményt kaptuk.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Mi történik más terheléssel?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Rt = 3 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It = 2 A</a:t>
            </a:r>
            <a:br/>
            <a:r>
              <a:t>Ut = 6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Rt = 6 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It = 1,333 A</a:t>
            </a:r>
            <a:br/>
            <a:r>
              <a:t>Ut ≈ 8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3832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545336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Rt = 9 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984248"/>
            <a:ext cx="3054096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It = 1 A</a:t>
            </a:r>
            <a:br/>
            <a:r>
              <a:t>Ut = 9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UTh és RTh közben változatlan.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Tipikus hibák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45336"/>
            <a:ext cx="48371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Figyelj rá!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984248"/>
            <a:ext cx="483717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• terhelés rajta marad UTh mérésénél</a:t>
            </a:r>
            <a:br/>
            <a:r>
              <a:t>• hibás forráskikapcsolás</a:t>
            </a:r>
            <a:br/>
            <a:r>
              <a:t>• RTh rossz kapcsok felől</a:t>
            </a:r>
            <a:br/>
            <a:r>
              <a:t>• a tétel feltételeinek figyelmen kívül hagyása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66360" cy="35661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545336"/>
            <a:ext cx="48371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Algoritmus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984248"/>
            <a:ext cx="4837176" cy="2871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Terhelés le → UTh → források ki → RTh → Thévenin-kör → terhelés vissza → számítás → ellenőrzés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7548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61A30"/>
                </a:solidFill>
                <a:latin typeface="DejaVu Sans"/>
              </a:defRPr>
            </a:pPr>
            <a:r>
              <a:t>⚡ IAP heti kihívás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976D2"/>
                </a:solidFill>
                <a:latin typeface="DejaVu Sans"/>
              </a:defRPr>
            </a:pPr>
            <a:r>
              <a:t>UTh = 18 V   •   RTh = 3 Ω   •   Rt = 6 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2331720"/>
            <a:ext cx="8321040" cy="237744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2459736"/>
            <a:ext cx="7991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  <a:latin typeface="DejaVu Sans"/>
              </a:defRPr>
            </a:pPr>
            <a:r>
              <a:t>Feladat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4832" y="2898648"/>
            <a:ext cx="7991856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40" b="0">
                <a:solidFill>
                  <a:srgbClr val="183A5A"/>
                </a:solidFill>
                <a:latin typeface="DejaVu Sans"/>
              </a:defRPr>
            </a:pPr>
            <a:r>
              <a:t>Számítsd ki It, Ut és URTh értékét!</a:t>
            </a:r>
            <a:br/>
            <a:r>
              <a:t>Ellenőrizd Kirchhoff II. törvényével.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1A30"/>
                </a:solidFill>
                <a:latin typeface="DejaVu Sans"/>
              </a:defRPr>
            </a:pPr>
            <a:r>
              <a:t>Tanulj! Alkalmazz! Alkoss!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