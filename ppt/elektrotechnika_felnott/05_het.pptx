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53025"/>
  <p:notesSz cx="6858000" cy="9144000"/>
  <p:embeddedFontLst>
    <p:embeddedFont>
      <p:font typeface="Source Code Pro" pitchFamily="2" charset="0"/>
      <p:regular r:id="rId16"/>
      <p:bold r:id="rId17"/>
    </p:embeddedFont>
    <p:embeddedFont>
      <p:font typeface="Roboto" pitchFamily="2" charset="0"/>
      <p:regular r:id="rId18"/>
      <p:bold r:id="rId19"/>
    </p:embeddedFont>
    <p:embeddedFont>
      <p:font typeface="Roboto Slab" pitchFamily="2" charset="0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4762"/>
            <a:ext cx="6096000" cy="51435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414336"/>
            <a:ext cx="1301229" cy="411480"/>
            <a:chOff x="390525" y="409574"/>
            <a:chExt cx="1301229" cy="411480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409574"/>
              <a:ext cx="1496413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"/>
                </a:rPr>
                <a:t>Aktív kétpólusok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615314"/>
              <a:ext cx="1496413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"/>
                </a:rPr>
                <a:t>helyettesítése</a:t>
              </a:r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71475" y="1054416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0525" y="1989771"/>
            <a:ext cx="5520690" cy="571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4500" b="1">
                <a:solidFill>
                  <a:srgbClr val="494B45"/>
                </a:solidFill>
                <a:latin typeface="Source Code Pro"/>
              </a:rPr>
              <a:t>Thévenin-tétel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90525" y="2751772"/>
            <a:ext cx="2060495" cy="411479"/>
            <a:chOff x="390525" y="2747010"/>
            <a:chExt cx="2060495" cy="411479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747010"/>
              <a:ext cx="236956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"/>
                </a:rPr>
                <a:t>IAP – Integrált Automatika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2952750"/>
              <a:ext cx="2369569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"/>
                </a:rPr>
                <a:t>Program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371475" y="4281487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525" y="4532947"/>
            <a:ext cx="2004941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Elektrotechnika • 5. hét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64" y="4762"/>
            <a:ext cx="2982687" cy="31413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2445067"/>
            <a:ext cx="3864483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494B45"/>
                </a:solidFill>
                <a:latin typeface="Source Code Pro"/>
              </a:rPr>
              <a:t>Tanulási célok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940367"/>
            <a:ext cx="237174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Mit fogunk ma elsajátítani?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0525" y="3612832"/>
            <a:ext cx="1186576" cy="411480"/>
            <a:chOff x="390525" y="3608070"/>
            <a:chExt cx="1186576" cy="41148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3608070"/>
              <a:ext cx="1364562" cy="205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 Slab"/>
                </a:rPr>
                <a:t>Hálózatok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3813810"/>
              <a:ext cx="136456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494B45"/>
                  </a:solidFill>
                  <a:latin typeface="Roboto Slab"/>
                </a:rPr>
                <a:t>egyszerűsítése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26924" y="3612831"/>
            <a:ext cx="215774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Thévenin-paraméterek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612831"/>
            <a:ext cx="170673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Forráskikapcsolás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612831"/>
            <a:ext cx="108551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Számítások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526924" y="3927156"/>
            <a:ext cx="1947024" cy="571500"/>
            <a:chOff x="2526924" y="3922394"/>
            <a:chExt cx="1947024" cy="571500"/>
          </a:xfrm>
        </p:grpSpPr>
        <p:sp>
          <p:nvSpPr>
            <p:cNvPr id="11" name="TextBox 10"/>
            <p:cNvSpPr txBox="1"/>
            <p:nvPr/>
          </p:nvSpPr>
          <p:spPr>
            <a:xfrm>
              <a:off x="2526924" y="3922394"/>
              <a:ext cx="22390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 Thévenin-feszültség (UTh)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26924" y="4112894"/>
              <a:ext cx="22390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és a Thévenin-ellenállás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26924" y="4303394"/>
              <a:ext cx="22390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(RTh) meghatározása.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676775" y="3927156"/>
            <a:ext cx="1809750" cy="381000"/>
            <a:chOff x="4676775" y="3922394"/>
            <a:chExt cx="1809750" cy="381000"/>
          </a:xfrm>
        </p:grpSpPr>
        <p:sp>
          <p:nvSpPr>
            <p:cNvPr id="15" name="TextBox 14"/>
            <p:cNvSpPr txBox="1"/>
            <p:nvPr/>
          </p:nvSpPr>
          <p:spPr>
            <a:xfrm>
              <a:off x="4676775" y="3922394"/>
              <a:ext cx="20812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 forráskikapcsolás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76775" y="4112894"/>
              <a:ext cx="20812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szabályainak alkalmazása.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819900" y="3927156"/>
            <a:ext cx="1918096" cy="571500"/>
            <a:chOff x="6819900" y="3922394"/>
            <a:chExt cx="1918096" cy="571500"/>
          </a:xfrm>
        </p:grpSpPr>
        <p:sp>
          <p:nvSpPr>
            <p:cNvPr id="18" name="TextBox 17"/>
            <p:cNvSpPr txBox="1"/>
            <p:nvPr/>
          </p:nvSpPr>
          <p:spPr>
            <a:xfrm>
              <a:off x="6819900" y="3922394"/>
              <a:ext cx="220581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 terhelés áramának és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19900" y="4112894"/>
              <a:ext cx="220581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feszültségének kiszámítása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19900" y="4303394"/>
              <a:ext cx="220581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 helyettesítő képből.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90525" y="4110037"/>
            <a:ext cx="1911305" cy="571500"/>
            <a:chOff x="390525" y="4105275"/>
            <a:chExt cx="1911305" cy="571500"/>
          </a:xfrm>
        </p:grpSpPr>
        <p:sp>
          <p:nvSpPr>
            <p:cNvPr id="22" name="TextBox 21"/>
            <p:cNvSpPr txBox="1"/>
            <p:nvPr/>
          </p:nvSpPr>
          <p:spPr>
            <a:xfrm>
              <a:off x="390525" y="4105275"/>
              <a:ext cx="219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Összetett lineáris hálózatok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4295775"/>
              <a:ext cx="219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egyszerűsítése a terhelés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0525" y="4486275"/>
              <a:ext cx="219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felől.</a:t>
              </a: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7933372" y="4880570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45485" y="1716234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7"/>
                  <a:pt x="127254" y="568471"/>
                  <a:pt x="284235" y="568471"/>
                </a:cubicBezTo>
                <a:cubicBezTo>
                  <a:pt x="441217" y="568471"/>
                  <a:pt x="568471" y="441217"/>
                  <a:pt x="568471" y="284235"/>
                </a:cubicBezTo>
                <a:cubicBezTo>
                  <a:pt x="568471" y="127254"/>
                  <a:pt x="441217" y="0"/>
                  <a:pt x="284235" y="0"/>
                </a:cubicBezTo>
                <a:cubicBezTo>
                  <a:pt x="127254" y="0"/>
                  <a:pt x="0" y="127254"/>
                  <a:pt x="0" y="284235"/>
                </a:cubicBezTo>
              </a:path>
            </a:pathLst>
          </a:custGeom>
          <a:solidFill>
            <a:srgbClr val="DEBE64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45485" y="1716234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5"/>
                  <a:pt x="127256" y="568471"/>
                  <a:pt x="284235" y="568471"/>
                </a:cubicBezTo>
                <a:cubicBezTo>
                  <a:pt x="441215" y="568471"/>
                  <a:pt x="568471" y="441215"/>
                  <a:pt x="568471" y="284235"/>
                </a:cubicBezTo>
                <a:cubicBezTo>
                  <a:pt x="568471" y="127256"/>
                  <a:pt x="441215" y="0"/>
                  <a:pt x="284235" y="0"/>
                </a:cubicBezTo>
                <a:cubicBezTo>
                  <a:pt x="127256" y="0"/>
                  <a:pt x="0" y="127256"/>
                  <a:pt x="0" y="284235"/>
                </a:cubicBezTo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08702" y="1949150"/>
            <a:ext cx="473726" cy="695699"/>
          </a:xfrm>
          <a:custGeom>
            <a:avLst/>
            <a:gdLst/>
            <a:ahLst/>
            <a:cxnLst/>
            <a:rect l="0" t="0" r="0" b="0"/>
            <a:pathLst>
              <a:path w="473726" h="695699">
                <a:moveTo>
                  <a:pt x="0" y="51320"/>
                </a:moveTo>
                <a:lnTo>
                  <a:pt x="378981" y="51320"/>
                </a:lnTo>
                <a:cubicBezTo>
                  <a:pt x="431307" y="51320"/>
                  <a:pt x="473726" y="93739"/>
                  <a:pt x="473726" y="146065"/>
                </a:cubicBezTo>
                <a:moveTo>
                  <a:pt x="50967" y="0"/>
                </a:moveTo>
                <a:lnTo>
                  <a:pt x="0" y="51670"/>
                </a:lnTo>
                <a:lnTo>
                  <a:pt x="51670" y="102638"/>
                </a:lnTo>
                <a:moveTo>
                  <a:pt x="473726" y="146065"/>
                </a:moveTo>
                <a:lnTo>
                  <a:pt x="473726" y="695699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45485" y="2786967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7"/>
                  <a:pt x="127254" y="568471"/>
                  <a:pt x="284235" y="568471"/>
                </a:cubicBezTo>
                <a:cubicBezTo>
                  <a:pt x="441217" y="568471"/>
                  <a:pt x="568471" y="441217"/>
                  <a:pt x="568471" y="284235"/>
                </a:cubicBezTo>
                <a:cubicBezTo>
                  <a:pt x="568471" y="127254"/>
                  <a:pt x="441217" y="0"/>
                  <a:pt x="284235" y="0"/>
                </a:cubicBezTo>
                <a:cubicBezTo>
                  <a:pt x="127254" y="0"/>
                  <a:pt x="0" y="127254"/>
                  <a:pt x="0" y="284235"/>
                </a:cubicBezTo>
              </a:path>
            </a:pathLst>
          </a:custGeom>
          <a:solidFill>
            <a:srgbClr val="DEBE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45485" y="2786967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5"/>
                  <a:pt x="127256" y="568471"/>
                  <a:pt x="284235" y="568471"/>
                </a:cubicBezTo>
                <a:cubicBezTo>
                  <a:pt x="441215" y="568471"/>
                  <a:pt x="568471" y="441215"/>
                  <a:pt x="568471" y="284235"/>
                </a:cubicBezTo>
                <a:cubicBezTo>
                  <a:pt x="568471" y="127256"/>
                  <a:pt x="441215" y="0"/>
                  <a:pt x="284235" y="0"/>
                </a:cubicBezTo>
                <a:cubicBezTo>
                  <a:pt x="127256" y="0"/>
                  <a:pt x="0" y="127256"/>
                  <a:pt x="0" y="284235"/>
                </a:cubicBezTo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08702" y="2644849"/>
            <a:ext cx="473726" cy="477671"/>
          </a:xfrm>
          <a:custGeom>
            <a:avLst/>
            <a:gdLst/>
            <a:ahLst/>
            <a:cxnLst/>
            <a:rect l="0" t="0" r="0" b="0"/>
            <a:pathLst>
              <a:path w="473726" h="477671">
                <a:moveTo>
                  <a:pt x="0" y="426342"/>
                </a:moveTo>
                <a:lnTo>
                  <a:pt x="378992" y="426342"/>
                </a:lnTo>
                <a:cubicBezTo>
                  <a:pt x="431312" y="426342"/>
                  <a:pt x="473726" y="383929"/>
                  <a:pt x="473726" y="331608"/>
                </a:cubicBezTo>
                <a:moveTo>
                  <a:pt x="50967" y="375033"/>
                </a:moveTo>
                <a:lnTo>
                  <a:pt x="0" y="426704"/>
                </a:lnTo>
                <a:lnTo>
                  <a:pt x="51670" y="477671"/>
                </a:lnTo>
                <a:moveTo>
                  <a:pt x="473726" y="0"/>
                </a:moveTo>
                <a:lnTo>
                  <a:pt x="473726" y="331608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8111" y="1737028"/>
            <a:ext cx="1147762" cy="1000401"/>
          </a:xfrm>
          <a:custGeom>
            <a:avLst/>
            <a:gdLst/>
            <a:ahLst/>
            <a:cxnLst/>
            <a:rect l="0" t="0" r="0" b="0"/>
            <a:pathLst>
              <a:path w="1147762" h="1000401">
                <a:moveTo>
                  <a:pt x="1091222" y="822579"/>
                </a:moveTo>
                <a:cubicBezTo>
                  <a:pt x="1127455" y="747341"/>
                  <a:pt x="1147762" y="662978"/>
                  <a:pt x="1147762" y="573881"/>
                </a:cubicBezTo>
                <a:cubicBezTo>
                  <a:pt x="1147762" y="333632"/>
                  <a:pt x="1000125" y="127854"/>
                  <a:pt x="790632" y="42338"/>
                </a:cubicBezTo>
                <a:cubicBezTo>
                  <a:pt x="795375" y="49263"/>
                  <a:pt x="799090" y="57073"/>
                  <a:pt x="801490" y="65598"/>
                </a:cubicBezTo>
                <a:lnTo>
                  <a:pt x="894349" y="395525"/>
                </a:lnTo>
                <a:lnTo>
                  <a:pt x="913380" y="376494"/>
                </a:lnTo>
                <a:cubicBezTo>
                  <a:pt x="933126" y="356749"/>
                  <a:pt x="963910" y="348862"/>
                  <a:pt x="992333" y="364655"/>
                </a:cubicBezTo>
                <a:cubicBezTo>
                  <a:pt x="1020756" y="380447"/>
                  <a:pt x="1030500" y="408089"/>
                  <a:pt x="1031814" y="419938"/>
                </a:cubicBezTo>
                <a:cubicBezTo>
                  <a:pt x="1034443" y="430463"/>
                  <a:pt x="1033395" y="458628"/>
                  <a:pt x="1008126" y="487051"/>
                </a:cubicBezTo>
                <a:cubicBezTo>
                  <a:pt x="982865" y="515473"/>
                  <a:pt x="951547" y="551526"/>
                  <a:pt x="941022" y="566004"/>
                </a:cubicBezTo>
                <a:lnTo>
                  <a:pt x="952861" y="605475"/>
                </a:lnTo>
                <a:cubicBezTo>
                  <a:pt x="964701" y="593636"/>
                  <a:pt x="1000115" y="586463"/>
                  <a:pt x="1031814" y="605475"/>
                </a:cubicBezTo>
                <a:cubicBezTo>
                  <a:pt x="1071286" y="629164"/>
                  <a:pt x="1073924" y="658120"/>
                  <a:pt x="1071286" y="668645"/>
                </a:cubicBezTo>
                <a:cubicBezTo>
                  <a:pt x="1068657" y="679170"/>
                  <a:pt x="1055655" y="707917"/>
                  <a:pt x="1031814" y="743654"/>
                </a:cubicBezTo>
                <a:cubicBezTo>
                  <a:pt x="1025709" y="752808"/>
                  <a:pt x="1020908" y="760914"/>
                  <a:pt x="1016612" y="768172"/>
                </a:cubicBezTo>
                <a:cubicBezTo>
                  <a:pt x="1012393" y="775306"/>
                  <a:pt x="1008659" y="781631"/>
                  <a:pt x="1004630" y="787326"/>
                </a:cubicBezTo>
                <a:lnTo>
                  <a:pt x="1015336" y="825360"/>
                </a:lnTo>
                <a:cubicBezTo>
                  <a:pt x="1033805" y="838666"/>
                  <a:pt x="1046645" y="861869"/>
                  <a:pt x="1055503" y="881786"/>
                </a:cubicBezTo>
                <a:cubicBezTo>
                  <a:pt x="1055884" y="882643"/>
                  <a:pt x="1056255" y="883481"/>
                  <a:pt x="1056627" y="884320"/>
                </a:cubicBezTo>
                <a:cubicBezTo>
                  <a:pt x="1061027" y="877500"/>
                  <a:pt x="1065285" y="870575"/>
                  <a:pt x="1069400" y="863555"/>
                </a:cubicBezTo>
                <a:cubicBezTo>
                  <a:pt x="1071276" y="846543"/>
                  <a:pt x="1077487" y="831418"/>
                  <a:pt x="1091222" y="822579"/>
                </a:cubicBezTo>
                <a:moveTo>
                  <a:pt x="189918" y="1000401"/>
                </a:moveTo>
                <a:cubicBezTo>
                  <a:pt x="73313" y="895359"/>
                  <a:pt x="0" y="743178"/>
                  <a:pt x="0" y="573881"/>
                </a:cubicBezTo>
                <a:cubicBezTo>
                  <a:pt x="0" y="438302"/>
                  <a:pt x="47015" y="313715"/>
                  <a:pt x="125625" y="215512"/>
                </a:cubicBezTo>
                <a:cubicBezTo>
                  <a:pt x="122491" y="228304"/>
                  <a:pt x="122510" y="242058"/>
                  <a:pt x="126339" y="255631"/>
                </a:cubicBezTo>
                <a:lnTo>
                  <a:pt x="256641" y="718585"/>
                </a:lnTo>
                <a:cubicBezTo>
                  <a:pt x="238553" y="704297"/>
                  <a:pt x="221027" y="695267"/>
                  <a:pt x="210693" y="692315"/>
                </a:cubicBezTo>
                <a:cubicBezTo>
                  <a:pt x="188585" y="686000"/>
                  <a:pt x="180422" y="702840"/>
                  <a:pt x="179108" y="712050"/>
                </a:cubicBezTo>
                <a:lnTo>
                  <a:pt x="189918" y="1000401"/>
                </a:lnTo>
                <a:moveTo>
                  <a:pt x="176831" y="159515"/>
                </a:moveTo>
                <a:cubicBezTo>
                  <a:pt x="178184" y="159057"/>
                  <a:pt x="179555" y="158638"/>
                  <a:pt x="180946" y="158248"/>
                </a:cubicBezTo>
                <a:lnTo>
                  <a:pt x="696506" y="13125"/>
                </a:lnTo>
                <a:cubicBezTo>
                  <a:pt x="656996" y="4533"/>
                  <a:pt x="615962" y="0"/>
                  <a:pt x="573881" y="0"/>
                </a:cubicBezTo>
                <a:cubicBezTo>
                  <a:pt x="419814" y="0"/>
                  <a:pt x="279920" y="60712"/>
                  <a:pt x="176831" y="159515"/>
                </a:cubicBezTo>
              </a:path>
            </a:pathLst>
          </a:custGeom>
          <a:solidFill>
            <a:srgbClr val="E7E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82429" y="1679265"/>
            <a:ext cx="2273887" cy="1128537"/>
          </a:xfrm>
          <a:custGeom>
            <a:avLst/>
            <a:gdLst/>
            <a:ahLst/>
            <a:cxnLst/>
            <a:rect l="0" t="0" r="0" b="0"/>
            <a:pathLst>
              <a:path w="2273887" h="1128537">
                <a:moveTo>
                  <a:pt x="707224" y="1128537"/>
                </a:moveTo>
                <a:cubicBezTo>
                  <a:pt x="555782" y="1013941"/>
                  <a:pt x="457935" y="832241"/>
                  <a:pt x="457935" y="627687"/>
                </a:cubicBezTo>
                <a:cubicBezTo>
                  <a:pt x="457935" y="281025"/>
                  <a:pt x="738961" y="0"/>
                  <a:pt x="1085623" y="0"/>
                </a:cubicBezTo>
                <a:cubicBezTo>
                  <a:pt x="1432285" y="0"/>
                  <a:pt x="1713310" y="281025"/>
                  <a:pt x="1713310" y="627687"/>
                </a:cubicBezTo>
                <a:cubicBezTo>
                  <a:pt x="1713310" y="714415"/>
                  <a:pt x="1695721" y="797035"/>
                  <a:pt x="1663915" y="872174"/>
                </a:cubicBezTo>
                <a:moveTo>
                  <a:pt x="0" y="639530"/>
                </a:moveTo>
                <a:lnTo>
                  <a:pt x="457935" y="639530"/>
                </a:lnTo>
                <a:moveTo>
                  <a:pt x="2273887" y="639530"/>
                </a:moveTo>
                <a:lnTo>
                  <a:pt x="1713311" y="639530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2638" y="1736210"/>
            <a:ext cx="900817" cy="1465173"/>
          </a:xfrm>
          <a:custGeom>
            <a:avLst/>
            <a:gdLst/>
            <a:ahLst/>
            <a:cxnLst/>
            <a:rect l="0" t="0" r="0" b="0"/>
            <a:pathLst>
              <a:path w="900817" h="1465173">
                <a:moveTo>
                  <a:pt x="66417" y="159067"/>
                </a:moveTo>
                <a:cubicBezTo>
                  <a:pt x="24450" y="170878"/>
                  <a:pt x="0" y="214483"/>
                  <a:pt x="11811" y="256460"/>
                </a:cubicBezTo>
                <a:lnTo>
                  <a:pt x="142122" y="719404"/>
                </a:lnTo>
                <a:cubicBezTo>
                  <a:pt x="172383" y="743302"/>
                  <a:pt x="204235" y="781897"/>
                  <a:pt x="206702" y="831313"/>
                </a:cubicBezTo>
                <a:cubicBezTo>
                  <a:pt x="208216" y="861574"/>
                  <a:pt x="208568" y="886034"/>
                  <a:pt x="208873" y="907141"/>
                </a:cubicBezTo>
                <a:cubicBezTo>
                  <a:pt x="209178" y="928487"/>
                  <a:pt x="209445" y="946404"/>
                  <a:pt x="210797" y="963415"/>
                </a:cubicBezTo>
                <a:lnTo>
                  <a:pt x="333336" y="1398746"/>
                </a:lnTo>
                <a:cubicBezTo>
                  <a:pt x="345147" y="1440722"/>
                  <a:pt x="388753" y="1465173"/>
                  <a:pt x="430730" y="1453362"/>
                </a:cubicBezTo>
                <a:lnTo>
                  <a:pt x="618172" y="1400565"/>
                </a:lnTo>
                <a:cubicBezTo>
                  <a:pt x="597884" y="1382620"/>
                  <a:pt x="572414" y="1358360"/>
                  <a:pt x="555736" y="1335166"/>
                </a:cubicBezTo>
                <a:cubicBezTo>
                  <a:pt x="486727" y="1239192"/>
                  <a:pt x="464934" y="1141361"/>
                  <a:pt x="411432" y="1046321"/>
                </a:cubicBezTo>
                <a:cubicBezTo>
                  <a:pt x="402802" y="1030976"/>
                  <a:pt x="403840" y="1011031"/>
                  <a:pt x="418404" y="1001134"/>
                </a:cubicBezTo>
                <a:cubicBezTo>
                  <a:pt x="430977" y="992581"/>
                  <a:pt x="447484" y="985256"/>
                  <a:pt x="467248" y="985256"/>
                </a:cubicBezTo>
                <a:cubicBezTo>
                  <a:pt x="518569" y="989199"/>
                  <a:pt x="548840" y="1024728"/>
                  <a:pt x="561994" y="1036577"/>
                </a:cubicBezTo>
                <a:lnTo>
                  <a:pt x="425586" y="675417"/>
                </a:lnTo>
                <a:cubicBezTo>
                  <a:pt x="417690" y="651729"/>
                  <a:pt x="399611" y="600894"/>
                  <a:pt x="451999" y="576176"/>
                </a:cubicBezTo>
                <a:cubicBezTo>
                  <a:pt x="504805" y="551268"/>
                  <a:pt x="531504" y="597084"/>
                  <a:pt x="540715" y="618143"/>
                </a:cubicBezTo>
                <a:lnTo>
                  <a:pt x="675808" y="975531"/>
                </a:lnTo>
                <a:cubicBezTo>
                  <a:pt x="660272" y="932992"/>
                  <a:pt x="646414" y="855392"/>
                  <a:pt x="700163" y="835237"/>
                </a:cubicBezTo>
                <a:cubicBezTo>
                  <a:pt x="763333" y="811549"/>
                  <a:pt x="800176" y="904979"/>
                  <a:pt x="810701" y="937879"/>
                </a:cubicBezTo>
                <a:cubicBezTo>
                  <a:pt x="808205" y="909161"/>
                  <a:pt x="803338" y="842533"/>
                  <a:pt x="839943" y="822302"/>
                </a:cubicBezTo>
                <a:lnTo>
                  <a:pt x="826493" y="827341"/>
                </a:lnTo>
                <a:cubicBezTo>
                  <a:pt x="826493" y="827341"/>
                  <a:pt x="783831" y="831294"/>
                  <a:pt x="763333" y="803690"/>
                </a:cubicBezTo>
                <a:cubicBezTo>
                  <a:pt x="725223" y="752370"/>
                  <a:pt x="790965" y="669464"/>
                  <a:pt x="790965" y="669464"/>
                </a:cubicBezTo>
                <a:lnTo>
                  <a:pt x="838342" y="606304"/>
                </a:lnTo>
                <a:cubicBezTo>
                  <a:pt x="838485" y="606151"/>
                  <a:pt x="838180" y="606447"/>
                  <a:pt x="838342" y="606304"/>
                </a:cubicBezTo>
                <a:lnTo>
                  <a:pt x="826493" y="566823"/>
                </a:lnTo>
                <a:lnTo>
                  <a:pt x="779830" y="396344"/>
                </a:lnTo>
                <a:lnTo>
                  <a:pt x="686962" y="66417"/>
                </a:lnTo>
                <a:cubicBezTo>
                  <a:pt x="675151" y="24450"/>
                  <a:pt x="631545" y="0"/>
                  <a:pt x="589568" y="11811"/>
                </a:cubicBezTo>
                <a:lnTo>
                  <a:pt x="66417" y="159067"/>
                </a:lnTo>
                <a:moveTo>
                  <a:pt x="890111" y="788146"/>
                </a:moveTo>
                <a:cubicBezTo>
                  <a:pt x="882348" y="799128"/>
                  <a:pt x="873509" y="807786"/>
                  <a:pt x="858078" y="815501"/>
                </a:cubicBezTo>
                <a:lnTo>
                  <a:pt x="853630" y="817168"/>
                </a:lnTo>
                <a:cubicBezTo>
                  <a:pt x="872432" y="812453"/>
                  <a:pt x="887987" y="816930"/>
                  <a:pt x="900817" y="826179"/>
                </a:cubicBezTo>
                <a:lnTo>
                  <a:pt x="890111" y="788146"/>
                </a:lnTo>
                <a:moveTo>
                  <a:pt x="675808" y="975531"/>
                </a:moveTo>
                <a:cubicBezTo>
                  <a:pt x="676027" y="976150"/>
                  <a:pt x="676255" y="976760"/>
                  <a:pt x="676484" y="977360"/>
                </a:cubicBezTo>
                <a:lnTo>
                  <a:pt x="675808" y="975531"/>
                </a:ln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2636" y="1736208"/>
            <a:ext cx="900816" cy="1465175"/>
          </a:xfrm>
          <a:custGeom>
            <a:avLst/>
            <a:gdLst/>
            <a:ahLst/>
            <a:cxnLst/>
            <a:rect l="0" t="0" r="0" b="0"/>
            <a:pathLst>
              <a:path w="900816" h="1465175">
                <a:moveTo>
                  <a:pt x="66423" y="159065"/>
                </a:moveTo>
                <a:cubicBezTo>
                  <a:pt x="24449" y="170880"/>
                  <a:pt x="0" y="214484"/>
                  <a:pt x="11814" y="256458"/>
                </a:cubicBezTo>
                <a:lnTo>
                  <a:pt x="142121" y="719409"/>
                </a:lnTo>
                <a:cubicBezTo>
                  <a:pt x="172383" y="743305"/>
                  <a:pt x="204234" y="781897"/>
                  <a:pt x="206705" y="831311"/>
                </a:cubicBezTo>
                <a:cubicBezTo>
                  <a:pt x="208218" y="861575"/>
                  <a:pt x="208571" y="886038"/>
                  <a:pt x="208876" y="907147"/>
                </a:cubicBezTo>
                <a:cubicBezTo>
                  <a:pt x="209184" y="928489"/>
                  <a:pt x="209443" y="946403"/>
                  <a:pt x="210801" y="963414"/>
                </a:cubicBezTo>
                <a:lnTo>
                  <a:pt x="333335" y="1398751"/>
                </a:lnTo>
                <a:cubicBezTo>
                  <a:pt x="345150" y="1440726"/>
                  <a:pt x="388754" y="1465175"/>
                  <a:pt x="430728" y="1453360"/>
                </a:cubicBezTo>
                <a:lnTo>
                  <a:pt x="618175" y="1400570"/>
                </a:lnTo>
                <a:cubicBezTo>
                  <a:pt x="597883" y="1382619"/>
                  <a:pt x="572414" y="1358358"/>
                  <a:pt x="555738" y="1335165"/>
                </a:cubicBezTo>
                <a:cubicBezTo>
                  <a:pt x="486730" y="1239195"/>
                  <a:pt x="464937" y="1141365"/>
                  <a:pt x="411436" y="1046323"/>
                </a:cubicBezTo>
                <a:cubicBezTo>
                  <a:pt x="402800" y="1030982"/>
                  <a:pt x="403847" y="1011031"/>
                  <a:pt x="418406" y="1001133"/>
                </a:cubicBezTo>
                <a:cubicBezTo>
                  <a:pt x="430976" y="992587"/>
                  <a:pt x="447486" y="985254"/>
                  <a:pt x="467254" y="985254"/>
                </a:cubicBezTo>
                <a:cubicBezTo>
                  <a:pt x="518575" y="989202"/>
                  <a:pt x="548841" y="1024732"/>
                  <a:pt x="561999" y="1036575"/>
                </a:cubicBezTo>
                <a:lnTo>
                  <a:pt x="425584" y="675418"/>
                </a:lnTo>
                <a:cubicBezTo>
                  <a:pt x="417688" y="651732"/>
                  <a:pt x="399610" y="600898"/>
                  <a:pt x="452001" y="576183"/>
                </a:cubicBezTo>
                <a:cubicBezTo>
                  <a:pt x="504811" y="551269"/>
                  <a:pt x="531503" y="597089"/>
                  <a:pt x="540715" y="618144"/>
                </a:cubicBezTo>
                <a:lnTo>
                  <a:pt x="675809" y="975537"/>
                </a:lnTo>
                <a:cubicBezTo>
                  <a:pt x="660277" y="932995"/>
                  <a:pt x="646419" y="855396"/>
                  <a:pt x="700169" y="835239"/>
                </a:cubicBezTo>
                <a:cubicBezTo>
                  <a:pt x="763332" y="811553"/>
                  <a:pt x="800178" y="904982"/>
                  <a:pt x="810705" y="937880"/>
                </a:cubicBezTo>
                <a:cubicBezTo>
                  <a:pt x="808208" y="909162"/>
                  <a:pt x="803342" y="842533"/>
                  <a:pt x="839946" y="822303"/>
                </a:cubicBezTo>
                <a:lnTo>
                  <a:pt x="826497" y="827346"/>
                </a:lnTo>
                <a:cubicBezTo>
                  <a:pt x="826497" y="827346"/>
                  <a:pt x="783829" y="831293"/>
                  <a:pt x="763332" y="803688"/>
                </a:cubicBezTo>
                <a:cubicBezTo>
                  <a:pt x="725228" y="752369"/>
                  <a:pt x="790965" y="669466"/>
                  <a:pt x="790965" y="669466"/>
                </a:cubicBezTo>
                <a:lnTo>
                  <a:pt x="838340" y="606302"/>
                </a:lnTo>
                <a:cubicBezTo>
                  <a:pt x="838490" y="606152"/>
                  <a:pt x="838182" y="606451"/>
                  <a:pt x="838340" y="606302"/>
                </a:cubicBezTo>
                <a:lnTo>
                  <a:pt x="826497" y="566825"/>
                </a:lnTo>
                <a:lnTo>
                  <a:pt x="779832" y="396348"/>
                </a:lnTo>
                <a:lnTo>
                  <a:pt x="686968" y="66423"/>
                </a:lnTo>
                <a:cubicBezTo>
                  <a:pt x="675153" y="24449"/>
                  <a:pt x="631549" y="0"/>
                  <a:pt x="589574" y="11814"/>
                </a:cubicBezTo>
                <a:close/>
                <a:moveTo>
                  <a:pt x="890110" y="788145"/>
                </a:moveTo>
                <a:cubicBezTo>
                  <a:pt x="882347" y="799127"/>
                  <a:pt x="873513" y="807786"/>
                  <a:pt x="858079" y="815503"/>
                </a:cubicBezTo>
                <a:lnTo>
                  <a:pt x="853629" y="817171"/>
                </a:lnTo>
                <a:cubicBezTo>
                  <a:pt x="872438" y="812454"/>
                  <a:pt x="887984" y="816929"/>
                  <a:pt x="900816" y="826179"/>
                </a:cubicBezTo>
                <a:close/>
                <a:moveTo>
                  <a:pt x="675809" y="975537"/>
                </a:moveTo>
                <a:cubicBezTo>
                  <a:pt x="676033" y="976151"/>
                  <a:pt x="676258" y="976758"/>
                  <a:pt x="676483" y="977357"/>
                </a:cubicBezTo>
                <a:close/>
                <a:moveTo>
                  <a:pt x="159943" y="329510"/>
                </a:moveTo>
                <a:cubicBezTo>
                  <a:pt x="157534" y="321129"/>
                  <a:pt x="162376" y="312380"/>
                  <a:pt x="170757" y="309972"/>
                </a:cubicBezTo>
                <a:lnTo>
                  <a:pt x="257726" y="284971"/>
                </a:lnTo>
                <a:cubicBezTo>
                  <a:pt x="266108" y="282563"/>
                  <a:pt x="274856" y="287404"/>
                  <a:pt x="277265" y="295786"/>
                </a:cubicBezTo>
                <a:lnTo>
                  <a:pt x="302265" y="382755"/>
                </a:lnTo>
                <a:cubicBezTo>
                  <a:pt x="304674" y="391137"/>
                  <a:pt x="299833" y="399885"/>
                  <a:pt x="291451" y="402294"/>
                </a:cubicBezTo>
                <a:lnTo>
                  <a:pt x="204481" y="427293"/>
                </a:lnTo>
                <a:cubicBezTo>
                  <a:pt x="196100" y="429703"/>
                  <a:pt x="187352" y="424861"/>
                  <a:pt x="184942" y="416480"/>
                </a:cubicBezTo>
                <a:close/>
                <a:moveTo>
                  <a:pt x="321797" y="280343"/>
                </a:moveTo>
                <a:cubicBezTo>
                  <a:pt x="319388" y="271961"/>
                  <a:pt x="324230" y="263214"/>
                  <a:pt x="332611" y="260804"/>
                </a:cubicBezTo>
                <a:lnTo>
                  <a:pt x="419581" y="235805"/>
                </a:lnTo>
                <a:cubicBezTo>
                  <a:pt x="427963" y="233395"/>
                  <a:pt x="436710" y="238237"/>
                  <a:pt x="439120" y="246619"/>
                </a:cubicBezTo>
                <a:lnTo>
                  <a:pt x="464119" y="333588"/>
                </a:lnTo>
                <a:cubicBezTo>
                  <a:pt x="466529" y="341970"/>
                  <a:pt x="461687" y="350718"/>
                  <a:pt x="453305" y="353127"/>
                </a:cubicBezTo>
                <a:lnTo>
                  <a:pt x="366335" y="378127"/>
                </a:lnTo>
                <a:cubicBezTo>
                  <a:pt x="357954" y="380536"/>
                  <a:pt x="349206" y="375695"/>
                  <a:pt x="346797" y="367313"/>
                </a:cubicBezTo>
                <a:close/>
                <a:moveTo>
                  <a:pt x="479708" y="232971"/>
                </a:moveTo>
                <a:cubicBezTo>
                  <a:pt x="477298" y="224589"/>
                  <a:pt x="482139" y="215842"/>
                  <a:pt x="490521" y="213432"/>
                </a:cubicBezTo>
                <a:lnTo>
                  <a:pt x="577491" y="188433"/>
                </a:lnTo>
                <a:cubicBezTo>
                  <a:pt x="585872" y="186023"/>
                  <a:pt x="594620" y="190865"/>
                  <a:pt x="597030" y="199247"/>
                </a:cubicBezTo>
                <a:lnTo>
                  <a:pt x="622029" y="286217"/>
                </a:lnTo>
                <a:cubicBezTo>
                  <a:pt x="624438" y="294598"/>
                  <a:pt x="619597" y="303346"/>
                  <a:pt x="611215" y="305755"/>
                </a:cubicBezTo>
                <a:lnTo>
                  <a:pt x="524246" y="330755"/>
                </a:lnTo>
                <a:cubicBezTo>
                  <a:pt x="515864" y="333164"/>
                  <a:pt x="507117" y="328323"/>
                  <a:pt x="504707" y="319941"/>
                </a:cubicBezTo>
                <a:close/>
                <a:moveTo>
                  <a:pt x="215211" y="503209"/>
                </a:moveTo>
                <a:cubicBezTo>
                  <a:pt x="212802" y="494828"/>
                  <a:pt x="217644" y="486080"/>
                  <a:pt x="226026" y="483671"/>
                </a:cubicBezTo>
                <a:lnTo>
                  <a:pt x="312995" y="458671"/>
                </a:lnTo>
                <a:cubicBezTo>
                  <a:pt x="321376" y="456262"/>
                  <a:pt x="330125" y="461104"/>
                  <a:pt x="332533" y="469486"/>
                </a:cubicBezTo>
                <a:lnTo>
                  <a:pt x="357533" y="556455"/>
                </a:lnTo>
                <a:cubicBezTo>
                  <a:pt x="359942" y="564837"/>
                  <a:pt x="355101" y="573585"/>
                  <a:pt x="346719" y="575994"/>
                </a:cubicBezTo>
                <a:lnTo>
                  <a:pt x="259749" y="600993"/>
                </a:lnTo>
                <a:cubicBezTo>
                  <a:pt x="251368" y="603403"/>
                  <a:pt x="242620" y="598561"/>
                  <a:pt x="240210" y="590179"/>
                </a:cubicBezTo>
                <a:close/>
                <a:moveTo>
                  <a:pt x="377065" y="454043"/>
                </a:moveTo>
                <a:cubicBezTo>
                  <a:pt x="374656" y="445661"/>
                  <a:pt x="379498" y="436914"/>
                  <a:pt x="387879" y="434504"/>
                </a:cubicBezTo>
                <a:lnTo>
                  <a:pt x="474849" y="409505"/>
                </a:lnTo>
                <a:cubicBezTo>
                  <a:pt x="483231" y="407095"/>
                  <a:pt x="491978" y="411936"/>
                  <a:pt x="494388" y="420318"/>
                </a:cubicBezTo>
                <a:lnTo>
                  <a:pt x="519387" y="507288"/>
                </a:lnTo>
                <a:cubicBezTo>
                  <a:pt x="521797" y="515670"/>
                  <a:pt x="516955" y="524417"/>
                  <a:pt x="508573" y="526827"/>
                </a:cubicBezTo>
                <a:lnTo>
                  <a:pt x="421604" y="551826"/>
                </a:lnTo>
                <a:cubicBezTo>
                  <a:pt x="413222" y="554236"/>
                  <a:pt x="404474" y="549394"/>
                  <a:pt x="402065" y="541013"/>
                </a:cubicBezTo>
                <a:close/>
                <a:moveTo>
                  <a:pt x="534976" y="406671"/>
                </a:moveTo>
                <a:cubicBezTo>
                  <a:pt x="532566" y="398289"/>
                  <a:pt x="537408" y="389542"/>
                  <a:pt x="545789" y="387132"/>
                </a:cubicBezTo>
                <a:lnTo>
                  <a:pt x="632759" y="362133"/>
                </a:lnTo>
                <a:cubicBezTo>
                  <a:pt x="641140" y="359723"/>
                  <a:pt x="649888" y="364565"/>
                  <a:pt x="652298" y="372946"/>
                </a:cubicBezTo>
                <a:lnTo>
                  <a:pt x="677297" y="459916"/>
                </a:lnTo>
                <a:cubicBezTo>
                  <a:pt x="679706" y="468298"/>
                  <a:pt x="674865" y="477045"/>
                  <a:pt x="666483" y="479455"/>
                </a:cubicBezTo>
                <a:lnTo>
                  <a:pt x="579514" y="504454"/>
                </a:lnTo>
                <a:cubicBezTo>
                  <a:pt x="571132" y="506864"/>
                  <a:pt x="562385" y="502023"/>
                  <a:pt x="559975" y="493641"/>
                </a:cubicBezTo>
                <a:close/>
                <a:moveTo>
                  <a:pt x="262584" y="676909"/>
                </a:moveTo>
                <a:cubicBezTo>
                  <a:pt x="260175" y="668528"/>
                  <a:pt x="265016" y="659780"/>
                  <a:pt x="273398" y="657371"/>
                </a:cubicBezTo>
                <a:lnTo>
                  <a:pt x="360367" y="632371"/>
                </a:lnTo>
                <a:cubicBezTo>
                  <a:pt x="368749" y="629962"/>
                  <a:pt x="377497" y="634803"/>
                  <a:pt x="379906" y="643185"/>
                </a:cubicBezTo>
                <a:lnTo>
                  <a:pt x="404905" y="730154"/>
                </a:lnTo>
                <a:cubicBezTo>
                  <a:pt x="407315" y="738536"/>
                  <a:pt x="402474" y="747284"/>
                  <a:pt x="394092" y="749693"/>
                </a:cubicBezTo>
                <a:lnTo>
                  <a:pt x="307122" y="774693"/>
                </a:lnTo>
                <a:cubicBezTo>
                  <a:pt x="298741" y="777102"/>
                  <a:pt x="289993" y="772261"/>
                  <a:pt x="287583" y="763879"/>
                </a:cubicBezTo>
                <a:close/>
                <a:moveTo>
                  <a:pt x="582348" y="580371"/>
                </a:moveTo>
                <a:cubicBezTo>
                  <a:pt x="579939" y="571989"/>
                  <a:pt x="584780" y="563242"/>
                  <a:pt x="593162" y="560832"/>
                </a:cubicBezTo>
                <a:lnTo>
                  <a:pt x="680132" y="535833"/>
                </a:lnTo>
                <a:cubicBezTo>
                  <a:pt x="688513" y="533423"/>
                  <a:pt x="697261" y="538264"/>
                  <a:pt x="699671" y="546646"/>
                </a:cubicBezTo>
                <a:lnTo>
                  <a:pt x="724670" y="633616"/>
                </a:lnTo>
                <a:cubicBezTo>
                  <a:pt x="727079" y="641998"/>
                  <a:pt x="722238" y="650745"/>
                  <a:pt x="713856" y="653155"/>
                </a:cubicBezTo>
                <a:lnTo>
                  <a:pt x="626887" y="678154"/>
                </a:lnTo>
                <a:cubicBezTo>
                  <a:pt x="618505" y="680564"/>
                  <a:pt x="609757" y="675722"/>
                  <a:pt x="607348" y="667341"/>
                </a:cubicBezTo>
                <a:close/>
                <a:moveTo>
                  <a:pt x="556735" y="1334982"/>
                </a:moveTo>
                <a:lnTo>
                  <a:pt x="442181" y="1367580"/>
                </a:lnTo>
                <a:cubicBezTo>
                  <a:pt x="417017" y="1374741"/>
                  <a:pt x="390812" y="1360147"/>
                  <a:pt x="383652" y="1334982"/>
                </a:cubicBezTo>
                <a:lnTo>
                  <a:pt x="85437" y="287016"/>
                </a:lnTo>
                <a:cubicBezTo>
                  <a:pt x="78277" y="261852"/>
                  <a:pt x="92871" y="235647"/>
                  <a:pt x="118035" y="228487"/>
                </a:cubicBezTo>
                <a:lnTo>
                  <a:pt x="576132" y="98128"/>
                </a:lnTo>
                <a:cubicBezTo>
                  <a:pt x="601296" y="90968"/>
                  <a:pt x="627500" y="105563"/>
                  <a:pt x="634661" y="130726"/>
                </a:cubicBezTo>
                <a:lnTo>
                  <a:pt x="789082" y="673384"/>
                </a:lnTo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77227" y="2085895"/>
            <a:ext cx="1107995" cy="1273263"/>
          </a:xfrm>
          <a:custGeom>
            <a:avLst/>
            <a:gdLst/>
            <a:ahLst/>
            <a:cxnLst/>
            <a:rect l="0" t="0" r="0" b="0"/>
            <a:pathLst>
              <a:path w="1107995" h="1273263">
                <a:moveTo>
                  <a:pt x="67113" y="1129055"/>
                </a:moveTo>
                <a:lnTo>
                  <a:pt x="63160" y="1257480"/>
                </a:lnTo>
                <a:lnTo>
                  <a:pt x="465829" y="1269320"/>
                </a:lnTo>
                <a:lnTo>
                  <a:pt x="469782" y="1172479"/>
                </a:lnTo>
                <a:lnTo>
                  <a:pt x="481622" y="1156687"/>
                </a:lnTo>
                <a:lnTo>
                  <a:pt x="553535" y="1050864"/>
                </a:lnTo>
                <a:cubicBezTo>
                  <a:pt x="504834" y="1065466"/>
                  <a:pt x="414508" y="1089564"/>
                  <a:pt x="359244" y="1105347"/>
                </a:cubicBezTo>
                <a:cubicBezTo>
                  <a:pt x="307924" y="1120016"/>
                  <a:pt x="277653" y="1065876"/>
                  <a:pt x="268443" y="1038244"/>
                </a:cubicBezTo>
                <a:lnTo>
                  <a:pt x="221075" y="880329"/>
                </a:lnTo>
                <a:cubicBezTo>
                  <a:pt x="201329" y="814539"/>
                  <a:pt x="165801" y="678999"/>
                  <a:pt x="153962" y="643470"/>
                </a:cubicBezTo>
                <a:cubicBezTo>
                  <a:pt x="140007" y="601599"/>
                  <a:pt x="146065" y="560584"/>
                  <a:pt x="142122" y="481631"/>
                </a:cubicBezTo>
                <a:cubicBezTo>
                  <a:pt x="138169" y="402678"/>
                  <a:pt x="59216" y="351348"/>
                  <a:pt x="31584" y="343452"/>
                </a:cubicBezTo>
                <a:cubicBezTo>
                  <a:pt x="9477" y="337137"/>
                  <a:pt x="1314" y="353987"/>
                  <a:pt x="0" y="363197"/>
                </a:cubicBezTo>
                <a:lnTo>
                  <a:pt x="11839" y="679008"/>
                </a:lnTo>
                <a:cubicBezTo>
                  <a:pt x="13163" y="781650"/>
                  <a:pt x="16583" y="997991"/>
                  <a:pt x="19735" y="1042206"/>
                </a:cubicBezTo>
                <a:cubicBezTo>
                  <a:pt x="22898" y="1086411"/>
                  <a:pt x="52635" y="1118520"/>
                  <a:pt x="67113" y="1129055"/>
                </a:cubicBezTo>
                <a:moveTo>
                  <a:pt x="682952" y="1273263"/>
                </a:moveTo>
                <a:cubicBezTo>
                  <a:pt x="682952" y="1273263"/>
                  <a:pt x="681609" y="1223981"/>
                  <a:pt x="667159" y="1196587"/>
                </a:cubicBezTo>
                <a:cubicBezTo>
                  <a:pt x="633498" y="1132760"/>
                  <a:pt x="553535" y="1050864"/>
                  <a:pt x="553535" y="1050864"/>
                </a:cubicBezTo>
                <a:cubicBezTo>
                  <a:pt x="530809" y="1030795"/>
                  <a:pt x="507263" y="1007544"/>
                  <a:pt x="489518" y="982970"/>
                </a:cubicBezTo>
                <a:cubicBezTo>
                  <a:pt x="423386" y="891397"/>
                  <a:pt x="400440" y="792794"/>
                  <a:pt x="346643" y="696553"/>
                </a:cubicBezTo>
                <a:cubicBezTo>
                  <a:pt x="338099" y="681256"/>
                  <a:pt x="339156" y="661425"/>
                  <a:pt x="353463" y="651309"/>
                </a:cubicBezTo>
                <a:cubicBezTo>
                  <a:pt x="365474" y="642823"/>
                  <a:pt x="380895" y="635574"/>
                  <a:pt x="398716" y="635574"/>
                </a:cubicBezTo>
                <a:cubicBezTo>
                  <a:pt x="450037" y="635574"/>
                  <a:pt x="484251" y="675065"/>
                  <a:pt x="497414" y="686904"/>
                </a:cubicBezTo>
                <a:lnTo>
                  <a:pt x="359244" y="319782"/>
                </a:lnTo>
                <a:cubicBezTo>
                  <a:pt x="351348" y="296094"/>
                  <a:pt x="337137" y="247135"/>
                  <a:pt x="390820" y="225028"/>
                </a:cubicBezTo>
                <a:cubicBezTo>
                  <a:pt x="444512" y="202920"/>
                  <a:pt x="468458" y="251355"/>
                  <a:pt x="477669" y="272405"/>
                </a:cubicBezTo>
                <a:lnTo>
                  <a:pt x="611219" y="625859"/>
                </a:lnTo>
                <a:cubicBezTo>
                  <a:pt x="595693" y="583311"/>
                  <a:pt x="581834" y="505710"/>
                  <a:pt x="635584" y="485555"/>
                </a:cubicBezTo>
                <a:cubicBezTo>
                  <a:pt x="698744" y="461867"/>
                  <a:pt x="735587" y="555297"/>
                  <a:pt x="746121" y="588197"/>
                </a:cubicBezTo>
                <a:cubicBezTo>
                  <a:pt x="743483" y="557936"/>
                  <a:pt x="738225" y="485555"/>
                  <a:pt x="781650" y="469763"/>
                </a:cubicBezTo>
                <a:cubicBezTo>
                  <a:pt x="832113" y="451418"/>
                  <a:pt x="860602" y="497405"/>
                  <a:pt x="876395" y="532933"/>
                </a:cubicBezTo>
                <a:cubicBezTo>
                  <a:pt x="889025" y="561355"/>
                  <a:pt x="897445" y="581615"/>
                  <a:pt x="900083" y="588197"/>
                </a:cubicBezTo>
                <a:cubicBezTo>
                  <a:pt x="889549" y="553983"/>
                  <a:pt x="876395" y="487137"/>
                  <a:pt x="919819" y="469763"/>
                </a:cubicBezTo>
                <a:cubicBezTo>
                  <a:pt x="959291" y="453971"/>
                  <a:pt x="994829" y="465820"/>
                  <a:pt x="1010612" y="509244"/>
                </a:cubicBezTo>
                <a:lnTo>
                  <a:pt x="1089574" y="702697"/>
                </a:lnTo>
                <a:cubicBezTo>
                  <a:pt x="1107995" y="760580"/>
                  <a:pt x="1085621" y="864536"/>
                  <a:pt x="1081678" y="907961"/>
                </a:cubicBezTo>
                <a:cubicBezTo>
                  <a:pt x="1081678" y="907961"/>
                  <a:pt x="1068162" y="985132"/>
                  <a:pt x="1077725" y="1038244"/>
                </a:cubicBezTo>
                <a:cubicBezTo>
                  <a:pt x="1084868" y="1077915"/>
                  <a:pt x="1101413" y="1152725"/>
                  <a:pt x="1101413" y="1152725"/>
                </a:cubicBezTo>
                <a:lnTo>
                  <a:pt x="682952" y="1273263"/>
                </a:lnTo>
                <a:moveTo>
                  <a:pt x="734272" y="27641"/>
                </a:moveTo>
                <a:lnTo>
                  <a:pt x="714536" y="47377"/>
                </a:lnTo>
                <a:lnTo>
                  <a:pt x="761904" y="217141"/>
                </a:lnTo>
                <a:cubicBezTo>
                  <a:pt x="772439" y="202672"/>
                  <a:pt x="803748" y="166611"/>
                  <a:pt x="829017" y="138188"/>
                </a:cubicBezTo>
                <a:cubicBezTo>
                  <a:pt x="854287" y="109766"/>
                  <a:pt x="855335" y="81600"/>
                  <a:pt x="852706" y="71075"/>
                </a:cubicBezTo>
                <a:cubicBezTo>
                  <a:pt x="851392" y="59226"/>
                  <a:pt x="841648" y="31584"/>
                  <a:pt x="813225" y="15792"/>
                </a:cubicBezTo>
                <a:cubicBezTo>
                  <a:pt x="784802" y="0"/>
                  <a:pt x="754018" y="7886"/>
                  <a:pt x="734272" y="27641"/>
                </a:cubicBezTo>
                <a:moveTo>
                  <a:pt x="773753" y="256622"/>
                </a:moveTo>
                <a:lnTo>
                  <a:pt x="726376" y="319782"/>
                </a:lnTo>
                <a:cubicBezTo>
                  <a:pt x="726376" y="319782"/>
                  <a:pt x="660644" y="402688"/>
                  <a:pt x="698744" y="454009"/>
                </a:cubicBezTo>
                <a:cubicBezTo>
                  <a:pt x="719242" y="481612"/>
                  <a:pt x="761914" y="477659"/>
                  <a:pt x="761914" y="477659"/>
                </a:cubicBezTo>
                <a:lnTo>
                  <a:pt x="793489" y="465820"/>
                </a:lnTo>
                <a:cubicBezTo>
                  <a:pt x="825074" y="450027"/>
                  <a:pt x="829017" y="430291"/>
                  <a:pt x="852706" y="394792"/>
                </a:cubicBezTo>
                <a:cubicBezTo>
                  <a:pt x="876547" y="359054"/>
                  <a:pt x="889549" y="330307"/>
                  <a:pt x="892178" y="319782"/>
                </a:cubicBezTo>
                <a:cubicBezTo>
                  <a:pt x="894816" y="309257"/>
                  <a:pt x="892178" y="280311"/>
                  <a:pt x="852706" y="256622"/>
                </a:cubicBezTo>
                <a:cubicBezTo>
                  <a:pt x="821007" y="237601"/>
                  <a:pt x="785593" y="244773"/>
                  <a:pt x="773753" y="256622"/>
                </a:cubicBezTo>
                <a:moveTo>
                  <a:pt x="497414" y="686904"/>
                </a:moveTo>
                <a:lnTo>
                  <a:pt x="564527" y="840857"/>
                </a:lnTo>
                <a:moveTo>
                  <a:pt x="611219" y="625859"/>
                </a:moveTo>
                <a:lnTo>
                  <a:pt x="611895" y="627678"/>
                </a:lnTo>
                <a:cubicBezTo>
                  <a:pt x="611666" y="627078"/>
                  <a:pt x="611447" y="626468"/>
                  <a:pt x="611219" y="625859"/>
                </a:cubicBez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77227" y="2085899"/>
            <a:ext cx="1107992" cy="1273263"/>
          </a:xfrm>
          <a:custGeom>
            <a:avLst/>
            <a:gdLst/>
            <a:ahLst/>
            <a:cxnLst/>
            <a:rect l="0" t="0" r="0" b="0"/>
            <a:pathLst>
              <a:path w="1107992" h="1273263">
                <a:moveTo>
                  <a:pt x="67111" y="1129047"/>
                </a:moveTo>
                <a:lnTo>
                  <a:pt x="63163" y="1257477"/>
                </a:lnTo>
                <a:lnTo>
                  <a:pt x="465831" y="1269320"/>
                </a:lnTo>
                <a:lnTo>
                  <a:pt x="469778" y="1172476"/>
                </a:lnTo>
                <a:lnTo>
                  <a:pt x="481621" y="1156685"/>
                </a:lnTo>
                <a:lnTo>
                  <a:pt x="553534" y="1050858"/>
                </a:lnTo>
                <a:cubicBezTo>
                  <a:pt x="504836" y="1065464"/>
                  <a:pt x="414510" y="1089556"/>
                  <a:pt x="359242" y="1105346"/>
                </a:cubicBezTo>
                <a:cubicBezTo>
                  <a:pt x="307922" y="1120009"/>
                  <a:pt x="277656" y="1065871"/>
                  <a:pt x="268445" y="1038235"/>
                </a:cubicBezTo>
                <a:lnTo>
                  <a:pt x="221072" y="880326"/>
                </a:lnTo>
                <a:cubicBezTo>
                  <a:pt x="201333" y="814531"/>
                  <a:pt x="165804" y="678992"/>
                  <a:pt x="153961" y="643463"/>
                </a:cubicBezTo>
                <a:cubicBezTo>
                  <a:pt x="140003" y="601591"/>
                  <a:pt x="146065" y="560579"/>
                  <a:pt x="142117" y="481625"/>
                </a:cubicBezTo>
                <a:cubicBezTo>
                  <a:pt x="138170" y="402670"/>
                  <a:pt x="59215" y="351346"/>
                  <a:pt x="31581" y="343450"/>
                </a:cubicBezTo>
                <a:cubicBezTo>
                  <a:pt x="9474" y="337134"/>
                  <a:pt x="1316" y="353977"/>
                  <a:pt x="0" y="363189"/>
                </a:cubicBezTo>
                <a:lnTo>
                  <a:pt x="11843" y="679007"/>
                </a:lnTo>
                <a:cubicBezTo>
                  <a:pt x="13159" y="781647"/>
                  <a:pt x="16580" y="997983"/>
                  <a:pt x="19738" y="1042197"/>
                </a:cubicBezTo>
                <a:cubicBezTo>
                  <a:pt x="22896" y="1086412"/>
                  <a:pt x="52636" y="1118519"/>
                  <a:pt x="67111" y="1129047"/>
                </a:cubicBezTo>
                <a:close/>
                <a:moveTo>
                  <a:pt x="682955" y="1273263"/>
                </a:moveTo>
                <a:cubicBezTo>
                  <a:pt x="682955" y="1273263"/>
                  <a:pt x="681607" y="1223978"/>
                  <a:pt x="667164" y="1196587"/>
                </a:cubicBezTo>
                <a:cubicBezTo>
                  <a:pt x="633501" y="1132752"/>
                  <a:pt x="553534" y="1050858"/>
                  <a:pt x="553534" y="1050858"/>
                </a:cubicBezTo>
                <a:cubicBezTo>
                  <a:pt x="530813" y="1030787"/>
                  <a:pt x="507264" y="1007540"/>
                  <a:pt x="489517" y="982967"/>
                </a:cubicBezTo>
                <a:cubicBezTo>
                  <a:pt x="423382" y="891396"/>
                  <a:pt x="400441" y="792786"/>
                  <a:pt x="346643" y="696546"/>
                </a:cubicBezTo>
                <a:cubicBezTo>
                  <a:pt x="338095" y="681255"/>
                  <a:pt x="339158" y="661419"/>
                  <a:pt x="353463" y="651308"/>
                </a:cubicBezTo>
                <a:cubicBezTo>
                  <a:pt x="365470" y="642822"/>
                  <a:pt x="380896" y="635568"/>
                  <a:pt x="398719" y="635568"/>
                </a:cubicBezTo>
                <a:cubicBezTo>
                  <a:pt x="450040" y="635568"/>
                  <a:pt x="484253" y="675060"/>
                  <a:pt x="497412" y="686901"/>
                </a:cubicBezTo>
                <a:lnTo>
                  <a:pt x="359242" y="319779"/>
                </a:lnTo>
                <a:cubicBezTo>
                  <a:pt x="351347" y="296093"/>
                  <a:pt x="337135" y="247128"/>
                  <a:pt x="390824" y="225020"/>
                </a:cubicBezTo>
                <a:cubicBezTo>
                  <a:pt x="444513" y="202913"/>
                  <a:pt x="468462" y="251349"/>
                  <a:pt x="477673" y="272404"/>
                </a:cubicBezTo>
                <a:lnTo>
                  <a:pt x="611222" y="625850"/>
                </a:lnTo>
                <a:cubicBezTo>
                  <a:pt x="595690" y="583308"/>
                  <a:pt x="581832" y="505709"/>
                  <a:pt x="635582" y="485553"/>
                </a:cubicBezTo>
                <a:cubicBezTo>
                  <a:pt x="698745" y="461866"/>
                  <a:pt x="735590" y="555295"/>
                  <a:pt x="746118" y="588193"/>
                </a:cubicBezTo>
                <a:cubicBezTo>
                  <a:pt x="743486" y="557928"/>
                  <a:pt x="738223" y="485553"/>
                  <a:pt x="781647" y="469762"/>
                </a:cubicBezTo>
                <a:cubicBezTo>
                  <a:pt x="832110" y="451412"/>
                  <a:pt x="860602" y="497396"/>
                  <a:pt x="876393" y="532925"/>
                </a:cubicBezTo>
                <a:cubicBezTo>
                  <a:pt x="889025" y="561349"/>
                  <a:pt x="897447" y="581614"/>
                  <a:pt x="900079" y="588193"/>
                </a:cubicBezTo>
                <a:cubicBezTo>
                  <a:pt x="889551" y="553980"/>
                  <a:pt x="876393" y="487132"/>
                  <a:pt x="919818" y="469762"/>
                </a:cubicBezTo>
                <a:cubicBezTo>
                  <a:pt x="959295" y="453971"/>
                  <a:pt x="994824" y="465814"/>
                  <a:pt x="1010615" y="509239"/>
                </a:cubicBezTo>
                <a:lnTo>
                  <a:pt x="1089570" y="702690"/>
                </a:lnTo>
                <a:cubicBezTo>
                  <a:pt x="1107992" y="760580"/>
                  <a:pt x="1085623" y="864535"/>
                  <a:pt x="1081675" y="907960"/>
                </a:cubicBezTo>
                <a:cubicBezTo>
                  <a:pt x="1081675" y="907960"/>
                  <a:pt x="1068166" y="985130"/>
                  <a:pt x="1077727" y="1038235"/>
                </a:cubicBezTo>
                <a:cubicBezTo>
                  <a:pt x="1084871" y="1077912"/>
                  <a:pt x="1101414" y="1152719"/>
                  <a:pt x="1101414" y="1152719"/>
                </a:cubicBezTo>
                <a:lnTo>
                  <a:pt x="682955" y="1273263"/>
                </a:lnTo>
                <a:close/>
                <a:moveTo>
                  <a:pt x="734272" y="27634"/>
                </a:moveTo>
                <a:lnTo>
                  <a:pt x="714534" y="47372"/>
                </a:lnTo>
                <a:lnTo>
                  <a:pt x="761909" y="217138"/>
                </a:lnTo>
                <a:cubicBezTo>
                  <a:pt x="772436" y="202664"/>
                  <a:pt x="803752" y="166608"/>
                  <a:pt x="829018" y="138184"/>
                </a:cubicBezTo>
                <a:cubicBezTo>
                  <a:pt x="854283" y="109760"/>
                  <a:pt x="855336" y="81600"/>
                  <a:pt x="852704" y="71073"/>
                </a:cubicBezTo>
                <a:cubicBezTo>
                  <a:pt x="851388" y="59225"/>
                  <a:pt x="841650" y="31581"/>
                  <a:pt x="813227" y="15790"/>
                </a:cubicBezTo>
                <a:cubicBezTo>
                  <a:pt x="784803" y="0"/>
                  <a:pt x="754014" y="7881"/>
                  <a:pt x="734272" y="27634"/>
                </a:cubicBezTo>
                <a:close/>
                <a:moveTo>
                  <a:pt x="773752" y="256616"/>
                </a:moveTo>
                <a:lnTo>
                  <a:pt x="726377" y="319779"/>
                </a:lnTo>
                <a:cubicBezTo>
                  <a:pt x="726377" y="319779"/>
                  <a:pt x="660640" y="402682"/>
                  <a:pt x="698745" y="454002"/>
                </a:cubicBezTo>
                <a:cubicBezTo>
                  <a:pt x="719242" y="481606"/>
                  <a:pt x="761910" y="477659"/>
                  <a:pt x="761910" y="477659"/>
                </a:cubicBezTo>
                <a:lnTo>
                  <a:pt x="793491" y="465816"/>
                </a:lnTo>
                <a:cubicBezTo>
                  <a:pt x="825073" y="450025"/>
                  <a:pt x="829020" y="430286"/>
                  <a:pt x="852704" y="394786"/>
                </a:cubicBezTo>
                <a:cubicBezTo>
                  <a:pt x="876544" y="359052"/>
                  <a:pt x="889550" y="330306"/>
                  <a:pt x="892181" y="319779"/>
                </a:cubicBezTo>
                <a:cubicBezTo>
                  <a:pt x="894813" y="309252"/>
                  <a:pt x="892181" y="280302"/>
                  <a:pt x="852704" y="256616"/>
                </a:cubicBezTo>
                <a:cubicBezTo>
                  <a:pt x="821006" y="237597"/>
                  <a:pt x="785595" y="244772"/>
                  <a:pt x="773752" y="256616"/>
                </a:cubicBezTo>
                <a:close/>
                <a:moveTo>
                  <a:pt x="497412" y="686901"/>
                </a:moveTo>
                <a:lnTo>
                  <a:pt x="564524" y="840849"/>
                </a:lnTo>
                <a:moveTo>
                  <a:pt x="611222" y="625850"/>
                </a:moveTo>
                <a:lnTo>
                  <a:pt x="611896" y="627671"/>
                </a:lnTo>
                <a:cubicBezTo>
                  <a:pt x="611670" y="627071"/>
                  <a:pt x="611446" y="626464"/>
                  <a:pt x="611222" y="625850"/>
                </a:cubicBezTo>
                <a:close/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4312" y="3225539"/>
            <a:ext cx="1669884" cy="1019756"/>
          </a:xfrm>
          <a:custGeom>
            <a:avLst/>
            <a:gdLst/>
            <a:ahLst/>
            <a:cxnLst/>
            <a:rect l="0" t="0" r="0" b="0"/>
            <a:pathLst>
              <a:path w="1669884" h="1019756">
                <a:moveTo>
                  <a:pt x="715260" y="130797"/>
                </a:moveTo>
                <a:cubicBezTo>
                  <a:pt x="728052" y="131187"/>
                  <a:pt x="738225" y="141674"/>
                  <a:pt x="738225" y="154466"/>
                </a:cubicBezTo>
                <a:lnTo>
                  <a:pt x="738225" y="257822"/>
                </a:lnTo>
                <a:lnTo>
                  <a:pt x="757608" y="257822"/>
                </a:lnTo>
                <a:cubicBezTo>
                  <a:pt x="770829" y="257832"/>
                  <a:pt x="781478" y="268652"/>
                  <a:pt x="781288" y="281863"/>
                </a:cubicBezTo>
                <a:lnTo>
                  <a:pt x="659272" y="1019756"/>
                </a:lnTo>
                <a:lnTo>
                  <a:pt x="0" y="1019756"/>
                </a:lnTo>
                <a:lnTo>
                  <a:pt x="140950" y="280282"/>
                </a:lnTo>
                <a:cubicBezTo>
                  <a:pt x="141608" y="267700"/>
                  <a:pt x="151999" y="257822"/>
                  <a:pt x="164601" y="257822"/>
                </a:cubicBezTo>
                <a:lnTo>
                  <a:pt x="209226" y="257822"/>
                </a:lnTo>
                <a:lnTo>
                  <a:pt x="222608" y="137445"/>
                </a:lnTo>
                <a:cubicBezTo>
                  <a:pt x="223970" y="125168"/>
                  <a:pt x="234534" y="116004"/>
                  <a:pt x="246878" y="116385"/>
                </a:cubicBezTo>
                <a:lnTo>
                  <a:pt x="715260" y="130797"/>
                </a:lnTo>
                <a:moveTo>
                  <a:pt x="1364341" y="3857"/>
                </a:moveTo>
                <a:cubicBezTo>
                  <a:pt x="1376019" y="0"/>
                  <a:pt x="1388706" y="5715"/>
                  <a:pt x="1393545" y="17021"/>
                </a:cubicBezTo>
                <a:lnTo>
                  <a:pt x="1421177" y="115719"/>
                </a:lnTo>
                <a:cubicBezTo>
                  <a:pt x="1432864" y="111804"/>
                  <a:pt x="1456705" y="111775"/>
                  <a:pt x="1464602" y="131511"/>
                </a:cubicBezTo>
                <a:lnTo>
                  <a:pt x="1669884" y="1019756"/>
                </a:lnTo>
                <a:lnTo>
                  <a:pt x="1022461" y="1019756"/>
                </a:lnTo>
                <a:lnTo>
                  <a:pt x="904027" y="301266"/>
                </a:lnTo>
                <a:cubicBezTo>
                  <a:pt x="900083" y="281530"/>
                  <a:pt x="906713" y="266185"/>
                  <a:pt x="919819" y="261785"/>
                </a:cubicBezTo>
                <a:lnTo>
                  <a:pt x="892187" y="163096"/>
                </a:lnTo>
                <a:cubicBezTo>
                  <a:pt x="887463" y="150504"/>
                  <a:pt x="897178" y="138636"/>
                  <a:pt x="911923" y="135464"/>
                </a:cubicBezTo>
                <a:lnTo>
                  <a:pt x="1364341" y="3857"/>
                </a:ln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44311" y="3225779"/>
            <a:ext cx="1669885" cy="1019506"/>
          </a:xfrm>
          <a:custGeom>
            <a:avLst/>
            <a:gdLst/>
            <a:ahLst/>
            <a:cxnLst/>
            <a:rect l="0" t="0" r="0" b="0"/>
            <a:pathLst>
              <a:path w="1669885" h="1019506">
                <a:moveTo>
                  <a:pt x="1022459" y="1019506"/>
                </a:moveTo>
                <a:lnTo>
                  <a:pt x="904028" y="301020"/>
                </a:lnTo>
                <a:cubicBezTo>
                  <a:pt x="900080" y="285229"/>
                  <a:pt x="906572" y="265941"/>
                  <a:pt x="919674" y="261543"/>
                </a:cubicBezTo>
                <a:lnTo>
                  <a:pt x="892184" y="166798"/>
                </a:lnTo>
                <a:cubicBezTo>
                  <a:pt x="887458" y="154205"/>
                  <a:pt x="894154" y="140208"/>
                  <a:pt x="906924" y="135985"/>
                </a:cubicBezTo>
                <a:lnTo>
                  <a:pt x="1364236" y="3860"/>
                </a:lnTo>
                <a:cubicBezTo>
                  <a:pt x="1375914" y="0"/>
                  <a:pt x="1388604" y="5719"/>
                  <a:pt x="1393445" y="17025"/>
                </a:cubicBezTo>
                <a:lnTo>
                  <a:pt x="1421179" y="115477"/>
                </a:lnTo>
                <a:cubicBezTo>
                  <a:pt x="1432530" y="111667"/>
                  <a:pt x="1455334" y="111534"/>
                  <a:pt x="1463876" y="129598"/>
                </a:cubicBezTo>
                <a:cubicBezTo>
                  <a:pt x="1464394" y="130693"/>
                  <a:pt x="1464741" y="131861"/>
                  <a:pt x="1465014" y="133042"/>
                </a:cubicBezTo>
                <a:lnTo>
                  <a:pt x="1669885" y="1019506"/>
                </a:lnTo>
                <a:lnTo>
                  <a:pt x="1022459" y="1019506"/>
                </a:lnTo>
                <a:close/>
                <a:moveTo>
                  <a:pt x="0" y="1019499"/>
                </a:moveTo>
                <a:lnTo>
                  <a:pt x="140945" y="280026"/>
                </a:lnTo>
                <a:cubicBezTo>
                  <a:pt x="141602" y="267443"/>
                  <a:pt x="151998" y="257576"/>
                  <a:pt x="164599" y="257576"/>
                </a:cubicBezTo>
                <a:lnTo>
                  <a:pt x="209229" y="257576"/>
                </a:lnTo>
                <a:lnTo>
                  <a:pt x="222605" y="137190"/>
                </a:lnTo>
                <a:cubicBezTo>
                  <a:pt x="223969" y="124917"/>
                  <a:pt x="234532" y="115751"/>
                  <a:pt x="246875" y="116130"/>
                </a:cubicBezTo>
                <a:lnTo>
                  <a:pt x="715266" y="130543"/>
                </a:lnTo>
                <a:cubicBezTo>
                  <a:pt x="728058" y="130937"/>
                  <a:pt x="738223" y="141420"/>
                  <a:pt x="738223" y="154218"/>
                </a:cubicBezTo>
                <a:lnTo>
                  <a:pt x="738223" y="257576"/>
                </a:lnTo>
                <a:lnTo>
                  <a:pt x="757606" y="257576"/>
                </a:lnTo>
                <a:cubicBezTo>
                  <a:pt x="770231" y="257576"/>
                  <a:pt x="780522" y="267446"/>
                  <a:pt x="781251" y="279847"/>
                </a:cubicBezTo>
                <a:cubicBezTo>
                  <a:pt x="781320" y="281022"/>
                  <a:pt x="781194" y="282198"/>
                  <a:pt x="781002" y="283360"/>
                </a:cubicBezTo>
                <a:lnTo>
                  <a:pt x="659269" y="1019499"/>
                </a:lnTo>
                <a:lnTo>
                  <a:pt x="0" y="1019499"/>
                </a:lnTo>
                <a:close/>
                <a:moveTo>
                  <a:pt x="919674" y="261543"/>
                </a:moveTo>
                <a:lnTo>
                  <a:pt x="1421179" y="115477"/>
                </a:lnTo>
                <a:moveTo>
                  <a:pt x="209229" y="257576"/>
                </a:moveTo>
                <a:lnTo>
                  <a:pt x="738223" y="257576"/>
                </a:lnTo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0042" y="2034560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7"/>
                  <a:pt x="127254" y="568471"/>
                  <a:pt x="284235" y="568471"/>
                </a:cubicBezTo>
                <a:cubicBezTo>
                  <a:pt x="441217" y="568471"/>
                  <a:pt x="568471" y="441217"/>
                  <a:pt x="568471" y="284235"/>
                </a:cubicBezTo>
                <a:cubicBezTo>
                  <a:pt x="568471" y="127254"/>
                  <a:pt x="441217" y="0"/>
                  <a:pt x="284235" y="0"/>
                </a:cubicBezTo>
                <a:cubicBezTo>
                  <a:pt x="127254" y="0"/>
                  <a:pt x="0" y="127254"/>
                  <a:pt x="0" y="284235"/>
                </a:cubicBezTo>
              </a:path>
            </a:pathLst>
          </a:custGeom>
          <a:solidFill>
            <a:srgbClr val="DEBE64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0042" y="2034560"/>
            <a:ext cx="568471" cy="568471"/>
          </a:xfrm>
          <a:custGeom>
            <a:avLst/>
            <a:gdLst/>
            <a:ahLst/>
            <a:cxnLst/>
            <a:rect l="0" t="0" r="0" b="0"/>
            <a:pathLst>
              <a:path w="568471" h="568471">
                <a:moveTo>
                  <a:pt x="0" y="284235"/>
                </a:moveTo>
                <a:cubicBezTo>
                  <a:pt x="0" y="441215"/>
                  <a:pt x="127256" y="568471"/>
                  <a:pt x="284235" y="568471"/>
                </a:cubicBezTo>
                <a:cubicBezTo>
                  <a:pt x="441215" y="568471"/>
                  <a:pt x="568471" y="441215"/>
                  <a:pt x="568471" y="284235"/>
                </a:cubicBezTo>
                <a:cubicBezTo>
                  <a:pt x="568471" y="127256"/>
                  <a:pt x="441215" y="0"/>
                  <a:pt x="284235" y="0"/>
                </a:cubicBezTo>
                <a:cubicBezTo>
                  <a:pt x="127256" y="0"/>
                  <a:pt x="0" y="127256"/>
                  <a:pt x="0" y="284235"/>
                </a:cubicBezTo>
              </a:path>
            </a:pathLst>
          </a:custGeom>
          <a:noFill/>
          <a:ln w="11844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56316" y="2267475"/>
            <a:ext cx="378992" cy="102638"/>
          </a:xfrm>
          <a:custGeom>
            <a:avLst/>
            <a:gdLst/>
            <a:ahLst/>
            <a:cxnLst/>
            <a:rect l="0" t="0" r="0" b="0"/>
            <a:pathLst>
              <a:path w="378992" h="102638">
                <a:moveTo>
                  <a:pt x="0" y="51320"/>
                </a:moveTo>
                <a:lnTo>
                  <a:pt x="378981" y="51320"/>
                </a:lnTo>
                <a:moveTo>
                  <a:pt x="328024" y="102638"/>
                </a:moveTo>
                <a:lnTo>
                  <a:pt x="378992" y="50967"/>
                </a:lnTo>
                <a:lnTo>
                  <a:pt x="327321" y="0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87603" y="1818875"/>
            <a:ext cx="284235" cy="363190"/>
          </a:xfrm>
          <a:custGeom>
            <a:avLst/>
            <a:gdLst/>
            <a:ahLst/>
            <a:cxnLst/>
            <a:rect l="0" t="0" r="0" b="0"/>
            <a:pathLst>
              <a:path w="284235" h="363190">
                <a:moveTo>
                  <a:pt x="268444" y="0"/>
                </a:moveTo>
                <a:lnTo>
                  <a:pt x="23686" y="0"/>
                </a:lnTo>
                <a:cubicBezTo>
                  <a:pt x="10604" y="0"/>
                  <a:pt x="0" y="10604"/>
                  <a:pt x="0" y="23686"/>
                </a:cubicBezTo>
                <a:cubicBezTo>
                  <a:pt x="0" y="36767"/>
                  <a:pt x="10604" y="47372"/>
                  <a:pt x="23686" y="47372"/>
                </a:cubicBezTo>
                <a:lnTo>
                  <a:pt x="276340" y="47372"/>
                </a:lnTo>
                <a:cubicBezTo>
                  <a:pt x="280700" y="47372"/>
                  <a:pt x="284235" y="50907"/>
                  <a:pt x="284235" y="55268"/>
                </a:cubicBezTo>
                <a:lnTo>
                  <a:pt x="284235" y="355294"/>
                </a:lnTo>
                <a:cubicBezTo>
                  <a:pt x="284235" y="359655"/>
                  <a:pt x="280700" y="363190"/>
                  <a:pt x="276340" y="363190"/>
                </a:cubicBezTo>
                <a:lnTo>
                  <a:pt x="31581" y="363190"/>
                </a:lnTo>
                <a:cubicBezTo>
                  <a:pt x="14139" y="363190"/>
                  <a:pt x="0" y="349050"/>
                  <a:pt x="0" y="331608"/>
                </a:cubicBezTo>
                <a:lnTo>
                  <a:pt x="0" y="23686"/>
                </a:lnTo>
                <a:moveTo>
                  <a:pt x="55268" y="284235"/>
                </a:moveTo>
                <a:lnTo>
                  <a:pt x="110536" y="260549"/>
                </a:lnTo>
                <a:lnTo>
                  <a:pt x="110536" y="228967"/>
                </a:lnTo>
                <a:cubicBezTo>
                  <a:pt x="110536" y="228967"/>
                  <a:pt x="95613" y="223440"/>
                  <a:pt x="95613" y="189490"/>
                </a:cubicBezTo>
                <a:cubicBezTo>
                  <a:pt x="80122" y="189490"/>
                  <a:pt x="80122" y="157908"/>
                  <a:pt x="95613" y="157908"/>
                </a:cubicBezTo>
                <a:cubicBezTo>
                  <a:pt x="95613" y="153361"/>
                  <a:pt x="69653" y="119536"/>
                  <a:pt x="102277" y="126327"/>
                </a:cubicBezTo>
                <a:cubicBezTo>
                  <a:pt x="110030" y="94745"/>
                  <a:pt x="186458" y="94745"/>
                  <a:pt x="194212" y="126327"/>
                </a:cubicBezTo>
                <a:cubicBezTo>
                  <a:pt x="196258" y="137360"/>
                  <a:pt x="193751" y="148752"/>
                  <a:pt x="187264" y="157908"/>
                </a:cubicBezTo>
                <a:cubicBezTo>
                  <a:pt x="202281" y="157908"/>
                  <a:pt x="198175" y="189490"/>
                  <a:pt x="187374" y="189490"/>
                </a:cubicBezTo>
                <a:cubicBezTo>
                  <a:pt x="187374" y="223440"/>
                  <a:pt x="173699" y="228967"/>
                  <a:pt x="173699" y="228967"/>
                </a:cubicBezTo>
                <a:lnTo>
                  <a:pt x="173699" y="260549"/>
                </a:lnTo>
                <a:lnTo>
                  <a:pt x="228967" y="284235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654" y="1905727"/>
            <a:ext cx="1196290" cy="1705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0">
                <a:solidFill>
                  <a:srgbClr val="494B45"/>
                </a:solidFill>
                <a:latin typeface="Roboto Slab"/>
              </a:rPr>
              <a:t>Életrajzi adatok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0578" y="2137201"/>
            <a:ext cx="347400" cy="363190"/>
          </a:xfrm>
          <a:custGeom>
            <a:avLst/>
            <a:gdLst/>
            <a:ahLst/>
            <a:cxnLst/>
            <a:rect l="0" t="0" r="0" b="0"/>
            <a:pathLst>
              <a:path w="347400" h="363190">
                <a:moveTo>
                  <a:pt x="78954" y="94745"/>
                </a:moveTo>
                <a:cubicBezTo>
                  <a:pt x="78954" y="147071"/>
                  <a:pt x="121373" y="189490"/>
                  <a:pt x="173700" y="189490"/>
                </a:cubicBezTo>
                <a:cubicBezTo>
                  <a:pt x="226026" y="189490"/>
                  <a:pt x="268445" y="147071"/>
                  <a:pt x="268445" y="94745"/>
                </a:cubicBezTo>
                <a:cubicBezTo>
                  <a:pt x="268445" y="42418"/>
                  <a:pt x="226026" y="0"/>
                  <a:pt x="173700" y="0"/>
                </a:cubicBezTo>
                <a:cubicBezTo>
                  <a:pt x="121373" y="0"/>
                  <a:pt x="78954" y="42418"/>
                  <a:pt x="78954" y="94745"/>
                </a:cubicBezTo>
                <a:moveTo>
                  <a:pt x="205282" y="94745"/>
                </a:moveTo>
                <a:lnTo>
                  <a:pt x="173700" y="94745"/>
                </a:lnTo>
                <a:lnTo>
                  <a:pt x="173700" y="47372"/>
                </a:lnTo>
                <a:moveTo>
                  <a:pt x="294121" y="50151"/>
                </a:moveTo>
                <a:cubicBezTo>
                  <a:pt x="308617" y="48572"/>
                  <a:pt x="323808" y="47688"/>
                  <a:pt x="339393" y="47435"/>
                </a:cubicBezTo>
                <a:cubicBezTo>
                  <a:pt x="341496" y="47406"/>
                  <a:pt x="343523" y="48216"/>
                  <a:pt x="345026" y="49686"/>
                </a:cubicBezTo>
                <a:cubicBezTo>
                  <a:pt x="346528" y="51156"/>
                  <a:pt x="347383" y="53165"/>
                  <a:pt x="347399" y="55268"/>
                </a:cubicBezTo>
                <a:lnTo>
                  <a:pt x="347399" y="300026"/>
                </a:lnTo>
                <a:cubicBezTo>
                  <a:pt x="347400" y="304338"/>
                  <a:pt x="343941" y="307853"/>
                  <a:pt x="339630" y="307922"/>
                </a:cubicBezTo>
                <a:cubicBezTo>
                  <a:pt x="250491" y="309311"/>
                  <a:pt x="173700" y="333503"/>
                  <a:pt x="173700" y="363190"/>
                </a:cubicBezTo>
                <a:cubicBezTo>
                  <a:pt x="173700" y="333503"/>
                  <a:pt x="96909" y="309311"/>
                  <a:pt x="7769" y="307922"/>
                </a:cubicBezTo>
                <a:cubicBezTo>
                  <a:pt x="3458" y="307853"/>
                  <a:pt x="0" y="304338"/>
                  <a:pt x="0" y="300026"/>
                </a:cubicBezTo>
                <a:lnTo>
                  <a:pt x="0" y="55268"/>
                </a:lnTo>
                <a:cubicBezTo>
                  <a:pt x="0" y="53152"/>
                  <a:pt x="849" y="51124"/>
                  <a:pt x="2357" y="49640"/>
                </a:cubicBezTo>
                <a:cubicBezTo>
                  <a:pt x="3865" y="48155"/>
                  <a:pt x="5906" y="47338"/>
                  <a:pt x="8022" y="47372"/>
                </a:cubicBezTo>
                <a:cubicBezTo>
                  <a:pt x="23307" y="47625"/>
                  <a:pt x="38530" y="48572"/>
                  <a:pt x="53689" y="50214"/>
                </a:cubicBezTo>
                <a:moveTo>
                  <a:pt x="173700" y="236863"/>
                </a:moveTo>
                <a:lnTo>
                  <a:pt x="173700" y="361216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5" name="Group 24"/>
          <p:cNvGrpSpPr/>
          <p:nvPr/>
        </p:nvGrpSpPr>
        <p:grpSpPr>
          <a:xfrm>
            <a:off x="875596" y="2171027"/>
            <a:ext cx="1261348" cy="426442"/>
            <a:chOff x="875596" y="2166265"/>
            <a:chExt cx="1261348" cy="426442"/>
          </a:xfrm>
        </p:grpSpPr>
        <p:sp>
          <p:nvSpPr>
            <p:cNvPr id="22" name="TextBox 21"/>
            <p:cNvSpPr txBox="1"/>
            <p:nvPr/>
          </p:nvSpPr>
          <p:spPr>
            <a:xfrm>
              <a:off x="686394" y="2166265"/>
              <a:ext cx="1450550" cy="142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Francia távírómérnök és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6394" y="2308473"/>
              <a:ext cx="1450550" cy="142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oktató, élt 1857–1926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394" y="2450586"/>
              <a:ext cx="1450550" cy="1421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között.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007054" y="2224053"/>
            <a:ext cx="1116175" cy="1705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494B45"/>
                </a:solidFill>
                <a:latin typeface="Roboto Slab"/>
              </a:rPr>
              <a:t>Publikáció éve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007054" y="2489354"/>
            <a:ext cx="1287189" cy="568603"/>
            <a:chOff x="7007054" y="2484592"/>
            <a:chExt cx="1287189" cy="568603"/>
          </a:xfrm>
        </p:grpSpPr>
        <p:sp>
          <p:nvSpPr>
            <p:cNvPr id="27" name="TextBox 26"/>
            <p:cNvSpPr txBox="1"/>
            <p:nvPr/>
          </p:nvSpPr>
          <p:spPr>
            <a:xfrm>
              <a:off x="7007054" y="2484592"/>
              <a:ext cx="1480267" cy="142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1883-ban publikálta 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7054" y="2626800"/>
              <a:ext cx="1480267" cy="142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hálózathelyettesítési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07054" y="2768913"/>
              <a:ext cx="1480267" cy="142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módszerrel kapcsolatos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07054" y="2911121"/>
              <a:ext cx="1480267" cy="14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eredményeit.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673637" y="376237"/>
            <a:ext cx="579672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494B45"/>
                </a:solidFill>
                <a:latin typeface="Source Code Pro"/>
              </a:rPr>
              <a:t>Léon Charles Thévenin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6022" y="2893556"/>
            <a:ext cx="347399" cy="355294"/>
          </a:xfrm>
          <a:custGeom>
            <a:avLst/>
            <a:gdLst/>
            <a:ahLst/>
            <a:cxnLst/>
            <a:rect l="0" t="0" r="0" b="0"/>
            <a:pathLst>
              <a:path w="347399" h="355294">
                <a:moveTo>
                  <a:pt x="78954" y="355294"/>
                </a:moveTo>
                <a:lnTo>
                  <a:pt x="78954" y="0"/>
                </a:lnTo>
                <a:moveTo>
                  <a:pt x="78954" y="82902"/>
                </a:moveTo>
                <a:lnTo>
                  <a:pt x="157908" y="82902"/>
                </a:lnTo>
                <a:moveTo>
                  <a:pt x="0" y="209229"/>
                </a:moveTo>
                <a:lnTo>
                  <a:pt x="78954" y="209229"/>
                </a:lnTo>
                <a:moveTo>
                  <a:pt x="268445" y="0"/>
                </a:moveTo>
                <a:lnTo>
                  <a:pt x="268445" y="355294"/>
                </a:lnTo>
                <a:moveTo>
                  <a:pt x="268445" y="272392"/>
                </a:moveTo>
                <a:lnTo>
                  <a:pt x="189490" y="272392"/>
                </a:lnTo>
                <a:moveTo>
                  <a:pt x="347399" y="146065"/>
                </a:moveTo>
                <a:lnTo>
                  <a:pt x="268445" y="146065"/>
                </a:lnTo>
              </a:path>
            </a:pathLst>
          </a:custGeom>
          <a:noFill/>
          <a:ln w="11844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6" name="Group 35"/>
          <p:cNvGrpSpPr/>
          <p:nvPr/>
        </p:nvGrpSpPr>
        <p:grpSpPr>
          <a:xfrm>
            <a:off x="1456259" y="2995432"/>
            <a:ext cx="680685" cy="341041"/>
            <a:chOff x="1456259" y="2990670"/>
            <a:chExt cx="680685" cy="341041"/>
          </a:xfrm>
        </p:grpSpPr>
        <p:sp>
          <p:nvSpPr>
            <p:cNvPr id="34" name="TextBox 33"/>
            <p:cNvSpPr txBox="1"/>
            <p:nvPr/>
          </p:nvSpPr>
          <p:spPr>
            <a:xfrm>
              <a:off x="1354157" y="2990670"/>
              <a:ext cx="782787" cy="1704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494B45"/>
                  </a:solidFill>
                  <a:latin typeface="Roboto Slab"/>
                </a:rPr>
                <a:t>Történeti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54157" y="3161167"/>
              <a:ext cx="782787" cy="1705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494B45"/>
                  </a:solidFill>
                  <a:latin typeface="Roboto Slab"/>
                </a:rPr>
                <a:t>párhuzam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866671" y="3450201"/>
            <a:ext cx="1270273" cy="568603"/>
            <a:chOff x="866671" y="3445439"/>
            <a:chExt cx="1270273" cy="568603"/>
          </a:xfrm>
        </p:grpSpPr>
        <p:sp>
          <p:nvSpPr>
            <p:cNvPr id="37" name="TextBox 36"/>
            <p:cNvSpPr txBox="1"/>
            <p:nvPr/>
          </p:nvSpPr>
          <p:spPr>
            <a:xfrm>
              <a:off x="676131" y="3445439"/>
              <a:ext cx="1460813" cy="142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Hermann von Helmholtz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6131" y="3587647"/>
              <a:ext cx="1460813" cy="142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már 1853-ban levezetett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76131" y="3729760"/>
              <a:ext cx="1460813" cy="142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egy hasonló eredményt,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6131" y="3871968"/>
              <a:ext cx="1460813" cy="14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494B45"/>
                  </a:solidFill>
                  <a:latin typeface="Roboto"/>
                </a:rPr>
                <a:t>Thévenintől függetlenül.</a:t>
              </a: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67225" cy="332422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857750" y="2268854"/>
            <a:ext cx="3847385" cy="754379"/>
            <a:chOff x="4857750" y="2268854"/>
            <a:chExt cx="3847385" cy="754379"/>
          </a:xfrm>
        </p:grpSpPr>
        <p:sp>
          <p:nvSpPr>
            <p:cNvPr id="3" name="TextBox 2"/>
            <p:cNvSpPr txBox="1"/>
            <p:nvPr/>
          </p:nvSpPr>
          <p:spPr>
            <a:xfrm>
              <a:off x="4857750" y="2268854"/>
              <a:ext cx="4424492" cy="377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494B45"/>
                  </a:solidFill>
                  <a:latin typeface="Source Code Pro"/>
                </a:rPr>
                <a:t>A Thévenin-tétel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57750" y="2646044"/>
              <a:ext cx="4424492" cy="3771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494B45"/>
                  </a:solidFill>
                  <a:latin typeface="Source Code Pro"/>
                </a:rPr>
                <a:t>lényege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57750" y="3118485"/>
            <a:ext cx="3082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Bonyolult hálózatok egyszerűsítése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" y="3790949"/>
            <a:ext cx="2034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Hálózat helyettesítése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790949"/>
            <a:ext cx="2056708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Thévenin-helyettesítő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90525" y="4105276"/>
            <a:ext cx="3981088" cy="571500"/>
            <a:chOff x="390525" y="4105276"/>
            <a:chExt cx="3981088" cy="5715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4105276"/>
              <a:ext cx="457825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Egy összetett lineáris hálózat a kiválasztott A–B kapcsok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4295776"/>
              <a:ext cx="457825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felől egyetlen ideális feszültségforrással és egyetlen soros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4486276"/>
              <a:ext cx="457825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ellenállással helyettesíthető.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676775" y="4105276"/>
            <a:ext cx="3956675" cy="381000"/>
            <a:chOff x="4676775" y="4105276"/>
            <a:chExt cx="3956675" cy="381000"/>
          </a:xfrm>
        </p:grpSpPr>
        <p:sp>
          <p:nvSpPr>
            <p:cNvPr id="13" name="TextBox 12"/>
            <p:cNvSpPr txBox="1"/>
            <p:nvPr/>
          </p:nvSpPr>
          <p:spPr>
            <a:xfrm>
              <a:off x="4676775" y="4105276"/>
              <a:ext cx="45501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Thévenin-helyettesítő = UTh ideális feszültségforrás + RTh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76775" y="4295776"/>
              <a:ext cx="455017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soros ellenállás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7929562" y="4871999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3" y="4762"/>
            <a:ext cx="3337217" cy="351472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857750" y="2418396"/>
            <a:ext cx="3120390" cy="800100"/>
            <a:chOff x="4857750" y="2413634"/>
            <a:chExt cx="3120390" cy="800100"/>
          </a:xfrm>
        </p:grpSpPr>
        <p:sp>
          <p:nvSpPr>
            <p:cNvPr id="3" name="TextBox 2"/>
            <p:cNvSpPr txBox="1"/>
            <p:nvPr/>
          </p:nvSpPr>
          <p:spPr>
            <a:xfrm>
              <a:off x="4857750" y="2413634"/>
              <a:ext cx="358844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494B45"/>
                  </a:solidFill>
                  <a:latin typeface="Source Code Pro"/>
                </a:rPr>
                <a:t>UTh és RTh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57750" y="2813684"/>
              <a:ext cx="358844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494B45"/>
                  </a:solidFill>
                  <a:latin typeface="Source Code Pro"/>
                </a:rPr>
                <a:t>meghatározása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57750" y="3313746"/>
            <a:ext cx="1441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Lépésről lépésre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" y="3986212"/>
            <a:ext cx="2496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Thévenin-feszültség (UTh)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986212"/>
            <a:ext cx="243693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Thévenin-ellenállás (RTh)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90525" y="4300537"/>
            <a:ext cx="3845947" cy="381000"/>
            <a:chOff x="390525" y="4295775"/>
            <a:chExt cx="3845947" cy="3810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4295775"/>
              <a:ext cx="44228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 terhelés leválasztása után az A–B kapcsokon mérhető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4486275"/>
              <a:ext cx="44228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üresjárási feszültség (Uü).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76775" y="4300537"/>
            <a:ext cx="3768556" cy="381000"/>
            <a:chOff x="4676775" y="4295775"/>
            <a:chExt cx="3768556" cy="381000"/>
          </a:xfrm>
        </p:grpSpPr>
        <p:sp>
          <p:nvSpPr>
            <p:cNvPr id="12" name="TextBox 11"/>
            <p:cNvSpPr txBox="1"/>
            <p:nvPr/>
          </p:nvSpPr>
          <p:spPr>
            <a:xfrm>
              <a:off x="4676775" y="4295775"/>
              <a:ext cx="43338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Az A–B kapcsok felől mért eredő ellenállás, a független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76775" y="4486275"/>
              <a:ext cx="43338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források kikapcsolása mellett.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8024812" y="4972010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3" y="4762"/>
            <a:ext cx="3337217" cy="351472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857750" y="2543465"/>
            <a:ext cx="3844051" cy="675026"/>
            <a:chOff x="4857750" y="2538703"/>
            <a:chExt cx="3844051" cy="675026"/>
          </a:xfrm>
        </p:grpSpPr>
        <p:sp>
          <p:nvSpPr>
            <p:cNvPr id="3" name="TextBox 2"/>
            <p:cNvSpPr txBox="1"/>
            <p:nvPr/>
          </p:nvSpPr>
          <p:spPr>
            <a:xfrm>
              <a:off x="4857750" y="2538703"/>
              <a:ext cx="4420658" cy="337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600" b="1">
                  <a:solidFill>
                    <a:srgbClr val="494B45"/>
                  </a:solidFill>
                  <a:latin typeface="Source Code Pro"/>
                </a:rPr>
                <a:t>Forráskikapcsolási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857750" y="2876173"/>
              <a:ext cx="4420658" cy="3375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600" b="1">
                  <a:solidFill>
                    <a:srgbClr val="494B45"/>
                  </a:solidFill>
                  <a:latin typeface="Source Code Pro"/>
                </a:rPr>
                <a:t>szabályok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57750" y="3313746"/>
            <a:ext cx="425635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Hogyan kezeljük a forrásokat RTh számításakor?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" y="3986212"/>
            <a:ext cx="215460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Ideális feszültségforrás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986212"/>
            <a:ext cx="170755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 Slab"/>
              </a:rPr>
              <a:t>Ideális áramforrás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90525" y="4300537"/>
            <a:ext cx="3635578" cy="381000"/>
            <a:chOff x="390525" y="4295775"/>
            <a:chExt cx="3635578" cy="381000"/>
          </a:xfrm>
        </p:grpSpPr>
        <p:sp>
          <p:nvSpPr>
            <p:cNvPr id="9" name="TextBox 8"/>
            <p:cNvSpPr txBox="1"/>
            <p:nvPr/>
          </p:nvSpPr>
          <p:spPr>
            <a:xfrm>
              <a:off x="390525" y="4295775"/>
              <a:ext cx="418091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Rövidzár (0 V-ra állítva a kapcsok azonos potenciálon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4486275"/>
              <a:ext cx="418091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494B45"/>
                  </a:solidFill>
                  <a:latin typeface="Roboto"/>
                </a:rPr>
                <a:t>vannak).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676775" y="4300537"/>
            <a:ext cx="3216984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494B45"/>
                </a:solidFill>
                <a:latin typeface="Roboto"/>
              </a:rPr>
              <a:t>Szakadás (0 A-re állítva nem folyik áram).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3044" y="4870242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762"/>
            <a:ext cx="4467225" cy="3076613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2026004"/>
            <a:ext cx="3847385" cy="754379"/>
            <a:chOff x="390525" y="2021242"/>
            <a:chExt cx="3847385" cy="754379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2021242"/>
              <a:ext cx="4424492" cy="377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494B45"/>
                  </a:solidFill>
                  <a:latin typeface="Source Code Pro"/>
                </a:rPr>
                <a:t>Számítási példa: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2398432"/>
              <a:ext cx="4424492" cy="3771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900" b="1">
                  <a:solidFill>
                    <a:srgbClr val="494B45"/>
                  </a:solidFill>
                  <a:latin typeface="Source Code Pro"/>
                </a:rPr>
                <a:t>12 V-os hálózat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90525" y="2875636"/>
            <a:ext cx="354915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494B45"/>
                </a:solidFill>
                <a:latin typeface="Roboto"/>
              </a:rPr>
              <a:t>Gyakorlati alkalmazás 12 V-os hálózaton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" y="3548100"/>
            <a:ext cx="531946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494B45"/>
                </a:solidFill>
                <a:latin typeface="Robo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650" y="3548100"/>
            <a:ext cx="531946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494B45"/>
                </a:solidFill>
                <a:latin typeface="Robot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48100"/>
            <a:ext cx="531946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494B45"/>
                </a:solidFill>
                <a:latin typeface="Robo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548100"/>
            <a:ext cx="531946" cy="4114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200" b="0">
                <a:solidFill>
                  <a:srgbClr val="494B45"/>
                </a:solidFill>
                <a:latin typeface="Roboto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4100551"/>
            <a:ext cx="535626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494B45"/>
                </a:solidFill>
                <a:latin typeface="Roboto Slab"/>
              </a:rPr>
              <a:t>Adatok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3650" y="4100551"/>
            <a:ext cx="1123163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494B45"/>
                </a:solidFill>
                <a:latin typeface="Roboto Slab"/>
              </a:rPr>
              <a:t>UTh számítása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6775" y="4100551"/>
            <a:ext cx="110647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494B45"/>
                </a:solidFill>
                <a:latin typeface="Roboto Slab"/>
              </a:rPr>
              <a:t>RTh számítása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900" y="4100551"/>
            <a:ext cx="1472862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494B45"/>
                </a:solidFill>
                <a:latin typeface="Roboto Slab"/>
              </a:rPr>
              <a:t>Terhelés (RL = 2 kΩ)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525" y="4376774"/>
            <a:ext cx="1797105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494B45"/>
                </a:solidFill>
                <a:latin typeface="Roboto"/>
              </a:rPr>
              <a:t>Us = 12 V, R1 = 2 kΩ, R2 = 4 kΩ.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3650" y="4376774"/>
            <a:ext cx="2196083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494B45"/>
                </a:solidFill>
                <a:latin typeface="Roboto"/>
              </a:rPr>
              <a:t>UTh = 12 V · 4 kΩ / (2 kΩ + 4 kΩ) = 8 V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4676775" y="4376774"/>
            <a:ext cx="1927621" cy="304761"/>
            <a:chOff x="4676775" y="4372012"/>
            <a:chExt cx="1927621" cy="304761"/>
          </a:xfrm>
        </p:grpSpPr>
        <p:sp>
          <p:nvSpPr>
            <p:cNvPr id="17" name="TextBox 16"/>
            <p:cNvSpPr txBox="1"/>
            <p:nvPr/>
          </p:nvSpPr>
          <p:spPr>
            <a:xfrm>
              <a:off x="4676775" y="4372012"/>
              <a:ext cx="221676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RTh = R1 || R2 = (2 kΩ · 4 kΩ) / (2 kΩ +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76775" y="4524412"/>
              <a:ext cx="2216764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494B45"/>
                  </a:solidFill>
                  <a:latin typeface="Roboto"/>
                </a:rPr>
                <a:t>4 kΩ) = 1,33 kΩ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819900" y="4376774"/>
            <a:ext cx="1296791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494B45"/>
                </a:solidFill>
                <a:latin typeface="Roboto"/>
              </a:rPr>
              <a:t>IL ≈ 2,4 mA, UL ≈ 4,8 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8612" y="4895810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49740" y="1086407"/>
            <a:ext cx="2547108" cy="988066"/>
          </a:xfrm>
          <a:custGeom>
            <a:avLst/>
            <a:gdLst/>
            <a:ahLst/>
            <a:cxnLst/>
            <a:rect l="0" t="0" r="0" b="0"/>
            <a:pathLst>
              <a:path w="2547108" h="988066">
                <a:moveTo>
                  <a:pt x="2547108" y="834180"/>
                </a:moveTo>
                <a:lnTo>
                  <a:pt x="1974008" y="834180"/>
                </a:lnTo>
                <a:lnTo>
                  <a:pt x="1974008" y="892549"/>
                </a:lnTo>
                <a:lnTo>
                  <a:pt x="2005841" y="892549"/>
                </a:lnTo>
                <a:lnTo>
                  <a:pt x="1910324" y="988066"/>
                </a:lnTo>
                <a:lnTo>
                  <a:pt x="1814807" y="892549"/>
                </a:lnTo>
                <a:lnTo>
                  <a:pt x="1846649" y="892549"/>
                </a:lnTo>
                <a:lnTo>
                  <a:pt x="1846649" y="834180"/>
                </a:lnTo>
                <a:lnTo>
                  <a:pt x="700449" y="834180"/>
                </a:lnTo>
                <a:lnTo>
                  <a:pt x="700449" y="775801"/>
                </a:lnTo>
                <a:lnTo>
                  <a:pt x="732291" y="775801"/>
                </a:lnTo>
                <a:lnTo>
                  <a:pt x="636774" y="680285"/>
                </a:lnTo>
                <a:lnTo>
                  <a:pt x="541258" y="775801"/>
                </a:lnTo>
                <a:lnTo>
                  <a:pt x="573100" y="775801"/>
                </a:lnTo>
                <a:lnTo>
                  <a:pt x="573100" y="834180"/>
                </a:lnTo>
                <a:lnTo>
                  <a:pt x="0" y="834180"/>
                </a:lnTo>
                <a:lnTo>
                  <a:pt x="0" y="0"/>
                </a:lnTo>
                <a:lnTo>
                  <a:pt x="2547108" y="0"/>
                </a:lnTo>
                <a:lnTo>
                  <a:pt x="2547108" y="834180"/>
                </a:lnTo>
              </a:path>
            </a:pathLst>
          </a:custGeom>
          <a:solidFill>
            <a:srgbClr val="DEBE64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49740" y="1086407"/>
            <a:ext cx="2547104" cy="988064"/>
          </a:xfrm>
          <a:custGeom>
            <a:avLst/>
            <a:gdLst/>
            <a:ahLst/>
            <a:cxnLst/>
            <a:rect l="0" t="0" r="0" b="0"/>
            <a:pathLst>
              <a:path w="2547104" h="988064">
                <a:moveTo>
                  <a:pt x="2547104" y="382065"/>
                </a:moveTo>
                <a:lnTo>
                  <a:pt x="2547104" y="0"/>
                </a:lnTo>
                <a:lnTo>
                  <a:pt x="0" y="0"/>
                </a:lnTo>
                <a:lnTo>
                  <a:pt x="0" y="382065"/>
                </a:lnTo>
                <a:moveTo>
                  <a:pt x="0" y="643143"/>
                </a:moveTo>
                <a:lnTo>
                  <a:pt x="0" y="382065"/>
                </a:lnTo>
                <a:moveTo>
                  <a:pt x="2547104" y="643143"/>
                </a:moveTo>
                <a:lnTo>
                  <a:pt x="2547104" y="382065"/>
                </a:lnTo>
                <a:moveTo>
                  <a:pt x="0" y="643143"/>
                </a:moveTo>
                <a:lnTo>
                  <a:pt x="0" y="834176"/>
                </a:lnTo>
                <a:lnTo>
                  <a:pt x="573098" y="834176"/>
                </a:lnTo>
                <a:lnTo>
                  <a:pt x="573098" y="775805"/>
                </a:lnTo>
                <a:lnTo>
                  <a:pt x="541259" y="775805"/>
                </a:lnTo>
                <a:lnTo>
                  <a:pt x="636776" y="680289"/>
                </a:lnTo>
                <a:lnTo>
                  <a:pt x="732292" y="775805"/>
                </a:lnTo>
                <a:lnTo>
                  <a:pt x="700453" y="775805"/>
                </a:lnTo>
                <a:lnTo>
                  <a:pt x="700453" y="834176"/>
                </a:lnTo>
                <a:lnTo>
                  <a:pt x="1846651" y="834176"/>
                </a:lnTo>
                <a:lnTo>
                  <a:pt x="1846651" y="892547"/>
                </a:lnTo>
                <a:lnTo>
                  <a:pt x="1814812" y="892547"/>
                </a:lnTo>
                <a:lnTo>
                  <a:pt x="1910328" y="988064"/>
                </a:lnTo>
                <a:lnTo>
                  <a:pt x="2005845" y="892547"/>
                </a:lnTo>
                <a:lnTo>
                  <a:pt x="1974006" y="892547"/>
                </a:lnTo>
                <a:lnTo>
                  <a:pt x="1974006" y="834176"/>
                </a:lnTo>
                <a:lnTo>
                  <a:pt x="2547104" y="834176"/>
                </a:lnTo>
                <a:lnTo>
                  <a:pt x="2547104" y="643143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6845" y="1086407"/>
            <a:ext cx="2547108" cy="988066"/>
          </a:xfrm>
          <a:custGeom>
            <a:avLst/>
            <a:gdLst/>
            <a:ahLst/>
            <a:cxnLst/>
            <a:rect l="0" t="0" r="0" b="0"/>
            <a:pathLst>
              <a:path w="2547108" h="988066">
                <a:moveTo>
                  <a:pt x="0" y="834180"/>
                </a:moveTo>
                <a:lnTo>
                  <a:pt x="573100" y="834180"/>
                </a:lnTo>
                <a:lnTo>
                  <a:pt x="573100" y="775801"/>
                </a:lnTo>
                <a:lnTo>
                  <a:pt x="541258" y="775801"/>
                </a:lnTo>
                <a:lnTo>
                  <a:pt x="636774" y="680285"/>
                </a:lnTo>
                <a:lnTo>
                  <a:pt x="732291" y="775801"/>
                </a:lnTo>
                <a:lnTo>
                  <a:pt x="700449" y="775801"/>
                </a:lnTo>
                <a:lnTo>
                  <a:pt x="700449" y="834180"/>
                </a:lnTo>
                <a:lnTo>
                  <a:pt x="1846649" y="834180"/>
                </a:lnTo>
                <a:lnTo>
                  <a:pt x="1846649" y="892549"/>
                </a:lnTo>
                <a:lnTo>
                  <a:pt x="1814807" y="892549"/>
                </a:lnTo>
                <a:lnTo>
                  <a:pt x="1910324" y="988066"/>
                </a:lnTo>
                <a:lnTo>
                  <a:pt x="2005841" y="892549"/>
                </a:lnTo>
                <a:lnTo>
                  <a:pt x="1974008" y="892549"/>
                </a:lnTo>
                <a:lnTo>
                  <a:pt x="1974008" y="834180"/>
                </a:lnTo>
                <a:lnTo>
                  <a:pt x="2547108" y="834180"/>
                </a:lnTo>
                <a:lnTo>
                  <a:pt x="2547108" y="0"/>
                </a:lnTo>
                <a:lnTo>
                  <a:pt x="0" y="0"/>
                </a:lnTo>
                <a:lnTo>
                  <a:pt x="0" y="834180"/>
                </a:lnTo>
              </a:path>
            </a:pathLst>
          </a:custGeom>
          <a:solidFill>
            <a:srgbClr val="DEBE64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6845" y="1086407"/>
            <a:ext cx="2547105" cy="988064"/>
          </a:xfrm>
          <a:custGeom>
            <a:avLst/>
            <a:gdLst/>
            <a:ahLst/>
            <a:cxnLst/>
            <a:rect l="0" t="0" r="0" b="0"/>
            <a:pathLst>
              <a:path w="2547105" h="988064">
                <a:moveTo>
                  <a:pt x="2547105" y="0"/>
                </a:moveTo>
                <a:lnTo>
                  <a:pt x="0" y="0"/>
                </a:lnTo>
                <a:lnTo>
                  <a:pt x="0" y="382065"/>
                </a:lnTo>
                <a:moveTo>
                  <a:pt x="2547105" y="0"/>
                </a:moveTo>
                <a:lnTo>
                  <a:pt x="2547105" y="382065"/>
                </a:lnTo>
                <a:moveTo>
                  <a:pt x="1273552" y="0"/>
                </a:moveTo>
                <a:lnTo>
                  <a:pt x="2547105" y="0"/>
                </a:lnTo>
                <a:moveTo>
                  <a:pt x="2547105" y="515788"/>
                </a:moveTo>
                <a:lnTo>
                  <a:pt x="2547105" y="382065"/>
                </a:lnTo>
                <a:moveTo>
                  <a:pt x="0" y="515788"/>
                </a:moveTo>
                <a:lnTo>
                  <a:pt x="0" y="382065"/>
                </a:lnTo>
                <a:moveTo>
                  <a:pt x="0" y="515788"/>
                </a:moveTo>
                <a:lnTo>
                  <a:pt x="0" y="834176"/>
                </a:lnTo>
                <a:lnTo>
                  <a:pt x="573098" y="834176"/>
                </a:lnTo>
                <a:lnTo>
                  <a:pt x="573098" y="775805"/>
                </a:lnTo>
                <a:lnTo>
                  <a:pt x="541259" y="775805"/>
                </a:lnTo>
                <a:lnTo>
                  <a:pt x="636776" y="680289"/>
                </a:lnTo>
                <a:lnTo>
                  <a:pt x="732292" y="775805"/>
                </a:lnTo>
                <a:lnTo>
                  <a:pt x="700453" y="775805"/>
                </a:lnTo>
                <a:lnTo>
                  <a:pt x="700453" y="834176"/>
                </a:lnTo>
                <a:lnTo>
                  <a:pt x="1273552" y="834176"/>
                </a:lnTo>
                <a:lnTo>
                  <a:pt x="1846651" y="834176"/>
                </a:lnTo>
                <a:lnTo>
                  <a:pt x="1846651" y="892547"/>
                </a:lnTo>
                <a:lnTo>
                  <a:pt x="1814812" y="892547"/>
                </a:lnTo>
                <a:lnTo>
                  <a:pt x="1910329" y="988064"/>
                </a:lnTo>
                <a:lnTo>
                  <a:pt x="2005845" y="892547"/>
                </a:lnTo>
                <a:lnTo>
                  <a:pt x="1974006" y="892547"/>
                </a:lnTo>
                <a:lnTo>
                  <a:pt x="1974006" y="834176"/>
                </a:lnTo>
                <a:lnTo>
                  <a:pt x="2547105" y="834176"/>
                </a:lnTo>
                <a:lnTo>
                  <a:pt x="2547105" y="515788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49740" y="1766696"/>
            <a:ext cx="1273549" cy="1408442"/>
          </a:xfrm>
          <a:custGeom>
            <a:avLst/>
            <a:gdLst/>
            <a:ahLst/>
            <a:cxnLst/>
            <a:rect l="0" t="0" r="0" b="0"/>
            <a:pathLst>
              <a:path w="1273549" h="1408442">
                <a:moveTo>
                  <a:pt x="0" y="1408442"/>
                </a:moveTo>
                <a:lnTo>
                  <a:pt x="573100" y="1408442"/>
                </a:lnTo>
                <a:lnTo>
                  <a:pt x="573100" y="1350073"/>
                </a:lnTo>
                <a:lnTo>
                  <a:pt x="541258" y="1350073"/>
                </a:lnTo>
                <a:lnTo>
                  <a:pt x="636774" y="1254556"/>
                </a:lnTo>
                <a:lnTo>
                  <a:pt x="732291" y="1350073"/>
                </a:lnTo>
                <a:lnTo>
                  <a:pt x="700449" y="1350073"/>
                </a:lnTo>
                <a:lnTo>
                  <a:pt x="700449" y="1408442"/>
                </a:lnTo>
                <a:lnTo>
                  <a:pt x="1273549" y="1408442"/>
                </a:lnTo>
                <a:lnTo>
                  <a:pt x="1273549" y="153885"/>
                </a:lnTo>
                <a:lnTo>
                  <a:pt x="700449" y="153885"/>
                </a:lnTo>
                <a:lnTo>
                  <a:pt x="700449" y="95516"/>
                </a:lnTo>
                <a:lnTo>
                  <a:pt x="732291" y="95516"/>
                </a:lnTo>
                <a:lnTo>
                  <a:pt x="636774" y="0"/>
                </a:lnTo>
                <a:lnTo>
                  <a:pt x="541258" y="95516"/>
                </a:lnTo>
                <a:lnTo>
                  <a:pt x="573100" y="95516"/>
                </a:lnTo>
                <a:lnTo>
                  <a:pt x="573100" y="153885"/>
                </a:lnTo>
                <a:lnTo>
                  <a:pt x="0" y="153885"/>
                </a:lnTo>
                <a:lnTo>
                  <a:pt x="0" y="1408442"/>
                </a:lnTo>
              </a:path>
            </a:pathLst>
          </a:custGeom>
          <a:solidFill>
            <a:srgbClr val="DEBE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49740" y="1766696"/>
            <a:ext cx="1273552" cy="1408437"/>
          </a:xfrm>
          <a:custGeom>
            <a:avLst/>
            <a:gdLst/>
            <a:ahLst/>
            <a:cxnLst/>
            <a:rect l="0" t="0" r="0" b="0"/>
            <a:pathLst>
              <a:path w="1273552" h="1408437">
                <a:moveTo>
                  <a:pt x="1273552" y="1090049"/>
                </a:moveTo>
                <a:lnTo>
                  <a:pt x="1273552" y="1408437"/>
                </a:lnTo>
                <a:lnTo>
                  <a:pt x="700453" y="1408437"/>
                </a:lnTo>
                <a:lnTo>
                  <a:pt x="700453" y="1350066"/>
                </a:lnTo>
                <a:lnTo>
                  <a:pt x="732292" y="1350066"/>
                </a:lnTo>
                <a:lnTo>
                  <a:pt x="636776" y="1254550"/>
                </a:lnTo>
                <a:lnTo>
                  <a:pt x="541259" y="1350066"/>
                </a:lnTo>
                <a:lnTo>
                  <a:pt x="573098" y="1350066"/>
                </a:lnTo>
                <a:lnTo>
                  <a:pt x="573098" y="1408437"/>
                </a:lnTo>
                <a:lnTo>
                  <a:pt x="0" y="1408437"/>
                </a:lnTo>
                <a:lnTo>
                  <a:pt x="0" y="1090049"/>
                </a:lnTo>
                <a:moveTo>
                  <a:pt x="1273552" y="535953"/>
                </a:moveTo>
                <a:lnTo>
                  <a:pt x="1273552" y="153887"/>
                </a:lnTo>
                <a:lnTo>
                  <a:pt x="700453" y="153887"/>
                </a:lnTo>
                <a:lnTo>
                  <a:pt x="700453" y="95516"/>
                </a:lnTo>
                <a:lnTo>
                  <a:pt x="732292" y="95516"/>
                </a:lnTo>
                <a:lnTo>
                  <a:pt x="636776" y="0"/>
                </a:lnTo>
                <a:lnTo>
                  <a:pt x="541259" y="95516"/>
                </a:lnTo>
                <a:lnTo>
                  <a:pt x="573098" y="95516"/>
                </a:lnTo>
                <a:lnTo>
                  <a:pt x="573098" y="153887"/>
                </a:lnTo>
                <a:lnTo>
                  <a:pt x="0" y="153887"/>
                </a:lnTo>
                <a:lnTo>
                  <a:pt x="0" y="535953"/>
                </a:lnTo>
                <a:moveTo>
                  <a:pt x="1273552" y="1090049"/>
                </a:moveTo>
                <a:lnTo>
                  <a:pt x="1273552" y="535953"/>
                </a:lnTo>
                <a:moveTo>
                  <a:pt x="0" y="1090049"/>
                </a:moveTo>
                <a:lnTo>
                  <a:pt x="0" y="535953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23292" y="1920584"/>
            <a:ext cx="1427435" cy="1254547"/>
          </a:xfrm>
          <a:custGeom>
            <a:avLst/>
            <a:gdLst/>
            <a:ahLst/>
            <a:cxnLst/>
            <a:rect l="0" t="0" r="0" b="0"/>
            <a:pathLst>
              <a:path w="1427435" h="1254547">
                <a:moveTo>
                  <a:pt x="0" y="1254547"/>
                </a:moveTo>
                <a:lnTo>
                  <a:pt x="1273549" y="1254547"/>
                </a:lnTo>
                <a:lnTo>
                  <a:pt x="1273549" y="318392"/>
                </a:lnTo>
                <a:lnTo>
                  <a:pt x="1331918" y="318392"/>
                </a:lnTo>
                <a:lnTo>
                  <a:pt x="1331918" y="350224"/>
                </a:lnTo>
                <a:lnTo>
                  <a:pt x="1427435" y="254708"/>
                </a:lnTo>
                <a:lnTo>
                  <a:pt x="1331918" y="159191"/>
                </a:lnTo>
                <a:lnTo>
                  <a:pt x="1331918" y="191033"/>
                </a:lnTo>
                <a:lnTo>
                  <a:pt x="1273549" y="191033"/>
                </a:lnTo>
                <a:lnTo>
                  <a:pt x="1273549" y="0"/>
                </a:lnTo>
                <a:lnTo>
                  <a:pt x="700449" y="0"/>
                </a:lnTo>
                <a:lnTo>
                  <a:pt x="700449" y="58369"/>
                </a:lnTo>
                <a:lnTo>
                  <a:pt x="732291" y="58369"/>
                </a:lnTo>
                <a:lnTo>
                  <a:pt x="636774" y="153885"/>
                </a:lnTo>
                <a:lnTo>
                  <a:pt x="541258" y="58369"/>
                </a:lnTo>
                <a:lnTo>
                  <a:pt x="573100" y="58369"/>
                </a:lnTo>
                <a:lnTo>
                  <a:pt x="573100" y="0"/>
                </a:lnTo>
                <a:lnTo>
                  <a:pt x="0" y="0"/>
                </a:lnTo>
                <a:lnTo>
                  <a:pt x="0" y="1254547"/>
                </a:lnTo>
              </a:path>
            </a:pathLst>
          </a:custGeom>
          <a:solidFill>
            <a:srgbClr val="DEBE64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23292" y="1920584"/>
            <a:ext cx="1427439" cy="1254550"/>
          </a:xfrm>
          <a:custGeom>
            <a:avLst/>
            <a:gdLst/>
            <a:ahLst/>
            <a:cxnLst/>
            <a:rect l="0" t="0" r="0" b="0"/>
            <a:pathLst>
              <a:path w="1427439" h="1254550">
                <a:moveTo>
                  <a:pt x="1273552" y="318388"/>
                </a:moveTo>
                <a:lnTo>
                  <a:pt x="1331923" y="318388"/>
                </a:lnTo>
                <a:lnTo>
                  <a:pt x="1331923" y="350226"/>
                </a:lnTo>
                <a:lnTo>
                  <a:pt x="1427439" y="254710"/>
                </a:lnTo>
                <a:lnTo>
                  <a:pt x="1331923" y="159194"/>
                </a:lnTo>
                <a:lnTo>
                  <a:pt x="1331923" y="191032"/>
                </a:lnTo>
                <a:lnTo>
                  <a:pt x="1273552" y="191032"/>
                </a:lnTo>
                <a:lnTo>
                  <a:pt x="1273552" y="0"/>
                </a:lnTo>
                <a:lnTo>
                  <a:pt x="700453" y="0"/>
                </a:lnTo>
                <a:lnTo>
                  <a:pt x="700453" y="58371"/>
                </a:lnTo>
                <a:lnTo>
                  <a:pt x="732292" y="58371"/>
                </a:lnTo>
                <a:lnTo>
                  <a:pt x="636776" y="153887"/>
                </a:lnTo>
                <a:lnTo>
                  <a:pt x="541259" y="58371"/>
                </a:lnTo>
                <a:lnTo>
                  <a:pt x="573098" y="58371"/>
                </a:lnTo>
                <a:lnTo>
                  <a:pt x="573098" y="0"/>
                </a:lnTo>
                <a:lnTo>
                  <a:pt x="0" y="0"/>
                </a:lnTo>
                <a:lnTo>
                  <a:pt x="0" y="318388"/>
                </a:lnTo>
                <a:moveTo>
                  <a:pt x="1273552" y="318388"/>
                </a:moveTo>
                <a:lnTo>
                  <a:pt x="1273552" y="872484"/>
                </a:lnTo>
                <a:moveTo>
                  <a:pt x="0" y="872484"/>
                </a:moveTo>
                <a:lnTo>
                  <a:pt x="0" y="318388"/>
                </a:lnTo>
                <a:moveTo>
                  <a:pt x="1273552" y="872484"/>
                </a:moveTo>
                <a:lnTo>
                  <a:pt x="1273552" y="1254550"/>
                </a:lnTo>
                <a:lnTo>
                  <a:pt x="0" y="1254550"/>
                </a:lnTo>
                <a:lnTo>
                  <a:pt x="0" y="872484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6845" y="1766696"/>
            <a:ext cx="1273549" cy="1408442"/>
          </a:xfrm>
          <a:custGeom>
            <a:avLst/>
            <a:gdLst/>
            <a:ahLst/>
            <a:cxnLst/>
            <a:rect l="0" t="0" r="0" b="0"/>
            <a:pathLst>
              <a:path w="1273549" h="1408442">
                <a:moveTo>
                  <a:pt x="0" y="1408442"/>
                </a:moveTo>
                <a:lnTo>
                  <a:pt x="1273549" y="1408442"/>
                </a:lnTo>
                <a:lnTo>
                  <a:pt x="1273549" y="153885"/>
                </a:lnTo>
                <a:lnTo>
                  <a:pt x="700449" y="153885"/>
                </a:lnTo>
                <a:lnTo>
                  <a:pt x="700449" y="95516"/>
                </a:lnTo>
                <a:lnTo>
                  <a:pt x="732291" y="95516"/>
                </a:lnTo>
                <a:lnTo>
                  <a:pt x="636774" y="0"/>
                </a:lnTo>
                <a:lnTo>
                  <a:pt x="541258" y="95516"/>
                </a:lnTo>
                <a:lnTo>
                  <a:pt x="573100" y="95516"/>
                </a:lnTo>
                <a:lnTo>
                  <a:pt x="573100" y="153885"/>
                </a:lnTo>
                <a:lnTo>
                  <a:pt x="0" y="153885"/>
                </a:lnTo>
                <a:lnTo>
                  <a:pt x="0" y="344919"/>
                </a:lnTo>
                <a:lnTo>
                  <a:pt x="58369" y="344919"/>
                </a:lnTo>
                <a:lnTo>
                  <a:pt x="58369" y="313086"/>
                </a:lnTo>
                <a:lnTo>
                  <a:pt x="153885" y="408603"/>
                </a:lnTo>
                <a:lnTo>
                  <a:pt x="58369" y="504110"/>
                </a:lnTo>
                <a:lnTo>
                  <a:pt x="58369" y="472278"/>
                </a:lnTo>
                <a:lnTo>
                  <a:pt x="0" y="472278"/>
                </a:lnTo>
                <a:lnTo>
                  <a:pt x="0" y="1408442"/>
                </a:lnTo>
              </a:path>
            </a:pathLst>
          </a:custGeom>
          <a:solidFill>
            <a:srgbClr val="DEBE64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6845" y="1766696"/>
            <a:ext cx="1273552" cy="1408437"/>
          </a:xfrm>
          <a:custGeom>
            <a:avLst/>
            <a:gdLst/>
            <a:ahLst/>
            <a:cxnLst/>
            <a:rect l="0" t="0" r="0" b="0"/>
            <a:pathLst>
              <a:path w="1273552" h="1408437">
                <a:moveTo>
                  <a:pt x="1273552" y="535953"/>
                </a:moveTo>
                <a:lnTo>
                  <a:pt x="1273552" y="153887"/>
                </a:lnTo>
                <a:lnTo>
                  <a:pt x="700453" y="153887"/>
                </a:lnTo>
                <a:lnTo>
                  <a:pt x="700453" y="95516"/>
                </a:lnTo>
                <a:lnTo>
                  <a:pt x="732292" y="95516"/>
                </a:lnTo>
                <a:lnTo>
                  <a:pt x="636776" y="0"/>
                </a:lnTo>
                <a:lnTo>
                  <a:pt x="541259" y="95516"/>
                </a:lnTo>
                <a:lnTo>
                  <a:pt x="573098" y="95516"/>
                </a:lnTo>
                <a:lnTo>
                  <a:pt x="573098" y="153887"/>
                </a:lnTo>
                <a:lnTo>
                  <a:pt x="0" y="153887"/>
                </a:lnTo>
                <a:lnTo>
                  <a:pt x="0" y="344920"/>
                </a:lnTo>
                <a:lnTo>
                  <a:pt x="58371" y="344920"/>
                </a:lnTo>
                <a:lnTo>
                  <a:pt x="58371" y="313081"/>
                </a:lnTo>
                <a:lnTo>
                  <a:pt x="153887" y="408598"/>
                </a:lnTo>
                <a:lnTo>
                  <a:pt x="58371" y="504114"/>
                </a:lnTo>
                <a:lnTo>
                  <a:pt x="58371" y="472275"/>
                </a:lnTo>
                <a:lnTo>
                  <a:pt x="0" y="472275"/>
                </a:lnTo>
                <a:lnTo>
                  <a:pt x="0" y="535953"/>
                </a:lnTo>
                <a:moveTo>
                  <a:pt x="1273552" y="535953"/>
                </a:moveTo>
                <a:lnTo>
                  <a:pt x="1273552" y="1090049"/>
                </a:lnTo>
                <a:moveTo>
                  <a:pt x="0" y="1090049"/>
                </a:moveTo>
                <a:lnTo>
                  <a:pt x="0" y="535953"/>
                </a:lnTo>
                <a:moveTo>
                  <a:pt x="1273552" y="1090049"/>
                </a:moveTo>
                <a:lnTo>
                  <a:pt x="1273552" y="1408437"/>
                </a:lnTo>
                <a:lnTo>
                  <a:pt x="0" y="1408437"/>
                </a:lnTo>
                <a:lnTo>
                  <a:pt x="0" y="1090049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0397" y="1920584"/>
            <a:ext cx="1273549" cy="1408433"/>
          </a:xfrm>
          <a:custGeom>
            <a:avLst/>
            <a:gdLst/>
            <a:ahLst/>
            <a:cxnLst/>
            <a:rect l="0" t="0" r="0" b="0"/>
            <a:pathLst>
              <a:path w="1273549" h="1408433">
                <a:moveTo>
                  <a:pt x="1273549" y="1254547"/>
                </a:moveTo>
                <a:lnTo>
                  <a:pt x="700449" y="1254547"/>
                </a:lnTo>
                <a:lnTo>
                  <a:pt x="700449" y="1312926"/>
                </a:lnTo>
                <a:lnTo>
                  <a:pt x="732291" y="1312926"/>
                </a:lnTo>
                <a:lnTo>
                  <a:pt x="636774" y="1408433"/>
                </a:lnTo>
                <a:lnTo>
                  <a:pt x="541258" y="1312926"/>
                </a:lnTo>
                <a:lnTo>
                  <a:pt x="573100" y="1312926"/>
                </a:lnTo>
                <a:lnTo>
                  <a:pt x="573100" y="1254547"/>
                </a:lnTo>
                <a:lnTo>
                  <a:pt x="0" y="1254547"/>
                </a:lnTo>
                <a:lnTo>
                  <a:pt x="0" y="0"/>
                </a:lnTo>
                <a:lnTo>
                  <a:pt x="573100" y="0"/>
                </a:lnTo>
                <a:lnTo>
                  <a:pt x="573100" y="58369"/>
                </a:lnTo>
                <a:lnTo>
                  <a:pt x="541258" y="58369"/>
                </a:lnTo>
                <a:lnTo>
                  <a:pt x="636774" y="153885"/>
                </a:lnTo>
                <a:lnTo>
                  <a:pt x="732291" y="58369"/>
                </a:lnTo>
                <a:lnTo>
                  <a:pt x="700449" y="58369"/>
                </a:lnTo>
                <a:lnTo>
                  <a:pt x="700449" y="0"/>
                </a:lnTo>
                <a:lnTo>
                  <a:pt x="1273549" y="0"/>
                </a:lnTo>
                <a:lnTo>
                  <a:pt x="1273549" y="1254547"/>
                </a:lnTo>
              </a:path>
            </a:pathLst>
          </a:custGeom>
          <a:solidFill>
            <a:srgbClr val="DEBE6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70397" y="1920584"/>
            <a:ext cx="1273552" cy="1408437"/>
          </a:xfrm>
          <a:custGeom>
            <a:avLst/>
            <a:gdLst/>
            <a:ahLst/>
            <a:cxnLst/>
            <a:rect l="0" t="0" r="0" b="0"/>
            <a:pathLst>
              <a:path w="1273552" h="1408437">
                <a:moveTo>
                  <a:pt x="1273552" y="872484"/>
                </a:moveTo>
                <a:lnTo>
                  <a:pt x="1273552" y="1254550"/>
                </a:lnTo>
                <a:lnTo>
                  <a:pt x="700454" y="1254550"/>
                </a:lnTo>
                <a:lnTo>
                  <a:pt x="700454" y="1312921"/>
                </a:lnTo>
                <a:lnTo>
                  <a:pt x="732292" y="1312921"/>
                </a:lnTo>
                <a:lnTo>
                  <a:pt x="636776" y="1408437"/>
                </a:lnTo>
                <a:lnTo>
                  <a:pt x="541259" y="1312921"/>
                </a:lnTo>
                <a:lnTo>
                  <a:pt x="573098" y="1312921"/>
                </a:lnTo>
                <a:lnTo>
                  <a:pt x="573098" y="1254550"/>
                </a:lnTo>
                <a:lnTo>
                  <a:pt x="0" y="1254550"/>
                </a:lnTo>
                <a:lnTo>
                  <a:pt x="0" y="872484"/>
                </a:lnTo>
                <a:moveTo>
                  <a:pt x="0" y="382065"/>
                </a:moveTo>
                <a:lnTo>
                  <a:pt x="0" y="0"/>
                </a:lnTo>
                <a:lnTo>
                  <a:pt x="573098" y="0"/>
                </a:lnTo>
                <a:lnTo>
                  <a:pt x="573098" y="58371"/>
                </a:lnTo>
                <a:lnTo>
                  <a:pt x="541259" y="58371"/>
                </a:lnTo>
                <a:lnTo>
                  <a:pt x="636776" y="153887"/>
                </a:lnTo>
                <a:lnTo>
                  <a:pt x="732292" y="58371"/>
                </a:lnTo>
                <a:lnTo>
                  <a:pt x="700454" y="58371"/>
                </a:lnTo>
                <a:lnTo>
                  <a:pt x="700454" y="0"/>
                </a:lnTo>
                <a:lnTo>
                  <a:pt x="1273552" y="0"/>
                </a:lnTo>
                <a:lnTo>
                  <a:pt x="1273552" y="382065"/>
                </a:lnTo>
                <a:moveTo>
                  <a:pt x="1273552" y="936161"/>
                </a:moveTo>
                <a:lnTo>
                  <a:pt x="1273552" y="382065"/>
                </a:lnTo>
                <a:moveTo>
                  <a:pt x="0" y="936161"/>
                </a:moveTo>
                <a:lnTo>
                  <a:pt x="0" y="382065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9740" y="3021247"/>
            <a:ext cx="2547108" cy="1045378"/>
          </a:xfrm>
          <a:custGeom>
            <a:avLst/>
            <a:gdLst/>
            <a:ahLst/>
            <a:cxnLst/>
            <a:rect l="0" t="0" r="0" b="0"/>
            <a:pathLst>
              <a:path w="2547108" h="1045378">
                <a:moveTo>
                  <a:pt x="0" y="153885"/>
                </a:moveTo>
                <a:lnTo>
                  <a:pt x="573100" y="153885"/>
                </a:lnTo>
                <a:lnTo>
                  <a:pt x="573100" y="95516"/>
                </a:lnTo>
                <a:lnTo>
                  <a:pt x="541258" y="95516"/>
                </a:lnTo>
                <a:lnTo>
                  <a:pt x="636774" y="0"/>
                </a:lnTo>
                <a:lnTo>
                  <a:pt x="732291" y="95516"/>
                </a:lnTo>
                <a:lnTo>
                  <a:pt x="700449" y="95516"/>
                </a:lnTo>
                <a:lnTo>
                  <a:pt x="700449" y="153885"/>
                </a:lnTo>
                <a:lnTo>
                  <a:pt x="2547108" y="153885"/>
                </a:lnTo>
                <a:lnTo>
                  <a:pt x="2547108" y="344919"/>
                </a:lnTo>
                <a:lnTo>
                  <a:pt x="2488730" y="344919"/>
                </a:lnTo>
                <a:lnTo>
                  <a:pt x="2488730" y="313086"/>
                </a:lnTo>
                <a:lnTo>
                  <a:pt x="2393213" y="408603"/>
                </a:lnTo>
                <a:lnTo>
                  <a:pt x="2488730" y="504110"/>
                </a:lnTo>
                <a:lnTo>
                  <a:pt x="2488730" y="472278"/>
                </a:lnTo>
                <a:lnTo>
                  <a:pt x="2547108" y="472278"/>
                </a:lnTo>
                <a:lnTo>
                  <a:pt x="2547108" y="1045378"/>
                </a:lnTo>
                <a:lnTo>
                  <a:pt x="0" y="1045378"/>
                </a:lnTo>
                <a:lnTo>
                  <a:pt x="0" y="153885"/>
                </a:lnTo>
              </a:path>
            </a:pathLst>
          </a:custGeom>
          <a:solidFill>
            <a:srgbClr val="DEBE6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9740" y="3021248"/>
            <a:ext cx="2547104" cy="1045374"/>
          </a:xfrm>
          <a:custGeom>
            <a:avLst/>
            <a:gdLst/>
            <a:ahLst/>
            <a:cxnLst/>
            <a:rect l="0" t="0" r="0" b="0"/>
            <a:pathLst>
              <a:path w="2547104" h="1045374">
                <a:moveTo>
                  <a:pt x="2547104" y="535953"/>
                </a:moveTo>
                <a:lnTo>
                  <a:pt x="2547104" y="726986"/>
                </a:lnTo>
                <a:moveTo>
                  <a:pt x="0" y="726986"/>
                </a:moveTo>
                <a:lnTo>
                  <a:pt x="0" y="535953"/>
                </a:lnTo>
                <a:moveTo>
                  <a:pt x="2547104" y="726986"/>
                </a:moveTo>
                <a:lnTo>
                  <a:pt x="2547104" y="1045374"/>
                </a:lnTo>
                <a:lnTo>
                  <a:pt x="0" y="1045374"/>
                </a:lnTo>
                <a:lnTo>
                  <a:pt x="0" y="726986"/>
                </a:lnTo>
                <a:moveTo>
                  <a:pt x="2547104" y="535953"/>
                </a:moveTo>
                <a:lnTo>
                  <a:pt x="2547104" y="472275"/>
                </a:lnTo>
                <a:lnTo>
                  <a:pt x="2488733" y="472275"/>
                </a:lnTo>
                <a:lnTo>
                  <a:pt x="2488733" y="504114"/>
                </a:lnTo>
                <a:lnTo>
                  <a:pt x="2393217" y="408598"/>
                </a:lnTo>
                <a:lnTo>
                  <a:pt x="2488733" y="313081"/>
                </a:lnTo>
                <a:lnTo>
                  <a:pt x="2488733" y="344920"/>
                </a:lnTo>
                <a:lnTo>
                  <a:pt x="2547104" y="344920"/>
                </a:lnTo>
                <a:lnTo>
                  <a:pt x="2547104" y="153887"/>
                </a:lnTo>
                <a:lnTo>
                  <a:pt x="700453" y="153887"/>
                </a:lnTo>
                <a:lnTo>
                  <a:pt x="700453" y="95516"/>
                </a:lnTo>
                <a:lnTo>
                  <a:pt x="732292" y="95516"/>
                </a:lnTo>
                <a:lnTo>
                  <a:pt x="636776" y="0"/>
                </a:lnTo>
                <a:lnTo>
                  <a:pt x="541259" y="95516"/>
                </a:lnTo>
                <a:lnTo>
                  <a:pt x="573098" y="95516"/>
                </a:lnTo>
                <a:lnTo>
                  <a:pt x="573098" y="153887"/>
                </a:lnTo>
                <a:lnTo>
                  <a:pt x="0" y="153887"/>
                </a:lnTo>
                <a:lnTo>
                  <a:pt x="0" y="535953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42957" y="3175135"/>
            <a:ext cx="2700994" cy="891482"/>
          </a:xfrm>
          <a:custGeom>
            <a:avLst/>
            <a:gdLst/>
            <a:ahLst/>
            <a:cxnLst/>
            <a:rect l="0" t="0" r="0" b="0"/>
            <a:pathLst>
              <a:path w="2700994" h="891482">
                <a:moveTo>
                  <a:pt x="2700994" y="891482"/>
                </a:moveTo>
                <a:lnTo>
                  <a:pt x="153885" y="891482"/>
                </a:lnTo>
                <a:lnTo>
                  <a:pt x="153885" y="318392"/>
                </a:lnTo>
                <a:lnTo>
                  <a:pt x="95516" y="318392"/>
                </a:lnTo>
                <a:lnTo>
                  <a:pt x="95516" y="350224"/>
                </a:lnTo>
                <a:lnTo>
                  <a:pt x="0" y="254708"/>
                </a:lnTo>
                <a:lnTo>
                  <a:pt x="95516" y="159191"/>
                </a:lnTo>
                <a:lnTo>
                  <a:pt x="95516" y="191033"/>
                </a:lnTo>
                <a:lnTo>
                  <a:pt x="153885" y="191033"/>
                </a:lnTo>
                <a:lnTo>
                  <a:pt x="153885" y="0"/>
                </a:lnTo>
                <a:lnTo>
                  <a:pt x="2000535" y="0"/>
                </a:lnTo>
                <a:lnTo>
                  <a:pt x="2000535" y="58369"/>
                </a:lnTo>
                <a:lnTo>
                  <a:pt x="1968703" y="58369"/>
                </a:lnTo>
                <a:lnTo>
                  <a:pt x="2064219" y="153885"/>
                </a:lnTo>
                <a:lnTo>
                  <a:pt x="2159736" y="58369"/>
                </a:lnTo>
                <a:lnTo>
                  <a:pt x="2127894" y="58369"/>
                </a:lnTo>
                <a:lnTo>
                  <a:pt x="2127894" y="0"/>
                </a:lnTo>
                <a:lnTo>
                  <a:pt x="2700994" y="0"/>
                </a:lnTo>
                <a:lnTo>
                  <a:pt x="2700994" y="891482"/>
                </a:lnTo>
              </a:path>
            </a:pathLst>
          </a:custGeom>
          <a:solidFill>
            <a:srgbClr val="DEBE64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2957" y="3175135"/>
            <a:ext cx="2700992" cy="891486"/>
          </a:xfrm>
          <a:custGeom>
            <a:avLst/>
            <a:gdLst/>
            <a:ahLst/>
            <a:cxnLst/>
            <a:rect l="0" t="0" r="0" b="0"/>
            <a:pathLst>
              <a:path w="2700992" h="891486">
                <a:moveTo>
                  <a:pt x="153887" y="382065"/>
                </a:moveTo>
                <a:lnTo>
                  <a:pt x="153887" y="318388"/>
                </a:lnTo>
                <a:lnTo>
                  <a:pt x="95516" y="318388"/>
                </a:lnTo>
                <a:lnTo>
                  <a:pt x="95516" y="350226"/>
                </a:lnTo>
                <a:lnTo>
                  <a:pt x="0" y="254710"/>
                </a:lnTo>
                <a:lnTo>
                  <a:pt x="95516" y="159194"/>
                </a:lnTo>
                <a:lnTo>
                  <a:pt x="95516" y="191032"/>
                </a:lnTo>
                <a:lnTo>
                  <a:pt x="153887" y="191032"/>
                </a:lnTo>
                <a:lnTo>
                  <a:pt x="153887" y="0"/>
                </a:lnTo>
                <a:lnTo>
                  <a:pt x="2000538" y="0"/>
                </a:lnTo>
                <a:lnTo>
                  <a:pt x="2000538" y="58371"/>
                </a:lnTo>
                <a:lnTo>
                  <a:pt x="1968699" y="58371"/>
                </a:lnTo>
                <a:lnTo>
                  <a:pt x="2064216" y="153887"/>
                </a:lnTo>
                <a:lnTo>
                  <a:pt x="2159732" y="58371"/>
                </a:lnTo>
                <a:lnTo>
                  <a:pt x="2127893" y="58371"/>
                </a:lnTo>
                <a:lnTo>
                  <a:pt x="2127893" y="0"/>
                </a:lnTo>
                <a:lnTo>
                  <a:pt x="2700992" y="0"/>
                </a:lnTo>
                <a:lnTo>
                  <a:pt x="2700992" y="382065"/>
                </a:lnTo>
                <a:moveTo>
                  <a:pt x="153887" y="382065"/>
                </a:moveTo>
                <a:lnTo>
                  <a:pt x="153887" y="573098"/>
                </a:lnTo>
                <a:moveTo>
                  <a:pt x="2700992" y="382065"/>
                </a:moveTo>
                <a:lnTo>
                  <a:pt x="2700992" y="573098"/>
                </a:lnTo>
                <a:moveTo>
                  <a:pt x="153887" y="573098"/>
                </a:moveTo>
                <a:lnTo>
                  <a:pt x="153887" y="891486"/>
                </a:lnTo>
                <a:lnTo>
                  <a:pt x="2700992" y="891486"/>
                </a:lnTo>
                <a:lnTo>
                  <a:pt x="2700992" y="573098"/>
                </a:lnTo>
              </a:path>
            </a:pathLst>
          </a:custGeom>
          <a:noFill/>
          <a:ln w="795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928" y="1634036"/>
            <a:ext cx="1669340" cy="955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494B45"/>
                </a:solidFill>
                <a:latin typeface="Roboto"/>
              </a:rPr>
              <a:t>Az ellenállás kiszámítása a kapcsok felől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9822" y="1634036"/>
            <a:ext cx="1835573" cy="955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494B45"/>
                </a:solidFill>
                <a:latin typeface="Roboto"/>
              </a:rPr>
              <a:t>A terhelés leválasztása és a kapcsok jelölése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928" y="1455734"/>
            <a:ext cx="872192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494B45"/>
                </a:solidFill>
                <a:latin typeface="Roboto Slab"/>
              </a:rPr>
              <a:t>RTh kiszámítása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9822" y="1455734"/>
            <a:ext cx="1103589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494B45"/>
                </a:solidFill>
                <a:latin typeface="Roboto Slab"/>
              </a:rPr>
              <a:t>Terhelés leválasztása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3434" y="1277438"/>
            <a:ext cx="63531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6494" y="2111615"/>
            <a:ext cx="60508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0047" y="2111615"/>
            <a:ext cx="60508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3664" y="2111615"/>
            <a:ext cx="59281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7287" y="2111615"/>
            <a:ext cx="57911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3375" y="2289911"/>
            <a:ext cx="883693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494B45"/>
                </a:solidFill>
                <a:latin typeface="Roboto Slab"/>
              </a:rPr>
              <a:t>UTh kiszámítása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859823" y="2289931"/>
            <a:ext cx="562927" cy="343937"/>
            <a:chOff x="3859823" y="2285169"/>
            <a:chExt cx="562927" cy="343937"/>
          </a:xfrm>
        </p:grpSpPr>
        <p:sp>
          <p:nvSpPr>
            <p:cNvPr id="28" name="TextBox 27"/>
            <p:cNvSpPr txBox="1"/>
            <p:nvPr/>
          </p:nvSpPr>
          <p:spPr>
            <a:xfrm>
              <a:off x="3859823" y="2285169"/>
              <a:ext cx="647366" cy="1145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Ellenőrzés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859823" y="2399754"/>
              <a:ext cx="647366" cy="114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Kirchhoff II.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59823" y="2514435"/>
              <a:ext cx="647366" cy="1146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törvényével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406928" y="2289916"/>
            <a:ext cx="857250" cy="229276"/>
            <a:chOff x="6406928" y="2285154"/>
            <a:chExt cx="857250" cy="229276"/>
          </a:xfrm>
        </p:grpSpPr>
        <p:sp>
          <p:nvSpPr>
            <p:cNvPr id="32" name="TextBox 31"/>
            <p:cNvSpPr txBox="1"/>
            <p:nvPr/>
          </p:nvSpPr>
          <p:spPr>
            <a:xfrm>
              <a:off x="6406928" y="2285154"/>
              <a:ext cx="985837" cy="114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Független források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06928" y="2399835"/>
              <a:ext cx="985837" cy="114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kikapcsolása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680480" y="2289916"/>
            <a:ext cx="732110" cy="229276"/>
            <a:chOff x="7680480" y="2285154"/>
            <a:chExt cx="732110" cy="229276"/>
          </a:xfrm>
        </p:grpSpPr>
        <p:sp>
          <p:nvSpPr>
            <p:cNvPr id="35" name="TextBox 34"/>
            <p:cNvSpPr txBox="1"/>
            <p:nvPr/>
          </p:nvSpPr>
          <p:spPr>
            <a:xfrm>
              <a:off x="7680480" y="2285154"/>
              <a:ext cx="841926" cy="114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Helyettesítő kör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80480" y="2399835"/>
              <a:ext cx="841926" cy="114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494B45"/>
                  </a:solidFill>
                  <a:latin typeface="Roboto Slab"/>
                </a:rPr>
                <a:t>felrajzolása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133375" y="2468229"/>
            <a:ext cx="817597" cy="191003"/>
            <a:chOff x="5133375" y="2463467"/>
            <a:chExt cx="817597" cy="191003"/>
          </a:xfrm>
        </p:grpSpPr>
        <p:sp>
          <p:nvSpPr>
            <p:cNvPr id="38" name="TextBox 37"/>
            <p:cNvSpPr txBox="1"/>
            <p:nvPr/>
          </p:nvSpPr>
          <p:spPr>
            <a:xfrm>
              <a:off x="5133375" y="2463467"/>
              <a:ext cx="940236" cy="95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A nyitott áramkörű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33375" y="2559002"/>
              <a:ext cx="940236" cy="95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feszültség kiszámítása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406928" y="2582901"/>
            <a:ext cx="745331" cy="191003"/>
            <a:chOff x="6406928" y="2578139"/>
            <a:chExt cx="745331" cy="191003"/>
          </a:xfrm>
        </p:grpSpPr>
        <p:sp>
          <p:nvSpPr>
            <p:cNvPr id="41" name="TextBox 40"/>
            <p:cNvSpPr txBox="1"/>
            <p:nvPr/>
          </p:nvSpPr>
          <p:spPr>
            <a:xfrm>
              <a:off x="6406928" y="2578139"/>
              <a:ext cx="857130" cy="95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A független források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06928" y="2673674"/>
              <a:ext cx="857130" cy="95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kikapcsolása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680480" y="2582901"/>
            <a:ext cx="548039" cy="191003"/>
            <a:chOff x="7680480" y="2578139"/>
            <a:chExt cx="548039" cy="191003"/>
          </a:xfrm>
        </p:grpSpPr>
        <p:sp>
          <p:nvSpPr>
            <p:cNvPr id="44" name="TextBox 43"/>
            <p:cNvSpPr txBox="1"/>
            <p:nvPr/>
          </p:nvSpPr>
          <p:spPr>
            <a:xfrm>
              <a:off x="7680480" y="2578139"/>
              <a:ext cx="630244" cy="95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A Thévenin-kör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680480" y="2673674"/>
              <a:ext cx="630244" cy="95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felrajzolása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859822" y="2697579"/>
            <a:ext cx="795566" cy="286491"/>
            <a:chOff x="3859822" y="2692817"/>
            <a:chExt cx="795566" cy="286491"/>
          </a:xfrm>
        </p:grpSpPr>
        <p:sp>
          <p:nvSpPr>
            <p:cNvPr id="47" name="TextBox 46"/>
            <p:cNvSpPr txBox="1"/>
            <p:nvPr/>
          </p:nvSpPr>
          <p:spPr>
            <a:xfrm>
              <a:off x="3859822" y="2692817"/>
              <a:ext cx="914900" cy="95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Az eredmények el-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859822" y="2788352"/>
              <a:ext cx="914900" cy="9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lenőrzése Kirchhoff II.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859822" y="2883793"/>
              <a:ext cx="914900" cy="95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494B45"/>
                  </a:solidFill>
                  <a:latin typeface="Roboto"/>
                </a:rPr>
                <a:t>törvényével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3857498" y="1277438"/>
            <a:ext cx="45183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1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419100" y="404815"/>
            <a:ext cx="2982991" cy="1655444"/>
            <a:chOff x="419100" y="400053"/>
            <a:chExt cx="2982991" cy="1655444"/>
          </a:xfrm>
        </p:grpSpPr>
        <p:sp>
          <p:nvSpPr>
            <p:cNvPr id="52" name="TextBox 51"/>
            <p:cNvSpPr txBox="1"/>
            <p:nvPr/>
          </p:nvSpPr>
          <p:spPr>
            <a:xfrm>
              <a:off x="419100" y="400053"/>
              <a:ext cx="3430439" cy="41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494B45"/>
                  </a:solidFill>
                  <a:latin typeface="Source Code Pro"/>
                </a:rPr>
                <a:t>Thévenin-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9100" y="813914"/>
              <a:ext cx="3430439" cy="41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494B45"/>
                  </a:solidFill>
                  <a:latin typeface="Source Code Pro"/>
                </a:rPr>
                <a:t>tétel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19100" y="1227775"/>
              <a:ext cx="3430439" cy="41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494B45"/>
                  </a:solidFill>
                  <a:latin typeface="Source Code Pro"/>
                </a:rPr>
                <a:t>alkalmazási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19100" y="1641636"/>
              <a:ext cx="3430439" cy="41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200" b="1">
                  <a:solidFill>
                    <a:srgbClr val="494B45"/>
                  </a:solidFill>
                  <a:latin typeface="Source Code Pro"/>
                </a:rPr>
                <a:t>ciklusa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3856498" y="3366166"/>
            <a:ext cx="60376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3560" y="3366166"/>
            <a:ext cx="61208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>
                <a:solidFill>
                  <a:srgbClr val="494B45"/>
                </a:solidFill>
                <a:latin typeface="Roboto Slab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59822" y="3544463"/>
            <a:ext cx="1904309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494B45"/>
                </a:solidFill>
                <a:latin typeface="Roboto Slab"/>
              </a:rPr>
              <a:t>Terhelőáram és feszültség számítása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6928" y="3544463"/>
            <a:ext cx="1370313" cy="11462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>
                <a:solidFill>
                  <a:srgbClr val="494B45"/>
                </a:solidFill>
                <a:latin typeface="Roboto Slab"/>
              </a:rPr>
              <a:t>Terhelés visszakapcsolása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59822" y="3722759"/>
            <a:ext cx="2017680" cy="955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494B45"/>
                </a:solidFill>
                <a:latin typeface="Roboto"/>
              </a:rPr>
              <a:t>Az áram és a feszültség kiszámítása a terhelésen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6928" y="3722759"/>
            <a:ext cx="1532012" cy="9551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494B45"/>
                </a:solidFill>
                <a:latin typeface="Roboto"/>
              </a:rPr>
              <a:t>A terhelés visszakapcsolása a körhöz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867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13719" y="404807"/>
            <a:ext cx="3727989" cy="3935101"/>
          </a:xfrm>
          <a:custGeom>
            <a:avLst/>
            <a:gdLst/>
            <a:ahLst/>
            <a:cxnLst/>
            <a:rect l="0" t="0" r="0" b="0"/>
            <a:pathLst>
              <a:path w="3727989" h="3935101">
                <a:moveTo>
                  <a:pt x="0" y="1449771"/>
                </a:moveTo>
                <a:lnTo>
                  <a:pt x="0" y="1259414"/>
                </a:lnTo>
                <a:lnTo>
                  <a:pt x="1863994" y="0"/>
                </a:lnTo>
                <a:lnTo>
                  <a:pt x="3727989" y="1259414"/>
                </a:lnTo>
                <a:lnTo>
                  <a:pt x="3727989" y="1449771"/>
                </a:lnTo>
                <a:lnTo>
                  <a:pt x="3639226" y="1449771"/>
                </a:lnTo>
                <a:lnTo>
                  <a:pt x="3639226" y="1627298"/>
                </a:lnTo>
                <a:cubicBezTo>
                  <a:pt x="3590201" y="1627298"/>
                  <a:pt x="3550462" y="1667036"/>
                  <a:pt x="3550462" y="1716062"/>
                </a:cubicBezTo>
                <a:lnTo>
                  <a:pt x="177526" y="1716062"/>
                </a:lnTo>
                <a:cubicBezTo>
                  <a:pt x="177526" y="1667036"/>
                  <a:pt x="137779" y="1627298"/>
                  <a:pt x="88763" y="1627298"/>
                </a:cubicBezTo>
                <a:lnTo>
                  <a:pt x="88763" y="1449771"/>
                </a:lnTo>
                <a:lnTo>
                  <a:pt x="0" y="1449771"/>
                </a:lnTo>
                <a:moveTo>
                  <a:pt x="0" y="3757574"/>
                </a:moveTo>
                <a:lnTo>
                  <a:pt x="0" y="3935101"/>
                </a:lnTo>
                <a:lnTo>
                  <a:pt x="3727989" y="3935101"/>
                </a:lnTo>
                <a:lnTo>
                  <a:pt x="3727989" y="3757574"/>
                </a:lnTo>
                <a:cubicBezTo>
                  <a:pt x="3678964" y="3757574"/>
                  <a:pt x="3639226" y="3717836"/>
                  <a:pt x="3639226" y="3668810"/>
                </a:cubicBezTo>
                <a:lnTo>
                  <a:pt x="88763" y="3668810"/>
                </a:lnTo>
                <a:cubicBezTo>
                  <a:pt x="88763" y="3717836"/>
                  <a:pt x="49025" y="3757574"/>
                  <a:pt x="0" y="3757574"/>
                </a:cubicBez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13719" y="404807"/>
            <a:ext cx="3727989" cy="3935099"/>
          </a:xfrm>
          <a:custGeom>
            <a:avLst/>
            <a:gdLst/>
            <a:ahLst/>
            <a:cxnLst/>
            <a:rect l="0" t="0" r="0" b="0"/>
            <a:pathLst>
              <a:path w="3727989" h="3935099">
                <a:moveTo>
                  <a:pt x="3639227" y="1627296"/>
                </a:moveTo>
                <a:cubicBezTo>
                  <a:pt x="3590205" y="1627296"/>
                  <a:pt x="3550465" y="1667036"/>
                  <a:pt x="3550465" y="1716058"/>
                </a:cubicBezTo>
                <a:lnTo>
                  <a:pt x="177523" y="1716058"/>
                </a:lnTo>
                <a:cubicBezTo>
                  <a:pt x="177523" y="1667036"/>
                  <a:pt x="137783" y="1627296"/>
                  <a:pt x="88761" y="1627296"/>
                </a:cubicBezTo>
                <a:lnTo>
                  <a:pt x="3639227" y="1627296"/>
                </a:lnTo>
                <a:close/>
                <a:moveTo>
                  <a:pt x="88761" y="1449773"/>
                </a:moveTo>
                <a:lnTo>
                  <a:pt x="3639227" y="1449773"/>
                </a:lnTo>
                <a:lnTo>
                  <a:pt x="3639227" y="1627296"/>
                </a:lnTo>
                <a:lnTo>
                  <a:pt x="88761" y="1627296"/>
                </a:lnTo>
                <a:lnTo>
                  <a:pt x="88761" y="1449773"/>
                </a:lnTo>
                <a:close/>
                <a:moveTo>
                  <a:pt x="3727989" y="3757576"/>
                </a:moveTo>
                <a:cubicBezTo>
                  <a:pt x="3678967" y="3757576"/>
                  <a:pt x="3639227" y="3717836"/>
                  <a:pt x="3639227" y="3668814"/>
                </a:cubicBezTo>
                <a:lnTo>
                  <a:pt x="88761" y="3668814"/>
                </a:lnTo>
                <a:cubicBezTo>
                  <a:pt x="88761" y="3717836"/>
                  <a:pt x="49021" y="3757576"/>
                  <a:pt x="0" y="3757576"/>
                </a:cubicBezTo>
                <a:lnTo>
                  <a:pt x="3727989" y="3757576"/>
                </a:lnTo>
                <a:close/>
                <a:moveTo>
                  <a:pt x="0" y="3935099"/>
                </a:moveTo>
                <a:lnTo>
                  <a:pt x="3727989" y="3935099"/>
                </a:lnTo>
                <a:lnTo>
                  <a:pt x="3727989" y="3757576"/>
                </a:lnTo>
                <a:lnTo>
                  <a:pt x="0" y="3757576"/>
                </a:lnTo>
                <a:lnTo>
                  <a:pt x="0" y="3935099"/>
                </a:lnTo>
                <a:close/>
                <a:moveTo>
                  <a:pt x="1863994" y="0"/>
                </a:moveTo>
                <a:lnTo>
                  <a:pt x="3727989" y="1259410"/>
                </a:lnTo>
                <a:lnTo>
                  <a:pt x="3727989" y="1449773"/>
                </a:lnTo>
                <a:lnTo>
                  <a:pt x="0" y="1449773"/>
                </a:lnTo>
                <a:lnTo>
                  <a:pt x="0" y="1259410"/>
                </a:lnTo>
                <a:lnTo>
                  <a:pt x="1863994" y="0"/>
                </a:lnTo>
                <a:close/>
              </a:path>
            </a:pathLst>
          </a:custGeom>
          <a:noFill/>
          <a:ln w="1428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39179" y="611915"/>
            <a:ext cx="3077070" cy="1065142"/>
          </a:xfrm>
          <a:custGeom>
            <a:avLst/>
            <a:gdLst/>
            <a:ahLst/>
            <a:cxnLst/>
            <a:rect l="0" t="0" r="0" b="0"/>
            <a:pathLst>
              <a:path w="3077070" h="1065142">
                <a:moveTo>
                  <a:pt x="1535906" y="0"/>
                </a:moveTo>
                <a:lnTo>
                  <a:pt x="0" y="1065142"/>
                </a:lnTo>
                <a:lnTo>
                  <a:pt x="3077070" y="1065142"/>
                </a:lnTo>
                <a:lnTo>
                  <a:pt x="1535906" y="0"/>
                </a:ln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39178" y="611915"/>
            <a:ext cx="3077070" cy="1065139"/>
          </a:xfrm>
          <a:custGeom>
            <a:avLst/>
            <a:gdLst/>
            <a:ahLst/>
            <a:cxnLst/>
            <a:rect l="0" t="0" r="0" b="0"/>
            <a:pathLst>
              <a:path w="3077070" h="1065139">
                <a:moveTo>
                  <a:pt x="1535908" y="0"/>
                </a:moveTo>
                <a:lnTo>
                  <a:pt x="0" y="1065139"/>
                </a:lnTo>
                <a:lnTo>
                  <a:pt x="3077070" y="1065139"/>
                </a:lnTo>
                <a:lnTo>
                  <a:pt x="1535908" y="0"/>
                </a:lnTo>
                <a:close/>
              </a:path>
            </a:pathLst>
          </a:custGeom>
          <a:noFill/>
          <a:ln w="1428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7176568" y="2120865"/>
            <a:ext cx="887615" cy="1953186"/>
            <a:chOff x="7176568" y="2116103"/>
            <a:chExt cx="887615" cy="1953186"/>
          </a:xfrm>
        </p:grpSpPr>
        <p:sp>
          <p:nvSpPr>
            <p:cNvPr id="6" name="Rounded Rectangle 5"/>
            <p:cNvSpPr/>
            <p:nvPr/>
          </p:nvSpPr>
          <p:spPr>
            <a:xfrm>
              <a:off x="7176568" y="2116103"/>
              <a:ext cx="887615" cy="1953186"/>
            </a:xfrm>
            <a:custGeom>
              <a:avLst/>
              <a:gdLst/>
              <a:ahLst/>
              <a:cxnLst/>
              <a:rect l="0" t="0" r="0" b="0"/>
              <a:pathLst>
                <a:path w="887615" h="1953186">
                  <a:moveTo>
                    <a:pt x="177526" y="355482"/>
                  </a:moveTo>
                  <a:lnTo>
                    <a:pt x="710088" y="355482"/>
                  </a:lnTo>
                  <a:lnTo>
                    <a:pt x="798852" y="1598142"/>
                  </a:lnTo>
                  <a:lnTo>
                    <a:pt x="88763" y="1598142"/>
                  </a:lnTo>
                  <a:lnTo>
                    <a:pt x="177526" y="355482"/>
                  </a:lnTo>
                  <a:moveTo>
                    <a:pt x="798852" y="177955"/>
                  </a:moveTo>
                  <a:cubicBezTo>
                    <a:pt x="749836" y="177955"/>
                    <a:pt x="710088" y="217693"/>
                    <a:pt x="710088" y="266719"/>
                  </a:cubicBezTo>
                  <a:lnTo>
                    <a:pt x="177526" y="266719"/>
                  </a:lnTo>
                  <a:cubicBezTo>
                    <a:pt x="177526" y="217693"/>
                    <a:pt x="137779" y="177955"/>
                    <a:pt x="88763" y="177955"/>
                  </a:cubicBezTo>
                  <a:lnTo>
                    <a:pt x="88763" y="0"/>
                  </a:lnTo>
                  <a:lnTo>
                    <a:pt x="798852" y="0"/>
                  </a:lnTo>
                  <a:lnTo>
                    <a:pt x="798852" y="177955"/>
                  </a:lnTo>
                  <a:moveTo>
                    <a:pt x="887615" y="1775669"/>
                  </a:moveTo>
                  <a:cubicBezTo>
                    <a:pt x="838590" y="1775669"/>
                    <a:pt x="798852" y="1735931"/>
                    <a:pt x="798852" y="1686906"/>
                  </a:cubicBezTo>
                  <a:lnTo>
                    <a:pt x="88763" y="1686906"/>
                  </a:lnTo>
                  <a:cubicBezTo>
                    <a:pt x="88763" y="1735931"/>
                    <a:pt x="49025" y="1775669"/>
                    <a:pt x="0" y="1775669"/>
                  </a:cubicBezTo>
                  <a:lnTo>
                    <a:pt x="0" y="1953186"/>
                  </a:lnTo>
                  <a:lnTo>
                    <a:pt x="887615" y="1953186"/>
                  </a:lnTo>
                  <a:lnTo>
                    <a:pt x="887615" y="1775669"/>
                  </a:lnTo>
                </a:path>
              </a:pathLst>
            </a:custGeom>
            <a:solidFill>
              <a:srgbClr val="DEBE6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220945" y="2382822"/>
              <a:ext cx="798861" cy="1420187"/>
            </a:xfrm>
            <a:custGeom>
              <a:avLst/>
              <a:gdLst/>
              <a:ahLst/>
              <a:cxnLst/>
              <a:rect l="0" t="0" r="0" b="0"/>
              <a:pathLst>
                <a:path w="798861" h="1420187">
                  <a:moveTo>
                    <a:pt x="155333" y="0"/>
                  </a:moveTo>
                  <a:lnTo>
                    <a:pt x="643528" y="0"/>
                  </a:lnTo>
                  <a:cubicBezTo>
                    <a:pt x="643528" y="0"/>
                    <a:pt x="732291" y="0"/>
                    <a:pt x="732291" y="44376"/>
                  </a:cubicBezTo>
                  <a:cubicBezTo>
                    <a:pt x="732291" y="44376"/>
                    <a:pt x="732291" y="88763"/>
                    <a:pt x="643528" y="88763"/>
                  </a:cubicBezTo>
                  <a:lnTo>
                    <a:pt x="155333" y="88763"/>
                  </a:lnTo>
                  <a:cubicBezTo>
                    <a:pt x="155333" y="88763"/>
                    <a:pt x="66579" y="88763"/>
                    <a:pt x="66579" y="44376"/>
                  </a:cubicBezTo>
                  <a:cubicBezTo>
                    <a:pt x="66579" y="44376"/>
                    <a:pt x="66579" y="0"/>
                    <a:pt x="155333" y="0"/>
                  </a:cubicBezTo>
                  <a:moveTo>
                    <a:pt x="88763" y="1331423"/>
                  </a:moveTo>
                  <a:lnTo>
                    <a:pt x="710098" y="1331423"/>
                  </a:lnTo>
                  <a:cubicBezTo>
                    <a:pt x="710098" y="1331423"/>
                    <a:pt x="798861" y="1331423"/>
                    <a:pt x="798861" y="1375800"/>
                  </a:cubicBezTo>
                  <a:cubicBezTo>
                    <a:pt x="798861" y="1375800"/>
                    <a:pt x="798861" y="1420187"/>
                    <a:pt x="710098" y="1420187"/>
                  </a:cubicBezTo>
                  <a:lnTo>
                    <a:pt x="88763" y="1420187"/>
                  </a:lnTo>
                  <a:cubicBezTo>
                    <a:pt x="88763" y="1420187"/>
                    <a:pt x="0" y="1420187"/>
                    <a:pt x="0" y="1375800"/>
                  </a:cubicBezTo>
                  <a:cubicBezTo>
                    <a:pt x="0" y="1375800"/>
                    <a:pt x="0" y="1331423"/>
                    <a:pt x="88763" y="1331423"/>
                  </a:cubicBezTo>
                </a:path>
              </a:pathLst>
            </a:custGeom>
            <a:solidFill>
              <a:srgbClr val="DEBE6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176568" y="2120865"/>
            <a:ext cx="887616" cy="1953188"/>
            <a:chOff x="7176568" y="2116103"/>
            <a:chExt cx="887616" cy="1953188"/>
          </a:xfrm>
        </p:grpSpPr>
        <p:sp>
          <p:nvSpPr>
            <p:cNvPr id="9" name="Rounded Rectangle 8"/>
            <p:cNvSpPr/>
            <p:nvPr/>
          </p:nvSpPr>
          <p:spPr>
            <a:xfrm>
              <a:off x="7176568" y="2116103"/>
              <a:ext cx="887616" cy="1953188"/>
            </a:xfrm>
            <a:custGeom>
              <a:avLst/>
              <a:gdLst/>
              <a:ahLst/>
              <a:cxnLst/>
              <a:rect l="0" t="0" r="0" b="0"/>
              <a:pathLst>
                <a:path w="887616" h="1953188">
                  <a:moveTo>
                    <a:pt x="177523" y="355480"/>
                  </a:moveTo>
                  <a:lnTo>
                    <a:pt x="710093" y="355480"/>
                  </a:lnTo>
                  <a:lnTo>
                    <a:pt x="798854" y="1598143"/>
                  </a:lnTo>
                  <a:lnTo>
                    <a:pt x="88761" y="1598143"/>
                  </a:lnTo>
                  <a:lnTo>
                    <a:pt x="177523" y="355480"/>
                  </a:lnTo>
                  <a:close/>
                  <a:moveTo>
                    <a:pt x="88761" y="0"/>
                  </a:moveTo>
                  <a:lnTo>
                    <a:pt x="798854" y="0"/>
                  </a:lnTo>
                  <a:lnTo>
                    <a:pt x="798854" y="177954"/>
                  </a:lnTo>
                  <a:lnTo>
                    <a:pt x="88761" y="177954"/>
                  </a:lnTo>
                  <a:lnTo>
                    <a:pt x="88761" y="0"/>
                  </a:lnTo>
                  <a:close/>
                  <a:moveTo>
                    <a:pt x="0" y="1953188"/>
                  </a:moveTo>
                  <a:lnTo>
                    <a:pt x="887616" y="1953188"/>
                  </a:lnTo>
                  <a:lnTo>
                    <a:pt x="887616" y="1775666"/>
                  </a:lnTo>
                  <a:lnTo>
                    <a:pt x="0" y="1775666"/>
                  </a:lnTo>
                  <a:lnTo>
                    <a:pt x="0" y="1953188"/>
                  </a:lnTo>
                  <a:close/>
                  <a:moveTo>
                    <a:pt x="88761" y="177956"/>
                  </a:moveTo>
                  <a:lnTo>
                    <a:pt x="798854" y="177956"/>
                  </a:lnTo>
                  <a:cubicBezTo>
                    <a:pt x="749833" y="177956"/>
                    <a:pt x="710093" y="217696"/>
                    <a:pt x="710093" y="266718"/>
                  </a:cubicBezTo>
                  <a:lnTo>
                    <a:pt x="177523" y="266718"/>
                  </a:lnTo>
                  <a:cubicBezTo>
                    <a:pt x="177523" y="217696"/>
                    <a:pt x="137783" y="177956"/>
                    <a:pt x="88761" y="177956"/>
                  </a:cubicBezTo>
                  <a:close/>
                  <a:moveTo>
                    <a:pt x="0" y="1775666"/>
                  </a:moveTo>
                  <a:lnTo>
                    <a:pt x="887616" y="1775666"/>
                  </a:lnTo>
                  <a:cubicBezTo>
                    <a:pt x="838594" y="1775666"/>
                    <a:pt x="798854" y="1735926"/>
                    <a:pt x="798854" y="1686905"/>
                  </a:cubicBezTo>
                  <a:lnTo>
                    <a:pt x="88761" y="1686905"/>
                  </a:lnTo>
                  <a:cubicBezTo>
                    <a:pt x="88761" y="1735926"/>
                    <a:pt x="49021" y="1775666"/>
                    <a:pt x="0" y="1775666"/>
                  </a:cubicBezTo>
                  <a:close/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220949" y="2382821"/>
              <a:ext cx="798854" cy="1420186"/>
            </a:xfrm>
            <a:custGeom>
              <a:avLst/>
              <a:gdLst/>
              <a:ahLst/>
              <a:cxnLst/>
              <a:rect l="0" t="0" r="0" b="0"/>
              <a:pathLst>
                <a:path w="798854" h="1420186">
                  <a:moveTo>
                    <a:pt x="155332" y="0"/>
                  </a:moveTo>
                  <a:lnTo>
                    <a:pt x="643521" y="0"/>
                  </a:lnTo>
                  <a:cubicBezTo>
                    <a:pt x="643521" y="0"/>
                    <a:pt x="732283" y="0"/>
                    <a:pt x="732283" y="44380"/>
                  </a:cubicBezTo>
                  <a:lnTo>
                    <a:pt x="732283" y="44380"/>
                  </a:lnTo>
                  <a:cubicBezTo>
                    <a:pt x="732283" y="44380"/>
                    <a:pt x="732283" y="88761"/>
                    <a:pt x="643521" y="88761"/>
                  </a:cubicBezTo>
                  <a:lnTo>
                    <a:pt x="155332" y="88761"/>
                  </a:lnTo>
                  <a:cubicBezTo>
                    <a:pt x="155332" y="88761"/>
                    <a:pt x="66571" y="88761"/>
                    <a:pt x="66571" y="44380"/>
                  </a:cubicBezTo>
                  <a:lnTo>
                    <a:pt x="66571" y="44380"/>
                  </a:lnTo>
                  <a:cubicBezTo>
                    <a:pt x="66571" y="44380"/>
                    <a:pt x="66571" y="0"/>
                    <a:pt x="155332" y="0"/>
                  </a:cubicBezTo>
                  <a:moveTo>
                    <a:pt x="88761" y="1331425"/>
                  </a:moveTo>
                  <a:lnTo>
                    <a:pt x="710093" y="1331425"/>
                  </a:lnTo>
                  <a:cubicBezTo>
                    <a:pt x="710093" y="1331425"/>
                    <a:pt x="798854" y="1331425"/>
                    <a:pt x="798854" y="1375805"/>
                  </a:cubicBezTo>
                  <a:lnTo>
                    <a:pt x="798854" y="1375805"/>
                  </a:lnTo>
                  <a:cubicBezTo>
                    <a:pt x="798854" y="1375805"/>
                    <a:pt x="798854" y="1420186"/>
                    <a:pt x="710093" y="1420186"/>
                  </a:cubicBezTo>
                  <a:lnTo>
                    <a:pt x="88761" y="1420186"/>
                  </a:lnTo>
                  <a:cubicBezTo>
                    <a:pt x="88761" y="1420186"/>
                    <a:pt x="0" y="1420186"/>
                    <a:pt x="0" y="1375805"/>
                  </a:cubicBezTo>
                  <a:lnTo>
                    <a:pt x="0" y="1375805"/>
                  </a:lnTo>
                  <a:cubicBezTo>
                    <a:pt x="0" y="1375805"/>
                    <a:pt x="0" y="1331425"/>
                    <a:pt x="88761" y="1331425"/>
                  </a:cubicBezTo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933906" y="2120428"/>
            <a:ext cx="887615" cy="1953186"/>
            <a:chOff x="5933906" y="2115666"/>
            <a:chExt cx="887615" cy="1953186"/>
          </a:xfrm>
        </p:grpSpPr>
        <p:sp>
          <p:nvSpPr>
            <p:cNvPr id="12" name="Rounded Rectangle 11"/>
            <p:cNvSpPr/>
            <p:nvPr/>
          </p:nvSpPr>
          <p:spPr>
            <a:xfrm>
              <a:off x="5933906" y="2115666"/>
              <a:ext cx="887615" cy="1953186"/>
            </a:xfrm>
            <a:custGeom>
              <a:avLst/>
              <a:gdLst/>
              <a:ahLst/>
              <a:cxnLst/>
              <a:rect l="0" t="0" r="0" b="0"/>
              <a:pathLst>
                <a:path w="887615" h="1953186">
                  <a:moveTo>
                    <a:pt x="177526" y="355482"/>
                  </a:moveTo>
                  <a:lnTo>
                    <a:pt x="710088" y="355482"/>
                  </a:lnTo>
                  <a:lnTo>
                    <a:pt x="798852" y="1598142"/>
                  </a:lnTo>
                  <a:lnTo>
                    <a:pt x="88763" y="1598142"/>
                  </a:lnTo>
                  <a:lnTo>
                    <a:pt x="177526" y="355482"/>
                  </a:lnTo>
                  <a:moveTo>
                    <a:pt x="798852" y="177955"/>
                  </a:moveTo>
                  <a:cubicBezTo>
                    <a:pt x="749836" y="177955"/>
                    <a:pt x="710088" y="217693"/>
                    <a:pt x="710088" y="266719"/>
                  </a:cubicBezTo>
                  <a:lnTo>
                    <a:pt x="177526" y="266719"/>
                  </a:lnTo>
                  <a:cubicBezTo>
                    <a:pt x="177526" y="217693"/>
                    <a:pt x="137779" y="177955"/>
                    <a:pt x="88763" y="177955"/>
                  </a:cubicBezTo>
                  <a:lnTo>
                    <a:pt x="88763" y="0"/>
                  </a:lnTo>
                  <a:lnTo>
                    <a:pt x="798852" y="0"/>
                  </a:lnTo>
                  <a:lnTo>
                    <a:pt x="798852" y="177955"/>
                  </a:lnTo>
                  <a:moveTo>
                    <a:pt x="887615" y="1775669"/>
                  </a:moveTo>
                  <a:cubicBezTo>
                    <a:pt x="838590" y="1775669"/>
                    <a:pt x="798852" y="1735931"/>
                    <a:pt x="798852" y="1686906"/>
                  </a:cubicBezTo>
                  <a:lnTo>
                    <a:pt x="88763" y="1686906"/>
                  </a:lnTo>
                  <a:cubicBezTo>
                    <a:pt x="88763" y="1735931"/>
                    <a:pt x="49025" y="1775669"/>
                    <a:pt x="0" y="1775669"/>
                  </a:cubicBezTo>
                  <a:lnTo>
                    <a:pt x="0" y="1953186"/>
                  </a:lnTo>
                  <a:lnTo>
                    <a:pt x="887615" y="1953186"/>
                  </a:lnTo>
                  <a:lnTo>
                    <a:pt x="887615" y="1775669"/>
                  </a:lnTo>
                </a:path>
              </a:pathLst>
            </a:custGeom>
            <a:solidFill>
              <a:srgbClr val="DEBE64">
                <a:alpha val="73333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978283" y="2382385"/>
              <a:ext cx="798861" cy="1420187"/>
            </a:xfrm>
            <a:custGeom>
              <a:avLst/>
              <a:gdLst/>
              <a:ahLst/>
              <a:cxnLst/>
              <a:rect l="0" t="0" r="0" b="0"/>
              <a:pathLst>
                <a:path w="798861" h="1420187">
                  <a:moveTo>
                    <a:pt x="155333" y="0"/>
                  </a:moveTo>
                  <a:lnTo>
                    <a:pt x="643528" y="0"/>
                  </a:lnTo>
                  <a:cubicBezTo>
                    <a:pt x="643528" y="0"/>
                    <a:pt x="732291" y="0"/>
                    <a:pt x="732291" y="44376"/>
                  </a:cubicBezTo>
                  <a:cubicBezTo>
                    <a:pt x="732291" y="44376"/>
                    <a:pt x="732291" y="88763"/>
                    <a:pt x="643528" y="88763"/>
                  </a:cubicBezTo>
                  <a:lnTo>
                    <a:pt x="155333" y="88763"/>
                  </a:lnTo>
                  <a:cubicBezTo>
                    <a:pt x="155333" y="88763"/>
                    <a:pt x="66579" y="88763"/>
                    <a:pt x="66579" y="44376"/>
                  </a:cubicBezTo>
                  <a:cubicBezTo>
                    <a:pt x="66579" y="44376"/>
                    <a:pt x="66579" y="0"/>
                    <a:pt x="155333" y="0"/>
                  </a:cubicBezTo>
                  <a:moveTo>
                    <a:pt x="88763" y="1331423"/>
                  </a:moveTo>
                  <a:lnTo>
                    <a:pt x="710098" y="1331423"/>
                  </a:lnTo>
                  <a:cubicBezTo>
                    <a:pt x="710098" y="1331423"/>
                    <a:pt x="798861" y="1331423"/>
                    <a:pt x="798861" y="1375800"/>
                  </a:cubicBezTo>
                  <a:cubicBezTo>
                    <a:pt x="798861" y="1375800"/>
                    <a:pt x="798861" y="1420187"/>
                    <a:pt x="710098" y="1420187"/>
                  </a:cubicBezTo>
                  <a:lnTo>
                    <a:pt x="88763" y="1420187"/>
                  </a:lnTo>
                  <a:cubicBezTo>
                    <a:pt x="88763" y="1420187"/>
                    <a:pt x="0" y="1420187"/>
                    <a:pt x="0" y="1375800"/>
                  </a:cubicBezTo>
                  <a:cubicBezTo>
                    <a:pt x="0" y="1375800"/>
                    <a:pt x="0" y="1331423"/>
                    <a:pt x="88763" y="1331423"/>
                  </a:cubicBezTo>
                </a:path>
              </a:pathLst>
            </a:custGeom>
            <a:solidFill>
              <a:srgbClr val="DEBE64">
                <a:alpha val="73333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933906" y="2120428"/>
            <a:ext cx="887616" cy="1953188"/>
            <a:chOff x="5933906" y="2115666"/>
            <a:chExt cx="887616" cy="1953188"/>
          </a:xfrm>
        </p:grpSpPr>
        <p:sp>
          <p:nvSpPr>
            <p:cNvPr id="15" name="Rounded Rectangle 14"/>
            <p:cNvSpPr/>
            <p:nvPr/>
          </p:nvSpPr>
          <p:spPr>
            <a:xfrm>
              <a:off x="5933906" y="2115666"/>
              <a:ext cx="887616" cy="1953188"/>
            </a:xfrm>
            <a:custGeom>
              <a:avLst/>
              <a:gdLst/>
              <a:ahLst/>
              <a:cxnLst/>
              <a:rect l="0" t="0" r="0" b="0"/>
              <a:pathLst>
                <a:path w="887616" h="1953188">
                  <a:moveTo>
                    <a:pt x="177523" y="355480"/>
                  </a:moveTo>
                  <a:lnTo>
                    <a:pt x="710092" y="355480"/>
                  </a:lnTo>
                  <a:lnTo>
                    <a:pt x="798854" y="1598143"/>
                  </a:lnTo>
                  <a:lnTo>
                    <a:pt x="88761" y="1598143"/>
                  </a:lnTo>
                  <a:lnTo>
                    <a:pt x="177523" y="355480"/>
                  </a:lnTo>
                  <a:close/>
                  <a:moveTo>
                    <a:pt x="88761" y="0"/>
                  </a:moveTo>
                  <a:lnTo>
                    <a:pt x="798854" y="0"/>
                  </a:lnTo>
                  <a:lnTo>
                    <a:pt x="798854" y="177954"/>
                  </a:lnTo>
                  <a:lnTo>
                    <a:pt x="88761" y="177954"/>
                  </a:lnTo>
                  <a:lnTo>
                    <a:pt x="88761" y="0"/>
                  </a:lnTo>
                  <a:close/>
                  <a:moveTo>
                    <a:pt x="0" y="1953188"/>
                  </a:moveTo>
                  <a:lnTo>
                    <a:pt x="887616" y="1953188"/>
                  </a:lnTo>
                  <a:lnTo>
                    <a:pt x="887616" y="1775666"/>
                  </a:lnTo>
                  <a:lnTo>
                    <a:pt x="0" y="1775666"/>
                  </a:lnTo>
                  <a:lnTo>
                    <a:pt x="0" y="1953188"/>
                  </a:lnTo>
                  <a:close/>
                  <a:moveTo>
                    <a:pt x="88761" y="177956"/>
                  </a:moveTo>
                  <a:lnTo>
                    <a:pt x="798854" y="177956"/>
                  </a:lnTo>
                  <a:cubicBezTo>
                    <a:pt x="749832" y="177956"/>
                    <a:pt x="710092" y="217696"/>
                    <a:pt x="710092" y="266718"/>
                  </a:cubicBezTo>
                  <a:lnTo>
                    <a:pt x="177523" y="266718"/>
                  </a:lnTo>
                  <a:cubicBezTo>
                    <a:pt x="177523" y="217696"/>
                    <a:pt x="137783" y="177956"/>
                    <a:pt x="88761" y="177956"/>
                  </a:cubicBezTo>
                  <a:close/>
                  <a:moveTo>
                    <a:pt x="0" y="1775666"/>
                  </a:moveTo>
                  <a:lnTo>
                    <a:pt x="887616" y="1775666"/>
                  </a:lnTo>
                  <a:cubicBezTo>
                    <a:pt x="838594" y="1775666"/>
                    <a:pt x="798854" y="1735926"/>
                    <a:pt x="798854" y="1686905"/>
                  </a:cubicBezTo>
                  <a:lnTo>
                    <a:pt x="88761" y="1686905"/>
                  </a:lnTo>
                  <a:cubicBezTo>
                    <a:pt x="88761" y="1735926"/>
                    <a:pt x="49021" y="1775666"/>
                    <a:pt x="0" y="1775666"/>
                  </a:cubicBezTo>
                  <a:close/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978287" y="2382384"/>
              <a:ext cx="798854" cy="1420186"/>
            </a:xfrm>
            <a:custGeom>
              <a:avLst/>
              <a:gdLst/>
              <a:ahLst/>
              <a:cxnLst/>
              <a:rect l="0" t="0" r="0" b="0"/>
              <a:pathLst>
                <a:path w="798854" h="1420186">
                  <a:moveTo>
                    <a:pt x="155332" y="0"/>
                  </a:moveTo>
                  <a:lnTo>
                    <a:pt x="643521" y="0"/>
                  </a:lnTo>
                  <a:cubicBezTo>
                    <a:pt x="643521" y="0"/>
                    <a:pt x="732283" y="0"/>
                    <a:pt x="732283" y="44380"/>
                  </a:cubicBezTo>
                  <a:lnTo>
                    <a:pt x="732283" y="44380"/>
                  </a:lnTo>
                  <a:cubicBezTo>
                    <a:pt x="732283" y="44380"/>
                    <a:pt x="732283" y="88761"/>
                    <a:pt x="643521" y="88761"/>
                  </a:cubicBezTo>
                  <a:lnTo>
                    <a:pt x="155332" y="88761"/>
                  </a:lnTo>
                  <a:cubicBezTo>
                    <a:pt x="155332" y="88761"/>
                    <a:pt x="66571" y="88761"/>
                    <a:pt x="66571" y="44380"/>
                  </a:cubicBezTo>
                  <a:lnTo>
                    <a:pt x="66571" y="44380"/>
                  </a:lnTo>
                  <a:cubicBezTo>
                    <a:pt x="66571" y="44380"/>
                    <a:pt x="66571" y="0"/>
                    <a:pt x="155332" y="0"/>
                  </a:cubicBezTo>
                  <a:moveTo>
                    <a:pt x="88761" y="1331425"/>
                  </a:moveTo>
                  <a:lnTo>
                    <a:pt x="710092" y="1331425"/>
                  </a:lnTo>
                  <a:cubicBezTo>
                    <a:pt x="710092" y="1331425"/>
                    <a:pt x="798854" y="1331425"/>
                    <a:pt x="798854" y="1375805"/>
                  </a:cubicBezTo>
                  <a:lnTo>
                    <a:pt x="798854" y="1375805"/>
                  </a:lnTo>
                  <a:cubicBezTo>
                    <a:pt x="798854" y="1375805"/>
                    <a:pt x="798854" y="1420186"/>
                    <a:pt x="710092" y="1420186"/>
                  </a:cubicBezTo>
                  <a:lnTo>
                    <a:pt x="88761" y="1420186"/>
                  </a:lnTo>
                  <a:cubicBezTo>
                    <a:pt x="88761" y="1420186"/>
                    <a:pt x="0" y="1420186"/>
                    <a:pt x="0" y="1375805"/>
                  </a:cubicBezTo>
                  <a:lnTo>
                    <a:pt x="0" y="1375805"/>
                  </a:lnTo>
                  <a:cubicBezTo>
                    <a:pt x="0" y="1375805"/>
                    <a:pt x="0" y="1331425"/>
                    <a:pt x="88761" y="1331425"/>
                  </a:cubicBezTo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691242" y="2120428"/>
            <a:ext cx="887615" cy="1953186"/>
            <a:chOff x="4691242" y="2115666"/>
            <a:chExt cx="887615" cy="1953186"/>
          </a:xfrm>
        </p:grpSpPr>
        <p:sp>
          <p:nvSpPr>
            <p:cNvPr id="18" name="Rounded Rectangle 17"/>
            <p:cNvSpPr/>
            <p:nvPr/>
          </p:nvSpPr>
          <p:spPr>
            <a:xfrm>
              <a:off x="4691242" y="2115666"/>
              <a:ext cx="887615" cy="1953186"/>
            </a:xfrm>
            <a:custGeom>
              <a:avLst/>
              <a:gdLst/>
              <a:ahLst/>
              <a:cxnLst/>
              <a:rect l="0" t="0" r="0" b="0"/>
              <a:pathLst>
                <a:path w="887615" h="1953186">
                  <a:moveTo>
                    <a:pt x="177526" y="355482"/>
                  </a:moveTo>
                  <a:lnTo>
                    <a:pt x="710088" y="355482"/>
                  </a:lnTo>
                  <a:lnTo>
                    <a:pt x="798852" y="1598142"/>
                  </a:lnTo>
                  <a:lnTo>
                    <a:pt x="88763" y="1598142"/>
                  </a:lnTo>
                  <a:lnTo>
                    <a:pt x="177526" y="355482"/>
                  </a:lnTo>
                  <a:moveTo>
                    <a:pt x="798852" y="177955"/>
                  </a:moveTo>
                  <a:cubicBezTo>
                    <a:pt x="749836" y="177955"/>
                    <a:pt x="710088" y="217693"/>
                    <a:pt x="710088" y="266719"/>
                  </a:cubicBezTo>
                  <a:lnTo>
                    <a:pt x="177526" y="266719"/>
                  </a:lnTo>
                  <a:cubicBezTo>
                    <a:pt x="177526" y="217693"/>
                    <a:pt x="137779" y="177955"/>
                    <a:pt x="88763" y="177955"/>
                  </a:cubicBezTo>
                  <a:lnTo>
                    <a:pt x="88763" y="0"/>
                  </a:lnTo>
                  <a:lnTo>
                    <a:pt x="798852" y="0"/>
                  </a:lnTo>
                  <a:lnTo>
                    <a:pt x="798852" y="177955"/>
                  </a:lnTo>
                  <a:moveTo>
                    <a:pt x="887615" y="1775669"/>
                  </a:moveTo>
                  <a:cubicBezTo>
                    <a:pt x="838590" y="1775669"/>
                    <a:pt x="798852" y="1735931"/>
                    <a:pt x="798852" y="1686906"/>
                  </a:cubicBezTo>
                  <a:lnTo>
                    <a:pt x="88763" y="1686906"/>
                  </a:lnTo>
                  <a:cubicBezTo>
                    <a:pt x="88763" y="1735931"/>
                    <a:pt x="49025" y="1775669"/>
                    <a:pt x="0" y="1775669"/>
                  </a:cubicBezTo>
                  <a:lnTo>
                    <a:pt x="0" y="1953186"/>
                  </a:lnTo>
                  <a:lnTo>
                    <a:pt x="887615" y="1953186"/>
                  </a:lnTo>
                  <a:lnTo>
                    <a:pt x="887615" y="1775669"/>
                  </a:lnTo>
                </a:path>
              </a:pathLst>
            </a:custGeom>
            <a:solidFill>
              <a:srgbClr val="DEBE64">
                <a:alpha val="46667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735619" y="2382385"/>
              <a:ext cx="798861" cy="1420187"/>
            </a:xfrm>
            <a:custGeom>
              <a:avLst/>
              <a:gdLst/>
              <a:ahLst/>
              <a:cxnLst/>
              <a:rect l="0" t="0" r="0" b="0"/>
              <a:pathLst>
                <a:path w="798861" h="1420187">
                  <a:moveTo>
                    <a:pt x="155333" y="0"/>
                  </a:moveTo>
                  <a:lnTo>
                    <a:pt x="643528" y="0"/>
                  </a:lnTo>
                  <a:cubicBezTo>
                    <a:pt x="643528" y="0"/>
                    <a:pt x="732291" y="0"/>
                    <a:pt x="732291" y="44376"/>
                  </a:cubicBezTo>
                  <a:cubicBezTo>
                    <a:pt x="732291" y="44376"/>
                    <a:pt x="732291" y="88763"/>
                    <a:pt x="643528" y="88763"/>
                  </a:cubicBezTo>
                  <a:lnTo>
                    <a:pt x="155333" y="88763"/>
                  </a:lnTo>
                  <a:cubicBezTo>
                    <a:pt x="155333" y="88763"/>
                    <a:pt x="66579" y="88763"/>
                    <a:pt x="66579" y="44376"/>
                  </a:cubicBezTo>
                  <a:cubicBezTo>
                    <a:pt x="66579" y="44376"/>
                    <a:pt x="66579" y="0"/>
                    <a:pt x="155333" y="0"/>
                  </a:cubicBezTo>
                  <a:moveTo>
                    <a:pt x="88763" y="1331423"/>
                  </a:moveTo>
                  <a:lnTo>
                    <a:pt x="710098" y="1331423"/>
                  </a:lnTo>
                  <a:cubicBezTo>
                    <a:pt x="710098" y="1331423"/>
                    <a:pt x="798861" y="1331423"/>
                    <a:pt x="798861" y="1375800"/>
                  </a:cubicBezTo>
                  <a:cubicBezTo>
                    <a:pt x="798861" y="1375800"/>
                    <a:pt x="798861" y="1420187"/>
                    <a:pt x="710098" y="1420187"/>
                  </a:cubicBezTo>
                  <a:lnTo>
                    <a:pt x="88763" y="1420187"/>
                  </a:lnTo>
                  <a:cubicBezTo>
                    <a:pt x="88763" y="1420187"/>
                    <a:pt x="0" y="1420187"/>
                    <a:pt x="0" y="1375800"/>
                  </a:cubicBezTo>
                  <a:cubicBezTo>
                    <a:pt x="0" y="1375800"/>
                    <a:pt x="0" y="1331423"/>
                    <a:pt x="88763" y="1331423"/>
                  </a:cubicBezTo>
                </a:path>
              </a:pathLst>
            </a:custGeom>
            <a:solidFill>
              <a:srgbClr val="DEBE64">
                <a:alpha val="46667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691242" y="2120428"/>
            <a:ext cx="887616" cy="1953188"/>
            <a:chOff x="4691242" y="2115666"/>
            <a:chExt cx="887616" cy="1953188"/>
          </a:xfrm>
        </p:grpSpPr>
        <p:sp>
          <p:nvSpPr>
            <p:cNvPr id="21" name="Rounded Rectangle 20"/>
            <p:cNvSpPr/>
            <p:nvPr/>
          </p:nvSpPr>
          <p:spPr>
            <a:xfrm>
              <a:off x="4691242" y="2115666"/>
              <a:ext cx="887616" cy="1953188"/>
            </a:xfrm>
            <a:custGeom>
              <a:avLst/>
              <a:gdLst/>
              <a:ahLst/>
              <a:cxnLst/>
              <a:rect l="0" t="0" r="0" b="0"/>
              <a:pathLst>
                <a:path w="887616" h="1953188">
                  <a:moveTo>
                    <a:pt x="177523" y="355480"/>
                  </a:moveTo>
                  <a:lnTo>
                    <a:pt x="710093" y="355480"/>
                  </a:lnTo>
                  <a:lnTo>
                    <a:pt x="798854" y="1598143"/>
                  </a:lnTo>
                  <a:lnTo>
                    <a:pt x="88761" y="1598143"/>
                  </a:lnTo>
                  <a:lnTo>
                    <a:pt x="177523" y="355480"/>
                  </a:lnTo>
                  <a:close/>
                  <a:moveTo>
                    <a:pt x="88761" y="0"/>
                  </a:moveTo>
                  <a:lnTo>
                    <a:pt x="798854" y="0"/>
                  </a:lnTo>
                  <a:lnTo>
                    <a:pt x="798854" y="177954"/>
                  </a:lnTo>
                  <a:lnTo>
                    <a:pt x="88761" y="177954"/>
                  </a:lnTo>
                  <a:lnTo>
                    <a:pt x="88761" y="0"/>
                  </a:lnTo>
                  <a:close/>
                  <a:moveTo>
                    <a:pt x="0" y="1953188"/>
                  </a:moveTo>
                  <a:lnTo>
                    <a:pt x="887616" y="1953188"/>
                  </a:lnTo>
                  <a:lnTo>
                    <a:pt x="887616" y="1775666"/>
                  </a:lnTo>
                  <a:lnTo>
                    <a:pt x="0" y="1775666"/>
                  </a:lnTo>
                  <a:lnTo>
                    <a:pt x="0" y="1953188"/>
                  </a:lnTo>
                  <a:close/>
                  <a:moveTo>
                    <a:pt x="88761" y="177956"/>
                  </a:moveTo>
                  <a:lnTo>
                    <a:pt x="798854" y="177956"/>
                  </a:lnTo>
                  <a:cubicBezTo>
                    <a:pt x="749833" y="177956"/>
                    <a:pt x="710093" y="217696"/>
                    <a:pt x="710093" y="266718"/>
                  </a:cubicBezTo>
                  <a:lnTo>
                    <a:pt x="177523" y="266718"/>
                  </a:lnTo>
                  <a:cubicBezTo>
                    <a:pt x="177523" y="217696"/>
                    <a:pt x="137783" y="177956"/>
                    <a:pt x="88761" y="177956"/>
                  </a:cubicBezTo>
                  <a:close/>
                  <a:moveTo>
                    <a:pt x="0" y="1775666"/>
                  </a:moveTo>
                  <a:lnTo>
                    <a:pt x="887616" y="1775666"/>
                  </a:lnTo>
                  <a:cubicBezTo>
                    <a:pt x="838594" y="1775666"/>
                    <a:pt x="798854" y="1735926"/>
                    <a:pt x="798854" y="1686905"/>
                  </a:cubicBezTo>
                  <a:lnTo>
                    <a:pt x="88761" y="1686905"/>
                  </a:lnTo>
                  <a:cubicBezTo>
                    <a:pt x="88761" y="1735926"/>
                    <a:pt x="49021" y="1775666"/>
                    <a:pt x="0" y="1775666"/>
                  </a:cubicBezTo>
                  <a:close/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735623" y="2382384"/>
              <a:ext cx="798854" cy="1420186"/>
            </a:xfrm>
            <a:custGeom>
              <a:avLst/>
              <a:gdLst/>
              <a:ahLst/>
              <a:cxnLst/>
              <a:rect l="0" t="0" r="0" b="0"/>
              <a:pathLst>
                <a:path w="798854" h="1420186">
                  <a:moveTo>
                    <a:pt x="155332" y="0"/>
                  </a:moveTo>
                  <a:lnTo>
                    <a:pt x="643522" y="0"/>
                  </a:lnTo>
                  <a:cubicBezTo>
                    <a:pt x="643522" y="0"/>
                    <a:pt x="732283" y="0"/>
                    <a:pt x="732283" y="44380"/>
                  </a:cubicBezTo>
                  <a:lnTo>
                    <a:pt x="732283" y="44380"/>
                  </a:lnTo>
                  <a:cubicBezTo>
                    <a:pt x="732283" y="44380"/>
                    <a:pt x="732283" y="88761"/>
                    <a:pt x="643522" y="88761"/>
                  </a:cubicBezTo>
                  <a:lnTo>
                    <a:pt x="155332" y="88761"/>
                  </a:lnTo>
                  <a:cubicBezTo>
                    <a:pt x="155332" y="88761"/>
                    <a:pt x="66571" y="88761"/>
                    <a:pt x="66571" y="44380"/>
                  </a:cubicBezTo>
                  <a:lnTo>
                    <a:pt x="66571" y="44380"/>
                  </a:lnTo>
                  <a:cubicBezTo>
                    <a:pt x="66571" y="44380"/>
                    <a:pt x="66571" y="0"/>
                    <a:pt x="155332" y="0"/>
                  </a:cubicBezTo>
                  <a:moveTo>
                    <a:pt x="88761" y="1331425"/>
                  </a:moveTo>
                  <a:lnTo>
                    <a:pt x="710093" y="1331425"/>
                  </a:lnTo>
                  <a:cubicBezTo>
                    <a:pt x="710093" y="1331425"/>
                    <a:pt x="798854" y="1331425"/>
                    <a:pt x="798854" y="1375805"/>
                  </a:cubicBezTo>
                  <a:lnTo>
                    <a:pt x="798854" y="1375805"/>
                  </a:lnTo>
                  <a:cubicBezTo>
                    <a:pt x="798854" y="1375805"/>
                    <a:pt x="798854" y="1420186"/>
                    <a:pt x="710093" y="1420186"/>
                  </a:cubicBezTo>
                  <a:lnTo>
                    <a:pt x="88761" y="1420186"/>
                  </a:lnTo>
                  <a:cubicBezTo>
                    <a:pt x="88761" y="1420186"/>
                    <a:pt x="0" y="1420186"/>
                    <a:pt x="0" y="1375805"/>
                  </a:cubicBezTo>
                  <a:lnTo>
                    <a:pt x="0" y="1375805"/>
                  </a:lnTo>
                  <a:cubicBezTo>
                    <a:pt x="0" y="1375805"/>
                    <a:pt x="0" y="1331425"/>
                    <a:pt x="88761" y="1331425"/>
                  </a:cubicBezTo>
                </a:path>
              </a:pathLst>
            </a:custGeom>
            <a:noFill/>
            <a:ln w="14287">
              <a:solidFill>
                <a:srgbClr val="E7E8E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6219479" y="817222"/>
            <a:ext cx="316467" cy="320042"/>
          </a:xfrm>
          <a:custGeom>
            <a:avLst/>
            <a:gdLst/>
            <a:ahLst/>
            <a:cxnLst/>
            <a:rect l="0" t="0" r="0" b="0"/>
            <a:pathLst>
              <a:path w="316467" h="320042">
                <a:moveTo>
                  <a:pt x="314350" y="306272"/>
                </a:moveTo>
                <a:cubicBezTo>
                  <a:pt x="316338" y="309034"/>
                  <a:pt x="316467" y="312722"/>
                  <a:pt x="314676" y="315616"/>
                </a:cubicBezTo>
                <a:cubicBezTo>
                  <a:pt x="312886" y="318511"/>
                  <a:pt x="309529" y="320042"/>
                  <a:pt x="306169" y="319497"/>
                </a:cubicBezTo>
                <a:lnTo>
                  <a:pt x="10297" y="319497"/>
                </a:lnTo>
                <a:cubicBezTo>
                  <a:pt x="6938" y="320042"/>
                  <a:pt x="3580" y="318511"/>
                  <a:pt x="1790" y="315616"/>
                </a:cubicBezTo>
                <a:cubicBezTo>
                  <a:pt x="0" y="312722"/>
                  <a:pt x="128" y="309034"/>
                  <a:pt x="2116" y="306272"/>
                </a:cubicBezTo>
                <a:lnTo>
                  <a:pt x="151620" y="7278"/>
                </a:lnTo>
                <a:cubicBezTo>
                  <a:pt x="155260" y="0"/>
                  <a:pt x="161207" y="0"/>
                  <a:pt x="164846" y="7278"/>
                </a:cubicBezTo>
                <a:close/>
                <a:moveTo>
                  <a:pt x="158233" y="223398"/>
                </a:moveTo>
                <a:lnTo>
                  <a:pt x="158233" y="119843"/>
                </a:lnTo>
                <a:moveTo>
                  <a:pt x="158100" y="252985"/>
                </a:moveTo>
                <a:cubicBezTo>
                  <a:pt x="157124" y="253004"/>
                  <a:pt x="156197" y="253415"/>
                  <a:pt x="155527" y="254124"/>
                </a:cubicBezTo>
                <a:cubicBezTo>
                  <a:pt x="154856" y="254833"/>
                  <a:pt x="154499" y="255782"/>
                  <a:pt x="154535" y="256757"/>
                </a:cubicBezTo>
                <a:cubicBezTo>
                  <a:pt x="154614" y="258777"/>
                  <a:pt x="156271" y="260375"/>
                  <a:pt x="158292" y="260382"/>
                </a:cubicBezTo>
                <a:lnTo>
                  <a:pt x="158366" y="260382"/>
                </a:lnTo>
                <a:cubicBezTo>
                  <a:pt x="159342" y="260363"/>
                  <a:pt x="160269" y="259952"/>
                  <a:pt x="160940" y="259243"/>
                </a:cubicBezTo>
                <a:cubicBezTo>
                  <a:pt x="161610" y="258534"/>
                  <a:pt x="161967" y="257585"/>
                  <a:pt x="161932" y="256609"/>
                </a:cubicBezTo>
                <a:cubicBezTo>
                  <a:pt x="161853" y="254612"/>
                  <a:pt x="160231" y="253023"/>
                  <a:pt x="158233" y="252985"/>
                </a:cubicBezTo>
                <a:lnTo>
                  <a:pt x="158159" y="252985"/>
                </a:lnTo>
              </a:path>
            </a:pathLst>
          </a:custGeom>
          <a:noFill/>
          <a:ln w="14287">
            <a:solidFill>
              <a:srgbClr val="E7E8E6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419100" y="404810"/>
            <a:ext cx="3009900" cy="1910313"/>
            <a:chOff x="419100" y="400048"/>
            <a:chExt cx="3009900" cy="1910313"/>
          </a:xfrm>
        </p:grpSpPr>
        <p:sp>
          <p:nvSpPr>
            <p:cNvPr id="25" name="TextBox 24"/>
            <p:cNvSpPr txBox="1"/>
            <p:nvPr/>
          </p:nvSpPr>
          <p:spPr>
            <a:xfrm>
              <a:off x="419100" y="400048"/>
              <a:ext cx="3461385" cy="3820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494B45"/>
                  </a:solidFill>
                  <a:latin typeface="Source Code Pro"/>
                </a:rPr>
                <a:t>Thévenin-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9100" y="782095"/>
              <a:ext cx="346138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494B45"/>
                  </a:solidFill>
                  <a:latin typeface="Source Code Pro"/>
                </a:rPr>
                <a:t>tétel: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" y="1164238"/>
              <a:ext cx="3461385" cy="3820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494B45"/>
                  </a:solidFill>
                  <a:latin typeface="Source Code Pro"/>
                </a:rPr>
                <a:t>Tipikus hibák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9100" y="1546286"/>
              <a:ext cx="3461385" cy="3820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494B45"/>
                  </a:solidFill>
                  <a:latin typeface="Source Code Pro"/>
                </a:rPr>
                <a:t>és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9100" y="1928334"/>
              <a:ext cx="3461385" cy="382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000" b="1">
                  <a:solidFill>
                    <a:srgbClr val="494B45"/>
                  </a:solidFill>
                  <a:latin typeface="Source Code Pro"/>
                </a:rPr>
                <a:t>összefoglalás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840265" y="1250996"/>
            <a:ext cx="1074896" cy="319553"/>
            <a:chOff x="5840265" y="1246234"/>
            <a:chExt cx="1074896" cy="319553"/>
          </a:xfrm>
        </p:grpSpPr>
        <p:sp>
          <p:nvSpPr>
            <p:cNvPr id="31" name="TextBox 30"/>
            <p:cNvSpPr txBox="1"/>
            <p:nvPr/>
          </p:nvSpPr>
          <p:spPr>
            <a:xfrm>
              <a:off x="5759648" y="1246234"/>
              <a:ext cx="1236130" cy="159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Mire figyeljünk 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59648" y="1405968"/>
              <a:ext cx="1236130" cy="159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Thévenin-tételnél?</a:t>
              </a: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957527" y="3008480"/>
            <a:ext cx="341347" cy="341347"/>
          </a:xfrm>
          <a:custGeom>
            <a:avLst/>
            <a:gdLst/>
            <a:ahLst/>
            <a:cxnLst/>
            <a:rect l="0" t="0" r="0" b="0"/>
            <a:pathLst>
              <a:path w="341347" h="341347">
                <a:moveTo>
                  <a:pt x="83664" y="271381"/>
                </a:moveTo>
                <a:cubicBezTo>
                  <a:pt x="108296" y="296012"/>
                  <a:pt x="148231" y="296012"/>
                  <a:pt x="172863" y="271381"/>
                </a:cubicBezTo>
                <a:lnTo>
                  <a:pt x="195035" y="249210"/>
                </a:lnTo>
                <a:lnTo>
                  <a:pt x="105837" y="160010"/>
                </a:lnTo>
                <a:lnTo>
                  <a:pt x="83664" y="182183"/>
                </a:lnTo>
                <a:cubicBezTo>
                  <a:pt x="59033" y="206814"/>
                  <a:pt x="59033" y="246749"/>
                  <a:pt x="83664" y="271381"/>
                </a:cubicBezTo>
                <a:close/>
                <a:moveTo>
                  <a:pt x="272425" y="82619"/>
                </a:moveTo>
                <a:cubicBezTo>
                  <a:pt x="247794" y="57987"/>
                  <a:pt x="207859" y="57987"/>
                  <a:pt x="183227" y="82619"/>
                </a:cubicBezTo>
                <a:lnTo>
                  <a:pt x="161056" y="104791"/>
                </a:lnTo>
                <a:lnTo>
                  <a:pt x="250254" y="193990"/>
                </a:lnTo>
                <a:lnTo>
                  <a:pt x="272425" y="171817"/>
                </a:lnTo>
                <a:cubicBezTo>
                  <a:pt x="297058" y="147186"/>
                  <a:pt x="297058" y="107250"/>
                  <a:pt x="272425" y="82619"/>
                </a:cubicBezTo>
                <a:close/>
                <a:moveTo>
                  <a:pt x="185767" y="129503"/>
                </a:moveTo>
                <a:lnTo>
                  <a:pt x="162173" y="153099"/>
                </a:lnTo>
                <a:moveTo>
                  <a:pt x="0" y="0"/>
                </a:moveTo>
                <a:moveTo>
                  <a:pt x="225543" y="169278"/>
                </a:moveTo>
                <a:lnTo>
                  <a:pt x="201947" y="192873"/>
                </a:lnTo>
                <a:moveTo>
                  <a:pt x="83664" y="271381"/>
                </a:moveTo>
                <a:lnTo>
                  <a:pt x="13699" y="341347"/>
                </a:lnTo>
                <a:moveTo>
                  <a:pt x="341347" y="13699"/>
                </a:moveTo>
                <a:lnTo>
                  <a:pt x="272427" y="82619"/>
                </a:lnTo>
              </a:path>
            </a:pathLst>
          </a:custGeom>
          <a:noFill/>
          <a:ln w="14287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07586" y="3015877"/>
            <a:ext cx="340252" cy="340252"/>
          </a:xfrm>
          <a:custGeom>
            <a:avLst/>
            <a:gdLst/>
            <a:ahLst/>
            <a:cxnLst/>
            <a:rect l="0" t="0" r="0" b="0"/>
            <a:pathLst>
              <a:path w="340252" h="340252">
                <a:moveTo>
                  <a:pt x="236697" y="281078"/>
                </a:moveTo>
                <a:lnTo>
                  <a:pt x="236697" y="162729"/>
                </a:lnTo>
                <a:lnTo>
                  <a:pt x="286700" y="66571"/>
                </a:lnTo>
                <a:cubicBezTo>
                  <a:pt x="288986" y="61784"/>
                  <a:pt x="288534" y="56139"/>
                  <a:pt x="285516" y="51777"/>
                </a:cubicBezTo>
                <a:cubicBezTo>
                  <a:pt x="283055" y="47489"/>
                  <a:pt x="278614" y="44713"/>
                  <a:pt x="273681" y="44380"/>
                </a:cubicBezTo>
                <a:lnTo>
                  <a:pt x="133142" y="44380"/>
                </a:lnTo>
                <a:cubicBezTo>
                  <a:pt x="124972" y="44380"/>
                  <a:pt x="118348" y="51004"/>
                  <a:pt x="118348" y="59174"/>
                </a:cubicBezTo>
                <a:lnTo>
                  <a:pt x="118348" y="281078"/>
                </a:lnTo>
                <a:cubicBezTo>
                  <a:pt x="118348" y="289248"/>
                  <a:pt x="124972" y="295872"/>
                  <a:pt x="133142" y="295872"/>
                </a:cubicBezTo>
                <a:lnTo>
                  <a:pt x="221904" y="295872"/>
                </a:lnTo>
                <a:cubicBezTo>
                  <a:pt x="230074" y="295872"/>
                  <a:pt x="236697" y="289248"/>
                  <a:pt x="236697" y="281078"/>
                </a:cubicBezTo>
                <a:close/>
                <a:moveTo>
                  <a:pt x="162729" y="295872"/>
                </a:moveTo>
                <a:lnTo>
                  <a:pt x="162729" y="162729"/>
                </a:lnTo>
                <a:lnTo>
                  <a:pt x="221904" y="44380"/>
                </a:lnTo>
                <a:moveTo>
                  <a:pt x="162729" y="162729"/>
                </a:moveTo>
                <a:lnTo>
                  <a:pt x="236697" y="162729"/>
                </a:lnTo>
                <a:moveTo>
                  <a:pt x="14793" y="0"/>
                </a:moveTo>
                <a:lnTo>
                  <a:pt x="325459" y="0"/>
                </a:lnTo>
                <a:cubicBezTo>
                  <a:pt x="325459" y="0"/>
                  <a:pt x="340252" y="0"/>
                  <a:pt x="340252" y="14793"/>
                </a:cubicBezTo>
                <a:lnTo>
                  <a:pt x="340252" y="325459"/>
                </a:lnTo>
                <a:cubicBezTo>
                  <a:pt x="340252" y="325459"/>
                  <a:pt x="340252" y="340252"/>
                  <a:pt x="325459" y="340252"/>
                </a:cubicBezTo>
                <a:lnTo>
                  <a:pt x="14793" y="340252"/>
                </a:lnTo>
                <a:cubicBezTo>
                  <a:pt x="14793" y="340252"/>
                  <a:pt x="0" y="340252"/>
                  <a:pt x="0" y="325459"/>
                </a:cubicBezTo>
                <a:lnTo>
                  <a:pt x="0" y="14793"/>
                </a:lnTo>
                <a:cubicBezTo>
                  <a:pt x="0" y="14793"/>
                  <a:pt x="0" y="0"/>
                  <a:pt x="14793" y="0"/>
                </a:cubicBezTo>
                <a:moveTo>
                  <a:pt x="44380" y="40682"/>
                </a:moveTo>
                <a:cubicBezTo>
                  <a:pt x="42338" y="40682"/>
                  <a:pt x="40682" y="42338"/>
                  <a:pt x="40682" y="44380"/>
                </a:cubicBezTo>
                <a:cubicBezTo>
                  <a:pt x="40682" y="46423"/>
                  <a:pt x="42338" y="48079"/>
                  <a:pt x="44380" y="48079"/>
                </a:cubicBezTo>
                <a:cubicBezTo>
                  <a:pt x="46423" y="48079"/>
                  <a:pt x="48079" y="46423"/>
                  <a:pt x="48079" y="44380"/>
                </a:cubicBezTo>
                <a:cubicBezTo>
                  <a:pt x="48079" y="42338"/>
                  <a:pt x="46423" y="40682"/>
                  <a:pt x="44380" y="40682"/>
                </a:cubicBezTo>
                <a:moveTo>
                  <a:pt x="44380" y="292173"/>
                </a:moveTo>
                <a:cubicBezTo>
                  <a:pt x="42338" y="292173"/>
                  <a:pt x="40682" y="293829"/>
                  <a:pt x="40682" y="295872"/>
                </a:cubicBezTo>
                <a:cubicBezTo>
                  <a:pt x="40682" y="297914"/>
                  <a:pt x="42338" y="299570"/>
                  <a:pt x="44380" y="299570"/>
                </a:cubicBezTo>
                <a:cubicBezTo>
                  <a:pt x="46423" y="299570"/>
                  <a:pt x="48079" y="297914"/>
                  <a:pt x="48079" y="295872"/>
                </a:cubicBezTo>
                <a:cubicBezTo>
                  <a:pt x="48079" y="293829"/>
                  <a:pt x="46423" y="292173"/>
                  <a:pt x="44380" y="292173"/>
                </a:cubicBezTo>
                <a:moveTo>
                  <a:pt x="295872" y="292173"/>
                </a:moveTo>
                <a:cubicBezTo>
                  <a:pt x="293829" y="292173"/>
                  <a:pt x="292173" y="293829"/>
                  <a:pt x="292173" y="295872"/>
                </a:cubicBezTo>
                <a:cubicBezTo>
                  <a:pt x="292173" y="297914"/>
                  <a:pt x="293829" y="299570"/>
                  <a:pt x="295872" y="299570"/>
                </a:cubicBezTo>
                <a:cubicBezTo>
                  <a:pt x="297914" y="299570"/>
                  <a:pt x="299570" y="297914"/>
                  <a:pt x="299570" y="295872"/>
                </a:cubicBezTo>
                <a:cubicBezTo>
                  <a:pt x="299570" y="293829"/>
                  <a:pt x="297914" y="292173"/>
                  <a:pt x="295872" y="292173"/>
                </a:cubicBezTo>
              </a:path>
            </a:pathLst>
          </a:custGeom>
          <a:noFill/>
          <a:ln w="14287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42853" y="3008913"/>
            <a:ext cx="347649" cy="347649"/>
          </a:xfrm>
          <a:custGeom>
            <a:avLst/>
            <a:gdLst/>
            <a:ahLst/>
            <a:cxnLst/>
            <a:rect l="0" t="0" r="0" b="0"/>
            <a:pathLst>
              <a:path w="347649" h="347649">
                <a:moveTo>
                  <a:pt x="7396" y="303268"/>
                </a:moveTo>
                <a:cubicBezTo>
                  <a:pt x="7396" y="327779"/>
                  <a:pt x="27266" y="347649"/>
                  <a:pt x="51777" y="347649"/>
                </a:cubicBezTo>
                <a:cubicBezTo>
                  <a:pt x="76288" y="347649"/>
                  <a:pt x="96158" y="327779"/>
                  <a:pt x="96158" y="303268"/>
                </a:cubicBezTo>
                <a:cubicBezTo>
                  <a:pt x="96158" y="278758"/>
                  <a:pt x="76288" y="258888"/>
                  <a:pt x="51777" y="258888"/>
                </a:cubicBezTo>
                <a:cubicBezTo>
                  <a:pt x="27266" y="258888"/>
                  <a:pt x="7396" y="278758"/>
                  <a:pt x="7396" y="303268"/>
                </a:cubicBezTo>
                <a:moveTo>
                  <a:pt x="258888" y="51777"/>
                </a:moveTo>
                <a:cubicBezTo>
                  <a:pt x="258888" y="76288"/>
                  <a:pt x="278758" y="96158"/>
                  <a:pt x="303268" y="96158"/>
                </a:cubicBezTo>
                <a:cubicBezTo>
                  <a:pt x="327779" y="96158"/>
                  <a:pt x="347649" y="76288"/>
                  <a:pt x="347649" y="51777"/>
                </a:cubicBezTo>
                <a:cubicBezTo>
                  <a:pt x="347649" y="27266"/>
                  <a:pt x="327779" y="7396"/>
                  <a:pt x="303268" y="7396"/>
                </a:cubicBezTo>
                <a:cubicBezTo>
                  <a:pt x="278758" y="7396"/>
                  <a:pt x="258888" y="27266"/>
                  <a:pt x="258888" y="51777"/>
                </a:cubicBezTo>
                <a:moveTo>
                  <a:pt x="0" y="0"/>
                </a:moveTo>
                <a:moveTo>
                  <a:pt x="84057" y="272808"/>
                </a:moveTo>
                <a:lnTo>
                  <a:pt x="272084" y="83361"/>
                </a:lnTo>
              </a:path>
            </a:pathLst>
          </a:custGeom>
          <a:noFill/>
          <a:ln w="14287">
            <a:solidFill>
              <a:srgbClr val="494B4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9" name="Group 38"/>
          <p:cNvGrpSpPr/>
          <p:nvPr/>
        </p:nvGrpSpPr>
        <p:grpSpPr>
          <a:xfrm>
            <a:off x="4767090" y="4428668"/>
            <a:ext cx="735930" cy="319553"/>
            <a:chOff x="4767090" y="4423906"/>
            <a:chExt cx="735930" cy="319553"/>
          </a:xfrm>
        </p:grpSpPr>
        <p:sp>
          <p:nvSpPr>
            <p:cNvPr id="37" name="TextBox 36"/>
            <p:cNvSpPr txBox="1"/>
            <p:nvPr/>
          </p:nvSpPr>
          <p:spPr>
            <a:xfrm>
              <a:off x="4711896" y="4423906"/>
              <a:ext cx="846319" cy="159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Terhelés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11896" y="4583640"/>
              <a:ext cx="846319" cy="159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leválasztása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989693" y="4428668"/>
            <a:ext cx="776049" cy="319553"/>
            <a:chOff x="5989693" y="4423906"/>
            <a:chExt cx="776049" cy="319553"/>
          </a:xfrm>
        </p:grpSpPr>
        <p:sp>
          <p:nvSpPr>
            <p:cNvPr id="40" name="TextBox 39"/>
            <p:cNvSpPr txBox="1"/>
            <p:nvPr/>
          </p:nvSpPr>
          <p:spPr>
            <a:xfrm>
              <a:off x="5931490" y="4423906"/>
              <a:ext cx="892456" cy="159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Források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31490" y="4583640"/>
              <a:ext cx="892456" cy="159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kikapcsolása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331292" y="4428668"/>
            <a:ext cx="578167" cy="319553"/>
            <a:chOff x="7331292" y="4423906"/>
            <a:chExt cx="578167" cy="319553"/>
          </a:xfrm>
        </p:grpSpPr>
        <p:sp>
          <p:nvSpPr>
            <p:cNvPr id="43" name="TextBox 42"/>
            <p:cNvSpPr txBox="1"/>
            <p:nvPr/>
          </p:nvSpPr>
          <p:spPr>
            <a:xfrm>
              <a:off x="7287930" y="4423906"/>
              <a:ext cx="664892" cy="1597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Lineáris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87930" y="4583640"/>
              <a:ext cx="664892" cy="159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494B45"/>
                  </a:solidFill>
                  <a:latin typeface="Roboto"/>
                </a:rPr>
                <a:t>hálózatok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228600" y="483389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676C63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Thévenin-tétel</dc:title>
  <cp:lastModifiedBy/>
  <cp:revision>1</cp:revision>
  <dcterms:modified xsi:type="dcterms:W3CDTF">2026-10-03T03:30:58Z</dcterms:modified>
  <dcterms:created xsi:type="dcterms:W3CDTF">2026-10-03T03:30:58Z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