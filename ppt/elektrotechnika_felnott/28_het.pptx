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28. hét • Háromfázisú fogyasztók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10972800" cy="448056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2860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  <a:latin typeface="Aptos"/>
              </a:defRPr>
            </a:pPr>
            <a:r>
              <a:t>Szimmetrikus és aszimmetrikus terhelés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  <a:latin typeface="Aptos"/>
              </a:defRPr>
            </a:pPr>
            <a:r>
              <a:t>A nullavezető szerepe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  <a:latin typeface="Aptos"/>
              </a:defRPr>
            </a:pPr>
            <a:r>
              <a:t>Háromfázisú teljesítmény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CDE6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Kapcsolódás a 27. héthez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10972800" cy="448056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2860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  <a:latin typeface="Aptos"/>
              </a:defRPr>
            </a:pPr>
            <a:r>
              <a:t>Csillag: Uv = √3 · Uf, Iv = If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  <a:latin typeface="Aptos"/>
              </a:defRPr>
            </a:pPr>
            <a:r>
              <a:t>Delta: Uv = Uf, Iv = √3 · If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  <a:latin typeface="Aptos"/>
              </a:defRPr>
            </a:pPr>
            <a:r>
              <a:t>Most a teljesítményt és a terheléselosztást vizsgáljuk.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CDE6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Háromfázisú aktív teljesítmény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10972800" cy="448056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2860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  <a:latin typeface="Aptos"/>
              </a:defRPr>
            </a:pPr>
            <a:r>
              <a:t>Szimmetrikus terhelésnél a három fázis együtt számítható.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  <a:latin typeface="Aptos"/>
              </a:defRPr>
            </a:pPr>
            <a:r>
              <a:t>Uv: vonali feszültség • Iv: vonali áram • cos φ: teljesítménytényező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16636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0D47A1"/>
                </a:solidFill>
              </a:defRPr>
            </a:pPr>
            <a:r>
              <a:t>P = √3 · Uv · Iv · cos 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CDE6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Számítási példa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10972800" cy="448056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2860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  <a:latin typeface="Aptos"/>
              </a:defRPr>
            </a:pPr>
            <a:r>
              <a:t>Uv = 400 V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  <a:latin typeface="Aptos"/>
              </a:defRPr>
            </a:pPr>
            <a:r>
              <a:t>Iv = 10 A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  <a:latin typeface="Aptos"/>
              </a:defRPr>
            </a:pPr>
            <a:r>
              <a:t>cos φ = 0,8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  <a:latin typeface="Aptos"/>
              </a:defRPr>
            </a:pPr>
            <a:r>
              <a:t>P ≈ 5,54 kW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16636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0D47A1"/>
                </a:solidFill>
              </a:defRPr>
            </a:pPr>
            <a:r>
              <a:t>1,732 × 400 × 10 × 0,8 ≈ 5543 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CDE6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Szimmetrikus terhelés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10972800" cy="448056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2860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  <a:latin typeface="Aptos"/>
              </a:defRPr>
            </a:pPr>
            <a:r>
              <a:t>A három fázis impedanciája azonos.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  <a:latin typeface="Aptos"/>
              </a:defRPr>
            </a:pPr>
            <a:r>
              <a:t>A fázisáramok azonos nagyságúak és 120°-kal eltoltak.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  <a:latin typeface="Aptos"/>
              </a:defRPr>
            </a:pPr>
            <a:r>
              <a:t>Ideális esetben a nullavezető árama 0 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CDE6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Aszimmetrikus terhelés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10972800" cy="448056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2860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  <a:latin typeface="Aptos"/>
              </a:defRPr>
            </a:pPr>
            <a:r>
              <a:t>Az egyfázisú fogyasztók nem egyformán terhelik L1, L2 és L3 fázist.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  <a:latin typeface="Aptos"/>
              </a:defRPr>
            </a:pPr>
            <a:r>
              <a:t>A fázisáramok vektori összege nem nulla.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  <a:latin typeface="Aptos"/>
              </a:defRPr>
            </a:pPr>
            <a:r>
              <a:t>A nullavezetőn áram folyik.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CDE6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Miért fontos a terheléselosztás?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10972800" cy="448056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2860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  <a:latin typeface="Aptos"/>
              </a:defRPr>
            </a:pPr>
            <a:r>
              <a:t>Kisebb egyoldalú vezeték- és transzformátorterhelés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  <a:latin typeface="Aptos"/>
              </a:defRPr>
            </a:pPr>
            <a:r>
              <a:t>Kisebb feszültség-aszimmetria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  <a:latin typeface="Aptos"/>
              </a:defRPr>
            </a:pPr>
            <a:r>
              <a:t>Kedvezőbb hálózati üzemállapot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CDE6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A nullavezető szerepe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10972800" cy="448056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2860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  <a:latin typeface="Aptos"/>
              </a:defRPr>
            </a:pPr>
            <a:r>
              <a:t>Az egyfázisú fogyasztók visszavezetési útja.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  <a:latin typeface="Aptos"/>
              </a:defRPr>
            </a:pPr>
            <a:r>
              <a:t>Aszimmetrikus terhelésnél különösen fontos.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  <a:latin typeface="Aptos"/>
              </a:defRPr>
            </a:pPr>
            <a:r>
              <a:t>Megszakadása veszélyes feszültségeltolódást okozhat.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CDE6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Gyakorlati példa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10972800" cy="448056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2860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  <a:latin typeface="Aptos"/>
              </a:defRPr>
            </a:pPr>
            <a:r>
              <a:t>L1 = 14 A • L2 = 7 A • L3 = 10 A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  <a:latin typeface="Aptos"/>
              </a:defRPr>
            </a:pPr>
            <a:r>
              <a:t>Új fogyasztó: 5 A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  <a:latin typeface="Aptos"/>
              </a:defRPr>
            </a:pPr>
            <a:r>
              <a:t>Első közelítésben L2-re célszerű kapcsolni a jobb elosztásért.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CDE6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Fontos megjegyzés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10972800" cy="448056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2860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  <a:latin typeface="Aptos"/>
              </a:defRPr>
            </a:pPr>
            <a:r>
              <a:t>A nullavezető árama nem a három fázisáram egyszerű számtani összege.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  <a:latin typeface="Aptos"/>
              </a:defRPr>
            </a:pPr>
            <a:r>
              <a:t>A 120°-os fáziseltolás miatt vektori összegzés szükséges.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CDE6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Összefoglalás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10972800" cy="448056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2860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  <a:latin typeface="Aptos"/>
              </a:defRPr>
            </a:pPr>
            <a:r>
              <a:t>Szimmetrikus: azonos fázisterhelések, ideális IN = 0.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  <a:latin typeface="Aptos"/>
              </a:defRPr>
            </a:pPr>
            <a:r>
              <a:t>Aszimmetrikus: eltérő fázisterhelések, IN ≠ 0 lehet.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  <a:latin typeface="Aptos"/>
              </a:defRPr>
            </a:pPr>
            <a:r>
              <a:t>A fogyasztók ésszerű fáziselosztása fontos.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CDE6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IAP-kihívás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10972800" cy="448056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2860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  <a:latin typeface="Aptos"/>
              </a:defRPr>
            </a:pPr>
            <a:r>
              <a:t>Uv = 400 V • Iv = 16 A • cos φ = 0,90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  <a:latin typeface="Aptos"/>
              </a:defRPr>
            </a:pPr>
            <a:r>
              <a:t>Számítsd ki az aktív teljesítményt!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  <a:latin typeface="Aptos"/>
              </a:defRPr>
            </a:pPr>
            <a:r>
              <a:t>Eredmény: ≈ 9,98 kW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16636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0D47A1"/>
                </a:solidFill>
              </a:defRPr>
            </a:pPr>
            <a:r>
              <a:t>P = √3 · 400 · 16 · 0,90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CDE6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