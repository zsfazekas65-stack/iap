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2. hét • Kétpólusok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17089"/>
                </a:solidFill>
                <a:latin typeface="DejaVu Sans"/>
              </a:defRPr>
            </a:pPr>
            <a:r>
              <a:t>Felnőtt oktatás – Elektrotechnika • 3 óra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6583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76D2"/>
                </a:solidFill>
                <a:latin typeface="DejaVu Sans"/>
              </a:defRPr>
            </a:pPr>
            <a:r>
              <a:t>Aktív és passzív kétpólusok</a:t>
            </a:r>
            <a:br/>
            <a:r>
              <a:t>Jelleggörbék • munkapont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737360"/>
            <a:ext cx="3749039" cy="20116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8" y="1901952"/>
            <a:ext cx="334670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IAP cél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8" y="2377439"/>
            <a:ext cx="3346703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A két kapocs mögött meglátni a villamos viselkedést.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977639"/>
            <a:ext cx="3749039" cy="1280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8" y="4142231"/>
            <a:ext cx="334670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Kulcsszavak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8" y="4617720"/>
            <a:ext cx="334670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U • I • aktív • passzív • lineáris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Mi az a kétpólus?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7472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27632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Két kapocs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03120"/>
            <a:ext cx="3072384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A külvilághoz két villamos kapoccsal csatlakozó elem vagy hálózatrész.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627632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Kapocsjellemzők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103120"/>
            <a:ext cx="3072384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A két kapocs között feszültséget mérünk, a kétpóluson áram folyhat.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47472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627632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Egységes szemlélet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103120"/>
            <a:ext cx="3072384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Ellenállás, fogyasztó, tápegység vagy akkumulátor kívülről ugyanígy vizsgálható.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Aktív vagy passzív?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73351"/>
            <a:ext cx="48097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AKTÍV KÉTPÓLUS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48839"/>
            <a:ext cx="4809744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A vizsgált üzemállapotban képes energiát szolgáltatni.</a:t>
            </a:r>
            <a:br/>
            <a:br/>
            <a:r>
              <a:t>Példa: tápegység, generátor, kisütő akkumulátor.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1208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673351"/>
            <a:ext cx="48097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PASSZÍV KÉTPÓLUS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148839"/>
            <a:ext cx="4809744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Nem termel nettó villamos energiát.</a:t>
            </a:r>
            <a:br/>
            <a:br/>
            <a:r>
              <a:t>Példa: ellenállás; a C és L energiát tárolhat és visszaadhat.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A jelleggörbe az elem „névjegye”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76D2"/>
                </a:solidFill>
                <a:latin typeface="DejaVu Sans"/>
              </a:defRPr>
            </a:pPr>
            <a:r>
              <a:t>U = R · 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23160"/>
            <a:ext cx="3474720" cy="24688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587752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Lineáris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063239"/>
            <a:ext cx="3072384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Ohmos ellenállásnál az U–I kapcsolat egyenes.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423160"/>
            <a:ext cx="3474720" cy="24688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587752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Nemlineáris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063239"/>
            <a:ext cx="3072384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A feszültség és áram aránya nem állandó.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423160"/>
            <a:ext cx="3474720" cy="24688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2587752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Figyelem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3063239"/>
            <a:ext cx="3072384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A meredekség értelmezése függ attól, melyik mennyiség van a tengelyeken.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Referenciairányok nélkül nincs biztos értelmezés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19072"/>
            <a:ext cx="471830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Feszültség polaritása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94560"/>
            <a:ext cx="4718303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Jelöld egyértelműen, melyik kapocs a pozitív referencia.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719072"/>
            <a:ext cx="4718303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Áram referenciairánya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194560"/>
            <a:ext cx="4718303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Az előjel a választott iránytól függ. Előbb rögzítsd az irányt, utána értelmezd a görbét.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Munkapont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76D2"/>
                </a:solidFill>
                <a:latin typeface="DejaVu Sans"/>
              </a:defRPr>
            </a:pPr>
            <a:r>
              <a:t>Forrás + terhelés → közös üzemi állapot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329184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587752"/>
            <a:ext cx="28895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1. Forrás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63239"/>
            <a:ext cx="2889504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Meghatározza, milyen U–I viselkedést tud biztosítani.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423160"/>
            <a:ext cx="329184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587752"/>
            <a:ext cx="28895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2. Terhelés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3063239"/>
            <a:ext cx="2889504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Saját U–I kapcsolatával terheli a forrást.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423160"/>
            <a:ext cx="329184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2587752"/>
            <a:ext cx="28895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3. Munkapont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3063239"/>
            <a:ext cx="2889504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A két viselkedés közös, tényleges üzemi pontja.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Gyors számítás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76D2"/>
                </a:solidFill>
                <a:latin typeface="DejaVu Sans"/>
              </a:defRPr>
            </a:pPr>
            <a:r>
              <a:t>12 V → 120 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383280" cy="2103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404872"/>
            <a:ext cx="29809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Áram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80360"/>
            <a:ext cx="2980944" cy="1353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I = U/R = 12/120 = 0,10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40280"/>
            <a:ext cx="3383280" cy="2103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404872"/>
            <a:ext cx="29809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Teljesítmény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880360"/>
            <a:ext cx="2980944" cy="1353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P = U·I = 12·0,10 = 1,2 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40280"/>
            <a:ext cx="3383280" cy="21031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404872"/>
            <a:ext cx="29809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Értelmezés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880360"/>
            <a:ext cx="2980944" cy="1353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A forrás aktív, az ellenállás passzív kétpólus.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Mérési gyakorlat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81912"/>
            <a:ext cx="29809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Mérj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2980944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Több feszültségértéknél jegyezd fel az U és I értékét.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581912"/>
            <a:ext cx="29809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Számolj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57400"/>
            <a:ext cx="2980944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Minden pontban számíts R = U/I értéket.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581912"/>
            <a:ext cx="29809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Ábrázolj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57400"/>
            <a:ext cx="2980944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Rajzold fel a pontokat. Egyenes? Közel állandó 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3840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76D2"/>
                </a:solidFill>
                <a:latin typeface="DejaVu Sans"/>
              </a:defRPr>
            </a:pPr>
            <a:r>
              <a:t>6 V → 50 mA</a:t>
            </a:r>
            <a:br/>
            <a:r>
              <a:t>12 V → 100 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658368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6048" y="1536192"/>
            <a:ext cx="61813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76D2"/>
                </a:solidFill>
                <a:latin typeface="DejaVu Sans"/>
              </a:defRPr>
            </a:pPr>
            <a:r>
              <a:t>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6048" y="2011680"/>
            <a:ext cx="6181344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3A5A"/>
                </a:solidFill>
                <a:latin typeface="DejaVu Sans"/>
              </a:defRPr>
            </a:pPr>
            <a:r>
              <a:t>Döntsd el, lineárisnak tekinthető-e a kétpólus.</a:t>
            </a:r>
            <a:br/>
            <a:r>
              <a:t>Számítsd ki az ellenállását.</a:t>
            </a:r>
            <a:br/>
            <a:r>
              <a:t>Indokold: melyik elem aktív és melyik passzív?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61A30"/>
                </a:solidFill>
                <a:latin typeface="DejaVu San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