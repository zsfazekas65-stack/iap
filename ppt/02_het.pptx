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304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82880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Aptos"/>
              </a:defRPr>
            </a:pPr>
            <a:r>
              <a:t>IAP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024128"/>
            <a:ext cx="640080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Aptos"/>
              </a:defRPr>
            </a:pPr>
            <a:r>
              <a:t>11. évfolyam • Analóg áramkörök • ANA-002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691640"/>
            <a:ext cx="6949440" cy="1371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Aptos"/>
              </a:defRPr>
            </a:pPr>
            <a:r>
              <a:t>A DIÓDA GYAKORLATI</a:t>
            </a:r>
            <a:br/>
            <a:r>
              <a:t>ALKALMAZÁSAI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4160520"/>
            <a:ext cx="713232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700" b="0">
                <a:solidFill>
                  <a:srgbClr val="B4DCF2"/>
                </a:solidFill>
                <a:latin typeface="Aptos"/>
              </a:defRPr>
            </a:pPr>
            <a:r>
              <a:t>egyenirányítás • Zener • LED • mérés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8321040" y="2834640"/>
            <a:ext cx="1005840" cy="0"/>
          </a:xfrm>
          <a:prstGeom prst="line">
            <a:avLst/>
          </a:prstGeom>
          <a:ln w="635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0058400" y="2834640"/>
            <a:ext cx="1005840" cy="0"/>
          </a:xfrm>
          <a:prstGeom prst="line">
            <a:avLst/>
          </a:prstGeom>
          <a:ln w="635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9326880" y="2240280"/>
            <a:ext cx="0" cy="1188720"/>
          </a:xfrm>
          <a:prstGeom prst="line">
            <a:avLst/>
          </a:prstGeom>
          <a:ln w="63500">
            <a:solidFill>
              <a:srgbClr val="D48B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9326880" y="2240280"/>
            <a:ext cx="731520" cy="594360"/>
          </a:xfrm>
          <a:prstGeom prst="line">
            <a:avLst/>
          </a:prstGeom>
          <a:ln w="63500">
            <a:solidFill>
              <a:srgbClr val="D48B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V="1">
            <a:off x="9326880" y="2834640"/>
            <a:ext cx="731520" cy="594360"/>
          </a:xfrm>
          <a:prstGeom prst="line">
            <a:avLst/>
          </a:prstGeom>
          <a:ln w="63500">
            <a:solidFill>
              <a:srgbClr val="D48B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10058400" y="2194560"/>
            <a:ext cx="0" cy="1280160"/>
          </a:xfrm>
          <a:prstGeom prst="line">
            <a:avLst/>
          </a:prstGeom>
          <a:ln w="635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500" b="1">
                <a:solidFill>
                  <a:srgbClr val="13304E"/>
                </a:solidFill>
                <a:latin typeface="Aptos"/>
              </a:defRPr>
            </a:pPr>
            <a:r>
              <a:t>Az elektronika történetéből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41248"/>
            <a:ext cx="10698480" cy="3108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5E7180"/>
                </a:solidFill>
                <a:latin typeface="Aptos"/>
              </a:defRPr>
            </a:pPr>
            <a:r>
              <a:t>A dióda szinte minden tápegységben és elektronikus készülékben jelen van.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73952"/>
            <a:ext cx="27432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3304E"/>
                </a:solidFill>
                <a:latin typeface="Aptos"/>
              </a:defRPr>
            </a:pPr>
            <a:r>
              <a:t>IAP • ANA-002 • 2.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46520"/>
            <a:ext cx="45720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5E7180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600200"/>
            <a:ext cx="3246120" cy="301752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240280"/>
            <a:ext cx="2880360" cy="10972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000" b="1">
                <a:solidFill>
                  <a:srgbClr val="2A74B2"/>
                </a:solidFill>
                <a:latin typeface="Aptos"/>
              </a:defRPr>
            </a:pPr>
            <a:r>
              <a:t>TÁPEGYSÉG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80560" y="1600200"/>
            <a:ext cx="3246120" cy="301752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63440" y="2240280"/>
            <a:ext cx="2880360" cy="10972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000" b="1">
                <a:solidFill>
                  <a:srgbClr val="D48B37"/>
                </a:solidFill>
                <a:latin typeface="Aptos"/>
              </a:defRPr>
            </a:pPr>
            <a:r>
              <a:t>IPARI</a:t>
            </a:r>
            <a:br/>
            <a:r>
              <a:t>VEZÉRLÉS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75320" y="1600200"/>
            <a:ext cx="3246120" cy="301752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58200" y="2240280"/>
            <a:ext cx="2880360" cy="10972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000" b="1">
                <a:solidFill>
                  <a:srgbClr val="498B6A"/>
                </a:solidFill>
                <a:latin typeface="Aptos"/>
              </a:defRPr>
            </a:pPr>
            <a:r>
              <a:t>ELEKTRONIKUS</a:t>
            </a:r>
            <a:br/>
            <a:r>
              <a:t>KÉSZÜLÉK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500" b="1">
                <a:solidFill>
                  <a:srgbClr val="13304E"/>
                </a:solidFill>
                <a:latin typeface="Aptos"/>
              </a:defRPr>
            </a:pPr>
            <a:r>
              <a:t>Gondolkodj el!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41248"/>
            <a:ext cx="10698480" cy="3108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5E7180"/>
                </a:solidFill>
                <a:latin typeface="Aptos"/>
              </a:defRPr>
            </a:pPr>
            <a:r>
              <a:t>Mi történne egy tápegységgel, ha nem tartalmazna egyetlen diódát sem?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73952"/>
            <a:ext cx="27432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3304E"/>
                </a:solidFill>
                <a:latin typeface="Aptos"/>
              </a:defRPr>
            </a:pPr>
            <a:r>
              <a:t>IAP • ANA-002 • 2.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46520"/>
            <a:ext cx="45720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5E7180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17320"/>
            <a:ext cx="4846320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81912"/>
            <a:ext cx="4480559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2A74B2"/>
                </a:solidFill>
                <a:latin typeface="Aptos"/>
              </a:defRPr>
            </a:pPr>
            <a:r>
              <a:t>VÁLTAKOZÓ FESZÜLTSÉG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103120"/>
            <a:ext cx="4389120" cy="2606039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1F2D39"/>
                </a:solidFill>
                <a:latin typeface="Aptos"/>
              </a:defRPr>
            </a:pPr>
            <a:r>
              <a:t>AC bemenet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0" y="1417320"/>
            <a:ext cx="4846320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766560" y="1581912"/>
            <a:ext cx="4480559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D48B37"/>
                </a:solidFill>
                <a:latin typeface="Aptos"/>
              </a:defRPr>
            </a:pPr>
            <a:r>
              <a:t>EGYENFESZÜLTSÉG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12280" y="2103120"/>
            <a:ext cx="4389120" cy="2606039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1F2D39"/>
                </a:solidFill>
                <a:latin typeface="Aptos"/>
              </a:defRPr>
            </a:pPr>
            <a:r>
              <a:t>DC kimenethez</a:t>
            </a:r>
            <a:br/>
            <a:r>
              <a:t>egyenirányítás kell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500" b="1">
                <a:solidFill>
                  <a:srgbClr val="13304E"/>
                </a:solidFill>
                <a:latin typeface="Aptos"/>
              </a:defRPr>
            </a:pPr>
            <a:r>
              <a:t>A hét három fő diódája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41248"/>
            <a:ext cx="10698480" cy="3108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5E7180"/>
                </a:solidFill>
                <a:latin typeface="Aptos"/>
              </a:defRPr>
            </a:pPr>
            <a:r>
              <a:t>Egyenirányító • Zener • LED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73952"/>
            <a:ext cx="27432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3304E"/>
                </a:solidFill>
                <a:latin typeface="Aptos"/>
              </a:defRPr>
            </a:pPr>
            <a:r>
              <a:t>IAP • ANA-002 • 2.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46520"/>
            <a:ext cx="45720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5E7180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508760"/>
            <a:ext cx="3246120" cy="329184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673351"/>
            <a:ext cx="288036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2A74B2"/>
                </a:solidFill>
                <a:latin typeface="Aptos"/>
              </a:defRPr>
            </a:pPr>
            <a:r>
              <a:t>EGYENIRÁNYÍTÓ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194560"/>
            <a:ext cx="2788920" cy="24231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1F2D39"/>
                </a:solidFill>
                <a:latin typeface="Aptos"/>
              </a:defRPr>
            </a:pPr>
            <a:r>
              <a:t>AC → DC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60" y="1508760"/>
            <a:ext cx="3246120" cy="329184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63440" y="1673351"/>
            <a:ext cx="288036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D48B37"/>
                </a:solidFill>
                <a:latin typeface="Aptos"/>
              </a:defRPr>
            </a:pPr>
            <a:r>
              <a:t>ZENER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09160" y="2194560"/>
            <a:ext cx="2788920" cy="24231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1F2D39"/>
                </a:solidFill>
                <a:latin typeface="Aptos"/>
              </a:defRPr>
            </a:pPr>
            <a:r>
              <a:t>referencia és</a:t>
            </a:r>
            <a:br/>
            <a:r>
              <a:t>stabilizálás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75320" y="1508760"/>
            <a:ext cx="3246120" cy="329184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58200" y="1673351"/>
            <a:ext cx="288036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498B6A"/>
                </a:solidFill>
                <a:latin typeface="Aptos"/>
              </a:defRPr>
            </a:pPr>
            <a:r>
              <a:t>LED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20" y="2194560"/>
            <a:ext cx="2788920" cy="24231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1F2D39"/>
                </a:solidFill>
                <a:latin typeface="Aptos"/>
              </a:defRPr>
            </a:pPr>
            <a:r>
              <a:t>kijelzés és</a:t>
            </a:r>
            <a:br/>
            <a:r>
              <a:t>optikai jelátvitel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500" b="1">
                <a:solidFill>
                  <a:srgbClr val="13304E"/>
                </a:solidFill>
                <a:latin typeface="Aptos"/>
              </a:defRPr>
            </a:pPr>
            <a:r>
              <a:t>1. tanóra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41248"/>
            <a:ext cx="10698480" cy="3108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5E7180"/>
                </a:solidFill>
                <a:latin typeface="Aptos"/>
              </a:defRPr>
            </a:pPr>
            <a:r>
              <a:t>Félhullámú és Graetz-egyenirányító, polaritásvédelem.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73952"/>
            <a:ext cx="27432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3304E"/>
                </a:solidFill>
                <a:latin typeface="Aptos"/>
              </a:defRPr>
            </a:pPr>
            <a:r>
              <a:t>IAP • ANA-002 • 2.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46520"/>
            <a:ext cx="45720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5E7180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600200"/>
            <a:ext cx="3246120" cy="301752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240280"/>
            <a:ext cx="2880360" cy="10972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900" b="1">
                <a:solidFill>
                  <a:srgbClr val="2A74B2"/>
                </a:solidFill>
                <a:latin typeface="Aptos"/>
              </a:defRPr>
            </a:pPr>
            <a:r>
              <a:t>FÉLHULLÁMÚ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80560" y="1600200"/>
            <a:ext cx="3246120" cy="301752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63440" y="2240280"/>
            <a:ext cx="2880360" cy="10972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900" b="1">
                <a:solidFill>
                  <a:srgbClr val="D48B37"/>
                </a:solidFill>
                <a:latin typeface="Aptos"/>
              </a:defRPr>
            </a:pPr>
            <a:r>
              <a:t>GRAETZ-HÍD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75320" y="1600200"/>
            <a:ext cx="3246120" cy="301752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58200" y="2240280"/>
            <a:ext cx="2880360" cy="10972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900" b="1">
                <a:solidFill>
                  <a:srgbClr val="498B6A"/>
                </a:solidFill>
                <a:latin typeface="Aptos"/>
              </a:defRPr>
            </a:pPr>
            <a:r>
              <a:t>POLARITÁS-</a:t>
            </a:r>
            <a:br/>
            <a:r>
              <a:t>VÉDELEM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500" b="1">
                <a:solidFill>
                  <a:srgbClr val="13304E"/>
                </a:solidFill>
                <a:latin typeface="Aptos"/>
              </a:defRPr>
            </a:pPr>
            <a:r>
              <a:t>Mit mutat az oszcilloszkóp?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41248"/>
            <a:ext cx="10698480" cy="3108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5E7180"/>
                </a:solidFill>
                <a:latin typeface="Aptos"/>
              </a:defRPr>
            </a:pPr>
            <a:r>
              <a:t>AC, félhullámú és teljeshullámú egyenirányítás.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73952"/>
            <a:ext cx="27432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3304E"/>
                </a:solidFill>
                <a:latin typeface="Aptos"/>
              </a:defRPr>
            </a:pPr>
            <a:r>
              <a:t>IAP • ANA-002 • 2.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46520"/>
            <a:ext cx="45720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5E7180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417320"/>
            <a:ext cx="3383280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600200"/>
            <a:ext cx="301752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700" b="1">
                <a:solidFill>
                  <a:srgbClr val="2A74B2"/>
                </a:solidFill>
                <a:latin typeface="Aptos"/>
              </a:defRPr>
            </a:pPr>
            <a:r>
              <a:t>AC</a:t>
            </a:r>
          </a:p>
        </p:txBody>
      </p:sp>
      <p:cxnSp>
        <p:nvCxnSpPr>
          <p:cNvPr id="8" name="Connector 7"/>
          <p:cNvCxnSpPr/>
          <p:nvPr/>
        </p:nvCxnSpPr>
        <p:spPr>
          <a:xfrm flipV="1">
            <a:off x="822960" y="2514600"/>
            <a:ext cx="338328" cy="731520"/>
          </a:xfrm>
          <a:prstGeom prst="line">
            <a:avLst/>
          </a:prstGeom>
          <a:ln w="50800">
            <a:solidFill>
              <a:srgbClr val="2A74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1161288" y="2514600"/>
            <a:ext cx="338328" cy="731520"/>
          </a:xfrm>
          <a:prstGeom prst="line">
            <a:avLst/>
          </a:prstGeom>
          <a:ln w="50800">
            <a:solidFill>
              <a:srgbClr val="2A74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1499616" y="3246120"/>
            <a:ext cx="338327" cy="731519"/>
          </a:xfrm>
          <a:prstGeom prst="line">
            <a:avLst/>
          </a:prstGeom>
          <a:ln w="50800">
            <a:solidFill>
              <a:srgbClr val="2A74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1837943" y="3246120"/>
            <a:ext cx="338329" cy="731519"/>
          </a:xfrm>
          <a:prstGeom prst="line">
            <a:avLst/>
          </a:prstGeom>
          <a:ln w="50800">
            <a:solidFill>
              <a:srgbClr val="2A74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2176272" y="2514600"/>
            <a:ext cx="338328" cy="731520"/>
          </a:xfrm>
          <a:prstGeom prst="line">
            <a:avLst/>
          </a:prstGeom>
          <a:ln w="50800">
            <a:solidFill>
              <a:srgbClr val="2A74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2514600" y="2514600"/>
            <a:ext cx="338327" cy="731519"/>
          </a:xfrm>
          <a:prstGeom prst="line">
            <a:avLst/>
          </a:prstGeom>
          <a:ln w="50800">
            <a:solidFill>
              <a:srgbClr val="2A74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2852927" y="3246119"/>
            <a:ext cx="338329" cy="731520"/>
          </a:xfrm>
          <a:prstGeom prst="line">
            <a:avLst/>
          </a:prstGeom>
          <a:ln w="50800">
            <a:solidFill>
              <a:srgbClr val="2A74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3191256" y="3246120"/>
            <a:ext cx="338328" cy="731519"/>
          </a:xfrm>
          <a:prstGeom prst="line">
            <a:avLst/>
          </a:prstGeom>
          <a:ln w="50800">
            <a:solidFill>
              <a:srgbClr val="2A74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4343400" y="1417320"/>
            <a:ext cx="3383280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26280" y="1600200"/>
            <a:ext cx="301752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700" b="1">
                <a:solidFill>
                  <a:srgbClr val="D48B37"/>
                </a:solidFill>
                <a:latin typeface="Aptos"/>
              </a:defRPr>
            </a:pPr>
            <a:r>
              <a:t>FÉLHULLÁM</a:t>
            </a:r>
          </a:p>
        </p:txBody>
      </p:sp>
      <p:cxnSp>
        <p:nvCxnSpPr>
          <p:cNvPr id="18" name="Connector 17"/>
          <p:cNvCxnSpPr/>
          <p:nvPr/>
        </p:nvCxnSpPr>
        <p:spPr>
          <a:xfrm flipV="1">
            <a:off x="4663440" y="2514600"/>
            <a:ext cx="338328" cy="731520"/>
          </a:xfrm>
          <a:prstGeom prst="line">
            <a:avLst/>
          </a:prstGeom>
          <a:ln w="50800">
            <a:solidFill>
              <a:srgbClr val="D48B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5001768" y="2514600"/>
            <a:ext cx="338328" cy="731520"/>
          </a:xfrm>
          <a:prstGeom prst="line">
            <a:avLst/>
          </a:prstGeom>
          <a:ln w="50800">
            <a:solidFill>
              <a:srgbClr val="D48B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5340096" y="3246120"/>
            <a:ext cx="338327" cy="0"/>
          </a:xfrm>
          <a:prstGeom prst="line">
            <a:avLst/>
          </a:prstGeom>
          <a:ln w="50800">
            <a:solidFill>
              <a:srgbClr val="D48B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678423" y="3246120"/>
            <a:ext cx="338329" cy="0"/>
          </a:xfrm>
          <a:prstGeom prst="line">
            <a:avLst/>
          </a:prstGeom>
          <a:ln w="50800">
            <a:solidFill>
              <a:srgbClr val="D48B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6016752" y="2514600"/>
            <a:ext cx="338327" cy="731520"/>
          </a:xfrm>
          <a:prstGeom prst="line">
            <a:avLst/>
          </a:prstGeom>
          <a:ln w="50800">
            <a:solidFill>
              <a:srgbClr val="D48B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6355079" y="2514600"/>
            <a:ext cx="338328" cy="731519"/>
          </a:xfrm>
          <a:prstGeom prst="line">
            <a:avLst/>
          </a:prstGeom>
          <a:ln w="50800">
            <a:solidFill>
              <a:srgbClr val="D48B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6693407" y="3246119"/>
            <a:ext cx="338329" cy="1"/>
          </a:xfrm>
          <a:prstGeom prst="line">
            <a:avLst/>
          </a:prstGeom>
          <a:ln w="50800">
            <a:solidFill>
              <a:srgbClr val="D48B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7031736" y="3246120"/>
            <a:ext cx="338327" cy="0"/>
          </a:xfrm>
          <a:prstGeom prst="line">
            <a:avLst/>
          </a:prstGeom>
          <a:ln w="50800">
            <a:solidFill>
              <a:srgbClr val="D48B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8183880" y="1417320"/>
            <a:ext cx="3383280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66760" y="1600200"/>
            <a:ext cx="301752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700" b="1">
                <a:solidFill>
                  <a:srgbClr val="498B6A"/>
                </a:solidFill>
                <a:latin typeface="Aptos"/>
              </a:defRPr>
            </a:pPr>
            <a:r>
              <a:t>TELJES HULLÁM</a:t>
            </a:r>
          </a:p>
        </p:txBody>
      </p:sp>
      <p:cxnSp>
        <p:nvCxnSpPr>
          <p:cNvPr id="28" name="Connector 27"/>
          <p:cNvCxnSpPr/>
          <p:nvPr/>
        </p:nvCxnSpPr>
        <p:spPr>
          <a:xfrm flipV="1">
            <a:off x="8503920" y="2514600"/>
            <a:ext cx="338328" cy="731520"/>
          </a:xfrm>
          <a:prstGeom prst="line">
            <a:avLst/>
          </a:prstGeom>
          <a:ln w="50800">
            <a:solidFill>
              <a:srgbClr val="498B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8842248" y="2514600"/>
            <a:ext cx="338328" cy="731520"/>
          </a:xfrm>
          <a:prstGeom prst="line">
            <a:avLst/>
          </a:prstGeom>
          <a:ln w="50800">
            <a:solidFill>
              <a:srgbClr val="498B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V="1">
            <a:off x="9180576" y="2514600"/>
            <a:ext cx="338328" cy="731520"/>
          </a:xfrm>
          <a:prstGeom prst="line">
            <a:avLst/>
          </a:prstGeom>
          <a:ln w="50800">
            <a:solidFill>
              <a:srgbClr val="498B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9518904" y="2514600"/>
            <a:ext cx="338328" cy="731520"/>
          </a:xfrm>
          <a:prstGeom prst="line">
            <a:avLst/>
          </a:prstGeom>
          <a:ln w="50800">
            <a:solidFill>
              <a:srgbClr val="498B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V="1">
            <a:off x="9857232" y="2514600"/>
            <a:ext cx="338328" cy="731520"/>
          </a:xfrm>
          <a:prstGeom prst="line">
            <a:avLst/>
          </a:prstGeom>
          <a:ln w="50800">
            <a:solidFill>
              <a:srgbClr val="498B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10195560" y="2514600"/>
            <a:ext cx="338328" cy="731519"/>
          </a:xfrm>
          <a:prstGeom prst="line">
            <a:avLst/>
          </a:prstGeom>
          <a:ln w="50800">
            <a:solidFill>
              <a:srgbClr val="498B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 flipV="1">
            <a:off x="10533888" y="2514600"/>
            <a:ext cx="338328" cy="731519"/>
          </a:xfrm>
          <a:prstGeom prst="line">
            <a:avLst/>
          </a:prstGeom>
          <a:ln w="50800">
            <a:solidFill>
              <a:srgbClr val="498B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10872216" y="2514600"/>
            <a:ext cx="338328" cy="731519"/>
          </a:xfrm>
          <a:prstGeom prst="line">
            <a:avLst/>
          </a:prstGeom>
          <a:ln w="50800">
            <a:solidFill>
              <a:srgbClr val="498B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500" b="1">
                <a:solidFill>
                  <a:srgbClr val="13304E"/>
                </a:solidFill>
                <a:latin typeface="Aptos"/>
              </a:defRPr>
            </a:pPr>
            <a:r>
              <a:t>Pufferkondenzátor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41248"/>
            <a:ext cx="10698480" cy="3108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5E7180"/>
                </a:solidFill>
                <a:latin typeface="Aptos"/>
              </a:defRPr>
            </a:pPr>
            <a:r>
              <a:t>A kisimító hatás az oszcilloszkópon is látható.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73952"/>
            <a:ext cx="27432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3304E"/>
                </a:solidFill>
                <a:latin typeface="Aptos"/>
              </a:defRPr>
            </a:pPr>
            <a:r>
              <a:t>IAP • ANA-002 • 2.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46520"/>
            <a:ext cx="45720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5E7180"/>
                </a:solidFill>
                <a:latin typeface="Aptos"/>
              </a:defRPr>
            </a:pPr>
            <a:r>
              <a:t>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17320"/>
            <a:ext cx="4846320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81912"/>
            <a:ext cx="4480559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D48B37"/>
                </a:solidFill>
                <a:latin typeface="Aptos"/>
              </a:defRPr>
            </a:pPr>
            <a:r>
              <a:t>PUFFER NÉLKÜL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103120"/>
            <a:ext cx="4389120" cy="2606039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1F2D39"/>
                </a:solidFill>
                <a:latin typeface="Aptos"/>
              </a:defRPr>
            </a:pPr>
            <a:r>
              <a:t>erősen lüktető</a:t>
            </a:r>
            <a:br/>
            <a:r>
              <a:t>egyenfeszültség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0" y="1417320"/>
            <a:ext cx="4846320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766560" y="1581912"/>
            <a:ext cx="4480559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498B6A"/>
                </a:solidFill>
                <a:latin typeface="Aptos"/>
              </a:defRPr>
            </a:pPr>
            <a:r>
              <a:t>PUFFERREL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12280" y="2103120"/>
            <a:ext cx="4389120" cy="2606039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1F2D39"/>
                </a:solidFill>
                <a:latin typeface="Aptos"/>
              </a:defRPr>
            </a:pPr>
            <a:r>
              <a:t>kisebb hullámosság</a:t>
            </a:r>
            <a:br/>
            <a:r>
              <a:t>simább DC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500" b="1">
                <a:solidFill>
                  <a:srgbClr val="13304E"/>
                </a:solidFill>
                <a:latin typeface="Aptos"/>
              </a:defRPr>
            </a:pPr>
            <a:r>
              <a:t>2. tanóra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41248"/>
            <a:ext cx="10698480" cy="3108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5E7180"/>
                </a:solidFill>
                <a:latin typeface="Aptos"/>
              </a:defRPr>
            </a:pPr>
            <a:r>
              <a:t>Zener-diódák és stabilizátorok.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73952"/>
            <a:ext cx="27432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3304E"/>
                </a:solidFill>
                <a:latin typeface="Aptos"/>
              </a:defRPr>
            </a:pPr>
            <a:r>
              <a:t>IAP • ANA-002 • 2.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46520"/>
            <a:ext cx="45720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5E7180"/>
                </a:solidFill>
                <a:latin typeface="Aptos"/>
              </a:defRPr>
            </a:pPr>
            <a:r>
              <a:t>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17320"/>
            <a:ext cx="4846320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81912"/>
            <a:ext cx="4480559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2A74B2"/>
                </a:solidFill>
                <a:latin typeface="Aptos"/>
              </a:defRPr>
            </a:pPr>
            <a:r>
              <a:t>ZENER-DIÓDA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103120"/>
            <a:ext cx="4389120" cy="2606039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1F2D39"/>
                </a:solidFill>
                <a:latin typeface="Aptos"/>
              </a:defRPr>
            </a:pPr>
            <a:r>
              <a:t>referencia-</a:t>
            </a:r>
            <a:br/>
            <a:r>
              <a:t>és stabilizáló dióda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0" y="1417320"/>
            <a:ext cx="4846320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766560" y="1581912"/>
            <a:ext cx="4480559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D48B37"/>
                </a:solidFill>
                <a:latin typeface="Aptos"/>
              </a:defRPr>
            </a:pPr>
            <a:r>
              <a:t>STABILIZÁTOR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12280" y="2103120"/>
            <a:ext cx="4389120" cy="2606039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1F2D39"/>
                </a:solidFill>
                <a:latin typeface="Aptos"/>
              </a:defRPr>
            </a:pPr>
            <a:r>
              <a:t>egyszerű kapcsolás</a:t>
            </a:r>
            <a:br/>
            <a:r>
              <a:t>elemzése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500" b="1">
                <a:solidFill>
                  <a:srgbClr val="13304E"/>
                </a:solidFill>
                <a:latin typeface="Aptos"/>
              </a:defRPr>
            </a:pPr>
            <a:r>
              <a:t>3. tanóra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41248"/>
            <a:ext cx="10698480" cy="3108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5E7180"/>
                </a:solidFill>
                <a:latin typeface="Aptos"/>
              </a:defRPr>
            </a:pPr>
            <a:r>
              <a:t>LED-ek, előtétellenállás és ipari alkalmazások.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73952"/>
            <a:ext cx="27432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3304E"/>
                </a:solidFill>
                <a:latin typeface="Aptos"/>
              </a:defRPr>
            </a:pPr>
            <a:r>
              <a:t>IAP • ANA-002 • 2.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46520"/>
            <a:ext cx="45720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5E7180"/>
                </a:solidFill>
                <a:latin typeface="Aptos"/>
              </a:defRPr>
            </a:pPr>
            <a:r>
              <a:t>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600200"/>
            <a:ext cx="3246120" cy="301752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148840"/>
            <a:ext cx="2880360" cy="1234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000" b="1">
                <a:solidFill>
                  <a:srgbClr val="498B6A"/>
                </a:solidFill>
                <a:latin typeface="Aptos"/>
              </a:defRPr>
            </a:pPr>
            <a:r>
              <a:t>LED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80560" y="1600200"/>
            <a:ext cx="3246120" cy="301752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63440" y="2148840"/>
            <a:ext cx="2880360" cy="1234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000" b="1">
                <a:solidFill>
                  <a:srgbClr val="D48B37"/>
                </a:solidFill>
                <a:latin typeface="Aptos"/>
              </a:defRPr>
            </a:pPr>
            <a:r>
              <a:t>ELŐTÉT-</a:t>
            </a:r>
            <a:br/>
            <a:r>
              <a:t>ELLENÁLLÁS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75320" y="1600200"/>
            <a:ext cx="3246120" cy="301752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58200" y="2148840"/>
            <a:ext cx="2880360" cy="1234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000" b="1">
                <a:solidFill>
                  <a:srgbClr val="2A74B2"/>
                </a:solidFill>
                <a:latin typeface="Aptos"/>
              </a:defRPr>
            </a:pPr>
            <a:r>
              <a:t>IPARI</a:t>
            </a:r>
            <a:br/>
            <a:r>
              <a:t>JELZÉS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304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685800"/>
            <a:ext cx="1069848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200" b="1">
                <a:solidFill>
                  <a:srgbClr val="B4DCF2"/>
                </a:solidFill>
                <a:latin typeface="Aptos"/>
              </a:defRPr>
            </a:pPr>
            <a:r>
              <a:t>LED A MŰHELYBEN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965960"/>
            <a:ext cx="3017520" cy="7315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500" b="1">
                <a:solidFill>
                  <a:srgbClr val="FFFFFF"/>
                </a:solidFill>
                <a:latin typeface="Aptos"/>
              </a:defRPr>
            </a:pPr>
            <a:r>
              <a:t>TÁPELLÁTÁS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0" y="1965960"/>
            <a:ext cx="3017520" cy="7315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500" b="1">
                <a:solidFill>
                  <a:srgbClr val="D48B37"/>
                </a:solidFill>
                <a:latin typeface="Aptos"/>
              </a:defRPr>
            </a:pPr>
            <a:r>
              <a:t>ÜZEMÁLLAPOT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1965960"/>
            <a:ext cx="3017520" cy="7315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500" b="1">
                <a:solidFill>
                  <a:srgbClr val="FF8C8C"/>
                </a:solidFill>
                <a:latin typeface="Aptos"/>
              </a:defRPr>
            </a:pPr>
            <a:r>
              <a:t>HIBA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840480"/>
            <a:ext cx="1033272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200" b="1">
                <a:solidFill>
                  <a:srgbClr val="B4DCF2"/>
                </a:solidFill>
                <a:latin typeface="Aptos"/>
              </a:defRPr>
            </a:pPr>
            <a:r>
              <a:t>A LED gyakran diagnosztikai információt ad.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500" b="1">
                <a:solidFill>
                  <a:srgbClr val="13304E"/>
                </a:solidFill>
                <a:latin typeface="Aptos"/>
              </a:defRPr>
            </a:pPr>
            <a:r>
              <a:t>Adatlap a gyakorlatban - 1N4007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41248"/>
            <a:ext cx="10698480" cy="3108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5E7180"/>
                </a:solidFill>
                <a:latin typeface="Aptos"/>
              </a:defRPr>
            </a:pPr>
            <a:r>
              <a:t>Az alkatrész kiválasztása az adatlap tanulmányozásával kezdődik.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73952"/>
            <a:ext cx="27432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3304E"/>
                </a:solidFill>
                <a:latin typeface="Aptos"/>
              </a:defRPr>
            </a:pPr>
            <a:r>
              <a:t>IAP • ANA-002 • 2.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46520"/>
            <a:ext cx="45720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5E7180"/>
                </a:solidFill>
                <a:latin typeface="Aptos"/>
              </a:defRPr>
            </a:pPr>
            <a:r>
              <a:t>11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325880"/>
            <a:ext cx="1060704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325880"/>
            <a:ext cx="1828800" cy="6583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600" b="1">
                <a:solidFill>
                  <a:srgbClr val="2A74B2"/>
                </a:solidFill>
                <a:latin typeface="Aptos"/>
              </a:defRPr>
            </a:pPr>
            <a:r>
              <a:t>VRRM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0" y="1325880"/>
            <a:ext cx="1828800" cy="6583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600" b="1">
                <a:solidFill>
                  <a:srgbClr val="D48B37"/>
                </a:solidFill>
                <a:latin typeface="Aptos"/>
              </a:defRPr>
            </a:pPr>
            <a:r>
              <a:t>1000 V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37760" y="1325880"/>
            <a:ext cx="6035040" cy="6583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500" b="0">
                <a:solidFill>
                  <a:srgbClr val="1F2D39"/>
                </a:solidFill>
                <a:latin typeface="Aptos"/>
              </a:defRPr>
            </a:pPr>
            <a:r>
              <a:t>max. zárófeszültség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2167128"/>
            <a:ext cx="1060704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167128"/>
            <a:ext cx="1828800" cy="6583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600" b="1">
                <a:solidFill>
                  <a:srgbClr val="2A74B2"/>
                </a:solidFill>
                <a:latin typeface="Aptos"/>
              </a:defRPr>
            </a:pPr>
            <a:r>
              <a:t>IF(AV)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26080" y="2167128"/>
            <a:ext cx="1828800" cy="6583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600" b="1">
                <a:solidFill>
                  <a:srgbClr val="D48B37"/>
                </a:solidFill>
                <a:latin typeface="Aptos"/>
              </a:defRPr>
            </a:pPr>
            <a:r>
              <a:t>1 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37760" y="2167128"/>
            <a:ext cx="6035040" cy="6583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500" b="0">
                <a:solidFill>
                  <a:srgbClr val="1F2D39"/>
                </a:solidFill>
                <a:latin typeface="Aptos"/>
              </a:defRPr>
            </a:pPr>
            <a:r>
              <a:t>átlagos áram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3008376"/>
            <a:ext cx="1060704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3008376"/>
            <a:ext cx="1828800" cy="6583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600" b="1">
                <a:solidFill>
                  <a:srgbClr val="2A74B2"/>
                </a:solidFill>
                <a:latin typeface="Aptos"/>
              </a:defRPr>
            </a:pPr>
            <a:r>
              <a:t>IFSM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26080" y="3008376"/>
            <a:ext cx="1828800" cy="6583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600" b="1">
                <a:solidFill>
                  <a:srgbClr val="D48B37"/>
                </a:solidFill>
                <a:latin typeface="Aptos"/>
              </a:defRPr>
            </a:pPr>
            <a:r>
              <a:t>30 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37760" y="3008376"/>
            <a:ext cx="6035040" cy="6583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500" b="0">
                <a:solidFill>
                  <a:srgbClr val="1F2D39"/>
                </a:solidFill>
                <a:latin typeface="Aptos"/>
              </a:defRPr>
            </a:pPr>
            <a:r>
              <a:t>csúcsáram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7240" y="3849624"/>
            <a:ext cx="1060704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3849624"/>
            <a:ext cx="1828800" cy="6583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600" b="1">
                <a:solidFill>
                  <a:srgbClr val="2A74B2"/>
                </a:solidFill>
                <a:latin typeface="Aptos"/>
              </a:defRPr>
            </a:pPr>
            <a:r>
              <a:t>VF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26080" y="3849624"/>
            <a:ext cx="1828800" cy="6583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600" b="1">
                <a:solidFill>
                  <a:srgbClr val="D48B37"/>
                </a:solidFill>
                <a:latin typeface="Aptos"/>
              </a:defRPr>
            </a:pPr>
            <a:r>
              <a:t>≈ 1 V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937760" y="3849624"/>
            <a:ext cx="6035040" cy="6583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500" b="0">
                <a:solidFill>
                  <a:srgbClr val="1F2D39"/>
                </a:solidFill>
                <a:latin typeface="Aptos"/>
              </a:defRPr>
            </a:pPr>
            <a:r>
              <a:t>nyitófeszültség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77240" y="4690872"/>
            <a:ext cx="1060704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0120" y="4690872"/>
            <a:ext cx="1828800" cy="6583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600" b="1">
                <a:solidFill>
                  <a:srgbClr val="2A74B2"/>
                </a:solidFill>
                <a:latin typeface="Aptos"/>
              </a:defRPr>
            </a:pPr>
            <a:r>
              <a:t>TOK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26080" y="4690872"/>
            <a:ext cx="1828800" cy="6583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600" b="1">
                <a:solidFill>
                  <a:srgbClr val="D48B37"/>
                </a:solidFill>
                <a:latin typeface="Aptos"/>
              </a:defRPr>
            </a:pPr>
            <a:r>
              <a:t>DO-41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937760" y="4690872"/>
            <a:ext cx="6035040" cy="6583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500" b="0">
                <a:solidFill>
                  <a:srgbClr val="1F2D39"/>
                </a:solidFill>
                <a:latin typeface="Aptos"/>
              </a:defRPr>
            </a:pPr>
            <a:r>
              <a:t>fizikai kivitel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500" b="1">
                <a:solidFill>
                  <a:srgbClr val="13304E"/>
                </a:solidFill>
                <a:latin typeface="Aptos"/>
              </a:defRPr>
            </a:pPr>
            <a:r>
              <a:t>Labornapló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41248"/>
            <a:ext cx="10698480" cy="3108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5E7180"/>
                </a:solidFill>
                <a:latin typeface="Aptos"/>
              </a:defRPr>
            </a:pPr>
            <a:r>
              <a:t>A diódateszt eredményét értelmezni is kell.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73952"/>
            <a:ext cx="27432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3304E"/>
                </a:solidFill>
                <a:latin typeface="Aptos"/>
              </a:defRPr>
            </a:pPr>
            <a:r>
              <a:t>IAP • ANA-002 • 2.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46520"/>
            <a:ext cx="45720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5E7180"/>
                </a:solidFill>
                <a:latin typeface="Aptos"/>
              </a:defRPr>
            </a:pPr>
            <a:r>
              <a:t>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600200"/>
            <a:ext cx="3246120" cy="301752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764792"/>
            <a:ext cx="288036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2A74B2"/>
                </a:solidFill>
                <a:latin typeface="Aptos"/>
              </a:defRPr>
            </a:pPr>
            <a:r>
              <a:t>DIÓDA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286000"/>
            <a:ext cx="2788920" cy="2148839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1F2D39"/>
                </a:solidFill>
                <a:latin typeface="Aptos"/>
              </a:defRPr>
            </a:pPr>
            <a:r>
              <a:t>Milyen típust</a:t>
            </a:r>
            <a:br/>
            <a:r>
              <a:t>vizsgáltál?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60" y="1600200"/>
            <a:ext cx="3246120" cy="301752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63440" y="1764792"/>
            <a:ext cx="288036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D48B37"/>
                </a:solidFill>
                <a:latin typeface="Aptos"/>
              </a:defRPr>
            </a:pPr>
            <a:r>
              <a:t>MÉRÉS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09160" y="2286000"/>
            <a:ext cx="2788920" cy="2148839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1F2D39"/>
                </a:solidFill>
                <a:latin typeface="Aptos"/>
              </a:defRPr>
            </a:pPr>
            <a:r>
              <a:t>Mekkora nyitó-</a:t>
            </a:r>
            <a:br/>
            <a:r>
              <a:t>feszültséget mértél?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75320" y="1600200"/>
            <a:ext cx="3246120" cy="301752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58200" y="1764792"/>
            <a:ext cx="288036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498B6A"/>
                </a:solidFill>
                <a:latin typeface="Aptos"/>
              </a:defRPr>
            </a:pPr>
            <a:r>
              <a:t>KÖVETKEZTETÉS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20" y="2286000"/>
            <a:ext cx="2788920" cy="2148839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1F2D39"/>
                </a:solidFill>
                <a:latin typeface="Aptos"/>
              </a:defRPr>
            </a:pPr>
            <a:r>
              <a:t>Mit mond a</a:t>
            </a:r>
            <a:br/>
            <a:r>
              <a:t>mérési eredmény?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500" b="1">
                <a:solidFill>
                  <a:srgbClr val="13304E"/>
                </a:solidFill>
                <a:latin typeface="Aptos"/>
              </a:defRPr>
            </a:pPr>
            <a:r>
              <a:t>Laborfeladat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41248"/>
            <a:ext cx="10698480" cy="3108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5E7180"/>
                </a:solidFill>
                <a:latin typeface="Aptos"/>
              </a:defRPr>
            </a:pPr>
            <a:r>
              <a:t>Négy gyakorlati lépés.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73952"/>
            <a:ext cx="27432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3304E"/>
                </a:solidFill>
                <a:latin typeface="Aptos"/>
              </a:defRPr>
            </a:pPr>
            <a:r>
              <a:t>IAP • ANA-002 • 2.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46520"/>
            <a:ext cx="45720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5E7180"/>
                </a:solidFill>
                <a:latin typeface="Aptos"/>
              </a:defRPr>
            </a:pPr>
            <a:r>
              <a:t>13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600200"/>
            <a:ext cx="2514600" cy="310896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0" y="1828800"/>
            <a:ext cx="960120" cy="9601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800" b="1">
                <a:solidFill>
                  <a:srgbClr val="2A74B2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154680"/>
            <a:ext cx="2240280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13304E"/>
                </a:solidFill>
                <a:latin typeface="Aptos"/>
              </a:defRPr>
            </a:pPr>
            <a:r>
              <a:t>DIÓDATESZT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29000" y="1600200"/>
            <a:ext cx="2514600" cy="310896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06240" y="1828800"/>
            <a:ext cx="960120" cy="9601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800" b="1">
                <a:solidFill>
                  <a:srgbClr val="D48B37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66160" y="3154680"/>
            <a:ext cx="2240280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13304E"/>
                </a:solidFill>
                <a:latin typeface="Aptos"/>
              </a:defRPr>
            </a:pPr>
            <a:r>
              <a:t>FÉLHULLÁMÚ</a:t>
            </a:r>
            <a:br/>
            <a:r>
              <a:t>EGYENIRÁNYÍTÓ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1600200"/>
            <a:ext cx="2514600" cy="310896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040880" y="1828800"/>
            <a:ext cx="960120" cy="9601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800" b="1">
                <a:solidFill>
                  <a:srgbClr val="498B6A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3154680"/>
            <a:ext cx="2240280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13304E"/>
                </a:solidFill>
                <a:latin typeface="Aptos"/>
              </a:defRPr>
            </a:pPr>
            <a:r>
              <a:t>GRAETZ-HÍD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098280" y="1600200"/>
            <a:ext cx="2514600" cy="310896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875520" y="1828800"/>
            <a:ext cx="960120" cy="9601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800" b="1">
                <a:solidFill>
                  <a:srgbClr val="56ACD6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35440" y="3154680"/>
            <a:ext cx="2240280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13304E"/>
                </a:solidFill>
                <a:latin typeface="Aptos"/>
              </a:defRPr>
            </a:pPr>
            <a:r>
              <a:t>LED</a:t>
            </a:r>
            <a:br/>
            <a:r>
              <a:t>ELŐTÉT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500" b="1">
                <a:solidFill>
                  <a:srgbClr val="13304E"/>
                </a:solidFill>
                <a:latin typeface="Aptos"/>
              </a:defRPr>
            </a:pPr>
            <a:r>
              <a:t>LED előtétellenállás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41248"/>
            <a:ext cx="10698480" cy="3108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5E7180"/>
                </a:solidFill>
                <a:latin typeface="Aptos"/>
              </a:defRPr>
            </a:pPr>
            <a:r>
              <a:t>12 V-os jelzőáramkör számítási mintája.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73952"/>
            <a:ext cx="27432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3304E"/>
                </a:solidFill>
                <a:latin typeface="Aptos"/>
              </a:defRPr>
            </a:pPr>
            <a:r>
              <a:t>IAP • ANA-002 • 2.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46520"/>
            <a:ext cx="45720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5E7180"/>
                </a:solidFill>
                <a:latin typeface="Aptos"/>
              </a:defRPr>
            </a:pPr>
            <a:r>
              <a:t>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417320"/>
            <a:ext cx="10332720" cy="685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900" b="1">
                <a:solidFill>
                  <a:srgbClr val="13304E"/>
                </a:solidFill>
                <a:latin typeface="Aptos"/>
              </a:defRPr>
            </a:pPr>
            <a:r>
              <a:t>R = (Uₜáp - ULED) / ILED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514600"/>
            <a:ext cx="10332720" cy="5943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500" b="1">
                <a:solidFill>
                  <a:srgbClr val="2A74B2"/>
                </a:solidFill>
                <a:latin typeface="Aptos"/>
              </a:defRPr>
            </a:pPr>
            <a:r>
              <a:t>példa: (12 V - 2 V) / 0,01 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566160"/>
            <a:ext cx="10332720" cy="7315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3400" b="1">
                <a:solidFill>
                  <a:srgbClr val="D48B37"/>
                </a:solidFill>
                <a:latin typeface="Aptos"/>
              </a:defRPr>
            </a:pPr>
            <a:r>
              <a:t>R = 1000 Ω = 1 kΩ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500" b="1">
                <a:solidFill>
                  <a:srgbClr val="13304E"/>
                </a:solidFill>
                <a:latin typeface="Aptos"/>
              </a:defRPr>
            </a:pPr>
            <a:r>
              <a:t>Órai adatlapfeladat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41248"/>
            <a:ext cx="10698480" cy="3108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5E7180"/>
                </a:solidFill>
                <a:latin typeface="Aptos"/>
              </a:defRPr>
            </a:pPr>
            <a:r>
              <a:t>1N4007 és 1N4148 összehasonlítása.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73952"/>
            <a:ext cx="27432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3304E"/>
                </a:solidFill>
                <a:latin typeface="Aptos"/>
              </a:defRPr>
            </a:pPr>
            <a:r>
              <a:t>IAP • ANA-002 • 2.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46520"/>
            <a:ext cx="45720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5E7180"/>
                </a:solidFill>
                <a:latin typeface="Aptos"/>
              </a:defRPr>
            </a:pPr>
            <a:r>
              <a:t>15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17320"/>
            <a:ext cx="4846320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81912"/>
            <a:ext cx="4480559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2A74B2"/>
                </a:solidFill>
                <a:latin typeface="Aptos"/>
              </a:defRPr>
            </a:pPr>
            <a:r>
              <a:t>1N4007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103120"/>
            <a:ext cx="4389120" cy="2606039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1F2D39"/>
                </a:solidFill>
                <a:latin typeface="Aptos"/>
              </a:defRPr>
            </a:pPr>
            <a:r>
              <a:t>keresd meg a</a:t>
            </a:r>
            <a:br/>
            <a:r>
              <a:t>fontos paramétereket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0" y="1417320"/>
            <a:ext cx="4846320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766560" y="1581912"/>
            <a:ext cx="4480559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D48B37"/>
                </a:solidFill>
                <a:latin typeface="Aptos"/>
              </a:defRPr>
            </a:pPr>
            <a:r>
              <a:t>1N4148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12280" y="2103120"/>
            <a:ext cx="4389120" cy="2606039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1F2D39"/>
                </a:solidFill>
                <a:latin typeface="Aptos"/>
              </a:defRPr>
            </a:pPr>
            <a:r>
              <a:t>hasonlítsd össze</a:t>
            </a:r>
            <a:br/>
            <a:r>
              <a:t>az adatlapját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500" b="1">
                <a:solidFill>
                  <a:srgbClr val="13304E"/>
                </a:solidFill>
                <a:latin typeface="Aptos"/>
              </a:defRPr>
            </a:pPr>
            <a:r>
              <a:t>Moodle és házi feladat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41248"/>
            <a:ext cx="10698480" cy="3108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5E7180"/>
                </a:solidFill>
                <a:latin typeface="Aptos"/>
              </a:defRPr>
            </a:pPr>
            <a:r>
              <a:t>Kapcsolási rajz + számítás + adatlap.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73952"/>
            <a:ext cx="27432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3304E"/>
                </a:solidFill>
                <a:latin typeface="Aptos"/>
              </a:defRPr>
            </a:pPr>
            <a:r>
              <a:t>IAP • ANA-002 • 2.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46520"/>
            <a:ext cx="45720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5E7180"/>
                </a:solidFill>
                <a:latin typeface="Aptos"/>
              </a:defRPr>
            </a:pPr>
            <a:r>
              <a:t>16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17320"/>
            <a:ext cx="4846320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81912"/>
            <a:ext cx="4480559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2A74B2"/>
                </a:solidFill>
                <a:latin typeface="Aptos"/>
              </a:defRPr>
            </a:pPr>
            <a:r>
              <a:t>MOODLE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103120"/>
            <a:ext cx="4389120" cy="2606039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1F2D39"/>
                </a:solidFill>
                <a:latin typeface="Aptos"/>
              </a:defRPr>
            </a:pPr>
            <a:r>
              <a:t>10 feleletválasztós</a:t>
            </a:r>
            <a:br/>
            <a:r>
              <a:t>3 kapcsolási rajz</a:t>
            </a:r>
            <a:br/>
            <a:r>
              <a:t>2 számítás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0" y="1417320"/>
            <a:ext cx="4846320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766560" y="1581912"/>
            <a:ext cx="4480559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D48B37"/>
                </a:solidFill>
                <a:latin typeface="Aptos"/>
              </a:defRPr>
            </a:pPr>
            <a:r>
              <a:t>HÁZI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12280" y="2103120"/>
            <a:ext cx="4389120" cy="2606039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1F2D39"/>
                </a:solidFill>
                <a:latin typeface="Aptos"/>
              </a:defRPr>
            </a:pPr>
            <a:r>
              <a:t>12 V-os LED jelző</a:t>
            </a:r>
            <a:br/>
            <a:r>
              <a:t>+ előtét számítás</a:t>
            </a:r>
            <a:br/>
            <a:r>
              <a:t>+ 1N4007 adatlap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304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777240"/>
            <a:ext cx="1069848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800" b="1">
                <a:solidFill>
                  <a:srgbClr val="B4DCF2"/>
                </a:solidFill>
                <a:latin typeface="Aptos"/>
              </a:defRPr>
            </a:pPr>
            <a:r>
              <a:t>KÖVETKEZŐ HÉT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00200"/>
            <a:ext cx="1033272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3500" b="1">
                <a:solidFill>
                  <a:srgbClr val="FFFFFF"/>
                </a:solidFill>
                <a:latin typeface="Aptos"/>
              </a:defRPr>
            </a:pPr>
            <a:r>
              <a:t>3. HÉT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560320"/>
            <a:ext cx="10332720" cy="11887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3100" b="1">
                <a:solidFill>
                  <a:srgbClr val="D48B37"/>
                </a:solidFill>
                <a:latin typeface="Aptos"/>
              </a:defRPr>
            </a:pPr>
            <a:r>
              <a:t>A BJT TRANZISZTOR</a:t>
            </a:r>
            <a:br/>
            <a:r>
              <a:t>MINT ERŐSÍTŐELEM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