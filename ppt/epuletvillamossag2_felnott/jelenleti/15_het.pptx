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15. hét – Kismegszakítók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618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769AA"/>
                </a:solidFill>
                <a:latin typeface="Aptos"/>
              </a:defRPr>
            </a:pPr>
            <a:r>
              <a:t>Épületvillamosság 2 • Felnőtt • Jelenléti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500">
                <a:solidFill>
                  <a:srgbClr val="173042"/>
                </a:solidFill>
                <a:latin typeface="Aptos"/>
              </a:defRPr>
            </a:pPr>
            <a:r>
              <a:t>• B–C–D karakterisztikák</a:t>
            </a:r>
          </a:p>
          <a:p>
            <a:pPr>
              <a:spcAft>
                <a:spcPts val="1300"/>
              </a:spcAft>
              <a:defRPr sz="2500">
                <a:solidFill>
                  <a:srgbClr val="173042"/>
                </a:solidFill>
                <a:latin typeface="Aptos"/>
              </a:defRPr>
            </a:pPr>
            <a:r>
              <a:t>• Termikus és elektromágneses kioldás</a:t>
            </a:r>
          </a:p>
          <a:p>
            <a:pPr>
              <a:spcAft>
                <a:spcPts val="1300"/>
              </a:spcAft>
              <a:defRPr sz="2500">
                <a:solidFill>
                  <a:srgbClr val="173042"/>
                </a:solidFill>
                <a:latin typeface="Aptos"/>
              </a:defRPr>
            </a:pPr>
            <a:r>
              <a:t>• Gyakorlati készülékválasztás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66360"/>
            <a:ext cx="1042416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A cél: ne csak felismerjük a kismegszakítót – értsük, mikor és miért old 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Miért kell kismegszakító?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A túl nagy áram felmelegíti a vezetéket.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Tartós túlterhelés károsítja a szigetelést.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Rövidzárlatkor az áram nagyon gyorsan a névleges érték sokszorosára nő.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A kismegszakító automatikusan megszakítja a hibás áramkört.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03520"/>
            <a:ext cx="1042416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A kismegszakító elsődlegesen a vezetéket és az áramkört védi.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Két kioldó egy készülékben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5166360" cy="2971800"/>
          </a:xfrm>
          <a:prstGeom prst="roundRect">
            <a:avLst/>
          </a:prstGeom>
          <a:solidFill>
            <a:srgbClr val="EAF4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D4D"/>
                </a:solidFill>
              </a:defRPr>
            </a:pPr>
            <a:r>
              <a:t>TERMIKUS KIOLDÓ</a:t>
            </a:r>
          </a:p>
          <a:p>
            <a:pPr algn="ctr">
              <a:spcBef>
                <a:spcPts val="1200"/>
              </a:spcBef>
              <a:defRPr sz="1900">
                <a:solidFill>
                  <a:srgbClr val="173042"/>
                </a:solidFill>
              </a:defRPr>
            </a:pPr>
            <a:r>
              <a:t>Bimetál</a:t>
            </a:r>
          </a:p>
          <a:p>
            <a:pPr algn="ctr">
              <a:spcBef>
                <a:spcPts val="1200"/>
              </a:spcBef>
              <a:defRPr sz="1900">
                <a:solidFill>
                  <a:srgbClr val="173042"/>
                </a:solidFill>
              </a:defRPr>
            </a:pPr>
            <a:r>
              <a:t>Tartós túlterhelés</a:t>
            </a:r>
          </a:p>
          <a:p>
            <a:pPr algn="ctr">
              <a:spcBef>
                <a:spcPts val="1200"/>
              </a:spcBef>
              <a:defRPr sz="1900">
                <a:solidFill>
                  <a:srgbClr val="173042"/>
                </a:solidFill>
              </a:defRPr>
            </a:pPr>
            <a:r>
              <a:t>Időkésleltetett működés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166360" cy="2971800"/>
          </a:xfrm>
          <a:prstGeom prst="roundRect">
            <a:avLst/>
          </a:prstGeom>
          <a:solidFill>
            <a:srgbClr val="EEF7EF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D4D"/>
                </a:solidFill>
              </a:defRPr>
            </a:pPr>
            <a:r>
              <a:t>ELEKTROMÁGNESES KIOLDÓ</a:t>
            </a:r>
          </a:p>
          <a:p>
            <a:pPr algn="ctr">
              <a:spcBef>
                <a:spcPts val="1200"/>
              </a:spcBef>
              <a:defRPr sz="1900">
                <a:solidFill>
                  <a:srgbClr val="173042"/>
                </a:solidFill>
              </a:defRPr>
            </a:pPr>
            <a:r>
              <a:t>Tekercs + mágneses erő</a:t>
            </a:r>
          </a:p>
          <a:p>
            <a:pPr algn="ctr">
              <a:spcBef>
                <a:spcPts val="1200"/>
              </a:spcBef>
              <a:defRPr sz="1900">
                <a:solidFill>
                  <a:srgbClr val="173042"/>
                </a:solidFill>
              </a:defRPr>
            </a:pPr>
            <a:r>
              <a:t>Nagy zárlati áram</a:t>
            </a:r>
          </a:p>
          <a:p>
            <a:pPr algn="ctr">
              <a:spcBef>
                <a:spcPts val="1200"/>
              </a:spcBef>
              <a:defRPr sz="1900">
                <a:solidFill>
                  <a:srgbClr val="173042"/>
                </a:solidFill>
              </a:defRPr>
            </a:pPr>
            <a:r>
              <a:t>Nagyon gyors működés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66360"/>
            <a:ext cx="1042416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A két mechanizmus együtt adja a kismegszakító idő–áram viselkedését.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Mit jelent a B16?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3042"/>
                </a:solidFill>
                <a:latin typeface="Aptos"/>
              </a:defRPr>
            </a:pPr>
            <a:r>
              <a:t>• B = a gyors mágneses kioldás karakterisztikája</a:t>
            </a:r>
          </a:p>
          <a:p>
            <a:pPr>
              <a:spcAft>
                <a:spcPts val="1300"/>
              </a:spcAft>
              <a:defRPr sz="2100">
                <a:solidFill>
                  <a:srgbClr val="173042"/>
                </a:solidFill>
                <a:latin typeface="Aptos"/>
              </a:defRPr>
            </a:pPr>
            <a:r>
              <a:t>• 16 A = névleges áram (Iₙ)</a:t>
            </a:r>
          </a:p>
          <a:p>
            <a:pPr>
              <a:spcAft>
                <a:spcPts val="1300"/>
              </a:spcAft>
              <a:defRPr sz="2100">
                <a:solidFill>
                  <a:srgbClr val="173042"/>
                </a:solidFill>
                <a:latin typeface="Aptos"/>
              </a:defRPr>
            </a:pPr>
            <a:r>
              <a:t>• 16 A fölött nem feltétlenül történik azonnali lekapcsolás</a:t>
            </a:r>
          </a:p>
          <a:p>
            <a:pPr>
              <a:spcAft>
                <a:spcPts val="1300"/>
              </a:spcAft>
              <a:defRPr sz="2100">
                <a:solidFill>
                  <a:srgbClr val="173042"/>
                </a:solidFill>
                <a:latin typeface="Aptos"/>
              </a:defRPr>
            </a:pPr>
            <a:r>
              <a:t>• A túlterhelési kioldás időfüggő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57800"/>
            <a:ext cx="10424160" cy="777240"/>
          </a:xfrm>
          <a:prstGeom prst="roundRect">
            <a:avLst/>
          </a:prstGeom>
          <a:solidFill>
            <a:srgbClr val="FFF8E8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A „16 A” nem egy azonnali kioldási határ.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B karakterisztika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1769AA"/>
                </a:solidFill>
                <a:latin typeface="Aptos Display"/>
              </a:defRPr>
            </a:pPr>
            <a:r>
              <a:t>3–5 × Iₙ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063240"/>
            <a:ext cx="7498079" cy="82296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B16 → kb. 48–80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Kis bekapcsolási áramú általános áramkörökben gyakori.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C karakterisztika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1769AA"/>
                </a:solidFill>
                <a:latin typeface="Aptos Display"/>
              </a:defRPr>
            </a:pPr>
            <a:r>
              <a:t>5–10 × Iₙ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063240"/>
            <a:ext cx="7498079" cy="82296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C16 → kb. 80–160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Nagyobb indulóáramú fogyasztóknál lehet indokolt.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D karakterisztika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1769AA"/>
                </a:solidFill>
                <a:latin typeface="Aptos Display"/>
              </a:defRPr>
            </a:pPr>
            <a:r>
              <a:t>10–20 × Iₙ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063240"/>
            <a:ext cx="7498079" cy="82296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D16 → kb. 160–320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Igen nagy indulóáramú berendezéseknél, ellenőrzött feltételekkel.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B16 – C16 – D16 összehasonlítása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1828800"/>
            <a:ext cx="841248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500">
                <a:solidFill>
                  <a:srgbClr val="0B2D4D"/>
                </a:solidFill>
              </a:defRPr>
            </a:pPr>
            <a:r>
              <a:t>B16     →     48–80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880360"/>
            <a:ext cx="841248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500">
                <a:solidFill>
                  <a:srgbClr val="0B2D4D"/>
                </a:solidFill>
              </a:defRPr>
            </a:pPr>
            <a:r>
              <a:t>C16     →     80–160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931920"/>
            <a:ext cx="841248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500">
                <a:solidFill>
                  <a:srgbClr val="0B2D4D"/>
                </a:solidFill>
              </a:defRPr>
            </a:pPr>
            <a:r>
              <a:t>D16     →     160–320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212080"/>
            <a:ext cx="1042416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Azonos névleges áram – eltérő gyors mágneses kioldási tartomány.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A veszélyes „megoldás”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„A B16 leveri – tegyünk be C16-ot.”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A karakterisztika cseréje előtt ellenőrizni kell a vezetéket és a terhelést.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Vizsgálni kell a várható zárlati áramot és a lekapcsolási feltételeket.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A megszakítóképesség és a szelektivitás sem hagyható figyelmen kívül.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03520"/>
            <a:ext cx="10424160" cy="777240"/>
          </a:xfrm>
          <a:prstGeom prst="roundRect">
            <a:avLst/>
          </a:prstGeom>
          <a:solidFill>
            <a:srgbClr val="FDEEEE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A cél nem az, hogy ne oldjon le – hanem hogy megfelelően védjen.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Mit olvassunk le a készülékről?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Gyártó és típus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Karakterisztika + névleges áram: pl. C16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Pólusszám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Névleges feszültség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Megszakítóképesség</a:t>
            </a:r>
          </a:p>
          <a:p>
            <a:pPr>
              <a:spcAft>
                <a:spcPts val="1300"/>
              </a:spcAft>
              <a:defRPr sz="1900">
                <a:solidFill>
                  <a:srgbClr val="173042"/>
                </a:solidFill>
                <a:latin typeface="Aptos"/>
              </a:defRPr>
            </a:pPr>
            <a:r>
              <a:t>• Szabvány- és egyéb készülékjelölések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Gyakorlati döntési helyzet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Egy motor üzemi árama: 11 A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Indításkor rövid ideig: 90 A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B16 gyors tartománya: 48–80 A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C16 gyors tartománya: 80–160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66360"/>
            <a:ext cx="10424160" cy="777240"/>
          </a:xfrm>
          <a:prstGeom prst="roundRect">
            <a:avLst/>
          </a:prstGeom>
          <a:solidFill>
            <a:srgbClr val="FFF8E8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Melyik készüléknél valószínűbb a nem kívánt azonnali kioldás? Miért?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4114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92840" y="96012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897880"/>
            <a:ext cx="109728" cy="109728"/>
          </a:xfrm>
          <a:prstGeom prst="ellipse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IAP – Integrált Automatika Program     •     Tanulj! Alkalmazz! Alkoss!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Egy 16 A-es áramkörben indításkor rövid ideig 95 A folyik.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B16 és C16 áll rendelkezésre.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Hasonlítsd össze a 3–5×Iₙ és az 5–10×Iₙ tartományt.</a:t>
            </a:r>
          </a:p>
          <a:p>
            <a:pPr>
              <a:spcAft>
                <a:spcPts val="1300"/>
              </a:spcAft>
              <a:defRPr sz="2000">
                <a:solidFill>
                  <a:srgbClr val="173042"/>
                </a:solidFill>
                <a:latin typeface="Aptos"/>
              </a:defRPr>
            </a:pPr>
            <a:r>
              <a:t>• Ezután sorold fel, milyen további ellenőrzések kellenek a végleges választáshoz.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57800"/>
            <a:ext cx="10424160" cy="77724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b="1" sz="1500">
                <a:solidFill>
                  <a:srgbClr val="0B2D4D"/>
                </a:solidFill>
                <a:latin typeface="Apto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