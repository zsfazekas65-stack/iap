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12192000"/>
  <p:embeddedFontLst>
    <p:embeddedFont>
      <p:font typeface="Calibri" panose="020F0502020204030204" pitchFamily="34" charset="0"/>
      <p:regular r:id="rId17"/>
      <p:bold r:id="rId18"/>
      <p:italic r:id="rId19"/>
      <p:boldItalic r:id="rId20"/>
    </p:embeddedFont>
    <p:embeddedFont>
      <p:font typeface="Raleway" pitchFamily="2" charset="-18"/>
      <p:regular r:id="rId21"/>
    </p:embeddedFont>
    <p:embeddedFont>
      <p:font typeface="Raleway Light" pitchFamily="2" charset="-18"/>
      <p:regular r:id="rId22"/>
      <p:italic r:id="rId23"/>
    </p:embeddedFont>
    <p:embeddedFont>
      <p:font typeface="Roboto" panose="02000000000000000000" pitchFamily="2" charset="0"/>
      <p:regular r:id="rId24"/>
      <p:bold r:id="rId25"/>
    </p:embeddedFont>
    <p:embeddedFont>
      <p:font typeface="Roboto Bold" panose="02000000000000000000" charset="0"/>
      <p:regular r:id="rId26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5" d="100"/>
          <a:sy n="85" d="100"/>
        </p:scale>
        <p:origin x="562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font" Target="fonts/font10.fntdata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font" Target="fonts/font9.fntdata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8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7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760554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EC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13" Type="http://schemas.openxmlformats.org/officeDocument/2006/relationships/image" Target="../media/image15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12" Type="http://schemas.openxmlformats.org/officeDocument/2006/relationships/image" Target="../media/image14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sv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0" Type="http://schemas.openxmlformats.org/officeDocument/2006/relationships/image" Target="../media/image12.svg"/><Relationship Id="rId4" Type="http://schemas.openxmlformats.org/officeDocument/2006/relationships/image" Target="../media/image6.svg"/><Relationship Id="rId9" Type="http://schemas.openxmlformats.org/officeDocument/2006/relationships/image" Target="../media/image11.png"/><Relationship Id="rId14" Type="http://schemas.openxmlformats.org/officeDocument/2006/relationships/image" Target="../media/image16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svg"/><Relationship Id="rId5" Type="http://schemas.openxmlformats.org/officeDocument/2006/relationships/image" Target="../media/image26.png"/><Relationship Id="rId4" Type="http://schemas.openxmlformats.org/officeDocument/2006/relationships/image" Target="../media/image25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sv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svg"/><Relationship Id="rId5" Type="http://schemas.openxmlformats.org/officeDocument/2006/relationships/image" Target="../media/image32.png"/><Relationship Id="rId4" Type="http://schemas.openxmlformats.org/officeDocument/2006/relationships/image" Target="../media/image31.sv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dn.gamma.app/zhbarj5mkuql04w/fb8e0f6966974a3c8823bd3c0d048eec/file/IAP_Motorindito_kapcsolasok.pdf" TargetMode="External"/><Relationship Id="rId4" Type="http://schemas.openxmlformats.org/officeDocument/2006/relationships/image" Target="../media/image35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165523"/>
            <a:ext cx="10868745" cy="5167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2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IAP – Motorindító kapcsolások</a:t>
            </a:r>
            <a:endParaRPr lang="en-US" sz="3250" dirty="0"/>
          </a:p>
        </p:txBody>
      </p:sp>
      <p:sp>
        <p:nvSpPr>
          <p:cNvPr id="3" name="Text 1"/>
          <p:cNvSpPr/>
          <p:nvPr/>
        </p:nvSpPr>
        <p:spPr>
          <a:xfrm>
            <a:off x="661475" y="2012950"/>
            <a:ext cx="11478330" cy="2646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Klasszikus és korszerű indítási módok • DOL • irányváltás • csillag–delta • mágneskapcsoló</a:t>
            </a:r>
            <a:endParaRPr lang="en-US" sz="13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2463602"/>
            <a:ext cx="5434373" cy="66149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6769" y="3290391"/>
            <a:ext cx="5103784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DOL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826769" y="3648075"/>
            <a:ext cx="5103784" cy="2646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Közvetlen hálózati indítás</a:t>
            </a:r>
            <a:endParaRPr lang="en-US" sz="13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5848" y="2463602"/>
            <a:ext cx="5434373" cy="661491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261142" y="3290391"/>
            <a:ext cx="5103784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Irányváltás</a:t>
            </a:r>
            <a:endParaRPr lang="en-US" sz="1600" dirty="0"/>
          </a:p>
        </p:txBody>
      </p:sp>
      <p:sp>
        <p:nvSpPr>
          <p:cNvPr id="9" name="Text 5"/>
          <p:cNvSpPr/>
          <p:nvPr/>
        </p:nvSpPr>
        <p:spPr>
          <a:xfrm>
            <a:off x="6261142" y="3648075"/>
            <a:ext cx="5103784" cy="2646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Két fázis felcserélése</a:t>
            </a:r>
            <a:endParaRPr lang="en-US" sz="130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475" y="4077990"/>
            <a:ext cx="5434373" cy="661491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826769" y="4904780"/>
            <a:ext cx="5103784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Csillag–Delta</a:t>
            </a:r>
            <a:endParaRPr lang="en-US" sz="1600" dirty="0"/>
          </a:p>
        </p:txBody>
      </p:sp>
      <p:sp>
        <p:nvSpPr>
          <p:cNvPr id="12" name="Text 7"/>
          <p:cNvSpPr/>
          <p:nvPr/>
        </p:nvSpPr>
        <p:spPr>
          <a:xfrm>
            <a:off x="826769" y="5262463"/>
            <a:ext cx="5103784" cy="2646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Csökkentett indítási áram</a:t>
            </a:r>
            <a:endParaRPr lang="en-US" sz="1300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5848" y="4077990"/>
            <a:ext cx="5434373" cy="661491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6261142" y="4904780"/>
            <a:ext cx="5103784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Korszerű</a:t>
            </a:r>
            <a:endParaRPr lang="en-US" sz="1600" dirty="0"/>
          </a:p>
        </p:txBody>
      </p:sp>
      <p:sp>
        <p:nvSpPr>
          <p:cNvPr id="15" name="Text 9"/>
          <p:cNvSpPr/>
          <p:nvPr/>
        </p:nvSpPr>
        <p:spPr>
          <a:xfrm>
            <a:off x="6261142" y="5262463"/>
            <a:ext cx="5103784" cy="2646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Lágyindító, frekvenciaváltó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467122"/>
            <a:ext cx="10868745" cy="439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 A motorindító kapcsolások áttekintése</a:t>
            </a:r>
            <a:endParaRPr lang="en-US" sz="2750" dirty="0"/>
          </a:p>
        </p:txBody>
      </p:sp>
      <p:sp>
        <p:nvSpPr>
          <p:cNvPr id="3" name="Text 1"/>
          <p:cNvSpPr/>
          <p:nvPr/>
        </p:nvSpPr>
        <p:spPr>
          <a:xfrm>
            <a:off x="661475" y="1145282"/>
            <a:ext cx="10868745" cy="4161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motorindító kapcsolások azok az áramköri megoldások, amelyekkel a villamos motorokat biztonságosan indítjuk, leállítjuk, irányt váltunk, illetve szükség esetén csökkentjük az indítási áramot.</a:t>
            </a:r>
            <a:endParaRPr lang="en-US" sz="11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1475" y="1695748"/>
            <a:ext cx="10868745" cy="843459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53061" y="2011958"/>
            <a:ext cx="210835" cy="21084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362239" y="1855291"/>
            <a:ext cx="10008441" cy="2195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Közvetlen indítás (DOL)</a:t>
            </a:r>
            <a:endParaRPr lang="en-US" sz="1350" dirty="0"/>
          </a:p>
        </p:txBody>
      </p:sp>
      <p:sp>
        <p:nvSpPr>
          <p:cNvPr id="7" name="Text 3"/>
          <p:cNvSpPr/>
          <p:nvPr/>
        </p:nvSpPr>
        <p:spPr>
          <a:xfrm>
            <a:off x="1362239" y="2146498"/>
            <a:ext cx="10008441" cy="2080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motor közvetlenül hálózati feszültséget kap – kisebb motorok esetén alkalmazott megoldás.</a:t>
            </a:r>
            <a:endParaRPr lang="en-US" sz="110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1475" y="2658666"/>
            <a:ext cx="10868745" cy="843459"/>
          </a:xfrm>
          <a:prstGeom prst="rect">
            <a:avLst/>
          </a:prstGeom>
        </p:spPr>
      </p:pic>
      <p:pic>
        <p:nvPicPr>
          <p:cNvPr id="9" name="Image 3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53061" y="2974876"/>
            <a:ext cx="210835" cy="210840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1362239" y="2818209"/>
            <a:ext cx="10008441" cy="2195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Irányváltó kapcsolás</a:t>
            </a:r>
            <a:endParaRPr lang="en-US" sz="1350" dirty="0"/>
          </a:p>
        </p:txBody>
      </p:sp>
      <p:sp>
        <p:nvSpPr>
          <p:cNvPr id="11" name="Text 5"/>
          <p:cNvSpPr/>
          <p:nvPr/>
        </p:nvSpPr>
        <p:spPr>
          <a:xfrm>
            <a:off x="1362239" y="3109416"/>
            <a:ext cx="10008441" cy="2080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Két fázis felcserélésével megfordul a forgásirány – szállítószalag, emelő, kapu alkalmazásokban.</a:t>
            </a:r>
            <a:endParaRPr lang="en-US" sz="1100" dirty="0"/>
          </a:p>
        </p:txBody>
      </p:sp>
      <p:pic>
        <p:nvPicPr>
          <p:cNvPr id="12" name="Image 4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1475" y="3621584"/>
            <a:ext cx="10868745" cy="843459"/>
          </a:xfrm>
          <a:prstGeom prst="rect">
            <a:avLst/>
          </a:prstGeom>
        </p:spPr>
      </p:pic>
      <p:pic>
        <p:nvPicPr>
          <p:cNvPr id="13" name="Image 5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53061" y="3937794"/>
            <a:ext cx="210835" cy="210840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>
            <a:off x="1362239" y="3781127"/>
            <a:ext cx="10008441" cy="2195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Csillag-delta indítás</a:t>
            </a:r>
            <a:endParaRPr lang="en-US" sz="1350" dirty="0"/>
          </a:p>
        </p:txBody>
      </p:sp>
      <p:sp>
        <p:nvSpPr>
          <p:cNvPr id="15" name="Text 7"/>
          <p:cNvSpPr/>
          <p:nvPr/>
        </p:nvSpPr>
        <p:spPr>
          <a:xfrm>
            <a:off x="1362239" y="4072334"/>
            <a:ext cx="10008441" cy="2080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Csillagban indul, majd deltába kapcsol – nagyobb aszinkron motoroknál bevált módszer.</a:t>
            </a:r>
            <a:endParaRPr lang="en-US" sz="1100" dirty="0"/>
          </a:p>
        </p:txBody>
      </p:sp>
      <p:pic>
        <p:nvPicPr>
          <p:cNvPr id="16" name="Image 6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1475" y="4584502"/>
            <a:ext cx="10868745" cy="843459"/>
          </a:xfrm>
          <a:prstGeom prst="rect">
            <a:avLst/>
          </a:prstGeom>
        </p:spPr>
      </p:pic>
      <p:pic>
        <p:nvPicPr>
          <p:cNvPr id="17" name="Image 7" descr="preencoded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53061" y="4900712"/>
            <a:ext cx="210835" cy="210840"/>
          </a:xfrm>
          <a:prstGeom prst="rect">
            <a:avLst/>
          </a:prstGeom>
        </p:spPr>
      </p:pic>
      <p:sp>
        <p:nvSpPr>
          <p:cNvPr id="18" name="Text 8"/>
          <p:cNvSpPr/>
          <p:nvPr/>
        </p:nvSpPr>
        <p:spPr>
          <a:xfrm>
            <a:off x="1362239" y="4744045"/>
            <a:ext cx="10008441" cy="2195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Lágyindító</a:t>
            </a:r>
            <a:endParaRPr lang="en-US" sz="1350" dirty="0"/>
          </a:p>
        </p:txBody>
      </p:sp>
      <p:sp>
        <p:nvSpPr>
          <p:cNvPr id="19" name="Text 9"/>
          <p:cNvSpPr/>
          <p:nvPr/>
        </p:nvSpPr>
        <p:spPr>
          <a:xfrm>
            <a:off x="1362239" y="5035252"/>
            <a:ext cx="10008441" cy="2080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Elektronikusan fokozatosan növeli a motor feszültségét – szivattyú, ventilátor alkalmazásokban.</a:t>
            </a:r>
            <a:endParaRPr lang="en-US" sz="1100" dirty="0"/>
          </a:p>
        </p:txBody>
      </p:sp>
      <p:pic>
        <p:nvPicPr>
          <p:cNvPr id="20" name="Image 8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1475" y="5547420"/>
            <a:ext cx="10868745" cy="843459"/>
          </a:xfrm>
          <a:prstGeom prst="rect">
            <a:avLst/>
          </a:prstGeom>
        </p:spPr>
      </p:pic>
      <p:pic>
        <p:nvPicPr>
          <p:cNvPr id="21" name="Image 9" descr="preencoded.p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53061" y="5863630"/>
            <a:ext cx="210835" cy="210840"/>
          </a:xfrm>
          <a:prstGeom prst="rect">
            <a:avLst/>
          </a:prstGeom>
        </p:spPr>
      </p:pic>
      <p:sp>
        <p:nvSpPr>
          <p:cNvPr id="22" name="Text 10"/>
          <p:cNvSpPr/>
          <p:nvPr/>
        </p:nvSpPr>
        <p:spPr>
          <a:xfrm>
            <a:off x="1362239" y="5706963"/>
            <a:ext cx="10008441" cy="2195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Frekvenciaváltó</a:t>
            </a:r>
            <a:endParaRPr lang="en-US" sz="1350" dirty="0"/>
          </a:p>
        </p:txBody>
      </p:sp>
      <p:sp>
        <p:nvSpPr>
          <p:cNvPr id="23" name="Text 11"/>
          <p:cNvSpPr/>
          <p:nvPr/>
        </p:nvSpPr>
        <p:spPr>
          <a:xfrm>
            <a:off x="1362239" y="5998170"/>
            <a:ext cx="10008441" cy="2080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frekvencia és feszültség szabályozásával indít – szabályozott hajtásoknál a legkorszerűbb megoldás.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675184"/>
            <a:ext cx="10868745" cy="439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 Klasszikus motorindítások – előnyök és hátrányok</a:t>
            </a:r>
            <a:endParaRPr lang="en-US" sz="2750" dirty="0"/>
          </a:p>
        </p:txBody>
      </p:sp>
      <p:sp>
        <p:nvSpPr>
          <p:cNvPr id="3" name="Text 1"/>
          <p:cNvSpPr/>
          <p:nvPr/>
        </p:nvSpPr>
        <p:spPr>
          <a:xfrm>
            <a:off x="661475" y="1353344"/>
            <a:ext cx="11478330" cy="2080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klasszikus motorindítások alatt elsősorban mágneskapcsolókkal, relékkel és időrelékkel megvalósított aszinkronmotor-indításokat értünk.</a:t>
            </a:r>
            <a:endParaRPr lang="en-US" sz="1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1475" y="1695748"/>
          <a:ext cx="9143771" cy="914400"/>
        </p:xfrm>
        <a:graphic>
          <a:graphicData uri="http://schemas.openxmlformats.org/drawingml/2006/table">
            <a:tbl>
              <a:tblPr/>
              <a:tblGrid>
                <a:gridCol w="23911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3881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3881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719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3C3939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Módszer</a:t>
                      </a:r>
                      <a:endParaRPr lang="en-US" sz="11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40582" marR="140582" marT="6350" marB="6350" anchor="ctr">
                    <a:lnL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3C3939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Előnyök</a:t>
                      </a:r>
                      <a:endParaRPr lang="en-US" sz="11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40582" marR="140582" marT="6350" marB="6350" anchor="ctr">
                    <a:lnL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3C3939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Hátrányok</a:t>
                      </a:r>
                      <a:endParaRPr lang="en-US" sz="11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40582" marR="140582" marT="6350" marB="6350" anchor="ctr">
                    <a:lnL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843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3C3939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Közvetlen indítás (DOL)</a:t>
                      </a:r>
                      <a:endParaRPr lang="en-US" sz="11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40582" marR="140582" marT="6350" marB="6350" anchor="ctr">
                    <a:lnL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C3939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Egyszerű, olcsó, megbízható; teljes indítónyomaték</a:t>
                      </a:r>
                      <a:endParaRPr lang="en-US" sz="11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40582" marR="140582" marT="6350" marB="6350" anchor="ctr">
                    <a:lnL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C3939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Nagy indítási áram; hálózati feszültségesést és mechanikai lökést okozhat</a:t>
                      </a:r>
                      <a:endParaRPr lang="en-US" sz="11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40582" marR="140582" marT="6350" marB="6350" anchor="ctr">
                    <a:lnL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843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3C3939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Csillag-delta</a:t>
                      </a:r>
                      <a:endParaRPr lang="en-US" sz="11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40582" marR="140582" marT="6350" marB="6350" anchor="ctr">
                    <a:lnL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C3939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Egyszerű, bevált; az indítási vonali áram kb. 1/3-a</a:t>
                      </a:r>
                      <a:endParaRPr lang="en-US" sz="11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40582" marR="140582" marT="6350" marB="6350" anchor="ctr">
                    <a:lnL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C3939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Az indítónyomaték is kb. 1/3-ra csökken; átkapcsolási tranziens; 6 kivezetéses motor kell</a:t>
                      </a:r>
                      <a:endParaRPr lang="en-US" sz="11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40582" marR="140582" marT="6350" marB="6350" anchor="ctr">
                    <a:lnL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843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3C3939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Előtét-ellenállásos / reaktoros</a:t>
                      </a:r>
                      <a:endParaRPr lang="en-US" sz="11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40582" marR="140582" marT="6350" marB="6350" anchor="ctr">
                    <a:lnL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C3939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Csökkenthető az indítási áram; egyszerű elv</a:t>
                      </a:r>
                      <a:endParaRPr lang="en-US" sz="11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40582" marR="140582" marT="6350" marB="6350" anchor="ctr">
                    <a:lnL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C3939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Veszteséges vagy rosszabb teljesítménytényező; csökken az indítónyomaték</a:t>
                      </a:r>
                      <a:endParaRPr lang="en-US" sz="11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40582" marR="140582" marT="6350" marB="6350" anchor="ctr">
                    <a:lnL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843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3C3939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Autotranszformátoros</a:t>
                      </a:r>
                      <a:endParaRPr lang="en-US" sz="11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40582" marR="140582" marT="6350" marB="6350" anchor="ctr">
                    <a:lnL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C3939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Nagyobb motoroknál is jól csökkenthető a hálózati indítási áram</a:t>
                      </a:r>
                      <a:endParaRPr lang="en-US" sz="11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40582" marR="140582" marT="6350" marB="6350" anchor="ctr">
                    <a:lnL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C3939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Drágább, nagyobb helyigényű, összetettebb kivitel</a:t>
                      </a:r>
                      <a:endParaRPr lang="en-US" sz="11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40582" marR="140582" marT="6350" marB="6350" anchor="ctr">
                    <a:lnL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843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3C3939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Forgórész-ellenállásos</a:t>
                      </a:r>
                      <a:endParaRPr lang="en-US" sz="11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40582" marR="140582" marT="6350" marB="6350" anchor="ctr">
                    <a:lnL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C3939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Nagy indítónyomaték mellett korlátozható az indítási áram</a:t>
                      </a:r>
                      <a:endParaRPr lang="en-US" sz="11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40582" marR="140582" marT="6350" marB="6350" anchor="ctr">
                    <a:lnL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C3939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Csak csúszógyűrűs motorhoz; veszteséges, karbantartásigényes</a:t>
                      </a:r>
                      <a:endParaRPr lang="en-US" sz="11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40582" marR="140582" marT="6350" marB="6350" anchor="ctr">
                    <a:lnL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752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3C3939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Irányváltó kontaktoros</a:t>
                      </a:r>
                      <a:endParaRPr lang="en-US" sz="11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40582" marR="140582" marT="6350" marB="6350" anchor="ctr">
                    <a:lnL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C3939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Egyszerű forgásirányváltás, jól javítható</a:t>
                      </a:r>
                      <a:endParaRPr lang="en-US" sz="11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40582" marR="140582" marT="6350" marB="6350" anchor="ctr">
                    <a:lnL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C3939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Két mágneskapcsoló és reteszelés kell; nagy mechanikai és villamos terhelés lehet</a:t>
                      </a:r>
                      <a:endParaRPr lang="en-US" sz="11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40582" marR="140582" marT="6350" marB="6350" anchor="ctr">
                    <a:lnL w="12700" cap="flat" cmpd="sng" algn="ctr">
                      <a:solidFill>
                        <a:srgbClr val="FEFE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61475" y="5677495"/>
            <a:ext cx="10868745" cy="505222"/>
          </a:xfrm>
          <a:prstGeom prst="roundRect">
            <a:avLst>
              <a:gd name="adj" fmla="val 11687"/>
            </a:avLst>
          </a:prstGeom>
          <a:solidFill>
            <a:srgbClr val="E1E1EA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965" y="5848846"/>
            <a:ext cx="175712" cy="14049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118167" y="5832078"/>
            <a:ext cx="10881147" cy="2080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Kulcsgondolat:</a:t>
            </a:r>
            <a:r>
              <a:rPr lang="en-US" sz="110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az indítási áram csökkentésének általában ára van – az indítónyomaték is csökken.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971451"/>
            <a:ext cx="10868745" cy="439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 DOL – közvetlen motorindítás</a:t>
            </a:r>
            <a:endParaRPr lang="en-US" sz="2750" dirty="0"/>
          </a:p>
        </p:txBody>
      </p:sp>
      <p:sp>
        <p:nvSpPr>
          <p:cNvPr id="3" name="Text 1"/>
          <p:cNvSpPr/>
          <p:nvPr/>
        </p:nvSpPr>
        <p:spPr>
          <a:xfrm>
            <a:off x="661475" y="1649611"/>
            <a:ext cx="11478330" cy="2080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DOL (Direct-On-Line) lényege, hogy a háromfázisú aszinkron motort egy mágneskapcsoló közvetlenül a hálózatra kapcsolja. Indításkor nincs feszültségcsökkentés.</a:t>
            </a:r>
            <a:endParaRPr lang="en-US" sz="11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2126357"/>
            <a:ext cx="4267093" cy="362585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834215" y="2111474"/>
            <a:ext cx="4702256" cy="2195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Anyagigény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6834215" y="2450505"/>
            <a:ext cx="4702256" cy="1915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23520" indent="-223520" algn="l">
              <a:lnSpc>
                <a:spcPct val="123000"/>
              </a:lnSpc>
              <a:buSzPct val="100000"/>
              <a:buChar char="•"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 db mágneskapcsoló – K1</a:t>
            </a:r>
            <a:endParaRPr lang="en-US" sz="1100" dirty="0"/>
          </a:p>
          <a:p>
            <a:pPr marL="223520" indent="-223520" algn="l">
              <a:lnSpc>
                <a:spcPct val="123000"/>
              </a:lnSpc>
              <a:buSzPct val="100000"/>
              <a:buChar char="•"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 db motorvédő kapcsoló vagy túlterhelési relé</a:t>
            </a:r>
            <a:endParaRPr lang="en-US" sz="1100" dirty="0"/>
          </a:p>
          <a:p>
            <a:pPr marL="223520" indent="-223520" algn="l">
              <a:lnSpc>
                <a:spcPct val="123000"/>
              </a:lnSpc>
              <a:buSzPct val="100000"/>
              <a:buChar char="•"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Rövidzárlatvédelem – biztosító vagy megfelelő kismegszakító</a:t>
            </a:r>
            <a:endParaRPr lang="en-US" sz="1100" dirty="0"/>
          </a:p>
          <a:p>
            <a:pPr marL="223520" indent="-223520" algn="l">
              <a:lnSpc>
                <a:spcPct val="123000"/>
              </a:lnSpc>
              <a:buSzPct val="100000"/>
              <a:buChar char="•"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 db START nyomógomb – záró érintkező</a:t>
            </a:r>
            <a:endParaRPr lang="en-US" sz="1100" dirty="0"/>
          </a:p>
          <a:p>
            <a:pPr marL="223520" indent="-223520" algn="l">
              <a:lnSpc>
                <a:spcPct val="123000"/>
              </a:lnSpc>
              <a:buSzPct val="100000"/>
              <a:buChar char="•"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 db STOP nyomógomb – bontó érintkező</a:t>
            </a:r>
            <a:endParaRPr lang="en-US" sz="1100" dirty="0"/>
          </a:p>
          <a:p>
            <a:pPr marL="223520" indent="-223520" algn="l">
              <a:lnSpc>
                <a:spcPct val="123000"/>
              </a:lnSpc>
              <a:buSzPct val="100000"/>
              <a:buChar char="•"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 db záró segédérintkező az öntartáshoz</a:t>
            </a:r>
            <a:endParaRPr lang="en-US" sz="1100" dirty="0"/>
          </a:p>
          <a:p>
            <a:pPr marL="223520" indent="-223520" algn="l">
              <a:lnSpc>
                <a:spcPct val="123000"/>
              </a:lnSpc>
              <a:buSzPct val="100000"/>
              <a:buChar char="•"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Szükség szerint vészleállító; vezetékek, sorkapcsok, PE-vezető és szerelési anyagok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6834215" y="4485084"/>
            <a:ext cx="4702256" cy="2195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Áramköri felépítés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6834215" y="4824115"/>
            <a:ext cx="4702256" cy="9397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3C3939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Főáramkör:</a:t>
            </a: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Hálózat → Q1 védelem → K1 mágneskapcsoló → F1 motorvédő → M1 motor</a:t>
            </a:r>
            <a:endParaRPr lang="en-US" sz="1100" dirty="0"/>
          </a:p>
          <a:p>
            <a:pPr marL="0" indent="0" algn="l">
              <a:lnSpc>
                <a:spcPct val="123000"/>
              </a:lnSpc>
              <a:buNone/>
            </a:pPr>
            <a:r>
              <a:rPr lang="en-US" sz="1100" b="1" dirty="0">
                <a:solidFill>
                  <a:srgbClr val="3C3939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Vezérlőkör:</a:t>
            </a: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STOP → motorvédelem bontóérintkezője → START → K1 tekercs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456009"/>
            <a:ext cx="10868745" cy="3617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2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DOL – működési elv</a:t>
            </a:r>
            <a:endParaRPr lang="en-US" sz="22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1030387"/>
            <a:ext cx="3705232" cy="466437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243382" y="1030387"/>
            <a:ext cx="231472" cy="1446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3C3939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01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6243382" y="1214338"/>
            <a:ext cx="5293188" cy="12700"/>
          </a:xfrm>
          <a:prstGeom prst="rect">
            <a:avLst/>
          </a:prstGeom>
          <a:solidFill>
            <a:srgbClr val="1B1B27"/>
          </a:solidFill>
          <a:ln/>
        </p:spPr>
      </p:sp>
      <p:sp>
        <p:nvSpPr>
          <p:cNvPr id="6" name="Text 3"/>
          <p:cNvSpPr/>
          <p:nvPr/>
        </p:nvSpPr>
        <p:spPr>
          <a:xfrm>
            <a:off x="6243382" y="1297583"/>
            <a:ext cx="5293188" cy="1808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Nyugalmi állapot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6243382" y="1559421"/>
            <a:ext cx="5293188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9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K1 mágneskapcsoló tekercse feszültségmentes, főérintkezői nyitva vannak. A motor nem kap feszültséget.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6243382" y="2042120"/>
            <a:ext cx="231472" cy="1446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3C3939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02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6243382" y="2226072"/>
            <a:ext cx="5293188" cy="12700"/>
          </a:xfrm>
          <a:prstGeom prst="rect">
            <a:avLst/>
          </a:prstGeom>
          <a:solidFill>
            <a:srgbClr val="1B1B27"/>
          </a:solidFill>
          <a:ln/>
        </p:spPr>
      </p:sp>
      <p:sp>
        <p:nvSpPr>
          <p:cNvPr id="10" name="Text 7"/>
          <p:cNvSpPr/>
          <p:nvPr/>
        </p:nvSpPr>
        <p:spPr>
          <a:xfrm>
            <a:off x="6243382" y="2309316"/>
            <a:ext cx="5293188" cy="1808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START gomb megnyomása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243382" y="2571155"/>
            <a:ext cx="5293188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9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START zárja a vezérlőáramkört. A K1 tekercs behúz, a főérintkezők zárnak, a motor teljes hálózati feszültséggel elindul.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6243382" y="3053854"/>
            <a:ext cx="231472" cy="1446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3C3939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03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6243382" y="3237805"/>
            <a:ext cx="5293188" cy="12700"/>
          </a:xfrm>
          <a:prstGeom prst="rect">
            <a:avLst/>
          </a:prstGeom>
          <a:solidFill>
            <a:srgbClr val="1B1B27"/>
          </a:solidFill>
          <a:ln/>
        </p:spPr>
      </p:sp>
      <p:sp>
        <p:nvSpPr>
          <p:cNvPr id="14" name="Text 11"/>
          <p:cNvSpPr/>
          <p:nvPr/>
        </p:nvSpPr>
        <p:spPr>
          <a:xfrm>
            <a:off x="6243382" y="3321050"/>
            <a:ext cx="5293188" cy="1808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Öntartás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243382" y="3582888"/>
            <a:ext cx="5293188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9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K1 záró segédérintkezője a START gombbal párhuzamosan zár. A START elengedése után a tekercs továbbra is feszültséget kap.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6243382" y="4065587"/>
            <a:ext cx="231472" cy="1446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3C3939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04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6243382" y="4249539"/>
            <a:ext cx="5293188" cy="12700"/>
          </a:xfrm>
          <a:prstGeom prst="rect">
            <a:avLst/>
          </a:prstGeom>
          <a:solidFill>
            <a:srgbClr val="1B1B27"/>
          </a:solidFill>
          <a:ln/>
        </p:spPr>
      </p:sp>
      <p:sp>
        <p:nvSpPr>
          <p:cNvPr id="18" name="Text 15"/>
          <p:cNvSpPr/>
          <p:nvPr/>
        </p:nvSpPr>
        <p:spPr>
          <a:xfrm>
            <a:off x="6243382" y="4332784"/>
            <a:ext cx="5293188" cy="1808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STOP gomb megnyomása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243382" y="4594622"/>
            <a:ext cx="5293188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9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STOP bontóérintkező megszakítja a K1 tekercsének áramkörét. K1 elejt, a főérintkezők nyitnak, a motor leáll.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6243382" y="5077321"/>
            <a:ext cx="231472" cy="1446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3C3939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05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6243382" y="5261273"/>
            <a:ext cx="5293188" cy="12700"/>
          </a:xfrm>
          <a:prstGeom prst="rect">
            <a:avLst/>
          </a:prstGeom>
          <a:solidFill>
            <a:srgbClr val="1B1B27"/>
          </a:solidFill>
          <a:ln/>
        </p:spPr>
      </p:sp>
      <p:sp>
        <p:nvSpPr>
          <p:cNvPr id="22" name="Text 19"/>
          <p:cNvSpPr/>
          <p:nvPr/>
        </p:nvSpPr>
        <p:spPr>
          <a:xfrm>
            <a:off x="6243382" y="5344517"/>
            <a:ext cx="5293188" cy="1808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Túlterhelés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243382" y="5606355"/>
            <a:ext cx="5293188" cy="157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9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motorvédő/túlterhelési relé NC segédérintkezője kinyit, K1 elejt és a motor lekapcsol.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661475" y="6032798"/>
            <a:ext cx="10868745" cy="369094"/>
          </a:xfrm>
          <a:prstGeom prst="roundRect">
            <a:avLst>
              <a:gd name="adj" fmla="val 13174"/>
            </a:avLst>
          </a:prstGeom>
          <a:solidFill>
            <a:srgbClr val="E1E1EA"/>
          </a:solidFill>
          <a:ln/>
        </p:spPr>
      </p:sp>
      <p:pic>
        <p:nvPicPr>
          <p:cNvPr id="2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161" y="6149280"/>
            <a:ext cx="144657" cy="115689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1037505" y="6142633"/>
            <a:ext cx="10986614" cy="157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Összefoglalás:</a:t>
            </a:r>
            <a:r>
              <a:rPr lang="en-US" sz="90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START → K1 behúz → motor hálózatra kapcsol → öntartás → STOP vagy motorvédelem → K1 elejt → motor leáll.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678259"/>
            <a:ext cx="10868745" cy="3359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1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 Irányváltó motorindítás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661475" y="1153914"/>
            <a:ext cx="11478330" cy="1418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8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Két mágneskapcsolót használunk: </a:t>
            </a:r>
            <a:r>
              <a:rPr lang="en-US" sz="800" b="1" dirty="0">
                <a:solidFill>
                  <a:srgbClr val="3C3939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K1 – előre, K2 – hátra.</a:t>
            </a:r>
            <a:r>
              <a:rPr lang="en-US" sz="8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A forgásirányt két fázis felcserélésével változtatjuk meg.</a:t>
            </a:r>
            <a:endParaRPr lang="en-US" sz="8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1452959"/>
            <a:ext cx="3670208" cy="46482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712377" y="1374378"/>
            <a:ext cx="4901482" cy="4805363"/>
          </a:xfrm>
          <a:prstGeom prst="roundRect">
            <a:avLst>
              <a:gd name="adj" fmla="val 1611"/>
            </a:avLst>
          </a:prstGeom>
          <a:solidFill>
            <a:srgbClr val="1B1B27">
              <a:alpha val="95000"/>
            </a:srgbClr>
          </a:solidFill>
          <a:ln/>
        </p:spPr>
      </p:sp>
      <p:sp>
        <p:nvSpPr>
          <p:cNvPr id="6" name="Text 3"/>
          <p:cNvSpPr/>
          <p:nvPr/>
        </p:nvSpPr>
        <p:spPr>
          <a:xfrm>
            <a:off x="6819829" y="1444228"/>
            <a:ext cx="4686580" cy="1678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Reteszelés – kritikus biztonsági követelmény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6819829" y="1681956"/>
            <a:ext cx="4686580" cy="2837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K1 és K2 között </a:t>
            </a:r>
            <a:r>
              <a:rPr lang="en-US" sz="800" b="1" dirty="0">
                <a:solidFill>
                  <a:srgbClr val="FFFFFF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villamos és mechanikus reteszelés</a:t>
            </a:r>
            <a:r>
              <a:rPr lang="en-US" sz="8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szükséges, mert egyidejű bekapcsolásuk zárlatot okozhat.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6819829" y="2035572"/>
            <a:ext cx="4686580" cy="1678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Villamos reteszelés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6819829" y="2273300"/>
            <a:ext cx="4686580" cy="2837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K1 NC segédérintkezője a K2 tekercs áramkörébe van kötve, és fordítva – így a két kontaktor egyszerre nem húzhat be.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6819829" y="2626916"/>
            <a:ext cx="4686580" cy="1678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Mechanikus reteszelés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6819829" y="2864644"/>
            <a:ext cx="4686580" cy="2837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kontaktorok mechanikusan is össze vannak kötve, hogy fizikailag kizárják az egyidejű bekapcsolást.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6819829" y="3218259"/>
            <a:ext cx="4686580" cy="1678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Tipikus alkalmazások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6819829" y="3455988"/>
            <a:ext cx="4686580" cy="2837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Szállítószalag, emelő berendezés, kapu meghajtás – mindenhol, ahol a forgásirány megfordítása szükséges.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609302"/>
            <a:ext cx="10868745" cy="439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 Csillag-delta indítás</a:t>
            </a:r>
            <a:endParaRPr lang="en-US" sz="2750" dirty="0"/>
          </a:p>
        </p:txBody>
      </p:sp>
      <p:sp>
        <p:nvSpPr>
          <p:cNvPr id="3" name="Text 1"/>
          <p:cNvSpPr/>
          <p:nvPr/>
        </p:nvSpPr>
        <p:spPr>
          <a:xfrm>
            <a:off x="661475" y="1287463"/>
            <a:ext cx="11478330" cy="2080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Három mágneskapcsoló: </a:t>
            </a:r>
            <a:r>
              <a:rPr lang="en-US" sz="1100" b="1" dirty="0">
                <a:solidFill>
                  <a:srgbClr val="3C3939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K1 – hálózati, K2 – csillag, K3 – delta.</a:t>
            </a: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Az átkapcsolást általában időrelé végzi.</a:t>
            </a:r>
            <a:endParaRPr lang="en-US" sz="11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1764209"/>
            <a:ext cx="3397165" cy="27305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834215" y="1749326"/>
            <a:ext cx="4702256" cy="2195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Indítási sorrend</a:t>
            </a:r>
            <a:endParaRPr lang="en-US" sz="135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86929" y="2103239"/>
            <a:ext cx="3996828" cy="1446907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480313" y="3196956"/>
            <a:ext cx="1001253" cy="125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Delta</a:t>
            </a:r>
            <a:endParaRPr lang="en-US" sz="750" dirty="0"/>
          </a:p>
        </p:txBody>
      </p:sp>
      <p:sp>
        <p:nvSpPr>
          <p:cNvPr id="8" name="Text 4"/>
          <p:cNvSpPr/>
          <p:nvPr/>
        </p:nvSpPr>
        <p:spPr>
          <a:xfrm>
            <a:off x="7480313" y="2760844"/>
            <a:ext cx="1001253" cy="125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Átkapcsolási idő</a:t>
            </a:r>
            <a:endParaRPr lang="en-US" sz="750" dirty="0"/>
          </a:p>
        </p:txBody>
      </p:sp>
      <p:sp>
        <p:nvSpPr>
          <p:cNvPr id="9" name="Text 5"/>
          <p:cNvSpPr/>
          <p:nvPr/>
        </p:nvSpPr>
        <p:spPr>
          <a:xfrm>
            <a:off x="7480313" y="2320282"/>
            <a:ext cx="1001253" cy="125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Csillag</a:t>
            </a:r>
            <a:endParaRPr lang="en-US" sz="750" dirty="0"/>
          </a:p>
        </p:txBody>
      </p:sp>
      <p:sp>
        <p:nvSpPr>
          <p:cNvPr id="10" name="Text 6"/>
          <p:cNvSpPr/>
          <p:nvPr/>
        </p:nvSpPr>
        <p:spPr>
          <a:xfrm>
            <a:off x="6834215" y="3684488"/>
            <a:ext cx="4702256" cy="2195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Matematikai összefüggések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6834215" y="4023519"/>
            <a:ext cx="4702256" cy="125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3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Csillagkapcsolásban a motorfázisra jutó feszültség: </a:t>
            </a:r>
            <a:r>
              <a:rPr lang="en-US" sz="1100" b="1" i="1" dirty="0">
                <a:solidFill>
                  <a:srgbClr val="3C3939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Uf = Uv / √3</a:t>
            </a:r>
            <a:endParaRPr lang="en-US" sz="1100" dirty="0"/>
          </a:p>
          <a:p>
            <a:pPr marL="0" indent="0" algn="l">
              <a:lnSpc>
                <a:spcPct val="123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Mivel az aszinkron motor nyomatéka közelítőleg </a:t>
            </a:r>
            <a:r>
              <a:rPr lang="en-US" sz="1100" b="1" i="1" dirty="0">
                <a:solidFill>
                  <a:srgbClr val="3C3939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M ~ U²</a:t>
            </a: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, ezért </a:t>
            </a:r>
            <a:r>
              <a:rPr lang="en-US" sz="1100" b="1" i="1" dirty="0">
                <a:solidFill>
                  <a:srgbClr val="3C3939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MY ≈ 1/3 MΔ</a:t>
            </a: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</a:t>
            </a:r>
            <a:endParaRPr lang="en-US" sz="1100" dirty="0"/>
          </a:p>
          <a:p>
            <a:pPr marL="0" indent="0" algn="l">
              <a:lnSpc>
                <a:spcPct val="123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 indítási vonali áram csillagban szintén </a:t>
            </a:r>
            <a:r>
              <a:rPr lang="en-US" sz="1100" b="1" dirty="0">
                <a:solidFill>
                  <a:srgbClr val="3C3939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kb. 1/3-a</a:t>
            </a: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a közvetlen delta-indításhoz képest.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834215" y="5413077"/>
            <a:ext cx="4702256" cy="701278"/>
          </a:xfrm>
          <a:prstGeom prst="roundRect">
            <a:avLst>
              <a:gd name="adj" fmla="val 8420"/>
            </a:avLst>
          </a:prstGeom>
          <a:solidFill>
            <a:srgbClr val="E1E1EA"/>
          </a:solidFill>
          <a:ln/>
        </p:spPr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74705" y="5597128"/>
            <a:ext cx="175712" cy="14049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7290907" y="5555655"/>
            <a:ext cx="4105073" cy="4161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Feltétel:</a:t>
            </a:r>
            <a:r>
              <a:rPr lang="en-US" sz="110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6 kivezetéses motor szükséges; az átkapcsoláskor tranziens jelenség lép fel.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61181"/>
            <a:ext cx="10868745" cy="439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5. A mágneskapcsoló működési elve</a:t>
            </a:r>
            <a:endParaRPr lang="en-US" sz="2750" dirty="0"/>
          </a:p>
        </p:txBody>
      </p:sp>
      <p:sp>
        <p:nvSpPr>
          <p:cNvPr id="3" name="Text 1"/>
          <p:cNvSpPr/>
          <p:nvPr/>
        </p:nvSpPr>
        <p:spPr>
          <a:xfrm>
            <a:off x="661475" y="1239341"/>
            <a:ext cx="10868745" cy="4161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mágneskapcsoló (kontaktor) elektromágnesesen működtetett kapcsolókészülék. Kis teljesítményű vezérlőjellel nagyobb teljesítményű fogyasztót, például háromfázisú motort kapcsol.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61475" y="1909266"/>
            <a:ext cx="4702256" cy="2195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Fő részei</a:t>
            </a:r>
            <a:endParaRPr lang="en-US" sz="135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2425" y="2244130"/>
            <a:ext cx="4721305" cy="58519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40064" y="2263180"/>
            <a:ext cx="4523667" cy="2195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A1-A2 tekercs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840064" y="2602210"/>
            <a:ext cx="4523667" cy="2080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vezérlőfeszültség ide kapcsolódik; a mágneses teret hozza létre.</a:t>
            </a:r>
            <a:endParaRPr lang="en-US" sz="110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2425" y="3030141"/>
            <a:ext cx="4721305" cy="5851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40064" y="3049191"/>
            <a:ext cx="4523667" cy="2195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Álló és mozgó vasmag</a:t>
            </a:r>
            <a:endParaRPr lang="en-US" sz="1350" dirty="0"/>
          </a:p>
        </p:txBody>
      </p:sp>
      <p:sp>
        <p:nvSpPr>
          <p:cNvPr id="10" name="Text 6"/>
          <p:cNvSpPr/>
          <p:nvPr/>
        </p:nvSpPr>
        <p:spPr>
          <a:xfrm>
            <a:off x="840064" y="3388221"/>
            <a:ext cx="4523667" cy="2080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mágneses tér a mozgó vasmagot behúzza az álló vasmagba.</a:t>
            </a:r>
            <a:endParaRPr lang="en-US" sz="1100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2425" y="3816152"/>
            <a:ext cx="4721305" cy="585192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40064" y="3835202"/>
            <a:ext cx="4523667" cy="2195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Főérintkezők (L1-T1, L2-T2, L3-T3)</a:t>
            </a:r>
            <a:endParaRPr lang="en-US" sz="1350" dirty="0"/>
          </a:p>
        </p:txBody>
      </p:sp>
      <p:sp>
        <p:nvSpPr>
          <p:cNvPr id="13" name="Text 8"/>
          <p:cNvSpPr/>
          <p:nvPr/>
        </p:nvSpPr>
        <p:spPr>
          <a:xfrm>
            <a:off x="840064" y="4174232"/>
            <a:ext cx="4523667" cy="2080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motor főáramkörét kapcsolják; nagy áramot bírnak.</a:t>
            </a:r>
            <a:endParaRPr lang="en-US" sz="1100" dirty="0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2425" y="4602163"/>
            <a:ext cx="4721305" cy="585192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840064" y="4621212"/>
            <a:ext cx="4523667" cy="2195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Segédérintkezők (NO és NC)</a:t>
            </a:r>
            <a:endParaRPr lang="en-US" sz="1350" dirty="0"/>
          </a:p>
        </p:txBody>
      </p:sp>
      <p:sp>
        <p:nvSpPr>
          <p:cNvPr id="16" name="Text 10"/>
          <p:cNvSpPr/>
          <p:nvPr/>
        </p:nvSpPr>
        <p:spPr>
          <a:xfrm>
            <a:off x="840064" y="4960243"/>
            <a:ext cx="4523667" cy="2080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Vezérlési feladatokra: öntartás, reteszelés, jelzés.</a:t>
            </a:r>
            <a:endParaRPr lang="en-US" sz="1100" dirty="0"/>
          </a:p>
        </p:txBody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42425" y="5388173"/>
            <a:ext cx="4721305" cy="793254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840064" y="5407223"/>
            <a:ext cx="4523667" cy="2195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Visszatérítő rugó és ívkioltó</a:t>
            </a:r>
            <a:endParaRPr lang="en-US" sz="1350" dirty="0"/>
          </a:p>
        </p:txBody>
      </p:sp>
      <p:sp>
        <p:nvSpPr>
          <p:cNvPr id="19" name="Text 12"/>
          <p:cNvSpPr/>
          <p:nvPr/>
        </p:nvSpPr>
        <p:spPr>
          <a:xfrm>
            <a:off x="840064" y="5746254"/>
            <a:ext cx="4523667" cy="4161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rugó visszaállítja a vasmagot kikapcsoláskor; az ívkioltó védi az érintkezőket.</a:t>
            </a:r>
            <a:endParaRPr lang="en-US" sz="1100" dirty="0"/>
          </a:p>
        </p:txBody>
      </p:sp>
      <p:sp>
        <p:nvSpPr>
          <p:cNvPr id="20" name="Text 13"/>
          <p:cNvSpPr/>
          <p:nvPr/>
        </p:nvSpPr>
        <p:spPr>
          <a:xfrm>
            <a:off x="5712972" y="1909266"/>
            <a:ext cx="5823499" cy="2195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Bekapcsolás és kikapcsolás</a:t>
            </a:r>
            <a:endParaRPr lang="en-US" sz="1350" dirty="0"/>
          </a:p>
        </p:txBody>
      </p:sp>
      <p:sp>
        <p:nvSpPr>
          <p:cNvPr id="21" name="Shape 14"/>
          <p:cNvSpPr/>
          <p:nvPr/>
        </p:nvSpPr>
        <p:spPr>
          <a:xfrm>
            <a:off x="5712972" y="2263180"/>
            <a:ext cx="2851972" cy="1673027"/>
          </a:xfrm>
          <a:prstGeom prst="roundRect">
            <a:avLst>
              <a:gd name="adj" fmla="val 3529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22" name="Text 15"/>
          <p:cNvSpPr/>
          <p:nvPr/>
        </p:nvSpPr>
        <p:spPr>
          <a:xfrm>
            <a:off x="5859812" y="2410023"/>
            <a:ext cx="2558291" cy="2195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Bekapcsolás</a:t>
            </a:r>
            <a:endParaRPr lang="en-US" sz="1350" dirty="0"/>
          </a:p>
        </p:txBody>
      </p:sp>
      <p:sp>
        <p:nvSpPr>
          <p:cNvPr id="23" name="Text 16"/>
          <p:cNvSpPr/>
          <p:nvPr/>
        </p:nvSpPr>
        <p:spPr>
          <a:xfrm>
            <a:off x="5859812" y="2749054"/>
            <a:ext cx="2558291" cy="10403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 A1-A2 tekercsre kapcsolt névleges vezérlőfeszültség áramot hoz létre. A mágneses tér behúzza a mozgó vasmagot. </a:t>
            </a:r>
            <a:r>
              <a:rPr lang="en-US" sz="1100" b="1" dirty="0">
                <a:solidFill>
                  <a:srgbClr val="3C3939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NO érintkező → zár | NC érintkező → nyit.</a:t>
            </a:r>
            <a:endParaRPr lang="en-US" sz="1100" dirty="0"/>
          </a:p>
        </p:txBody>
      </p:sp>
      <p:sp>
        <p:nvSpPr>
          <p:cNvPr id="24" name="Shape 17"/>
          <p:cNvSpPr/>
          <p:nvPr/>
        </p:nvSpPr>
        <p:spPr>
          <a:xfrm>
            <a:off x="8684400" y="2263180"/>
            <a:ext cx="2852071" cy="1673027"/>
          </a:xfrm>
          <a:prstGeom prst="roundRect">
            <a:avLst>
              <a:gd name="adj" fmla="val 3529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25" name="Text 18"/>
          <p:cNvSpPr/>
          <p:nvPr/>
        </p:nvSpPr>
        <p:spPr>
          <a:xfrm>
            <a:off x="8831240" y="2410023"/>
            <a:ext cx="2558391" cy="2195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Kikapcsolás</a:t>
            </a:r>
            <a:endParaRPr lang="en-US" sz="1350" dirty="0"/>
          </a:p>
        </p:txBody>
      </p:sp>
      <p:sp>
        <p:nvSpPr>
          <p:cNvPr id="26" name="Text 19"/>
          <p:cNvSpPr/>
          <p:nvPr/>
        </p:nvSpPr>
        <p:spPr>
          <a:xfrm>
            <a:off x="8831240" y="2749054"/>
            <a:ext cx="2558391" cy="8322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tekercsfeszültség megszűnésekor a mágneses tér megszűnik, a rugó visszaállítja a vasmagot, a főérintkezők nyitnak.</a:t>
            </a:r>
            <a:endParaRPr lang="en-US" sz="1100" dirty="0"/>
          </a:p>
        </p:txBody>
      </p:sp>
      <p:sp>
        <p:nvSpPr>
          <p:cNvPr id="27" name="Shape 20"/>
          <p:cNvSpPr/>
          <p:nvPr/>
        </p:nvSpPr>
        <p:spPr>
          <a:xfrm>
            <a:off x="5712972" y="4055666"/>
            <a:ext cx="5823499" cy="1256903"/>
          </a:xfrm>
          <a:prstGeom prst="roundRect">
            <a:avLst>
              <a:gd name="adj" fmla="val 4698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28" name="Text 21"/>
          <p:cNvSpPr/>
          <p:nvPr/>
        </p:nvSpPr>
        <p:spPr>
          <a:xfrm>
            <a:off x="5859812" y="4202509"/>
            <a:ext cx="5529819" cy="2195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AC kontaktor sajátossága</a:t>
            </a:r>
            <a:endParaRPr lang="en-US" sz="1350" dirty="0"/>
          </a:p>
        </p:txBody>
      </p:sp>
      <p:sp>
        <p:nvSpPr>
          <p:cNvPr id="29" name="Text 22"/>
          <p:cNvSpPr/>
          <p:nvPr/>
        </p:nvSpPr>
        <p:spPr>
          <a:xfrm>
            <a:off x="5859812" y="4541540"/>
            <a:ext cx="5529819" cy="6241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Váltakozó áramú kontaktornál a mágneses fluxus minden periódusban kétszer áthalad nullán. A rezgés és zúgás csökkentésére </a:t>
            </a:r>
            <a:r>
              <a:rPr lang="en-US" sz="1100" b="1" dirty="0">
                <a:solidFill>
                  <a:srgbClr val="3C3939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árnyékoló- vagy rövidrezárt gyűrűt</a:t>
            </a: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alkalmaznak.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5712972" y="5446911"/>
            <a:ext cx="5823499" cy="701278"/>
          </a:xfrm>
          <a:prstGeom prst="roundRect">
            <a:avLst>
              <a:gd name="adj" fmla="val 8420"/>
            </a:avLst>
          </a:prstGeom>
          <a:solidFill>
            <a:srgbClr val="E1E1EA"/>
          </a:solidFill>
          <a:ln/>
        </p:spPr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3462" y="5630962"/>
            <a:ext cx="175712" cy="140494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6169664" y="5589488"/>
            <a:ext cx="5226316" cy="4161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Tanulói megfogalmazás:</a:t>
            </a:r>
            <a:r>
              <a:rPr lang="en-US" sz="110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feszültség a tekercsre → mágneses tér → vasmag behúz → érintkezők átkapcsolnak.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42032"/>
            <a:ext cx="10868745" cy="5167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2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5. Segédérintkezők szerepe</a:t>
            </a:r>
            <a:endParaRPr lang="en-US" sz="3250" dirty="0"/>
          </a:p>
        </p:txBody>
      </p:sp>
      <p:sp>
        <p:nvSpPr>
          <p:cNvPr id="3" name="Text 1"/>
          <p:cNvSpPr/>
          <p:nvPr/>
        </p:nvSpPr>
        <p:spPr>
          <a:xfrm>
            <a:off x="661475" y="1389459"/>
            <a:ext cx="10868745" cy="529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mágneskapcsoló segédérintkezői kulcsszerepet játszanak a vezérlőáramkörök kialakításában. Típusuktól és bekötésüktől függően öntartást vagy reteszelést valósítanak meg.</a:t>
            </a:r>
            <a:endParaRPr lang="en-US" sz="13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1475" y="2104727"/>
            <a:ext cx="5351725" cy="230792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22017" y="2289076"/>
            <a:ext cx="4906840" cy="5169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13-14 NO segédérintkező – Öntartás (DOL indításnál)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922017" y="2905224"/>
            <a:ext cx="4906840" cy="13230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13-14 jelű </a:t>
            </a:r>
            <a:r>
              <a:rPr lang="en-US" sz="1300" b="1" dirty="0">
                <a:solidFill>
                  <a:srgbClr val="3C3939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normálisan nyitott (NO)</a:t>
            </a: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segédérintkező a START nyomógombbal párhuzamosan kapcsolódik a vezérlőáramkörbe. Amikor K1 behúz, ez az érintkező is zár, és a tekercs feszültségét a START gomb elengedése után is fenntartja. Az öntartás nélkül a motor csak addig futna, amíg a START gombot nyomva tartják.</a:t>
            </a:r>
            <a:endParaRPr lang="en-US" sz="13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78495" y="2104727"/>
            <a:ext cx="5351725" cy="2307927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439037" y="2289076"/>
            <a:ext cx="4906840" cy="5169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21-22 NC segédérintkező – Villamos reteszelés (irányváltó kapcsolásnál)</a:t>
            </a:r>
            <a:endParaRPr lang="en-US" sz="1600" dirty="0"/>
          </a:p>
        </p:txBody>
      </p:sp>
      <p:sp>
        <p:nvSpPr>
          <p:cNvPr id="9" name="Text 5"/>
          <p:cNvSpPr/>
          <p:nvPr/>
        </p:nvSpPr>
        <p:spPr>
          <a:xfrm>
            <a:off x="6439037" y="2905224"/>
            <a:ext cx="4906840" cy="13230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21-22 jelű </a:t>
            </a:r>
            <a:r>
              <a:rPr lang="en-US" sz="1300" b="1" dirty="0">
                <a:solidFill>
                  <a:srgbClr val="3C3939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normálisan zárt (NC)</a:t>
            </a: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segédérintkező a másik mágneskapcsoló tekercsének áramkörébe van sorba kötve. Ha K1 behúz, a K1 NC segédérintkezője megszakítja K2 tekercsének áramkörét – és fordítva. Ez megakadályozza, hogy K1 és K2 egyidejűleg bekapcsoljon, ami fáziszárlatot okozna.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1475" y="4598690"/>
          <a:ext cx="9143771" cy="914400"/>
        </p:xfrm>
        <a:graphic>
          <a:graphicData uri="http://schemas.openxmlformats.org/drawingml/2006/table">
            <a:tbl>
              <a:tblPr/>
              <a:tblGrid>
                <a:gridCol w="2173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737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606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6062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7891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3C3939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Érintkező</a:t>
                      </a:r>
                      <a:endParaRPr lang="en-US" sz="13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65391" marR="165391" marT="6350" marB="6350" anchor="ctr">
                    <a:lnL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3C3939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Típus</a:t>
                      </a:r>
                      <a:endParaRPr lang="en-US" sz="13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65391" marR="165391" marT="6350" marB="6350" anchor="ctr">
                    <a:lnL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3C3939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Alkalmazás</a:t>
                      </a:r>
                      <a:endParaRPr lang="en-US" sz="13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65391" marR="165391" marT="6350" marB="6350" anchor="ctr">
                    <a:lnL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3C3939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Funkció</a:t>
                      </a:r>
                      <a:endParaRPr lang="en-US" sz="13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65391" marR="165391" marT="6350" marB="6350" anchor="ctr">
                    <a:lnL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20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C3939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13-14</a:t>
                      </a:r>
                      <a:endParaRPr lang="en-US" sz="13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65391" marR="165391" marT="6350" marB="6350" anchor="ctr">
                    <a:lnL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C3939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NO (záró)</a:t>
                      </a:r>
                      <a:endParaRPr lang="en-US" sz="13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65391" marR="165391" marT="6350" marB="6350" anchor="ctr">
                    <a:lnL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C3939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DOL indítás</a:t>
                      </a:r>
                      <a:endParaRPr lang="en-US" sz="13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65391" marR="165391" marT="6350" marB="6350" anchor="ctr">
                    <a:lnL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C3939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Öntartás – START gomb helyettesítése</a:t>
                      </a:r>
                      <a:endParaRPr lang="en-US" sz="13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65391" marR="165391" marT="6350" marB="6350" anchor="ctr">
                    <a:lnL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352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C3939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21-22</a:t>
                      </a:r>
                      <a:endParaRPr lang="en-US" sz="13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65391" marR="165391" marT="6350" marB="6350" anchor="ctr">
                    <a:lnL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C3939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NC (bontó)</a:t>
                      </a:r>
                      <a:endParaRPr lang="en-US" sz="13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65391" marR="165391" marT="6350" marB="6350" anchor="ctr">
                    <a:lnL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C3939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Irányváltó kapcsolás</a:t>
                      </a:r>
                      <a:endParaRPr lang="en-US" sz="13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65391" marR="165391" marT="6350" marB="6350" anchor="ctr">
                    <a:lnL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C3939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Villamos reteszelés – egyidejű bekapcsolás megakadályozása</a:t>
                      </a:r>
                      <a:endParaRPr lang="en-US" sz="13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65391" marR="165391" marT="6350" marB="6350" anchor="ctr">
                    <a:lnL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01749"/>
            <a:ext cx="10868745" cy="439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6. Korszerű motorindítás</a:t>
            </a:r>
            <a:endParaRPr lang="en-US" sz="2750" dirty="0"/>
          </a:p>
        </p:txBody>
      </p:sp>
      <p:sp>
        <p:nvSpPr>
          <p:cNvPr id="3" name="Text 1"/>
          <p:cNvSpPr/>
          <p:nvPr/>
        </p:nvSpPr>
        <p:spPr>
          <a:xfrm>
            <a:off x="661475" y="1179909"/>
            <a:ext cx="10868745" cy="4161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lágyindító az indítás és leállítás mechanikai-villamos igénybevételét csökkenti. A frekvenciaváltó ezen túl szabályozható gyorsítást, lassítást, forgásirányt és fordulatszámot is biztosít.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61475" y="1775222"/>
            <a:ext cx="10868745" cy="2195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Technológiai fejlődési sor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61475" y="2173982"/>
            <a:ext cx="1086815" cy="780256"/>
          </a:xfrm>
          <a:prstGeom prst="roundRect">
            <a:avLst>
              <a:gd name="adj" fmla="val 7567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06063" y="2440583"/>
            <a:ext cx="197639" cy="24705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1888780" y="2314476"/>
            <a:ext cx="9500950" cy="2195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DOL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1888780" y="2605683"/>
            <a:ext cx="9500950" cy="2080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Közvetlen indítás – legegyszerűbb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818535" y="2946301"/>
            <a:ext cx="9641440" cy="9525"/>
          </a:xfrm>
          <a:prstGeom prst="roundRect">
            <a:avLst>
              <a:gd name="adj" fmla="val 49999"/>
            </a:avLst>
          </a:prstGeom>
          <a:solidFill>
            <a:srgbClr val="C7C7D0"/>
          </a:solidFill>
          <a:ln/>
        </p:spPr>
      </p:sp>
      <p:sp>
        <p:nvSpPr>
          <p:cNvPr id="10" name="Shape 8"/>
          <p:cNvSpPr/>
          <p:nvPr/>
        </p:nvSpPr>
        <p:spPr>
          <a:xfrm>
            <a:off x="661475" y="3024485"/>
            <a:ext cx="2173729" cy="780256"/>
          </a:xfrm>
          <a:prstGeom prst="roundRect">
            <a:avLst>
              <a:gd name="adj" fmla="val 7567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649470" y="3291086"/>
            <a:ext cx="197639" cy="24705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2975694" y="3164979"/>
            <a:ext cx="8414036" cy="2195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Irányváltó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2975694" y="3456186"/>
            <a:ext cx="8414036" cy="2080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Forgásirány-váltás két fázis cseréjével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905449" y="3796804"/>
            <a:ext cx="8554526" cy="9525"/>
          </a:xfrm>
          <a:prstGeom prst="roundRect">
            <a:avLst>
              <a:gd name="adj" fmla="val 49999"/>
            </a:avLst>
          </a:prstGeom>
          <a:solidFill>
            <a:srgbClr val="C7C7D0"/>
          </a:solidFill>
          <a:ln/>
        </p:spPr>
      </p:sp>
      <p:sp>
        <p:nvSpPr>
          <p:cNvPr id="15" name="Shape 13"/>
          <p:cNvSpPr/>
          <p:nvPr/>
        </p:nvSpPr>
        <p:spPr>
          <a:xfrm>
            <a:off x="661475" y="3874988"/>
            <a:ext cx="3260544" cy="780256"/>
          </a:xfrm>
          <a:prstGeom prst="roundRect">
            <a:avLst>
              <a:gd name="adj" fmla="val 7567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192878" y="4141589"/>
            <a:ext cx="197639" cy="24705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4062509" y="4015482"/>
            <a:ext cx="7327221" cy="2195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Csillag-delta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4062509" y="4306689"/>
            <a:ext cx="7327221" cy="2080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Csökkentett indítási áram és nyomaték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992264" y="4647307"/>
            <a:ext cx="7467711" cy="9525"/>
          </a:xfrm>
          <a:prstGeom prst="roundRect">
            <a:avLst>
              <a:gd name="adj" fmla="val 49999"/>
            </a:avLst>
          </a:prstGeom>
          <a:solidFill>
            <a:srgbClr val="C7C7D0"/>
          </a:solidFill>
          <a:ln/>
        </p:spPr>
      </p:sp>
      <p:sp>
        <p:nvSpPr>
          <p:cNvPr id="20" name="Shape 18"/>
          <p:cNvSpPr/>
          <p:nvPr/>
        </p:nvSpPr>
        <p:spPr>
          <a:xfrm>
            <a:off x="661475" y="4725491"/>
            <a:ext cx="4347458" cy="780256"/>
          </a:xfrm>
          <a:prstGeom prst="roundRect">
            <a:avLst>
              <a:gd name="adj" fmla="val 7567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736385" y="4992092"/>
            <a:ext cx="197639" cy="24705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5149424" y="4865985"/>
            <a:ext cx="6240306" cy="2195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Lágyindító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5149424" y="5157192"/>
            <a:ext cx="6240306" cy="2080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Fokozatos feszültségnövelés, kisebb mechanikai igénybevétel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79178" y="5497810"/>
            <a:ext cx="6380797" cy="9525"/>
          </a:xfrm>
          <a:prstGeom prst="roundRect">
            <a:avLst>
              <a:gd name="adj" fmla="val 49999"/>
            </a:avLst>
          </a:prstGeom>
          <a:solidFill>
            <a:srgbClr val="C7C7D0"/>
          </a:solidFill>
          <a:ln/>
        </p:spPr>
      </p:sp>
      <p:sp>
        <p:nvSpPr>
          <p:cNvPr id="25" name="Shape 23"/>
          <p:cNvSpPr/>
          <p:nvPr/>
        </p:nvSpPr>
        <p:spPr>
          <a:xfrm>
            <a:off x="661475" y="5575995"/>
            <a:ext cx="5434373" cy="780256"/>
          </a:xfrm>
          <a:prstGeom prst="roundRect">
            <a:avLst>
              <a:gd name="adj" fmla="val 7567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79792" y="5842595"/>
            <a:ext cx="197639" cy="24705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</a:t>
            </a:r>
            <a:endParaRPr lang="en-US" sz="1550" dirty="0"/>
          </a:p>
        </p:txBody>
      </p:sp>
      <p:sp>
        <p:nvSpPr>
          <p:cNvPr id="27" name="Text 25"/>
          <p:cNvSpPr/>
          <p:nvPr/>
        </p:nvSpPr>
        <p:spPr>
          <a:xfrm>
            <a:off x="6236338" y="5716488"/>
            <a:ext cx="5153392" cy="2195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Frekvenciaváltó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6236338" y="6007695"/>
            <a:ext cx="5153392" cy="2080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Teljes körű szabályozás – fordulatszám, gyorsítás, lassítás, irány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645319"/>
            <a:ext cx="10868745" cy="490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0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7. Összefoglalás</a:t>
            </a:r>
            <a:endParaRPr lang="en-US" sz="3050" dirty="0"/>
          </a:p>
        </p:txBody>
      </p:sp>
      <p:sp>
        <p:nvSpPr>
          <p:cNvPr id="3" name="Text 1"/>
          <p:cNvSpPr/>
          <p:nvPr/>
        </p:nvSpPr>
        <p:spPr>
          <a:xfrm>
            <a:off x="661475" y="1434703"/>
            <a:ext cx="11478330" cy="2451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2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motorindító kapcsolások ismerete elengedhetetlen az ipari villamosság területén. Az alábbi kulcsmegállapítások foglalják össze a tananyag lényegét.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61475" y="1847751"/>
            <a:ext cx="353508" cy="353516"/>
          </a:xfrm>
          <a:prstGeom prst="roundRect">
            <a:avLst>
              <a:gd name="adj" fmla="val 18668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64204" y="1901726"/>
            <a:ext cx="10366016" cy="2455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DOL – a legegyszerűbb megoldás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64204" y="2236788"/>
            <a:ext cx="10366016" cy="2451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2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DOL a legegyszerűbb és legkisebb anyagigényű klasszikus motorindítás – egy mágneskapcsoló, egy motorvédő, két nyomógomb.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61475" y="2780407"/>
            <a:ext cx="353508" cy="353516"/>
          </a:xfrm>
          <a:prstGeom prst="roundRect">
            <a:avLst>
              <a:gd name="adj" fmla="val 18668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64204" y="2834382"/>
            <a:ext cx="10366016" cy="2455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Mágneskapcsoló – kis vezérlőjel, nagy teljesítmény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164204" y="3169444"/>
            <a:ext cx="10366016" cy="2451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2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mágneskapcsoló kis vezérlőteljesítménnyel kapcsolja a motor főáramkörét; az öntartást egy záró segédérintkező biztosítja.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61475" y="3713063"/>
            <a:ext cx="353508" cy="353516"/>
          </a:xfrm>
          <a:prstGeom prst="roundRect">
            <a:avLst>
              <a:gd name="adj" fmla="val 18668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4204" y="3767038"/>
            <a:ext cx="10366016" cy="2455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Irányváltás – reteszelés kötelező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164204" y="4102100"/>
            <a:ext cx="10366016" cy="2451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2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Irányváltáskor két fázist cserélünk fel, és kötelező a villamos és mechanikus reteszelés a zárlat elkerülése érdekében.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61475" y="4645720"/>
            <a:ext cx="353508" cy="353516"/>
          </a:xfrm>
          <a:prstGeom prst="roundRect">
            <a:avLst>
              <a:gd name="adj" fmla="val 18668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4204" y="4699695"/>
            <a:ext cx="10366016" cy="2455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Csillag-delta – kompromisszum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164204" y="5034756"/>
            <a:ext cx="10366016" cy="2451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2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Csillag-delta indítás csökkenti az indítási áramot (1/3-ra), de az indítónyomatékot is ugyanolyan arányban csökkenti.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61475" y="5578376"/>
            <a:ext cx="353508" cy="353516"/>
          </a:xfrm>
          <a:prstGeom prst="roundRect">
            <a:avLst>
              <a:gd name="adj" fmla="val 18668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64204" y="5632351"/>
            <a:ext cx="10366016" cy="2455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Korszerű megoldások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64204" y="5967413"/>
            <a:ext cx="10366016" cy="2451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2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lágyindító és a frekvenciaváltó finomabb, korszerűbb motorindítást tesz lehetővé, kisebb mechanikai és villamos igénybevétellel.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02245"/>
            <a:ext cx="10868745" cy="4578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8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Ellenőrző kérdések</a:t>
            </a:r>
            <a:endParaRPr lang="en-US" sz="2850" dirty="0"/>
          </a:p>
        </p:txBody>
      </p:sp>
      <p:sp>
        <p:nvSpPr>
          <p:cNvPr id="3" name="Text 1"/>
          <p:cNvSpPr/>
          <p:nvPr/>
        </p:nvSpPr>
        <p:spPr>
          <a:xfrm>
            <a:off x="661475" y="1219696"/>
            <a:ext cx="11478330" cy="2210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11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 alábbi kérdések segítségével ellenőrizhető a tananyag elsajátítása. Minden kérdés a tárgyalt kapcsolások egy-egy kulcsfontosságú elemére vonatkozik.</a:t>
            </a:r>
            <a:endParaRPr lang="en-US" sz="115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1475" y="1586706"/>
            <a:ext cx="5369485" cy="120937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258262" y="1696541"/>
            <a:ext cx="175811" cy="2197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826968" y="2172791"/>
            <a:ext cx="5038500" cy="2288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Mit jelent a DOL rövidítés?</a:t>
            </a:r>
            <a:endParaRPr lang="en-US" sz="14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60735" y="1586706"/>
            <a:ext cx="5369485" cy="1209377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757522" y="1696541"/>
            <a:ext cx="175811" cy="2197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6326228" y="2172791"/>
            <a:ext cx="5038500" cy="4577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Mi történik a K1 mágneskapcsolóval a START gomb megnyomásakor?</a:t>
            </a:r>
            <a:endParaRPr lang="en-US" sz="140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1475" y="2925862"/>
            <a:ext cx="5369485" cy="98048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3258262" y="3035697"/>
            <a:ext cx="175811" cy="2197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</a:t>
            </a:r>
            <a:endParaRPr lang="en-US" sz="1350" dirty="0"/>
          </a:p>
        </p:txBody>
      </p:sp>
      <p:sp>
        <p:nvSpPr>
          <p:cNvPr id="12" name="Text 7"/>
          <p:cNvSpPr/>
          <p:nvPr/>
        </p:nvSpPr>
        <p:spPr>
          <a:xfrm>
            <a:off x="826968" y="3511947"/>
            <a:ext cx="5038500" cy="2288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Mi az öntartás feladata?</a:t>
            </a:r>
            <a:endParaRPr lang="en-US" sz="1400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160735" y="2925862"/>
            <a:ext cx="5369485" cy="98048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8757522" y="3035697"/>
            <a:ext cx="175811" cy="2197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</a:t>
            </a:r>
            <a:endParaRPr lang="en-US" sz="1350" dirty="0"/>
          </a:p>
        </p:txBody>
      </p:sp>
      <p:sp>
        <p:nvSpPr>
          <p:cNvPr id="15" name="Text 9"/>
          <p:cNvSpPr/>
          <p:nvPr/>
        </p:nvSpPr>
        <p:spPr>
          <a:xfrm>
            <a:off x="6326228" y="3511947"/>
            <a:ext cx="5038500" cy="2288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Miért bontóérintkezős a STOP nyomógomb?</a:t>
            </a:r>
            <a:endParaRPr lang="en-US" sz="1400" dirty="0"/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1475" y="4036120"/>
            <a:ext cx="5369485" cy="1209377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3258262" y="4145955"/>
            <a:ext cx="175811" cy="2197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</a:t>
            </a:r>
            <a:endParaRPr lang="en-US" sz="1350" dirty="0"/>
          </a:p>
        </p:txBody>
      </p:sp>
      <p:sp>
        <p:nvSpPr>
          <p:cNvPr id="18" name="Text 11"/>
          <p:cNvSpPr/>
          <p:nvPr/>
        </p:nvSpPr>
        <p:spPr>
          <a:xfrm>
            <a:off x="826968" y="4622205"/>
            <a:ext cx="5038500" cy="2288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Miért szükséges reteszelés az irányváltó kapcsolásban?</a:t>
            </a:r>
            <a:endParaRPr lang="en-US" sz="1400" dirty="0"/>
          </a:p>
        </p:txBody>
      </p:sp>
      <p:pic>
        <p:nvPicPr>
          <p:cNvPr id="19" name="Image 5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60735" y="4036120"/>
            <a:ext cx="5369485" cy="1209377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757522" y="4145955"/>
            <a:ext cx="175811" cy="2197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</a:t>
            </a:r>
            <a:endParaRPr lang="en-US" sz="1350" dirty="0"/>
          </a:p>
        </p:txBody>
      </p:sp>
      <p:sp>
        <p:nvSpPr>
          <p:cNvPr id="21" name="Text 13"/>
          <p:cNvSpPr/>
          <p:nvPr/>
        </p:nvSpPr>
        <p:spPr>
          <a:xfrm>
            <a:off x="6326228" y="4622205"/>
            <a:ext cx="5038500" cy="4577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Mi történik a motor indítónyomatékával csillagkapcsolásban?</a:t>
            </a:r>
            <a:endParaRPr lang="en-US" sz="1400" dirty="0"/>
          </a:p>
        </p:txBody>
      </p:sp>
      <p:pic>
        <p:nvPicPr>
          <p:cNvPr id="22" name="Image 6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1475" y="5375275"/>
            <a:ext cx="5369485" cy="980480"/>
          </a:xfrm>
          <a:prstGeom prst="rect">
            <a:avLst/>
          </a:prstGeom>
        </p:spPr>
      </p:pic>
      <p:sp>
        <p:nvSpPr>
          <p:cNvPr id="23" name="Text 14"/>
          <p:cNvSpPr/>
          <p:nvPr/>
        </p:nvSpPr>
        <p:spPr>
          <a:xfrm>
            <a:off x="3258262" y="5485110"/>
            <a:ext cx="175811" cy="2197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</a:t>
            </a:r>
            <a:endParaRPr lang="en-US" sz="1350" dirty="0"/>
          </a:p>
        </p:txBody>
      </p:sp>
      <p:sp>
        <p:nvSpPr>
          <p:cNvPr id="24" name="Text 15"/>
          <p:cNvSpPr/>
          <p:nvPr/>
        </p:nvSpPr>
        <p:spPr>
          <a:xfrm>
            <a:off x="826968" y="5961360"/>
            <a:ext cx="5038500" cy="2288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Mi a 13-14 segédérintkező tipikus szerepe?</a:t>
            </a:r>
            <a:endParaRPr lang="en-US" sz="1400" dirty="0"/>
          </a:p>
        </p:txBody>
      </p:sp>
      <p:pic>
        <p:nvPicPr>
          <p:cNvPr id="25" name="Image 7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160735" y="5375275"/>
            <a:ext cx="5369485" cy="980480"/>
          </a:xfrm>
          <a:prstGeom prst="rect">
            <a:avLst/>
          </a:prstGeom>
        </p:spPr>
      </p:pic>
      <p:sp>
        <p:nvSpPr>
          <p:cNvPr id="26" name="Text 16"/>
          <p:cNvSpPr/>
          <p:nvPr/>
        </p:nvSpPr>
        <p:spPr>
          <a:xfrm>
            <a:off x="8757522" y="5485110"/>
            <a:ext cx="175811" cy="2197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</a:t>
            </a:r>
            <a:endParaRPr lang="en-US" sz="1350" dirty="0"/>
          </a:p>
        </p:txBody>
      </p:sp>
      <p:sp>
        <p:nvSpPr>
          <p:cNvPr id="27" name="Text 17"/>
          <p:cNvSpPr/>
          <p:nvPr/>
        </p:nvSpPr>
        <p:spPr>
          <a:xfrm>
            <a:off x="6326228" y="5961360"/>
            <a:ext cx="5038500" cy="2288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Miért alkalmaznak rövidrezárt gyűrűt AC kontaktorban?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467048"/>
            <a:ext cx="10868745" cy="5167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2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Következő lépés</a:t>
            </a:r>
            <a:endParaRPr lang="en-US" sz="3250" dirty="0"/>
          </a:p>
        </p:txBody>
      </p:sp>
      <p:sp>
        <p:nvSpPr>
          <p:cNvPr id="3" name="Text 1"/>
          <p:cNvSpPr/>
          <p:nvPr/>
        </p:nvSpPr>
        <p:spPr>
          <a:xfrm>
            <a:off x="661475" y="2314476"/>
            <a:ext cx="11478330" cy="2646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Mágneskapcsoló adattábla, AC-1 / AC-3 / AC-4 alkalmazási kategóriák, majd gyakorlati DOL bekötés és hibakeresés.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61475" y="2765127"/>
            <a:ext cx="5351725" cy="1230213"/>
          </a:xfrm>
          <a:prstGeom prst="roundRect">
            <a:avLst>
              <a:gd name="adj" fmla="val 5647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33119" y="2936776"/>
            <a:ext cx="5008437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Mágneskapcsoló adattábla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33119" y="3294459"/>
            <a:ext cx="5008437" cy="529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névleges adatok, alkalmazási kategóriák és a kiválasztás szempontjainak megismerése.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78495" y="2765127"/>
            <a:ext cx="5351725" cy="1230213"/>
          </a:xfrm>
          <a:prstGeom prst="roundRect">
            <a:avLst>
              <a:gd name="adj" fmla="val 5647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50139" y="2936776"/>
            <a:ext cx="5008437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AC-1 / AC-3 / AC-4 kategóriák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350139" y="3294459"/>
            <a:ext cx="5008437" cy="529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 IEC szerinti alkalmazási kategóriák és azok jelentősége a kontaktor kiválasztásában.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61475" y="4160639"/>
            <a:ext cx="5351725" cy="1230213"/>
          </a:xfrm>
          <a:prstGeom prst="roundRect">
            <a:avLst>
              <a:gd name="adj" fmla="val 5647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3119" y="4332288"/>
            <a:ext cx="5008437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Gyakorlati DOL bekötés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33119" y="4689971"/>
            <a:ext cx="5008437" cy="529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Valós kapcsolási feladat: főáramkör és vezérlőkör bekötése, ellenőrzése.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178495" y="4160639"/>
            <a:ext cx="5351725" cy="1230213"/>
          </a:xfrm>
          <a:prstGeom prst="roundRect">
            <a:avLst>
              <a:gd name="adj" fmla="val 5647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0139" y="4332288"/>
            <a:ext cx="5008437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Hibakeresés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350139" y="4689971"/>
            <a:ext cx="5008437" cy="529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Tipikus hibák azonosítása és elhárítása DOL és irányváltó kapcsolásokban.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2509738"/>
            <a:ext cx="10868745" cy="5167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2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Források</a:t>
            </a:r>
            <a:endParaRPr lang="en-US" sz="32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1475" y="3357166"/>
            <a:ext cx="10868745" cy="99099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22017" y="3541514"/>
            <a:ext cx="10423860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IAP_Motorindito_kapcsolasok.pdf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922017" y="3899198"/>
            <a:ext cx="10423860" cy="2646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b="1" u="sng" dirty="0">
                <a:solidFill>
                  <a:srgbClr val="1B1B27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IAP_Motorindito_kapcsolasok.pdf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1B1B27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1510</Words>
  <Application>Microsoft Office PowerPoint</Application>
  <PresentationFormat>Szélesvásznú</PresentationFormat>
  <Paragraphs>211</Paragraphs>
  <Slides>14</Slides>
  <Notes>14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6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14</vt:i4>
      </vt:variant>
    </vt:vector>
  </HeadingPairs>
  <TitlesOfParts>
    <vt:vector size="21" baseType="lpstr">
      <vt:lpstr>Roboto Bold</vt:lpstr>
      <vt:lpstr>Arial</vt:lpstr>
      <vt:lpstr>Raleway</vt:lpstr>
      <vt:lpstr>Raleway Light</vt:lpstr>
      <vt:lpstr>Calibri</vt:lpstr>
      <vt:lpstr>Roboto</vt:lpstr>
      <vt:lpstr>Office Theme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PowerPoint-bemutató</dc:title>
  <dc:subject/>
  <dc:creator>Fazekas Zsolt</dc:creator>
  <cp:lastModifiedBy>zsolt Fazekas</cp:lastModifiedBy>
  <cp:revision>1</cp:revision>
  <dcterms:created xsi:type="dcterms:W3CDTF">2026-09-11T19:23:34Z</dcterms:created>
  <dcterms:modified xsi:type="dcterms:W3CDTF">2026-09-11T19:25:39Z</dcterms:modified>
</cp:coreProperties>
</file>