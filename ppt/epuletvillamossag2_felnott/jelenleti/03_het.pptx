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Raleway" pitchFamily="2" charset="-18"/>
      <p:regular r:id="rId20"/>
    </p:embeddedFont>
    <p:embeddedFont>
      <p:font typeface="Raleway Light" pitchFamily="2" charset="-18"/>
      <p:regular r:id="rId21"/>
    </p:embeddedFont>
    <p:embeddedFont>
      <p:font typeface="Roboto" panose="02000000000000000000" pitchFamily="2" charset="0"/>
      <p:regular r:id="rId22"/>
      <p:bold r:id="rId23"/>
    </p:embeddedFont>
    <p:embeddedFont>
      <p:font typeface="Roboto Bold" panose="02000000000000000000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0295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dn.gamma.app/zhbarj5mkuql04w/e57db299a68243dba279df4afda3feb7/file/03_het.pdf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46981"/>
            <a:ext cx="6905055" cy="26359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13097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Motorindító kapcsolások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4895751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Klasszikus kontaktoros indítások: mágneskapcsoló • DOL • irányváltás • csillag–delta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IAP – Integrált Automatika Program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•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2396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tananyag központi gondolata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909516" y="2257425"/>
            <a:ext cx="1062070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indítási áram csökkentésének általában ára van: csökken az indítónyomaték is. A különböző indítási módok közötti választás ezért mindig műszaki kompromisszum.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071390"/>
            <a:ext cx="19050" cy="901303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322074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Tanulási célok</a:t>
            </a:r>
            <a:endParaRPr lang="en-US" sz="2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882231"/>
            <a:ext cx="3512653" cy="17517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93781" y="399107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845819" y="4562673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Főáramkör felismerése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5819" y="4920357"/>
            <a:ext cx="314396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Felismerni a DOL, irányváltó és csillag-delta indítás főáramkörét és vezérlését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3882231"/>
            <a:ext cx="3512752" cy="175170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71728" y="399107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4523766" y="4562673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Öntartás és reteszelés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23766" y="4920357"/>
            <a:ext cx="3144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Érteni az öntartás és reteszelés szerepét a vezérlőáramkörben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7468" y="3882231"/>
            <a:ext cx="3512653" cy="175170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49774" y="399107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8201812" y="4562673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Nyomaték összefüggés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01812" y="4920357"/>
            <a:ext cx="314396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Megmagyarázni, miért csökken csillagban az indítónyomaték kb. egyharmadára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6349"/>
            <a:ext cx="10868745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Miért van szükség motorindító kapcsolásokra?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661475" y="830759"/>
            <a:ext cx="11478330" cy="103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motorindító kapcsolások olyan áramköri megoldások, amelyekkel a villamos motorokat biztonságosan indítjuk, leállítjuk, irányt váltunk, illetve szükség esetén csökkentjük az indítási áramot.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00060" y="983555"/>
            <a:ext cx="5453224" cy="577354"/>
          </a:xfrm>
          <a:prstGeom prst="roundRect">
            <a:avLst>
              <a:gd name="adj" fmla="val 10635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85287" y="1027509"/>
            <a:ext cx="5282770" cy="13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Előnyök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287" y="1204615"/>
            <a:ext cx="5282770" cy="340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32080" indent="-132080" algn="l">
              <a:lnSpc>
                <a:spcPct val="101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Átláthatók és robusztusak</a:t>
            </a:r>
            <a:endParaRPr lang="en-US" sz="650" dirty="0"/>
          </a:p>
          <a:p>
            <a:pPr marL="132080" indent="-132080" algn="l">
              <a:lnSpc>
                <a:spcPct val="101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Viszonylag olcsók</a:t>
            </a:r>
            <a:endParaRPr lang="en-US" sz="650" dirty="0"/>
          </a:p>
          <a:p>
            <a:pPr marL="132080" indent="-132080" algn="l">
              <a:lnSpc>
                <a:spcPct val="101000"/>
              </a:lnSpc>
              <a:buSzPct val="100000"/>
              <a:buChar char="•"/>
            </a:pPr>
            <a:r>
              <a:rPr lang="en-US" sz="6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Egyszerűen mérhetők és javíthatók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206176" y="1027509"/>
            <a:ext cx="5330394" cy="13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Korlátok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06176" y="1204615"/>
            <a:ext cx="5330394" cy="340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32080" indent="-132080" algn="l">
              <a:lnSpc>
                <a:spcPct val="101000"/>
              </a:lnSpc>
              <a:buSzPct val="100000"/>
              <a:buChar char="•"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indítás többnyire lépcsős</a:t>
            </a:r>
            <a:endParaRPr lang="en-US" sz="650" dirty="0"/>
          </a:p>
          <a:p>
            <a:pPr marL="132080" indent="-132080" algn="l">
              <a:lnSpc>
                <a:spcPct val="101000"/>
              </a:lnSpc>
              <a:buSzPct val="100000"/>
              <a:buChar char="•"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Nincs finom gyorsítás és lassítás</a:t>
            </a:r>
            <a:endParaRPr lang="en-US" sz="650" dirty="0"/>
          </a:p>
          <a:p>
            <a:pPr marL="132080" indent="-132080" algn="l">
              <a:lnSpc>
                <a:spcPct val="101000"/>
              </a:lnSpc>
              <a:buSzPct val="100000"/>
              <a:buChar char="•"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Nincs nyomaték- és fordulatszám-szabályozás, mint korszerű elektronikus hajtásoknál</a:t>
            </a:r>
            <a:endParaRPr lang="en-US" sz="6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10320"/>
            <a:ext cx="10868745" cy="477123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05207" y="5301716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Indítás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2505207" y="5679887"/>
            <a:ext cx="1905200" cy="178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9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Motor bekapcsolása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854423" y="5049984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Leállítás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7854423" y="5428155"/>
            <a:ext cx="1905200" cy="356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9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Biztonságos lekapcsolás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195516" y="2110655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Üzemelés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5195516" y="2488826"/>
            <a:ext cx="1905200" cy="356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9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Névleges fordulatszám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521593"/>
            <a:ext cx="5413240" cy="29203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587254"/>
            <a:ext cx="10868745" cy="39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A mágneskapcsoló – a klasszikus motorvezérlés alapja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661475" y="4128294"/>
            <a:ext cx="11478330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mágneskapcsoló (kontaktor) elektromágnesesen működtetett kapcsolókészülék. Kis teljesítményű vezérlőjellel nagyobb teljesítményű fogyasztót, például háromfázisú motort kapcsolunk.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61475" y="4513064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Fő részei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1475" y="4807744"/>
            <a:ext cx="5279893" cy="816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A1–A2 tekercs, álló és mozgó vasmag</a:t>
            </a:r>
            <a:endParaRPr lang="en-US" sz="950" dirty="0"/>
          </a:p>
          <a:p>
            <a:pPr marL="193040" indent="-193040" algn="l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Főérintkezők: L1–T1, L2–T2, L3–T3</a:t>
            </a:r>
            <a:endParaRPr lang="en-US" sz="950" dirty="0"/>
          </a:p>
          <a:p>
            <a:pPr marL="193040" indent="-193040" algn="l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Segédérintkezők: NO és NC</a:t>
            </a:r>
            <a:endParaRPr lang="en-US" sz="950" dirty="0"/>
          </a:p>
          <a:p>
            <a:pPr marL="193040" indent="-193040" algn="l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Visszatérítő rugó, ívkioltó rendszer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56677" y="4513064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Bekapcsolás és kikapcsolás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56677" y="4807744"/>
            <a:ext cx="5279893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 az A1–A2 tekercsre rákapcsoljuk a névleges vezérlőfeszültséget, a tekercs mágneses tere behúzza a mozgó vasmagot. A NO érintkezők zárnak, az NC érintkezők nyitnak. A tekercs feszültségének megszűnésekor a rugó visszaállítja a vasmagot, a főérintkezők nyitnak.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256677" y="5453162"/>
            <a:ext cx="5279893" cy="774105"/>
          </a:xfrm>
          <a:prstGeom prst="roundRect">
            <a:avLst>
              <a:gd name="adj" fmla="val 6870"/>
            </a:avLst>
          </a:prstGeom>
          <a:solidFill>
            <a:srgbClr val="E1E1E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277" y="5597922"/>
            <a:ext cx="158250" cy="1266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68127" y="5572026"/>
            <a:ext cx="4741843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AC-kontaktor sajátosság: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Váltakozó áramú mágneskapcsolónál a mágneses fluxus periódusonként kétszer áthalad nullán. A rezgés és zúgás csökkentésére árnyékoló- vagy rövidrezárt gyűrűt alkalmaznak a mágneses körben.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7787"/>
            <a:ext cx="10868745" cy="331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Közvetlen motorindítás – DOL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61475" y="1014611"/>
            <a:ext cx="10868745" cy="35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00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legegyszerűbb klasszikus motorindításnál a háromfázisú aszinkron motor közvetlenül hálózati feszültséget kap.</a:t>
            </a:r>
            <a:endParaRPr lang="en-US" sz="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8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Főáramkör:</a:t>
            </a: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Hálózat → MCCB védelem → K1 mágneskapcsoló → OLR motorvédelem → M1 motor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45220"/>
            <a:ext cx="3449948" cy="27732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320282"/>
            <a:ext cx="10868745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vezérlés működése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61475" y="4686995"/>
            <a:ext cx="211827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61475" y="4854178"/>
            <a:ext cx="5400441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4932462"/>
            <a:ext cx="5400441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Nyugalmi állapot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61475" y="5138638"/>
            <a:ext cx="540044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K1 elejtett, a motor feszültségmentes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129779" y="4686995"/>
            <a:ext cx="211827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129779" y="4854178"/>
            <a:ext cx="5400441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9"/>
          <p:cNvSpPr/>
          <p:nvPr/>
        </p:nvSpPr>
        <p:spPr>
          <a:xfrm>
            <a:off x="6129779" y="4932462"/>
            <a:ext cx="5400441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START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129779" y="5138638"/>
            <a:ext cx="540044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K1 tekercs feszültséget kap és behúz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61475" y="5424884"/>
            <a:ext cx="211827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61475" y="5592068"/>
            <a:ext cx="5400441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6" name="Text 13"/>
          <p:cNvSpPr/>
          <p:nvPr/>
        </p:nvSpPr>
        <p:spPr>
          <a:xfrm>
            <a:off x="661475" y="5670352"/>
            <a:ext cx="5400441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Öntartás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61475" y="5876528"/>
            <a:ext cx="540044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K1 NO segédérintkezője a START gomb elengedése után is fenntartja a tekercs áramát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129779" y="5424884"/>
            <a:ext cx="211827" cy="132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129779" y="5592068"/>
            <a:ext cx="5400441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0" name="Text 17"/>
          <p:cNvSpPr/>
          <p:nvPr/>
        </p:nvSpPr>
        <p:spPr>
          <a:xfrm>
            <a:off x="6129779" y="5670352"/>
            <a:ext cx="5400441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STOP / Védelem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129779" y="5876528"/>
            <a:ext cx="540044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bontó érintkező megszakítja a vezérlőkört; OLR bontó segédérintkezője megszakítja K1 tekercsének áramkörét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61475" y="6171208"/>
            <a:ext cx="1147833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Zöld lámpa jelzi az üzemet, piros lámpa a hővédelem működését.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8475"/>
            <a:ext cx="10868745" cy="39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Irányváltó motorindítás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661475" y="1088033"/>
            <a:ext cx="11478330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háromfázisú motor forgásiránya két fázis felcserélésével változtatható meg. A kapcsolás két mágneskapcsolót használ: K1 az előre, K2 a hátra irányhoz.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75866"/>
            <a:ext cx="6378812" cy="283329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0295" y="4318198"/>
            <a:ext cx="5462252" cy="2041327"/>
          </a:xfrm>
          <a:prstGeom prst="roundRect">
            <a:avLst>
              <a:gd name="adj" fmla="val 4466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96895" y="4415135"/>
            <a:ext cx="5209052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Fázissorrend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6895" y="4709815"/>
            <a:ext cx="5209052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spcAft>
                <a:spcPts val="65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Előre:</a:t>
            </a: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L1 – L2 – L3</a:t>
            </a:r>
            <a:endParaRPr lang="en-US" sz="950" dirty="0"/>
          </a:p>
          <a:p>
            <a:pPr marL="0" indent="0" algn="l">
              <a:lnSpc>
                <a:spcPct val="118000"/>
              </a:lnSpc>
              <a:spcAft>
                <a:spcPts val="65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Hátra:</a:t>
            </a: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L3 – L2 – L1</a:t>
            </a:r>
            <a:endParaRPr lang="en-US" sz="9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Két fázis felcserélése elegendő a forgásirány megfordításához.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256677" y="4415135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Reteszelés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56677" y="4709815"/>
            <a:ext cx="5279893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K1 és K2 egyidejű bekapcsolása zárlatot okozhat, ezért villamos és lehetőség szerint mechanikus reteszelés szükséges.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256677" y="5154613"/>
            <a:ext cx="5279893" cy="391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K1 NC segédérintkezője K2 tekercsének áramkörébe kerül</a:t>
            </a:r>
            <a:endParaRPr lang="en-US" sz="950" dirty="0"/>
          </a:p>
          <a:p>
            <a:pPr marL="193040" indent="-193040" algn="l">
              <a:lnSpc>
                <a:spcPct val="118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K2 NC segédérintkezője K1 tekercsének áramkörébe kerül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256677" y="5655171"/>
            <a:ext cx="5279893" cy="595313"/>
          </a:xfrm>
          <a:prstGeom prst="roundRect">
            <a:avLst>
              <a:gd name="adj" fmla="val 8934"/>
            </a:avLst>
          </a:prstGeom>
          <a:solidFill>
            <a:srgbClr val="FCF2B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277" y="5799931"/>
            <a:ext cx="158250" cy="1266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68127" y="5774035"/>
            <a:ext cx="4741843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Biztonsági szabály: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Az egyik irány aktív állapotában a másik mágneskapcsoló nem kaphat bekapcsolási parancsot.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2095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 Csillag-delta indítás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145778"/>
            <a:ext cx="1147833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csillag-delta indítás célja a hálózati indítási áram csökkentése. Indításkor a motor tekercsei csillagkapcsolásban működnek, majd a felpörgetés után időrelé segítségével deltakapcsolásra váltanak.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23988"/>
            <a:ext cx="6574268" cy="30313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594820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Kapcsolási sorrend és elemek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61475" y="5137348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Kapcsolási sorrend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61475" y="5424091"/>
            <a:ext cx="5283068" cy="778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→ K1 + K2 (CSILLAG) → felpörgetés → K2 kikapcsol → átkapcsolási szünet → K3 (DELTA)</a:t>
            </a:r>
            <a:endParaRPr lang="en-US" sz="9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időzítést úgy kell megválasztani, hogy a motor a csillag szakasz végére közel névleges fordulatszámra gyorsuljon. Ezután deltában a motor névleges üzemi állapotába kerül.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253502" y="5137348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Elemek szerepe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53502" y="5424091"/>
            <a:ext cx="5283068" cy="792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K1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hálózati mágneskapcsoló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K2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csillagkapcsoló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K3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deltakapcsoló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T1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az átkapcsolási időt meghatározó időrelé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5291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 Miért lesz kb. harmadnyi a nyomaték csillagban?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290737"/>
            <a:ext cx="11478330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csillag-delta indítás egyik legfontosabb összefüggése, hogy csillagkapcsolásban az indítónyomaték kb. a delta nyomaték egyharmada.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57298" y="1650206"/>
            <a:ext cx="5466221" cy="3026767"/>
          </a:xfrm>
          <a:prstGeom prst="roundRect">
            <a:avLst>
              <a:gd name="adj" fmla="val 3442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1955" y="1776809"/>
            <a:ext cx="517690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Matematikai levezetés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1955" y="2129433"/>
            <a:ext cx="5176906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Háromfázisú 400 V-os hálózatnál deltában egy fázistekercsre 400 V jut, csillagban ugyanarra a tekercsre 400/√3 ≈ 230 V.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1955" y="2677517"/>
            <a:ext cx="5176906" cy="956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U꜀ / U∆ = 1/√3 ≈ 0,577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aszinkron motor indítónyomatéka közelítőleg a feszültség négyzetével arányos: M ~ U²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M꜀ / M∆ = (1/√3)² = </a:t>
            </a: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1/3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78703" y="1776809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Számítási példa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78703" y="2129433"/>
            <a:ext cx="5867452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 a motor deltában 90 Nm indítónyomatékot adna, akkor csillagban közelítőleg: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78703" y="2473127"/>
            <a:ext cx="5257867" cy="624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 / 3 = 30 Nm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6278703" y="3223816"/>
            <a:ext cx="5867452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áll rendelkezésre indításkor.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8703" y="3583285"/>
            <a:ext cx="5257867" cy="951309"/>
          </a:xfrm>
          <a:prstGeom prst="roundRect">
            <a:avLst>
              <a:gd name="adj" fmla="val 6389"/>
            </a:avLst>
          </a:prstGeom>
          <a:solidFill>
            <a:srgbClr val="E1E1EA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360" y="3771801"/>
            <a:ext cx="180871" cy="14466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48889" y="3733304"/>
            <a:ext cx="4643024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Fontos!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Nem azért lesz harmadnyi a nyomaték, mert a feszültség harmadára csökken. A fázisfeszültség 1/√3 ≈ 0,577-szeresére csökken, és a négyzetes összefüggés miatt lesz a nyomaték kb. 1/3.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61475" y="4891683"/>
            <a:ext cx="3517415" cy="47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1/√3</a:t>
            </a:r>
            <a:endParaRPr lang="en-US" sz="3750" dirty="0"/>
          </a:p>
        </p:txBody>
      </p:sp>
      <p:sp>
        <p:nvSpPr>
          <p:cNvPr id="16" name="Text 13"/>
          <p:cNvSpPr/>
          <p:nvPr/>
        </p:nvSpPr>
        <p:spPr>
          <a:xfrm>
            <a:off x="661475" y="5536505"/>
            <a:ext cx="351741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Feszültség arány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61475" y="5838428"/>
            <a:ext cx="3517415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Csillag vs. delta fázisfeszültség aránya (≈ 0,577)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337140" y="4891683"/>
            <a:ext cx="3517415" cy="47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1/3</a:t>
            </a:r>
            <a:endParaRPr lang="en-US" sz="3750" dirty="0"/>
          </a:p>
        </p:txBody>
      </p:sp>
      <p:sp>
        <p:nvSpPr>
          <p:cNvPr id="19" name="Text 16"/>
          <p:cNvSpPr/>
          <p:nvPr/>
        </p:nvSpPr>
        <p:spPr>
          <a:xfrm>
            <a:off x="4337140" y="5536505"/>
            <a:ext cx="351741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Nyomaték arány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337140" y="5838428"/>
            <a:ext cx="3517415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Csillag indítónyomaték a delta nyomaték arányában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012805" y="4891683"/>
            <a:ext cx="3517415" cy="47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230 V</a:t>
            </a:r>
            <a:endParaRPr lang="en-US" sz="3750" dirty="0"/>
          </a:p>
        </p:txBody>
      </p:sp>
      <p:sp>
        <p:nvSpPr>
          <p:cNvPr id="22" name="Text 19"/>
          <p:cNvSpPr/>
          <p:nvPr/>
        </p:nvSpPr>
        <p:spPr>
          <a:xfrm>
            <a:off x="8012805" y="5536505"/>
            <a:ext cx="351741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Csillag fázisfeszültség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012805" y="5838428"/>
            <a:ext cx="3517415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400 V-os hálózatnál egy tekercsre jutó feszültség csillagban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777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 Motorindítási módok összehasonlítása</a:t>
            </a:r>
            <a:endParaRPr lang="en-US" sz="3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765201"/>
          <a:ext cx="9143771" cy="914400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Indítási mód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Előny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Hátrány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DOL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Egyszerű, olcsó, teljes indítónyomaték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Nagy indítási áram, mechanikai lökés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Csillag–delta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Bevált; vonali indítási áram kb. 1/3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Indítónyomaték kb. 1/3; 6 kivezetés kell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Előtét-ellenállásos / reaktoros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Csökkenthető az indítási áram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Veszteség / rosszabb cosφ; kisebb nyomaték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Autotranszformátoros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Nagyobb motoroknál is hatásos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Drágább, nagyobb, összetettebb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Forgórész-ellenállásos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Nagy indítónyomaték mellett áramkorlátozás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Csak csúszógyűrűs motor; karbantartás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35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Irányváltó kontaktoros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Egyszerű irányváltás, jól javítható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Reteszelés kell; nagy igénybevételek lehetnek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677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 Gyakorlati feladat – DOL indítás összeállítása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229122"/>
            <a:ext cx="11478330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Állíts össze oktatótáblán egy DOL motorindítást. A bekötést csak feszültségmentes állapotban, oktatói ellenőrzés mellett végezd.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588591"/>
            <a:ext cx="325529" cy="325537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5697" y="1615678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13603" y="1638300"/>
            <a:ext cx="1041661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Azonosítás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3603" y="1940223"/>
            <a:ext cx="10416617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Azonosítsd az MCCB-t, K1 mágneskapcsolót, OLR motorvédelmet, START és STOP nyomógombot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1475" y="2410520"/>
            <a:ext cx="325529" cy="325537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5697" y="2437606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13603" y="2460228"/>
            <a:ext cx="1041661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Áramkörök szétválasztása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3603" y="2762151"/>
            <a:ext cx="10416617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Különítsd el a főáramkört és a vezérlőáramkört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1475" y="3232448"/>
            <a:ext cx="325529" cy="325537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5697" y="3259534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13603" y="3282156"/>
            <a:ext cx="1041661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Vezérlés és öntartás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3603" y="3584079"/>
            <a:ext cx="10416617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Készítsd el a START–STOP vezérlést és a K1 13–14 segédérintkezőjével az öntartást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1475" y="4054376"/>
            <a:ext cx="325529" cy="325537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697" y="4081463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13603" y="4104084"/>
            <a:ext cx="1041661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Ellenőrzés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3603" y="4406007"/>
            <a:ext cx="10416617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Ellenőrizd, hogy STOP vagy motorvédelmi leoldás hatására K1 elejt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1475" y="4876304"/>
            <a:ext cx="325529" cy="325537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697" y="4903391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13603" y="4926013"/>
            <a:ext cx="1041661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Szóbeli magyarázat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3603" y="5227935"/>
            <a:ext cx="10416617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Magyarázd el szóban, mi történik hálózatkimaradás után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1475" y="5587405"/>
            <a:ext cx="10868745" cy="746919"/>
          </a:xfrm>
          <a:prstGeom prst="roundRect">
            <a:avLst>
              <a:gd name="adj" fmla="val 8138"/>
            </a:avLst>
          </a:prstGeom>
          <a:solidFill>
            <a:srgbClr val="E1E1EA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32" y="5769570"/>
            <a:ext cx="180871" cy="14466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31661" y="5750123"/>
            <a:ext cx="10253902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IAP kihívás: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Egy irányváltó kapcsolásban K1 éppen működik. Mi akadályozza meg K2 bekapcsolását, és mi történne reteszelés nélkül? Válaszodban használd az NC segédérintkező és fáziszárlat fogalmát.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140"/>
            <a:ext cx="10868745" cy="468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 Ellenőrző kérdések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404045"/>
            <a:ext cx="299732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61475" y="1639689"/>
            <a:ext cx="525151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752699"/>
            <a:ext cx="5251517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 a motorindító kapcsolások feladata?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2235101"/>
            <a:ext cx="299732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61475" y="2470745"/>
            <a:ext cx="525151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2583755"/>
            <a:ext cx="5251517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 a mágneskapcsoló A1–A2 kapcsainak szerepe?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3066157"/>
            <a:ext cx="299732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1475" y="3301802"/>
            <a:ext cx="525151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3414812"/>
            <a:ext cx="5251517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 a különbség a főérintkező és a segédérintkező között?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3897213"/>
            <a:ext cx="299732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1475" y="4132858"/>
            <a:ext cx="525151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4245868"/>
            <a:ext cx="5251517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Hogyan működik az öntartás DOL indításnál?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4728270"/>
            <a:ext cx="299732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1475" y="4963914"/>
            <a:ext cx="525151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5076924"/>
            <a:ext cx="5251517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 történik túlterheléskor?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85053" y="1404045"/>
            <a:ext cx="299732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85053" y="1639689"/>
            <a:ext cx="525151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0" name="Text 18"/>
          <p:cNvSpPr/>
          <p:nvPr/>
        </p:nvSpPr>
        <p:spPr>
          <a:xfrm>
            <a:off x="6285053" y="1752699"/>
            <a:ext cx="5251517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Hogyan fordítható meg egy háromfázisú motor forgásiránya?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285053" y="2235101"/>
            <a:ext cx="299732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85053" y="2470745"/>
            <a:ext cx="525151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3" name="Text 21"/>
          <p:cNvSpPr/>
          <p:nvPr/>
        </p:nvSpPr>
        <p:spPr>
          <a:xfrm>
            <a:off x="6285053" y="2583755"/>
            <a:ext cx="5251517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Miért kell villamos reteszelés az irányváltó kapcsolásban?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285053" y="3066157"/>
            <a:ext cx="299732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85053" y="3301802"/>
            <a:ext cx="525151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6" name="Text 24"/>
          <p:cNvSpPr/>
          <p:nvPr/>
        </p:nvSpPr>
        <p:spPr>
          <a:xfrm>
            <a:off x="6285053" y="3414812"/>
            <a:ext cx="5251517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Melyik három mágneskapcsoló szükséges csillag–delta indításhoz?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285053" y="4131370"/>
            <a:ext cx="299732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85053" y="4367014"/>
            <a:ext cx="525151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9" name="Text 27"/>
          <p:cNvSpPr/>
          <p:nvPr/>
        </p:nvSpPr>
        <p:spPr>
          <a:xfrm>
            <a:off x="6285053" y="4480024"/>
            <a:ext cx="5251517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Mekkora feszültség jut egy tekercsre csillagban 400 V vonali feszültségnél?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285053" y="5196582"/>
            <a:ext cx="299732" cy="187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85053" y="5432227"/>
            <a:ext cx="525151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2" name="Text 30"/>
          <p:cNvSpPr/>
          <p:nvPr/>
        </p:nvSpPr>
        <p:spPr>
          <a:xfrm>
            <a:off x="6285053" y="5545237"/>
            <a:ext cx="5251517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Miért csökken az indítónyomaték kb. egyharmadára csillagban?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Összefoglalás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85495" y="842367"/>
            <a:ext cx="1135431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indítási áram csökkentése rendszerint az indítónyomaték csökkenésével jár – ez a klasszikus motorindítások alapvető kompromisszuma.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61475" y="795933"/>
            <a:ext cx="12700" cy="191988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81" y="1034355"/>
            <a:ext cx="10693132" cy="52567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1706" y="1527171"/>
            <a:ext cx="2723090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Csillag–delta és időzítés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981706" y="1919808"/>
            <a:ext cx="4945208" cy="183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Áramcsökkentés időzítve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81706" y="2755352"/>
            <a:ext cx="2753319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Irányváltás és reteszelés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981706" y="3147989"/>
            <a:ext cx="4945208" cy="183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Forgásirány biztonsága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81706" y="3983533"/>
            <a:ext cx="2445432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DOL és öntartás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981706" y="4376170"/>
            <a:ext cx="4945208" cy="183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Közvetlen indítás és tartás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992575" y="5211714"/>
            <a:ext cx="2445433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Mágneskapcsoló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992575" y="5604352"/>
            <a:ext cx="4945208" cy="183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Alapelem a kapcsoláshoz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1945" y="6337498"/>
            <a:ext cx="5452628" cy="447179"/>
          </a:xfrm>
          <a:prstGeom prst="roundRect">
            <a:avLst>
              <a:gd name="adj" fmla="val 13315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84592" y="6378773"/>
            <a:ext cx="5287334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Kulcsösszefüggés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84592" y="6549231"/>
            <a:ext cx="5287334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indítási áram csökkentése rendszerint az indítónyomaték csökkenésével jár. Csillag-delta indításnál a vonali indítási áram és az indítónyomaték egyaránt kb. 1/3-ára csökken.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6203001" y="6378773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Következő lépés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203001" y="6549231"/>
            <a:ext cx="5333569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klasszikus kontaktoros indítások után logikusan a </a:t>
            </a:r>
            <a:r>
              <a:rPr lang="en-US" sz="6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lágyindító</a:t>
            </a: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és a </a:t>
            </a:r>
            <a:r>
              <a:rPr lang="en-US" sz="6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frekvenciaváltó</a:t>
            </a: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következik: ezekkel az indítás már nemcsak lépcsősen, hanem elektronikusan, szabályozottan is megvalósítható.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2787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Források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3175298"/>
            <a:ext cx="10868745" cy="1354832"/>
          </a:xfrm>
          <a:prstGeom prst="roundRect">
            <a:avLst>
              <a:gd name="adj" fmla="val 512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5819" y="3359646"/>
            <a:ext cx="1050005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IAP – Integrált Automatika Program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5819" y="3717330"/>
            <a:ext cx="10500058" cy="628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Tananyag: Motorindító kapcsolások – klasszikus kontaktoros indítások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03_het.pdf – Forrás dokumentum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B1B2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1235</Words>
  <Application>Microsoft Office PowerPoint</Application>
  <PresentationFormat>Szélesvásznú</PresentationFormat>
  <Paragraphs>193</Paragraphs>
  <Slides>13</Slides>
  <Notes>13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20" baseType="lpstr">
      <vt:lpstr>Roboto Bold</vt:lpstr>
      <vt:lpstr>Raleway</vt:lpstr>
      <vt:lpstr>Roboto</vt:lpstr>
      <vt:lpstr>Arial</vt:lpstr>
      <vt:lpstr>Calibri</vt:lpstr>
      <vt:lpstr>Raleway Light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lastModifiedBy>zsolt Fazekas</cp:lastModifiedBy>
  <cp:revision>1</cp:revision>
  <dcterms:created xsi:type="dcterms:W3CDTF">2026-09-13T08:49:18Z</dcterms:created>
  <dcterms:modified xsi:type="dcterms:W3CDTF">2026-09-13T08:50:27Z</dcterms:modified>
</cp:coreProperties>
</file>