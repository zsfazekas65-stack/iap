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58368"/>
            <a:ext cx="109728" cy="5394960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3152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0BEDC"/>
                </a:solidFill>
                <a:latin typeface="Aptos"/>
              </a:defRPr>
            </a:pPr>
            <a:r>
              <a:t>IAP • ÉPÜLETVILLAMOSSÁG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325880"/>
            <a:ext cx="75895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ANYAG • ESZKÖZ</a:t>
            </a:r>
            <a:br/>
            <a:r>
              <a:t>• MUNKATERV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2. hét | A felméréstől a szervezett kivitelezésig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51960"/>
            <a:ext cx="3931920" cy="6583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70832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Tanulj!  Alkalmazz! 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8229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ED2E1"/>
                </a:solidFill>
                <a:latin typeface="Aptos"/>
              </a:defRPr>
            </a:pPr>
            <a:r>
              <a:t>A jó szerelés már a munka megkezdése előtt eldől.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5212080"/>
            <a:ext cx="594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800" b="1">
                <a:solidFill>
                  <a:srgbClr val="30BEDC"/>
                </a:solidFill>
                <a:latin typeface="Aptos Display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KIINDULÁS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A felmérésből munkaterv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07084"/>
                </a:solidFill>
                <a:latin typeface="Aptos"/>
              </a:defRPr>
            </a:pPr>
            <a:r>
              <a:t>Négy kérdés, amelyet a szerelés előtt meg kell válaszolni.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194560"/>
            <a:ext cx="658368" cy="6583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176272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61A30"/>
                </a:solidFill>
                <a:latin typeface="Aptos"/>
              </a:defRPr>
            </a:pPr>
            <a:r>
              <a:t>MIT?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569464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07084"/>
                </a:solidFill>
                <a:latin typeface="Aptos"/>
              </a:defRPr>
            </a:pPr>
            <a:r>
              <a:t>Milyen szerelvényeket és hálózati elemeket építünk be?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8" y="2194560"/>
            <a:ext cx="658368" cy="658368"/>
          </a:xfrm>
          <a:prstGeom prst="round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176272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61A30"/>
                </a:solidFill>
                <a:latin typeface="Aptos"/>
              </a:defRPr>
            </a:pPr>
            <a:r>
              <a:t>MENNYIT?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569464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07084"/>
                </a:solidFill>
                <a:latin typeface="Aptos"/>
              </a:defRPr>
            </a:pPr>
            <a:r>
              <a:t>Mekkora anyagmennyiségre és tartalékra van szükség?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79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7" y="4069079"/>
            <a:ext cx="658368" cy="658368"/>
          </a:xfrm>
          <a:prstGeom prst="roundRect">
            <a:avLst/>
          </a:prstGeom>
          <a:solidFill>
            <a:srgbClr val="2E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06907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050791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61A30"/>
                </a:solidFill>
                <a:latin typeface="Aptos"/>
              </a:defRPr>
            </a:pPr>
            <a:r>
              <a:t>MIVEL?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443983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07084"/>
                </a:solidFill>
                <a:latin typeface="Aptos"/>
              </a:defRPr>
            </a:pPr>
            <a:r>
              <a:t>Milyen kézi-, gépi- és mérőeszközök kellenek?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40479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8" y="4069079"/>
            <a:ext cx="658368" cy="658368"/>
          </a:xfrm>
          <a:prstGeom prst="roundRect">
            <a:avLst/>
          </a:prstGeom>
          <a:solidFill>
            <a:srgbClr val="E28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06907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4050791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61A30"/>
                </a:solidFill>
                <a:latin typeface="Aptos"/>
              </a:defRPr>
            </a:pPr>
            <a:r>
              <a:t>MILYEN SORRENDBEN?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4443983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07084"/>
                </a:solidFill>
                <a:latin typeface="Aptos"/>
              </a:defRPr>
            </a:pPr>
            <a:r>
              <a:t>Hogyan épül fel a biztonságos és hatékony munkafolyamat?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ANYAGTERVEZÉS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Az anyagjegyzék 5 fő csoportja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965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1288" y="2240280"/>
            <a:ext cx="960120" cy="960120"/>
          </a:xfrm>
          <a:prstGeom prst="roundRect">
            <a:avLst/>
          </a:prstGeom>
          <a:solidFill>
            <a:srgbClr val="F1F7FB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4028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E70B7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56432"/>
            <a:ext cx="15727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61A30"/>
                </a:solidFill>
                <a:latin typeface="Aptos"/>
              </a:defRPr>
            </a:pPr>
            <a:r>
              <a:t>Vezeték / kábel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33087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07084"/>
                </a:solidFill>
                <a:latin typeface="Aptos"/>
              </a:defRPr>
            </a:pPr>
            <a:r>
              <a:t>nyomvonal + kötési tartalék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874519"/>
            <a:ext cx="1965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240280"/>
            <a:ext cx="960120" cy="960120"/>
          </a:xfrm>
          <a:prstGeom prst="roundRect">
            <a:avLst/>
          </a:prstGeom>
          <a:solidFill>
            <a:srgbClr val="F1F7FB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E70B7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456432"/>
            <a:ext cx="15727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61A30"/>
                </a:solidFill>
                <a:latin typeface="Aptos"/>
              </a:defRPr>
            </a:pPr>
            <a:r>
              <a:t>Cső / csatorna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4133087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07084"/>
                </a:solidFill>
                <a:latin typeface="Aptos"/>
              </a:defRPr>
            </a:pPr>
            <a:r>
              <a:t>mechanikai védelem, vezetés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1874519"/>
            <a:ext cx="1965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96712" y="2240280"/>
            <a:ext cx="960120" cy="960120"/>
          </a:xfrm>
          <a:prstGeom prst="roundRect">
            <a:avLst/>
          </a:prstGeom>
          <a:solidFill>
            <a:srgbClr val="F1F7FB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6712" y="224028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E70B7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456432"/>
            <a:ext cx="15727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61A30"/>
                </a:solidFill>
                <a:latin typeface="Aptos"/>
              </a:defRPr>
            </a:pPr>
            <a:r>
              <a:t>Dobozok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133087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07084"/>
                </a:solidFill>
                <a:latin typeface="Aptos"/>
              </a:defRPr>
            </a:pPr>
            <a:r>
              <a:t>kötő- és szerelvénydobozok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1874519"/>
            <a:ext cx="1965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64424" y="2240280"/>
            <a:ext cx="960120" cy="960120"/>
          </a:xfrm>
          <a:prstGeom prst="roundRect">
            <a:avLst/>
          </a:prstGeom>
          <a:solidFill>
            <a:srgbClr val="F1F7FB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4424" y="224028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E70B7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456432"/>
            <a:ext cx="15727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61A30"/>
                </a:solidFill>
                <a:latin typeface="Aptos"/>
              </a:defRPr>
            </a:pPr>
            <a:r>
              <a:t>Szerelvények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4133087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07084"/>
                </a:solidFill>
                <a:latin typeface="Aptos"/>
              </a:defRPr>
            </a:pPr>
            <a:r>
              <a:t>kapcsoló, dugalj, lámpatest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9216" y="1874519"/>
            <a:ext cx="1965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32136" y="2240280"/>
            <a:ext cx="960120" cy="960120"/>
          </a:xfrm>
          <a:prstGeom prst="roundRect">
            <a:avLst/>
          </a:prstGeom>
          <a:solidFill>
            <a:srgbClr val="F1F7FB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2136" y="224028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E70B7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3456432"/>
            <a:ext cx="15727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61A30"/>
                </a:solidFill>
                <a:latin typeface="Aptos"/>
              </a:defRPr>
            </a:pPr>
            <a:r>
              <a:t>Apróanyag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4133087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07084"/>
                </a:solidFill>
                <a:latin typeface="Aptos"/>
              </a:defRPr>
            </a:pPr>
            <a:r>
              <a:t>rögzítés, kötés, jelölés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32120"/>
            <a:ext cx="10835640" cy="54864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1441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83A5A"/>
                </a:solidFill>
                <a:latin typeface="Aptos"/>
              </a:defRPr>
            </a:pPr>
            <a:r>
              <a:t>Tervezési szabály: ne csak a „nagy” tételeket számold — egy hiányzó kötőelem is megállíthatja a munkát.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MENNYISÉG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Miért kell ráhagyás?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663440" cy="3566160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30BEDC"/>
                </a:solidFill>
                <a:latin typeface="Aptos"/>
              </a:defRPr>
            </a:pPr>
            <a:r>
              <a:t>GEOMETRIAI HOSSZ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78892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RENDELENDŐ HOSSZ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51960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CDDCE6"/>
                </a:solidFill>
                <a:latin typeface="Aptos"/>
              </a:defRPr>
            </a:pPr>
            <a:r>
              <a:t>Kötések • darabolás • nyomvonal • helyszíni módosítás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8288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90195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61A30"/>
                </a:solidFill>
                <a:latin typeface="Aptos"/>
              </a:defRPr>
            </a:pPr>
            <a:r>
              <a:t>Kötési tartalék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92807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07084"/>
                </a:solidFill>
                <a:latin typeface="Aptos"/>
              </a:defRPr>
            </a:pPr>
            <a:r>
              <a:t>A szerelvényeknél és dobozoknál szükséges.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724912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798064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61A30"/>
                </a:solidFill>
                <a:latin typeface="Aptos"/>
              </a:defRPr>
            </a:pPr>
            <a:r>
              <a:t>Darabolási veszteség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788920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07084"/>
                </a:solidFill>
                <a:latin typeface="Aptos"/>
              </a:defRPr>
            </a:pPr>
            <a:r>
              <a:t>A méretre vágás nem mindig veszteségmentes.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621024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3694176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61A30"/>
                </a:solidFill>
                <a:latin typeface="Aptos"/>
              </a:defRPr>
            </a:pPr>
            <a:r>
              <a:t>Valós nyomvonal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685032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07084"/>
                </a:solidFill>
                <a:latin typeface="Aptos"/>
              </a:defRPr>
            </a:pPr>
            <a:r>
              <a:t>A vezeték útja ritkán csak egyenes vonal.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4517136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4590288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61A30"/>
                </a:solidFill>
                <a:latin typeface="Aptos"/>
              </a:defRPr>
            </a:pPr>
            <a:r>
              <a:t>Helyszíni eltérés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581144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07084"/>
                </a:solidFill>
                <a:latin typeface="Aptos"/>
              </a:defRPr>
            </a:pPr>
            <a:r>
              <a:t>A kivitelezés közben kisebb korrekció kellhet.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ESZKÖZTERV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Mivel dolgozunk?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4871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487168" cy="502920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KÉZISZERSZÁM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46120"/>
            <a:ext cx="20116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7084"/>
                </a:solidFill>
                <a:latin typeface="Aptos"/>
              </a:defRPr>
            </a:pPr>
            <a:r>
              <a:t>fogók</a:t>
            </a:r>
            <a:br/>
            <a:r>
              <a:t>csavarhúzók</a:t>
            </a:r>
            <a:br/>
            <a:r>
              <a:t>csupaszító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74519"/>
            <a:ext cx="24871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74519"/>
            <a:ext cx="2487168" cy="502920"/>
          </a:xfrm>
          <a:prstGeom prst="rect">
            <a:avLst/>
          </a:prstGeom>
          <a:solidFill>
            <a:srgbClr val="E28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5603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GÉPI ESZKÖZ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20116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7084"/>
                </a:solidFill>
                <a:latin typeface="Aptos"/>
              </a:defRPr>
            </a:pPr>
            <a:r>
              <a:t>fúró-véső</a:t>
            </a:r>
            <a:br/>
            <a:r>
              <a:t>horonymaró*</a:t>
            </a:r>
            <a:br/>
            <a:r>
              <a:t>behúzóeszköz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74519"/>
            <a:ext cx="24871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874519"/>
            <a:ext cx="2487168" cy="502920"/>
          </a:xfrm>
          <a:prstGeom prst="rect">
            <a:avLst/>
          </a:prstGeom>
          <a:solidFill>
            <a:srgbClr val="2E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5603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MÉRŐESZKÖZ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46120"/>
            <a:ext cx="20116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7084"/>
                </a:solidFill>
                <a:latin typeface="Aptos"/>
              </a:defRPr>
            </a:pPr>
            <a:r>
              <a:t>mérőszalag</a:t>
            </a:r>
            <a:br/>
            <a:r>
              <a:t>multiméter</a:t>
            </a:r>
            <a:br/>
            <a:r>
              <a:t>kétpólusú vizsgáló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874519"/>
            <a:ext cx="24871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874519"/>
            <a:ext cx="2487168" cy="502920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5603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3246120"/>
            <a:ext cx="20116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7084"/>
                </a:solidFill>
                <a:latin typeface="Aptos"/>
              </a:defRPr>
            </a:pPr>
            <a:r>
              <a:t>szemvédelem</a:t>
            </a:r>
            <a:br/>
            <a:r>
              <a:t>kézvédelem</a:t>
            </a:r>
            <a:br/>
            <a:r>
              <a:t>feladathoz illő 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80644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84"/>
                </a:solidFill>
                <a:latin typeface="Aptos"/>
              </a:defRPr>
            </a:pPr>
            <a:r>
              <a:t>* csak ahol a technológia és az épületszerkezet ezt lehetővé teszi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A munkafolyamat 8 lépése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07084"/>
                </a:solidFill>
                <a:latin typeface="Aptos"/>
              </a:defRPr>
            </a:pPr>
            <a:r>
              <a:t>A jó sorrend csökkenti a visszabontást és az állásidőt.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115568" cy="11155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Átvétel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2423160"/>
            <a:ext cx="1115568" cy="11155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Kijelölés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2423160"/>
            <a:ext cx="1115568" cy="11155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Dobozhely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9744" y="2423160"/>
            <a:ext cx="1115568" cy="1115568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Csövezés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2423160"/>
            <a:ext cx="1115568" cy="1115568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Behúzás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423160"/>
            <a:ext cx="1115568" cy="1115568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16568" y="2423160"/>
            <a:ext cx="1115568" cy="1115568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8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0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52176" y="2423160"/>
            <a:ext cx="1115568" cy="1115568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52176" y="2395728"/>
            <a:ext cx="1115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3703320"/>
            <a:ext cx="1335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3A5A"/>
                </a:solidFill>
                <a:latin typeface="Aptos"/>
              </a:defRPr>
            </a:pPr>
            <a:r>
              <a:t>Átadás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800600"/>
            <a:ext cx="10561320" cy="777240"/>
          </a:xfrm>
          <a:prstGeom prst="roundRect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965192"/>
            <a:ext cx="9966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Kulcspont: az ellenőrzés és mérés nem „plusz feladat”, hanem a kivitelezés része.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4 × 5 m-es műhely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07084"/>
                </a:solidFill>
                <a:latin typeface="Aptos"/>
              </a:defRPr>
            </a:pPr>
            <a:r>
              <a:t>Feladat: 4 dugalj + 2 mennyezeti lámpatest + 1 kapcsoló.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6235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53619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07084"/>
                </a:solidFill>
                <a:latin typeface="Aptos"/>
              </a:defRPr>
            </a:pPr>
            <a:r>
              <a:t>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38328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07084"/>
                </a:solidFill>
                <a:latin typeface="Aptos"/>
              </a:defRPr>
            </a:pPr>
            <a:r>
              <a:t>4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148840"/>
            <a:ext cx="384048" cy="384048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2148840"/>
            <a:ext cx="384048" cy="384048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148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4892040"/>
            <a:ext cx="384048" cy="384048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4892040"/>
            <a:ext cx="384048" cy="384048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8920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2423160" y="3337560"/>
            <a:ext cx="502920" cy="502920"/>
          </a:xfrm>
          <a:prstGeom prst="ellipse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337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61A30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3337560"/>
            <a:ext cx="502920" cy="502920"/>
          </a:xfrm>
          <a:prstGeom prst="ellipse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337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61A30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49039"/>
            <a:ext cx="164592" cy="685800"/>
          </a:xfrm>
          <a:prstGeom prst="rect">
            <a:avLst/>
          </a:prstGeom>
          <a:solidFill>
            <a:srgbClr val="E28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2219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28E31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28800"/>
            <a:ext cx="4434840" cy="3886200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148840"/>
            <a:ext cx="3703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30BEDC"/>
                </a:solidFill>
                <a:latin typeface="Aptos"/>
              </a:defRPr>
            </a:pPr>
            <a:r>
              <a:t>TERVEZÉSI FELADAT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743200"/>
            <a:ext cx="356616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  Becsüld meg a fő anyagokat</a:t>
            </a:r>
            <a:br/>
            <a:br/>
            <a:r>
              <a:t>2  Készíts eszközlistát</a:t>
            </a:r>
            <a:br/>
            <a:br/>
            <a:r>
              <a:t>3  Írd le a munkasorrendet</a:t>
            </a:r>
            <a:br/>
            <a:br/>
            <a:r>
              <a:t>4  Jelöld az ellenőrzési pontokat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HIBAMEGELŐZÉS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Öt hiba, ami időt és pénzt visz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11095"/>
            <a:ext cx="438912" cy="438912"/>
          </a:xfrm>
          <a:prstGeom prst="roundRect">
            <a:avLst/>
          </a:prstGeom>
          <a:solidFill>
            <a:srgbClr val="C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11095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4389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61A30"/>
                </a:solidFill>
                <a:latin typeface="Aptos"/>
              </a:defRPr>
            </a:pPr>
            <a:r>
              <a:t>Hiányzó apróanyag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01952"/>
            <a:ext cx="3886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24848"/>
                </a:solidFill>
                <a:latin typeface="Aptos"/>
              </a:defRPr>
            </a:pPr>
            <a:r>
              <a:t>→ állásidő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24328"/>
            <a:ext cx="106070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706624"/>
            <a:ext cx="438912" cy="438912"/>
          </a:xfrm>
          <a:prstGeom prst="roundRect">
            <a:avLst/>
          </a:prstGeom>
          <a:solidFill>
            <a:srgbClr val="C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0662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97480"/>
            <a:ext cx="4389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61A30"/>
                </a:solidFill>
                <a:latin typeface="Aptos"/>
              </a:defRPr>
            </a:pPr>
            <a:r>
              <a:t>Nincs tartalék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697480"/>
            <a:ext cx="3886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24848"/>
                </a:solidFill>
                <a:latin typeface="Aptos"/>
              </a:defRPr>
            </a:pPr>
            <a:r>
              <a:t>→ újabb beszerzés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19856"/>
            <a:ext cx="106070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3502152"/>
            <a:ext cx="438912" cy="438912"/>
          </a:xfrm>
          <a:prstGeom prst="roundRect">
            <a:avLst/>
          </a:prstGeom>
          <a:solidFill>
            <a:srgbClr val="C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021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93008"/>
            <a:ext cx="4389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61A30"/>
                </a:solidFill>
                <a:latin typeface="Aptos"/>
              </a:defRPr>
            </a:pPr>
            <a:r>
              <a:t>Mérőeszköz otthon marad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93008"/>
            <a:ext cx="3886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24848"/>
                </a:solidFill>
                <a:latin typeface="Aptos"/>
              </a:defRPr>
            </a:pPr>
            <a:r>
              <a:t>→ ellenőrzés nem végezhető 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15383"/>
            <a:ext cx="106070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297679"/>
            <a:ext cx="438912" cy="438912"/>
          </a:xfrm>
          <a:prstGeom prst="roundRect">
            <a:avLst/>
          </a:prstGeom>
          <a:solidFill>
            <a:srgbClr val="C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97679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88536"/>
            <a:ext cx="4389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61A30"/>
                </a:solidFill>
                <a:latin typeface="Aptos"/>
              </a:defRPr>
            </a:pPr>
            <a:r>
              <a:t>Rossz munkasorrend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88536"/>
            <a:ext cx="3886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24848"/>
                </a:solidFill>
                <a:latin typeface="Aptos"/>
              </a:defRPr>
            </a:pPr>
            <a:r>
              <a:t>→ visszabontás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10912"/>
            <a:ext cx="106070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5093208"/>
            <a:ext cx="438912" cy="438912"/>
          </a:xfrm>
          <a:prstGeom prst="roundRect">
            <a:avLst/>
          </a:prstGeom>
          <a:solidFill>
            <a:srgbClr val="C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932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084064"/>
            <a:ext cx="4389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61A30"/>
                </a:solidFill>
                <a:latin typeface="Aptos"/>
              </a:defRPr>
            </a:pPr>
            <a:r>
              <a:t>Késői munkavédelmi ellenőrzés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084064"/>
            <a:ext cx="3886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24848"/>
                </a:solidFill>
                <a:latin typeface="Aptos"/>
              </a:defRPr>
            </a:pPr>
            <a:r>
              <a:t>→ kockázatos munkakezdés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Dolgozz úgy, mint egy kivitelező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468880" cy="2468880"/>
          </a:xfrm>
          <a:prstGeom prst="roundRect">
            <a:avLst/>
          </a:prstGeom>
          <a:solidFill>
            <a:srgbClr val="F1F7FB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0E70B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ANYAGJEGYZÉK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07084"/>
                </a:solidFill>
                <a:latin typeface="Aptos"/>
              </a:defRPr>
            </a:pPr>
            <a:r>
              <a:t>Legalább 10 tétel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057400"/>
            <a:ext cx="2468880" cy="2468880"/>
          </a:xfrm>
          <a:prstGeom prst="roundRect">
            <a:avLst/>
          </a:prstGeom>
          <a:solidFill>
            <a:srgbClr val="F1F7FB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3317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0E70B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3375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MENNYISÉG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07084"/>
                </a:solidFill>
                <a:latin typeface="Aptos"/>
              </a:defRPr>
            </a:pPr>
            <a:r>
              <a:t>Fő tételek becslése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057400"/>
            <a:ext cx="2468880" cy="2468880"/>
          </a:xfrm>
          <a:prstGeom prst="roundRect">
            <a:avLst/>
          </a:prstGeom>
          <a:solidFill>
            <a:srgbClr val="F1F7FB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23317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0E70B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3375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ESZKÖZLISTA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07084"/>
                </a:solidFill>
                <a:latin typeface="Aptos"/>
              </a:defRPr>
            </a:pPr>
            <a:r>
              <a:t>Kézi + gépi + mérő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2057400"/>
            <a:ext cx="2468880" cy="2468880"/>
          </a:xfrm>
          <a:prstGeom prst="roundRect">
            <a:avLst/>
          </a:prstGeom>
          <a:solidFill>
            <a:srgbClr val="F1F7FB"/>
          </a:solidFill>
          <a:ln>
            <a:solidFill>
              <a:srgbClr val="C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3536" y="23317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0E70B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3375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61A30"/>
                </a:solidFill>
                <a:latin typeface="Aptos"/>
              </a:defRPr>
            </a:pPr>
            <a:r>
              <a:t>MUNKASORREND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07084"/>
                </a:solidFill>
                <a:latin typeface="Aptos"/>
              </a:defRPr>
            </a:pPr>
            <a:r>
              <a:t>8 logikus lépés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5074920"/>
            <a:ext cx="9189720" cy="594360"/>
          </a:xfrm>
          <a:prstGeom prst="round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5184648"/>
            <a:ext cx="8732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 kihívás: melyik egyetlen hiányzó tétel állíthatná meg az egész munkát — és miért?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E70B7"/>
                </a:solidFill>
                <a:latin typeface="Aptos"/>
              </a:defRPr>
            </a:pPr>
            <a:r>
              <a:t>VISSZAKÉRDEZÉS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61A30"/>
                </a:solidFill>
                <a:latin typeface="Aptos Display"/>
              </a:defRPr>
            </a:pPr>
            <a:r>
              <a:t>5 gyors ellenőrző kérdés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070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0BEDC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8308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61A30"/>
                </a:solidFill>
                <a:latin typeface="Aptos"/>
              </a:defRPr>
            </a:pPr>
            <a:r>
              <a:t>Mi az anyagjegyzék célja?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0BEDC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15184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61A30"/>
                </a:solidFill>
                <a:latin typeface="Aptos"/>
              </a:defRPr>
            </a:pPr>
            <a:r>
              <a:t>Miért kell ráhagyással számolni?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47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0BEDC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47288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61A30"/>
                </a:solidFill>
                <a:latin typeface="Aptos"/>
              </a:defRPr>
            </a:pPr>
            <a:r>
              <a:t>Melyek a fő eszközcsoportok?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0BEDC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79392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61A30"/>
                </a:solidFill>
                <a:latin typeface="Aptos"/>
              </a:defRPr>
            </a:pPr>
            <a:r>
              <a:t>Miért fontos a munkasorrend?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0BEDC"/>
                </a:solidFill>
                <a:latin typeface="Aptos"/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111496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61A30"/>
                </a:solidFill>
                <a:latin typeface="Aptos"/>
              </a:defRPr>
            </a:pPr>
            <a:r>
              <a:t>Mit ellenőrzünk a munkakezdés előtt?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07084"/>
                </a:solidFill>
                <a:latin typeface="Aptos"/>
              </a:defRPr>
            </a:pPr>
            <a:r>
              <a:t>IAP • Épületvillamosság 2 • Felnőtt oktatás • Jelenléti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0BEDC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804672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NYOMVONALAK,</a:t>
            </a:r>
            <a:br/>
            <a:r>
              <a:t>SZERELÉSI MÓDOK,</a:t>
            </a:r>
            <a:br/>
            <a:r>
              <a:t>SZERELVÉNYHELYEK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4023360"/>
            <a:ext cx="9875520" cy="914400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235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3. hét • a tervből tényleges szerelési hely lesz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66928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30BEDC"/>
                </a:solidFill>
                <a:latin typeface="Aptos"/>
              </a:defRPr>
            </a:pPr>
            <a:r>
              <a:t>Tanulj!  Alkalmazz! 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