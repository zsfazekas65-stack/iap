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Open Sans Bold"/>
      <p:regular r:id="rId201314"/>
    </p:embeddedFont>
    <p:embeddedFont>
      <p:font typeface="Open Sans"/>
      <p:regular r:id="rId201315"/>
    </p:embeddedFont>
    <p:embeddedFont>
      <p:font typeface="Unbounded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6F5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2505273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Épületvillamosság 2. – 11. hét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762177"/>
            <a:ext cx="629686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Falba süllyesztett alapszerelés: védőcsövezés, dobozolás és vezetékezés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6F5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89" y="500955"/>
            <a:ext cx="4391808" cy="58559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27844"/>
            <a:ext cx="6296860" cy="1126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Miért nem elég „csak betenni a falba"?</a:t>
            </a:r>
            <a:endParaRPr lang="en-US" sz="35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1911548"/>
            <a:ext cx="6296860" cy="135840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40435" y="2117030"/>
            <a:ext cx="57843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Mechanikai védelem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5540435" y="2501503"/>
            <a:ext cx="578430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falba rejtett szerelés célja, hogy a vezetékek fizikai behatásokkal szemben maradandóan védve legyenek.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441601"/>
            <a:ext cx="6296860" cy="135840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540435" y="3647083"/>
            <a:ext cx="57843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Esztétikus kialakítás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5540435" y="4031555"/>
            <a:ext cx="578430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Nem egyszerűen vezetéket teszünk a falba – előre megtervezett nyomvonalat és rendszert alakítunk ki.</a:t>
            </a:r>
            <a:endParaRPr lang="en-US" sz="14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4971653"/>
            <a:ext cx="6296860" cy="135840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540435" y="5177135"/>
            <a:ext cx="57843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Későbbi javíthatóság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5540435" y="5561608"/>
            <a:ext cx="578430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munka mindig a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terv és a helyszín összevetésével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kezdődik, hogy a rendszer cserélhető maradjon.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1611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 munkafolyamat sorrendje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570857"/>
            <a:ext cx="6903269" cy="25904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39181" y="4231552"/>
            <a:ext cx="1041185" cy="802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Védőcsövek elhelyezése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927002" y="4432128"/>
            <a:ext cx="1041185" cy="401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Dobozok rögzítése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3621956" y="4331840"/>
            <a:ext cx="1041185" cy="601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Hornyok és dobozok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2316909" y="4331840"/>
            <a:ext cx="1041185" cy="601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Szerelvényhelyek kitűzése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83336" y="4432128"/>
            <a:ext cx="1041185" cy="401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Terv és helyszín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032251" y="2160290"/>
            <a:ext cx="3504219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falba süllyesztett szerelés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szigorú sorrendhez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kötött folyamat. Minden lépés a következő előfeltétele – a sorrend felcserélése hibás vagy javíthatatlan rendszert eredményez.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8032251" y="3885009"/>
            <a:ext cx="3504219" cy="1644253"/>
          </a:xfrm>
          <a:prstGeom prst="roundRect">
            <a:avLst>
              <a:gd name="adj" fmla="val 4828"/>
            </a:avLst>
          </a:prstGeom>
          <a:solidFill>
            <a:srgbClr val="D6F5E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1258" y="4178102"/>
            <a:ext cx="236234" cy="1890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46499" y="4102298"/>
            <a:ext cx="27009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dokumentálás nem opcionális lépés – a lezárt fal mögé kerülő rendszert utólag csak tervből lehet azonosítani.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3123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Nyomvonaltervezés – az alapszabályok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409130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196902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Függőleges és vízszintes vezetés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2681188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Kizárólag derékszögű nyomvonal alkalmazható, hogy a szerelvényhelyek a tervből és a szerelési logikából később is egyértelműen azonosíthatók legyenek.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633201" y="3777456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IAP-szabály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633201" y="4261743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Amit a vakolat eltakar, annak helye a tervből és a szerelési logikából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később is kikövetkeztethető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legyen – ez védi meg a falat a véletlen fúrásoktól.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633201" y="5055592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Keresztezések minimalizálása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633201" y="5539879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Kerülni kell a szükségtelen keresztezéseket és a felesleges irányváltoztatásokat.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8222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Védőcsövezés – helyes kialakítás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450902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159621"/>
            <a:ext cx="346542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Megfelelő keresztmetszet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863578"/>
            <a:ext cx="346542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cső belső átmérőjét úgy kell megválasztani, hogy a tervezett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összes vezető behúzható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legyen – a töltési arány nem haladhatja meg a megengedett értéket.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450902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159621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Megfelelő ívhossz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3568303"/>
            <a:ext cx="346542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Kerülni kell a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megtört ívet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a sorjás csővéget és az egymást követő sok kanyart – ezek a behúzást akadályozzák vagy a szigetelést károsítják.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4794" y="2450902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159621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Behúzószál mindig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3568303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csővégnek be kell érnie a dobozba; behúzószál minden esetben szükséges, és az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átjárhatóságot szerelés közben ellenőrizni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kell.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111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Védőcsövezés – tipikus hibák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1594247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 leggyakoribb szerelési hibák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4633201" y="2102148"/>
            <a:ext cx="2175019" cy="2206823"/>
          </a:xfrm>
          <a:prstGeom prst="roundRect">
            <a:avLst>
              <a:gd name="adj" fmla="val 3650"/>
            </a:avLst>
          </a:prstGeom>
          <a:solidFill>
            <a:srgbClr val="FFFFFF"/>
          </a:solidFill>
          <a:ln w="25399">
            <a:solidFill>
              <a:srgbClr val="BCDB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47608" y="2316559"/>
            <a:ext cx="1746206" cy="1482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</a:t>
            </a:r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Megtört vagy összenyomott gégecső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6997227" y="2102148"/>
            <a:ext cx="2175118" cy="2206823"/>
          </a:xfrm>
          <a:prstGeom prst="roundRect">
            <a:avLst>
              <a:gd name="adj" fmla="val 3650"/>
            </a:avLst>
          </a:prstGeom>
          <a:solidFill>
            <a:srgbClr val="FFFFFF"/>
          </a:solidFill>
          <a:ln w="25399">
            <a:solidFill>
              <a:srgbClr val="BCDB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211634" y="2316559"/>
            <a:ext cx="1746306" cy="1187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</a:t>
            </a:r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Éles, kis sugarú irányváltoztatás</a:t>
            </a:r>
            <a:endParaRPr lang="en-US" sz="1850" dirty="0"/>
          </a:p>
        </p:txBody>
      </p:sp>
      <p:sp>
        <p:nvSpPr>
          <p:cNvPr id="9" name="Shape 6"/>
          <p:cNvSpPr/>
          <p:nvPr/>
        </p:nvSpPr>
        <p:spPr>
          <a:xfrm>
            <a:off x="9361353" y="2102148"/>
            <a:ext cx="2175118" cy="2206823"/>
          </a:xfrm>
          <a:prstGeom prst="roundRect">
            <a:avLst>
              <a:gd name="adj" fmla="val 3650"/>
            </a:avLst>
          </a:prstGeom>
          <a:solidFill>
            <a:srgbClr val="FFFFFF"/>
          </a:solidFill>
          <a:ln w="25399">
            <a:solidFill>
              <a:srgbClr val="BCDB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575759" y="2316559"/>
            <a:ext cx="1746306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</a:t>
            </a:r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Nem megfelelően rögzített cső – vakoláskor elmozdul</a:t>
            </a:r>
            <a:endParaRPr lang="en-US" sz="1850" dirty="0"/>
          </a:p>
        </p:txBody>
      </p:sp>
      <p:sp>
        <p:nvSpPr>
          <p:cNvPr id="11" name="Shape 8"/>
          <p:cNvSpPr/>
          <p:nvPr/>
        </p:nvSpPr>
        <p:spPr>
          <a:xfrm>
            <a:off x="4633201" y="4497983"/>
            <a:ext cx="3357082" cy="1616273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25399">
            <a:solidFill>
              <a:srgbClr val="BCDB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7608" y="4712395"/>
            <a:ext cx="2928269" cy="892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</a:t>
            </a:r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Habarcs vagy törmelék kerül a csőbe</a:t>
            </a:r>
            <a:endParaRPr lang="en-US" sz="1850" dirty="0"/>
          </a:p>
        </p:txBody>
      </p:sp>
      <p:sp>
        <p:nvSpPr>
          <p:cNvPr id="13" name="Shape 10"/>
          <p:cNvSpPr/>
          <p:nvPr/>
        </p:nvSpPr>
        <p:spPr>
          <a:xfrm>
            <a:off x="8179290" y="4497983"/>
            <a:ext cx="3357181" cy="1616273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25399">
            <a:solidFill>
              <a:srgbClr val="BCDB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93696" y="4712395"/>
            <a:ext cx="2928368" cy="1187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</a:t>
            </a:r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Nincs behúzószál, átjárhatóság ellenőrizetlen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6F5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00" y="499170"/>
            <a:ext cx="4394586" cy="58596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47390"/>
            <a:ext cx="6296860" cy="1661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Dobozolás – pontosság és szintezés</a:t>
            </a:r>
            <a:endParaRPr lang="en-US" sz="3450" dirty="0"/>
          </a:p>
        </p:txBody>
      </p:sp>
      <p:sp>
        <p:nvSpPr>
          <p:cNvPr id="5" name="Shape 2"/>
          <p:cNvSpPr/>
          <p:nvPr/>
        </p:nvSpPr>
        <p:spPr>
          <a:xfrm>
            <a:off x="5233360" y="2457748"/>
            <a:ext cx="3065386" cy="2393752"/>
          </a:xfrm>
          <a:prstGeom prst="roundRect">
            <a:avLst>
              <a:gd name="adj" fmla="val 3109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16911" y="2641302"/>
            <a:ext cx="2698286" cy="553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Kész falsíkhoz igazítás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16911" y="3294757"/>
            <a:ext cx="2698286" cy="137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dobozt a </a:t>
            </a:r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várható kész falsíkhoz</a:t>
            </a:r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kell igazítani – nem a nyers fal pillanatnyi síkjához. A vakolat vastagságát előre figyelembe kell venni.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464834" y="2457748"/>
            <a:ext cx="3065386" cy="2393752"/>
          </a:xfrm>
          <a:prstGeom prst="roundRect">
            <a:avLst>
              <a:gd name="adj" fmla="val 3109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48384" y="2641302"/>
            <a:ext cx="2698286" cy="553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Azonos magasság és vízszint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648384" y="3294757"/>
            <a:ext cx="2698286" cy="137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Több egymás melletti doboznál </a:t>
            </a:r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azonos magasság és vízszint</a:t>
            </a:r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kötelező – ez határozza meg a kész szerelvény esztétikáját és a szabványos megjelenést.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233360" y="5017591"/>
            <a:ext cx="6296860" cy="1292920"/>
          </a:xfrm>
          <a:prstGeom prst="roundRect">
            <a:avLst>
              <a:gd name="adj" fmla="val 5756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16911" y="5201146"/>
            <a:ext cx="592975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Csőcsatlakozások sorrendje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416911" y="5577681"/>
            <a:ext cx="5929759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csőcsatlakozásokat a dobozba rögzítés </a:t>
            </a:r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előtt</a:t>
            </a:r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kell kialakítani – utólag a beépített dobozba csövet illeszteni hibaforrás.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6933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Vezetékbehúzás és azonosítás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532459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 behúzás feltételei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3016746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Vezetéket csak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kész, átjárható és rögzített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csőrendszerbe szabad behúzni. A húzás előtt az összes doboz és csőszakasz végleges helyzetben legyen.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4094063"/>
            <a:ext cx="5203794" cy="973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Kerülni kell a szigetelés sérülését és a túlzott húzóerőt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Egyszerre csak az előírt számú és méretű vezető húzható be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32776" y="2532459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Azonosítás és jelölés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332776" y="3016746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Az áramköröket és a vezetők funkcióját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következetesen kell jelölni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– a fal lezárása előtt, minden doboznál.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332776" y="3834209"/>
            <a:ext cx="5203794" cy="1341834"/>
          </a:xfrm>
          <a:prstGeom prst="roundRect">
            <a:avLst>
              <a:gd name="adj" fmla="val 5916"/>
            </a:avLst>
          </a:prstGeom>
          <a:solidFill>
            <a:srgbClr val="FFB3B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1783" y="4127302"/>
            <a:ext cx="236234" cy="1890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947024" y="4051498"/>
            <a:ext cx="440053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védővezető (PE) rendeltetése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nem változtatható meg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– más funkcióra soha nem használható fel.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Erős- és gyengeáramú rendszerek elkülönítése</a:t>
            </a:r>
            <a:endParaRPr lang="en-US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3157736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Miért tervezzük együtt?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221058" y="3360241"/>
            <a:ext cx="5315512" cy="23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Az energiaellátási, adatátviteli és kommunikációs rendszereket már a </a:t>
            </a:r>
            <a:pPr algn="l" indent="0" marL="0">
              <a:lnSpc>
                <a:spcPct val="101000"/>
              </a:lnSpc>
              <a:buNone/>
            </a:pPr>
            <a:r>
              <a:rPr lang="en-US" sz="7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nyomvonaltervezéskor együtt kell kezelni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– az utólagos módosítás lezárt falban szinte lehetetlen.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221058" y="3646587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 szükséges elkülönítés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221058" y="3849092"/>
            <a:ext cx="5315512" cy="23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rendszer követelményei szerint biztosítandó: külön védőcsövek, megfelelő távolság, szükség esetén árnyékolás. Cél: </a:t>
            </a:r>
            <a:pPr algn="l" indent="0" marL="0">
              <a:lnSpc>
                <a:spcPct val="101000"/>
              </a:lnSpc>
              <a:buNone/>
            </a:pPr>
            <a:r>
              <a:rPr lang="en-US" sz="7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villamos biztonság + zavarok csökkentése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2492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Mintafeladat + Ellenőrző kérdések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61475" y="1611809"/>
            <a:ext cx="520746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Mintafeladat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1475" y="2085677"/>
            <a:ext cx="520746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Egy </a:t>
            </a:r>
            <a:pPr algn="l"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4,0 × 3,5 m-es helyiségben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tervezd meg a falba süllyesztett alapszerelést: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2841030"/>
            <a:ext cx="5207465" cy="654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mennyezeti lámpa, 1 egypólusú kapcsoló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 csatlakozóaljzat, 1 adatcsatlakozó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1475" y="3660477"/>
            <a:ext cx="5207465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Készíts nyomvonaltervet, határozd meg a dobozokat és védőcsőszakaszokat, becsüld meg a csőhosszt </a:t>
            </a:r>
            <a:pPr algn="l"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10% tartalékkal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29105" y="1611809"/>
            <a:ext cx="520746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Ellenőrző kérdések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329105" y="2108498"/>
            <a:ext cx="418593" cy="418604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98804" y="2143323"/>
            <a:ext cx="27909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</a:t>
            </a:r>
            <a:endParaRPr lang="en-US" sz="2150" dirty="0"/>
          </a:p>
        </p:txBody>
      </p:sp>
      <p:sp>
        <p:nvSpPr>
          <p:cNvPr id="10" name="Text 8"/>
          <p:cNvSpPr/>
          <p:nvPr/>
        </p:nvSpPr>
        <p:spPr>
          <a:xfrm>
            <a:off x="6930852" y="2172395"/>
            <a:ext cx="4605718" cy="58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Miért fontos a nyomvonal előzetes kitűzése?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329105" y="3120132"/>
            <a:ext cx="418593" cy="418604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98804" y="3154958"/>
            <a:ext cx="27909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</a:t>
            </a:r>
            <a:endParaRPr lang="en-US" sz="2150" dirty="0"/>
          </a:p>
        </p:txBody>
      </p:sp>
      <p:sp>
        <p:nvSpPr>
          <p:cNvPr id="13" name="Text 11"/>
          <p:cNvSpPr/>
          <p:nvPr/>
        </p:nvSpPr>
        <p:spPr>
          <a:xfrm>
            <a:off x="6930852" y="3184029"/>
            <a:ext cx="4605718" cy="58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Milyen hibák akadályozhatják a vezetékbehúzást?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329105" y="4131766"/>
            <a:ext cx="418593" cy="418604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98804" y="4166592"/>
            <a:ext cx="27909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</a:t>
            </a:r>
            <a:endParaRPr lang="en-US" sz="2150" dirty="0"/>
          </a:p>
        </p:txBody>
      </p:sp>
      <p:sp>
        <p:nvSpPr>
          <p:cNvPr id="16" name="Text 14"/>
          <p:cNvSpPr/>
          <p:nvPr/>
        </p:nvSpPr>
        <p:spPr>
          <a:xfrm>
            <a:off x="6930852" y="4195663"/>
            <a:ext cx="4605718" cy="872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Miért kell együtt tervezni az erős- és gyengeáramú nyomvonalakat?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329105" y="5434112"/>
            <a:ext cx="418593" cy="418604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98804" y="5468938"/>
            <a:ext cx="27909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4</a:t>
            </a:r>
            <a:endParaRPr lang="en-US" sz="2150" dirty="0"/>
          </a:p>
        </p:txBody>
      </p:sp>
      <p:sp>
        <p:nvSpPr>
          <p:cNvPr id="19" name="Text 17"/>
          <p:cNvSpPr/>
          <p:nvPr/>
        </p:nvSpPr>
        <p:spPr>
          <a:xfrm>
            <a:off x="6930852" y="5498009"/>
            <a:ext cx="4605718" cy="58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Milyen ellenőrzéseket végzünk a fal lezárása előtt?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2026-09-13T17:40:56Z</dcterms:created>
  <dcterms:modified xsi:type="dcterms:W3CDTF">2026-09-13T17:40:56Z</dcterms:modified>
</cp:coreProperties>
</file>