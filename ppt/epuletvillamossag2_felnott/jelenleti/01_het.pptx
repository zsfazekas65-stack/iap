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21040" y="0"/>
            <a:ext cx="3931920" cy="1005840"/>
          </a:xfrm>
          <a:prstGeom prst="rect">
            <a:avLst/>
          </a:prstGeom>
          <a:solidFill>
            <a:srgbClr val="116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26880" y="1143000"/>
            <a:ext cx="2926080" cy="164592"/>
          </a:xfrm>
          <a:prstGeom prst="rect">
            <a:avLst/>
          </a:prstGeom>
          <a:solidFill>
            <a:srgbClr val="23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5349240"/>
            <a:ext cx="4389120" cy="1508760"/>
          </a:xfrm>
          <a:prstGeom prst="rect">
            <a:avLst/>
          </a:prstGeom>
          <a:solidFill>
            <a:srgbClr val="116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1828800"/>
            <a:ext cx="164592" cy="164592"/>
          </a:xfrm>
          <a:prstGeom prst="ellipse">
            <a:avLst/>
          </a:prstGeom>
          <a:solidFill>
            <a:srgbClr val="E8A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18320" y="2788920"/>
            <a:ext cx="164592" cy="164592"/>
          </a:xfrm>
          <a:prstGeom prst="ellipse">
            <a:avLst/>
          </a:prstGeom>
          <a:solidFill>
            <a:srgbClr val="E8A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3886200"/>
            <a:ext cx="164592" cy="164592"/>
          </a:xfrm>
          <a:prstGeom prst="ellipse">
            <a:avLst/>
          </a:prstGeom>
          <a:solidFill>
            <a:srgbClr val="E8A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0" y="4389120"/>
            <a:ext cx="164592" cy="164592"/>
          </a:xfrm>
          <a:prstGeom prst="ellipse">
            <a:avLst/>
          </a:prstGeom>
          <a:solidFill>
            <a:srgbClr val="E8A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0292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3B5DA"/>
                </a:solidFill>
                <a:latin typeface="Aptos"/>
              </a:defRPr>
            </a:pPr>
            <a:r>
              <a:t>IAP • FELNŐTT OKTATÁS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70408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A villamos munka</a:t>
            </a:r>
            <a:br/>
            <a:r>
              <a:t>felmérésének alapjai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971800"/>
            <a:ext cx="6035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CDE0EC"/>
                </a:solidFill>
                <a:latin typeface="Aptos"/>
              </a:defRPr>
            </a:pPr>
            <a:r>
              <a:t>Épületvillamosság 2 • Jelenléti oktatás • 1. hét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886200"/>
            <a:ext cx="5120640" cy="749808"/>
          </a:xfrm>
          <a:prstGeom prst="roundRect">
            <a:avLst/>
          </a:prstGeom>
          <a:solidFill>
            <a:srgbClr val="123751"/>
          </a:solidFill>
          <a:ln>
            <a:solidFill>
              <a:srgbClr val="366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Villamos munka felmérése – alapszerelés  •  105 óra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126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B5DA"/>
                </a:solidFill>
                <a:latin typeface="Aptos"/>
              </a:defRPr>
            </a:pPr>
            <a:r>
              <a:t>Tanulj!  Alkalmazz! 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3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16CA6"/>
                </a:solidFill>
                <a:latin typeface="Aptos"/>
              </a:defRPr>
            </a:pPr>
            <a:r>
              <a:t>IAP  | 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0116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ÉPÜLETVILLAMOSSÁG 2  •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35508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C"/>
                </a:solidFill>
                <a:latin typeface="Aptos"/>
              </a:defRPr>
            </a:pPr>
            <a:r>
              <a:t>Felnőtt oktatás • Jelenléti oktatás • 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3550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16CA6"/>
                </a:solidFill>
                <a:latin typeface="Aptos"/>
              </a:defRPr>
            </a:pPr>
            <a:r>
              <a:t>ALAPGONDOLAT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81F34"/>
                </a:solidFill>
                <a:latin typeface="Aptos Display"/>
              </a:defRPr>
            </a:pPr>
            <a:r>
              <a:t>Miért a felméréssel kezdünk?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61872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B6C7C"/>
                </a:solidFill>
                <a:latin typeface="Aptos"/>
              </a:defRPr>
            </a:pPr>
            <a:r>
              <a:t>A kivitelezés minősége már a munka megkezdése előtt eldől.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57400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039112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Pontos feladat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51760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A megrendelői igényt egyértelmű műszaki feladattá alakítjuk.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874519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2804" y="2057400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7164" y="2039112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Kevesebb hiba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2804" y="2651760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A pontos méretek és adottságok csökkentik az utólagos módosításokat.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37076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219956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201668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Anyagtakarékosság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814316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Reális vezetékhossz és anyagszükséglet becsülhető.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4" y="4037076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2804" y="4219956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!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7164" y="4201668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2804" y="4814316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A kockázatok még a kivitelezés előtt felismerhetők.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3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16CA6"/>
                </a:solidFill>
                <a:latin typeface="Aptos"/>
              </a:defRPr>
            </a:pPr>
            <a:r>
              <a:t>IAP  | 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0116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ÉPÜLETVILLAMOSSÁG 2  •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35508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C"/>
                </a:solidFill>
                <a:latin typeface="Aptos"/>
              </a:defRPr>
            </a:pPr>
            <a:r>
              <a:t>Felnőtt oktatás • Jelenléti oktatás • 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3550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16CA6"/>
                </a:solidFill>
                <a:latin typeface="Aptos"/>
              </a:defRPr>
            </a:pPr>
            <a:r>
              <a:t>HELYSZÍN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81F34"/>
                </a:solidFill>
                <a:latin typeface="Aptos Display"/>
              </a:defRPr>
            </a:pPr>
            <a:r>
              <a:t>Mit kell tisztázni a helyszínen?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61872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B6C7C"/>
                </a:solidFill>
                <a:latin typeface="Aptos"/>
              </a:defRPr>
            </a:pPr>
            <a:r>
              <a:t>A felmérés nem pusztán méretfelvétel: műszaki kérdések sorozata.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57400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039112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Megrendelői igény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51760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Milyen fogyasztók, dugaljak, világítási pontok és kapcsolások szükségesek?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874519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2804" y="2057400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7164" y="2039112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Meglévő hálózat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2804" y="2651760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Új kiépítés vagy meglévő rendszer bővítése, átalakítása történik?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37076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219956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201668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Csatlakozási pont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814316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Hol található az elosztó, és honnan indulhat az új áramkör?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4" y="4037076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2804" y="4219956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7164" y="4201668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Nyomvonal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2804" y="4814316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Hol vezethetők biztonságosan és ésszerűen a vezetékek?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3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16CA6"/>
                </a:solidFill>
                <a:latin typeface="Aptos"/>
              </a:defRPr>
            </a:pPr>
            <a:r>
              <a:t>IAP  | 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0116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ÉPÜLETVILLAMOSSÁG 2  •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35508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C"/>
                </a:solidFill>
                <a:latin typeface="Aptos"/>
              </a:defRPr>
            </a:pPr>
            <a:r>
              <a:t>Felnőtt oktatás • Jelenléti oktatás • 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3550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16CA6"/>
                </a:solidFill>
                <a:latin typeface="Aptos"/>
              </a:defRPr>
            </a:pPr>
            <a:r>
              <a:t>ALAPSZERELÉS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81F34"/>
                </a:solidFill>
                <a:latin typeface="Aptos Display"/>
              </a:defRPr>
            </a:pPr>
            <a:r>
              <a:t>Épületszerkezeti adottságok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61872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B6C7C"/>
                </a:solidFill>
                <a:latin typeface="Aptos"/>
              </a:defRPr>
            </a:pPr>
            <a:r>
              <a:t>Az alapszerelés módját az épület szerkezete alapvetően meghatározza.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57400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039112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Falazat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51760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Tégla, beton, gipszkarton vagy más szerkezet?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874519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2804" y="2057400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7164" y="2039112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Födém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2804" y="2651760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Fúrható, véshető, álmennyezettel takart?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37076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219956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201668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Más szakágak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814316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Víz-, gáz-, fűtési és informatikai vezetékek helye.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4" y="4037076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2804" y="4219956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7164" y="4201668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Munkaterület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2804" y="4814316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Hozzáférés, létraállítás, por, zaj és egyéb kockázatok.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3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16CA6"/>
                </a:solidFill>
                <a:latin typeface="Aptos"/>
              </a:defRPr>
            </a:pPr>
            <a:r>
              <a:t>IAP  | 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0116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ÉPÜLETVILLAMOSSÁG 2  •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35508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C"/>
                </a:solidFill>
                <a:latin typeface="Aptos"/>
              </a:defRPr>
            </a:pPr>
            <a:r>
              <a:t>Felnőtt oktatás • Jelenléti oktatás • 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3550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16CA6"/>
                </a:solidFill>
                <a:latin typeface="Aptos"/>
              </a:defRPr>
            </a:pPr>
            <a:r>
              <a:t>FOLYAMAT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81F34"/>
                </a:solidFill>
                <a:latin typeface="Aptos Display"/>
              </a:defRPr>
            </a:pPr>
            <a:r>
              <a:t>A helyszíni felmérés menete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6187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B6C7C"/>
                </a:solidFill>
                <a:latin typeface="Aptos"/>
              </a:defRPr>
            </a:pPr>
            <a:r>
              <a:t>A jó felmérés logikus sorrendben halad az igénytől a dokumentációig.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057400"/>
            <a:ext cx="566928" cy="566928"/>
          </a:xfrm>
          <a:prstGeom prst="ellipse">
            <a:avLst/>
          </a:prstGeom>
          <a:solidFill>
            <a:srgbClr val="116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39696"/>
            <a:ext cx="5669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07208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81F34"/>
                </a:solidFill>
                <a:latin typeface="Aptos"/>
              </a:defRPr>
            </a:pPr>
            <a:r>
              <a:t>Igény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3200400"/>
            <a:ext cx="1508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B6C7C"/>
                </a:solidFill>
                <a:latin typeface="Aptos"/>
              </a:defRPr>
            </a:pPr>
            <a:r>
              <a:t>Mit kér a megrendelő?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44168" y="2322576"/>
            <a:ext cx="1417320" cy="45720"/>
          </a:xfrm>
          <a:prstGeom prst="rect">
            <a:avLst/>
          </a:prstGeom>
          <a:solidFill>
            <a:srgbClr val="D1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98648" y="2057400"/>
            <a:ext cx="566928" cy="566928"/>
          </a:xfrm>
          <a:prstGeom prst="ellipse">
            <a:avLst/>
          </a:prstGeom>
          <a:solidFill>
            <a:srgbClr val="116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8648" y="2139696"/>
            <a:ext cx="5669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2807208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81F34"/>
                </a:solidFill>
                <a:latin typeface="Aptos"/>
              </a:defRPr>
            </a:pPr>
            <a:r>
              <a:t>Helyszín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9736" y="3200400"/>
            <a:ext cx="1508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B6C7C"/>
                </a:solidFill>
                <a:latin typeface="Aptos"/>
              </a:defRPr>
            </a:pPr>
            <a:r>
              <a:t>Méretek, falazat, adottságok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57015" y="2322576"/>
            <a:ext cx="1417320" cy="45720"/>
          </a:xfrm>
          <a:prstGeom prst="rect">
            <a:avLst/>
          </a:prstGeom>
          <a:solidFill>
            <a:srgbClr val="D1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496" y="2057400"/>
            <a:ext cx="566928" cy="566928"/>
          </a:xfrm>
          <a:prstGeom prst="ellipse">
            <a:avLst/>
          </a:prstGeom>
          <a:solidFill>
            <a:srgbClr val="116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11496" y="2139696"/>
            <a:ext cx="5669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896" y="2807208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81F34"/>
                </a:solidFill>
                <a:latin typeface="Aptos"/>
              </a:defRPr>
            </a:pPr>
            <a:r>
              <a:t>Nyomvonal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3" y="3200400"/>
            <a:ext cx="1508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B6C7C"/>
                </a:solidFill>
                <a:latin typeface="Aptos"/>
              </a:defRPr>
            </a:pPr>
            <a:r>
              <a:t>Vezetékek és szerelvények helye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9864" y="2322576"/>
            <a:ext cx="1417320" cy="45720"/>
          </a:xfrm>
          <a:prstGeom prst="rect">
            <a:avLst/>
          </a:prstGeom>
          <a:solidFill>
            <a:srgbClr val="D1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24344" y="2057400"/>
            <a:ext cx="566928" cy="566928"/>
          </a:xfrm>
          <a:prstGeom prst="ellipse">
            <a:avLst/>
          </a:prstGeom>
          <a:solidFill>
            <a:srgbClr val="116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24344" y="2139696"/>
            <a:ext cx="5669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2807208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81F34"/>
                </a:solidFill>
                <a:latin typeface="Aptos"/>
              </a:defRPr>
            </a:pPr>
            <a:r>
              <a:t>Kockázat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431" y="3200400"/>
            <a:ext cx="1508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B6C7C"/>
                </a:solidFill>
                <a:latin typeface="Aptos"/>
              </a:defRPr>
            </a:pPr>
            <a:r>
              <a:t>Akadályok, munkavédelem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82712" y="2322576"/>
            <a:ext cx="1417320" cy="45720"/>
          </a:xfrm>
          <a:prstGeom prst="rect">
            <a:avLst/>
          </a:prstGeom>
          <a:solidFill>
            <a:srgbClr val="D1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37192" y="2057400"/>
            <a:ext cx="566928" cy="566928"/>
          </a:xfrm>
          <a:prstGeom prst="ellipse">
            <a:avLst/>
          </a:prstGeom>
          <a:solidFill>
            <a:srgbClr val="116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37192" y="2139696"/>
            <a:ext cx="5669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08592" y="2807208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81F34"/>
                </a:solidFill>
                <a:latin typeface="Aptos"/>
              </a:defRPr>
            </a:pPr>
            <a:r>
              <a:t>Dokumentáció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200400"/>
            <a:ext cx="1508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B6C7C"/>
                </a:solidFill>
                <a:latin typeface="Aptos"/>
              </a:defRPr>
            </a:pPr>
            <a:r>
              <a:t>Vázlat, jegyzőkönyv, anyagigény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3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16CA6"/>
                </a:solidFill>
                <a:latin typeface="Aptos"/>
              </a:defRPr>
            </a:pPr>
            <a:r>
              <a:t>IAP  | 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0116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ÉPÜLETVILLAMOSSÁG 2  •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35508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C"/>
                </a:solidFill>
                <a:latin typeface="Aptos"/>
              </a:defRPr>
            </a:pPr>
            <a:r>
              <a:t>Felnőtt oktatás • Jelenléti oktatás • 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3550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16CA6"/>
                </a:solidFill>
                <a:latin typeface="Aptos"/>
              </a:defRPr>
            </a:pPr>
            <a:r>
              <a:t>DOKUMENTÁCIÓ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81F34"/>
                </a:solidFill>
                <a:latin typeface="Aptos Display"/>
              </a:defRPr>
            </a:pPr>
            <a:r>
              <a:t>Mit rögzítsünk a dokumentációban?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61872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B6C7C"/>
                </a:solidFill>
                <a:latin typeface="Aptos"/>
              </a:defRPr>
            </a:pPr>
            <a:r>
              <a:t>A felmérés akkor használható, ha egy másik szakember is megérti.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57400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039112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Méretezett vázlat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51760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Helyiségméretek, nyílászárók és fontos távolságok.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874519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2804" y="2057400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7164" y="2039112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Szerelvények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2804" y="2651760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Dugaljak, kapcsolók és világítási pontok helye és magassága.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37076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219956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201668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Nyomvonalak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814316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A tervezett vezetékezés útvonala és főbb hosszai.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4" y="4037076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2804" y="4219956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7164" y="4201668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Megjegyzések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2804" y="4814316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Akadályok, meglévő hálózat, különleges körülmények.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3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16CA6"/>
                </a:solidFill>
                <a:latin typeface="Aptos"/>
              </a:defRPr>
            </a:pPr>
            <a:r>
              <a:t>IAP  | 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0116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ÉPÜLETVILLAMOSSÁG 2  •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35508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C"/>
                </a:solidFill>
                <a:latin typeface="Aptos"/>
              </a:defRPr>
            </a:pPr>
            <a:r>
              <a:t>Felnőtt oktatás • Jelenléti oktatás • 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3550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16CA6"/>
                </a:solidFill>
                <a:latin typeface="Aptos"/>
              </a:defRPr>
            </a:pPr>
            <a:r>
              <a:t>PÉLDA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81F34"/>
                </a:solidFill>
                <a:latin typeface="Aptos Display"/>
              </a:defRPr>
            </a:pPr>
            <a:r>
              <a:t>Gyakorlati példa: 4 × 5 m-es műhely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5943600" cy="3566160"/>
          </a:xfrm>
          <a:prstGeom prst="rect">
            <a:avLst/>
          </a:prstGeom>
          <a:solidFill>
            <a:srgbClr val="FAFCFD"/>
          </a:solidFill>
          <a:ln w="25400">
            <a:solidFill>
              <a:srgbClr val="08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240280"/>
            <a:ext cx="320040" cy="320040"/>
          </a:xfrm>
          <a:prstGeom prst="ellipse">
            <a:avLst/>
          </a:prstGeom>
          <a:solidFill>
            <a:srgbClr val="116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4526280"/>
            <a:ext cx="320040" cy="320040"/>
          </a:xfrm>
          <a:prstGeom prst="ellipse">
            <a:avLst/>
          </a:prstGeom>
          <a:solidFill>
            <a:srgbClr val="116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80760" y="2240280"/>
            <a:ext cx="320040" cy="320040"/>
          </a:xfrm>
          <a:prstGeom prst="ellipse">
            <a:avLst/>
          </a:prstGeom>
          <a:solidFill>
            <a:srgbClr val="116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80760" y="4526280"/>
            <a:ext cx="320040" cy="320040"/>
          </a:xfrm>
          <a:prstGeom prst="ellipse">
            <a:avLst/>
          </a:prstGeom>
          <a:solidFill>
            <a:srgbClr val="116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34640" y="3337560"/>
            <a:ext cx="502920" cy="502920"/>
          </a:xfrm>
          <a:prstGeom prst="ellipse">
            <a:avLst/>
          </a:prstGeom>
          <a:solidFill>
            <a:srgbClr val="E8A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3337560"/>
            <a:ext cx="502920" cy="502920"/>
          </a:xfrm>
          <a:prstGeom prst="ellipse">
            <a:avLst/>
          </a:prstGeom>
          <a:solidFill>
            <a:srgbClr val="E8A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3246120"/>
            <a:ext cx="347472" cy="502920"/>
          </a:xfrm>
          <a:prstGeom prst="rect">
            <a:avLst/>
          </a:prstGeom>
          <a:solidFill>
            <a:srgbClr val="23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489204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B6C7C"/>
                </a:solidFill>
                <a:latin typeface="Aptos"/>
              </a:defRPr>
            </a:pPr>
            <a:r>
              <a:t>Egyszerű felmérési vázlat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182880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81F34"/>
                </a:solidFill>
                <a:latin typeface="Aptos"/>
              </a:defRPr>
            </a:pPr>
            <a:r>
              <a:t>A felmérés során rögzítsd:</a:t>
            </a:r>
          </a:p>
        </p:txBody>
      </p:sp>
      <p:sp>
        <p:nvSpPr>
          <p:cNvPr id="18" name="Oval 17"/>
          <p:cNvSpPr/>
          <p:nvPr/>
        </p:nvSpPr>
        <p:spPr>
          <a:xfrm>
            <a:off x="7360920" y="2459736"/>
            <a:ext cx="146304" cy="146304"/>
          </a:xfrm>
          <a:prstGeom prst="ellipse">
            <a:avLst/>
          </a:prstGeom>
          <a:solidFill>
            <a:srgbClr val="23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2" y="2423160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4 db földelt dugalj helye</a:t>
            </a:r>
          </a:p>
        </p:txBody>
      </p:sp>
      <p:sp>
        <p:nvSpPr>
          <p:cNvPr id="20" name="Oval 19"/>
          <p:cNvSpPr/>
          <p:nvPr/>
        </p:nvSpPr>
        <p:spPr>
          <a:xfrm>
            <a:off x="7360920" y="2898648"/>
            <a:ext cx="146304" cy="146304"/>
          </a:xfrm>
          <a:prstGeom prst="ellipse">
            <a:avLst/>
          </a:prstGeom>
          <a:solidFill>
            <a:srgbClr val="23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2" y="2862072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2 db mennyezeti lámpatest</a:t>
            </a:r>
          </a:p>
        </p:txBody>
      </p:sp>
      <p:sp>
        <p:nvSpPr>
          <p:cNvPr id="22" name="Oval 21"/>
          <p:cNvSpPr/>
          <p:nvPr/>
        </p:nvSpPr>
        <p:spPr>
          <a:xfrm>
            <a:off x="7360920" y="3337560"/>
            <a:ext cx="146304" cy="146304"/>
          </a:xfrm>
          <a:prstGeom prst="ellipse">
            <a:avLst/>
          </a:prstGeom>
          <a:solidFill>
            <a:srgbClr val="23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2" y="3300984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1 db kapcsoló</a:t>
            </a:r>
          </a:p>
        </p:txBody>
      </p:sp>
      <p:sp>
        <p:nvSpPr>
          <p:cNvPr id="24" name="Oval 23"/>
          <p:cNvSpPr/>
          <p:nvPr/>
        </p:nvSpPr>
        <p:spPr>
          <a:xfrm>
            <a:off x="7360920" y="3776472"/>
            <a:ext cx="146304" cy="146304"/>
          </a:xfrm>
          <a:prstGeom prst="ellipse">
            <a:avLst/>
          </a:prstGeom>
          <a:solidFill>
            <a:srgbClr val="23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62672" y="3739896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elosztó helye</a:t>
            </a:r>
          </a:p>
        </p:txBody>
      </p:sp>
      <p:sp>
        <p:nvSpPr>
          <p:cNvPr id="26" name="Oval 25"/>
          <p:cNvSpPr/>
          <p:nvPr/>
        </p:nvSpPr>
        <p:spPr>
          <a:xfrm>
            <a:off x="7360920" y="4215384"/>
            <a:ext cx="146304" cy="146304"/>
          </a:xfrm>
          <a:prstGeom prst="ellipse">
            <a:avLst/>
          </a:prstGeom>
          <a:solidFill>
            <a:srgbClr val="23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62672" y="4178808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falazat típusa</a:t>
            </a:r>
          </a:p>
        </p:txBody>
      </p:sp>
      <p:sp>
        <p:nvSpPr>
          <p:cNvPr id="28" name="Oval 27"/>
          <p:cNvSpPr/>
          <p:nvPr/>
        </p:nvSpPr>
        <p:spPr>
          <a:xfrm>
            <a:off x="7360920" y="4654296"/>
            <a:ext cx="146304" cy="146304"/>
          </a:xfrm>
          <a:prstGeom prst="ellipse">
            <a:avLst/>
          </a:prstGeom>
          <a:solidFill>
            <a:srgbClr val="23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62672" y="4617720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tervezett nyomvonal</a:t>
            </a:r>
          </a:p>
        </p:txBody>
      </p:sp>
      <p:sp>
        <p:nvSpPr>
          <p:cNvPr id="30" name="Oval 29"/>
          <p:cNvSpPr/>
          <p:nvPr/>
        </p:nvSpPr>
        <p:spPr>
          <a:xfrm>
            <a:off x="7360920" y="5093208"/>
            <a:ext cx="146304" cy="146304"/>
          </a:xfrm>
          <a:prstGeom prst="ellipse">
            <a:avLst/>
          </a:prstGeom>
          <a:solidFill>
            <a:srgbClr val="23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62672" y="5056632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becsült vezetékhosszak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3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16CA6"/>
                </a:solidFill>
                <a:latin typeface="Aptos"/>
              </a:defRPr>
            </a:pPr>
            <a:r>
              <a:t>IAP  | 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0116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ÉPÜLETVILLAMOSSÁG 2  •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35508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C"/>
                </a:solidFill>
                <a:latin typeface="Aptos"/>
              </a:defRPr>
            </a:pPr>
            <a:r>
              <a:t>Felnőtt oktatás • Jelenléti oktatás • 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3550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16CA6"/>
                </a:solidFill>
                <a:latin typeface="Aptos"/>
              </a:defRPr>
            </a:pPr>
            <a:r>
              <a:t>HIBÁK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81F34"/>
                </a:solidFill>
                <a:latin typeface="Aptos Display"/>
              </a:defRPr>
            </a:pPr>
            <a:r>
              <a:t>Tipikus felmérési hibák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61872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B6C7C"/>
                </a:solidFill>
                <a:latin typeface="Aptos"/>
              </a:defRPr>
            </a:pPr>
            <a:r>
              <a:t>A legtöbb későbbi probléma már a felmérésnél megelőzhető.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57400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039112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Pontatlan méret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51760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A szerelvény vagy nyomvonal nem oda kerül, ahová terveztük.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874519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2804" y="2057400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7164" y="2039112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Rejtett akadály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2804" y="2651760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Más szakág vezetéke vagy szerkezeti elem útban van.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37076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219956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201668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Hiányos lista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814316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Anyaghiány, többletbeszerzés és időveszteség keletkezik.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4" y="4037076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2804" y="4219956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7164" y="4201668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Félreértett igény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2804" y="4814316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A műszaki megoldás nem azt teljesíti, amit a megrendelő várt.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3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16CA6"/>
                </a:solidFill>
                <a:latin typeface="Aptos"/>
              </a:defRPr>
            </a:pPr>
            <a:r>
              <a:t>IAP  | 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0116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ÉPÜLETVILLAMOSSÁG 2  •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35508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C"/>
                </a:solidFill>
                <a:latin typeface="Aptos"/>
              </a:defRPr>
            </a:pPr>
            <a:r>
              <a:t>Felnőtt oktatás • Jelenléti oktatás • 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3550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16CA6"/>
                </a:solidFill>
                <a:latin typeface="Aptos"/>
              </a:defRPr>
            </a:pPr>
            <a:r>
              <a:t>ALKALMAZÁS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81F34"/>
                </a:solidFill>
                <a:latin typeface="Aptos Display"/>
              </a:defRPr>
            </a:pPr>
            <a:r>
              <a:t>Gyakorlati 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61872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B6C7C"/>
                </a:solidFill>
                <a:latin typeface="Aptos"/>
              </a:defRPr>
            </a:pPr>
            <a:r>
              <a:t>Most a tanteremben vagy műhelyben alkalmazzuk a felmérés lépéseit.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57400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039112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1. Mérj!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51760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Határozd meg a helyiség fő méreteit.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874519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2804" y="2057400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7164" y="2039112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2. Rajzolj!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2804" y="2651760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Készíts egyszerű, áttekinthető vázlatot.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37076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219956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201668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3. Jelölj!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814316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Szerelvények, elosztó és nyomvonalak.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4" y="4037076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2804" y="4219956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7164" y="4201668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4. Becsülj!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2804" y="4814316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Határozd meg a főbb vezetékhosszakat és anyagigényt.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3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16CA6"/>
                </a:solidFill>
                <a:latin typeface="Aptos"/>
              </a:defRPr>
            </a:pPr>
            <a:r>
              <a:t>IAP  | 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0116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ÉPÜLETVILLAMOSSÁG 2  •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35508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C"/>
                </a:solidFill>
                <a:latin typeface="Aptos"/>
              </a:defRPr>
            </a:pPr>
            <a:r>
              <a:t>Felnőtt oktatás • Jelenléti oktatás • 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3550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16CA6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81F34"/>
                </a:solidFill>
                <a:latin typeface="Aptos Display"/>
              </a:defRPr>
            </a:pPr>
            <a:r>
              <a:t>Ellenőrző kérdések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61872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B6C7C"/>
                </a:solidFill>
                <a:latin typeface="Aptos"/>
              </a:defRPr>
            </a:pPr>
            <a:r>
              <a:t>Az óra végére ezekre már szakmai nyelven kell tudni válaszolni.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57400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039112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51760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Mi a helyszíni felmérés célja?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874519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2804" y="2057400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7164" y="2039112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2804" y="2651760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Milyen adatokat kell rögzíteni alapszerelés előtt?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37076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219956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201668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814316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Miért fontos a falazat és a födém ismerete?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4" y="4037076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2804" y="4219956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7164" y="4201668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2804" y="4814316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Mit tartalmazzon egy jó felmérési vázlat?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3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16CA6"/>
                </a:solidFill>
                <a:latin typeface="Aptos"/>
              </a:defRPr>
            </a:pPr>
            <a:r>
              <a:t>IAP  | 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0116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ÉPÜLETVILLAMOSSÁG 2  •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35508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C7C"/>
                </a:solidFill>
                <a:latin typeface="Aptos"/>
              </a:defRPr>
            </a:pPr>
            <a:r>
              <a:t>Felnőtt oktatás • Jelenléti oktatás • 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3550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16CA6"/>
                </a:solidFill>
                <a:latin typeface="Aptos"/>
              </a:defRPr>
            </a:pPr>
            <a:r>
              <a:t>FOLYTATÁS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81F34"/>
                </a:solidFill>
                <a:latin typeface="Aptos Display"/>
              </a:defRPr>
            </a:pPr>
            <a:r>
              <a:t>Következő hét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61872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B6C7C"/>
                </a:solidFill>
                <a:latin typeface="Aptos"/>
              </a:defRPr>
            </a:pPr>
            <a:r>
              <a:t>A felmért adatokból munkaterv és anyagszükséglet készül.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57400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039112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Anyagszükséglet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51760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Vezeték, védőcső, dobozok, szerelvények és segédanyagok.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874519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2804" y="2057400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7164" y="2039112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Eszközigény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2804" y="2651760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A munkafolyamathoz szükséges kézi és gépi szerszámok.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37076"/>
            <a:ext cx="5289804" cy="1906524"/>
          </a:xfrm>
          <a:prstGeom prst="roundRect">
            <a:avLst/>
          </a:prstGeom>
          <a:solidFill>
            <a:srgbClr val="EEF5F9"/>
          </a:solidFill>
          <a:ln>
            <a:solidFill>
              <a:srgbClr val="D1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219956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16C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201668"/>
            <a:ext cx="42382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F34"/>
                </a:solidFill>
                <a:latin typeface="Aptos"/>
              </a:defRPr>
            </a:pPr>
            <a:r>
              <a:t>Munkaterv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814316"/>
            <a:ext cx="4832604" cy="946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2837"/>
                </a:solidFill>
                <a:latin typeface="Aptos"/>
              </a:defRPr>
            </a:pPr>
            <a:r>
              <a:t>Milyen sorrendben és milyen feltételekkel végezzük el a feladatot?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