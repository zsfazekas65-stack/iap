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D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005840"/>
            <a:ext cx="100584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7DC4F0"/>
                </a:solidFill>
              </a:defRPr>
            </a:pPr>
            <a:r>
              <a:t>25. hét</a:t>
            </a:r>
          </a:p>
          <a:p>
            <a:pPr>
              <a:defRPr sz="4000" b="1">
                <a:solidFill>
                  <a:srgbClr val="FFFFFF"/>
                </a:solidFill>
              </a:defRPr>
            </a:pPr>
            <a:r>
              <a:t>Motorindító kapcsolások</a:t>
            </a:r>
            <a:br/>
            <a:r>
              <a:t>és motorvédelem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20624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>
                <a:solidFill>
                  <a:srgbClr val="FFFFFF"/>
                </a:solidFill>
              </a:defRPr>
            </a:pPr>
            <a:r>
              <a:t>Épületvillamosság 2 – Felnőtt – Jelenléti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2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18872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FFFFFF"/>
                </a:solidFill>
              </a:defRPr>
            </a:pPr>
            <a:r>
              <a:t>IAP – Integrált Automatika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0B2D4D"/>
                </a:solidFill>
              </a:defRPr>
            </a:pPr>
            <a:r>
              <a:t>Miért kell motorindító?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0B2D4D"/>
                </a:solidFill>
              </a:defRPr>
            </a:pPr>
            <a:r>
              <a:t>Épületvillamosság 2 – Felnőtt – Jelenléti | 25. hét   •   Tanulj! Alkalmazz! Alkoss!   •   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09344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A motor indításkor nagy áramot vehet fel.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267712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68296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A hálózat és a mechanika igénybevételét korlátozni kell.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026664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127248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A motor működését védeni és vezérelni kell.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785615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886200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A megfelelő indítási mód a motor és a hajtott gép együttese alapján választható.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2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18872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FFFFFF"/>
                </a:solidFill>
              </a:defRPr>
            </a:pPr>
            <a:r>
              <a:t>IAP – Integrált Automatika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0B2D4D"/>
                </a:solidFill>
              </a:defRPr>
            </a:pPr>
            <a:r>
              <a:t>Közvetlen indítás – DOL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0B2D4D"/>
                </a:solidFill>
              </a:defRPr>
            </a:pPr>
            <a:r>
              <a:t>Épületvillamosság 2 – Felnőtt – Jelenléti | 25. hét   •   Tanulj! Alkalmazz! Alkoss!   •   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09344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A kontaktor közvetlenül a hálózatra kapcsolja a motort.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267712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68296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Egyszerű és megbízható.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026664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127248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Jó indítónyomatékot biztosít.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785615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886200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Az indítási áram nagy lehet.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2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18872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FFFFFF"/>
                </a:solidFill>
              </a:defRPr>
            </a:pPr>
            <a:r>
              <a:t>IAP – Integrált Automatika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0B2D4D"/>
                </a:solidFill>
              </a:defRPr>
            </a:pPr>
            <a:r>
              <a:t>Csillag–delta indítás célja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0B2D4D"/>
                </a:solidFill>
              </a:defRPr>
            </a:pPr>
            <a:r>
              <a:t>Épületvillamosság 2 – Felnőtt – Jelenléti | 25. hét   •   Tanulj! Alkalmazz! Alkoss!   •   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09344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Indításkor csillagkapcsolás.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267712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68296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Üzemben delta kapcsolás.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026664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127248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Csökken az indítási áram.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785615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886200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Csökken az indítónyomaték is.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2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18872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FFFFFF"/>
                </a:solidFill>
              </a:defRPr>
            </a:pPr>
            <a:r>
              <a:t>IAP – Integrált Automatika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0B2D4D"/>
                </a:solidFill>
              </a:defRPr>
            </a:pPr>
            <a:r>
              <a:t>Mi történik csillagban?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0B2D4D"/>
                </a:solidFill>
              </a:defRPr>
            </a:pPr>
            <a:r>
              <a:t>Épületvillamosság 2 – Felnőtt – Jelenléti | 25. hét   •   Tanulj! Alkalmazz! Alkoss!   •   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09344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A fázistekercsre Uvonal / √3 feszültség jut.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267712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68296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A tekercsáram kisebb.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026664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127248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A nyomaték közelítően a feszültség négyzetével arányos.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785615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886200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Az indítónyomaték körülbelül a deltaindítás harmada.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5440680"/>
            <a:ext cx="10515600" cy="694944"/>
          </a:xfrm>
          <a:prstGeom prst="roundRect">
            <a:avLst/>
          </a:prstGeom>
          <a:solidFill>
            <a:srgbClr val="EAF3FA"/>
          </a:solidFill>
          <a:ln>
            <a:solidFill>
              <a:srgbClr val="17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5577840"/>
            <a:ext cx="100584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0B2D4D"/>
                </a:solidFill>
              </a:defRPr>
            </a:pPr>
            <a:r>
              <a:t>Kevesebb indítási áramért kisebb indítónyomatékkal fizetünk.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2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18872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FFFFFF"/>
                </a:solidFill>
              </a:defRPr>
            </a:pPr>
            <a:r>
              <a:t>IAP – Integrált Automatika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0B2D4D"/>
                </a:solidFill>
              </a:defRPr>
            </a:pPr>
            <a:r>
              <a:t>A három kontaktor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0B2D4D"/>
                </a:solidFill>
              </a:defRPr>
            </a:pPr>
            <a:r>
              <a:t>Épületvillamosság 2 – Felnőtt – Jelenléti | 25. hét   •   Tanulj! Alkalmazz! Alkoss!   •   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09344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Hálózati kontaktor: a motor hálózati kapcsolata.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267712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68296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Csillagkontaktor: a tekercsvégeket csillagponttá kapcsolja.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026664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127248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Deltakontaktor: létrehozza az üzemi delta kapcsolást.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785615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886200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Csillag és delta egyszerre nem lehet aktív.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2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18872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FFFFFF"/>
                </a:solidFill>
              </a:defRPr>
            </a:pPr>
            <a:r>
              <a:t>IAP – Integrált Automatika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0B2D4D"/>
                </a:solidFill>
              </a:defRPr>
            </a:pPr>
            <a:r>
              <a:t>Kapcsolási sorrend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0B2D4D"/>
                </a:solidFill>
              </a:defRPr>
            </a:pPr>
            <a:r>
              <a:t>Épületvillamosság 2 – Felnőtt – Jelenléti | 25. hét   •   Tanulj! Alkalmazz! Alkoss!   •   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09344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START: hálózati + csillagkontaktor behúz.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267712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68296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A motor csillagban gyorsul.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026664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127248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Az időrelé letelte után a csillagkontaktor elejt.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785615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886200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Átkapcsolási szünet után behúz a deltakontaktor.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4544568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645152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STOP: minden kontaktor elejt.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2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18872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FFFFFF"/>
                </a:solidFill>
              </a:defRPr>
            </a:pPr>
            <a:r>
              <a:t>IAP – Integrált Automatika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0B2D4D"/>
                </a:solidFill>
              </a:defRPr>
            </a:pPr>
            <a:r>
              <a:t>Reteszelés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0B2D4D"/>
                </a:solidFill>
              </a:defRPr>
            </a:pPr>
            <a:r>
              <a:t>Épületvillamosság 2 – Felnőtt – Jelenléti | 25. hét   •   Tanulj! Alkalmazz! Alkoss!   •   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09344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Csillag és delta egyidejű működése veszélyes zárlatot okozhat.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267712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68296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Elektromos reteszelés: NC segédérintkezők.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026664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127248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Mechanikus reteszelés is alkalmazható.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785615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886200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A reteszelés biztonsági funkció.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2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18872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FFFFFF"/>
                </a:solidFill>
              </a:defRPr>
            </a:pPr>
            <a:r>
              <a:t>IAP – Integrált Automatika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0B2D4D"/>
                </a:solidFill>
              </a:defRPr>
            </a:pPr>
            <a:r>
              <a:t>Az időrelé szerepe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0B2D4D"/>
                </a:solidFill>
              </a:defRPr>
            </a:pPr>
            <a:r>
              <a:t>Épületvillamosság 2 – Felnőtt – Jelenléti | 25. hét   •   Tanulj! Alkalmazz! Alkoss!   •   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09344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Meghatározza a csillagüzem idejét.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267712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68296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Túl rövid idő: a motor nem gyorsul fel eléggé.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026664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127248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Túl hosszú idő: kedvezőtlen csökkentett nyomaték.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785615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886200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A beállítást a hajtáshoz kell igazítani.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2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18872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FFFFFF"/>
                </a:solidFill>
              </a:defRPr>
            </a:pPr>
            <a:r>
              <a:t>IAP – Integrált Automatika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0B2D4D"/>
                </a:solidFill>
              </a:defRPr>
            </a:pPr>
            <a:r>
              <a:t>Motorvédelem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0B2D4D"/>
                </a:solidFill>
              </a:defRPr>
            </a:pPr>
            <a:r>
              <a:t>Épületvillamosság 2 – Felnőtt – Jelenléti | 25. hét   •   Tanulj! Alkalmazz! Alkoss!   •  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09344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Zárlatvédelem a nagy zárlati áram ellen.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267712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68296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Túlterhelés-védelem a motor túlmelegedése ellen.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026664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127248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A beállítás a motor névleges adataihoz igazodik.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785615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886200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Leoldás után a hiba okát meg kell keresni.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2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18872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FFFFFF"/>
                </a:solidFill>
              </a:defRPr>
            </a:pPr>
            <a:r>
              <a:t>IAP – Integrált Automatika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0B2D4D"/>
                </a:solidFill>
              </a:defRPr>
            </a:pPr>
            <a:r>
              <a:t>Mikor nem megfelelő?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0B2D4D"/>
                </a:solidFill>
              </a:defRPr>
            </a:pPr>
            <a:r>
              <a:t>Épületvillamosság 2 – Felnőtt – Jelenléti | 25. hét   •   Tanulj! Alkalmazz! Alkoss!   •   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09344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Nagy induló terhelésnél kevés lehet a csillagnyomaték.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267712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68296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Nem minden motor alkalmas csillag–delta kapcsolásra.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026664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127248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A motor kivezetéseinek hozzáférhetőnek kell lenniük.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785615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886200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A névleges feszültségadatokat ellenőrizni kell.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2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18872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FFFFFF"/>
                </a:solidFill>
              </a:defRPr>
            </a:pPr>
            <a:r>
              <a:t>IAP – Integrált Automatika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0B2D4D"/>
                </a:solidFill>
              </a:defRPr>
            </a:pPr>
            <a:r>
              <a:t>Korszerű alternatívák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0B2D4D"/>
                </a:solidFill>
              </a:defRPr>
            </a:pPr>
            <a:r>
              <a:t>Épületvillamosság 2 – Felnőtt – Jelenléti | 25. hét   •   Tanulj! Alkalmazz! Alkoss!   •   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09344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Lágyindító: elektronikusan mérsékli az indítási igénybevételt.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267712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68296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Frekvenciaváltó: a frekvenciát és feszültséget is szabályozza.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026664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127248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Frekvenciaváltóval fordulatszám-szabályozás is megvalósítható.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785615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886200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A választás műszaki és gazdasági kérdés.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2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18872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FFFFFF"/>
                </a:solidFill>
              </a:defRPr>
            </a:pPr>
            <a:r>
              <a:t>IAP – Integrált Automatika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0B2D4D"/>
                </a:solidFill>
              </a:defRPr>
            </a:pPr>
            <a:r>
              <a:t>Tipikus hibák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0B2D4D"/>
                </a:solidFill>
              </a:defRPr>
            </a:pPr>
            <a:r>
              <a:t>Épületvillamosság 2 – Felnőtt – Jelenléti | 25. hét   •   Tanulj! Alkalmazz! Alkoss!   •   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09344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Nem gyorsul fel csillagban: túl nagy terhelés.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267712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68296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Nem vált deltába: időrelé vagy vezérlési hiba.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026664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127248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Delta váltáskor leold: bekötési vagy reteszelési hiba.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785615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886200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Motorvédelem leold: túlterhelés, fázishiba vagy rossz beállítás.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2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18872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FFFFFF"/>
                </a:solidFill>
              </a:defRPr>
            </a:pPr>
            <a:r>
              <a:t>IAP – Integrált Automatika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0B2D4D"/>
                </a:solidFill>
              </a:defRPr>
            </a:pPr>
            <a:r>
              <a:t>Biztonság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0B2D4D"/>
                </a:solidFill>
              </a:defRPr>
            </a:pPr>
            <a:r>
              <a:t>Épületvillamosság 2 – Felnőtt – Jelenléti | 25. hét   •   Tanulj! Alkalmazz! Alkoss!   •   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09344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Feszültségmentesítés szerelés és ellenőrzés előtt.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267712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68296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A távoli vagy automatikus újraindítást meg kell akadályozni.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026664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127248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A reteszeléseket nem szabad kiiktatni.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785615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886200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Motorvédelmi leoldást nem szabad okfeltárás nélkül visszaállítani.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2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18872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FFFFFF"/>
                </a:solidFill>
              </a:defRPr>
            </a:pPr>
            <a:r>
              <a:t>IAP – Integrált Automatika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0B2D4D"/>
                </a:solidFill>
              </a:defRPr>
            </a:pPr>
            <a:r>
              <a:t>Önellenőrzés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0B2D4D"/>
                </a:solidFill>
              </a:defRPr>
            </a:pPr>
            <a:r>
              <a:t>Épületvillamosság 2 – Felnőtt – Jelenléti | 25. hét   •   Tanulj! Alkalmazz! Alkoss!   •   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09344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Mi a DOL indítás lényege?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267712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68296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Miért csökken a nyomaték csillagban?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026664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127248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Mi a három kontaktor feladata?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785615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886200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Miért kell reteszelés?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4544568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645152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Mi az időrelé feladata?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2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18872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FFFFFF"/>
                </a:solidFill>
              </a:defRPr>
            </a:pPr>
            <a:r>
              <a:t>IAP – Integrált Automatika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0B2D4D"/>
                </a:solidFill>
              </a:defRPr>
            </a:pPr>
            <a:r>
              <a:t>IAP-kihívás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0B2D4D"/>
                </a:solidFill>
              </a:defRPr>
            </a:pPr>
            <a:r>
              <a:t>Épületvillamosság 2 – Felnőtt – Jelenléti | 25. hét   •   Tanulj! Alkalmazz! Alkoss!   •   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10698480" cy="3566160"/>
          </a:xfrm>
          <a:prstGeom prst="roundRect">
            <a:avLst/>
          </a:prstGeom>
          <a:solidFill>
            <a:srgbClr val="FFF4D6"/>
          </a:solidFill>
          <a:ln>
            <a:solidFill>
              <a:srgbClr val="E1B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828800"/>
            <a:ext cx="10058400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300">
                <a:solidFill>
                  <a:srgbClr val="0B2D4D"/>
                </a:solidFill>
              </a:defRPr>
            </a:pPr>
            <a:r>
              <a:t>A motor csillagban elindul, de delta váltáskor azonnal leold a védelem.</a:t>
            </a:r>
          </a:p>
          <a:p>
            <a:pPr>
              <a:spcBef>
                <a:spcPts val="1200"/>
              </a:spcBef>
              <a:defRPr sz="2000">
                <a:solidFill>
                  <a:srgbClr val="17212B"/>
                </a:solidFill>
              </a:defRPr>
            </a:pPr>
            <a:r>
              <a:t>Adj legalább négy lehetséges hibát!</a:t>
            </a:r>
          </a:p>
          <a:p>
            <a:pPr>
              <a:spcBef>
                <a:spcPts val="1200"/>
              </a:spcBef>
              <a:defRPr sz="2000">
                <a:solidFill>
                  <a:srgbClr val="17212B"/>
                </a:solidFill>
              </a:defRPr>
            </a:pPr>
            <a:r>
              <a:t>Állíts fel biztonságos hibakeresési sorrendet!</a:t>
            </a:r>
          </a:p>
          <a:p>
            <a:pPr>
              <a:spcBef>
                <a:spcPts val="1200"/>
              </a:spcBef>
              <a:defRPr sz="2000">
                <a:solidFill>
                  <a:srgbClr val="17212B"/>
                </a:solidFill>
              </a:defRPr>
            </a:pPr>
            <a:r>
              <a:t>Melyik ellenőrzést végeznéd el elsőként feszültségmentes állapotban?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