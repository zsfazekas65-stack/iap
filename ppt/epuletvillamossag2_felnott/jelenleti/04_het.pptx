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2.png"/><Relationship Id="rId11" Type="http://schemas.openxmlformats.org/officeDocument/2006/relationships/image" Target="../media/image-7-3.svg"/><Relationship Id="rId12" Type="http://schemas.openxmlformats.org/officeDocument/2006/relationships/image" Target="../media/image-7-12.png"/><Relationship Id="rId13" Type="http://schemas.openxmlformats.org/officeDocument/2006/relationships/image" Target="../media/image-7-13.sv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2.png"/><Relationship Id="rId5" Type="http://schemas.openxmlformats.org/officeDocument/2006/relationships/image" Target="../media/image-11-3.svg"/><Relationship Id="rId6" Type="http://schemas.openxmlformats.org/officeDocument/2006/relationships/image" Target="../media/image-11-2.png"/><Relationship Id="rId7" Type="http://schemas.openxmlformats.org/officeDocument/2006/relationships/image" Target="../media/image-11-3.sv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8788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Vezetékek, kábelek gyakorlati azonosítása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52652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Szemrevételezés • jelölések • mérés • alkalmazhatóság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IAP – Integrált Automatika Program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9" y="489248"/>
            <a:ext cx="4409469" cy="58795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77056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Tanulási cél &amp; kulcsgondolat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5116385" y="1294011"/>
            <a:ext cx="3184247" cy="4986834"/>
          </a:xfrm>
          <a:prstGeom prst="roundRect">
            <a:avLst>
              <a:gd name="adj" fmla="val 367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278802" y="1433513"/>
            <a:ext cx="2859413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Tanulási cél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278802" y="1826816"/>
            <a:ext cx="2859413" cy="12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tananyag végére a tanuló képes legyen egy vezeték vagy kábel főbb jellemzőit szemrevételezéssel, a köpenyjelölések alapján és egyszerű méréssel azonosítani.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586275" y="1433513"/>
            <a:ext cx="295029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Kulcsgondolat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86275" y="1826816"/>
            <a:ext cx="355988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vezeték kiválasztása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nem találgatás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275" y="2225377"/>
            <a:ext cx="812184" cy="9746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37957" y="2387798"/>
            <a:ext cx="1998613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LÁSD</a:t>
            </a:r>
            <a:endParaRPr lang="en-US" sz="1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75" y="3200003"/>
            <a:ext cx="812184" cy="9746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537957" y="3362424"/>
            <a:ext cx="1998613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AZONOSÍTSD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75" y="4174629"/>
            <a:ext cx="812184" cy="97462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37957" y="4337050"/>
            <a:ext cx="1998613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ELLENŐRIZD</a:t>
            </a:r>
            <a:endParaRPr lang="en-US" sz="1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75" y="5149255"/>
            <a:ext cx="812184" cy="9746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537957" y="5311676"/>
            <a:ext cx="1998613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ALKALMAZD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0042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kell felismernünk a vezetéseket és kábeleket?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635250"/>
            <a:ext cx="291785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 villanyszerelő számára nem elegendő azt felismerni, hogy „ez egy kábel". Meg kell állapítania: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3712567"/>
            <a:ext cx="2917851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kialakítást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erek számát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névleges keresztmetszetet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vezető anyagát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szigetelést és az alkalmazási feltételeket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046833" y="2677815"/>
            <a:ext cx="2917851" cy="2551509"/>
          </a:xfrm>
          <a:prstGeom prst="roundRect">
            <a:avLst>
              <a:gd name="adj" fmla="val 3111"/>
            </a:avLst>
          </a:prstGeom>
          <a:solidFill>
            <a:srgbClr val="FFB3B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840" y="2964557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1081" y="2895104"/>
            <a:ext cx="2114596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helyes azonosítás biztonsági kérdés is: a hibásan kiválasztott vezeték túlmelegedhet, szigetelése károsodhat, vagy veszélyes érkiosztás alakulhat ki.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Vezeték vagy kábel?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2568377"/>
            <a:ext cx="3357082" cy="21227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782788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Vezeték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3267075"/>
            <a:ext cx="282667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Villamos energia vagy jel továbbítására szolgáló vezető, az adott kialakítástól függő szigeteléssel.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9290" y="2568377"/>
            <a:ext cx="3357181" cy="21227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95294" y="2782788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Kábel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495294" y="3267075"/>
            <a:ext cx="282677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Általában egy vagy több szigetelt eret és közös külső védőréteget vagy köpenyt tartalmazó szerkezet.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4633201" y="4903788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Tipikus felépítés: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vezető → érszigetelés → rendező/kitöltő réteg → külső köpeny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16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vezető anyaga &amp; kialakítása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30301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12566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Réz (Cu)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534345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Jó vezetőképességű és jól szerelhető. A legelterjedtebb vezető anyag.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1930301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12566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Alumínium (Al)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534345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Könnyebb, de csatlakoztatása külön figyelmet és megfelelő szerelvényt igényel.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523555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371891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Tömör ér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127599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Egyetlen vezetőszálból áll, merevebb. Rögzített szerelésekhez jellemző.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523555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371891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Sodrott ér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127599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Több elemi vezetőszálból épül fel, hajlékonyabb. Mozgó alkalmazásokhoz előnyös.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5140424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FCF2B5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408116"/>
            <a:ext cx="236234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5723" y="537666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Réz és alumínium összekötését csak erre alkalmas kötőelemmel és technológiával szabad kialakítani.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620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keresztmetszet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9496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Névleges keresztmetszet (mm²)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189831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Gyakori értékek: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61475" y="1356320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6716" y="1450777"/>
            <a:ext cx="489384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1475" y="1970584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6716" y="2065040"/>
            <a:ext cx="489384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1475" y="2584847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716" y="2679303"/>
            <a:ext cx="489384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1475" y="3199110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6716" y="3293566"/>
            <a:ext cx="489384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1475" y="3813373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6716" y="3907830"/>
            <a:ext cx="489384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1475" y="4427637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6716" y="4522093"/>
            <a:ext cx="489384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1475" y="5041900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6716" y="5136356"/>
            <a:ext cx="489384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1475" y="5656163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6716" y="5750620"/>
            <a:ext cx="489384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487" y="99496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ellenállás összefüggése</a:t>
            </a:r>
            <a:endParaRPr lang="en-US" sz="9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1202333"/>
            <a:ext cx="5319083" cy="26461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217487" y="1526679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Azonos anyag és hossz mellett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nagyobb keresztmetszet kisebb ellenállást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eredményez. A terhelhetőséget azonban a fektetés, környezeti hőmérséklet, szigetelés, terhelt vezetők száma, vezetőanyag és feszültségesés is befolyásolja.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5433" y="495201"/>
            <a:ext cx="4400539" cy="5867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78656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Érszínek felismerése</a:t>
            </a:r>
            <a:endParaRPr lang="en-US" sz="3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46709"/>
            <a:ext cx="6296860" cy="1027807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458" y="1832173"/>
            <a:ext cx="256871" cy="25687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20886" y="1637010"/>
            <a:ext cx="524715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Zöld / Sárga → PE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1520886" y="1997670"/>
            <a:ext cx="524715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Védővezető – biztonsági funkció.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Más célra nem használjuk.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2629694"/>
            <a:ext cx="6296860" cy="1027807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1458" y="3015159"/>
            <a:ext cx="256871" cy="256877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520886" y="2819995"/>
            <a:ext cx="524715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Világoskék → N</a:t>
            </a:r>
            <a:endParaRPr lang="en-US" sz="1650" dirty="0"/>
          </a:p>
        </p:txBody>
      </p:sp>
      <p:sp>
        <p:nvSpPr>
          <p:cNvPr id="12" name="Text 5"/>
          <p:cNvSpPr/>
          <p:nvPr/>
        </p:nvSpPr>
        <p:spPr>
          <a:xfrm>
            <a:off x="1520886" y="3180655"/>
            <a:ext cx="524715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Nullavezető – a vonatkozó szabályok szerinti azonosítás.</a:t>
            </a:r>
            <a:endParaRPr lang="en-US" sz="13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3812679"/>
            <a:ext cx="6296860" cy="1027807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1458" y="4198144"/>
            <a:ext cx="256871" cy="256877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520886" y="4002980"/>
            <a:ext cx="524715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Barna / Fekete / Szürke → L1 / L2 / L3</a:t>
            </a:r>
            <a:endParaRPr lang="en-US" sz="1650" dirty="0"/>
          </a:p>
        </p:txBody>
      </p:sp>
      <p:sp>
        <p:nvSpPr>
          <p:cNvPr id="16" name="Text 7"/>
          <p:cNvSpPr/>
          <p:nvPr/>
        </p:nvSpPr>
        <p:spPr>
          <a:xfrm>
            <a:off x="1520886" y="4363641"/>
            <a:ext cx="524715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Háromfázisú rendszerben tipikus fázisszínek.</a:t>
            </a:r>
            <a:endParaRPr lang="en-US" sz="1300" dirty="0"/>
          </a:p>
        </p:txBody>
      </p:sp>
      <p:sp>
        <p:nvSpPr>
          <p:cNvPr id="17" name="Shape 8"/>
          <p:cNvSpPr/>
          <p:nvPr/>
        </p:nvSpPr>
        <p:spPr>
          <a:xfrm>
            <a:off x="661475" y="5015111"/>
            <a:ext cx="6296860" cy="1164134"/>
          </a:xfrm>
          <a:prstGeom prst="roundRect">
            <a:avLst>
              <a:gd name="adj" fmla="val 6180"/>
            </a:avLst>
          </a:prstGeom>
          <a:solidFill>
            <a:srgbClr val="FCF2B5"/>
          </a:solidFill>
          <a:ln/>
        </p:spPr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722" y="5240933"/>
            <a:ext cx="214109" cy="17125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218078" y="5213052"/>
            <a:ext cx="5569009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Meglévő vagy ismeretlen berendezésben egy vezető funkcióját nem szabad kizárólag a színe alapján biztosnak tekinteni. A dokumentációt, a kapcsolást és szükség esetén a műszeres vizsgálatot is ellenőrizni kell.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99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Mit olvashatunk le a kábelről?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754088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külső köpenyen megtalálható lehet: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2226568"/>
            <a:ext cx="690326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gyártó neve vagy jele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típusjel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erek száma és a névleges keresztmetszet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feszültségadat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gyártási vagy nyomkövetési információ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916662" y="4385667"/>
            <a:ext cx="66198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Példa: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3×1,5 mm²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jelölés három darab, egyenként 1,5 mm² névleges keresztmetszetű eret jelent.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4215606"/>
            <a:ext cx="25399" cy="944959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sp>
        <p:nvSpPr>
          <p:cNvPr id="8" name="Text 5"/>
          <p:cNvSpPr/>
          <p:nvPr/>
        </p:nvSpPr>
        <p:spPr>
          <a:xfrm>
            <a:off x="4633201" y="5373191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3G1,5 vs 3×1,5: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„G" zöld/sárga védővezetőt jelöl; más jelölésekben az „X" arra utalhat, hogy nincs zöld/sárga ér.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31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Gyakorlati azonosítás menete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681857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67137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Köpenyfelirat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51853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Erek és színek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67137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Kialakítás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67137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Vezetőanyag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518534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Szemrevételezés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84239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kilenc lépéses folyamat biztosítja, hogy egyetlen fontos jellemző se maradjon ellenőrizetlenül az alkalmazás előtt.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494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Mérjük meg! &amp; Folytonosságvizsgálat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720479"/>
            <a:ext cx="693601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Keresztmetszet becslése mérésből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075781"/>
            <a:ext cx="6936011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Tömör, kör keresztmetszetű vezetéknél a csupasz vezető átmérőjéből becsülhető a geometriai keresztmetszet: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660676"/>
            <a:ext cx="6936011" cy="4463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258965"/>
            <a:ext cx="693601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Körülbelül 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1,38 mm átmérő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1,5 mm² keresztmetszethez közeli értéket ad.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Sodrott vezetéknél elsősorban a jelölést és a gyártói adatot használjuk.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333" y="1307009"/>
            <a:ext cx="3565138" cy="35652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71333" y="5007173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Folytonosságvizsgálat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971333" y="5362476"/>
            <a:ext cx="3565138" cy="86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Feszültségmentes állapotban multiméterrel azonosítható, hogy egy hosszabb többeres kábel egyik végén található ér melyik érhez tartozik a másik végén.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0" y="499170"/>
            <a:ext cx="4394586" cy="5859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52549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Gyakori tanulói hibák</a:t>
            </a:r>
            <a:endParaRPr lang="en-US" sz="3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355427"/>
            <a:ext cx="6296860" cy="10436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05808" y="1551682"/>
            <a:ext cx="582816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„A vastagabb kábel biztosan nagyobb keresztmetszetű."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5505808" y="1928217"/>
            <a:ext cx="582816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Nem feltétlenül: a szigetelés és a köpeny is növeli a külső átmérőt.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565202"/>
            <a:ext cx="6296860" cy="104368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05808" y="2761456"/>
            <a:ext cx="582816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„A kék mindig nulla."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5505808" y="3137991"/>
            <a:ext cx="582816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szín fontos, de ismeretlen hálózatban ellenőrzés szükséges.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774976"/>
            <a:ext cx="6296860" cy="104368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05808" y="3971230"/>
            <a:ext cx="582816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„A zöld/sárga másra is használható."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5505808" y="4347766"/>
            <a:ext cx="582816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Nem: különleges biztonsági funkcióhoz kötött, más célra tilos.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4984750"/>
            <a:ext cx="6296860" cy="132060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505808" y="5181005"/>
            <a:ext cx="5828162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„A 2,5 mm² mindig ugyanazzal a túláramvédelemmel használható."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5505808" y="5834459"/>
            <a:ext cx="5828162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Nem: a teljes szerelési és terhelési környezetet figyelembe kell venni.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IAP Gyakorlat – Kábelazonosító állomás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254845"/>
            <a:ext cx="690326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oktató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6–10 különböző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vezeték- és kábelmintát helyez el. Javasolt minták: egyeres tömör rézvezeték, sodrott vezeték, 3 eres kábel, 5 eres kábel, 1,5 és 2,5 mm²-es vezeték, hajlékony csatlakozóvezeték és régebbi kialakítású minta.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Minden mintánál rögzítendő: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804642"/>
            <a:ext cx="690326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Minta száma, típusjelölés, vezető anyaga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Erek száma, névleges keresztmetszet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Tömör / sodrott, merev / hajlékony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Van PE? Van N? Külső köpeny van?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Feltételezett alkalmazás, megjegyzés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377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IAP Feladat – Te vagy a villanyszerelő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95338"/>
            <a:ext cx="5207465" cy="1345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 lakás villamos szerelésén dolgozol. Több különböző vezeték és kábel közül kell kiválasztanod azt, amelyik az adott feladathoz megfelelő lehet.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döntést indokold a következők alapján: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106043"/>
            <a:ext cx="5207465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típus, keresztmetszet, erek száma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szükségessége, várható terhelés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elhelyezés, környezeti feltételek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még ellenőrizendő adatok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5163" y="1430536"/>
            <a:ext cx="5475349" cy="3112988"/>
          </a:xfrm>
          <a:prstGeom prst="roundRect">
            <a:avLst>
              <a:gd name="adj" fmla="val 430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81193" y="1613694"/>
            <a:ext cx="5103288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Hibakereső feladat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81193" y="2087563"/>
            <a:ext cx="5103288" cy="75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 kábel erei: </a:t>
            </a:r>
            <a:pPr algn="l" indent="0" marL="0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barna, fekete, szürke, világoskék, zöld/sárga</a:t>
            </a:r>
            <a:pPr algn="l" indent="0" marL="0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Azonosítsd a lehetséges L1, L2, L3, N és PE vezetőket!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4749502"/>
            <a:ext cx="2579821" cy="675481"/>
          </a:xfrm>
          <a:prstGeom prst="roundRect">
            <a:avLst>
              <a:gd name="adj" fmla="val 115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3855" y="4941888"/>
            <a:ext cx="219506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Barna → L1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24449" y="4749502"/>
            <a:ext cx="2579821" cy="675481"/>
          </a:xfrm>
          <a:prstGeom prst="roundRect">
            <a:avLst>
              <a:gd name="adj" fmla="val 115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6830" y="4941888"/>
            <a:ext cx="219506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Fekete → L2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87424" y="4749502"/>
            <a:ext cx="2579821" cy="675481"/>
          </a:xfrm>
          <a:prstGeom prst="roundRect">
            <a:avLst>
              <a:gd name="adj" fmla="val 115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9804" y="4941888"/>
            <a:ext cx="219506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Szürke → L3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50399" y="4749502"/>
            <a:ext cx="2579821" cy="675481"/>
          </a:xfrm>
          <a:prstGeom prst="roundRect">
            <a:avLst>
              <a:gd name="adj" fmla="val 115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2779" y="4941888"/>
            <a:ext cx="219506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Világoskék → 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1475" y="5608141"/>
            <a:ext cx="10868745" cy="675481"/>
          </a:xfrm>
          <a:prstGeom prst="roundRect">
            <a:avLst>
              <a:gd name="adj" fmla="val 115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3855" y="5800527"/>
            <a:ext cx="1048398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Zöld/Sárga → PE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8913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IAP Összefoglaló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2063254"/>
            <a:ext cx="6296860" cy="23628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321134" y="3852534"/>
            <a:ext cx="949741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Érszínek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9124201" y="3852534"/>
            <a:ext cx="949741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Erek száma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933773" y="3761054"/>
            <a:ext cx="949740" cy="36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Tömör/Sodrott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743345" y="3761054"/>
            <a:ext cx="949740" cy="36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Anyagösszetétel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526897" y="3761054"/>
            <a:ext cx="949740" cy="36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Szemrevételezés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516821" y="4851400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LÁSD → AZONOSÍTSD → ELLENŐRIZD → CSAK EZUTÁN ALKALMAZD!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233360" y="4638774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2026-09-18T15:18:03Z</dcterms:created>
  <dcterms:modified xsi:type="dcterms:W3CDTF">2026-09-18T15:18:03Z</dcterms:modified>
</cp:coreProperties>
</file>