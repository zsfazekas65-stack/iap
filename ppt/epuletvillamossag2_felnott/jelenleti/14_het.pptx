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9436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123444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566928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617220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26880" y="22860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0" y="228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058400" y="64008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0" y="640080"/>
            <a:ext cx="0" cy="32004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635508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4400" y="5943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594360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294876" y="196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40796" y="92811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0876" y="632307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96796" y="5911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48640"/>
            <a:ext cx="2011680" cy="6583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3800" b="1">
                <a:solidFill>
                  <a:srgbClr val="29BEDC"/>
                </a:solidFill>
                <a:latin typeface="Aptos"/>
              </a:rPr>
              <a:t>IAP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417320"/>
            <a:ext cx="804672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700" b="1">
                <a:solidFill>
                  <a:srgbClr val="F5F9FC"/>
                </a:solidFill>
                <a:latin typeface="Aptos"/>
              </a:rPr>
              <a:t>ÉPÜLETVILLAMOSSÁG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965960"/>
            <a:ext cx="182880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AAC1D2"/>
                </a:solidFill>
                <a:latin typeface="Aptos"/>
              </a:rPr>
              <a:t>13. hét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560320"/>
            <a:ext cx="7132320" cy="6583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3800" b="1">
                <a:solidFill>
                  <a:srgbClr val="F5F9FC"/>
                </a:solidFill>
                <a:latin typeface="Aptos"/>
              </a:rPr>
              <a:t>Elosztótáblák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3246120"/>
            <a:ext cx="67665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900" b="0">
                <a:solidFill>
                  <a:srgbClr val="29BEDC"/>
                </a:solidFill>
                <a:latin typeface="Aptos"/>
              </a:rPr>
              <a:t>Áramköri csoportosítás • jelölés • dokumentálás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1051560"/>
            <a:ext cx="3154680" cy="4343400"/>
          </a:xfrm>
          <a:prstGeom prst="roundRect">
            <a:avLst/>
          </a:prstGeom>
          <a:solidFill>
            <a:srgbClr val="DCE6EC"/>
          </a:solidFill>
          <a:ln>
            <a:solidFill>
              <a:srgbClr val="64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49640" y="1417320"/>
            <a:ext cx="2606040" cy="164592"/>
          </a:xfrm>
          <a:prstGeom prst="rect">
            <a:avLst/>
          </a:prstGeom>
          <a:solidFill>
            <a:srgbClr val="5A6E7D"/>
          </a:solidFill>
          <a:ln>
            <a:solidFill>
              <a:srgbClr val="5A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77072" y="1828800"/>
            <a:ext cx="713232" cy="960120"/>
          </a:xfrm>
          <a:prstGeom prst="roundRect">
            <a:avLst/>
          </a:prstGeom>
          <a:solidFill>
            <a:srgbClr val="EEF4F8"/>
          </a:solidFill>
          <a:ln>
            <a:solidFill>
              <a:srgbClr val="6E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0" y="1938528"/>
            <a:ext cx="493776" cy="164592"/>
          </a:xfrm>
          <a:prstGeom prst="roundRect">
            <a:avLst/>
          </a:prstGeom>
          <a:solidFill>
            <a:srgbClr val="E15C5C"/>
          </a:solidFill>
          <a:ln>
            <a:solidFill>
              <a:srgbClr val="E1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41664" y="2221992"/>
            <a:ext cx="384048" cy="384048"/>
          </a:xfrm>
          <a:prstGeom prst="roundRect">
            <a:avLst/>
          </a:prstGeom>
          <a:solidFill>
            <a:srgbClr val="D7E2E9"/>
          </a:solidFill>
          <a:ln>
            <a:solidFill>
              <a:srgbClr val="96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50224" y="2651760"/>
            <a:ext cx="566928" cy="2103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071628"/>
                </a:solidFill>
                <a:latin typeface="Aptos"/>
              </a:rPr>
              <a:t>FŐ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00032" y="1828800"/>
            <a:ext cx="713232" cy="960120"/>
          </a:xfrm>
          <a:prstGeom prst="roundRect">
            <a:avLst/>
          </a:prstGeom>
          <a:solidFill>
            <a:srgbClr val="EEF4F8"/>
          </a:solidFill>
          <a:ln>
            <a:solidFill>
              <a:srgbClr val="6E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09760" y="1938528"/>
            <a:ext cx="493776" cy="164592"/>
          </a:xfrm>
          <a:prstGeom prst="roundRect">
            <a:avLst/>
          </a:prstGeom>
          <a:solidFill>
            <a:srgbClr val="29BEDC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64624" y="2221992"/>
            <a:ext cx="384048" cy="384048"/>
          </a:xfrm>
          <a:prstGeom prst="roundRect">
            <a:avLst/>
          </a:prstGeom>
          <a:solidFill>
            <a:srgbClr val="D7E2E9"/>
          </a:solidFill>
          <a:ln>
            <a:solidFill>
              <a:srgbClr val="96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73184" y="2651760"/>
            <a:ext cx="566928" cy="2103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071628"/>
                </a:solidFill>
                <a:latin typeface="Aptos"/>
              </a:rPr>
              <a:t>RCD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22992" y="1828800"/>
            <a:ext cx="713232" cy="960120"/>
          </a:xfrm>
          <a:prstGeom prst="roundRect">
            <a:avLst/>
          </a:prstGeom>
          <a:solidFill>
            <a:srgbClr val="EEF4F8"/>
          </a:solidFill>
          <a:ln>
            <a:solidFill>
              <a:srgbClr val="6E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332720" y="1938528"/>
            <a:ext cx="493776" cy="164592"/>
          </a:xfrm>
          <a:prstGeom prst="roundRect">
            <a:avLst/>
          </a:prstGeom>
          <a:solidFill>
            <a:srgbClr val="1773BE"/>
          </a:solidFill>
          <a:ln>
            <a:solidFill>
              <a:srgbClr val="17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387584" y="2221992"/>
            <a:ext cx="384048" cy="384048"/>
          </a:xfrm>
          <a:prstGeom prst="roundRect">
            <a:avLst/>
          </a:prstGeom>
          <a:solidFill>
            <a:srgbClr val="D7E2E9"/>
          </a:solidFill>
          <a:ln>
            <a:solidFill>
              <a:srgbClr val="96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96144" y="2651760"/>
            <a:ext cx="566928" cy="2103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071628"/>
                </a:solidFill>
                <a:latin typeface="Aptos"/>
              </a:rPr>
              <a:t>B16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3154680"/>
            <a:ext cx="713232" cy="960120"/>
          </a:xfrm>
          <a:prstGeom prst="roundRect">
            <a:avLst/>
          </a:prstGeom>
          <a:solidFill>
            <a:srgbClr val="EEF4F8"/>
          </a:solidFill>
          <a:ln>
            <a:solidFill>
              <a:srgbClr val="6E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686800" y="3264408"/>
            <a:ext cx="493776" cy="164592"/>
          </a:xfrm>
          <a:prstGeom prst="roundRect">
            <a:avLst/>
          </a:prstGeom>
          <a:solidFill>
            <a:srgbClr val="1773BE"/>
          </a:solidFill>
          <a:ln>
            <a:solidFill>
              <a:srgbClr val="17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741664" y="3547872"/>
            <a:ext cx="384048" cy="384048"/>
          </a:xfrm>
          <a:prstGeom prst="roundRect">
            <a:avLst/>
          </a:prstGeom>
          <a:solidFill>
            <a:srgbClr val="D7E2E9"/>
          </a:solidFill>
          <a:ln>
            <a:solidFill>
              <a:srgbClr val="96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50224" y="3977640"/>
            <a:ext cx="566928" cy="2103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071628"/>
                </a:solidFill>
                <a:latin typeface="Aptos"/>
              </a:rPr>
              <a:t>B16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00032" y="3154680"/>
            <a:ext cx="713232" cy="960120"/>
          </a:xfrm>
          <a:prstGeom prst="roundRect">
            <a:avLst/>
          </a:prstGeom>
          <a:solidFill>
            <a:srgbClr val="EEF4F8"/>
          </a:solidFill>
          <a:ln>
            <a:solidFill>
              <a:srgbClr val="6E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509760" y="3264408"/>
            <a:ext cx="493776" cy="164592"/>
          </a:xfrm>
          <a:prstGeom prst="roundRect">
            <a:avLst/>
          </a:prstGeom>
          <a:solidFill>
            <a:srgbClr val="F4BE41"/>
          </a:solidFill>
          <a:ln>
            <a:solidFill>
              <a:srgbClr val="F4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564624" y="3547872"/>
            <a:ext cx="384048" cy="384048"/>
          </a:xfrm>
          <a:prstGeom prst="roundRect">
            <a:avLst/>
          </a:prstGeom>
          <a:solidFill>
            <a:srgbClr val="D7E2E9"/>
          </a:solidFill>
          <a:ln>
            <a:solidFill>
              <a:srgbClr val="96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73184" y="3977640"/>
            <a:ext cx="566928" cy="2103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071628"/>
                </a:solidFill>
                <a:latin typeface="Aptos"/>
              </a:rPr>
              <a:t>C16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22992" y="3154680"/>
            <a:ext cx="713232" cy="960120"/>
          </a:xfrm>
          <a:prstGeom prst="roundRect">
            <a:avLst/>
          </a:prstGeom>
          <a:solidFill>
            <a:srgbClr val="EEF4F8"/>
          </a:solidFill>
          <a:ln>
            <a:solidFill>
              <a:srgbClr val="6E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332720" y="3264408"/>
            <a:ext cx="493776" cy="164592"/>
          </a:xfrm>
          <a:prstGeom prst="roundRect">
            <a:avLst/>
          </a:prstGeom>
          <a:solidFill>
            <a:srgbClr val="46BE8C"/>
          </a:solidFill>
          <a:ln>
            <a:solidFill>
              <a:srgbClr val="46B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387584" y="3547872"/>
            <a:ext cx="384048" cy="384048"/>
          </a:xfrm>
          <a:prstGeom prst="roundRect">
            <a:avLst/>
          </a:prstGeom>
          <a:solidFill>
            <a:srgbClr val="D7E2E9"/>
          </a:solidFill>
          <a:ln>
            <a:solidFill>
              <a:srgbClr val="96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96144" y="3977640"/>
            <a:ext cx="566928" cy="2103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071628"/>
                </a:solidFill>
                <a:latin typeface="Aptos"/>
              </a:rPr>
              <a:t>B10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5870448"/>
            <a:ext cx="594360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5F9FC"/>
                </a:solidFill>
                <a:latin typeface="Aptos"/>
              </a:rPr>
              <a:t>TANULJ!  ALKALMAZZ!  ALKOSS!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28232"/>
            <a:ext cx="393192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AAC1D2"/>
                </a:solidFill>
                <a:latin typeface="Aptos"/>
              </a:rPr>
              <a:t>Tanulj!  Alkalmazz!  Alkoss!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6428232"/>
            <a:ext cx="384048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900" b="0">
                <a:solidFill>
                  <a:srgbClr val="AAC1D2"/>
                </a:solidFill>
                <a:latin typeface="Aptos"/>
              </a:rPr>
              <a:t>Épületvillamosság 2  •  Felnőtt  •  13.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9436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123444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566928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617220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26880" y="22860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0" y="228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058400" y="64008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0" y="640080"/>
            <a:ext cx="0" cy="32004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635508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4400" y="5943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594360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294876" y="196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40796" y="92811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0876" y="632307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96796" y="5911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2880"/>
            <a:ext cx="530352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9BEDC"/>
                </a:solidFill>
                <a:latin typeface="Aptos"/>
              </a:rPr>
              <a:t>IAP  •  INTEGRÁLT AUTOMATIKA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0789920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5F9FC"/>
                </a:solidFill>
                <a:latin typeface="Aptos"/>
              </a:rPr>
              <a:t>Történeti kitekintés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88720"/>
            <a:ext cx="1005840" cy="45720"/>
          </a:xfrm>
          <a:prstGeom prst="rect">
            <a:avLst/>
          </a:prstGeom>
          <a:solidFill>
            <a:srgbClr val="29BEDC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164592"/>
            <a:ext cx="59436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AAC1D2"/>
                </a:solidFill>
                <a:latin typeface="Aptos"/>
              </a:rPr>
              <a:t>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057400"/>
            <a:ext cx="10881360" cy="73152"/>
          </a:xfrm>
          <a:prstGeom prst="rect">
            <a:avLst/>
          </a:prstGeom>
          <a:solidFill>
            <a:srgbClr val="28526E"/>
          </a:solidFill>
          <a:ln>
            <a:solidFill>
              <a:srgbClr val="28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1883664"/>
            <a:ext cx="411480" cy="411480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1417320"/>
            <a:ext cx="77724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29BEDC"/>
                </a:solidFill>
                <a:latin typeface="Aptos"/>
              </a:rPr>
              <a:t>Régen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450592"/>
            <a:ext cx="141732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5F9FC"/>
                </a:solidFill>
                <a:latin typeface="Aptos"/>
              </a:rPr>
              <a:t>Néhány biztosító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907792"/>
            <a:ext cx="169164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AAC1D2"/>
                </a:solidFill>
                <a:latin typeface="Aptos"/>
              </a:rPr>
              <a:t>Kevés fogyasztó,
egyszerű hálózat</a:t>
            </a:r>
          </a:p>
        </p:txBody>
      </p:sp>
      <p:sp>
        <p:nvSpPr>
          <p:cNvPr id="26" name="Oval 25"/>
          <p:cNvSpPr/>
          <p:nvPr/>
        </p:nvSpPr>
        <p:spPr>
          <a:xfrm>
            <a:off x="3886200" y="1883664"/>
            <a:ext cx="411480" cy="411480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1417320"/>
            <a:ext cx="77724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29BEDC"/>
                </a:solidFill>
                <a:latin typeface="Aptos"/>
              </a:rPr>
              <a:t>Később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2450592"/>
            <a:ext cx="141732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5F9FC"/>
                </a:solidFill>
                <a:latin typeface="Aptos"/>
              </a:rPr>
              <a:t>Több végáramkör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2907792"/>
            <a:ext cx="169164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AAC1D2"/>
                </a:solidFill>
                <a:latin typeface="Aptos"/>
              </a:rPr>
              <a:t>Külön világítás,
dugaljak, nagyfogyasztók</a:t>
            </a:r>
          </a:p>
        </p:txBody>
      </p:sp>
      <p:sp>
        <p:nvSpPr>
          <p:cNvPr id="30" name="Oval 29"/>
          <p:cNvSpPr/>
          <p:nvPr/>
        </p:nvSpPr>
        <p:spPr>
          <a:xfrm>
            <a:off x="6812280" y="1883664"/>
            <a:ext cx="411480" cy="411480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1417320"/>
            <a:ext cx="77724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29BEDC"/>
                </a:solidFill>
                <a:latin typeface="Aptos"/>
              </a:rPr>
              <a:t>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450592"/>
            <a:ext cx="141732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5F9FC"/>
                </a:solidFill>
                <a:latin typeface="Aptos"/>
              </a:rPr>
              <a:t>Védelmi csoportok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2907792"/>
            <a:ext cx="169164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AAC1D2"/>
                </a:solidFill>
                <a:latin typeface="Aptos"/>
              </a:rPr>
              <a:t>RCD/RCBO,
áttekinthető elosztás</a:t>
            </a:r>
          </a:p>
        </p:txBody>
      </p:sp>
      <p:sp>
        <p:nvSpPr>
          <p:cNvPr id="34" name="Oval 33"/>
          <p:cNvSpPr/>
          <p:nvPr/>
        </p:nvSpPr>
        <p:spPr>
          <a:xfrm>
            <a:off x="9646920" y="1883664"/>
            <a:ext cx="411480" cy="411480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64040" y="1417320"/>
            <a:ext cx="77724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29BEDC"/>
                </a:solidFill>
                <a:latin typeface="Aptos"/>
              </a:rPr>
              <a:t>Cél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0592"/>
            <a:ext cx="141732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5F9FC"/>
                </a:solidFill>
                <a:latin typeface="Aptos"/>
              </a:rPr>
              <a:t>Dokumentált rendszer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2907792"/>
            <a:ext cx="169164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AAC1D2"/>
                </a:solidFill>
                <a:latin typeface="Aptos"/>
              </a:rPr>
              <a:t>Gyors azonosítás,
biztonságos hibakeresés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74519" y="4892040"/>
            <a:ext cx="8412480" cy="658368"/>
          </a:xfrm>
          <a:prstGeom prst="roundRect">
            <a:avLst/>
          </a:prstGeom>
          <a:solidFill>
            <a:srgbClr val="133756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0" y="5010912"/>
            <a:ext cx="7955279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5F9FC"/>
                </a:solidFill>
                <a:latin typeface="Aptos"/>
              </a:rPr>
              <a:t>KULCSGONDOLAT  •  Az elosztótábla a hálózat logikai központja.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28232"/>
            <a:ext cx="393192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AAC1D2"/>
                </a:solidFill>
                <a:latin typeface="Aptos"/>
              </a:rPr>
              <a:t>Tanulj!  Alkalmazz!  Alkoss!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6428232"/>
            <a:ext cx="384048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900" b="0">
                <a:solidFill>
                  <a:srgbClr val="AAC1D2"/>
                </a:solidFill>
                <a:latin typeface="Aptos"/>
              </a:rPr>
              <a:t>Épületvillamosság 2  •  Felnőtt  •  13.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9436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123444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566928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617220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26880" y="22860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0" y="228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058400" y="64008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0" y="640080"/>
            <a:ext cx="0" cy="32004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635508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4400" y="5943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594360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294876" y="196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40796" y="92811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0876" y="632307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96796" y="5911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2880"/>
            <a:ext cx="530352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9BEDC"/>
                </a:solidFill>
                <a:latin typeface="Aptos"/>
              </a:rPr>
              <a:t>IAP  •  INTEGRÁLT AUTOMATIKA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0789920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5F9FC"/>
                </a:solidFill>
                <a:latin typeface="Aptos"/>
              </a:rPr>
              <a:t>1. Az elosztótábla feladata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88720"/>
            <a:ext cx="1005840" cy="45720"/>
          </a:xfrm>
          <a:prstGeom prst="rect">
            <a:avLst/>
          </a:prstGeom>
          <a:solidFill>
            <a:srgbClr val="29BEDC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164592"/>
            <a:ext cx="59436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AAC1D2"/>
                </a:solidFill>
                <a:latin typeface="Aptos"/>
              </a:rP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1600200"/>
            <a:ext cx="5623560" cy="4251960"/>
          </a:xfrm>
          <a:prstGeom prst="roundRect">
            <a:avLst/>
          </a:prstGeom>
          <a:solidFill>
            <a:srgbClr val="0E2B46"/>
          </a:solidFill>
          <a:ln>
            <a:solidFill>
              <a:srgbClr val="1F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0392" y="1929384"/>
            <a:ext cx="100584" cy="100584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1856232"/>
            <a:ext cx="4873752" cy="9189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5F9FC"/>
                </a:solidFill>
                <a:latin typeface="Aptos"/>
              </a:rPr>
              <a:t>A betáplálás fogadása és az energia szétosztása</a:t>
            </a:r>
          </a:p>
        </p:txBody>
      </p:sp>
      <p:sp>
        <p:nvSpPr>
          <p:cNvPr id="24" name="Oval 23"/>
          <p:cNvSpPr/>
          <p:nvPr/>
        </p:nvSpPr>
        <p:spPr>
          <a:xfrm>
            <a:off x="850392" y="2866644"/>
            <a:ext cx="100584" cy="100584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2793492"/>
            <a:ext cx="4873752" cy="9189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5F9FC"/>
                </a:solidFill>
                <a:latin typeface="Aptos"/>
              </a:rPr>
              <a:t>A védelmi készülékek rendezett elhelyezése</a:t>
            </a:r>
          </a:p>
        </p:txBody>
      </p:sp>
      <p:sp>
        <p:nvSpPr>
          <p:cNvPr id="26" name="Oval 25"/>
          <p:cNvSpPr/>
          <p:nvPr/>
        </p:nvSpPr>
        <p:spPr>
          <a:xfrm>
            <a:off x="850392" y="3803904"/>
            <a:ext cx="100584" cy="100584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730752"/>
            <a:ext cx="4873752" cy="9189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5F9FC"/>
                </a:solidFill>
                <a:latin typeface="Aptos"/>
              </a:rPr>
              <a:t>Az áramkörök leválasztása és egyértelmű azonosítása</a:t>
            </a:r>
          </a:p>
        </p:txBody>
      </p:sp>
      <p:sp>
        <p:nvSpPr>
          <p:cNvPr id="28" name="Oval 27"/>
          <p:cNvSpPr/>
          <p:nvPr/>
        </p:nvSpPr>
        <p:spPr>
          <a:xfrm>
            <a:off x="850392" y="4741164"/>
            <a:ext cx="100584" cy="100584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668012"/>
            <a:ext cx="4873752" cy="9189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5F9FC"/>
                </a:solidFill>
                <a:latin typeface="Aptos"/>
              </a:rPr>
              <a:t>A PE- és N-vezetők rendezett csatlakoztatása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1600200"/>
            <a:ext cx="18288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AAC1D2"/>
                </a:solidFill>
                <a:latin typeface="Aptos"/>
              </a:rPr>
              <a:t>BETÁPLÁLÁS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03720" y="2057400"/>
            <a:ext cx="1463040" cy="594360"/>
          </a:xfrm>
          <a:prstGeom prst="roundRect">
            <a:avLst/>
          </a:prstGeom>
          <a:solidFill>
            <a:srgbClr val="1773BE"/>
          </a:solidFill>
          <a:ln>
            <a:solidFill>
              <a:srgbClr val="17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2057400"/>
            <a:ext cx="1463040" cy="5943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FŐKAPCSOLÓ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2697480"/>
            <a:ext cx="54864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500" b="1">
                <a:solidFill>
                  <a:srgbClr val="29BEDC"/>
                </a:solidFill>
                <a:latin typeface="Aptos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3090672"/>
            <a:ext cx="1463040" cy="594360"/>
          </a:xfrm>
          <a:prstGeom prst="roundRect">
            <a:avLst/>
          </a:prstGeom>
          <a:solidFill>
            <a:srgbClr val="133756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3090672"/>
            <a:ext cx="1463040" cy="5943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RCD / RCBO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3730752"/>
            <a:ext cx="54864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500" b="1">
                <a:solidFill>
                  <a:srgbClr val="29BEDC"/>
                </a:solidFill>
                <a:latin typeface="Aptos"/>
              </a:rP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29400" y="4133087"/>
            <a:ext cx="2011680" cy="594360"/>
          </a:xfrm>
          <a:prstGeom prst="roundRect">
            <a:avLst/>
          </a:prstGeom>
          <a:solidFill>
            <a:srgbClr val="133756"/>
          </a:solidFill>
          <a:ln>
            <a:solidFill>
              <a:srgbClr val="17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4133087"/>
            <a:ext cx="2011680" cy="5943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KISMEGSZAKÍTÓK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06840" y="2834640"/>
            <a:ext cx="713232" cy="1920240"/>
          </a:xfrm>
          <a:prstGeom prst="roundRect">
            <a:avLst/>
          </a:prstGeom>
          <a:solidFill>
            <a:srgbClr val="0E2B46"/>
          </a:solidFill>
          <a:ln>
            <a:solidFill>
              <a:srgbClr val="23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43415" y="3035808"/>
            <a:ext cx="64008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Világítás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16567" y="3822191"/>
            <a:ext cx="493776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29BEDC"/>
                </a:solidFill>
                <a:latin typeface="Aptos"/>
              </a:rPr>
              <a:t>↳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75519" y="2834640"/>
            <a:ext cx="713232" cy="1920240"/>
          </a:xfrm>
          <a:prstGeom prst="roundRect">
            <a:avLst/>
          </a:prstGeom>
          <a:solidFill>
            <a:srgbClr val="0E2B46"/>
          </a:solidFill>
          <a:ln>
            <a:solidFill>
              <a:srgbClr val="23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12095" y="3035808"/>
            <a:ext cx="64008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Dugalj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85247" y="3822191"/>
            <a:ext cx="493776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29BEDC"/>
                </a:solidFill>
                <a:latin typeface="Aptos"/>
              </a:rPr>
              <a:t>↳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744200" y="2834640"/>
            <a:ext cx="713232" cy="1920240"/>
          </a:xfrm>
          <a:prstGeom prst="roundRect">
            <a:avLst/>
          </a:prstGeom>
          <a:solidFill>
            <a:srgbClr val="0E2B46"/>
          </a:solidFill>
          <a:ln>
            <a:solidFill>
              <a:srgbClr val="23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80776" y="3035808"/>
            <a:ext cx="64008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Sütő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53928" y="3822191"/>
            <a:ext cx="493776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29BEDC"/>
                </a:solidFill>
                <a:latin typeface="Aptos"/>
              </a:rPr>
              <a:t>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28232"/>
            <a:ext cx="393192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AAC1D2"/>
                </a:solidFill>
                <a:latin typeface="Aptos"/>
              </a:rPr>
              <a:t>Tanulj!  Alkalmazz!  Alkoss!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6428232"/>
            <a:ext cx="384048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900" b="0">
                <a:solidFill>
                  <a:srgbClr val="AAC1D2"/>
                </a:solidFill>
                <a:latin typeface="Aptos"/>
              </a:rPr>
              <a:t>Épületvillamosság 2  •  Felnőtt  •  13.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9436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123444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566928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617220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26880" y="22860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0" y="228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058400" y="64008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0" y="640080"/>
            <a:ext cx="0" cy="32004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635508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4400" y="5943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594360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294876" y="196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40796" y="92811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0876" y="632307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96796" y="5911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2880"/>
            <a:ext cx="530352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9BEDC"/>
                </a:solidFill>
                <a:latin typeface="Aptos"/>
              </a:rPr>
              <a:t>IAP  •  INTEGRÁLT AUTOMATIKA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0789920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5F9FC"/>
                </a:solidFill>
                <a:latin typeface="Aptos"/>
              </a:rPr>
              <a:t>2. Fő elemek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88720"/>
            <a:ext cx="1005840" cy="45720"/>
          </a:xfrm>
          <a:prstGeom prst="rect">
            <a:avLst/>
          </a:prstGeom>
          <a:solidFill>
            <a:srgbClr val="29BEDC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164592"/>
            <a:ext cx="59436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AAC1D2"/>
                </a:solidFill>
                <a:latin typeface="Aptos"/>
              </a:rPr>
              <a:t>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1874519"/>
            <a:ext cx="1572768" cy="1600200"/>
          </a:xfrm>
          <a:prstGeom prst="roundRect">
            <a:avLst/>
          </a:prstGeom>
          <a:solidFill>
            <a:srgbClr val="EEF4F8"/>
          </a:solidFill>
          <a:ln>
            <a:solidFill>
              <a:srgbClr val="6E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5528" y="1984248"/>
            <a:ext cx="1353312" cy="164592"/>
          </a:xfrm>
          <a:prstGeom prst="roundRect">
            <a:avLst/>
          </a:prstGeom>
          <a:solidFill>
            <a:srgbClr val="E15C5C"/>
          </a:solidFill>
          <a:ln>
            <a:solidFill>
              <a:srgbClr val="E1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0392" y="2267712"/>
            <a:ext cx="1243584" cy="384048"/>
          </a:xfrm>
          <a:prstGeom prst="roundRect">
            <a:avLst/>
          </a:prstGeom>
          <a:solidFill>
            <a:srgbClr val="D7E2E9"/>
          </a:solidFill>
          <a:ln>
            <a:solidFill>
              <a:srgbClr val="96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2697479"/>
            <a:ext cx="1426464" cy="2103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071628"/>
                </a:solidFill>
                <a:latin typeface="Aptos"/>
              </a:rPr>
              <a:t>Főkapcsoló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2880360"/>
            <a:ext cx="1426464" cy="1463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700" b="0">
                <a:solidFill>
                  <a:srgbClr val="465A69"/>
                </a:solidFill>
                <a:latin typeface="Aptos"/>
              </a:rPr>
              <a:t>leválasztás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822191"/>
            <a:ext cx="1572768" cy="749808"/>
          </a:xfrm>
          <a:prstGeom prst="roundRect">
            <a:avLst/>
          </a:prstGeom>
          <a:solidFill>
            <a:srgbClr val="133756"/>
          </a:solidFill>
          <a:ln>
            <a:solidFill>
              <a:srgbClr val="23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913632"/>
            <a:ext cx="1389888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F5F9FC"/>
                </a:solidFill>
                <a:latin typeface="Aptos"/>
              </a:rPr>
              <a:t>leválasztás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44368" y="1874519"/>
            <a:ext cx="1572768" cy="1600200"/>
          </a:xfrm>
          <a:prstGeom prst="roundRect">
            <a:avLst/>
          </a:prstGeom>
          <a:solidFill>
            <a:srgbClr val="EEF4F8"/>
          </a:solidFill>
          <a:ln>
            <a:solidFill>
              <a:srgbClr val="6E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054096" y="1984248"/>
            <a:ext cx="1353312" cy="164592"/>
          </a:xfrm>
          <a:prstGeom prst="roundRect">
            <a:avLst/>
          </a:prstGeom>
          <a:solidFill>
            <a:srgbClr val="29BEDC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108960" y="2267712"/>
            <a:ext cx="1243584" cy="384048"/>
          </a:xfrm>
          <a:prstGeom prst="roundRect">
            <a:avLst/>
          </a:prstGeom>
          <a:solidFill>
            <a:srgbClr val="D7E2E9"/>
          </a:solidFill>
          <a:ln>
            <a:solidFill>
              <a:srgbClr val="96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2697479"/>
            <a:ext cx="1426464" cy="2103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071628"/>
                </a:solidFill>
                <a:latin typeface="Aptos"/>
              </a:rPr>
              <a:t>RCD / RCBO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2880360"/>
            <a:ext cx="1426464" cy="1463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700" b="0">
                <a:solidFill>
                  <a:srgbClr val="465A69"/>
                </a:solidFill>
                <a:latin typeface="Aptos"/>
              </a:rPr>
              <a:t>hibaáram-védelem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44368" y="3822191"/>
            <a:ext cx="1572768" cy="749808"/>
          </a:xfrm>
          <a:prstGeom prst="roundRect">
            <a:avLst/>
          </a:prstGeom>
          <a:solidFill>
            <a:srgbClr val="133756"/>
          </a:solidFill>
          <a:ln>
            <a:solidFill>
              <a:srgbClr val="23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35808" y="3913632"/>
            <a:ext cx="1389888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F5F9FC"/>
                </a:solidFill>
                <a:latin typeface="Aptos"/>
              </a:rPr>
              <a:t>hibaáram-védelem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02936" y="1874519"/>
            <a:ext cx="1572768" cy="1600200"/>
          </a:xfrm>
          <a:prstGeom prst="roundRect">
            <a:avLst/>
          </a:prstGeom>
          <a:solidFill>
            <a:srgbClr val="EEF4F8"/>
          </a:solidFill>
          <a:ln>
            <a:solidFill>
              <a:srgbClr val="6E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312664" y="1984248"/>
            <a:ext cx="1353312" cy="164592"/>
          </a:xfrm>
          <a:prstGeom prst="roundRect">
            <a:avLst/>
          </a:prstGeom>
          <a:solidFill>
            <a:srgbClr val="1773BE"/>
          </a:solidFill>
          <a:ln>
            <a:solidFill>
              <a:srgbClr val="17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367528" y="2267712"/>
            <a:ext cx="1243584" cy="384048"/>
          </a:xfrm>
          <a:prstGeom prst="roundRect">
            <a:avLst/>
          </a:prstGeom>
          <a:solidFill>
            <a:srgbClr val="D7E2E9"/>
          </a:solidFill>
          <a:ln>
            <a:solidFill>
              <a:srgbClr val="96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76088" y="2697479"/>
            <a:ext cx="1426464" cy="2103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071628"/>
                </a:solidFill>
                <a:latin typeface="Aptos"/>
              </a:rPr>
              <a:t>Kismegszakító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76088" y="2880360"/>
            <a:ext cx="1426464" cy="1463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700" b="0">
                <a:solidFill>
                  <a:srgbClr val="465A69"/>
                </a:solidFill>
                <a:latin typeface="Aptos"/>
              </a:rPr>
              <a:t>túláramvédelem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02936" y="3822191"/>
            <a:ext cx="1572768" cy="749808"/>
          </a:xfrm>
          <a:prstGeom prst="roundRect">
            <a:avLst/>
          </a:prstGeom>
          <a:solidFill>
            <a:srgbClr val="133756"/>
          </a:solidFill>
          <a:ln>
            <a:solidFill>
              <a:srgbClr val="23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94376" y="3913632"/>
            <a:ext cx="1389888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F5F9FC"/>
                </a:solidFill>
                <a:latin typeface="Aptos"/>
              </a:rPr>
              <a:t>túláramvédelem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61504" y="1874519"/>
            <a:ext cx="1572768" cy="1600200"/>
          </a:xfrm>
          <a:prstGeom prst="roundRect">
            <a:avLst/>
          </a:prstGeom>
          <a:solidFill>
            <a:srgbClr val="EEF4F8"/>
          </a:solidFill>
          <a:ln>
            <a:solidFill>
              <a:srgbClr val="6E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571231" y="1984248"/>
            <a:ext cx="1353312" cy="164592"/>
          </a:xfrm>
          <a:prstGeom prst="roundRect">
            <a:avLst/>
          </a:prstGeom>
          <a:solidFill>
            <a:srgbClr val="46BE8C"/>
          </a:solidFill>
          <a:ln>
            <a:solidFill>
              <a:srgbClr val="46B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26096" y="2267712"/>
            <a:ext cx="1243584" cy="384048"/>
          </a:xfrm>
          <a:prstGeom prst="roundRect">
            <a:avLst/>
          </a:prstGeom>
          <a:solidFill>
            <a:srgbClr val="D7E2E9"/>
          </a:solidFill>
          <a:ln>
            <a:solidFill>
              <a:srgbClr val="96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34656" y="2697479"/>
            <a:ext cx="1426464" cy="2103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071628"/>
                </a:solidFill>
                <a:latin typeface="Aptos"/>
              </a:rPr>
              <a:t>PE / N sín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34656" y="2880360"/>
            <a:ext cx="1426464" cy="1463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700" b="0">
                <a:solidFill>
                  <a:srgbClr val="465A69"/>
                </a:solidFill>
                <a:latin typeface="Aptos"/>
              </a:rPr>
              <a:t>vezetőrendezés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61504" y="3822191"/>
            <a:ext cx="1572768" cy="749808"/>
          </a:xfrm>
          <a:prstGeom prst="roundRect">
            <a:avLst/>
          </a:prstGeom>
          <a:solidFill>
            <a:srgbClr val="133756"/>
          </a:solidFill>
          <a:ln>
            <a:solidFill>
              <a:srgbClr val="23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52944" y="3913632"/>
            <a:ext cx="1389888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F5F9FC"/>
                </a:solidFill>
                <a:latin typeface="Aptos"/>
              </a:rPr>
              <a:t>vezetőrendezés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20072" y="1874519"/>
            <a:ext cx="1572768" cy="1600200"/>
          </a:xfrm>
          <a:prstGeom prst="roundRect">
            <a:avLst/>
          </a:prstGeom>
          <a:solidFill>
            <a:srgbClr val="EEF4F8"/>
          </a:solidFill>
          <a:ln>
            <a:solidFill>
              <a:srgbClr val="6E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829800" y="1984248"/>
            <a:ext cx="1353312" cy="164592"/>
          </a:xfrm>
          <a:prstGeom prst="roundRect">
            <a:avLst/>
          </a:prstGeom>
          <a:solidFill>
            <a:srgbClr val="F4BE41"/>
          </a:solidFill>
          <a:ln>
            <a:solidFill>
              <a:srgbClr val="F4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884664" y="2267712"/>
            <a:ext cx="1243584" cy="384048"/>
          </a:xfrm>
          <a:prstGeom prst="roundRect">
            <a:avLst/>
          </a:prstGeom>
          <a:solidFill>
            <a:srgbClr val="D7E2E9"/>
          </a:solidFill>
          <a:ln>
            <a:solidFill>
              <a:srgbClr val="96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93224" y="2697479"/>
            <a:ext cx="1426464" cy="2103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071628"/>
                </a:solidFill>
                <a:latin typeface="Aptos"/>
              </a:rPr>
              <a:t>DIN sín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93224" y="2880360"/>
            <a:ext cx="1426464" cy="1463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700" b="0">
                <a:solidFill>
                  <a:srgbClr val="465A69"/>
                </a:solidFill>
                <a:latin typeface="Aptos"/>
              </a:rPr>
              <a:t>készülékrögzítés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20072" y="3822191"/>
            <a:ext cx="1572768" cy="749808"/>
          </a:xfrm>
          <a:prstGeom prst="roundRect">
            <a:avLst/>
          </a:prstGeom>
          <a:solidFill>
            <a:srgbClr val="133756"/>
          </a:solidFill>
          <a:ln>
            <a:solidFill>
              <a:srgbClr val="23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11512" y="3913632"/>
            <a:ext cx="1389888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F5F9FC"/>
                </a:solidFill>
                <a:latin typeface="Aptos"/>
              </a:rPr>
              <a:t>készülékrögzítés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30368"/>
            <a:ext cx="1014984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29BEDC"/>
                </a:solidFill>
                <a:latin typeface="Aptos"/>
              </a:rPr>
              <a:t>Az elosztó nem „doboz készülékekkel”, hanem funkciók rendezett rendszere.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28232"/>
            <a:ext cx="393192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AAC1D2"/>
                </a:solidFill>
                <a:latin typeface="Aptos"/>
              </a:rPr>
              <a:t>Tanulj!  Alkalmazz!  Alkoss!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63840" y="6428232"/>
            <a:ext cx="384048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900" b="0">
                <a:solidFill>
                  <a:srgbClr val="AAC1D2"/>
                </a:solidFill>
                <a:latin typeface="Aptos"/>
              </a:rPr>
              <a:t>Épületvillamosság 2  •  Felnőtt  •  13.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9436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123444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566928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617220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26880" y="22860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0" y="228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058400" y="64008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0" y="640080"/>
            <a:ext cx="0" cy="32004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635508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4400" y="5943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594360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294876" y="196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40796" y="92811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0876" y="632307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96796" y="5911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2880"/>
            <a:ext cx="530352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9BEDC"/>
                </a:solidFill>
                <a:latin typeface="Aptos"/>
              </a:rPr>
              <a:t>IAP  •  INTEGRÁLT AUTOMATIKA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0789920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5F9FC"/>
                </a:solidFill>
                <a:latin typeface="Aptos"/>
              </a:rPr>
              <a:t>3. Áramköri csoportosítás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88720"/>
            <a:ext cx="1005840" cy="45720"/>
          </a:xfrm>
          <a:prstGeom prst="rect">
            <a:avLst/>
          </a:prstGeom>
          <a:solidFill>
            <a:srgbClr val="29BEDC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164592"/>
            <a:ext cx="59436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AAC1D2"/>
                </a:solidFill>
                <a:latin typeface="Aptos"/>
              </a:rPr>
              <a:t>05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1828800"/>
            <a:ext cx="2331720" cy="2514600"/>
          </a:xfrm>
          <a:prstGeom prst="roundRect">
            <a:avLst/>
          </a:prstGeom>
          <a:solidFill>
            <a:srgbClr val="0E2B46"/>
          </a:solidFill>
          <a:ln>
            <a:solidFill>
              <a:srgbClr val="24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057400"/>
            <a:ext cx="2057400" cy="7772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3400" b="1">
                <a:solidFill>
                  <a:srgbClr val="29BEDC"/>
                </a:solidFill>
                <a:latin typeface="Aptos"/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971800"/>
            <a:ext cx="205740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5F9FC"/>
                </a:solidFill>
                <a:latin typeface="Aptos"/>
              </a:rPr>
              <a:t>VILÁGÍTÁS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56432"/>
            <a:ext cx="205740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AAC1D2"/>
                </a:solidFill>
                <a:latin typeface="Aptos"/>
              </a:rPr>
              <a:t>helyiségek / zónák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1828800"/>
            <a:ext cx="2331720" cy="2514600"/>
          </a:xfrm>
          <a:prstGeom prst="roundRect">
            <a:avLst/>
          </a:prstGeom>
          <a:solidFill>
            <a:srgbClr val="0E2B46"/>
          </a:solidFill>
          <a:ln>
            <a:solidFill>
              <a:srgbClr val="24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79" y="2057400"/>
            <a:ext cx="2057400" cy="7772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3400" b="1">
                <a:solidFill>
                  <a:srgbClr val="1773BE"/>
                </a:solidFill>
                <a:latin typeface="Aptos"/>
              </a:rPr>
              <a:t>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79" y="2971800"/>
            <a:ext cx="205740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5F9FC"/>
                </a:solidFill>
                <a:latin typeface="Aptos"/>
              </a:rPr>
              <a:t>DUGALJAK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79" y="3456432"/>
            <a:ext cx="205740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AAC1D2"/>
                </a:solidFill>
                <a:latin typeface="Aptos"/>
              </a:rPr>
              <a:t>általános körök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1828800"/>
            <a:ext cx="2331720" cy="2514600"/>
          </a:xfrm>
          <a:prstGeom prst="roundRect">
            <a:avLst/>
          </a:prstGeom>
          <a:solidFill>
            <a:srgbClr val="0E2B46"/>
          </a:solidFill>
          <a:ln>
            <a:solidFill>
              <a:srgbClr val="24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057400"/>
            <a:ext cx="2057400" cy="7772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3400" b="1">
                <a:solidFill>
                  <a:srgbClr val="F4BE41"/>
                </a:solidFill>
                <a:latin typeface="Aptos"/>
              </a:rPr>
              <a:t>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971800"/>
            <a:ext cx="205740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5F9FC"/>
                </a:solidFill>
                <a:latin typeface="Aptos"/>
              </a:rPr>
              <a:t>KONYHA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456432"/>
            <a:ext cx="205740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AAC1D2"/>
                </a:solidFill>
                <a:latin typeface="Aptos"/>
              </a:rPr>
              <a:t>külön terhelések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59" y="1828800"/>
            <a:ext cx="2331720" cy="2514600"/>
          </a:xfrm>
          <a:prstGeom prst="roundRect">
            <a:avLst/>
          </a:prstGeom>
          <a:solidFill>
            <a:srgbClr val="0E2B46"/>
          </a:solidFill>
          <a:ln>
            <a:solidFill>
              <a:srgbClr val="24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19" y="2057400"/>
            <a:ext cx="2057400" cy="7772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3400" b="1">
                <a:solidFill>
                  <a:srgbClr val="46BE8C"/>
                </a:solidFill>
                <a:latin typeface="Aptos"/>
              </a:rPr>
              <a:t>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19" y="2971800"/>
            <a:ext cx="205740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5F9FC"/>
                </a:solidFill>
                <a:latin typeface="Aptos"/>
              </a:rPr>
              <a:t>FIX FOGYASZTÓ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19" y="3456432"/>
            <a:ext cx="205740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AAC1D2"/>
                </a:solidFill>
                <a:latin typeface="Aptos"/>
              </a:rPr>
              <a:t>sütő • bojler • klíma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65960" y="4956048"/>
            <a:ext cx="8229600" cy="658368"/>
          </a:xfrm>
          <a:prstGeom prst="roundRect">
            <a:avLst/>
          </a:prstGeom>
          <a:solidFill>
            <a:srgbClr val="133756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4560" y="5084064"/>
            <a:ext cx="777240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5F9FC"/>
                </a:solidFill>
                <a:latin typeface="Aptos"/>
              </a:rPr>
              <a:t>CÉL  •  áttekinthetőség  +  egyszerűbb hibakeresés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28232"/>
            <a:ext cx="393192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AAC1D2"/>
                </a:solidFill>
                <a:latin typeface="Aptos"/>
              </a:rPr>
              <a:t>Tanulj!  Alkalmazz!  Alkoss!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6428232"/>
            <a:ext cx="384048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900" b="0">
                <a:solidFill>
                  <a:srgbClr val="AAC1D2"/>
                </a:solidFill>
                <a:latin typeface="Aptos"/>
              </a:rPr>
              <a:t>Épületvillamosság 2  •  Felnőtt  •  13.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9436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123444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566928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617220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26880" y="22860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0" y="228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058400" y="64008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0" y="640080"/>
            <a:ext cx="0" cy="32004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635508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4400" y="5943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594360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294876" y="196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40796" y="92811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0876" y="632307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96796" y="5911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2880"/>
            <a:ext cx="530352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9BEDC"/>
                </a:solidFill>
                <a:latin typeface="Aptos"/>
              </a:rPr>
              <a:t>IAP  •  INTEGRÁLT AUTOMATIKA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0789920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5F9FC"/>
                </a:solidFill>
                <a:latin typeface="Aptos"/>
              </a:rPr>
              <a:t>4. RCD-csoportok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88720"/>
            <a:ext cx="1005840" cy="45720"/>
          </a:xfrm>
          <a:prstGeom prst="rect">
            <a:avLst/>
          </a:prstGeom>
          <a:solidFill>
            <a:srgbClr val="29BEDC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164592"/>
            <a:ext cx="59436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AAC1D2"/>
                </a:solidFill>
                <a:latin typeface="Apto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1417320"/>
            <a:ext cx="566928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F5F9FC"/>
                </a:solidFill>
                <a:latin typeface="Aptos"/>
              </a:rPr>
              <a:t>A nullavezetők hozzárendelése kritikus.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2057400"/>
            <a:ext cx="4389120" cy="2880360"/>
          </a:xfrm>
          <a:prstGeom prst="roundRect">
            <a:avLst/>
          </a:prstGeom>
          <a:solidFill>
            <a:srgbClr val="0E2B46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3000" y="2331720"/>
            <a:ext cx="1005840" cy="530352"/>
          </a:xfrm>
          <a:prstGeom prst="roundRect">
            <a:avLst/>
          </a:prstGeom>
          <a:solidFill>
            <a:srgbClr val="29BEDC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2331720"/>
            <a:ext cx="1005840" cy="5303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RCD–1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2267712"/>
            <a:ext cx="32004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AAC1D2"/>
                </a:solidFill>
                <a:latin typeface="Aptos"/>
              </a:rPr>
              <a:t>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2267712"/>
            <a:ext cx="32004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AAC1D2"/>
                </a:solidFill>
                <a:latin typeface="Aptos"/>
              </a:rPr>
              <a:t>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17320" y="2944368"/>
            <a:ext cx="960120" cy="310896"/>
          </a:xfrm>
          <a:prstGeom prst="roundRect">
            <a:avLst/>
          </a:prstGeom>
          <a:solidFill>
            <a:srgbClr val="1E4C69"/>
          </a:solidFill>
          <a:ln>
            <a:solidFill>
              <a:srgbClr val="1E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7320" y="2944368"/>
            <a:ext cx="960120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Kör 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395728" y="3099816"/>
            <a:ext cx="768096" cy="0"/>
          </a:xfrm>
          <a:prstGeom prst="line">
            <a:avLst/>
          </a:prstGeom>
          <a:ln w="25400">
            <a:solidFill>
              <a:srgbClr val="29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417320" y="3511296"/>
            <a:ext cx="960120" cy="310896"/>
          </a:xfrm>
          <a:prstGeom prst="roundRect">
            <a:avLst/>
          </a:prstGeom>
          <a:solidFill>
            <a:srgbClr val="1E4C69"/>
          </a:solidFill>
          <a:ln>
            <a:solidFill>
              <a:srgbClr val="1E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3511296"/>
            <a:ext cx="960120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Kör 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395728" y="3666744"/>
            <a:ext cx="768096" cy="0"/>
          </a:xfrm>
          <a:prstGeom prst="line">
            <a:avLst/>
          </a:prstGeom>
          <a:ln w="25400">
            <a:solidFill>
              <a:srgbClr val="29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417320" y="4078224"/>
            <a:ext cx="960120" cy="310896"/>
          </a:xfrm>
          <a:prstGeom prst="roundRect">
            <a:avLst/>
          </a:prstGeom>
          <a:solidFill>
            <a:srgbClr val="1E4C69"/>
          </a:solidFill>
          <a:ln>
            <a:solidFill>
              <a:srgbClr val="1E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17320" y="4078224"/>
            <a:ext cx="960120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Kör 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395728" y="4233672"/>
            <a:ext cx="768096" cy="0"/>
          </a:xfrm>
          <a:prstGeom prst="line">
            <a:avLst/>
          </a:prstGeom>
          <a:ln w="25400">
            <a:solidFill>
              <a:srgbClr val="29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154680" y="2788920"/>
            <a:ext cx="256032" cy="1572768"/>
          </a:xfrm>
          <a:prstGeom prst="roundRect">
            <a:avLst/>
          </a:prstGeom>
          <a:solidFill>
            <a:srgbClr val="D7E1E8"/>
          </a:solidFill>
          <a:ln>
            <a:solidFill>
              <a:srgbClr val="789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3154680"/>
            <a:ext cx="475488" cy="6583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71628"/>
                </a:solidFill>
                <a:latin typeface="Aptos"/>
              </a:rPr>
              <a:t>N
SÍN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2057400"/>
            <a:ext cx="4389120" cy="2880360"/>
          </a:xfrm>
          <a:prstGeom prst="roundRect">
            <a:avLst/>
          </a:prstGeom>
          <a:solidFill>
            <a:srgbClr val="0E2B46"/>
          </a:solidFill>
          <a:ln>
            <a:solidFill>
              <a:srgbClr val="F4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629400" y="2331720"/>
            <a:ext cx="1005840" cy="530352"/>
          </a:xfrm>
          <a:prstGeom prst="roundRect">
            <a:avLst/>
          </a:prstGeom>
          <a:solidFill>
            <a:srgbClr val="F4BE41"/>
          </a:solidFill>
          <a:ln>
            <a:solidFill>
              <a:srgbClr val="F4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2331720"/>
            <a:ext cx="1005840" cy="5303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RCD–2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3568" y="2267712"/>
            <a:ext cx="32004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AAC1D2"/>
                </a:solidFill>
                <a:latin typeface="Aptos"/>
              </a:rPr>
              <a:t>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2267712"/>
            <a:ext cx="32004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AAC1D2"/>
                </a:solidFill>
                <a:latin typeface="Aptos"/>
              </a:rPr>
              <a:t>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03720" y="2944368"/>
            <a:ext cx="960120" cy="310896"/>
          </a:xfrm>
          <a:prstGeom prst="roundRect">
            <a:avLst/>
          </a:prstGeom>
          <a:solidFill>
            <a:srgbClr val="1E4C69"/>
          </a:solidFill>
          <a:ln>
            <a:solidFill>
              <a:srgbClr val="1E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3720" y="2944368"/>
            <a:ext cx="960120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Kör 1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882128" y="3099816"/>
            <a:ext cx="768096" cy="0"/>
          </a:xfrm>
          <a:prstGeom prst="line">
            <a:avLst/>
          </a:prstGeom>
          <a:ln w="25400">
            <a:solidFill>
              <a:srgbClr val="F4BE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903720" y="3511296"/>
            <a:ext cx="960120" cy="310896"/>
          </a:xfrm>
          <a:prstGeom prst="roundRect">
            <a:avLst/>
          </a:prstGeom>
          <a:solidFill>
            <a:srgbClr val="1E4C69"/>
          </a:solidFill>
          <a:ln>
            <a:solidFill>
              <a:srgbClr val="1E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03720" y="3511296"/>
            <a:ext cx="960120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Kör 2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882128" y="3666744"/>
            <a:ext cx="768096" cy="0"/>
          </a:xfrm>
          <a:prstGeom prst="line">
            <a:avLst/>
          </a:prstGeom>
          <a:ln w="25400">
            <a:solidFill>
              <a:srgbClr val="F4BE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903720" y="4078224"/>
            <a:ext cx="960120" cy="310896"/>
          </a:xfrm>
          <a:prstGeom prst="roundRect">
            <a:avLst/>
          </a:prstGeom>
          <a:solidFill>
            <a:srgbClr val="1E4C69"/>
          </a:solidFill>
          <a:ln>
            <a:solidFill>
              <a:srgbClr val="1E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03720" y="4078224"/>
            <a:ext cx="960120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Kör 3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882128" y="4233672"/>
            <a:ext cx="768096" cy="0"/>
          </a:xfrm>
          <a:prstGeom prst="line">
            <a:avLst/>
          </a:prstGeom>
          <a:ln w="25400">
            <a:solidFill>
              <a:srgbClr val="F4BE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641080" y="2788920"/>
            <a:ext cx="256032" cy="1572768"/>
          </a:xfrm>
          <a:prstGeom prst="roundRect">
            <a:avLst/>
          </a:prstGeom>
          <a:solidFill>
            <a:srgbClr val="D7E1E8"/>
          </a:solidFill>
          <a:ln>
            <a:solidFill>
              <a:srgbClr val="789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31352" y="3154680"/>
            <a:ext cx="475488" cy="6583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71628"/>
                </a:solidFill>
                <a:latin typeface="Aptos"/>
              </a:rPr>
              <a:t>N
SÍN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257800" y="3794760"/>
            <a:ext cx="1188720" cy="0"/>
          </a:xfrm>
          <a:prstGeom prst="line">
            <a:avLst/>
          </a:prstGeom>
          <a:ln w="38100">
            <a:solidFill>
              <a:srgbClr val="E1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669280" y="3493008"/>
            <a:ext cx="3657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500" b="1">
                <a:solidFill>
                  <a:srgbClr val="E15C5C"/>
                </a:solidFill>
                <a:latin typeface="Aptos"/>
              </a:rPr>
              <a:t>✕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920240" y="5349240"/>
            <a:ext cx="8412480" cy="512064"/>
          </a:xfrm>
          <a:prstGeom prst="roundRect">
            <a:avLst/>
          </a:prstGeom>
          <a:solidFill>
            <a:srgbClr val="432830"/>
          </a:solidFill>
          <a:ln>
            <a:solidFill>
              <a:srgbClr val="E1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5431536"/>
            <a:ext cx="8138160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5F9FC"/>
                </a:solidFill>
                <a:latin typeface="Aptos"/>
              </a:rPr>
              <a:t>NE KEVERD ÖSSZE a külön RCD-csoportok N-vezetőit!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428232"/>
            <a:ext cx="393192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AAC1D2"/>
                </a:solidFill>
                <a:latin typeface="Aptos"/>
              </a:rPr>
              <a:t>Tanulj!  Alkalmazz!  Alkoss!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6428232"/>
            <a:ext cx="384048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900" b="0">
                <a:solidFill>
                  <a:srgbClr val="AAC1D2"/>
                </a:solidFill>
                <a:latin typeface="Aptos"/>
              </a:rPr>
              <a:t>Épületvillamosság 2  •  Felnőtt  •  13.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9436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123444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566928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617220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26880" y="22860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0" y="228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058400" y="64008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0" y="640080"/>
            <a:ext cx="0" cy="32004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635508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4400" y="5943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594360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294876" y="196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40796" y="92811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0876" y="632307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96796" y="5911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2880"/>
            <a:ext cx="530352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9BEDC"/>
                </a:solidFill>
                <a:latin typeface="Aptos"/>
              </a:rPr>
              <a:t>IAP  •  INTEGRÁLT AUTOMATIKA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0789920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5F9FC"/>
                </a:solidFill>
                <a:latin typeface="Aptos"/>
              </a:rPr>
              <a:t>5. Fázisterhelés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88720"/>
            <a:ext cx="1005840" cy="45720"/>
          </a:xfrm>
          <a:prstGeom prst="rect">
            <a:avLst/>
          </a:prstGeom>
          <a:solidFill>
            <a:srgbClr val="29BEDC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164592"/>
            <a:ext cx="59436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AAC1D2"/>
                </a:solidFill>
                <a:latin typeface="Aptos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1389888"/>
            <a:ext cx="7955279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F5F9FC"/>
                </a:solidFill>
                <a:latin typeface="Aptos"/>
              </a:rPr>
              <a:t>Az egyfázisú köröket L1–L2–L3 között ésszerűen osztjuk 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2148840"/>
            <a:ext cx="6949440" cy="310896"/>
          </a:xfrm>
          <a:prstGeom prst="roundRect">
            <a:avLst/>
          </a:prstGeom>
          <a:solidFill>
            <a:srgbClr val="E15C5C"/>
          </a:solidFill>
          <a:ln>
            <a:solidFill>
              <a:srgbClr val="E1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2148840"/>
            <a:ext cx="6729983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5F9FC"/>
                </a:solidFill>
                <a:latin typeface="Aptos"/>
              </a:rPr>
              <a:t>L1   •   világítás 1   •   dugalj 1   •   klíma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2834640"/>
            <a:ext cx="5577840" cy="310896"/>
          </a:xfrm>
          <a:prstGeom prst="roundRect">
            <a:avLst/>
          </a:prstGeom>
          <a:solidFill>
            <a:srgbClr val="F4BE41"/>
          </a:solidFill>
          <a:ln>
            <a:solidFill>
              <a:srgbClr val="F4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2834640"/>
            <a:ext cx="5358383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5F9FC"/>
                </a:solidFill>
                <a:latin typeface="Aptos"/>
              </a:rPr>
              <a:t>L2   •   világítás 2   •   dugalj 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520440"/>
            <a:ext cx="6400800" cy="310896"/>
          </a:xfrm>
          <a:prstGeom prst="roundRect">
            <a:avLst/>
          </a:prstGeom>
          <a:solidFill>
            <a:srgbClr val="1773BE"/>
          </a:solidFill>
          <a:ln>
            <a:solidFill>
              <a:srgbClr val="17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3520440"/>
            <a:ext cx="6181344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5F9FC"/>
                </a:solidFill>
                <a:latin typeface="Aptos"/>
              </a:rPr>
              <a:t>L3   •   dugalj 3   •   bojler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49640" y="2011680"/>
            <a:ext cx="2514600" cy="2331720"/>
          </a:xfrm>
          <a:prstGeom prst="roundRect">
            <a:avLst/>
          </a:prstGeom>
          <a:solidFill>
            <a:srgbClr val="0E2B46"/>
          </a:solidFill>
          <a:ln>
            <a:solidFill>
              <a:srgbClr val="23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32520" y="2267712"/>
            <a:ext cx="214884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29BEDC"/>
                </a:solidFill>
                <a:latin typeface="Aptos"/>
              </a:rPr>
              <a:t>NEM CSAK DARABSZÁM!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2788920"/>
            <a:ext cx="2011680" cy="10515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5F9FC"/>
                </a:solidFill>
                <a:latin typeface="Aptos"/>
              </a:rPr>
              <a:t>várható teljesítmény
+
egyidejű használat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65960" y="4800600"/>
            <a:ext cx="8229600" cy="749808"/>
          </a:xfrm>
          <a:prstGeom prst="roundRect">
            <a:avLst/>
          </a:prstGeom>
          <a:solidFill>
            <a:srgbClr val="133756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76272" y="4937760"/>
            <a:ext cx="781812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5F9FC"/>
                </a:solidFill>
                <a:latin typeface="Aptos"/>
              </a:rPr>
              <a:t>A jó fáziselosztás csökkenti az aszimmetriát és átláthatóbb rendszert ad.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28232"/>
            <a:ext cx="393192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AAC1D2"/>
                </a:solidFill>
                <a:latin typeface="Aptos"/>
              </a:rPr>
              <a:t>Tanulj!  Alkalmazz!  Alkoss!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6428232"/>
            <a:ext cx="384048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900" b="0">
                <a:solidFill>
                  <a:srgbClr val="AAC1D2"/>
                </a:solidFill>
                <a:latin typeface="Aptos"/>
              </a:rPr>
              <a:t>Épületvillamosság 2  •  Felnőtt  •  13.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9436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123444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566928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617220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26880" y="22860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0" y="228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058400" y="64008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0" y="640080"/>
            <a:ext cx="0" cy="32004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635508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4400" y="5943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594360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294876" y="196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40796" y="92811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0876" y="632307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96796" y="5911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2880"/>
            <a:ext cx="530352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9BEDC"/>
                </a:solidFill>
                <a:latin typeface="Aptos"/>
              </a:rPr>
              <a:t>IAP  •  INTEGRÁLT AUTOMATIKA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0789920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5F9FC"/>
                </a:solidFill>
                <a:latin typeface="Aptos"/>
              </a:rPr>
              <a:t>6. Jelölés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88720"/>
            <a:ext cx="1005840" cy="45720"/>
          </a:xfrm>
          <a:prstGeom prst="rect">
            <a:avLst/>
          </a:prstGeom>
          <a:solidFill>
            <a:srgbClr val="29BEDC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164592"/>
            <a:ext cx="59436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AAC1D2"/>
                </a:solidFill>
                <a:latin typeface="Aptos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1389888"/>
            <a:ext cx="658368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F5F9FC"/>
                </a:solidFill>
                <a:latin typeface="Aptos"/>
              </a:rPr>
              <a:t>A jó felirat egy pillantás alatt választ 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057400"/>
            <a:ext cx="4434840" cy="2606040"/>
          </a:xfrm>
          <a:prstGeom prst="roundRect">
            <a:avLst/>
          </a:prstGeom>
          <a:solidFill>
            <a:srgbClr val="39222B"/>
          </a:solidFill>
          <a:ln>
            <a:solidFill>
              <a:srgbClr val="E1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2304288"/>
            <a:ext cx="109728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E15C5C"/>
                </a:solidFill>
                <a:latin typeface="Aptos"/>
              </a:rPr>
              <a:t>GYENGE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880360"/>
            <a:ext cx="3611880" cy="7772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3800" b="1">
                <a:solidFill>
                  <a:srgbClr val="F5F9FC"/>
                </a:solidFill>
                <a:latin typeface="Aptos"/>
              </a:rPr>
              <a:t>K2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913632"/>
            <a:ext cx="361188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0">
                <a:solidFill>
                  <a:srgbClr val="AAC1D2"/>
                </a:solidFill>
                <a:latin typeface="Aptos"/>
              </a:rPr>
              <a:t>Mit jelent? Hol van? Mit véd?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2057400"/>
            <a:ext cx="5532120" cy="2606040"/>
          </a:xfrm>
          <a:prstGeom prst="roundRect">
            <a:avLst/>
          </a:prstGeom>
          <a:solidFill>
            <a:srgbClr val="183C41"/>
          </a:solidFill>
          <a:ln>
            <a:solidFill>
              <a:srgbClr val="46B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2304288"/>
            <a:ext cx="82296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46BE8C"/>
                </a:solidFill>
                <a:latin typeface="Aptos"/>
              </a:rPr>
              <a:t>JÓ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25312" y="2788920"/>
            <a:ext cx="489204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F5F9FC"/>
                </a:solidFill>
                <a:latin typeface="Aptos"/>
              </a:rPr>
              <a:t>Konyha munkapult dugaljak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3493008"/>
            <a:ext cx="489204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29BEDC"/>
                </a:solidFill>
                <a:latin typeface="Aptos"/>
              </a:rPr>
              <a:t>RCD–1  •  L2  •  B16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5312" y="3977639"/>
            <a:ext cx="489204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AAC1D2"/>
                </a:solidFill>
                <a:latin typeface="Aptos"/>
              </a:rPr>
              <a:t>helyiség + rendeltetés + védelmi csoport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28232"/>
            <a:ext cx="393192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AAC1D2"/>
                </a:solidFill>
                <a:latin typeface="Aptos"/>
              </a:rPr>
              <a:t>Tanulj!  Alkalmazz!  Alkoss!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6428232"/>
            <a:ext cx="384048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900" b="0">
                <a:solidFill>
                  <a:srgbClr val="AAC1D2"/>
                </a:solidFill>
                <a:latin typeface="Aptos"/>
              </a:rPr>
              <a:t>Épületvillamosság 2  •  Felnőtt  •  13.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9436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123444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566928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617220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26880" y="22860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0" y="228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058400" y="64008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0" y="640080"/>
            <a:ext cx="0" cy="32004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635508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4400" y="5943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594360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294876" y="196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40796" y="92811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0876" y="632307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96796" y="5911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2880"/>
            <a:ext cx="530352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9BEDC"/>
                </a:solidFill>
                <a:latin typeface="Aptos"/>
              </a:rPr>
              <a:t>IAP  •  INTEGRÁLT AUTOMATIKA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0789920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5F9FC"/>
                </a:solidFill>
                <a:latin typeface="Aptos"/>
              </a:rPr>
              <a:t>7. Dokumentáció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88720"/>
            <a:ext cx="1005840" cy="45720"/>
          </a:xfrm>
          <a:prstGeom prst="rect">
            <a:avLst/>
          </a:prstGeom>
          <a:solidFill>
            <a:srgbClr val="29BEDC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164592"/>
            <a:ext cx="59436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AAC1D2"/>
                </a:solidFill>
                <a:latin typeface="Aptos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1389888"/>
            <a:ext cx="777240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F5F9FC"/>
                </a:solidFill>
                <a:latin typeface="Aptos"/>
              </a:rPr>
              <a:t>Az áramköri jegyzék az elosztótábla térképe.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1965960"/>
            <a:ext cx="1143000" cy="502920"/>
          </a:xfrm>
          <a:prstGeom prst="rect">
            <a:avLst/>
          </a:prstGeom>
          <a:solidFill>
            <a:srgbClr val="1773BE"/>
          </a:solidFill>
          <a:ln>
            <a:solidFill>
              <a:srgbClr val="0A2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1965960"/>
            <a:ext cx="10515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AZON.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1965960"/>
            <a:ext cx="3154680" cy="502920"/>
          </a:xfrm>
          <a:prstGeom prst="rect">
            <a:avLst/>
          </a:prstGeom>
          <a:solidFill>
            <a:srgbClr val="1773BE"/>
          </a:solidFill>
          <a:ln>
            <a:solidFill>
              <a:srgbClr val="0A2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19" y="1965960"/>
            <a:ext cx="306324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MEGNEVEZÉS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83480" y="1965960"/>
            <a:ext cx="1920240" cy="502920"/>
          </a:xfrm>
          <a:prstGeom prst="rect">
            <a:avLst/>
          </a:prstGeom>
          <a:solidFill>
            <a:srgbClr val="1773BE"/>
          </a:solidFill>
          <a:ln>
            <a:solidFill>
              <a:srgbClr val="0A2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1965960"/>
            <a:ext cx="182880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VÉDELEM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3720" y="1965960"/>
            <a:ext cx="2057400" cy="502920"/>
          </a:xfrm>
          <a:prstGeom prst="rect">
            <a:avLst/>
          </a:prstGeom>
          <a:solidFill>
            <a:srgbClr val="1773BE"/>
          </a:solidFill>
          <a:ln>
            <a:solidFill>
              <a:srgbClr val="0A2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1965960"/>
            <a:ext cx="19659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VEZETÉKADAT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1965960"/>
            <a:ext cx="2057400" cy="502920"/>
          </a:xfrm>
          <a:prstGeom prst="rect">
            <a:avLst/>
          </a:prstGeom>
          <a:solidFill>
            <a:srgbClr val="1773BE"/>
          </a:solidFill>
          <a:ln>
            <a:solidFill>
              <a:srgbClr val="0A2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1965960"/>
            <a:ext cx="19659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MEGJEGYZÉS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2468880"/>
            <a:ext cx="1143000" cy="640080"/>
          </a:xfrm>
          <a:prstGeom prst="rect">
            <a:avLst/>
          </a:prstGeom>
          <a:solidFill>
            <a:srgbClr val="0E2B46"/>
          </a:solidFill>
          <a:ln>
            <a:solidFill>
              <a:srgbClr val="244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2514600"/>
            <a:ext cx="1014983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5F9FC"/>
                </a:solidFill>
                <a:latin typeface="Aptos"/>
              </a:rPr>
              <a:t>K1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0" y="2468880"/>
            <a:ext cx="3154680" cy="640080"/>
          </a:xfrm>
          <a:prstGeom prst="rect">
            <a:avLst/>
          </a:prstGeom>
          <a:solidFill>
            <a:srgbClr val="0E2B46"/>
          </a:solidFill>
          <a:ln>
            <a:solidFill>
              <a:srgbClr val="244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92807" y="2514600"/>
            <a:ext cx="3026664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F5F9FC"/>
                </a:solidFill>
                <a:latin typeface="Aptos"/>
              </a:rPr>
              <a:t>Nappali világítás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83480" y="2468880"/>
            <a:ext cx="1920240" cy="640080"/>
          </a:xfrm>
          <a:prstGeom prst="rect">
            <a:avLst/>
          </a:prstGeom>
          <a:solidFill>
            <a:srgbClr val="0E2B46"/>
          </a:solidFill>
          <a:ln>
            <a:solidFill>
              <a:srgbClr val="244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47488" y="2514600"/>
            <a:ext cx="1792224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F5F9FC"/>
                </a:solidFill>
                <a:latin typeface="Aptos"/>
              </a:rPr>
              <a:t>B10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03720" y="2468880"/>
            <a:ext cx="2057400" cy="640080"/>
          </a:xfrm>
          <a:prstGeom prst="rect">
            <a:avLst/>
          </a:prstGeom>
          <a:solidFill>
            <a:srgbClr val="0E2B46"/>
          </a:solidFill>
          <a:ln>
            <a:solidFill>
              <a:srgbClr val="244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67728" y="2514600"/>
            <a:ext cx="1929384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F5F9FC"/>
                </a:solidFill>
                <a:latin typeface="Aptos"/>
              </a:rPr>
              <a:t>terv szerint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2468880"/>
            <a:ext cx="2057400" cy="640080"/>
          </a:xfrm>
          <a:prstGeom prst="rect">
            <a:avLst/>
          </a:prstGeom>
          <a:solidFill>
            <a:srgbClr val="0E2B46"/>
          </a:solidFill>
          <a:ln>
            <a:solidFill>
              <a:srgbClr val="244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25128" y="2514600"/>
            <a:ext cx="1929384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F5F9FC"/>
                </a:solidFill>
                <a:latin typeface="Aptos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3108960"/>
            <a:ext cx="1143000" cy="640080"/>
          </a:xfrm>
          <a:prstGeom prst="rect">
            <a:avLst/>
          </a:prstGeom>
          <a:solidFill>
            <a:srgbClr val="133756"/>
          </a:solidFill>
          <a:ln>
            <a:solidFill>
              <a:srgbClr val="244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3154680"/>
            <a:ext cx="1014983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5F9FC"/>
                </a:solidFill>
                <a:latin typeface="Aptos"/>
              </a:rPr>
              <a:t>K2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3108960"/>
            <a:ext cx="3154680" cy="640080"/>
          </a:xfrm>
          <a:prstGeom prst="rect">
            <a:avLst/>
          </a:prstGeom>
          <a:solidFill>
            <a:srgbClr val="133756"/>
          </a:solidFill>
          <a:ln>
            <a:solidFill>
              <a:srgbClr val="244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92807" y="3154680"/>
            <a:ext cx="3026664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F5F9FC"/>
                </a:solidFill>
                <a:latin typeface="Aptos"/>
              </a:rPr>
              <a:t>Konyha munkapult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3108960"/>
            <a:ext cx="1920240" cy="640080"/>
          </a:xfrm>
          <a:prstGeom prst="rect">
            <a:avLst/>
          </a:prstGeom>
          <a:solidFill>
            <a:srgbClr val="133756"/>
          </a:solidFill>
          <a:ln>
            <a:solidFill>
              <a:srgbClr val="244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47488" y="3154680"/>
            <a:ext cx="1792224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F5F9FC"/>
                </a:solidFill>
                <a:latin typeface="Aptos"/>
              </a:rPr>
              <a:t>B16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03720" y="3108960"/>
            <a:ext cx="2057400" cy="640080"/>
          </a:xfrm>
          <a:prstGeom prst="rect">
            <a:avLst/>
          </a:prstGeom>
          <a:solidFill>
            <a:srgbClr val="133756"/>
          </a:solidFill>
          <a:ln>
            <a:solidFill>
              <a:srgbClr val="244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67728" y="3154680"/>
            <a:ext cx="1929384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F5F9FC"/>
                </a:solidFill>
                <a:latin typeface="Aptos"/>
              </a:rPr>
              <a:t>terv szerint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3108960"/>
            <a:ext cx="2057400" cy="640080"/>
          </a:xfrm>
          <a:prstGeom prst="rect">
            <a:avLst/>
          </a:prstGeom>
          <a:solidFill>
            <a:srgbClr val="133756"/>
          </a:solidFill>
          <a:ln>
            <a:solidFill>
              <a:srgbClr val="244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25128" y="3154680"/>
            <a:ext cx="1929384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F5F9FC"/>
                </a:solidFill>
                <a:latin typeface="Aptos"/>
              </a:rPr>
              <a:t>RCD–1 / L2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" y="3749039"/>
            <a:ext cx="1143000" cy="640080"/>
          </a:xfrm>
          <a:prstGeom prst="rect">
            <a:avLst/>
          </a:prstGeom>
          <a:solidFill>
            <a:srgbClr val="0E2B46"/>
          </a:solidFill>
          <a:ln>
            <a:solidFill>
              <a:srgbClr val="244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" y="3794759"/>
            <a:ext cx="1014983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5F9FC"/>
                </a:solidFill>
                <a:latin typeface="Aptos"/>
              </a:rPr>
              <a:t>K3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0" y="3749039"/>
            <a:ext cx="3154680" cy="640080"/>
          </a:xfrm>
          <a:prstGeom prst="rect">
            <a:avLst/>
          </a:prstGeom>
          <a:solidFill>
            <a:srgbClr val="0E2B46"/>
          </a:solidFill>
          <a:ln>
            <a:solidFill>
              <a:srgbClr val="244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92807" y="3794759"/>
            <a:ext cx="3026664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F5F9FC"/>
                </a:solidFill>
                <a:latin typeface="Aptos"/>
              </a:rPr>
              <a:t>Bojler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83480" y="3749039"/>
            <a:ext cx="1920240" cy="640080"/>
          </a:xfrm>
          <a:prstGeom prst="rect">
            <a:avLst/>
          </a:prstGeom>
          <a:solidFill>
            <a:srgbClr val="0E2B46"/>
          </a:solidFill>
          <a:ln>
            <a:solidFill>
              <a:srgbClr val="244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47488" y="3794759"/>
            <a:ext cx="1792224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F5F9FC"/>
                </a:solidFill>
                <a:latin typeface="Aptos"/>
              </a:rPr>
              <a:t>B16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03720" y="3749039"/>
            <a:ext cx="2057400" cy="640080"/>
          </a:xfrm>
          <a:prstGeom prst="rect">
            <a:avLst/>
          </a:prstGeom>
          <a:solidFill>
            <a:srgbClr val="0E2B46"/>
          </a:solidFill>
          <a:ln>
            <a:solidFill>
              <a:srgbClr val="244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67728" y="3794759"/>
            <a:ext cx="1929384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F5F9FC"/>
                </a:solidFill>
                <a:latin typeface="Aptos"/>
              </a:rPr>
              <a:t>terv szerint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61120" y="3749039"/>
            <a:ext cx="2057400" cy="640080"/>
          </a:xfrm>
          <a:prstGeom prst="rect">
            <a:avLst/>
          </a:prstGeom>
          <a:solidFill>
            <a:srgbClr val="0E2B46"/>
          </a:solidFill>
          <a:ln>
            <a:solidFill>
              <a:srgbClr val="244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25128" y="3794759"/>
            <a:ext cx="1929384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F5F9FC"/>
                </a:solidFill>
                <a:latin typeface="Aptos"/>
              </a:rPr>
              <a:t>külön kör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5166360"/>
            <a:ext cx="10332720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9BEDC"/>
                </a:solidFill>
                <a:latin typeface="Aptos"/>
              </a:rPr>
              <a:t>A dokumentáció legyen egyértelmű, visszakereshető és a valós kialakítást kövesse.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428232"/>
            <a:ext cx="393192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AAC1D2"/>
                </a:solidFill>
                <a:latin typeface="Aptos"/>
              </a:rPr>
              <a:t>Tanulj!  Alkalmazz!  Alkoss!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6428232"/>
            <a:ext cx="384048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900" b="0">
                <a:solidFill>
                  <a:srgbClr val="AAC1D2"/>
                </a:solidFill>
                <a:latin typeface="Aptos"/>
              </a:rPr>
              <a:t>Épületvillamosság 2  •  Felnőtt  •  13.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9436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123444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566928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617220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26880" y="22860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0" y="228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058400" y="64008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0" y="640080"/>
            <a:ext cx="0" cy="32004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635508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4400" y="5943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594360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294876" y="196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40796" y="92811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0876" y="632307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96796" y="5911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2880"/>
            <a:ext cx="530352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9BEDC"/>
                </a:solidFill>
                <a:latin typeface="Aptos"/>
              </a:rPr>
              <a:t>IAP  •  INTEGRÁLT AUTOMATIKA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0789920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5F9FC"/>
                </a:solidFill>
                <a:latin typeface="Aptos"/>
              </a:rPr>
              <a:t>8. Tervezési sorrend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88720"/>
            <a:ext cx="1005840" cy="45720"/>
          </a:xfrm>
          <a:prstGeom prst="rect">
            <a:avLst/>
          </a:prstGeom>
          <a:solidFill>
            <a:srgbClr val="29BEDC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164592"/>
            <a:ext cx="59436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AAC1D2"/>
                </a:solidFill>
                <a:latin typeface="Aptos"/>
              </a:rPr>
              <a:t>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1600200"/>
            <a:ext cx="3246120" cy="914400"/>
          </a:xfrm>
          <a:prstGeom prst="roundRect">
            <a:avLst/>
          </a:prstGeom>
          <a:solidFill>
            <a:srgbClr val="0E2B46"/>
          </a:solidFill>
          <a:ln>
            <a:solidFill>
              <a:srgbClr val="23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3544" y="1755648"/>
            <a:ext cx="603504" cy="603504"/>
          </a:xfrm>
          <a:prstGeom prst="roundRect">
            <a:avLst/>
          </a:prstGeom>
          <a:solidFill>
            <a:srgbClr val="1773BE"/>
          </a:solidFill>
          <a:ln>
            <a:solidFill>
              <a:srgbClr val="17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1755648"/>
            <a:ext cx="603504" cy="6035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9928" y="1764792"/>
            <a:ext cx="2084831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5F9FC"/>
                </a:solidFill>
                <a:latin typeface="Aptos"/>
              </a:rPr>
              <a:t>Fogyasztói lista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7368" y="1828800"/>
            <a:ext cx="384048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29BEDC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1600200"/>
            <a:ext cx="3246120" cy="914400"/>
          </a:xfrm>
          <a:prstGeom prst="roundRect">
            <a:avLst/>
          </a:prstGeom>
          <a:solidFill>
            <a:srgbClr val="0E2B46"/>
          </a:solidFill>
          <a:ln>
            <a:solidFill>
              <a:srgbClr val="23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18304" y="1755648"/>
            <a:ext cx="603504" cy="603504"/>
          </a:xfrm>
          <a:prstGeom prst="roundRect">
            <a:avLst/>
          </a:prstGeom>
          <a:solidFill>
            <a:srgbClr val="1773BE"/>
          </a:solidFill>
          <a:ln>
            <a:solidFill>
              <a:srgbClr val="17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18304" y="1755648"/>
            <a:ext cx="603504" cy="6035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04688" y="1764792"/>
            <a:ext cx="2084831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5F9FC"/>
                </a:solidFill>
                <a:latin typeface="Aptos"/>
              </a:rPr>
              <a:t>Külön körök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8" y="1828800"/>
            <a:ext cx="384048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29BEDC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1600200"/>
            <a:ext cx="3246120" cy="914400"/>
          </a:xfrm>
          <a:prstGeom prst="roundRect">
            <a:avLst/>
          </a:prstGeom>
          <a:solidFill>
            <a:srgbClr val="0E2B46"/>
          </a:solidFill>
          <a:ln>
            <a:solidFill>
              <a:srgbClr val="23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13064" y="1755648"/>
            <a:ext cx="603504" cy="603504"/>
          </a:xfrm>
          <a:prstGeom prst="roundRect">
            <a:avLst/>
          </a:prstGeom>
          <a:solidFill>
            <a:srgbClr val="1773BE"/>
          </a:solidFill>
          <a:ln>
            <a:solidFill>
              <a:srgbClr val="17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13064" y="1755648"/>
            <a:ext cx="603504" cy="6035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1764792"/>
            <a:ext cx="2084831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5F9FC"/>
                </a:solidFill>
                <a:latin typeface="Aptos"/>
              </a:rPr>
              <a:t>Csoportosítás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2926080"/>
            <a:ext cx="3246120" cy="914400"/>
          </a:xfrm>
          <a:prstGeom prst="roundRect">
            <a:avLst/>
          </a:prstGeom>
          <a:solidFill>
            <a:srgbClr val="0E2B46"/>
          </a:solidFill>
          <a:ln>
            <a:solidFill>
              <a:srgbClr val="23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3544" y="3081528"/>
            <a:ext cx="603504" cy="603504"/>
          </a:xfrm>
          <a:prstGeom prst="roundRect">
            <a:avLst/>
          </a:prstGeom>
          <a:solidFill>
            <a:srgbClr val="1773BE"/>
          </a:solidFill>
          <a:ln>
            <a:solidFill>
              <a:srgbClr val="17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" y="3081528"/>
            <a:ext cx="603504" cy="6035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09928" y="3090672"/>
            <a:ext cx="2084831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5F9FC"/>
                </a:solidFill>
                <a:latin typeface="Aptos"/>
              </a:rPr>
              <a:t>Védelmek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87368" y="3154680"/>
            <a:ext cx="384048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29BEDC"/>
                </a:solidFill>
                <a:latin typeface="Aptos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0" y="2926080"/>
            <a:ext cx="3246120" cy="914400"/>
          </a:xfrm>
          <a:prstGeom prst="roundRect">
            <a:avLst/>
          </a:prstGeom>
          <a:solidFill>
            <a:srgbClr val="0E2B46"/>
          </a:solidFill>
          <a:ln>
            <a:solidFill>
              <a:srgbClr val="23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718304" y="3081528"/>
            <a:ext cx="603504" cy="603504"/>
          </a:xfrm>
          <a:prstGeom prst="roundRect">
            <a:avLst/>
          </a:prstGeom>
          <a:solidFill>
            <a:srgbClr val="1773BE"/>
          </a:solidFill>
          <a:ln>
            <a:solidFill>
              <a:srgbClr val="17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3081528"/>
            <a:ext cx="603504" cy="6035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04688" y="3090672"/>
            <a:ext cx="2084831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5F9FC"/>
                </a:solidFill>
                <a:latin typeface="Aptos"/>
              </a:rPr>
              <a:t>RCD-csoportok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82128" y="3154680"/>
            <a:ext cx="384048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29BEDC"/>
                </a:solidFill>
                <a:latin typeface="Aptos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66760" y="2926080"/>
            <a:ext cx="3246120" cy="914400"/>
          </a:xfrm>
          <a:prstGeom prst="roundRect">
            <a:avLst/>
          </a:prstGeom>
          <a:solidFill>
            <a:srgbClr val="0E2B46"/>
          </a:solidFill>
          <a:ln>
            <a:solidFill>
              <a:srgbClr val="23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513064" y="3081528"/>
            <a:ext cx="603504" cy="603504"/>
          </a:xfrm>
          <a:prstGeom prst="roundRect">
            <a:avLst/>
          </a:prstGeom>
          <a:solidFill>
            <a:srgbClr val="1773BE"/>
          </a:solidFill>
          <a:ln>
            <a:solidFill>
              <a:srgbClr val="17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13064" y="3081528"/>
            <a:ext cx="603504" cy="6035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99448" y="3090672"/>
            <a:ext cx="2084831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5F9FC"/>
                </a:solidFill>
                <a:latin typeface="Aptos"/>
              </a:rPr>
              <a:t>Fázisterhelés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4251960"/>
            <a:ext cx="3246120" cy="914400"/>
          </a:xfrm>
          <a:prstGeom prst="roundRect">
            <a:avLst/>
          </a:prstGeom>
          <a:solidFill>
            <a:srgbClr val="0E2B46"/>
          </a:solidFill>
          <a:ln>
            <a:solidFill>
              <a:srgbClr val="23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23544" y="4407408"/>
            <a:ext cx="603504" cy="603504"/>
          </a:xfrm>
          <a:prstGeom prst="roundRect">
            <a:avLst/>
          </a:prstGeom>
          <a:solidFill>
            <a:srgbClr val="1773BE"/>
          </a:solidFill>
          <a:ln>
            <a:solidFill>
              <a:srgbClr val="17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544" y="4407408"/>
            <a:ext cx="603504" cy="6035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09928" y="4416552"/>
            <a:ext cx="2084831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5F9FC"/>
                </a:solidFill>
                <a:latin typeface="Aptos"/>
              </a:rPr>
              <a:t>PE / N rend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87368" y="4480560"/>
            <a:ext cx="384048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29BEDC"/>
                </a:solidFill>
                <a:latin typeface="Aptos"/>
              </a:rP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0" y="4251960"/>
            <a:ext cx="3246120" cy="914400"/>
          </a:xfrm>
          <a:prstGeom prst="roundRect">
            <a:avLst/>
          </a:prstGeom>
          <a:solidFill>
            <a:srgbClr val="0E2B46"/>
          </a:solidFill>
          <a:ln>
            <a:solidFill>
              <a:srgbClr val="23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718304" y="4407408"/>
            <a:ext cx="603504" cy="603504"/>
          </a:xfrm>
          <a:prstGeom prst="roundRect">
            <a:avLst/>
          </a:prstGeom>
          <a:solidFill>
            <a:srgbClr val="1773BE"/>
          </a:solidFill>
          <a:ln>
            <a:solidFill>
              <a:srgbClr val="17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18304" y="4407408"/>
            <a:ext cx="603504" cy="6035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04688" y="4416552"/>
            <a:ext cx="2084831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5F9FC"/>
                </a:solidFill>
                <a:latin typeface="Aptos"/>
              </a:rPr>
              <a:t>Feliratok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82128" y="4480560"/>
            <a:ext cx="384048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29BEDC"/>
                </a:solidFill>
                <a:latin typeface="Aptos"/>
              </a:rPr>
              <a:t>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66760" y="4251960"/>
            <a:ext cx="3246120" cy="914400"/>
          </a:xfrm>
          <a:prstGeom prst="roundRect">
            <a:avLst/>
          </a:prstGeom>
          <a:solidFill>
            <a:srgbClr val="0E2B46"/>
          </a:solidFill>
          <a:ln>
            <a:solidFill>
              <a:srgbClr val="23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513064" y="4407408"/>
            <a:ext cx="603504" cy="603504"/>
          </a:xfrm>
          <a:prstGeom prst="roundRect">
            <a:avLst/>
          </a:prstGeom>
          <a:solidFill>
            <a:srgbClr val="1773BE"/>
          </a:solidFill>
          <a:ln>
            <a:solidFill>
              <a:srgbClr val="17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13064" y="4407408"/>
            <a:ext cx="603504" cy="60350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09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99448" y="4416552"/>
            <a:ext cx="2084831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5F9FC"/>
                </a:solidFill>
                <a:latin typeface="Aptos"/>
              </a:rPr>
              <a:t>Áramköri jegyzék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428232"/>
            <a:ext cx="393192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AAC1D2"/>
                </a:solidFill>
                <a:latin typeface="Aptos"/>
              </a:rPr>
              <a:t>Tanulj!  Alkalmazz!  Alkoss!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6428232"/>
            <a:ext cx="384048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900" b="0">
                <a:solidFill>
                  <a:srgbClr val="AAC1D2"/>
                </a:solidFill>
                <a:latin typeface="Aptos"/>
              </a:rPr>
              <a:t>Épületvillamosság 2  •  Felnőtt  •  13.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9436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123444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566928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6172200"/>
            <a:ext cx="12188952" cy="0"/>
          </a:xfrm>
          <a:prstGeom prst="line">
            <a:avLst/>
          </a:prstGeom>
          <a:ln w="10160">
            <a:solidFill>
              <a:srgbClr val="12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26880" y="22860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0" y="228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058400" y="64008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0" y="640080"/>
            <a:ext cx="0" cy="32004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6355080"/>
            <a:ext cx="73152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4400" y="5943600"/>
            <a:ext cx="0" cy="41148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5943600"/>
            <a:ext cx="914400" cy="0"/>
          </a:xfrm>
          <a:prstGeom prst="line">
            <a:avLst/>
          </a:prstGeom>
          <a:ln w="15240">
            <a:solidFill>
              <a:srgbClr val="124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294876" y="196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40796" y="92811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0876" y="632307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96796" y="5911596"/>
            <a:ext cx="64008" cy="64008"/>
          </a:xfrm>
          <a:prstGeom prst="ellipse">
            <a:avLst/>
          </a:prstGeom>
          <a:solidFill>
            <a:srgbClr val="29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2880"/>
            <a:ext cx="530352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9BEDC"/>
                </a:solidFill>
                <a:latin typeface="Aptos"/>
              </a:rPr>
              <a:t>IAP  •  INTEGRÁLT AUTOMATIKA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0789920" cy="5486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5F9FC"/>
                </a:solidFill>
                <a:latin typeface="Aptos"/>
              </a:rPr>
              <a:t>IAP-kihívás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88720"/>
            <a:ext cx="1005840" cy="45720"/>
          </a:xfrm>
          <a:prstGeom prst="rect">
            <a:avLst/>
          </a:prstGeom>
          <a:solidFill>
            <a:srgbClr val="29BEDC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164592"/>
            <a:ext cx="59436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AAC1D2"/>
                </a:solidFill>
                <a:latin typeface="Aptos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1325880"/>
            <a:ext cx="594360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700" b="1">
                <a:solidFill>
                  <a:srgbClr val="F5F9FC"/>
                </a:solidFill>
                <a:latin typeface="Aptos"/>
              </a:rPr>
              <a:t>Tervezz logikus elosztást!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2057400"/>
            <a:ext cx="1965960" cy="658368"/>
          </a:xfrm>
          <a:prstGeom prst="roundRect">
            <a:avLst/>
          </a:prstGeom>
          <a:solidFill>
            <a:srgbClr val="133756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2130552"/>
            <a:ext cx="1819656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2 világítási kör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53512" y="2057400"/>
            <a:ext cx="1965960" cy="658368"/>
          </a:xfrm>
          <a:prstGeom prst="roundRect">
            <a:avLst/>
          </a:prstGeom>
          <a:solidFill>
            <a:srgbClr val="133756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26664" y="2130552"/>
            <a:ext cx="1819656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3 dugaljkör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93792" y="2057400"/>
            <a:ext cx="1965960" cy="658368"/>
          </a:xfrm>
          <a:prstGeom prst="roundRect">
            <a:avLst/>
          </a:prstGeom>
          <a:solidFill>
            <a:srgbClr val="133756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66944" y="2130552"/>
            <a:ext cx="1819656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sütő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3017520"/>
            <a:ext cx="1965960" cy="658368"/>
          </a:xfrm>
          <a:prstGeom prst="roundRect">
            <a:avLst/>
          </a:prstGeom>
          <a:solidFill>
            <a:srgbClr val="133756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3090672"/>
            <a:ext cx="1819656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bojler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53512" y="3017520"/>
            <a:ext cx="1965960" cy="658368"/>
          </a:xfrm>
          <a:prstGeom prst="roundRect">
            <a:avLst/>
          </a:prstGeom>
          <a:solidFill>
            <a:srgbClr val="133756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3090672"/>
            <a:ext cx="1819656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mosógép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93792" y="3017520"/>
            <a:ext cx="1965960" cy="658368"/>
          </a:xfrm>
          <a:prstGeom prst="roundRect">
            <a:avLst/>
          </a:prstGeom>
          <a:solidFill>
            <a:srgbClr val="133756"/>
          </a:solidFill>
          <a:ln>
            <a:solidFill>
              <a:srgbClr val="29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66944" y="3090672"/>
            <a:ext cx="1819656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klíma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79" y="1901952"/>
            <a:ext cx="3474720" cy="2880360"/>
          </a:xfrm>
          <a:prstGeom prst="roundRect">
            <a:avLst/>
          </a:prstGeom>
          <a:solidFill>
            <a:srgbClr val="0E2B46"/>
          </a:solidFill>
          <a:ln>
            <a:solidFill>
              <a:srgbClr val="23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2194560"/>
            <a:ext cx="292608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29BEDC"/>
                </a:solidFill>
                <a:latin typeface="Aptos"/>
              </a:rPr>
              <a:t>FELADAT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8" y="2697480"/>
            <a:ext cx="2788920" cy="15727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F5F9FC"/>
                </a:solidFill>
                <a:latin typeface="Aptos"/>
              </a:rPr>
              <a:t>1. Csoportosítsd az áramköröket
2. Rendelj RCD-csoportokat
3. Oszd el L1–L2–L3 között
4. Készíts áramköri jegyzéket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" y="4919472"/>
            <a:ext cx="10195560" cy="713232"/>
          </a:xfrm>
          <a:prstGeom prst="roundRect">
            <a:avLst/>
          </a:prstGeom>
          <a:solidFill>
            <a:srgbClr val="1773BE"/>
          </a:solidFill>
          <a:ln>
            <a:solidFill>
              <a:srgbClr val="17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5047488"/>
            <a:ext cx="9829800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5F9FC"/>
                </a:solidFill>
                <a:latin typeface="Aptos"/>
              </a:rPr>
              <a:t>TANULJ!     ALKALMAZZ!     ALKOSS!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28232"/>
            <a:ext cx="393192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AAC1D2"/>
                </a:solidFill>
                <a:latin typeface="Aptos"/>
              </a:rPr>
              <a:t>Tanulj!  Alkalmazz!  Alkoss!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6428232"/>
            <a:ext cx="384048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900" b="0">
                <a:solidFill>
                  <a:srgbClr val="AAC1D2"/>
                </a:solidFill>
                <a:latin typeface="Aptos"/>
              </a:rPr>
              <a:t>Épületvillamosság 2  •  Felnőtt  •  13.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