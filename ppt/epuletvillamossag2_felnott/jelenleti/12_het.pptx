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image" Target="../media/image-11-2.png"/><Relationship Id="rId9" Type="http://schemas.openxmlformats.org/officeDocument/2006/relationships/image" Target="../media/image-11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7.png"/><Relationship Id="rId10" Type="http://schemas.openxmlformats.org/officeDocument/2006/relationships/image" Target="../media/image-13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5470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12. hét – Nagyobb teljesítményű és fix bekötésű fogyasztói áramkörök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60077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Villamosipari tananyag · 12.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9867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Heti cél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1727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47608" y="223768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Önálló áramkör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847608" y="264636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Mikor indokolt önálló áramkör kialakítása?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47608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Vezeték és védelem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847608" y="3800376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Hogyan választunk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vezetéket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védelmi készüléket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48081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47608" y="454570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Ellenőrzések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847608" y="495438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Milyen ellenőrzések szükségesek fix bekötésű vagy nagyobb teljesítményű fogyasztóknál?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97442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Mikor kell külön fogyasztói áramkör?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34473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Önálló végáramkör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saját túláramvédelem + dedikált nyomvonal az elosztótól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13858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Tipikus fogyasztók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622873"/>
            <a:ext cx="690326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Villanytűzhely, bojler, mosógép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Klíma, hőszivattyú, elektromos fűtés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48280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Cél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967089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Szelektív védelem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Megbízható lekapcsolhatóság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Áttekinthető hibakeresés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Teljesítményből áramfelvétel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32137"/>
            <a:ext cx="3357082" cy="3067745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546548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Egyfázisú képlet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030835"/>
            <a:ext cx="2928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 = P / U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Példa: 3,0 kW-os bojler 230 V-on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4780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 ≈ 13 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saját áramkör szükséges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07563" y="2332137"/>
            <a:ext cx="3357181" cy="3067745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1970" y="2546548"/>
            <a:ext cx="2928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Háromfázisú képlet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421970" y="3030835"/>
            <a:ext cx="2928368" cy="21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 = √3 · U · I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Motoroknál cos φ és hatásfok is belép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Példa: 6 kW / (1,732 × 400 V) ≈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4780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8,7 A/fázis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(egyfázison ez ~26 A lenne)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Vezeték keresztmetszetének kiválasztása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912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 elég csak a névleges áram – több tényező együttesen dönt.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94173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78953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Terhelőáram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198217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fogyasztó tényleges áramfelvétele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594173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78953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Szerelési mód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198217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Falban, csőben, kötegben vagy szabadon fektetve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885009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08037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Hőmérséklet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448905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Környezeti hőmérséklet és csökkentési tényezők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885009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408037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Feszültségesés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85658" y="448905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Különösen hosszabb nyomvonalon kritikus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5199459"/>
            <a:ext cx="10868745" cy="3296047"/>
          </a:xfrm>
          <a:prstGeom prst="roundRect">
            <a:avLst>
              <a:gd name="adj" fmla="val 24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1475" y="573910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6287386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475" y="6835669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73839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1475" y="793223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58022" y="532556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Fogyasztó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75943" y="532556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Teljesítmény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93865" y="532556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Megjegyzés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8022" y="587384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Villanybojler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475943" y="587384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1,8–3,0 kW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93865" y="587384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Önálló 1 fázisú áramkör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8022" y="642213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Sütő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75943" y="642213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2–3,5 kW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93865" y="642213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Önálló áramkör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58022" y="6970415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Főzőlap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475943" y="6970415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3,5–7,5 kW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093865" y="6970415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Gyakran 2 vagy 3 fázis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58022" y="751869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Klíma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475943" y="751869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0,8–3 kW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093865" y="751869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Gyártói előírás fontos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58022" y="806698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Hőszivattyú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475943" y="806698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Típustól függ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093865" y="806698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Külön védelem szükséges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41347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Kismegszakító és túláramvédelem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78378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kismegszakító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vezetékek védelmét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szolgálja – nem a fogyasztóét.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3298825"/>
            <a:ext cx="3357082" cy="2121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49205" y="3513237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Alapszabály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949205" y="3997523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Névleges árama nem lehet nagyobb, mint amit a vezetékrendszer tartósan elbír.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3298825"/>
            <a:ext cx="3357181" cy="21219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95294" y="3513237"/>
            <a:ext cx="2826771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Veszélyes szemlélet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495294" y="4299148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„Minél nagyobb, hogy ne oldjon le" – ez súlyos hiba, tűzveszélyes állapothoz vezet.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35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Áram-védőkapcsoló (RCD) szerepe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041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Személyvédelem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51284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Sok végáramkörnél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30 mA-es RCD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kötelező. Az érintési védelmet biztosítja hiba esetén.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041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RCD típusa számít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51284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Elektronikát tartalmazó fogyasztóknál az RCD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típusa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lényeges – pl. AC, A vagy B típus.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1041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Gyártói előírás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512840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Mindig figyelembe kell venni a gyártói előírást és a létesítési követelményeket.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9982498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2069207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980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Fix bekötésű fogyasztók csatlakoztatása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7522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Nincs hagyományos dugaszoló csatlakozás – kapcsolás készülékcsatlakozó dobozon vagy leválasztó kapcsolón át történik.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392686"/>
            <a:ext cx="6296860" cy="6070005"/>
          </a:xfrm>
          <a:prstGeom prst="roundRect">
            <a:avLst>
              <a:gd name="adj" fmla="val 130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399036"/>
            <a:ext cx="6284160" cy="1372592"/>
          </a:xfrm>
          <a:custGeom>
            <a:avLst/>
            <a:gdLst/>
            <a:ahLst/>
            <a:cxnLst/>
            <a:rect l="l" t="t" r="r" b="b"/>
            <a:pathLst>
              <a:path w="6284160" h="1372592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372592"/>
                </a:lnTo>
                <a:lnTo>
                  <a:pt x="0" y="137259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58804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 / N / PE bekötés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99673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Egyértelmű azonosítás és megfelelő sorrendű bekötés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7825" y="4771628"/>
            <a:ext cx="6284160" cy="16560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77162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CDBD4"/>
          </a:solidFill>
          <a:ln/>
        </p:spPr>
      </p:sp>
      <p:sp>
        <p:nvSpPr>
          <p:cNvPr id="12" name="Shape 9"/>
          <p:cNvSpPr/>
          <p:nvPr/>
        </p:nvSpPr>
        <p:spPr>
          <a:xfrm>
            <a:off x="3573572" y="4548088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639" y="4666159"/>
            <a:ext cx="236234" cy="236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6832" y="524410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Megfelelő kapocs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856832" y="565279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vezető keresztmetszetének megfelelő kapocstípus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67825" y="6427688"/>
            <a:ext cx="6284160" cy="16560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67825" y="642768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CDBD4"/>
          </a:solidFill>
          <a:ln/>
        </p:spPr>
      </p:sp>
      <p:sp>
        <p:nvSpPr>
          <p:cNvPr id="18" name="Shape 14"/>
          <p:cNvSpPr/>
          <p:nvPr/>
        </p:nvSpPr>
        <p:spPr>
          <a:xfrm>
            <a:off x="3573572" y="6204148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1639" y="6322219"/>
            <a:ext cx="236234" cy="236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6832" y="690016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Húzásmentesítés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856832" y="730885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Mechanikai igénybevétel nem terhelhet rá a kötésre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67825" y="8083748"/>
            <a:ext cx="6284160" cy="1372592"/>
          </a:xfrm>
          <a:custGeom>
            <a:avLst/>
            <a:gdLst/>
            <a:ahLst/>
            <a:cxnLst/>
            <a:rect l="l" t="t" r="r" b="b"/>
            <a:pathLst>
              <a:path w="6284160" h="1372592">
                <a:moveTo>
                  <a:pt x="0" y="0"/>
                </a:moveTo>
                <a:lnTo>
                  <a:pt x="6284160" y="0"/>
                </a:lnTo>
                <a:lnTo>
                  <a:pt x="6284160" y="1306434"/>
                </a:lnTo>
                <a:arcTo hR="66158" wR="66156" stAng="0" swAng="5400000"/>
                <a:lnTo>
                  <a:pt x="66156" y="1372592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667825" y="808374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CDBD4"/>
          </a:solidFill>
          <a:ln/>
        </p:spPr>
      </p:sp>
      <p:sp>
        <p:nvSpPr>
          <p:cNvPr id="24" name="Shape 19"/>
          <p:cNvSpPr/>
          <p:nvPr/>
        </p:nvSpPr>
        <p:spPr>
          <a:xfrm>
            <a:off x="3573572" y="7860209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1639" y="7978279"/>
            <a:ext cx="236234" cy="2362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6832" y="855622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Helyi leválaszthatóság</a:t>
            </a:r>
            <a:endParaRPr lang="en-US" sz="1850" dirty="0"/>
          </a:p>
        </p:txBody>
      </p:sp>
      <p:sp>
        <p:nvSpPr>
          <p:cNvPr id="27" name="Text 21"/>
          <p:cNvSpPr/>
          <p:nvPr/>
        </p:nvSpPr>
        <p:spPr>
          <a:xfrm>
            <a:off x="856832" y="896491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fogyasztó biztonságosan lekapcsolható legyen karbantartáshoz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81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Feszültségesés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9129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Hosszabb vezetéknél a feszültségesés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jelentőssé válhat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ezt a keresztmetszet megválasztásakor figyelembe kell venni.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7781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Következmények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962102"/>
            <a:ext cx="350421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Működési zavar, indítási problémák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Teljesítménycsökkenés a fogyasztónál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Felesleges hőveszteség a vezetékben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5818981"/>
            <a:ext cx="3504219" cy="1946672"/>
          </a:xfrm>
          <a:prstGeom prst="roundRect">
            <a:avLst>
              <a:gd name="adj" fmla="val 4078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6112073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6036270"/>
            <a:ext cx="27009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Nagy teljesítményű fogyasztóknál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vezetékhosszt is ellenőrizni kell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keresztmetszet megválasztásakor!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2953841"/>
            <a:ext cx="6903269" cy="25904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10907" y="4815112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Működési zavar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898729" y="4714825"/>
            <a:ext cx="1041185" cy="60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Teljesítményveszteség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93682" y="4714825"/>
            <a:ext cx="1041185" cy="60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Kapocsfeszültség csökken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88635" y="4815112"/>
            <a:ext cx="1041186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Feszültségesés nő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55062" y="4815112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Hosszú vezető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Szerelési és ellenőrzési sorrend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10868745" cy="5015905"/>
          </a:xfrm>
          <a:prstGeom prst="roundRect">
            <a:avLst>
              <a:gd name="adj" fmla="val 158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494830"/>
            <a:ext cx="1085495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9015" y="1494830"/>
            <a:ext cx="3617921" cy="541933"/>
          </a:xfrm>
          <a:custGeom>
            <a:avLst/>
            <a:gdLst/>
            <a:ahLst/>
            <a:cxnLst/>
            <a:rect l="l" t="t" r="r" b="b"/>
            <a:pathLst>
              <a:path w="3617921" h="541933">
                <a:moveTo>
                  <a:pt x="66156" y="0"/>
                </a:moveTo>
                <a:lnTo>
                  <a:pt x="3617921" y="0"/>
                </a:lnTo>
                <a:lnTo>
                  <a:pt x="3617921" y="541933"/>
                </a:lnTo>
                <a:lnTo>
                  <a:pt x="0" y="54193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547808"/>
          </a:solidFill>
          <a:ln/>
        </p:spPr>
      </p:sp>
      <p:sp>
        <p:nvSpPr>
          <p:cNvPr id="6" name="Text 4"/>
          <p:cNvSpPr/>
          <p:nvPr/>
        </p:nvSpPr>
        <p:spPr>
          <a:xfrm>
            <a:off x="858022" y="1614587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Lépés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937" y="1494830"/>
            <a:ext cx="3617921" cy="541933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8" name="Text 6"/>
          <p:cNvSpPr/>
          <p:nvPr/>
        </p:nvSpPr>
        <p:spPr>
          <a:xfrm>
            <a:off x="4479118" y="1614587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Feladat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904858" y="1494830"/>
            <a:ext cx="3617921" cy="541933"/>
          </a:xfrm>
          <a:custGeom>
            <a:avLst/>
            <a:gdLst/>
            <a:ahLst/>
            <a:cxnLst/>
            <a:rect l="l" t="t" r="r" b="b"/>
            <a:pathLst>
              <a:path w="3617921" h="541933">
                <a:moveTo>
                  <a:pt x="0" y="0"/>
                </a:moveTo>
                <a:lnTo>
                  <a:pt x="3551765" y="0"/>
                </a:lnTo>
                <a:arcTo hR="66158" wR="66156" stAng="16200000" swAng="5400000"/>
                <a:lnTo>
                  <a:pt x="3617921" y="541933"/>
                </a:lnTo>
                <a:lnTo>
                  <a:pt x="0" y="541933"/>
                </a:lnTo>
                <a:lnTo>
                  <a:pt x="0" y="0"/>
                </a:lnTo>
                <a:close/>
              </a:path>
            </a:pathLst>
          </a:custGeom>
          <a:solidFill>
            <a:srgbClr val="547808"/>
          </a:solidFill>
          <a:ln/>
        </p:spPr>
      </p:sp>
      <p:sp>
        <p:nvSpPr>
          <p:cNvPr id="10" name="Text 8"/>
          <p:cNvSpPr/>
          <p:nvPr/>
        </p:nvSpPr>
        <p:spPr>
          <a:xfrm>
            <a:off x="8097040" y="1614587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Tartalom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825" y="2036762"/>
            <a:ext cx="10854954" cy="8443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8022" y="2156520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79118" y="2156520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Fogyasztó adatainak ellenőrzése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7040" y="2156520"/>
            <a:ext cx="32367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Teljesítmény, feszültség, fázisszám, gyártói előírás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825" y="2881114"/>
            <a:ext cx="10854954" cy="8443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8022" y="3000871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79118" y="3000871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Áramkör megtervezése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97040" y="3000871"/>
            <a:ext cx="32367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Nyomvonal, vezeték, keresztmetszet, védelmek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825" y="3725466"/>
            <a:ext cx="10854954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8022" y="3845223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79118" y="3845223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Feszültségmentes szerelés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97040" y="3845223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Vezetékfektetés, dobozok, bekötés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7825" y="4267398"/>
            <a:ext cx="1085495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58022" y="4387155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79118" y="4387155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Szemrevételezés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97040" y="4387155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PE, kötések, jelölések, burkolatok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67825" y="4809331"/>
            <a:ext cx="10854954" cy="8443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58022" y="4929088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79118" y="4929088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Mérések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97040" y="4929088"/>
            <a:ext cx="32367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Védővezető-folytonosság, szigetelési ellenállás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67825" y="5653683"/>
            <a:ext cx="10854954" cy="8443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58022" y="5773440"/>
            <a:ext cx="38463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79118" y="5773440"/>
            <a:ext cx="3843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Próbaüzem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97040" y="5773440"/>
            <a:ext cx="32367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Működés, áramfelvétel, melegedés figyelése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32433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80181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Tipikus hibák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58147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Ezeket a hibákat a gyakorlatban a leggyakrabban találják – és mindegyik komoly kockázatot jelent.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667845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466199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Alulméretezett vezeték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275723" y="507067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Vagy indokolatlanul nagy kismegszakító – a kettő együtt különösen veszélyes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755" y="4667845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28163" y="466199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Közös áramkör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828163" y="5070673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Több nagy fogyasztó egy áramkörre kötve – túlterhelés és szelektivitáshiány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15" y="6059388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6053534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Laza kapocskötés / hibás PE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275723" y="6462216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Tűzveszélyes melegedés és érintésvédelmi hiány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4755" y="6059388"/>
            <a:ext cx="283461" cy="283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28163" y="6053534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Rossz RCD-típus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6828163" y="6462216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Gyártói előírás figyelmen kívül hagyása – a védelem nem működik megfelelően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8130778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143298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980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Műhelyszabály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1606550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„A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működik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nem azonos azzal, hogy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biztonságosan és szabályosan van kialakítva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1393924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26A688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263663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832" y="283200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Tervezés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24068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Megfelelő áramkör és keresztmetszet előre meghatározva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92747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12283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Védelem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53151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Helyes kismegszakító és RCD kiválasztva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218311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6832" y="541367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Mérés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582235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Átadás előtt szigetelési és folytonossági mérés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1475" y="6509147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6832" y="670450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Dokumentálás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56832" y="711319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 elkészült áramkör rögzítve, jelölve, átadható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50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Ellenőrző kérdések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83742"/>
            <a:ext cx="3496877" cy="22862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18255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Külön áramkör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Miért célszerű külön áramkört kialakítani nagy teljesítményű fogyasztóhoz?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683742"/>
            <a:ext cx="3496877" cy="2286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18255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43969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Áramfelvétel számítás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14364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Mekkora áramot vesz fel egy 2,3 kW-os, 230 V-os fogyasztó?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683742"/>
            <a:ext cx="3496877" cy="22862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18255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43969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Keresztmetszet tényezői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14364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Milyen tényezők befolyásolják a keresztmetszet kiválasztását?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59052"/>
            <a:ext cx="5339820" cy="19838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Kismegszakító mérete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323681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Miért nem szabad indokolatlanul nagy kismegszakítót alkalmazni?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159052"/>
            <a:ext cx="5339820" cy="198387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RCD típusa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5323681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Miért lehet fontos az RCD típusa elektronikus fogyasztóknál?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72245"/>
            <a:ext cx="1497273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828899"/>
            <a:ext cx="18800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13. HÉT ELŐZETES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13498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Következő hét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914650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Elosztótáblák, áramköri csoportosítás, jelölés és dokumentálás – hogyan lesz a sok végáramkörből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áttekinthető, biztonságosan kezelhető rendszer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70849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Témák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192786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Elosztótáblák felépítése és tervezése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Áramköri csoportosítás elvei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Helyes jelölés és dokumentálás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2026-09-13T18:30:21Z</dcterms:created>
  <dcterms:modified xsi:type="dcterms:W3CDTF">2026-09-13T18:30:21Z</dcterms:modified>
</cp:coreProperties>
</file>