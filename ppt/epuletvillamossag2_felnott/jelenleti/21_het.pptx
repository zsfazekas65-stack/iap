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85800"/>
            <a:ext cx="109728" cy="530352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5156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21. hét</a:t>
            </a:r>
          </a:p>
          <a:p>
            <a:pPr>
              <a:defRPr sz="4200" b="1">
                <a:solidFill>
                  <a:srgbClr val="FFFFFF"/>
                </a:solidFill>
              </a:defRPr>
            </a:pPr>
            <a:r>
              <a:t>Lépcsőházi automata</a:t>
            </a:r>
            <a:br/>
            <a:r>
              <a:t>és időrelék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8404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Épületvillamosság 2 – Felnőtt – Jelenléti</a:t>
            </a:r>
          </a:p>
          <a:p>
            <a:pPr>
              <a:defRPr sz="1700">
                <a:solidFill>
                  <a:srgbClr val="B4D7EE"/>
                </a:solidFill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Mit tanulunk ezen a héten?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Miért használunk időzített kapcsolásokat az épületekben?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68296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Hogyan működik a lépcsőházi automata?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36391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Mi az időrelé, és miben több egy egyszerű kapcsolónál?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04487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Hogyan választunk, állítunk be és vizsgálunk időzítő készüléket?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Történeti kitekintés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A korai időkapcsolók elektromechanikus szerkezetek voltak.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68296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Motor, fogaskerék, rugó vagy bimetálos időtag hozta létre a késleltetést.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36391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A mai készülékek jellemzően elektronikusak: kisebbek, pontosabbak és több funkciót kínálnak.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04487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A cél azonban változatlan: a fogyasztó csak addig működjön, ameddig szükséges.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A lépcsőházi automata működési lánca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1. A felhasználó megnyomja valamelyik nyomógombot.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68296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2. Az automata érzékeli a vezérlőjelet és bekapcsolja a világítást.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36391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3. Elindul a beállított idő mérése.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04487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4. Az idő letelte után az automata kikapcsolja a világítást.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72583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8231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5. Újabb gombnyomás típustól függően újraindíthatja az időzítést.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440680"/>
            <a:ext cx="10515600" cy="713232"/>
          </a:xfrm>
          <a:prstGeom prst="roundRect">
            <a:avLst/>
          </a:prstGeom>
          <a:solidFill>
            <a:srgbClr val="EAF3F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9612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B2D4D"/>
                </a:solidFill>
                <a:latin typeface="Aptos"/>
              </a:defRPr>
            </a:pPr>
            <a:r>
              <a:t>A nyomógomb csak parancsot ad – a működési időt az automata határozza meg.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Miért párhuzamosak a nyomógombok?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Minden szintről ugyanazt a vezérlési feladatot kell elindítani.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68296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Bármelyik nyomógomb zárása ugyanarra a vezérlőbemenetre ad jelet.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36391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A nyomógombok nem a teljes világítási terhelést kapcsolják.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04487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Így sok vezérlési hely alakítható ki egyszerűen.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3- és 4-vezetékes rendszerek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Régebbi és korszerűbb automaták bekötése eltérhet.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68296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A kapocsjelölések gyártónként és típusonként különbözhetnek.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36391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Csere előtt ellenőrizni kell a meglévő hálózat kialakítását.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04487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Mindig a konkrét készülék gyártói kapcsolási rajza az elsődleges.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40680"/>
            <a:ext cx="10515600" cy="713232"/>
          </a:xfrm>
          <a:prstGeom prst="roundRect">
            <a:avLst/>
          </a:prstGeom>
          <a:solidFill>
            <a:srgbClr val="EAF3F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59612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B2D4D"/>
                </a:solidFill>
                <a:latin typeface="Aptos"/>
              </a:defRPr>
            </a:pPr>
            <a:r>
              <a:t>Azonos méretű készülék nem feltétlenül azonos bekötésű.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Mi az időrelé?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Olyan vezérlőkészülék, amely időfeltétel alapján változtatja érintkezőinek állapotát.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68296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Nemcsak világításban használható.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36391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Alkalmazható szellőztetésben, motorvezérlésben, jelzésben és technológiai sorrendekben.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04487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Egy többfunkciós időrelé többféle időzítési módot is tudhat.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Gyakori időrelé-funkciók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3017520" cy="502920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00784"/>
            <a:ext cx="279806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Funkció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600200"/>
            <a:ext cx="3657600" cy="502920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4488" y="1700784"/>
            <a:ext cx="34381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Működés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600200"/>
            <a:ext cx="3977639" cy="502920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8" y="1700784"/>
            <a:ext cx="375818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Példa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76272"/>
            <a:ext cx="30175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276856"/>
            <a:ext cx="27980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7212B"/>
                </a:solidFill>
              </a:defRPr>
            </a:pPr>
            <a:r>
              <a:t>Bekapcsolási késleltetés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2176272"/>
            <a:ext cx="36576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04488" y="2276856"/>
            <a:ext cx="3438144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7212B"/>
                </a:solidFill>
              </a:defRPr>
            </a:pPr>
            <a:r>
              <a:t>A jel után t idő múlva kapcsol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176272"/>
            <a:ext cx="3977639" cy="749808"/>
          </a:xfrm>
          <a:prstGeom prst="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2276856"/>
            <a:ext cx="37581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7212B"/>
                </a:solidFill>
              </a:defRPr>
            </a:pPr>
            <a:r>
              <a:t>Ventilátor késleltetett indítása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044952"/>
            <a:ext cx="30175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145536"/>
            <a:ext cx="27980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7212B"/>
                </a:solidFill>
              </a:defRPr>
            </a:pPr>
            <a:r>
              <a:t>Kikapcsolási késleltetés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3044952"/>
            <a:ext cx="36576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4488" y="3145536"/>
            <a:ext cx="3438144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7212B"/>
                </a:solidFill>
              </a:defRPr>
            </a:pPr>
            <a:r>
              <a:t>A jel megszűnése után még t ideig működik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044952"/>
            <a:ext cx="3977639" cy="749808"/>
          </a:xfrm>
          <a:prstGeom prst="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145536"/>
            <a:ext cx="37581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7212B"/>
                </a:solidFill>
              </a:defRPr>
            </a:pPr>
            <a:r>
              <a:t>Fürdőszobai elszívó utánfutása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913631"/>
            <a:ext cx="30175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014215"/>
            <a:ext cx="27980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7212B"/>
                </a:solidFill>
              </a:defRPr>
            </a:pPr>
            <a:r>
              <a:t>Impulzus / intervallum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3913631"/>
            <a:ext cx="36576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04488" y="4014215"/>
            <a:ext cx="3438144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7212B"/>
                </a:solidFill>
              </a:defRPr>
            </a:pPr>
            <a:r>
              <a:t>Indítás után meghatározott ideig kapcsol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3913631"/>
            <a:ext cx="3977639" cy="749808"/>
          </a:xfrm>
          <a:prstGeom prst="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4014215"/>
            <a:ext cx="37581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7212B"/>
                </a:solidFill>
              </a:defRPr>
            </a:pPr>
            <a:r>
              <a:t>Rövid jelzés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782312"/>
            <a:ext cx="30175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4882896"/>
            <a:ext cx="27980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7212B"/>
                </a:solidFill>
              </a:defRPr>
            </a:pPr>
            <a:r>
              <a:t>Ciklikus működés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94760" y="4782312"/>
            <a:ext cx="36576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04488" y="4882896"/>
            <a:ext cx="3438144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7212B"/>
                </a:solidFill>
              </a:defRPr>
            </a:pPr>
            <a:r>
              <a:t>Be- és kikapcsolási idők ismétlődnek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4782312"/>
            <a:ext cx="3977639" cy="749808"/>
          </a:xfrm>
          <a:prstGeom prst="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4882896"/>
            <a:ext cx="37581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7212B"/>
                </a:solidFill>
              </a:defRPr>
            </a:pPr>
            <a:r>
              <a:t>Időszakos működtetés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Kiválasztási szempontok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Névleges táp- és vezérlőfeszültség.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68296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Az érintkező terhelhetősége és a fogyasztó jellege.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36391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A szükséges időtartomány és időzítési funkció.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04487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Szerelési mód – például DIN-sínes kivitel.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72583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8231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LED-világításnál a tápegységek nagy bekapcsolási árama is fontos.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Hibakeresés – nem kapcsol fel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Van tápfeszültség az automatán?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68296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Működik a nyomógomb és eljut a vezérlőjel?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36391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Helyes a vezetékezés és a kapocsazonosítás?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04487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Kapcsol-e a kimeneti érintkező?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72583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8231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Ép-e maga a világítási kör és a fényforrás?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Hibakeresés – nem kapcsol 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Nem túl hosszúra van állítva az idő?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68296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Nem ragadt be valamelyik nyomógomb?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36391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Nincs hibás átkötés a vezérlővezetékben?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04487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Az automata valóban a kívánt funkcióban működik?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72583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8231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Nem hibásodott meg a készülék kapcsolóeleme?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Gyakorlati feladat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Azonosítsd a táp-, vezérlő- és kimeneti kapcsokat a gyártói rajz alapján.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68296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Állíts be 30 másodperces működési időt és mérd meg.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36391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Ismételd meg 60 másodperces beállítással.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04487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Vizsgáld meg, mi történik, ha időzítés közben újra megnyomod a gombot.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72583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8231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Jegyezd fel a beállított és a tényleges idő közötti eltérést.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Biztonság mindenekelőtt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Szerelés előtt alkalmazni kell a feszültségmentesítés szabályait.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68296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Feszültség alatt átkötést vagy szerelést nem végzünk.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36391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A kapocsjelölést nem találgatjuk: adatlap és kapcsolási rajz alapján dolgozunk.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04487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Az oktatási mérésnél is ugyanazt a munkafegyelmet alkalmazzuk, mint valódi berendezésen.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Ellenőrző kérdések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Mi a különbség a nyomógomb és a lépcsőházi automata feladata között?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68296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Mit jelent a bekapcsolási és a kikapcsolási késleltetés?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36391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Miért lehet probléma egy régi automata közvetlen típuscseréje?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04487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Milyen szempontok alapján választunk időrelét?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72583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8231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7212B"/>
                </a:solidFill>
                <a:latin typeface="Aptos"/>
              </a:defRPr>
            </a:pPr>
            <a:r>
              <a:t>• Miért kell LED-es terhelésnél különösen figyelni a kapcsolóképességre?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Aptos Display"/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  <a:latin typeface="Aptos"/>
              </a:defRPr>
            </a:pPr>
            <a:r>
              <a:t>Épületvillamosság 2 – Felnőtt – Jelenléti | 21. hét     •     Tanulj! Alkalmazz! Alkoss!     •   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44200" cy="3474720"/>
          </a:xfrm>
          <a:prstGeom prst="roundRect">
            <a:avLst/>
          </a:prstGeom>
          <a:solidFill>
            <a:srgbClr val="FFF4D6"/>
          </a:solidFill>
          <a:ln>
            <a:solidFill>
              <a:srgbClr val="E1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1041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2D4D"/>
                </a:solidFill>
              </a:defRPr>
            </a:pPr>
            <a:r>
              <a:t>Egy négyszintes lépcsőházban minden szinten van nyomógomb.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A világítás gombnyomás után 90 másodpercig működjön.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Mely elemek tartoznak a vezérlőkörhöz, és melyek a fogyasztói körhöz?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Sorolj fel legalább három hibát, amely miatt a világítás folyamatosan éghet!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