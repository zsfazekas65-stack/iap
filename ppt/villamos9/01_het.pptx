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17365D"/>
                </a:solidFill>
                <a:latin typeface="Aptos Display"/>
              </a:defRPr>
            </a:pPr>
            <a:r>
              <a:t>Villamos alapismeretek</a:t>
            </a:r>
          </a:p>
          <a:p>
            <a:pPr algn="ctr">
              <a:defRPr sz="2400">
                <a:solidFill>
                  <a:srgbClr val="2F75B5"/>
                </a:solidFill>
                <a:latin typeface="Aptos"/>
              </a:defRPr>
            </a:pPr>
            <a:r>
              <a:t>1. hét – A szakemberré válás első lépései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3063240"/>
            <a:ext cx="8321040" cy="1143000"/>
          </a:xfrm>
          <a:prstGeom prst="roundRect">
            <a:avLst/>
          </a:prstGeom>
          <a:solidFill>
            <a:srgbClr val="FFF4D6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IAP útravaló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„Minden szakember volt egyszer kezdő.”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754880"/>
            <a:ext cx="5852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E2E2E"/>
                </a:solidFill>
              </a:defRPr>
            </a:pPr>
            <a:r>
              <a:t>9. évfolyam • 3 × 45 perc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t>A világ nagy kérdése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600200"/>
            <a:ext cx="10241280" cy="1920240"/>
          </a:xfrm>
          <a:prstGeom prst="roundRect">
            <a:avLst/>
          </a:prstGeom>
          <a:solidFill>
            <a:srgbClr val="FFF4D6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Mitől lesz valakiből jó villamos szakember?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Elég megtanulni a kapcsolásokat és a képleteket? Vagy ugyanilyen fontos a pontosság, a felelősség, a biztonság és a dokumentálás?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4069080"/>
            <a:ext cx="8138160" cy="1051560"/>
          </a:xfrm>
          <a:prstGeom prst="roundRect">
            <a:avLst/>
          </a:prstGeom>
          <a:solidFill>
            <a:srgbClr val="EAF4E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Beszéljük meg!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Melyik tulajdonságot tartod a legfontosabbnak – és miért?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t>Hol találkozunk villamossággal?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300"/>
              </a:spcAft>
              <a:defRPr sz="2000">
                <a:solidFill>
                  <a:srgbClr val="2E2E2E"/>
                </a:solidFill>
                <a:latin typeface="Aptos"/>
              </a:defRPr>
            </a:pPr>
            <a:r>
              <a:t>Otthon – világítás, háztartási gépek, töltők</a:t>
            </a:r>
          </a:p>
          <a:p>
            <a:pPr>
              <a:buChar char="•"/>
              <a:spcAft>
                <a:spcPts val="1300"/>
              </a:spcAft>
              <a:defRPr sz="2000">
                <a:solidFill>
                  <a:srgbClr val="2E2E2E"/>
                </a:solidFill>
                <a:latin typeface="Aptos"/>
              </a:defRPr>
            </a:pPr>
            <a:r>
              <a:t>Iskolában – számítógépek, műhelyek, laborok</a:t>
            </a:r>
          </a:p>
          <a:p>
            <a:pPr>
              <a:buChar char="•"/>
              <a:spcAft>
                <a:spcPts val="1300"/>
              </a:spcAft>
              <a:defRPr sz="2000">
                <a:solidFill>
                  <a:srgbClr val="2E2E2E"/>
                </a:solidFill>
                <a:latin typeface="Aptos"/>
              </a:defRPr>
            </a:pPr>
            <a:r>
              <a:t>Közlekedésben – járművek, jelzőrendszerek</a:t>
            </a:r>
          </a:p>
          <a:p>
            <a:pPr>
              <a:buChar char="•"/>
              <a:spcAft>
                <a:spcPts val="1300"/>
              </a:spcAft>
              <a:defRPr sz="2000">
                <a:solidFill>
                  <a:srgbClr val="2E2E2E"/>
                </a:solidFill>
                <a:latin typeface="Aptos"/>
              </a:defRPr>
            </a:pPr>
            <a:r>
              <a:t>Iparban – gépek, motorok, automatizált rendszerek</a:t>
            </a:r>
          </a:p>
          <a:p>
            <a:pPr>
              <a:buChar char="•"/>
              <a:spcAft>
                <a:spcPts val="1300"/>
              </a:spcAft>
              <a:defRPr sz="2000">
                <a:solidFill>
                  <a:srgbClr val="2E2E2E"/>
                </a:solidFill>
                <a:latin typeface="Aptos"/>
              </a:defRPr>
            </a:pPr>
            <a:r>
              <a:t>Szinte minden modern eszköz mögött villamos rendszer dolgozik.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t>Mit csinál egy villamos szakember?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50876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300"/>
              </a:spcAft>
              <a:defRPr sz="2100">
                <a:solidFill>
                  <a:srgbClr val="2E2E2E"/>
                </a:solidFill>
                <a:latin typeface="Aptos"/>
              </a:defRPr>
            </a:pPr>
            <a:r>
              <a:t>Megérti a rendszer működését.</a:t>
            </a:r>
          </a:p>
          <a:p>
            <a:pPr>
              <a:buChar char="•"/>
              <a:spcAft>
                <a:spcPts val="1300"/>
              </a:spcAft>
              <a:defRPr sz="2100">
                <a:solidFill>
                  <a:srgbClr val="2E2E2E"/>
                </a:solidFill>
                <a:latin typeface="Aptos"/>
              </a:defRPr>
            </a:pPr>
            <a:r>
              <a:t>Biztonságosan dolgozik.</a:t>
            </a:r>
          </a:p>
          <a:p>
            <a:pPr>
              <a:buChar char="•"/>
              <a:spcAft>
                <a:spcPts val="1300"/>
              </a:spcAft>
              <a:defRPr sz="2100">
                <a:solidFill>
                  <a:srgbClr val="2E2E2E"/>
                </a:solidFill>
                <a:latin typeface="Aptos"/>
              </a:defRPr>
            </a:pPr>
            <a:r>
              <a:t>Kapcsol, szerel, mér és hibát keres.</a:t>
            </a:r>
          </a:p>
          <a:p>
            <a:pPr>
              <a:buChar char="•"/>
              <a:spcAft>
                <a:spcPts val="1300"/>
              </a:spcAft>
              <a:defRPr sz="2100">
                <a:solidFill>
                  <a:srgbClr val="2E2E2E"/>
                </a:solidFill>
                <a:latin typeface="Aptos"/>
              </a:defRPr>
            </a:pPr>
            <a:r>
              <a:t>Pontosan követi a műszaki dokumentációt.</a:t>
            </a:r>
          </a:p>
          <a:p>
            <a:pPr>
              <a:buChar char="•"/>
              <a:spcAft>
                <a:spcPts val="1300"/>
              </a:spcAft>
              <a:defRPr sz="2100">
                <a:solidFill>
                  <a:srgbClr val="2E2E2E"/>
                </a:solidFill>
                <a:latin typeface="Aptos"/>
              </a:defRPr>
            </a:pPr>
            <a:r>
              <a:t>Úgy dokumentálja a munkáját, hogy más is megértse és ellenőrizhesse.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257800"/>
            <a:ext cx="8595360" cy="77724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Fontos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A szakma nem egyszerűen „vezetékek összekötése”.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t>Műhelytitok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10332720" cy="2011680"/>
          </a:xfrm>
          <a:prstGeom prst="roundRect">
            <a:avLst/>
          </a:prstGeom>
          <a:solidFill>
            <a:srgbClr val="EAF4E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A jó szakember egyik első ismertetőjele nem a gyorsaság.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Munka előtt megnézi, mit kell csinálnia, rendet tart maga körül, és csak ezután kezd dolgozni.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8620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300"/>
              </a:spcAft>
              <a:defRPr sz="1800">
                <a:solidFill>
                  <a:srgbClr val="2E2E2E"/>
                </a:solidFill>
                <a:latin typeface="Aptos"/>
              </a:defRPr>
            </a:pPr>
            <a:r>
              <a:t>Értsd meg a feladatot!</a:t>
            </a:r>
          </a:p>
          <a:p>
            <a:pPr>
              <a:buChar char="•"/>
              <a:spcAft>
                <a:spcPts val="1300"/>
              </a:spcAft>
              <a:defRPr sz="1800">
                <a:solidFill>
                  <a:srgbClr val="2E2E2E"/>
                </a:solidFill>
                <a:latin typeface="Aptos"/>
              </a:defRPr>
            </a:pPr>
            <a:r>
              <a:t>Készítsd elő az eszközöket!</a:t>
            </a:r>
          </a:p>
          <a:p>
            <a:pPr>
              <a:buChar char="•"/>
              <a:spcAft>
                <a:spcPts val="1300"/>
              </a:spcAft>
              <a:defRPr sz="1800">
                <a:solidFill>
                  <a:srgbClr val="2E2E2E"/>
                </a:solidFill>
                <a:latin typeface="Aptos"/>
              </a:defRPr>
            </a:pPr>
            <a:r>
              <a:t>Tarts rendet!</a:t>
            </a:r>
          </a:p>
          <a:p>
            <a:pPr>
              <a:buChar char="•"/>
              <a:spcAft>
                <a:spcPts val="1300"/>
              </a:spcAft>
              <a:defRPr sz="1800">
                <a:solidFill>
                  <a:srgbClr val="2E2E2E"/>
                </a:solidFill>
                <a:latin typeface="Aptos"/>
              </a:defRPr>
            </a:pPr>
            <a:r>
              <a:t>Dolgozz biztonságosan!</a:t>
            </a:r>
          </a:p>
          <a:p>
            <a:pPr>
              <a:buChar char="•"/>
              <a:spcAft>
                <a:spcPts val="1300"/>
              </a:spcAft>
              <a:defRPr sz="1800">
                <a:solidFill>
                  <a:srgbClr val="2E2E2E"/>
                </a:solidFill>
                <a:latin typeface="Aptos"/>
              </a:defRPr>
            </a:pPr>
            <a:r>
              <a:t>Ellenőrizd, amit elkészítettél!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t>Ismerkedés a tanműhellyel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972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F75B5"/>
                </a:solidFill>
                <a:latin typeface="Aptos"/>
              </a:defRPr>
            </a:pPr>
            <a:r>
              <a:t>Most még nem kell mindent használni – először tanuld meg felismerni.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Munkapad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Hol és hogyan dolgozunk?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6032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Kéziszerszámok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Mire valók? Hol a helyük?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56032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Oktatópanel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Milyen elemeket látsz rajta?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46888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Mérőműszer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Mérésre szolgál – használata később.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069080"/>
            <a:ext cx="6675120" cy="1097280"/>
          </a:xfrm>
          <a:prstGeom prst="roundRect">
            <a:avLst/>
          </a:prstGeom>
          <a:solidFill>
            <a:srgbClr val="FFF4D6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Biztonsági eszközök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Tudd, hol találhatók és miért fontosak!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t>Az első IAP műhelyfeladat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10515600" cy="96012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Feladat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Figyelj meg egy feszültségmentes vagy biztonságos kisfeszültségű oktatási eszközt.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926080"/>
            <a:ext cx="1920240" cy="1005840"/>
          </a:xfrm>
          <a:prstGeom prst="roundRect">
            <a:avLst/>
          </a:prstGeom>
          <a:solidFill>
            <a:srgbClr val="EAF4E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7365D"/>
                </a:solidFill>
              </a:defRPr>
            </a:pPr>
            <a:r>
              <a:t>NÉZD MEG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44368" y="2926080"/>
            <a:ext cx="1920240" cy="1005840"/>
          </a:xfrm>
          <a:prstGeom prst="roundRect">
            <a:avLst/>
          </a:prstGeom>
          <a:solidFill>
            <a:srgbClr val="EAF4E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7365D"/>
                </a:solidFill>
              </a:defRPr>
            </a:pPr>
            <a:r>
              <a:t>ISMERD FEL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48656" y="2926080"/>
            <a:ext cx="1920240" cy="1005840"/>
          </a:xfrm>
          <a:prstGeom prst="roundRect">
            <a:avLst/>
          </a:prstGeom>
          <a:solidFill>
            <a:srgbClr val="EAF4E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7365D"/>
                </a:solidFill>
              </a:defRPr>
            </a:pPr>
            <a:r>
              <a:t>NEVEZD MEG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52944" y="2926080"/>
            <a:ext cx="1920240" cy="1005840"/>
          </a:xfrm>
          <a:prstGeom prst="roundRect">
            <a:avLst/>
          </a:prstGeom>
          <a:solidFill>
            <a:srgbClr val="EAF4E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7365D"/>
                </a:solidFill>
              </a:defRPr>
            </a:pPr>
            <a:r>
              <a:t>RAJZOLD 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57232" y="2926080"/>
            <a:ext cx="1920240" cy="1005840"/>
          </a:xfrm>
          <a:prstGeom prst="roundRect">
            <a:avLst/>
          </a:prstGeom>
          <a:solidFill>
            <a:srgbClr val="EAF4E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7365D"/>
                </a:solidFill>
              </a:defRPr>
            </a:pPr>
            <a:r>
              <a:t>MONDD 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709160"/>
            <a:ext cx="8503920" cy="868680"/>
          </a:xfrm>
          <a:prstGeom prst="roundRect">
            <a:avLst/>
          </a:prstGeom>
          <a:solidFill>
            <a:srgbClr val="FFF4D6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Most még nem mérünk és nem kötünk.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A cél a szakmai megfigyelés és a pontos dokumentálás.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t>Az első IAP dokumentáció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300"/>
              </a:spcAft>
              <a:defRPr sz="2100">
                <a:solidFill>
                  <a:srgbClr val="2E2E2E"/>
                </a:solidFill>
                <a:latin typeface="Aptos"/>
              </a:defRPr>
            </a:pPr>
            <a:r>
              <a:t>Név és dátum</a:t>
            </a:r>
          </a:p>
          <a:p>
            <a:pPr>
              <a:buChar char="•"/>
              <a:spcAft>
                <a:spcPts val="1300"/>
              </a:spcAft>
              <a:defRPr sz="2100">
                <a:solidFill>
                  <a:srgbClr val="2E2E2E"/>
                </a:solidFill>
                <a:latin typeface="Aptos"/>
              </a:defRPr>
            </a:pPr>
            <a:r>
              <a:t>A feladat megnevezése</a:t>
            </a:r>
          </a:p>
          <a:p>
            <a:pPr>
              <a:buChar char="•"/>
              <a:spcAft>
                <a:spcPts val="1300"/>
              </a:spcAft>
              <a:defRPr sz="2100">
                <a:solidFill>
                  <a:srgbClr val="2E2E2E"/>
                </a:solidFill>
                <a:latin typeface="Aptos"/>
              </a:defRPr>
            </a:pPr>
            <a:r>
              <a:t>Mit figyeltem meg?</a:t>
            </a:r>
          </a:p>
          <a:p>
            <a:pPr>
              <a:buChar char="•"/>
              <a:spcAft>
                <a:spcPts val="1300"/>
              </a:spcAft>
              <a:defRPr sz="2100">
                <a:solidFill>
                  <a:srgbClr val="2E2E2E"/>
                </a:solidFill>
                <a:latin typeface="Aptos"/>
              </a:defRPr>
            </a:pPr>
            <a:r>
              <a:t>Egyszerű vázlat / rajz</a:t>
            </a:r>
          </a:p>
          <a:p>
            <a:pPr>
              <a:buChar char="•"/>
              <a:spcAft>
                <a:spcPts val="1300"/>
              </a:spcAft>
              <a:defRPr sz="2100">
                <a:solidFill>
                  <a:srgbClr val="2E2E2E"/>
                </a:solidFill>
                <a:latin typeface="Aptos"/>
              </a:defRPr>
            </a:pPr>
            <a:r>
              <a:t>Mit tanultam belőle?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4937760" cy="3383280"/>
          </a:xfrm>
          <a:prstGeom prst="roundRect">
            <a:avLst/>
          </a:prstGeom>
          <a:solidFill>
            <a:srgbClr val="EAF2F8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Miért dokumentálunk?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Mert amit leírunk és lerajzolunk, azt később vissza tudjuk keresni, ellenőrizni és más szakember is megértheti.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4572000"/>
            <a:ext cx="4937760" cy="960120"/>
          </a:xfrm>
          <a:prstGeom prst="roundRect">
            <a:avLst/>
          </a:prstGeom>
          <a:solidFill>
            <a:srgbClr val="EAF4E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IAP alapelv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A jó munka nemcsak elkészül – nyoma is marad.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t>Szakmai szókincs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63040"/>
            <a:ext cx="516636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Tanyműhely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Gyakorlati oktatási környezet, ahol szakmai feladatokat végzünk.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16636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Dokumentáció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A munkáról készült rajz, adat, megjegyzés vagy jegyzőkönyv.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337560"/>
            <a:ext cx="516636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Munkavédelem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A biztonságos munkavégzés szabályainak és feltételeinek rendszere.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337560"/>
            <a:ext cx="5166360" cy="1417320"/>
          </a:xfrm>
          <a:prstGeom prst="roundRect">
            <a:avLst/>
          </a:prstGeom>
          <a:solidFill>
            <a:srgbClr val="F6F8F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Szakmai felelősség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A munkánk minősége és biztonsága másokra is hatással lehet.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t>Tipikus kezdő hibák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300"/>
              </a:spcAft>
              <a:defRPr sz="1900">
                <a:solidFill>
                  <a:srgbClr val="2E2E2E"/>
                </a:solidFill>
                <a:latin typeface="Aptos"/>
              </a:defRPr>
            </a:pPr>
            <a:r>
              <a:t>„Majd munka közben kiderül.” → Előbb értsd meg a feladatot.</a:t>
            </a:r>
          </a:p>
          <a:p>
            <a:pPr>
              <a:buChar char="•"/>
              <a:spcAft>
                <a:spcPts val="1300"/>
              </a:spcAft>
              <a:defRPr sz="1900">
                <a:solidFill>
                  <a:srgbClr val="2E2E2E"/>
                </a:solidFill>
                <a:latin typeface="Aptos"/>
              </a:defRPr>
            </a:pPr>
            <a:r>
              <a:t>„A rendrakás nem szakmai munka.” → A rend a biztonság része.</a:t>
            </a:r>
          </a:p>
          <a:p>
            <a:pPr>
              <a:buChar char="•"/>
              <a:spcAft>
                <a:spcPts val="1300"/>
              </a:spcAft>
              <a:defRPr sz="1900">
                <a:solidFill>
                  <a:srgbClr val="2E2E2E"/>
                </a:solidFill>
                <a:latin typeface="Aptos"/>
              </a:defRPr>
            </a:pPr>
            <a:r>
              <a:t>„A rajz felesleges.” → Dokumentáció nélkül nehéz ellenőrizni.</a:t>
            </a:r>
          </a:p>
          <a:p>
            <a:pPr>
              <a:buChar char="•"/>
              <a:spcAft>
                <a:spcPts val="1300"/>
              </a:spcAft>
              <a:defRPr sz="1900">
                <a:solidFill>
                  <a:srgbClr val="2E2E2E"/>
                </a:solidFill>
                <a:latin typeface="Aptos"/>
              </a:defRPr>
            </a:pPr>
            <a:r>
              <a:t>„A gyorsaság a legfontosabb.” → Előbb legyen helyes és biztonságos.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t>Önellenőrzés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300"/>
              </a:spcAft>
              <a:defRPr sz="2000">
                <a:solidFill>
                  <a:srgbClr val="2E2E2E"/>
                </a:solidFill>
                <a:latin typeface="Aptos"/>
              </a:defRPr>
            </a:pPr>
            <a:r>
              <a:t>Miért fontos megismerni a tanműhely rendjét?</a:t>
            </a:r>
          </a:p>
          <a:p>
            <a:pPr>
              <a:buChar char="•"/>
              <a:spcAft>
                <a:spcPts val="1300"/>
              </a:spcAft>
              <a:defRPr sz="2000">
                <a:solidFill>
                  <a:srgbClr val="2E2E2E"/>
                </a:solidFill>
                <a:latin typeface="Aptos"/>
              </a:defRPr>
            </a:pPr>
            <a:r>
              <a:t>Mondj három tulajdonságot, amely egy jó villamos szakemberre jellemző!</a:t>
            </a:r>
          </a:p>
          <a:p>
            <a:pPr>
              <a:buChar char="•"/>
              <a:spcAft>
                <a:spcPts val="1300"/>
              </a:spcAft>
              <a:defRPr sz="2000">
                <a:solidFill>
                  <a:srgbClr val="2E2E2E"/>
                </a:solidFill>
                <a:latin typeface="Aptos"/>
              </a:defRPr>
            </a:pPr>
            <a:r>
              <a:t>Miért készítünk dokumentációt?</a:t>
            </a:r>
          </a:p>
          <a:p>
            <a:pPr>
              <a:buChar char="•"/>
              <a:spcAft>
                <a:spcPts val="1300"/>
              </a:spcAft>
              <a:defRPr sz="2000">
                <a:solidFill>
                  <a:srgbClr val="2E2E2E"/>
                </a:solidFill>
                <a:latin typeface="Aptos"/>
              </a:defRPr>
            </a:pPr>
            <a:r>
              <a:t>Mi volt számodra a hét legérdekesebb része?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074920"/>
            <a:ext cx="9418320" cy="868680"/>
          </a:xfrm>
          <a:prstGeom prst="roundRect">
            <a:avLst/>
          </a:prstGeom>
          <a:solidFill>
            <a:srgbClr val="FFF4D6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Saját célom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A tanév végére szeretném elérni, hogy…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7365D"/>
                </a:solidFill>
                <a:latin typeface="Aptos Display"/>
              </a:defRPr>
            </a:pPr>
            <a:r>
              <a:t>Következő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10332720" cy="1417320"/>
          </a:xfrm>
          <a:prstGeom prst="roundRect">
            <a:avLst/>
          </a:prstGeom>
          <a:solidFill>
            <a:srgbClr val="FFF4D6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2. hét – Az első lépések a villamos világban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Miért lehet veszélyes a villamos energia? Megismerjük az alapvető veszélyforrásokat és az önvédelem alapjait.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3429000"/>
            <a:ext cx="9052560" cy="1143000"/>
          </a:xfrm>
          <a:prstGeom prst="roundRect">
            <a:avLst/>
          </a:prstGeom>
          <a:solidFill>
            <a:srgbClr val="EAF4EA"/>
          </a:solidFill>
          <a:ln>
            <a:solidFill>
              <a:srgbClr val="2F75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b="1" sz="1700">
                <a:solidFill>
                  <a:srgbClr val="17365D"/>
                </a:solidFill>
                <a:latin typeface="Aptos"/>
              </a:defRPr>
            </a:pPr>
            <a:r>
              <a:t>A fejlődési út folytatódik</a:t>
            </a:r>
          </a:p>
          <a:p>
            <a:pPr>
              <a:spcBef>
                <a:spcPts val="800"/>
              </a:spcBef>
              <a:defRPr sz="1400">
                <a:solidFill>
                  <a:srgbClr val="2E2E2E"/>
                </a:solidFill>
                <a:latin typeface="Aptos"/>
              </a:defRPr>
            </a:pPr>
            <a:r>
              <a:t>Megfigyelés → biztonság → egyszerű áramköri tapasztalat → dokumentálás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5074920"/>
            <a:ext cx="8321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i="1" sz="1700">
                <a:solidFill>
                  <a:srgbClr val="17365D"/>
                </a:solidFill>
              </a:defRPr>
            </a:pPr>
            <a:r>
              <a:t>„A szakmai tudás nem az első napon születik meg. Az első napon azt tanuljuk meg, hogyan induljunk el felé.”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0972"/>
          </a:xfrm>
          <a:prstGeom prst="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556248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E2E2E"/>
                </a:solidFill>
                <a:latin typeface="Aptos"/>
              </a:defRPr>
            </a:pPr>
            <a:r>
              <a:t>IAP • 9. évfolyam • Villamos alapismeretek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56248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E2E2E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