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8" r:id="rId3"/>
    <p:sldId id="279" r:id="rId4"/>
    <p:sldId id="280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154680" cy="6858000"/>
          </a:xfrm>
          <a:prstGeom prst="rect">
            <a:avLst/>
          </a:prstGeom>
          <a:solidFill>
            <a:srgbClr val="12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417320" y="685800"/>
            <a:ext cx="2743200" cy="2743200"/>
          </a:xfrm>
          <a:prstGeom prst="ellipse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" y="4526280"/>
            <a:ext cx="1645920" cy="1645920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2286000" cy="455509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rPr dirty="0"/>
              <a:t>IAP </a:t>
            </a:r>
            <a:endParaRPr lang="hu-HU" dirty="0"/>
          </a:p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04672" y="2011680"/>
            <a:ext cx="1417320" cy="109728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6200" b="0">
                <a:solidFill>
                  <a:srgbClr val="FFFFFF"/>
                </a:solidFill>
                <a:latin typeface="Aptos"/>
              </a:defRPr>
            </a:pPr>
            <a: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1234440"/>
            <a:ext cx="7680960" cy="91440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4600" b="1">
                <a:solidFill>
                  <a:srgbClr val="122C4E"/>
                </a:solidFill>
                <a:latin typeface="Aptos Display"/>
              </a:defRPr>
            </a:pPr>
            <a:r>
              <a:t>Mit tudok már?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22191" y="2240280"/>
            <a:ext cx="7498079" cy="68580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2800" b="0">
                <a:solidFill>
                  <a:srgbClr val="1F618D"/>
                </a:solidFill>
                <a:latin typeface="Aptos Display"/>
              </a:defRPr>
            </a:pPr>
            <a:r>
              <a:t>Ez a hét hidat képez az első és a második félév között. A cél a szakmai önbizalom megerősítése és a további fejlődés irányának kijelölése.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4617720"/>
            <a:ext cx="726948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05072" y="4846320"/>
            <a:ext cx="6812280" cy="41148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1600" b="0">
                <a:solidFill>
                  <a:srgbClr val="232323"/>
                </a:solidFill>
                <a:latin typeface="Aptos"/>
              </a:defRPr>
            </a:pPr>
            <a:r>
              <a:t>„A fejlődést nem az mutatja, hogy mennyit tudsz, hanem az, hogy ma többet tudsz, mint tegnap.”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6592824"/>
            <a:ext cx="932688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/ IAA • 9. évfolyam • Villamos alapismeretek • 17. hét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78892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468880" cy="20116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1F618D"/>
                </a:solidFill>
                <a:latin typeface="Aptos"/>
              </a:defRPr>
            </a:pPr>
            <a:r>
              <a:t>TÁBLÁZAT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744200" cy="5943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3000" b="1">
                <a:solidFill>
                  <a:srgbClr val="122C4E"/>
                </a:solidFill>
                <a:latin typeface="Aptos Display"/>
              </a:defRPr>
            </a:pPr>
            <a:r>
              <a:t>Táblázat 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645920"/>
          <a:ext cx="1069848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858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Fejlődési szakasz</a:t>
                      </a:r>
                    </a:p>
                  </a:txBody>
                  <a:tcPr>
                    <a:solidFill>
                      <a:srgbClr val="122C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4. – A második félév indítása</a:t>
                      </a:r>
                    </a:p>
                  </a:txBody>
                  <a:tcPr>
                    <a:solidFill>
                      <a:srgbClr val="122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5850"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Órakeret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3 tanóra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5850"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Tantárgy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Villamos alapismeretek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5850"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IAA Útravaló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„A fejlődést nem az mutatja, hogy mennyit tudsz, hanem az, hogy ma többet tudsz, mint tegnap.”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92824"/>
            <a:ext cx="932688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/ IAA • 9. évfolyam • Villamos alapismeretek • 17. hét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78892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468880" cy="20116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1F618D"/>
                </a:solidFill>
                <a:latin typeface="Aptos"/>
              </a:defRPr>
            </a:pPr>
            <a:r>
              <a:t>TÁBLÁZAT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744200" cy="5943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3000" b="1">
                <a:solidFill>
                  <a:srgbClr val="122C4E"/>
                </a:solidFill>
                <a:latin typeface="Aptos Display"/>
              </a:defRPr>
            </a:pPr>
            <a:r>
              <a:t>Táblázat 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645920"/>
          <a:ext cx="1069848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858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Tanóra</a:t>
                      </a:r>
                    </a:p>
                  </a:txBody>
                  <a:tcPr>
                    <a:solidFill>
                      <a:srgbClr val="122C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Tartalom</a:t>
                      </a:r>
                    </a:p>
                  </a:txBody>
                  <a:tcPr>
                    <a:solidFill>
                      <a:srgbClr val="122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5850"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1. tanóra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Közös visszatekintés az első félévre. Gondolattérkép készítése a tanult témákról: munkavédelem, Ohm-törvény, mérések, kapcsolási rajzok, soros és párhuzamos kapcsolások, teljesítmény, hibakeresés.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5850"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2. tanóra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Egyéni és páros feladatok: kapcsolási rajz készítése, alkatrészfelismerés, műszerválasztás, egyszerű hibakeresési terv készítése.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5850"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3. tanóra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A második félév bemutatása: mágnesesség, relék, villamos gépek, vezérlések, PLC és automatizálás. Saját fejlődési célok megfogalmazása.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92824"/>
            <a:ext cx="932688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/ IAA • 9. évfolyam • Villamos alapismeretek • 17. hét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78892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468880" cy="20116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1F618D"/>
                </a:solidFill>
                <a:latin typeface="Aptos"/>
              </a:defRPr>
            </a:pPr>
            <a:r>
              <a:t>TÁBLÁZAT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744200" cy="5943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3000" b="1">
                <a:solidFill>
                  <a:srgbClr val="122C4E"/>
                </a:solidFill>
                <a:latin typeface="Aptos Display"/>
              </a:defRPr>
            </a:pPr>
            <a:r>
              <a:t>Táblázat 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645920"/>
          <a:ext cx="1069848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Fogalom</a:t>
                      </a:r>
                    </a:p>
                  </a:txBody>
                  <a:tcPr>
                    <a:solidFill>
                      <a:srgbClr val="122C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Jelentése</a:t>
                      </a:r>
                    </a:p>
                  </a:txBody>
                  <a:tcPr>
                    <a:solidFill>
                      <a:srgbClr val="122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Önállóság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Feladat elvégzése segítség nélkül.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Önértékelés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Saját teljesítmény objektív értékelése.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Kompetencia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Tudás, készség és hozzáállás együttese.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Fejlődés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Tudatos előrelépés a szakmában.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Célkitűzés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A következő fejlődési lépcső meghatározása.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92824"/>
            <a:ext cx="932688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/ IAA • 9. évfolyam • Villamos alapismeretek • 17. hét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78892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468880" cy="20116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1F618D"/>
                </a:solidFill>
                <a:latin typeface="Aptos"/>
              </a:defRPr>
            </a:pPr>
            <a:r>
              <a:t>TANANYAG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77240" cy="5943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3800" b="0">
                <a:solidFill>
                  <a:srgbClr val="1F618D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3000" b="1">
                <a:solidFill>
                  <a:srgbClr val="122C4E"/>
                </a:solidFill>
                <a:latin typeface="Aptos Display"/>
              </a:defRPr>
            </a:pPr>
            <a:r>
              <a:t>Bevezetés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7"/>
            <a:ext cx="9555480" cy="301621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rPr dirty="0"/>
              <a:t>IA</a:t>
            </a:r>
            <a:r>
              <a:rPr lang="hu-HU" dirty="0"/>
              <a:t>P</a:t>
            </a:r>
            <a:r>
              <a:rPr dirty="0"/>
              <a:t> – 9. évfolyam 17. hét Mit </a:t>
            </a:r>
            <a:r>
              <a:rPr dirty="0" err="1"/>
              <a:t>tudok</a:t>
            </a:r>
            <a:r>
              <a:rPr dirty="0"/>
              <a:t> már? A szakmai </a:t>
            </a:r>
            <a:r>
              <a:rPr dirty="0" err="1"/>
              <a:t>önbizalom</a:t>
            </a:r>
            <a:r>
              <a:rPr dirty="0"/>
              <a:t> első </a:t>
            </a:r>
            <a:r>
              <a:rPr dirty="0" err="1"/>
              <a:t>lépései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32688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/ IAA • 9. évfolyam • Villamos alapismeretek • 17. hét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78892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468880" cy="20116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1F618D"/>
                </a:solidFill>
                <a:latin typeface="Aptos"/>
              </a:defRPr>
            </a:pPr>
            <a:r>
              <a:t>CÉLOK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744200" cy="5943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3200" b="1">
                <a:solidFill>
                  <a:srgbClr val="122C4E"/>
                </a:solidFill>
                <a:latin typeface="Aptos Display"/>
              </a:defRPr>
            </a:pPr>
            <a:r>
              <a:t>A hét célja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44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01952"/>
            <a:ext cx="10287000" cy="3657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1900" b="1">
                <a:solidFill>
                  <a:srgbClr val="122C4E"/>
                </a:solidFill>
                <a:latin typeface="Aptos"/>
              </a:defRPr>
            </a:pPr>
            <a:r>
              <a:t>A tanuló rendszerezze az első félév során megszerzett ismereteit, felismerje saját fejlődését, és tudatosítsa, hogy ezekre az alapokra épül a további szakmai képzés.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063240"/>
            <a:ext cx="2971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273552"/>
            <a:ext cx="2697480" cy="301752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1500" b="1">
                <a:solidFill>
                  <a:srgbClr val="232323"/>
                </a:solidFill>
                <a:latin typeface="Aptos"/>
              </a:defRPr>
            </a:pPr>
            <a:r>
              <a:t>Első félév összefoglalása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063240"/>
            <a:ext cx="2971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3273552"/>
            <a:ext cx="2697480" cy="301752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1500" b="1">
                <a:solidFill>
                  <a:srgbClr val="232323"/>
                </a:solidFill>
                <a:latin typeface="Aptos"/>
              </a:defRPr>
            </a:pPr>
            <a:r>
              <a:t>Saját erősségek felismerése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063240"/>
            <a:ext cx="2971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0" y="3273552"/>
            <a:ext cx="2697480" cy="301752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1500" b="1">
                <a:solidFill>
                  <a:srgbClr val="232323"/>
                </a:solidFill>
                <a:latin typeface="Aptos"/>
              </a:defRPr>
            </a:pPr>
            <a:r>
              <a:t>Fejlesztendő területek megfogalmazása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51960"/>
            <a:ext cx="2971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462272"/>
            <a:ext cx="2697480" cy="301752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1500" b="1">
                <a:solidFill>
                  <a:srgbClr val="232323"/>
                </a:solidFill>
                <a:latin typeface="Aptos"/>
              </a:defRPr>
            </a:pPr>
            <a:r>
              <a:t>Egyszerű villamos feladat elemzése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4251960"/>
            <a:ext cx="2971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4462272"/>
            <a:ext cx="2697480" cy="301752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1500" b="1">
                <a:solidFill>
                  <a:srgbClr val="232323"/>
                </a:solidFill>
                <a:latin typeface="Aptos"/>
              </a:defRPr>
            </a:pPr>
            <a:r>
              <a:t>Szakmai beszélgetés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4251960"/>
            <a:ext cx="2971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0" y="4462272"/>
            <a:ext cx="2697480" cy="301752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1500" b="1">
                <a:solidFill>
                  <a:srgbClr val="232323"/>
                </a:solidFill>
                <a:latin typeface="Aptos"/>
              </a:defRPr>
            </a:pPr>
            <a:r>
              <a:t>Saját fejlődési célok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6592824"/>
            <a:ext cx="932688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/ IAA • 9. évfolyam • Villamos alapismeretek • 17. hét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78892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468880" cy="20116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1F618D"/>
                </a:solidFill>
                <a:latin typeface="Aptos"/>
              </a:defRPr>
            </a:pPr>
            <a:r>
              <a:t>TANANYAG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77240" cy="5943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3800" b="0">
                <a:solidFill>
                  <a:srgbClr val="1F618D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3000" b="1">
                <a:solidFill>
                  <a:srgbClr val="122C4E"/>
                </a:solidFill>
                <a:latin typeface="Aptos Display"/>
              </a:defRPr>
            </a:pPr>
            <a:r>
              <a:t>A hét végére a tanuló képes lesz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7"/>
            <a:ext cx="9555480" cy="3657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Összefoglalni az első félév legfontosabb ismereteit.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496312"/>
            <a:ext cx="10561320" cy="603504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05840" y="2633472"/>
            <a:ext cx="310896" cy="310896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660904"/>
            <a:ext cx="310896" cy="18288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606040"/>
            <a:ext cx="9555480" cy="3657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Felismerni saját erősségeit és fejlesztendő területeit.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09544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" y="3346703"/>
            <a:ext cx="310896" cy="310896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374136"/>
            <a:ext cx="310896" cy="18288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19272"/>
            <a:ext cx="9555480" cy="3657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Önállóan elemezni egy egyszerű villamos feladatot.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22776"/>
            <a:ext cx="10561320" cy="603504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05840" y="4059936"/>
            <a:ext cx="310896" cy="310896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087368"/>
            <a:ext cx="310896" cy="18288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032504"/>
            <a:ext cx="9555480" cy="3657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Szakmai beszélgetésben aktívan részt venni.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636008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05840" y="4773168"/>
            <a:ext cx="310896" cy="310896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4800600"/>
            <a:ext cx="310896" cy="18288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4745736"/>
            <a:ext cx="9555480" cy="3657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Megfogalmazni saját fejlődési céljait.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6592824"/>
            <a:ext cx="932688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/ IAA • 9. évfolyam • Villamos alapismeretek • 17. hét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78892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468880" cy="20116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1F618D"/>
                </a:solidFill>
                <a:latin typeface="Aptos"/>
              </a:defRPr>
            </a:pPr>
            <a:r>
              <a:t>TANANYAG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77240" cy="5943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3800" b="0">
                <a:solidFill>
                  <a:srgbClr val="1F618D"/>
                </a:solidFill>
                <a:latin typeface="Aptos"/>
              </a:defRPr>
            </a:pPr>
            <a:r>
              <a:t>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3000" b="1">
                <a:solidFill>
                  <a:srgbClr val="122C4E"/>
                </a:solidFill>
                <a:latin typeface="Aptos Display"/>
              </a:defRPr>
            </a:pPr>
            <a:r>
              <a:t>Óravázlat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7"/>
            <a:ext cx="9555480" cy="3657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Beszéljük meg közösen, mit jelent ez a gyakorlatban.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32688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/ IAA • 9. évfolyam • Villamos alapismeretek • 17. hét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78892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468880" cy="20116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1F618D"/>
                </a:solidFill>
                <a:latin typeface="Aptos"/>
              </a:defRPr>
            </a:pPr>
            <a:r>
              <a:t>TANANYAG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77240" cy="5943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3800" b="0">
                <a:solidFill>
                  <a:srgbClr val="1F618D"/>
                </a:solidFill>
                <a:latin typeface="Aptos"/>
              </a:defRPr>
            </a:pPr>
            <a:r>
              <a:t>🛠️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3000" b="1">
                <a:solidFill>
                  <a:srgbClr val="122C4E"/>
                </a:solidFill>
                <a:latin typeface="Aptos Display"/>
              </a:defRPr>
            </a:pPr>
            <a:r>
              <a:t>Mini projekt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7"/>
            <a:ext cx="9555480" cy="3657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„Az én szakmai utam” – a tanuló rövid önértékelést készít: Mire vagyok a legbüszkébb? Miben szeretnék fejlődni? Mit szeretnék tudni a tanév végére?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32688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/ IAA • 9. évfolyam • Villamos alapismeretek • 17. hét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78892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468880" cy="20116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1F618D"/>
                </a:solidFill>
                <a:latin typeface="Aptos"/>
              </a:defRPr>
            </a:pPr>
            <a:r>
              <a:t>TANANYAG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77240" cy="5943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3800" b="0">
                <a:solidFill>
                  <a:srgbClr val="1F618D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3000" b="1">
                <a:solidFill>
                  <a:srgbClr val="122C4E"/>
                </a:solidFill>
                <a:latin typeface="Aptos Display"/>
              </a:defRPr>
            </a:pPr>
            <a:r>
              <a:t>Kapcsolódás a szakmához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7"/>
            <a:ext cx="9555480" cy="3657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Egy jó szakember rendszeresen értékeli saját munkáját és tudatosan fejleszti magát. Az önértékelés a szakmai fejlődés része.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32688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/ IAA • 9. évfolyam • Villamos alapismeretek • 17. hét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78892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468880" cy="20116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1F618D"/>
                </a:solidFill>
                <a:latin typeface="Aptos"/>
              </a:defRPr>
            </a:pPr>
            <a:r>
              <a:t>TANANYAG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77240" cy="5943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3800" b="0">
                <a:solidFill>
                  <a:srgbClr val="1F618D"/>
                </a:solidFill>
                <a:latin typeface="Aptos"/>
              </a:defRPr>
            </a:pPr>
            <a:r>
              <a:t>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3000" b="1">
                <a:solidFill>
                  <a:srgbClr val="122C4E"/>
                </a:solidFill>
                <a:latin typeface="Aptos Display"/>
              </a:defRPr>
            </a:pPr>
            <a:r>
              <a:t>Szakmai szókincs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7"/>
            <a:ext cx="9555480" cy="3657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Beszéljük meg közösen, mit jelent ez a gyakorlatban.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32688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/ IAA • 9. évfolyam • Villamos alapismeretek • 17. hét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78892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468880" cy="20116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1F618D"/>
                </a:solidFill>
                <a:latin typeface="Aptos"/>
              </a:defRPr>
            </a:pPr>
            <a:r>
              <a:t>TANANYAG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77240" cy="5943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3800" b="0">
                <a:solidFill>
                  <a:srgbClr val="1F618D"/>
                </a:solidFill>
                <a:latin typeface="Aptos"/>
              </a:defRPr>
            </a:pPr>
            <a:r>
              <a:t>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3000" b="1">
                <a:solidFill>
                  <a:srgbClr val="122C4E"/>
                </a:solidFill>
                <a:latin typeface="Aptos Display"/>
              </a:defRPr>
            </a:pPr>
            <a:r>
              <a:t>Valós életből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7"/>
            <a:ext cx="9555480" cy="3657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A tapasztalt villanyszerelők minden nagyobb munka után átgondolják, mi sikerült jól, és min lehet legközelebb javítani. Ettől fejlődnek folyamatosan.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32688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/ IAA • 9. évfolyam • Villamos alapismeretek • 17. hét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78892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468880" cy="20116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1F618D"/>
                </a:solidFill>
                <a:latin typeface="Aptos"/>
              </a:defRPr>
            </a:pPr>
            <a:r>
              <a:t>TANANYAG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77240" cy="5943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3800" b="0">
                <a:solidFill>
                  <a:srgbClr val="1F618D"/>
                </a:solidFill>
                <a:latin typeface="Aptos"/>
              </a:defRPr>
            </a:pPr>
            <a:r>
              <a:t>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3000" b="1">
                <a:solidFill>
                  <a:srgbClr val="122C4E"/>
                </a:solidFill>
                <a:latin typeface="Aptos Display"/>
              </a:defRPr>
            </a:pPr>
            <a:r>
              <a:t>Érdekesség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7"/>
            <a:ext cx="9555480" cy="3657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Számos ipari vállalat projektzáró értékelést tart minden nagyobb munka után, hogy a következő feladatot még hatékonyabban végezhessék 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32688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/ IAA • 9. évfolyam • Villamos alapismeretek • 17. hét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78892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468880" cy="20116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1F618D"/>
                </a:solidFill>
                <a:latin typeface="Aptos"/>
              </a:defRPr>
            </a:pPr>
            <a:r>
              <a:t>TANANYAG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77240" cy="5943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3800" b="0">
                <a:solidFill>
                  <a:srgbClr val="1F618D"/>
                </a:solidFill>
                <a:latin typeface="Aptos"/>
              </a:defRPr>
            </a:pPr>
            <a:r>
              <a:t>⚠️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3000" b="1">
                <a:solidFill>
                  <a:srgbClr val="122C4E"/>
                </a:solidFill>
                <a:latin typeface="Aptos Display"/>
              </a:defRPr>
            </a:pPr>
            <a:r>
              <a:t>Tipikus tévhitek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7"/>
            <a:ext cx="9555480" cy="3657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A jó szakember nem hibázik.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496312"/>
            <a:ext cx="10561320" cy="603504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05840" y="2633472"/>
            <a:ext cx="310896" cy="310896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660904"/>
            <a:ext cx="310896" cy="18288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606040"/>
            <a:ext cx="9555480" cy="3657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Ha valamit egyszer megtanultam, már nincs szükség gyakorlásra.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09544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" y="3346703"/>
            <a:ext cx="310896" cy="310896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374136"/>
            <a:ext cx="310896" cy="18288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19272"/>
            <a:ext cx="9555480" cy="3657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A fejlődés magától bekövetkezik.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6592824"/>
            <a:ext cx="932688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/ IAA • 9. évfolyam • Villamos alapismeretek • 17. hét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78892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468880" cy="20116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1F618D"/>
                </a:solidFill>
                <a:latin typeface="Aptos"/>
              </a:defRPr>
            </a:pPr>
            <a:r>
              <a:t>TANANYAG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77240" cy="5943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3800" b="0">
                <a:solidFill>
                  <a:srgbClr val="1F618D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3000" b="1">
                <a:solidFill>
                  <a:srgbClr val="122C4E"/>
                </a:solidFill>
                <a:latin typeface="Aptos Display"/>
              </a:defRPr>
            </a:pPr>
            <a:r>
              <a:t>Oktatói eszközlista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7"/>
            <a:ext cx="9555480" cy="3657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Beszéljük meg közösen, mit jelent ez a gyakorlatban.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32688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/ IAA • 9. évfolyam • Villamos alapismeretek • 17. hét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78892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468880" cy="20116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1F618D"/>
                </a:solidFill>
                <a:latin typeface="Aptos"/>
              </a:defRPr>
            </a:pPr>
            <a:r>
              <a:t>TANANYAG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77240" cy="5943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3800" b="0">
                <a:solidFill>
                  <a:srgbClr val="1F618D"/>
                </a:solidFill>
                <a:latin typeface="Aptos"/>
              </a:defRPr>
            </a:pPr>
            <a:r>
              <a:t>🛠️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3000" b="1">
                <a:solidFill>
                  <a:srgbClr val="122C4E"/>
                </a:solidFill>
                <a:latin typeface="Aptos Display"/>
              </a:defRPr>
            </a:pPr>
            <a:r>
              <a:t>Projektor vagy interaktív kijelző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7"/>
            <a:ext cx="9555480" cy="3657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Gondolattérkép készítéséhez tábla vagy csomagolópapír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32688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/ IAA • 9. évfolyam • Villamos alapismeretek • 17. hét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78892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468880" cy="20116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1F618D"/>
                </a:solidFill>
                <a:latin typeface="Aptos"/>
              </a:defRPr>
            </a:pPr>
            <a:r>
              <a:t>TANANYAG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77240" cy="5943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3800" b="0">
                <a:solidFill>
                  <a:srgbClr val="1F618D"/>
                </a:solidFill>
                <a:latin typeface="Aptos"/>
              </a:defRPr>
            </a:pPr>
            <a:r>
              <a:t>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3000" b="1">
                <a:solidFill>
                  <a:srgbClr val="122C4E"/>
                </a:solidFill>
                <a:latin typeface="Aptos Display"/>
              </a:defRPr>
            </a:pPr>
            <a:r>
              <a:t>Önértékelő lapok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7"/>
            <a:ext cx="9555480" cy="3657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Beszéljük meg közösen, mit jelent ez a gyakorlatban.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32688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/ IAA • 9. évfolyam • Villamos alapismeretek • 17. hét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78892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468880" cy="20116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1F618D"/>
                </a:solidFill>
                <a:latin typeface="Aptos"/>
              </a:defRPr>
            </a:pPr>
            <a:r>
              <a:t>TANANYAG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77240" cy="5943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3800" b="0">
                <a:solidFill>
                  <a:srgbClr val="1F618D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3000" b="1">
                <a:solidFill>
                  <a:srgbClr val="122C4E"/>
                </a:solidFill>
                <a:latin typeface="Aptos Display"/>
              </a:defRPr>
            </a:pPr>
            <a:r>
              <a:t>Kapcsolási rajzok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7"/>
            <a:ext cx="9555480" cy="3657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Beszéljük meg közösen, mit jelent ez a gyakorlatban.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32688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/ IAA • 9. évfolyam • Villamos alapismeretek • 17. hét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78892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468880" cy="20116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1F618D"/>
                </a:solidFill>
                <a:latin typeface="Aptos"/>
              </a:defRPr>
            </a:pPr>
            <a:r>
              <a:t>TANANYAG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77240" cy="5943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3800" b="0">
                <a:solidFill>
                  <a:srgbClr val="1F618D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3000" b="1">
                <a:solidFill>
                  <a:srgbClr val="122C4E"/>
                </a:solidFill>
                <a:latin typeface="Aptos Display"/>
              </a:defRPr>
            </a:pPr>
            <a:r>
              <a:t>Digitális multiméter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7"/>
            <a:ext cx="9555480" cy="3657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Beszéljük meg közösen, mit jelent ez a gyakorlatban.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32688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/ IAA • 9. évfolyam • Villamos alapismeretek • 17. hét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78892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468880" cy="20116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1F618D"/>
                </a:solidFill>
                <a:latin typeface="Aptos"/>
              </a:defRPr>
            </a:pPr>
            <a:r>
              <a:t>TANANYAG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77240" cy="5943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3800" b="0">
                <a:solidFill>
                  <a:srgbClr val="1F618D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3000" b="1">
                <a:solidFill>
                  <a:srgbClr val="122C4E"/>
                </a:solidFill>
                <a:latin typeface="Aptos Display"/>
              </a:defRPr>
            </a:pPr>
            <a:r>
              <a:t>Gyakorló panelek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7"/>
            <a:ext cx="9555480" cy="3657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Beszéljük meg közösen, mit jelent ez a gyakorlatban.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32688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/ IAA • 9. évfolyam • Villamos alapismeretek • 17. hét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78892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468880" cy="20116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1F618D"/>
                </a:solidFill>
                <a:latin typeface="Aptos"/>
              </a:defRPr>
            </a:pPr>
            <a:r>
              <a:t>ÉRTÉKELÉS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744200" cy="5943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3200" b="1">
                <a:solidFill>
                  <a:srgbClr val="122C4E"/>
                </a:solidFill>
                <a:latin typeface="Aptos Display"/>
              </a:defRPr>
            </a:pPr>
            <a:r>
              <a:t>Értékelés és visszajelzés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1051560"/>
          </a:xfrm>
          <a:prstGeom prst="roundRect">
            <a:avLst/>
          </a:prstGeom>
          <a:solidFill>
            <a:srgbClr val="E8F4FC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10012680" cy="50292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1800" b="1">
                <a:solidFill>
                  <a:srgbClr val="122C4E"/>
                </a:solidFill>
                <a:latin typeface="Aptos"/>
              </a:defRPr>
            </a:pPr>
            <a:r>
              <a:t>Szöveges visszajelzés: erősségek, fejlesztendő területek és a következő időszak személyes céljai.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3429000"/>
            <a:ext cx="3154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639312"/>
            <a:ext cx="2788920" cy="27432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1700" b="1">
                <a:solidFill>
                  <a:srgbClr val="1F618D"/>
                </a:solidFill>
                <a:latin typeface="Aptos"/>
              </a:defRPr>
            </a:pPr>
            <a:r>
              <a:t>Erősségek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041648"/>
            <a:ext cx="2788920" cy="27432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1400" b="0">
                <a:solidFill>
                  <a:srgbClr val="232323"/>
                </a:solidFill>
                <a:latin typeface="Aptos"/>
              </a:defRPr>
            </a:pPr>
            <a:r>
              <a:t>Mi ment jól?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3429000"/>
            <a:ext cx="3154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0" y="3639312"/>
            <a:ext cx="2788920" cy="27432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1700" b="1">
                <a:solidFill>
                  <a:srgbClr val="1F618D"/>
                </a:solidFill>
                <a:latin typeface="Aptos"/>
              </a:defRPr>
            </a:pPr>
            <a:r>
              <a:t>Fejlesztendő terület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4041648"/>
            <a:ext cx="2788920" cy="27432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1400" b="0">
                <a:solidFill>
                  <a:srgbClr val="232323"/>
                </a:solidFill>
                <a:latin typeface="Aptos"/>
              </a:defRPr>
            </a:pPr>
            <a:r>
              <a:t>Miben kell gyakorolni?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3429000"/>
            <a:ext cx="3154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9640" y="3639312"/>
            <a:ext cx="2788920" cy="27432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1700" b="1">
                <a:solidFill>
                  <a:srgbClr val="1F618D"/>
                </a:solidFill>
                <a:latin typeface="Aptos"/>
              </a:defRPr>
            </a:pPr>
            <a:r>
              <a:t>Következő cél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041648"/>
            <a:ext cx="2788920" cy="27432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1400" b="0">
                <a:solidFill>
                  <a:srgbClr val="232323"/>
                </a:solidFill>
                <a:latin typeface="Aptos"/>
              </a:defRPr>
            </a:pPr>
            <a:r>
              <a:t>Mit vállalok a második félévre?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6592824"/>
            <a:ext cx="932688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/ IAA • 9. évfolyam • Villamos alapismeretek • 17. hét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78892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468880" cy="20116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1F618D"/>
                </a:solidFill>
                <a:latin typeface="Aptos"/>
              </a:defRPr>
            </a:pPr>
            <a:r>
              <a:t>TANANYAG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77240" cy="5943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3800" b="0">
                <a:solidFill>
                  <a:srgbClr val="1F618D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3000" b="1">
                <a:solidFill>
                  <a:srgbClr val="122C4E"/>
                </a:solidFill>
                <a:latin typeface="Aptos Display"/>
              </a:defRPr>
            </a:pPr>
            <a:r>
              <a:t>Oktatói megjegyzés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7"/>
            <a:ext cx="9555480" cy="3657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Beszéljük meg közösen, mit jelent ez a gyakorlatban.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32688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/ IAA • 9. évfolyam • Villamos alapismeretek • 17. hét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78892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468880" cy="20116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1F618D"/>
                </a:solidFill>
                <a:latin typeface="Aptos"/>
              </a:defRPr>
            </a:pPr>
            <a:r>
              <a:t>TANANYAG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77240" cy="5943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3800" b="0">
                <a:solidFill>
                  <a:srgbClr val="1F618D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3000" b="1">
                <a:solidFill>
                  <a:srgbClr val="122C4E"/>
                </a:solidFill>
                <a:latin typeface="Aptos Display"/>
              </a:defRPr>
            </a:pPr>
            <a:r>
              <a:t>Mester tanácsa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7"/>
            <a:ext cx="9555480" cy="3657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„Aki minden nap csak egy kicsit fejlődik, néhány év múlva messze megelőzi azt, aki azt hitte, már mindent tud.”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32688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/ IAA • 9. évfolyam • Villamos alapismeretek • 17. hét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78892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468880" cy="20116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1F618D"/>
                </a:solidFill>
                <a:latin typeface="Aptos"/>
              </a:defRPr>
            </a:pPr>
            <a:r>
              <a:t>TANANYAG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77240" cy="5943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3800" b="0">
                <a:solidFill>
                  <a:srgbClr val="1F618D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3000" b="1">
                <a:solidFill>
                  <a:srgbClr val="122C4E"/>
                </a:solidFill>
                <a:latin typeface="Aptos Display"/>
              </a:defRPr>
            </a:pPr>
            <a:r>
              <a:t>A hét záró gondolata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7"/>
            <a:ext cx="9555480" cy="3657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„A tudás nem egy célállomás. A tudás egy út.”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32688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/ IAA • 9. évfolyam • Villamos alapismeretek • 17. hét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78892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468880" cy="20116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1F618D"/>
                </a:solidFill>
                <a:latin typeface="Aptos"/>
              </a:defRPr>
            </a:pPr>
            <a:r>
              <a:t>TANANYAG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77240" cy="5943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3800" b="0">
                <a:solidFill>
                  <a:srgbClr val="1F618D"/>
                </a:solidFill>
                <a:latin typeface="Aptos"/>
              </a:defRPr>
            </a:pPr>
            <a:r>
              <a:t>➡️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3000" b="1">
                <a:solidFill>
                  <a:srgbClr val="122C4E"/>
                </a:solidFill>
                <a:latin typeface="Aptos Display"/>
              </a:defRPr>
            </a:pPr>
            <a:r>
              <a:t>A következő hét előzetese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7"/>
            <a:ext cx="9555480" cy="3657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18. hét: Miért vonzza a mágnes a vasat? – Bevezetés a mágnesesség és az elektromágnesesség világába.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32688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/ IAA • 9. évfolyam • Villamos alapismeretek • 17. hét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1093</Words>
  <Application>Microsoft Office PowerPoint</Application>
  <PresentationFormat>Szélesvásznú</PresentationFormat>
  <Paragraphs>214</Paragraphs>
  <Slides>25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keywords/>
  <dc:description>generated using python-pptx</dc:description>
  <cp:lastModifiedBy>zsolt Fazekas</cp:lastModifiedBy>
  <cp:revision>2</cp:revision>
  <dcterms:created xsi:type="dcterms:W3CDTF">2013-01-27T09:14:16Z</dcterms:created>
  <dcterms:modified xsi:type="dcterms:W3CDTF">2026-08-05T14:34:33Z</dcterms:modified>
  <cp:category/>
</cp:coreProperties>
</file>