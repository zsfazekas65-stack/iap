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IAP • 9. ÉVFOLYAM • 35.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8503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IAP szakmai
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CDDEEE"/>
                </a:solidFill>
                <a:latin typeface="Aptos"/>
              </a:rPr>
              <a:t>Tervezés + építés + mérés + hibakeresés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91640"/>
            <a:ext cx="1737360" cy="685800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71231" y="1810512"/>
            <a:ext cx="15910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TERVEZD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691640"/>
            <a:ext cx="1737360" cy="685800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28632" y="1810512"/>
            <a:ext cx="15910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ÉPÍTSD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743200"/>
            <a:ext cx="1737360" cy="685800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862072"/>
            <a:ext cx="15910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MÉRD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2743200"/>
            <a:ext cx="1737360" cy="685800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8632" y="2862072"/>
            <a:ext cx="15910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JAVÍTSD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8778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0BED2"/>
                </a:solidFill>
                <a:latin typeface="Aptos"/>
              </a:rPr>
              <a:t>Egy teljes szakmai munkafolyamat - egyetlen kihívásban.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A KÜLDETÉS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Most minden összeér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Nem részfeladatot kapsz, hanem egy működő rendszert kell létrehoznod.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383280"/>
            <a:ext cx="9418320" cy="0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2852928"/>
            <a:ext cx="822960" cy="1060704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035808"/>
            <a:ext cx="7680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24 V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200400"/>
            <a:ext cx="6400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373075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F1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246120" y="2697480"/>
            <a:ext cx="0" cy="6858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46120" y="3383280"/>
            <a:ext cx="0" cy="6858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46120" y="2697480"/>
            <a:ext cx="2468880" cy="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4069080"/>
            <a:ext cx="2468880" cy="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15000" y="2697480"/>
            <a:ext cx="0" cy="13716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886200" y="261518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261518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3968496" y="2404872"/>
            <a:ext cx="539496" cy="292608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03320" y="222199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S1 NO</a:t>
            </a:r>
          </a:p>
        </p:txBody>
      </p:sp>
      <p:sp>
        <p:nvSpPr>
          <p:cNvPr id="20" name="Oval 19"/>
          <p:cNvSpPr/>
          <p:nvPr/>
        </p:nvSpPr>
        <p:spPr>
          <a:xfrm>
            <a:off x="3886200" y="398678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398678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968496" y="3776472"/>
            <a:ext cx="539496" cy="292608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03320" y="359359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S2 NO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297180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46720" y="3154680"/>
            <a:ext cx="457200" cy="4572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046720" y="3154680"/>
            <a:ext cx="457200" cy="4572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18120" y="388620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H1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373075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0 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074920"/>
            <a:ext cx="10149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5184648"/>
            <a:ext cx="9692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ptos"/>
              </a:rPr>
              <a:t>S1 VAGY S2 → H1 világít • 24 V DC • F1 védelem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MUNKAFOLYAMAT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Hat állomás - egy szakmai eredmény</a:t>
            </a:r>
          </a:p>
        </p:txBody>
      </p:sp>
      <p:sp>
        <p:nvSpPr>
          <p:cNvPr id="5" name="Oval 4"/>
          <p:cNvSpPr/>
          <p:nvPr/>
        </p:nvSpPr>
        <p:spPr>
          <a:xfrm>
            <a:off x="850392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KÖVETELMÉNY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73352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88920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BED2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TERV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27448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0992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ÉPÍTÉS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65976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5976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9A69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TESZT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88936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604504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04504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23741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HIBA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27464" y="2386584"/>
            <a:ext cx="640080" cy="0"/>
          </a:xfrm>
          <a:prstGeom prst="line">
            <a:avLst/>
          </a:prstGeom>
          <a:ln w="38100">
            <a:solidFill>
              <a:srgbClr val="CA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543032" y="2011680"/>
            <a:ext cx="749808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3032" y="2011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926080"/>
            <a:ext cx="17556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JAVÍTÁS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114800"/>
            <a:ext cx="10058400" cy="1005840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4279392"/>
            <a:ext cx="9509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Minden lépésnek legyen bizonyítéka: rajz, mérés, teszt vagy dokumentáció.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1. TANÓRA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Tervezd meg, mielőtt megépíted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A két nyomógomb logikai VAGY kapcsolatot valósít meg.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65960" y="21488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21488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ptos"/>
              </a:rPr>
              <a:t>KÖVETELMÉNY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94760"/>
            <a:ext cx="2606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203B"/>
                </a:solidFill>
                <a:latin typeface="Aptos"/>
              </a:rPr>
              <a:t>S1 vagy S2 kapcsolja H1-et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79" y="21488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79" y="21488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0BED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154680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BED2"/>
                </a:solidFill>
                <a:latin typeface="Aptos"/>
              </a:rPr>
              <a:t>RAJZ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794760"/>
            <a:ext cx="2606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203B"/>
                </a:solidFill>
                <a:latin typeface="Aptos"/>
              </a:rPr>
              <a:t>S1 és S2 párhuzamos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21488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1488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09926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80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09926"/>
                </a:solidFill>
                <a:latin typeface="Aptos"/>
              </a:rPr>
              <a:t>ESZKÖZ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794760"/>
            <a:ext cx="2606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203B"/>
                </a:solidFill>
                <a:latin typeface="Aptos"/>
              </a:rPr>
              <a:t>24 V DC, NO érintkezők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2. TANÓRA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Építsd meg rajz szerint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A kivitelezés minőségét már bekapcsolás előtt ellenőrizni lehet.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108960"/>
            <a:ext cx="9418320" cy="0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2578608"/>
            <a:ext cx="822960" cy="1060704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761488"/>
            <a:ext cx="7680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24 V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2926079"/>
            <a:ext cx="6400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345643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F1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246120" y="2423160"/>
            <a:ext cx="0" cy="6858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46120" y="3108960"/>
            <a:ext cx="0" cy="6858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46120" y="2423160"/>
            <a:ext cx="2468880" cy="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3794760"/>
            <a:ext cx="2468880" cy="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15000" y="2423160"/>
            <a:ext cx="0" cy="13716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886200" y="234086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234086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3968496" y="2130552"/>
            <a:ext cx="539496" cy="292608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03320" y="194767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S1 NO</a:t>
            </a:r>
          </a:p>
        </p:txBody>
      </p:sp>
      <p:sp>
        <p:nvSpPr>
          <p:cNvPr id="20" name="Oval 19"/>
          <p:cNvSpPr/>
          <p:nvPr/>
        </p:nvSpPr>
        <p:spPr>
          <a:xfrm>
            <a:off x="3886200" y="371246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3712464"/>
            <a:ext cx="164592" cy="164592"/>
          </a:xfrm>
          <a:prstGeom prst="ellipse">
            <a:avLst/>
          </a:prstGeom>
          <a:solidFill>
            <a:srgbClr val="0A203B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968496" y="3502152"/>
            <a:ext cx="539496" cy="292608"/>
          </a:xfrm>
          <a:prstGeom prst="line">
            <a:avLst/>
          </a:prstGeom>
          <a:ln w="381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03320" y="331927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203B"/>
                </a:solidFill>
                <a:latin typeface="Aptos"/>
              </a:rPr>
              <a:t>S2 NO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2697479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46720" y="2880360"/>
            <a:ext cx="457200" cy="4572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046720" y="2880360"/>
            <a:ext cx="457200" cy="457200"/>
          </a:xfrm>
          <a:prstGeom prst="line">
            <a:avLst/>
          </a:prstGeom>
          <a:ln w="25400">
            <a:solidFill>
              <a:srgbClr val="0A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18120" y="361188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H1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345643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0 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00600"/>
            <a:ext cx="2423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0392" y="49377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937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82896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vezeték a rajz szerint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800600"/>
            <a:ext cx="2423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39312" y="49377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9312" y="4937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882896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kapcsok rögzítve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800600"/>
            <a:ext cx="2423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8231" y="49377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4937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882896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nincs rövidzár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59" y="4800600"/>
            <a:ext cx="2423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17151" y="49377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1" y="4937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69A69"/>
                </a:solidFill>
                <a:latin typeface="Apto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59" y="4882896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203B"/>
                </a:solidFill>
                <a:latin typeface="Aptos"/>
              </a:rPr>
              <a:t>helyes NO érintkezők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MŰKÖDÉSI PRÓBA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Négy állapot - négy bizonyíték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7830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7830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H1 elvárt állapot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98755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4048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4048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0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24048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4048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3591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B6978"/>
                </a:solidFill>
                <a:latin typeface="Aptos"/>
              </a:rPr>
              <a:t>KI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27248"/>
            <a:ext cx="98755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0" y="324612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246120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0" y="324612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246120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2004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69A69"/>
                </a:solidFill>
                <a:latin typeface="Aptos"/>
              </a:rPr>
              <a:t>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68496"/>
            <a:ext cx="98755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08760" y="40873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087368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0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0" y="40873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087368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041648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69A69"/>
                </a:solidFill>
                <a:latin typeface="Aptos"/>
              </a:rPr>
              <a:t>BE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09744"/>
            <a:ext cx="98755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08760" y="4928616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4928616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1</a:t>
            </a:r>
          </a:p>
        </p:txBody>
      </p:sp>
      <p:sp>
        <p:nvSpPr>
          <p:cNvPr id="29" name="Oval 28"/>
          <p:cNvSpPr/>
          <p:nvPr/>
        </p:nvSpPr>
        <p:spPr>
          <a:xfrm>
            <a:off x="3474720" y="4928616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928616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203B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882896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69A69"/>
                </a:solidFill>
                <a:latin typeface="Aptos"/>
              </a:rPr>
              <a:t>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REJTETT HIBA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 rendszer egyszer csak nem úgy működik.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4572000" cy="3383280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BED2"/>
                </a:solidFill>
                <a:latin typeface="Aptos"/>
              </a:rPr>
              <a:t>TÜNET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4023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S1-ről működik.
S2-ről nem.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05740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AAAF"/>
                </a:solidFill>
                <a:latin typeface="Aptos"/>
              </a:rPr>
              <a:t>Mit NEM csinálunk?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78892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✕  nem cserélünk találomra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47472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✕  nem kötünk át vaktában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16052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✕  nem mérünk cél nélkül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07492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0BED2"/>
                </a:solidFill>
                <a:latin typeface="Aptos"/>
              </a:rPr>
              <a:t>Mérünk → bizonyítunk → javítunk.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3. TANÓRA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 tünetből mérési terv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Aptos"/>
              </a:rPr>
              <a:t>Ha S1 jó, a közös áramút nagy része már bizonyított.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09928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S2 ÁG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709928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03B"/>
                </a:solidFill>
                <a:latin typeface="Aptos"/>
              </a:rPr>
              <a:t>Van-e 24 V az ág bemenetén?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61488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BED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34056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0BED2"/>
                </a:solidFill>
                <a:latin typeface="Aptos"/>
              </a:rPr>
              <a:t>S2 ÉRINTKEZŐ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34056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03B"/>
                </a:solidFill>
                <a:latin typeface="Aptos"/>
              </a:rPr>
              <a:t>Zár-e megnyomáskor?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85616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9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85616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0992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58184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09926"/>
                </a:solidFill>
                <a:latin typeface="Aptos"/>
              </a:rPr>
              <a:t>ÁG KIMENETE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758184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03B"/>
                </a:solidFill>
                <a:latin typeface="Aptos"/>
              </a:rPr>
              <a:t>Megjelenik-e 24 V?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0974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9744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23741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8231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23741"/>
                </a:solidFill>
                <a:latin typeface="Aptos"/>
              </a:rPr>
              <a:t>KÖTÉS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782312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03B"/>
                </a:solidFill>
                <a:latin typeface="Aptos"/>
              </a:rPr>
              <a:t>Eljut-e a közös pontra?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DIAGNÓZIS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A mért értékekből hibahely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S2 bemenet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69A69"/>
                </a:solidFill>
                <a:latin typeface="Aptos"/>
              </a:rPr>
              <a:t>24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S2 kimenet megnyomva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6324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D23741"/>
                </a:solidFill>
                <a:latin typeface="Aptos"/>
              </a:rPr>
              <a:t>0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0624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A203B"/>
                </a:solidFill>
                <a:latin typeface="Aptos"/>
              </a:rPr>
              <a:t>közös pont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20624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D23741"/>
                </a:solidFill>
                <a:latin typeface="Aptos"/>
              </a:rPr>
              <a:t>0 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394960"/>
            <a:ext cx="8412480" cy="621792"/>
          </a:xfrm>
          <a:prstGeom prst="roundRect">
            <a:avLst/>
          </a:prstGeom>
          <a:solidFill>
            <a:srgbClr val="0A203B"/>
          </a:solidFill>
          <a:ln>
            <a:solidFill>
              <a:srgbClr val="0A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5486400"/>
            <a:ext cx="79552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Következtetés: S2 érintkezője vagy közvetlen kötése hibás.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BED2"/>
                </a:solidFill>
                <a:latin typeface="Aptos"/>
              </a:rPr>
              <a:t>ÉRTÉKELÉS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03B"/>
                </a:solidFill>
                <a:latin typeface="Aptos"/>
              </a:rPr>
              <a:t>Nem csak az számít, hogy végül világít-e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47672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F6FEB"/>
                </a:solidFill>
                <a:latin typeface="Aptos"/>
              </a:rP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4767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TERVEZÉS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7830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947672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0BED2"/>
                </a:solidFill>
                <a:latin typeface="Aptos"/>
              </a:rP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94767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DOKUMENTÁCIÓ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830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947672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E09926"/>
                </a:solidFill>
                <a:latin typeface="Aptos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94767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BIZTONSÁG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11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76472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69A69"/>
                </a:solidFill>
                <a:latin typeface="Aptos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7647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MŰKÖDÉS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611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76472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D23741"/>
                </a:solidFill>
                <a:latin typeface="Aptos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77647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HIBAKERESÉS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11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776472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F6FEB"/>
                </a:solidFill>
                <a:latin typeface="Aptos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77647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03B"/>
                </a:solidFill>
                <a:latin typeface="Aptos"/>
              </a:rPr>
              <a:t>ÚJRAELLENŐRZÉS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77840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203B"/>
                </a:solidFill>
                <a:latin typeface="Aptos"/>
              </a:rPr>
              <a:t>A szakmai eredmény: működő rendszer + bizonyított gondolkodás.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Aptos"/>
              </a:rPr>
              <a:t>IAP • Villamos alapismeretek • 9. évfolyam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B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IAP JELVÉNY</a:t>
            </a:r>
          </a:p>
        </p:txBody>
      </p:sp>
      <p:sp>
        <p:nvSpPr>
          <p:cNvPr id="4" name="Oval 3"/>
          <p:cNvSpPr/>
          <p:nvPr/>
        </p:nvSpPr>
        <p:spPr>
          <a:xfrm>
            <a:off x="4251960" y="1234440"/>
            <a:ext cx="3657600" cy="3657600"/>
          </a:xfrm>
          <a:prstGeom prst="ellipse">
            <a:avLst/>
          </a:prstGeom>
          <a:solidFill>
            <a:srgbClr val="0A203B"/>
          </a:solidFill>
          <a:ln w="25400"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51960" y="1234440"/>
            <a:ext cx="3657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663440"/>
            <a:ext cx="5760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RENDSZERÉPÍTŐ ÉS HIBAKERESŐ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530352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CDDEEE"/>
                </a:solidFill>
                <a:latin typeface="Aptos"/>
              </a:rPr>
              <a:t>A rajztól a mérési bizonyítékig végigvitted a teljes folyamatot.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BED2"/>
                </a:solidFill>
                <a:latin typeface="Aptos"/>
              </a:rP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36.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Évzáró összefoglalás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CDDEEE"/>
                </a:solidFill>
                <a:latin typeface="Aptos"/>
              </a:rPr>
              <a:t>A korábbi 32. heti záróanyag kerül a 36. hét helyére.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60520"/>
            <a:ext cx="2331720" cy="74980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4279392"/>
            <a:ext cx="21854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ISMERET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39" y="4160520"/>
            <a:ext cx="2331720" cy="74980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1" y="4279392"/>
            <a:ext cx="21854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MÉRÉS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59" y="4160520"/>
            <a:ext cx="2331720" cy="74980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4279392"/>
            <a:ext cx="21854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BIZTONSÁG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4160520"/>
            <a:ext cx="2331720" cy="749808"/>
          </a:xfrm>
          <a:prstGeom prst="roundRect">
            <a:avLst/>
          </a:prstGeom>
          <a:solidFill>
            <a:srgbClr val="0A203B"/>
          </a:solidFill>
          <a:ln>
            <a:solidFill>
              <a:srgbClr val="20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4279392"/>
            <a:ext cx="21854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SZAKMAI GONDOLKODÁS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607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0BED2"/>
                </a:solidFill>
                <a:latin typeface="Aptos"/>
              </a:rPr>
              <a:t>A 35. hét után már nem különálló fogalmakat látsz - hanem rendszert.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