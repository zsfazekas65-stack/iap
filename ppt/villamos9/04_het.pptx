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025" y="2568922"/>
            <a:ext cx="1885950" cy="295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80373" y="3007072"/>
            <a:ext cx="10031253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sz="4200" b="1" i="0" u="none">
                <a:solidFill>
                  <a:srgbClr val="0F172A"/>
                </a:solidFill>
                <a:latin typeface="Montserrat"/>
              </a:rPr>
              <a:t>A villamosság három alapfogalma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9212" y="3784252"/>
            <a:ext cx="9553575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475569"/>
                </a:solidFill>
                <a:latin typeface="Open Sans"/>
              </a:rPr>
              <a:t>Villamos alapismeretek • Feszültség, áramerősség, ellenállás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12" y="2852737"/>
            <a:ext cx="9553575" cy="2009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57362" y="3233737"/>
            <a:ext cx="8734425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50"/>
              </a:lnSpc>
            </a:pPr>
            <a:r>
              <a:rPr sz="2250" b="0" i="0" u="none">
                <a:solidFill>
                  <a:srgbClr val="1E40AF"/>
                </a:solidFill>
                <a:latin typeface="Montserrat SemiBold"/>
              </a:rPr>
              <a:t>„A jó szakember nem a képleteket tanulja meg, hanem a jelenségeket érti meg.”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7362" y="4224337"/>
            <a:ext cx="873442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1E40AF"/>
                </a:solidFill>
                <a:latin typeface="Open Sans"/>
              </a:rPr>
              <a:t>Fókuszban a villamos alapfogalmak szemléletes megértése.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IAA Útravaló</a:t>
            </a:r>
          </a:p>
        </p:txBody>
      </p:sp>
      <p:sp>
        <p:nvSpPr>
          <p:cNvPr id="7" name="Rectangle 6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686050"/>
            <a:ext cx="3555950" cy="2343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50" y="2686050"/>
            <a:ext cx="3555950" cy="23431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9650" y="2686050"/>
            <a:ext cx="3555950" cy="2343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3900" y="3543300"/>
            <a:ext cx="230028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Montserrat"/>
              </a:rPr>
              <a:t>Három alapfogalom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3895725"/>
            <a:ext cx="30606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Megismerni a feszültséget, az áramerősséget és az ellenállást.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5600" y="3543300"/>
            <a:ext cx="2170271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Montserrat"/>
              </a:rPr>
              <a:t>Gyakorlati jelentés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5600" y="3895725"/>
            <a:ext cx="30606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Ne képleteket magoljunk, hanem értsük meg a fizikai hátteret és a kapcsolatokat.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7300" y="3543300"/>
            <a:ext cx="134016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Montserrat"/>
              </a:rPr>
              <a:t>Alkalmazás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7300" y="3895725"/>
            <a:ext cx="30606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Képesek legyünk összekötni a fogalmakat a mindennapi villamos eszközökkel.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000375"/>
            <a:ext cx="304800" cy="3429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5600" y="3000375"/>
            <a:ext cx="342900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0" y="3000375"/>
            <a:ext cx="257175" cy="342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A hét célja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9625" y="3000375"/>
            <a:ext cx="1090612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Megnevezni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a három alapvető villamos mennyiséget.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9625" y="3429000"/>
            <a:ext cx="1090612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Megadni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azok hivatalos mértékegységét (Volt, Amper, Ohm).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625" y="3857625"/>
            <a:ext cx="1090612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Egyszerű példákkal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elmagyarázni a jelentésüket.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625" y="4286250"/>
            <a:ext cx="1090612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Felismerni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, hogy a három mennyiség szorosan összefügg egymással.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014662"/>
            <a:ext cx="1905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443287"/>
            <a:ext cx="19050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871912"/>
            <a:ext cx="190500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4300537"/>
            <a:ext cx="190500" cy="200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A hét végére a tanuló képes lesz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325" y="2395537"/>
            <a:ext cx="895350" cy="295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75835" y="2833687"/>
            <a:ext cx="264033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050" b="1" i="0" u="none">
                <a:solidFill>
                  <a:srgbClr val="1E3A8A"/>
                </a:solidFill>
                <a:latin typeface="Montserrat"/>
              </a:rPr>
              <a:t>Óravázlat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843337"/>
            <a:ext cx="1143000" cy="571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91050" y="4090987"/>
            <a:ext cx="30099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A 4. hét három tanórájának felépítése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76250" y="2333625"/>
            <a:ext cx="11239500" cy="304800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6250" y="2333625"/>
          <a:ext cx="112395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FFFFF"/>
                          </a:solidFill>
                          <a:latin typeface="Montserrat SemiBold"/>
                        </a:rPr>
                        <a:t>Tanóra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FFFFF"/>
                          </a:solidFill>
                          <a:latin typeface="Montserrat SemiBold"/>
                        </a:rPr>
                        <a:t>Tartalom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334155"/>
                          </a:solidFill>
                          <a:latin typeface="Open Sans"/>
                        </a:rPr>
                        <a:t>1. tanóra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334155"/>
                          </a:solidFill>
                          <a:latin typeface="Open Sans"/>
                        </a:rPr>
                        <a:t>Feszültség:</a:t>
                      </a:r>
                      <a:r>
                        <a:rPr sz="135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 fogalma, kialakulása, feszültségforrások (1,5 V elem, 9 V elem, 230 V hálózat), mértékegysége: volt (V).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334155"/>
                          </a:solidFill>
                          <a:latin typeface="Open Sans"/>
                        </a:rPr>
                        <a:t>2. tanóra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334155"/>
                          </a:solidFill>
                          <a:latin typeface="Open Sans"/>
                        </a:rPr>
                        <a:t>Áramerősség:</a:t>
                      </a:r>
                      <a:r>
                        <a:rPr sz="135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 az elektromos áram fogalma, áramerősség, mértékegysége: amper (A), példák különböző fogyasztók áramfelvételére.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334155"/>
                          </a:solidFill>
                          <a:latin typeface="Open Sans"/>
                        </a:rPr>
                        <a:t>3. tanóra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 i="0" u="none">
                          <a:solidFill>
                            <a:srgbClr val="334155"/>
                          </a:solidFill>
                          <a:latin typeface="Open Sans"/>
                        </a:rPr>
                        <a:t>Ellenállás:</a:t>
                      </a:r>
                      <a:r>
                        <a:rPr sz="1350" b="0" i="0" u="none">
                          <a:solidFill>
                            <a:srgbClr val="334155"/>
                          </a:solidFill>
                          <a:latin typeface="Open Sans"/>
                        </a:rPr>
                        <a:t> fogalma, szerepe, mértékegysége: ohm (Ω), különböző ellenállások és LED előtétellenállás bemutatása.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76250" y="2890837"/>
            <a:ext cx="22479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24150" y="2890837"/>
            <a:ext cx="8991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6250" y="3719512"/>
            <a:ext cx="22479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24150" y="3719512"/>
            <a:ext cx="8991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6250" y="4548187"/>
            <a:ext cx="22479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24150" y="4548187"/>
            <a:ext cx="8991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Óravázlat – Heti ütemezés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190750"/>
            <a:ext cx="542925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6250" y="2190750"/>
            <a:ext cx="5700712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E3A8A"/>
                </a:solidFill>
                <a:latin typeface="Montserrat"/>
              </a:rPr>
              <a:t>Kártyás párosító feladat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250" y="2524125"/>
            <a:ext cx="5429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Feladat: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A tanulók kártyák segítségével párosítják a villamos mennyiségeket (feszültség, áramerősség, ellenállás), a mértékegységeket és a gyakorlati példáikat.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" y="3409950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Szemléltetés: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Multiméterek, elemek, ellenállások és vezetékek kézzelfogható vizsgálata a tanteremben.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190750"/>
            <a:ext cx="5429250" cy="3333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Mini gyakorlat és szemléltetés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190750"/>
            <a:ext cx="542925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6250" y="2190750"/>
            <a:ext cx="5700712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E3A8A"/>
                </a:solidFill>
                <a:latin typeface="Montserrat"/>
              </a:rPr>
              <a:t>Ellenállások és LED-ek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250" y="2524125"/>
            <a:ext cx="5429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Valódi alkatrészek: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A tanulók kézbe veszik a különböző ellenállásokat és megnézik, hogyan védik meg a LED-eket az előtétellenállások.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" y="3409950"/>
            <a:ext cx="5429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Szakmai fókusz: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A méretezés és a biztonság alapköveinek vizuális megtapasztalása.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190750"/>
            <a:ext cx="5429250" cy="3333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Alkatrészek a gyakorlatban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781300"/>
            <a:ext cx="5429250" cy="21526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781300"/>
            <a:ext cx="5429250" cy="1638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1525" y="3076575"/>
            <a:ext cx="508063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Montserrat"/>
              </a:rPr>
              <a:t>Tipikus tévhitek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3495675"/>
            <a:ext cx="4838700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• A feszültség és az áram ugyanaz.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• Minél nagyobb a feszültség, annál nagyobb az áram.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• Az ellenállás „elfogyasztja” az áramot.</a:t>
            </a:r>
            <a:r>
              <a:t>
</a:t>
            </a:r>
            <a:r>
              <a:rPr sz="1350" b="0" i="1" u="none">
                <a:solidFill>
                  <a:srgbClr val="334155"/>
                </a:solidFill>
                <a:latin typeface="Open Sans"/>
              </a:rPr>
              <a:t>Ezeket kísérletekkel tisztázzuk!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3076575"/>
            <a:ext cx="508063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Montserrat"/>
              </a:rPr>
              <a:t>Érdekesség: Áramfelvétel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495675"/>
            <a:ext cx="48387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Tudtad?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Egy hajszárító kb. 8–10 A áramot vesz fel, míg egy LED-lámpa gyakran csak néhány tized ampert igényel.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Tévhitek tisztázása &amp; Érdekesség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686050"/>
            <a:ext cx="3555950" cy="2343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50" y="2686050"/>
            <a:ext cx="3555950" cy="23431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9650" y="2686050"/>
            <a:ext cx="3555950" cy="2343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3900" y="3543300"/>
            <a:ext cx="108013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Montserrat"/>
              </a:rPr>
              <a:t>Értékelés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3895725"/>
            <a:ext cx="30606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Szóbeli kérdések és kártyás feladat. A cél a fogalmak biztos megértése, nem a számolás.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5600" y="3543300"/>
            <a:ext cx="2820352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Montserrat"/>
              </a:rPr>
              <a:t>Nincs még Ohm-törvény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5600" y="3895725"/>
            <a:ext cx="30606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Ezen a héten még nem vezetjük be az Ohm-törvényt. A hangsúly a fogalmak helyes értelmezésén van.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7300" y="3543300"/>
            <a:ext cx="1650206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Montserrat"/>
              </a:rPr>
              <a:t>Következő hét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7300" y="3895725"/>
            <a:ext cx="30606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Jövő héten összekapcsoljuk a három alapfogalmat az Ohm-törvény keretében.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000375"/>
            <a:ext cx="257175" cy="3429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5600" y="3000375"/>
            <a:ext cx="390525" cy="342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0" y="3000375"/>
            <a:ext cx="304800" cy="342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Értékelés és oktatói irányelvek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12" y="2852737"/>
            <a:ext cx="9553575" cy="2009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57362" y="3233737"/>
            <a:ext cx="8734425" cy="800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50"/>
              </a:lnSpc>
            </a:pPr>
            <a:r>
              <a:rPr sz="2250" b="0" i="0" u="none">
                <a:solidFill>
                  <a:srgbClr val="166534"/>
                </a:solidFill>
                <a:latin typeface="Montserrat SemiBold"/>
              </a:rPr>
              <a:t>„A biztos tudás mindig a fogalmak megértésével kezdődik.”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7362" y="4224337"/>
            <a:ext cx="873442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166534"/>
                </a:solidFill>
                <a:latin typeface="Open Sans"/>
              </a:rPr>
              <a:t>IAA Villamos Alapismeretek – 4. hét zárás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" y="476250"/>
            <a:ext cx="11715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1E3A8A"/>
                </a:solidFill>
                <a:latin typeface="Montserrat"/>
              </a:rPr>
              <a:t>A hét záró gondolata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76250" y="1019175"/>
            <a:ext cx="11239500" cy="2857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437</Words>
  <Application>Microsoft Office PowerPoint</Application>
  <PresentationFormat>Szélesvásznú</PresentationFormat>
  <Paragraphs>51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7" baseType="lpstr">
      <vt:lpstr>Arial</vt:lpstr>
      <vt:lpstr>Calibri</vt:lpstr>
      <vt:lpstr>Montserrat</vt:lpstr>
      <vt:lpstr>Montserrat SemiBold</vt:lpstr>
      <vt:lpstr>Open Sans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keywords/>
  <dc:description>generated using python-pptx</dc:description>
  <cp:lastModifiedBy>zsolt Fazekas</cp:lastModifiedBy>
  <cp:revision>2</cp:revision>
  <dcterms:created xsi:type="dcterms:W3CDTF">2013-01-27T09:14:16Z</dcterms:created>
  <dcterms:modified xsi:type="dcterms:W3CDTF">2026-07-25T05:45:06Z</dcterms:modified>
  <cp:category/>
</cp:coreProperties>
</file>