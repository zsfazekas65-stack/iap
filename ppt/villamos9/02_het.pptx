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b="1" sz="3600">
                <a:solidFill>
                  <a:srgbClr val="17365D"/>
                </a:solidFill>
                <a:latin typeface="Aptos Display"/>
              </a:defRPr>
            </a:pPr>
            <a:r>
              <a:rPr sz="2700" b="1">
                <a:solidFill>
                  <a:srgbClr val="1F2937"/>
                </a:solidFill>
                <a:latin typeface="Aptos"/>
              </a:rPr>
              <a:t>Villamos alapismeretek</a:t>
            </a:r>
          </a:p>
          <a:p>
            <a:pPr algn="ctr">
              <a:spcAft>
                <a:spcPts val="200"/>
              </a:spcAft>
            </a:pPr>
            <a:r>
              <a:rPr sz="2700" b="0">
                <a:solidFill>
                  <a:srgbClr val="1F2937"/>
                </a:solidFill>
                <a:latin typeface="Aptos"/>
              </a:rPr>
              <a:t>2. hét – A villamos energia tisztelete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3063240"/>
            <a:ext cx="8321040" cy="114300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IAP útravaló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Aptos"/>
              </a:rPr>
              <a:t>„A biztonság nem szabály. A biztonság a jó szakember első tulajdonsága.”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754880"/>
            <a:ext cx="58521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1600">
                <a:solidFill>
                  <a:srgbClr val="2E2E2E"/>
                </a:solidFill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9. évfolyam • 3 × 45 perc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A világ nagy kérdése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600200"/>
            <a:ext cx="10241280" cy="192024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Miért veszélyes a villamos energia?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Aptos"/>
              </a:rPr>
              <a:t>A villamos energia nélkülözhetetlen, de hibás használat mellett áramütést, zárlatot vagy tüzet okozhat. A jó szakember nem fél tőle – érti és tiszteli.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069080"/>
            <a:ext cx="8138160" cy="105156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Beszéljük meg!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Aptos"/>
              </a:rPr>
              <a:t>Hol találkoztál már veszélyes villamos helyzettel? Mit kellett volna másképp csinálni?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Hol találkozunk villamos veszéllyel?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buChar char="•"/>
              <a:defRPr sz="2000">
                <a:solidFill>
                  <a:srgbClr val="2E2E2E"/>
                </a:solidFill>
                <a:latin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</a:rPr>
              <a:t>Otthon – sérült hosszabbító, túlterhelt elosztó, nedves kézzel használt eszköz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Iskolában – műhely, oktatópanel, mérővezetékek, csatlakozók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Közlekedésben – akkumulátorok, töltők, elektromos járművek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Iparban – gépek, motorok, kapcsolószekrények, vezérlések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A veszély sokszor nem látványos – ezért kell figyelni.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A leggyakoribb veszélyforrások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05840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buChar char="•"/>
              <a:defRPr sz="2100">
                <a:solidFill>
                  <a:srgbClr val="2E2E2E"/>
                </a:solidFill>
                <a:latin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</a:rPr>
              <a:t>Áramütés – a testen átfolyó áram sérülést okozhat.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Zárlat – hibás vezeték vagy rossz kötés nagy áramot indíthat.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Tűzveszély – túlmelegedés, túlterhelés, sérült szigetelés.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Sérült eszköz – repedt burkolat, kilátszó vezeték, bizonytalan csatlakozás.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Rendetlenség – botlás, hibás mozdulat, rossz eszközhasználat.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257800"/>
            <a:ext cx="8595360" cy="77724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Fontos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Aptos"/>
              </a:rPr>
              <a:t>A villamos veszélyt nem mindig lehet látni. A szabályokat ezért akkor is be kell tartani, amikor minden rendben lévőnek tűnik.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Műhelytitok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201168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700" b="1">
                <a:solidFill>
                  <a:srgbClr val="1F2937"/>
                </a:solidFill>
                <a:latin typeface="Aptos"/>
              </a:rPr>
              <a:t>A jó szakember nem akkor lesz biztonságos, amikor már baj történt.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A biztonság a munka megkezdése előtt kezdődik: körülnéz, gondolkodik, ellenőriz, és csak utána nyúl az eszközhöz.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4124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buChar char="•"/>
              <a:defRPr sz="1800">
                <a:solidFill>
                  <a:srgbClr val="2E2E2E"/>
                </a:solidFill>
                <a:latin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</a:rPr>
              <a:t>Állj meg!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Nézd meg a környezetet!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Ismerd fel a veszélyt!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Kérdezz, ha bizonytalan vagy!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Csak biztonságos helyzetben dolgozz!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A biztonságos munkavégzés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F75B5"/>
                </a:solidFill>
                <a:latin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</a:rPr>
              <a:t>A szabály nem akadály – hanem védelem.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Feszültségmentesítés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Biztonságos, ellenőrzött állapot.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Rend a munkahelyen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Átlátható környezet.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Megfelelő eszköz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Ép szerszám és vezeték.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Védőeszköz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Nem dísz, hanem védelem.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069080"/>
            <a:ext cx="6675120" cy="109728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Szakmai fegyelem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Aptos"/>
              </a:rPr>
              <a:t>Nem kapkodunk, nem kockáztatunk.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600" b="1">
                <a:solidFill>
                  <a:srgbClr val="1F2937"/>
                </a:solidFill>
                <a:latin typeface="Aptos"/>
              </a:rPr>
              <a:t>Mini gyakorlat – biztonságos vagy veszélyes?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1560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Feladat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Aptos"/>
              </a:rPr>
              <a:t>Nézzetek meg feszültségmentes, biztonságos eszközöket, vezetékeket és csatlakozókat. Döntsétek el: biztonságos vagy veszélyes lenne így használni?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200"/>
              </a:spcAft>
              <a:defRPr b="1" sz="1600">
                <a:solidFill>
                  <a:srgbClr val="17365D"/>
                </a:solidFill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NÉZD MEG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4368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200"/>
              </a:spcAft>
              <a:defRPr b="1" sz="1600">
                <a:solidFill>
                  <a:srgbClr val="17365D"/>
                </a:solidFill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ISMERD FEL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48656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200"/>
              </a:spcAft>
              <a:defRPr b="1" sz="1600">
                <a:solidFill>
                  <a:srgbClr val="17365D"/>
                </a:solidFill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DÖNTSD 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200"/>
              </a:spcAft>
              <a:defRPr b="1" sz="1600">
                <a:solidFill>
                  <a:srgbClr val="17365D"/>
                </a:solidFill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INDOKOLD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7232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Aft>
                <a:spcPts val="200"/>
              </a:spcAft>
              <a:defRPr b="1" sz="1600">
                <a:solidFill>
                  <a:srgbClr val="17365D"/>
                </a:solidFill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JAVASOLJ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09160"/>
            <a:ext cx="8503920" cy="86868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</a:rPr>
              <a:t>Most még nem javítunk és nem kötünk.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Aptos"/>
              </a:rPr>
              <a:t>A cél a veszély felismerése és a felelős döntés gyakorlása.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600" b="1">
                <a:solidFill>
                  <a:srgbClr val="1F2937"/>
                </a:solidFill>
                <a:latin typeface="Aptos"/>
              </a:rPr>
              <a:t>Egyéni védőeszközök és felelősség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buChar char="•"/>
              <a:defRPr sz="2100">
                <a:solidFill>
                  <a:srgbClr val="2E2E2E"/>
                </a:solidFill>
                <a:latin typeface="Aptos"/>
              </a:defRPr>
            </a:pPr>
            <a:r>
              <a:rPr sz="1700" b="1">
                <a:solidFill>
                  <a:srgbClr val="1F2937"/>
                </a:solidFill>
                <a:latin typeface="Aptos"/>
              </a:rPr>
              <a:t>Szigetelt szerszám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Védőszemüveg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Megfelelő munkaruha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Zárt cipő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Szükség esetén kesztyű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Rendezett munkaterület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4937760" cy="338328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400" b="1">
                <a:solidFill>
                  <a:srgbClr val="1F2937"/>
                </a:solidFill>
                <a:latin typeface="Aptos"/>
              </a:rPr>
              <a:t>Miért fontos?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Aptos"/>
              </a:rPr>
              <a:t>A védőeszköz nem helyettesíti a tudást, de segít megelőzni a sérülést. A szakember nemcsak magáért felel, hanem a társaiért 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572000"/>
            <a:ext cx="4937760" cy="96012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400" b="1">
                <a:solidFill>
                  <a:srgbClr val="1F2937"/>
                </a:solidFill>
                <a:latin typeface="Aptos"/>
              </a:rPr>
              <a:t>IAP alapelv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Aptos"/>
              </a:rPr>
              <a:t>A biztonságos munka a szakmai minőség része.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Szakmai szókincs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Áramütés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A testen áthaladó villamos áram veszélyes hatása.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Zárlat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Hibás áramút, amely túl nagy áramot okozhat.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3756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Feszültségmentesítés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Leválasztott és ellenőrzött állapot.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3756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300" b="1">
                <a:solidFill>
                  <a:srgbClr val="1F2937"/>
                </a:solidFill>
                <a:latin typeface="Aptos"/>
              </a:rPr>
              <a:t>Egyéni védőeszköz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A munkavégző testi épségét védi.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Tipikus kezdő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buChar char="•"/>
              <a:defRPr sz="1900">
                <a:solidFill>
                  <a:srgbClr val="2E2E2E"/>
                </a:solidFill>
                <a:latin typeface="Aptos"/>
              </a:defRPr>
            </a:pPr>
            <a:r>
              <a:rPr sz="1700" b="1">
                <a:solidFill>
                  <a:srgbClr val="1F2937"/>
                </a:solidFill>
                <a:latin typeface="Aptos"/>
              </a:rPr>
              <a:t>„Csak egy pillanat, nem lehet baj.” → Egy pillanat is elég.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„Ránézésre jó.” → A villamos hiba nem mindig látható.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„Majd megfogom óvatosan.” → A szabály nem óvatosság kérdése.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„Más is így szokta.” → A rossz szokás nem szakmai érv.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„Nem kérdezek.” → A kérdés sokszor balesetet előz meg.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Önellenőrzés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0584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buChar char="•"/>
              <a:defRPr sz="2000">
                <a:solidFill>
                  <a:srgbClr val="2E2E2E"/>
                </a:solidFill>
                <a:latin typeface="Aptos"/>
              </a:defRPr>
            </a:pPr>
            <a:r>
              <a:rPr sz="1700" b="1">
                <a:solidFill>
                  <a:srgbClr val="1F2937"/>
                </a:solidFill>
                <a:latin typeface="Aptos"/>
              </a:rPr>
              <a:t>Miért lehet veszélyes a villamos energia?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Melyek a leggyakoribb villamos veszélyforrások?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Mit jelent a feszültségmentesítés?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Milyen egyéni védőeszközöket használhat egy villanyszerelő?</a:t>
            </a:r>
          </a:p>
          <a:p>
            <a:pPr>
              <a:spcAft>
                <a:spcPts val="200"/>
              </a:spcAft>
            </a:pPr>
            <a:r>
              <a:rPr sz="1700" b="0">
                <a:solidFill>
                  <a:srgbClr val="1F2937"/>
                </a:solidFill>
                <a:latin typeface="Aptos"/>
              </a:rPr>
              <a:t>Mit jelent a felelősségteljes szakmai magatartás?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74920"/>
            <a:ext cx="9418320" cy="86868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Saját célom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Aptos"/>
              </a:rPr>
              <a:t>Ettől a héttől kezdve a műhelyben mindig figyelek erre: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rPr sz="2800" b="1">
                <a:solidFill>
                  <a:srgbClr val="1F2937"/>
                </a:solidFill>
                <a:latin typeface="Aptos"/>
              </a:rP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141732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3. hét – Villamos alapfogalmak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Aptos"/>
              </a:rPr>
              <a:t>Megismerjük a feszültség, az áramerősség és az ellenállás jelentését, és elkezdjük szakmai nyelven értelmezni az egyszerű áramköröket.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3429000"/>
            <a:ext cx="9052560" cy="114300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>
            <a:normAutofit/>
          </a:bodyPr>
          <a:lstStyle/>
          <a:p>
            <a:pPr algn="ctr">
              <a:spcAft>
                <a:spcPts val="200"/>
              </a:spcAft>
              <a:defRPr b="1" sz="1700">
                <a:solidFill>
                  <a:srgbClr val="17365D"/>
                </a:solidFill>
                <a:latin typeface="Aptos"/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A fejlődési út folytatódik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F2937"/>
                </a:solidFill>
                <a:latin typeface="Aptos"/>
              </a:rPr>
              <a:t>Megfigyelés → biztonság → alapfogalmak → egyszerű áramkörök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074920"/>
            <a:ext cx="83210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i="1" sz="1700">
                <a:solidFill>
                  <a:srgbClr val="17365D"/>
                </a:solidFill>
              </a:defRPr>
            </a:pPr>
            <a:r>
              <a:rPr sz="1600" b="1">
                <a:solidFill>
                  <a:srgbClr val="1F2937"/>
                </a:solidFill>
                <a:latin typeface="Aptos"/>
              </a:rPr>
              <a:t>„A villamos szakma első lépése a biztonság. A következő lépés, hogy megértsük, mi történik az áramkörben.”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IAP • 9. évfolyam • Villamos alapismeretek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rPr sz="700" b="0">
                <a:solidFill>
                  <a:srgbClr val="5A647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