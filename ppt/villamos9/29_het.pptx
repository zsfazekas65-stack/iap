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Roboto" panose="02000000000000000000" pitchFamily="2" charset="0"/>
      <p:regular r:id="rId16"/>
    </p:embeddedFont>
    <p:embeddedFont>
      <p:font typeface="Roboto Bold" panose="02000000000000000000" charset="0"/>
      <p:regular r:id="rId17"/>
    </p:embeddedFont>
    <p:embeddedFont>
      <p:font typeface="Roboto Slab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8681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9ECF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68952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Miért kell földelni?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563640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védővezető és az érintésvédelem alapjai —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9. évfolyam, Villamos alapismeretek, 29. hét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Az L, N és PE vezetők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3201" y="2656979"/>
            <a:ext cx="2175019" cy="24180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49205" y="2871391"/>
            <a:ext cx="164460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6B35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 — Fázis (barna)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4949205" y="3650952"/>
            <a:ext cx="164460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áramot szállítja a készülékhez. Ez az „aktív" vezető.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7227" y="2656979"/>
            <a:ext cx="2175118" cy="24180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13231" y="2871391"/>
            <a:ext cx="164470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4E89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 — Nulla (kék)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7313231" y="3650952"/>
            <a:ext cx="164470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áramot visszavezeti a hálózatba. Együtt dolgozik az L-lel.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1353" y="2656979"/>
            <a:ext cx="2175118" cy="24180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77356" y="2871391"/>
            <a:ext cx="164470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ABC9C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 — Védő (zöld/sárga)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9677356" y="3650952"/>
            <a:ext cx="164470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Biztonsági kapcsolat a földdel. Hiba esetén véd az áramütéstől.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9ECF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03336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 a testszárlat?</a:t>
            </a:r>
            <a:endParaRPr lang="en-US" sz="3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1907480"/>
            <a:ext cx="945035" cy="139154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95517" y="2096492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Normál állapot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1795517" y="2505174"/>
            <a:ext cx="516281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fázis­vezető csak az áramkörben folyik — a fémtest feszültségmentes.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299023"/>
            <a:ext cx="945035" cy="139154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795517" y="3488035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Sérült szigetelés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1795517" y="3896717"/>
            <a:ext cx="516281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fázisvezető hozzáér a készülék fémtestéhez — veszélyes feszültség jelenik meg.</a:t>
            </a:r>
            <a:endParaRPr lang="en-US" sz="14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4690566"/>
            <a:ext cx="945035" cy="113407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795517" y="4879578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Testszárlat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1795517" y="5288260"/>
            <a:ext cx="51628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ember megérinti a fémtestet — áramütés veszélye áll fenn.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2655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Hogyan véd a PE vezető?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635" y="2026245"/>
            <a:ext cx="4900887" cy="29087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77736" y="4142985"/>
            <a:ext cx="1218262" cy="469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ÁVK lekapcsol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3542392" y="4260330"/>
            <a:ext cx="1218262" cy="234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Áram a PE-n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982016" y="4260330"/>
            <a:ext cx="1218262" cy="234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Testszárlat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61475" y="5126930"/>
            <a:ext cx="691130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PE vezető biztonsági útvonalat biztosít: az áram emberek helyett a földbe folyik, az ÁVK pedig azonnal lekapcsol.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017270" y="1611610"/>
            <a:ext cx="3519201" cy="1370211"/>
          </a:xfrm>
          <a:prstGeom prst="roundRect">
            <a:avLst>
              <a:gd name="adj" fmla="val 1966"/>
            </a:avLst>
          </a:prstGeom>
          <a:solidFill>
            <a:srgbClr val="E9ECF2"/>
          </a:solidFill>
          <a:ln/>
        </p:spPr>
      </p:sp>
      <p:sp>
        <p:nvSpPr>
          <p:cNvPr id="9" name="Text 6"/>
          <p:cNvSpPr/>
          <p:nvPr/>
        </p:nvSpPr>
        <p:spPr>
          <a:xfrm>
            <a:off x="8196752" y="1791097"/>
            <a:ext cx="316023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1. lépés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196752" y="2242145"/>
            <a:ext cx="316023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Testszárlat keletkezik — feszültség jelenik meg a fémtesten.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017270" y="3152378"/>
            <a:ext cx="3519201" cy="1370211"/>
          </a:xfrm>
          <a:prstGeom prst="roundRect">
            <a:avLst>
              <a:gd name="adj" fmla="val 1966"/>
            </a:avLst>
          </a:prstGeom>
          <a:solidFill>
            <a:srgbClr val="E9ECF2"/>
          </a:solidFill>
          <a:ln/>
        </p:spPr>
      </p:sp>
      <p:sp>
        <p:nvSpPr>
          <p:cNvPr id="12" name="Text 9"/>
          <p:cNvSpPr/>
          <p:nvPr/>
        </p:nvSpPr>
        <p:spPr>
          <a:xfrm>
            <a:off x="8196752" y="3331865"/>
            <a:ext cx="316023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2. lépés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8196752" y="3782913"/>
            <a:ext cx="316023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áram a PE vezetőn keresztül a földbe folyik.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017270" y="4693146"/>
            <a:ext cx="3519201" cy="1370211"/>
          </a:xfrm>
          <a:prstGeom prst="roundRect">
            <a:avLst>
              <a:gd name="adj" fmla="val 1966"/>
            </a:avLst>
          </a:prstGeom>
          <a:solidFill>
            <a:srgbClr val="E9ECF2"/>
          </a:solidFill>
          <a:ln/>
        </p:spPr>
      </p:sp>
      <p:sp>
        <p:nvSpPr>
          <p:cNvPr id="15" name="Text 12"/>
          <p:cNvSpPr/>
          <p:nvPr/>
        </p:nvSpPr>
        <p:spPr>
          <a:xfrm>
            <a:off x="8196752" y="4872633"/>
            <a:ext cx="316023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3. lépés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8196752" y="5323681"/>
            <a:ext cx="316023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ÁVK azonnal lekapcsol — </a:t>
            </a:r>
            <a:r>
              <a:rPr lang="en-US" sz="14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te biztonságban vagy.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9ECF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2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43930"/>
            <a:ext cx="6296860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 zöld/sárga szín jelentése</a:t>
            </a:r>
            <a:endParaRPr lang="en-US" sz="3500" dirty="0"/>
          </a:p>
        </p:txBody>
      </p:sp>
      <p:sp>
        <p:nvSpPr>
          <p:cNvPr id="5" name="Shape 2"/>
          <p:cNvSpPr/>
          <p:nvPr/>
        </p:nvSpPr>
        <p:spPr>
          <a:xfrm>
            <a:off x="5233360" y="1460996"/>
            <a:ext cx="3063104" cy="2571353"/>
          </a:xfrm>
          <a:prstGeom prst="roundRect">
            <a:avLst>
              <a:gd name="adj" fmla="val 1048"/>
            </a:avLst>
          </a:prstGeom>
          <a:solidFill>
            <a:srgbClr val="E9ECF2"/>
          </a:solidFill>
          <a:ln/>
        </p:spPr>
      </p:sp>
      <p:sp>
        <p:nvSpPr>
          <p:cNvPr id="6" name="Shape 3"/>
          <p:cNvSpPr/>
          <p:nvPr/>
        </p:nvSpPr>
        <p:spPr>
          <a:xfrm>
            <a:off x="5412843" y="1640483"/>
            <a:ext cx="538645" cy="538659"/>
          </a:xfrm>
          <a:prstGeom prst="ellipse">
            <a:avLst/>
          </a:prstGeom>
          <a:solidFill>
            <a:srgbClr val="476FD6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60973" y="1788517"/>
            <a:ext cx="242385" cy="2423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12843" y="2349698"/>
            <a:ext cx="270413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Nemzetközi szabvány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5412843" y="2732484"/>
            <a:ext cx="2704139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PE vezető </a:t>
            </a:r>
            <a:r>
              <a:rPr lang="en-US" sz="14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mindig zöld/sárga csíkos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ez az egész világon egységes azonosítás.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467017" y="1460996"/>
            <a:ext cx="3063203" cy="2571353"/>
          </a:xfrm>
          <a:prstGeom prst="roundRect">
            <a:avLst>
              <a:gd name="adj" fmla="val 1048"/>
            </a:avLst>
          </a:prstGeom>
          <a:solidFill>
            <a:srgbClr val="E9ECF2"/>
          </a:solidFill>
          <a:ln/>
        </p:spPr>
      </p:sp>
      <p:sp>
        <p:nvSpPr>
          <p:cNvPr id="11" name="Shape 7"/>
          <p:cNvSpPr/>
          <p:nvPr/>
        </p:nvSpPr>
        <p:spPr>
          <a:xfrm>
            <a:off x="8646499" y="1640483"/>
            <a:ext cx="538645" cy="538659"/>
          </a:xfrm>
          <a:prstGeom prst="ellipse">
            <a:avLst/>
          </a:prstGeom>
          <a:solidFill>
            <a:srgbClr val="476FD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94629" y="1788517"/>
            <a:ext cx="242385" cy="2423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46499" y="2349698"/>
            <a:ext cx="270423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Könnyű felismerni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8646499" y="2732484"/>
            <a:ext cx="2704239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színjelölés célja, hogy szereléskor vagy ellenőrzéskor </a:t>
            </a:r>
            <a:r>
              <a:rPr lang="en-US" sz="14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azonnal látható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legyen a védővezető.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233360" y="4202906"/>
            <a:ext cx="6296860" cy="2011164"/>
          </a:xfrm>
          <a:prstGeom prst="roundRect">
            <a:avLst>
              <a:gd name="adj" fmla="val 1339"/>
            </a:avLst>
          </a:prstGeom>
          <a:solidFill>
            <a:srgbClr val="E9ECF2"/>
          </a:solidFill>
          <a:ln/>
        </p:spPr>
      </p:sp>
      <p:sp>
        <p:nvSpPr>
          <p:cNvPr id="16" name="Shape 11"/>
          <p:cNvSpPr/>
          <p:nvPr/>
        </p:nvSpPr>
        <p:spPr>
          <a:xfrm>
            <a:off x="5412843" y="4382393"/>
            <a:ext cx="538645" cy="538659"/>
          </a:xfrm>
          <a:prstGeom prst="ellipse">
            <a:avLst/>
          </a:prstGeom>
          <a:solidFill>
            <a:srgbClr val="476FD6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60973" y="4530427"/>
            <a:ext cx="242385" cy="24239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12843" y="5091609"/>
            <a:ext cx="593789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Tilos más célra használni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5412843" y="5474395"/>
            <a:ext cx="593789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zöld/sárga vezető </a:t>
            </a:r>
            <a:r>
              <a:rPr lang="en-US" sz="14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kizárólag PE-ként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alkalmazható — más célra való felhasználása szigorúan tilos.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9820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Miért nem ráz meg a mosógép?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56" y="1628775"/>
            <a:ext cx="4417307" cy="44174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55833" y="1771749"/>
            <a:ext cx="639022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mosógép fém burkolata a </a:t>
            </a:r>
            <a:r>
              <a:rPr lang="en-US" sz="14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PE vezetővel van összekötve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Ez azt jelenti: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755833" y="2243733"/>
            <a:ext cx="404009" cy="404019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6" name="Text 3"/>
          <p:cNvSpPr/>
          <p:nvPr/>
        </p:nvSpPr>
        <p:spPr>
          <a:xfrm>
            <a:off x="5823201" y="2277418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330395" y="2305447"/>
            <a:ext cx="520607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Meghibásodás esetén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330395" y="2756495"/>
            <a:ext cx="520607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áram nem a tested, hanem a PE vezető útján folyik le a földbe.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755833" y="3377704"/>
            <a:ext cx="404009" cy="404019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0" name="Text 7"/>
          <p:cNvSpPr/>
          <p:nvPr/>
        </p:nvSpPr>
        <p:spPr>
          <a:xfrm>
            <a:off x="5823201" y="3411389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6330395" y="3439418"/>
            <a:ext cx="520607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Az ÁVK lekapcsol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330395" y="3890466"/>
            <a:ext cx="520607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áramérzékelő azonnal megszakítja az áramkört — mielőtt bármi bajod eshetne.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755833" y="4791770"/>
            <a:ext cx="404009" cy="404019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4" name="Text 11"/>
          <p:cNvSpPr/>
          <p:nvPr/>
        </p:nvSpPr>
        <p:spPr>
          <a:xfrm>
            <a:off x="5823201" y="4825454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330395" y="4853484"/>
            <a:ext cx="520607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 biztonságban vagy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6330395" y="5304532"/>
            <a:ext cx="520607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földelés láthatatlanul, de folyamatosan véd minden használat közben.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838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Gyakorlati szabályok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987054"/>
            <a:ext cx="3496877" cy="28839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96410" y="2128838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875881" y="2743002"/>
            <a:ext cx="30680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Soha nem szabad megszakítani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3446959"/>
            <a:ext cx="306806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PE vezető folytonossága elengedhetetlen — bármilyen megszakítás életveszélyes hibát okozhat.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1987054"/>
            <a:ext cx="3496877" cy="28839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82294" y="2128838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4561766" y="2743002"/>
            <a:ext cx="30680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Nem lehet más célra felhasználni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561766" y="3446959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PE vezető kizárólag védőfunkcióra való — nullavezetőként vagy fázisvezetőként tilos alkalmazni.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3244" y="1987054"/>
            <a:ext cx="3496877" cy="288399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68179" y="2128838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8247650" y="2743002"/>
            <a:ext cx="30680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Minden munkában figyelni kell rá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247650" y="3446959"/>
            <a:ext cx="306806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villanyszerelő minden szerelési feladat során köteles ellenőrizni a PE vezető meglétét és csatlakoztatását.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61475" y="5083671"/>
            <a:ext cx="10868745" cy="755948"/>
          </a:xfrm>
          <a:prstGeom prst="roundRect">
            <a:avLst>
              <a:gd name="adj" fmla="val 3751"/>
            </a:avLst>
          </a:prstGeom>
          <a:solidFill>
            <a:srgbClr val="FCF2B5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482" y="5351363"/>
            <a:ext cx="236234" cy="1890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75723" y="5319911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PE vezető megszakítása vagy elhagyása </a:t>
            </a: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életveszélyes</a:t>
            </a: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és súlyos szabálysértés!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9ECF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9352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Mit jegyezz fel otthon?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1467644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Házi feladat a következő órára: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Vizsgáld meg az otthoni elektromos hálózatot!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233360" y="2285107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233360" y="2580977"/>
            <a:ext cx="3053877" cy="2540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8" name="Text 5"/>
          <p:cNvSpPr/>
          <p:nvPr/>
        </p:nvSpPr>
        <p:spPr>
          <a:xfrm>
            <a:off x="5233360" y="2726234"/>
            <a:ext cx="3053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Keress 3 földelt dugaljt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233360" y="3134916"/>
            <a:ext cx="305387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földelt aljzatnak három nyílása van — a középső vagy alsó a PE csatlakozója.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476244" y="2285107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476244" y="2580977"/>
            <a:ext cx="3053976" cy="2540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12" name="Text 9"/>
          <p:cNvSpPr/>
          <p:nvPr/>
        </p:nvSpPr>
        <p:spPr>
          <a:xfrm>
            <a:off x="8476244" y="2726234"/>
            <a:ext cx="305397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Írd fel a csatlakoztatott készülékeket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476244" y="3430191"/>
            <a:ext cx="305397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Jegyezd meg, hogy milyen eszközök (pl. mosógép, hűtő, számítógép) vannak ezekbe dugva.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233360" y="4668143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233360" y="4945063"/>
            <a:ext cx="6296860" cy="2540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16" name="Text 13"/>
          <p:cNvSpPr/>
          <p:nvPr/>
        </p:nvSpPr>
        <p:spPr>
          <a:xfrm>
            <a:off x="5233360" y="5109270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Figyeld meg a zöld/sárga jelölést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5233360" y="5517952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 nyitott elosztódobozt látsz (szülői felügyelettel!), keresd meg a zöld/sárga PE vezetéket.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9ECF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762026"/>
            <a:ext cx="6296860" cy="2445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 jó földelés ritkán látható, de mindig dolgozik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661475" y="4491038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biztonság nem látszik — de nélküle nem élhetnénk biztonságban.</a:t>
            </a:r>
            <a:endParaRPr lang="en-US" sz="14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ABC9C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Köszönöm a figyelmet! </a:t>
            </a: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🔒⚡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523</Words>
  <Application>Microsoft Office PowerPoint</Application>
  <PresentationFormat>Szélesvásznú</PresentationFormat>
  <Paragraphs>79</Paragraphs>
  <Slides>9</Slides>
  <Notes>9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6" baseType="lpstr">
      <vt:lpstr>Calibri</vt:lpstr>
      <vt:lpstr>Roboto Slab Light</vt:lpstr>
      <vt:lpstr>Roboto Slab</vt:lpstr>
      <vt:lpstr>Roboto Bold</vt:lpstr>
      <vt:lpstr>Roboto</vt:lpstr>
      <vt:lpstr>Arial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lastModifiedBy>zsolt Fazekas</cp:lastModifiedBy>
  <cp:revision>1</cp:revision>
  <dcterms:created xsi:type="dcterms:W3CDTF">2026-08-08T18:41:26Z</dcterms:created>
  <dcterms:modified xsi:type="dcterms:W3CDTF">2026-08-08T18:42:41Z</dcterms:modified>
</cp:coreProperties>
</file>