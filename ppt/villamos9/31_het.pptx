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Raleway" pitchFamily="2" charset="-18"/>
      <p:regular r:id="rId17"/>
    </p:embeddedFont>
    <p:embeddedFont>
      <p:font typeface="Roboto" panose="02000000000000000000" pitchFamily="2" charset="0"/>
      <p:regular r:id="rId18"/>
    </p:embeddedFont>
    <p:embeddedFont>
      <p:font typeface="Roboto Bold" panose="02000000000000000000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80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7818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42" y="380181"/>
            <a:ext cx="3287241" cy="4383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2130549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Villamos vezető azonosítása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3925119" y="2786137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9. évfolyam – Villamos alapismeretek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42" y="380181"/>
            <a:ext cx="3287241" cy="4383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531019"/>
            <a:ext cx="4722763" cy="132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Honnan tudja a villanyszerelő, hogy melyik vezeték melyik?</a:t>
            </a:r>
            <a:endParaRPr lang="en-US" sz="2750" dirty="0"/>
          </a:p>
        </p:txBody>
      </p:sp>
      <p:sp>
        <p:nvSpPr>
          <p:cNvPr id="5" name="Shape 2"/>
          <p:cNvSpPr/>
          <p:nvPr/>
        </p:nvSpPr>
        <p:spPr>
          <a:xfrm>
            <a:off x="3925119" y="2072580"/>
            <a:ext cx="318939" cy="318939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385816" y="2121247"/>
            <a:ext cx="42620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Alapvető biztonsági feladat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385816" y="2427759"/>
            <a:ext cx="426206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vezetők helyes azonosítása minden szerelési munka kiindulópontja.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925119" y="3164904"/>
            <a:ext cx="318939" cy="318939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385816" y="3213571"/>
            <a:ext cx="42620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hiba következménye súlyos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385816" y="3520083"/>
            <a:ext cx="42620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Hibás azonosítás balesetet, áramütést vagy készülékhibát okozhat.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925119" y="4030414"/>
            <a:ext cx="318939" cy="318939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385816" y="4079081"/>
            <a:ext cx="42620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Először azonosít, utána szerel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385816" y="4385593"/>
            <a:ext cx="42620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jó villanyszerelő soha nem nyúl a vezetékekhez ellenőrzés nélkül.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70334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Szabványos vezetőszínek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585392"/>
            <a:ext cx="2628230" cy="262823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74988" y="1690167"/>
            <a:ext cx="2517874" cy="113846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711997" y="1850975"/>
            <a:ext cx="2120057" cy="22145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🟤</a:t>
            </a: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Barna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3711997" y="2214190"/>
            <a:ext cx="2120057" cy="45362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Fázisvezetők (L1, L2, L3) – modern szerelésekben</a:t>
            </a:r>
            <a:endParaRPr lang="en-US" sz="11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34621" y="1690167"/>
            <a:ext cx="2517949" cy="113846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371630" y="1850975"/>
            <a:ext cx="2120131" cy="22145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⚫</a:t>
            </a: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Fekete / </a:t>
            </a:r>
            <a:r>
              <a:rPr lang="en-US" sz="13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🩶</a:t>
            </a: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Szürke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6371630" y="2214190"/>
            <a:ext cx="2120131" cy="45362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Fázisvezetők – régebbi szerelésekben</a:t>
            </a:r>
            <a:endParaRPr lang="en-US" sz="11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74988" y="2970386"/>
            <a:ext cx="2517874" cy="113846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711997" y="3131195"/>
            <a:ext cx="2120057" cy="22145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🔵</a:t>
            </a: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Kék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3711997" y="3494410"/>
            <a:ext cx="2120057" cy="22681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Nullavezető (N)</a:t>
            </a:r>
            <a:endParaRPr lang="en-US" sz="11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34621" y="2970386"/>
            <a:ext cx="2517949" cy="1138461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371630" y="3131195"/>
            <a:ext cx="2120131" cy="22145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🟢🟡</a:t>
            </a: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Zöld/sárga csíkos</a:t>
            </a:r>
            <a:endParaRPr lang="en-US" sz="1350" dirty="0"/>
          </a:p>
        </p:txBody>
      </p:sp>
      <p:sp>
        <p:nvSpPr>
          <p:cNvPr id="15" name="Text 8"/>
          <p:cNvSpPr/>
          <p:nvPr/>
        </p:nvSpPr>
        <p:spPr>
          <a:xfrm>
            <a:off x="6371630" y="3494410"/>
            <a:ext cx="2120131" cy="45362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Védővezető (PE) – </a:t>
            </a: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soha ne téveszd össze!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70347"/>
            <a:ext cx="8151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Miért nem elég csak a vezeték színére hagyatkozni?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2039838"/>
            <a:ext cx="2622724" cy="1506810"/>
          </a:xfrm>
          <a:prstGeom prst="roundRect">
            <a:avLst>
              <a:gd name="adj" fmla="val 3952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2640" y="2186360"/>
            <a:ext cx="23296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⚠️</a:t>
            </a: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Régi hálózatok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2640" y="2492871"/>
            <a:ext cx="2329681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Régi vagy átalakított hálózatoknál a vezetők azonosítása nem megbízható – a szín már nem jelent bizonyosságot.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60601" y="2039838"/>
            <a:ext cx="2622724" cy="1506810"/>
          </a:xfrm>
          <a:prstGeom prst="roundRect">
            <a:avLst>
              <a:gd name="adj" fmla="val 3952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07122" y="2186360"/>
            <a:ext cx="2329681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🎨</a:t>
            </a: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Szín = segítség, nem bizonyíték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407122" y="2714327"/>
            <a:ext cx="2329681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színjelölés iránymutatás, de önmagában sosem elegendő a biztonságos azonosításhoz.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25083" y="2039838"/>
            <a:ext cx="2622724" cy="1506810"/>
          </a:xfrm>
          <a:prstGeom prst="roundRect">
            <a:avLst>
              <a:gd name="adj" fmla="val 3952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71605" y="2186360"/>
            <a:ext cx="23296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🔌</a:t>
            </a: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Mérés kötelező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171605" y="2492871"/>
            <a:ext cx="2329681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Mindig megfelelő mérőműszerrel kell ellenőrizni – mérés nélkül nincs biztos azonosítás.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6119" y="3706118"/>
            <a:ext cx="8151763" cy="566961"/>
          </a:xfrm>
          <a:prstGeom prst="roundRect">
            <a:avLst>
              <a:gd name="adj" fmla="val 10502"/>
            </a:avLst>
          </a:prstGeom>
          <a:solidFill>
            <a:srgbClr val="FCF2B5"/>
          </a:soli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77" y="3906887"/>
            <a:ext cx="177180" cy="141759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956816" y="3883298"/>
            <a:ext cx="80065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Mérés nélkül nincs biztos azonosítás – soha ne bízz vakon a színekben!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70334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Vezetéktípusok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854622"/>
            <a:ext cx="517758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Vezető szerkezete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96119" y="2235547"/>
            <a:ext cx="5177582" cy="1336700"/>
          </a:xfrm>
          <a:prstGeom prst="roundRect">
            <a:avLst>
              <a:gd name="adj" fmla="val 4454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0881" y="2240310"/>
            <a:ext cx="2584028" cy="1327175"/>
          </a:xfrm>
          <a:custGeom>
            <a:avLst/>
            <a:gdLst/>
            <a:ahLst/>
            <a:cxnLst/>
            <a:rect l="l" t="t" r="r" b="b"/>
            <a:pathLst>
              <a:path w="2584028" h="1327175">
                <a:moveTo>
                  <a:pt x="49619" y="0"/>
                </a:moveTo>
                <a:lnTo>
                  <a:pt x="2584028" y="0"/>
                </a:lnTo>
                <a:lnTo>
                  <a:pt x="2584028" y="1327175"/>
                </a:lnTo>
                <a:lnTo>
                  <a:pt x="49619" y="1327175"/>
                </a:lnTo>
                <a:arcTo wR="49619" hR="49619" stAng="5400000" swAng="5400000"/>
                <a:lnTo>
                  <a:pt x="0" y="49619"/>
                </a:lnTo>
                <a:arcTo wR="49619" hR="49619" stAng="10800000" swAng="5400000"/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6" name="Text 4"/>
          <p:cNvSpPr/>
          <p:nvPr/>
        </p:nvSpPr>
        <p:spPr>
          <a:xfrm>
            <a:off x="642640" y="2382069"/>
            <a:ext cx="230051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Tömör vezető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2640" y="2745284"/>
            <a:ext cx="2300511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Egyetlen huzalból álló vezető – merevebb, könnyebben törik. Rögzített szerelésekhez.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084909" y="2240310"/>
            <a:ext cx="2584028" cy="1327175"/>
          </a:xfrm>
          <a:custGeom>
            <a:avLst/>
            <a:gdLst/>
            <a:ahLst/>
            <a:cxnLst/>
            <a:rect l="l" t="t" r="r" b="b"/>
            <a:pathLst>
              <a:path w="2584028" h="1327175">
                <a:moveTo>
                  <a:pt x="0" y="0"/>
                </a:moveTo>
                <a:lnTo>
                  <a:pt x="2534410" y="0"/>
                </a:lnTo>
                <a:arcTo wR="49619" hR="49619" stAng="16200000" swAng="5400000"/>
                <a:lnTo>
                  <a:pt x="2584028" y="1277556"/>
                </a:lnTo>
                <a:arcTo wR="49619" hR="49619" stAng="0" swAng="5400000"/>
                <a:lnTo>
                  <a:pt x="0" y="1327175"/>
                </a:lnTo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9" name="Shape 7"/>
          <p:cNvSpPr/>
          <p:nvPr/>
        </p:nvSpPr>
        <p:spPr>
          <a:xfrm>
            <a:off x="3084909" y="2240310"/>
            <a:ext cx="19050" cy="1327175"/>
          </a:xfrm>
          <a:prstGeom prst="roundRect">
            <a:avLst>
              <a:gd name="adj" fmla="val 50000"/>
            </a:avLst>
          </a:prstGeom>
          <a:solidFill>
            <a:srgbClr val="C7C7D0"/>
          </a:solidFill>
          <a:ln/>
        </p:spPr>
      </p:sp>
      <p:sp>
        <p:nvSpPr>
          <p:cNvPr id="10" name="Text 8"/>
          <p:cNvSpPr/>
          <p:nvPr/>
        </p:nvSpPr>
        <p:spPr>
          <a:xfrm>
            <a:off x="3226668" y="2382069"/>
            <a:ext cx="230051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Sodrott vezető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226668" y="2745284"/>
            <a:ext cx="2300511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Több vékony huzalból sodort – rugalmasabb, hajlítható. Mozgó alkalmazásokhoz.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6119" y="3731716"/>
            <a:ext cx="563478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Az </a:t>
            </a: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ér</a:t>
            </a: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 kábel egy önálló, szigetelt vezetője.</a:t>
            </a:r>
            <a:endParaRPr lang="en-US" sz="11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4339" y="1585392"/>
            <a:ext cx="2628230" cy="26282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6056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Vezetékek és kábelek a gyakorlatban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887066"/>
            <a:ext cx="1507480" cy="9316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995910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MT vezeték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3302422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Régi szerelésekben, egyedi szigetelésű. Ma már ritkán alkalmazott.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2433" y="1887066"/>
            <a:ext cx="1507480" cy="93166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72433" y="2995910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H07V-U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272433" y="3302422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Modern, merev vezető, beltéri rögzített szerelésekhez tervezve.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8747" y="1887066"/>
            <a:ext cx="1507480" cy="93166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48747" y="2995910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NYM-J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048747" y="3302422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Többeres kábel, rugalmas – hosszabbítók és készülékek csatlakoztatásához.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5842" y="380181"/>
            <a:ext cx="3287241" cy="4383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012552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Régi és új szerelések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496119" y="1809899"/>
            <a:ext cx="2188443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⚠️</a:t>
            </a: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Régi szerelések – veszélyes kivételek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96119" y="2394570"/>
            <a:ext cx="2188443" cy="1686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vezetőszínek nem mindig követik a szabványt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Zöld/sárga vezetőt régen </a:t>
            </a: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fázisvezetőként</a:t>
            </a: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is használtak – komoly veszély!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Átépítéskor az azonosítás még fontosabb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035201" y="1809899"/>
            <a:ext cx="2188443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✅</a:t>
            </a: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Új szerelések – szabvány szerint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3035201" y="2394570"/>
            <a:ext cx="2188443" cy="1460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Szigorú MSZ EN szabványok szerint kell dolgozni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Minden vezető csak a rendeltetésének megfelelő színű lehet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Dokumentálás kötelező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64728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Biztonságos azonosítás lépésről lépésre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2407" y="1291233"/>
            <a:ext cx="6339185" cy="29012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56361" y="3388898"/>
            <a:ext cx="1190142" cy="458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Szerelés megkezdése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756456" y="3388898"/>
            <a:ext cx="1190143" cy="458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Dokumentáció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264702" y="3388898"/>
            <a:ext cx="1190142" cy="458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Mérőműszer használata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740341" y="3388898"/>
            <a:ext cx="1190142" cy="458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Vizuális ellenőrzés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96119" y="4351958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négy lépés sorrendje kötelező – egyetlen lépés sem hagyható ki a biztonságos munka érdekében.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08248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Szakmai szókincs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585392"/>
            <a:ext cx="2628230" cy="262823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474988" y="1323305"/>
            <a:ext cx="5177582" cy="3152477"/>
          </a:xfrm>
          <a:prstGeom prst="roundRect">
            <a:avLst>
              <a:gd name="adj" fmla="val 1889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474988" y="1736899"/>
            <a:ext cx="5177582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3474988" y="2148111"/>
            <a:ext cx="5177582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3474988" y="2559323"/>
            <a:ext cx="5177582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3474988" y="3197349"/>
            <a:ext cx="5177582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3474988" y="3835375"/>
            <a:ext cx="5177582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3621509" y="1417886"/>
            <a:ext cx="275771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Fogalom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205537" y="1417886"/>
            <a:ext cx="275771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Jelentés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621509" y="1829098"/>
            <a:ext cx="275771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Ér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205537" y="1829098"/>
            <a:ext cx="275771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kábel egy önálló, szigetelt vezetője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621509" y="2240310"/>
            <a:ext cx="275771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Tömör vezető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205537" y="2240310"/>
            <a:ext cx="275771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Egyetlen huzalból álló, merev vezető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621509" y="2651522"/>
            <a:ext cx="275771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Sodrott vezető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205537" y="2651522"/>
            <a:ext cx="230051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Több vékony huzalból sodort, rugalmas vezető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621509" y="3289548"/>
            <a:ext cx="275771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Színjelölés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205537" y="3289548"/>
            <a:ext cx="230051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vezető rendeltetésének azonosítását segítő jelölés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3621509" y="3927574"/>
            <a:ext cx="275771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Vezetőazonosítás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205537" y="3927574"/>
            <a:ext cx="230051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vezető feladatának biztonságos meghatározása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4754" y="365447"/>
            <a:ext cx="3309417" cy="44126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419770"/>
            <a:ext cx="4722763" cy="378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Gyakorlati feladat </a:t>
            </a:r>
            <a:r>
              <a:rPr lang="en-US" sz="23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🔧</a:t>
            </a:r>
            <a:endParaRPr lang="en-US" sz="23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949672"/>
            <a:ext cx="4722763" cy="86781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57523" y="1271439"/>
            <a:ext cx="179412" cy="22421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1089720" y="1083543"/>
            <a:ext cx="3995291" cy="18685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Kábelvizsgálat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1089720" y="1330896"/>
            <a:ext cx="3995291" cy="35272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Vizsgálj meg három különböző kábelt vagy hosszabbítót – figyelj az erek számára és a színekre!</a:t>
            </a:r>
            <a:endParaRPr lang="en-US" sz="9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1918395"/>
            <a:ext cx="4722763" cy="86781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57523" y="2240161"/>
            <a:ext cx="179412" cy="22421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1089720" y="2052265"/>
            <a:ext cx="3995291" cy="18685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Adatrögzítés</a:t>
            </a:r>
            <a:endParaRPr lang="en-US" sz="1150" dirty="0"/>
          </a:p>
        </p:txBody>
      </p:sp>
      <p:sp>
        <p:nvSpPr>
          <p:cNvPr id="12" name="Text 7"/>
          <p:cNvSpPr/>
          <p:nvPr/>
        </p:nvSpPr>
        <p:spPr>
          <a:xfrm>
            <a:off x="1089720" y="2299618"/>
            <a:ext cx="3995291" cy="35272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Jegyezd fel az erek számát, a vezetőszíneket és a felhasználási helyet egy táblázatba.</a:t>
            </a:r>
            <a:endParaRPr lang="en-US" sz="9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2887117"/>
            <a:ext cx="4722763" cy="86781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57523" y="3208883"/>
            <a:ext cx="179412" cy="22421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9"/>
          <p:cNvSpPr/>
          <p:nvPr/>
        </p:nvSpPr>
        <p:spPr>
          <a:xfrm>
            <a:off x="1089720" y="3020988"/>
            <a:ext cx="3995291" cy="18685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Mintagyűjtemény</a:t>
            </a:r>
            <a:endParaRPr lang="en-US" sz="1150" dirty="0"/>
          </a:p>
        </p:txBody>
      </p:sp>
      <p:sp>
        <p:nvSpPr>
          <p:cNvPr id="16" name="Text 10"/>
          <p:cNvSpPr/>
          <p:nvPr/>
        </p:nvSpPr>
        <p:spPr>
          <a:xfrm>
            <a:off x="1089720" y="3268340"/>
            <a:ext cx="3995291" cy="35272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Készíts vezetékminta-gyűjteményt – jelöld a szín, típus és felhasználási terület szerint.</a:t>
            </a:r>
            <a:endParaRPr lang="en-US" sz="9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3855839"/>
            <a:ext cx="4722763" cy="867817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57523" y="4177605"/>
            <a:ext cx="179412" cy="22421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2"/>
          <p:cNvSpPr/>
          <p:nvPr/>
        </p:nvSpPr>
        <p:spPr>
          <a:xfrm>
            <a:off x="1089720" y="3989710"/>
            <a:ext cx="3995291" cy="18685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Mérőműszeres ellenőrzés</a:t>
            </a:r>
            <a:endParaRPr lang="en-US" sz="1150" dirty="0"/>
          </a:p>
        </p:txBody>
      </p:sp>
      <p:sp>
        <p:nvSpPr>
          <p:cNvPr id="20" name="Text 13"/>
          <p:cNvSpPr/>
          <p:nvPr/>
        </p:nvSpPr>
        <p:spPr>
          <a:xfrm>
            <a:off x="1089720" y="4237062"/>
            <a:ext cx="3995291" cy="35272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Ellenőrizd mérőműszerrel az azonosítást – soha ne bízz csak a szemedben!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467</Words>
  <Application>Microsoft Office PowerPoint</Application>
  <PresentationFormat>Diavetítés a képernyőre (16:9 oldalarány)</PresentationFormat>
  <Paragraphs>91</Paragraphs>
  <Slides>10</Slides>
  <Notes>10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5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10</vt:i4>
      </vt:variant>
    </vt:vector>
  </HeadingPairs>
  <TitlesOfParts>
    <vt:vector size="16" baseType="lpstr">
      <vt:lpstr>Arial</vt:lpstr>
      <vt:lpstr>Raleway</vt:lpstr>
      <vt:lpstr>Roboto</vt:lpstr>
      <vt:lpstr>Roboto Bold</vt:lpstr>
      <vt:lpstr>Calibri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subject/>
  <dc:creator>Fazekas Zsolt</dc:creator>
  <cp:lastModifiedBy>zsolt Fazekas</cp:lastModifiedBy>
  <cp:revision>2</cp:revision>
  <dcterms:created xsi:type="dcterms:W3CDTF">2026-08-09T04:37:42Z</dcterms:created>
  <dcterms:modified xsi:type="dcterms:W3CDTF">2026-08-09T04:39:16Z</dcterms:modified>
</cp:coreProperties>
</file>