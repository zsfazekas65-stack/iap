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Raleway" pitchFamily="2" charset="-18"/>
      <p:regular r:id="rId18"/>
    </p:embeddedFont>
    <p:embeddedFont>
      <p:font typeface="Roboto" panose="02000000000000000000" pitchFamily="2" charset="0"/>
      <p:regular r:id="rId19"/>
    </p:embeddedFont>
    <p:embeddedFont>
      <p:font typeface="Roboto Bold" panose="02000000000000000000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7910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201714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energia útja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672730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erőműtől a konnektorig — 9. osztály, Villamosipari alapismeretek, 25. hét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494" y="375717"/>
            <a:ext cx="3293938" cy="43919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95883"/>
            <a:ext cx="4722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Hogyan jut el az áram a lakásba?</a:t>
            </a:r>
            <a:endParaRPr lang="en-US" sz="2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433661"/>
            <a:ext cx="4722763" cy="101880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6430" y="1587773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Hosszú út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726430" y="1876127"/>
            <a:ext cx="43383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energia az erőműből indulva hosszú utat tesz meg, mire a konnektorba érkezik.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581201"/>
            <a:ext cx="4722763" cy="101880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6430" y="2735312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Transzformátorok és alállomások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726430" y="3023667"/>
            <a:ext cx="43383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átalakítást több transzformátor és alállomás teszi lehetővé, lépésről lépésre.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728740"/>
            <a:ext cx="4722763" cy="101880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6430" y="3882851"/>
            <a:ext cx="433834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Összehangolt rendszer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726430" y="4171206"/>
            <a:ext cx="43383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teljes elosztóhálózat egyetlen összehangolt lánc­ként működik — minden elem fontos.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57598"/>
            <a:ext cx="2628230" cy="2628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988" y="1822252"/>
            <a:ext cx="51775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erőmű és a generátor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474988" y="2406997"/>
            <a:ext cx="5177582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Erőmű: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villamos energiát előállító létesítmény, ahol az energia termelése zajlik.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Generátor: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mechanikai energiát villamos energiává alakít át elektromágneses indukció révén.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turbinát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gőz, víz vagy szél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hajtja meg — a típustól függően.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első transzformálás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146" y="682154"/>
            <a:ext cx="4767709" cy="4281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16519" y="1530793"/>
            <a:ext cx="1777052" cy="229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Erőmű: 20–25 kV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509585" y="3887247"/>
            <a:ext cx="1721137" cy="458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Feltranszformálás 400 kV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37248" y="1552064"/>
            <a:ext cx="1721137" cy="68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Magas feszültség → kevesebb veszteség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96119" y="5003453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feltranszformálás az energiahatékony szállítás kulcsa: magasabb feszültségen kisebb áramerősség folyik, így a hőveszteség minimálisra csökken a hosszú vezetékeken.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89304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távvezeték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496119" y="1548631"/>
            <a:ext cx="2290465" cy="1506810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1695152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400 kV-os szállítás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001664"/>
            <a:ext cx="19974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nagyfeszültségű energia az ország egész területén keresztül szállítódik a fogyasztókhoz.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1548631"/>
            <a:ext cx="2290539" cy="1506810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74863" y="1695152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Acél tartótornyok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4863" y="2001664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masszív acéltornyok tartják a levegőben futó nagyfeszültségű vezetékeket.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197200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640" y="3343721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Minimális veszteség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2640" y="3650233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magas feszültség miatt az áramveszteség az egész ország­on átívelő hálózaton is minimális marad.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45072"/>
            <a:ext cx="51775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alállomás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29817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alállomás a hálózat egyik legfontosabb kapcsoló- és átalakítópontja. Itt találkozik a nagyfeszültségű szállítóhálózat és a helyi elosztóhálózat.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810991"/>
            <a:ext cx="517758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bejövő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400 kV-os feszültséget 10–20 kV-ra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csökkentik le.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Több transzformátor dolgozik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párhuzamosan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 megbízhatóság érdekében.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Kapcsolóberendezések védik és irányítják az energiaáramlást.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339" y="1257598"/>
            <a:ext cx="2628230" cy="26282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056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helyi elosztóhálózat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87066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99591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Középfeszültségű hálózat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302422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alállomásból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10–20 kV-os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vezetékek indulnak a lakóterületek irányába.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887066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99591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Oszloptranszformátor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30242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utcán látható transzformátorok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230/400 V-ra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csökkentik a feszültséget a felhasználók számára.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887066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995910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Elosztóvezetékek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30242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kis­feszültségű hálózat föld alatt vagy oszlopokon juttatja el az áramot az épületekhez.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57598"/>
            <a:ext cx="2628230" cy="2628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988" y="1297781"/>
            <a:ext cx="51775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lakóház elosztója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474988" y="1882527"/>
            <a:ext cx="5177582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vezetékek a lakóház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főelosztójához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érkeznek be az épületbe.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Itt található a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mérőóra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amely méri a fogyasztást, és a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biztosítékok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amelyek védelmet nyújtanak.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elosztóból indulnak szét a lakáson belüli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villamos körveze­tékek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474988" y="3048372"/>
            <a:ext cx="5177582" cy="779562"/>
          </a:xfrm>
          <a:prstGeom prst="roundRect">
            <a:avLst>
              <a:gd name="adj" fmla="val 7638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747" y="3263429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35685" y="3211339"/>
            <a:ext cx="45751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mérőóra és a biztosítéktábla az épület elektromos rendszerének szíve — ezeket csak szakember kezelheti!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05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fogyasztó és a konnektora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47924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230 V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49287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Konnektorfeszültség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799383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Ez a biztonságos, szabványos feszültség, amely a háztartási eszközök számára érkezik.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72433" y="1847924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400 kV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3272433" y="249287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Szállítási feszültség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72433" y="2799383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Ennyiről indul az energia a nagyfeszültségű távvezetéken — 1700-szorosát transzformáljuk le!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48747" y="1847924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6+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6048747" y="2492871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Átalakítási lépés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8747" y="2799383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erőműtől a konnektorig összesen több átalakítási és elosztási állomáson megy át az energia.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6119" y="363929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egész rendszer egyetlen összehangolt lánc: ha bármelyik láncszem meghibásodik, a többi elem biztosítja a zavartalan ellátást. Ez a modern villamosenergia-hálózat nagysága.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4" y="365447"/>
            <a:ext cx="3309417" cy="44126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07640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Nagy projekt: Az energia útja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3925119" y="932780"/>
            <a:ext cx="4722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Készíts </a:t>
            </a: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A3 méretű folyamatábrát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amely bemutatja az energia teljes útját az erőműtől a fogyasztóig!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1398984"/>
            <a:ext cx="598066" cy="7176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24090" y="1518568"/>
            <a:ext cx="402379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Erőmű → Generátor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4624090" y="1765920"/>
            <a:ext cx="4023792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20–25 kV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119" y="2116634"/>
            <a:ext cx="598066" cy="7176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24090" y="2236217"/>
            <a:ext cx="402379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Feltranszformálás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624090" y="2483569"/>
            <a:ext cx="4023792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400 kV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5119" y="2834283"/>
            <a:ext cx="598066" cy="7176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24090" y="2953866"/>
            <a:ext cx="402379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Alállomás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4624090" y="3201219"/>
            <a:ext cx="4023792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10–20 kV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5119" y="3551932"/>
            <a:ext cx="598066" cy="71764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24090" y="3671515"/>
            <a:ext cx="402379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Lakóház → Fogyasztó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4624090" y="3918868"/>
            <a:ext cx="4023792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230/400 V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3925119" y="4383063"/>
            <a:ext cx="4722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Jelöld fel az összes állomást és írj </a:t>
            </a: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feszültségértékeket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minden egyes szakasz mellé! A kész ábrát a projektbemutatón mutatod be.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451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 I. modul lezárása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601019"/>
            <a:ext cx="2622724" cy="19415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2351" y="170735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6927" y="2167979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Összefoglalás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474491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Áttekintjük az I. modulban tanult fogalmakat, törvényeket és a teljes elosztórendszer működését.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601019"/>
            <a:ext cx="2622724" cy="19415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86833" y="170735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421410" y="2167979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Modulzáró teszt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21410" y="2474491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Moodle-alapú online teszt,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40 kérdéssel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alapos felkészülés szükséges az egész modul anyagából.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5083" y="1601019"/>
            <a:ext cx="2622724" cy="194153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51316" y="1707356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185892" y="2167979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Projektbemutató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85892" y="2474491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 energia útja folyamatábra bemutatása, értékelése és az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IAA moduljelvény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megszerzése.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96119" y="3702025"/>
            <a:ext cx="8151763" cy="566961"/>
          </a:xfrm>
          <a:prstGeom prst="roundRect">
            <a:avLst>
              <a:gd name="adj" fmla="val 10502"/>
            </a:avLst>
          </a:prstGeom>
          <a:solidFill>
            <a:srgbClr val="B6FCB8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77" y="3902794"/>
            <a:ext cx="177180" cy="14175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56816" y="3879205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Gratulálunk az I. modul elvégzéséhez! Sikeres tesztet és jó projektbemutatót kívánunk mindenkinek! 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</Words>
  <Application>Microsoft Office PowerPoint</Application>
  <PresentationFormat>Diavetítés a képernyőre (16:9 oldalarány)</PresentationFormat>
  <Paragraphs>86</Paragraphs>
  <Slides>11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7" baseType="lpstr">
      <vt:lpstr>Arial</vt:lpstr>
      <vt:lpstr>Roboto Bold</vt:lpstr>
      <vt:lpstr>Roboto</vt:lpstr>
      <vt:lpstr>Calibri</vt:lpstr>
      <vt:lpstr>Raleway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lastModifiedBy>zsolt Fazekas</cp:lastModifiedBy>
  <cp:revision>1</cp:revision>
  <dcterms:created xsi:type="dcterms:W3CDTF">2026-08-06T19:19:58Z</dcterms:created>
  <dcterms:modified xsi:type="dcterms:W3CDTF">2026-08-06T19:20:49Z</dcterms:modified>
</cp:coreProperties>
</file>