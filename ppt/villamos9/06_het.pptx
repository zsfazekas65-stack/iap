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975" y="2589907"/>
            <a:ext cx="18859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60470" y="3028057"/>
            <a:ext cx="8471058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90"/>
              </a:lnSpc>
            </a:pPr>
            <a:r>
              <a:rPr sz="3900" b="1" i="0" u="none">
                <a:solidFill>
                  <a:srgbClr val="0F172A"/>
                </a:solidFill>
                <a:latin typeface="Montserrat"/>
              </a:rPr>
              <a:t>Az első számítások és mérések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2162" y="3763267"/>
            <a:ext cx="80676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Open Sans"/>
              </a:rPr>
              <a:t>Villamos alapismeretek • 2. Fejlődési szakasz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2" y="3113782"/>
            <a:ext cx="9553575" cy="14400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09737" y="3447157"/>
            <a:ext cx="88296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1E40AF"/>
                </a:solidFill>
                <a:latin typeface="Montserrat SemiBold"/>
              </a:rPr>
              <a:t>„A számítás megjósolja, a mérés igazolja.”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737" y="3963292"/>
            <a:ext cx="8829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1E40AF"/>
                </a:solidFill>
                <a:latin typeface="Open Sans"/>
              </a:rPr>
              <a:t>Fókuszban a számítások és a gyakorlati mérések egysége.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476250"/>
            <a:ext cx="1171575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1E3A8A"/>
                </a:solidFill>
                <a:latin typeface="Montserrat"/>
              </a:rPr>
              <a:t>IA</a:t>
            </a:r>
            <a:r>
              <a:rPr lang="hu-HU" sz="2850" b="1" i="0" u="none" dirty="0">
                <a:solidFill>
                  <a:srgbClr val="1E3A8A"/>
                </a:solidFill>
                <a:latin typeface="Montserrat"/>
              </a:rPr>
              <a:t>P</a:t>
            </a:r>
            <a:r>
              <a:rPr sz="2850" b="1" i="0" u="none" dirty="0">
                <a:solidFill>
                  <a:srgbClr val="1E3A8A"/>
                </a:solidFill>
                <a:latin typeface="Montserrat"/>
              </a:rPr>
              <a:t> </a:t>
            </a:r>
            <a:r>
              <a:rPr sz="2850" b="1" i="0" u="none" dirty="0" err="1">
                <a:solidFill>
                  <a:srgbClr val="1E3A8A"/>
                </a:solidFill>
                <a:latin typeface="Montserrat"/>
              </a:rPr>
              <a:t>Útravaló</a:t>
            </a:r>
            <a:endParaRPr sz="2850" b="1" i="0" u="none" dirty="0">
              <a:solidFill>
                <a:srgbClr val="1E3A8A"/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05125"/>
            <a:ext cx="3587799" cy="1857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905125"/>
            <a:ext cx="3587799" cy="1857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905125"/>
            <a:ext cx="3587799" cy="1857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275" y="3629025"/>
            <a:ext cx="159019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Montserrat"/>
              </a:rPr>
              <a:t>Számítási rutin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3933825"/>
            <a:ext cx="31877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Alkalmazni az Ohm-törvényt egyszerű, valós feladatokban.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2199" y="3629025"/>
            <a:ext cx="1800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Montserrat"/>
              </a:rPr>
              <a:t>Gyakorlati mérés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2199" y="3933825"/>
            <a:ext cx="31877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Megismerni a digitális multiméter használatát és feszültséget mérni.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629025"/>
            <a:ext cx="171021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Montserrat"/>
              </a:rPr>
              <a:t>Összehasonlítás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3933825"/>
            <a:ext cx="31877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Megtapasztalni a számított és a mért értékek kapcsolatát.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3162300"/>
            <a:ext cx="2286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2199" y="3162300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3162300"/>
            <a:ext cx="3810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A hét célja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625" y="3052762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Egyszerű Ohm-törvényes feladatokat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önállóan megoldani.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625" y="3443287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Kiszámítani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hiányzó villamos mennyiséget (U, R vagy 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3833812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Digitális multiméterrel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biztonságosan feszültséget mérni.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4224337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Összehasonlítani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számított és mért adatokat, felismerve az eltéréseket.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67050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57575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848100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238625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A hét végére a tanuló képes lesz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25" y="2395537"/>
            <a:ext cx="8953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75835" y="2833687"/>
            <a:ext cx="264033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1E3A8A"/>
                </a:solidFill>
                <a:latin typeface="Montserrat"/>
              </a:rPr>
              <a:t>Óravázlat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843337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91050" y="4090987"/>
            <a:ext cx="30099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A 6. hét három tanórájának felépítése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6250" y="2393156"/>
            <a:ext cx="11239500" cy="288131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250" y="2393156"/>
          <a:ext cx="11239500" cy="2881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328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Tartalom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32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1.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Számítások: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 U=12V, R=6Ω → I=?; I=2A, R=10Ω → U=?; U=230V, I=0,5A → R=?. Közös megbeszélés és begyakorlás.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32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2.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Mérések: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 Az első mérések digitális multiméterrel. 1,5V-os elem, 9V-os elem és tápegység feszültségének mérése.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32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3.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Számoljunk és mérjünk!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 Egyszerű áramkör (elem, ellenállás, LED). Számítás, mérés és az eredmények összevetése.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76250" y="2897981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24150" y="2897981"/>
            <a:ext cx="899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6250" y="3688556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24150" y="3688556"/>
            <a:ext cx="899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6250" y="4479131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24150" y="4479131"/>
            <a:ext cx="899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Óravázlat – Heti ütemezés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66937"/>
            <a:ext cx="54292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2166937"/>
            <a:ext cx="57007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Montserrat"/>
              </a:rPr>
              <a:t>Valós mérési tapasztalat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2500312"/>
            <a:ext cx="5429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Elemek és tápegységek: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tanulók kézbe veszik a multimétert, beállítják a megfelelő mérési tartományt, és lemérik az 1,5V-os és 9V-os elemek feszültségét.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386137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Névleges vs. Mért: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Megfigyelik, hogy a valós mért érték néha eltér a névlegestől, ami fontos szakmai tapasztalat.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66937"/>
            <a:ext cx="5429250" cy="3333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Mérések digitális multiméterrel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66937"/>
            <a:ext cx="54292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2166937"/>
            <a:ext cx="57007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Montserrat"/>
              </a:rPr>
              <a:t>Gyakorlati áramkör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2500312"/>
            <a:ext cx="5429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Mini labor feladat: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Elemből, ellenállásból és LED-ből álló áramkörön előbb elvégezzük a számítást, majd multiméterrel ellenőrizzük a valóságot.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386137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Szakmai fókusz: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számítás megjósolja, a mérés pedig igazolja a működést.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66937"/>
            <a:ext cx="5429250" cy="3333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Számoljunk és mérjünk!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28925"/>
            <a:ext cx="5429250" cy="1752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28925"/>
            <a:ext cx="5429250" cy="2009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3076575"/>
            <a:ext cx="518064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Oktatói eszközlista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448050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• Digitális multiméterek és mérővezetékek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• 1,5V-os és 9V-os elemek, tápegység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• Ellenállások, LED-ek és előkészített feladatlapok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3076575"/>
            <a:ext cx="518064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Tipikus tévhitek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448050"/>
            <a:ext cx="49339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• Ha kiszámoltam, biztosan úgy is lesz.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• A műszer mindig teljesen pontos.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• A számítás és a mérés ugyanaz.</a:t>
            </a:r>
            <a:r>
              <a:t>
</a:t>
            </a:r>
            <a:r>
              <a:rPr sz="1350" b="0" i="1" u="none">
                <a:solidFill>
                  <a:srgbClr val="334155"/>
                </a:solidFill>
                <a:latin typeface="Open Sans"/>
              </a:rPr>
              <a:t>Ezeket közös kísérlettel oszlatjuk el!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Eszközök &amp; Tévhitek tisztázása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76537"/>
            <a:ext cx="3587799" cy="2114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776537"/>
            <a:ext cx="3587799" cy="2114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776537"/>
            <a:ext cx="3587799" cy="2114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275" y="3500437"/>
            <a:ext cx="14501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Montserrat"/>
              </a:rPr>
              <a:t>Mini felmérés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3805237"/>
            <a:ext cx="31877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Számítás, mérés, eredmények összevetése és rövid szóbeli indoklás a gyakorlat végén.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2199" y="3500437"/>
            <a:ext cx="213026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Montserrat"/>
              </a:rPr>
              <a:t>Oktatói megjegyzés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2199" y="3805237"/>
            <a:ext cx="31877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A matematika, a fizika és a gyakorlati kézmunka ezen a héten egységgé áll össze a tanulók számára.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500437"/>
            <a:ext cx="1540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Montserrat"/>
              </a:rPr>
              <a:t>Következő hét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3805237"/>
            <a:ext cx="31877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Egyszerű áramkörök elemzésével és az Ohm-törvény további gyakorlati alkalmazásával folytatjuk.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3033712"/>
            <a:ext cx="2286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2199" y="3033712"/>
            <a:ext cx="2286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3033712"/>
            <a:ext cx="2667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Értékelés és oktatói szemlélet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2" y="2927151"/>
            <a:ext cx="9553575" cy="18133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09737" y="3260526"/>
            <a:ext cx="882967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166534"/>
                </a:solidFill>
                <a:latin typeface="Montserrat SemiBold"/>
              </a:rPr>
              <a:t>„A jó szakember nem találgat. Számol, mér, és a tények alapján dönt.”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737" y="4149923"/>
            <a:ext cx="8829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166534"/>
                </a:solidFill>
                <a:latin typeface="Open Sans"/>
              </a:rPr>
              <a:t>IAA Villamos Alapismeretek – 6. hét zárás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A hét záró gondolata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453</Words>
  <Application>Microsoft Office PowerPoint</Application>
  <PresentationFormat>Szélesvásznú</PresentationFormat>
  <Paragraphs>51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7" baseType="lpstr">
      <vt:lpstr>Arial</vt:lpstr>
      <vt:lpstr>Calibri</vt:lpstr>
      <vt:lpstr>Montserrat</vt:lpstr>
      <vt:lpstr>Montserrat SemiBold</vt:lpstr>
      <vt:lpstr>Open Sans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/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2026-07-25T06:19:04Z</dcterms:modified>
  <cp:category/>
</cp:coreProperties>
</file>