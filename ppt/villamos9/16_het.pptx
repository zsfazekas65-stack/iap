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9" r:id="rId3"/>
    <p:sldId id="280" r:id="rId4"/>
    <p:sldId id="281" r:id="rId5"/>
    <p:sldId id="282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5" r:id="rId24"/>
    <p:sldId id="276" r:id="rId25"/>
    <p:sldId id="277" r:id="rId26"/>
    <p:sldId id="278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645920" y="731520"/>
            <a:ext cx="2560320" cy="2560320"/>
          </a:xfrm>
          <a:prstGeom prst="ellipse">
            <a:avLst/>
          </a:prstGeom>
          <a:solidFill>
            <a:srgbClr val="53B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1560" y="4480560"/>
            <a:ext cx="1554480" cy="1554480"/>
          </a:xfrm>
          <a:prstGeom prst="ellips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2011680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IAP / IAA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234440"/>
            <a:ext cx="8300086" cy="21051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4400" b="1">
                <a:solidFill>
                  <a:srgbClr val="112D4E"/>
                </a:solidFill>
                <a:latin typeface="Aptos Display"/>
              </a:defRPr>
            </a:pPr>
            <a:r>
              <a:rPr dirty="0"/>
              <a:t>IA</a:t>
            </a:r>
            <a:r>
              <a:rPr lang="hu-HU" dirty="0"/>
              <a:t>P</a:t>
            </a:r>
            <a:r>
              <a:rPr dirty="0"/>
              <a:t> – 9. évfolyam </a:t>
            </a:r>
            <a:endParaRPr lang="hu-HU" dirty="0"/>
          </a:p>
          <a:p>
            <a:pPr algn="l">
              <a:defRPr sz="4400" b="1">
                <a:solidFill>
                  <a:srgbClr val="112D4E"/>
                </a:solidFill>
                <a:latin typeface="Aptos Display"/>
              </a:defRPr>
            </a:pPr>
            <a:r>
              <a:rPr dirty="0"/>
              <a:t>16. hét IA</a:t>
            </a:r>
            <a:r>
              <a:rPr lang="hu-HU" dirty="0"/>
              <a:t>P</a:t>
            </a:r>
            <a:r>
              <a:rPr dirty="0"/>
              <a:t> Szakmai Kihívás</a:t>
            </a:r>
            <a:endParaRPr lang="hu-HU" dirty="0"/>
          </a:p>
          <a:p>
            <a:pPr algn="l">
              <a:defRPr sz="4400" b="1">
                <a:solidFill>
                  <a:srgbClr val="112D4E"/>
                </a:solidFill>
                <a:latin typeface="Aptos Display"/>
              </a:defRPr>
            </a:pPr>
            <a:r>
              <a:rPr dirty="0"/>
              <a:t> </a:t>
            </a:r>
            <a:r>
              <a:rPr sz="1600" dirty="0" err="1"/>
              <a:t>Építsd</a:t>
            </a:r>
            <a:r>
              <a:rPr sz="1600" dirty="0"/>
              <a:t> meg! </a:t>
            </a:r>
            <a:r>
              <a:rPr sz="1600" dirty="0" err="1"/>
              <a:t>Mérd</a:t>
            </a:r>
            <a:r>
              <a:rPr sz="1600" dirty="0"/>
              <a:t> meg! </a:t>
            </a:r>
            <a:r>
              <a:rPr sz="1600" dirty="0" err="1"/>
              <a:t>Magyarázd</a:t>
            </a:r>
            <a:r>
              <a:rPr sz="1600" dirty="0"/>
              <a:t> el!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57400"/>
            <a:ext cx="1554480" cy="10972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6200" b="0">
                <a:solidFill>
                  <a:srgbClr val="FFFFFF"/>
                </a:solidFill>
                <a:latin typeface="Aptos"/>
              </a:defRPr>
            </a:pPr>
            <a:r>
              <a:t>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4709160"/>
            <a:ext cx="71780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53B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77639" y="4892040"/>
            <a:ext cx="6812280" cy="38404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700" b="0">
                <a:solidFill>
                  <a:srgbClr val="232323"/>
                </a:solidFill>
                <a:latin typeface="Aptos"/>
              </a:defRPr>
            </a:pPr>
            <a:r>
              <a:t>„A tudás akkor válik értékké, amikor önálló munkában is megállja a helyét.”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6592824"/>
            <a:ext cx="960120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• 9. évfolyam • Villamos alapismeretek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46888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53B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148840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1E6091"/>
                </a:solidFill>
                <a:latin typeface="Aptos"/>
              </a:defRPr>
            </a:pPr>
            <a:r>
              <a:t>TÁBLÁZAT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98480" cy="5486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3000" b="1">
                <a:solidFill>
                  <a:srgbClr val="112D4E"/>
                </a:solidFill>
                <a:latin typeface="Aptos Display"/>
              </a:defRPr>
            </a:pPr>
            <a:r>
              <a:t>Táblázat 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645920"/>
          <a:ext cx="106984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744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Fejlődési szakasz</a:t>
                      </a:r>
                    </a:p>
                  </a:txBody>
                  <a:tcPr marL="45720" marR="45720">
                    <a:solidFill>
                      <a:srgbClr val="11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3. – Az áramkörök világa</a:t>
                      </a:r>
                    </a:p>
                  </a:txBody>
                  <a:tcPr marL="45720" marR="45720">
                    <a:solidFill>
                      <a:srgbClr val="11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4420"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Órakeret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3 tanóra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4420"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Tantárgy</a:t>
                      </a:r>
                    </a:p>
                  </a:txBody>
                  <a:tcPr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Villamos alapismeretek</a:t>
                      </a:r>
                    </a:p>
                  </a:txBody>
                  <a:tcPr marL="45720" marR="4572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4420"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IAA Útravaló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„A tudás akkor válik értékké, amikor önálló munkában is megállja a helyét.”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92824"/>
            <a:ext cx="960120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• 9. évfolyam • Villamos alapismeretek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46888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53B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148840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1E6091"/>
                </a:solidFill>
                <a:latin typeface="Aptos"/>
              </a:defRPr>
            </a:pPr>
            <a:r>
              <a:t>TÁBLÁZAT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98480" cy="5486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3000" b="1">
                <a:solidFill>
                  <a:srgbClr val="112D4E"/>
                </a:solidFill>
                <a:latin typeface="Aptos Display"/>
              </a:defRPr>
            </a:pPr>
            <a:r>
              <a:t>Táblázat 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645920"/>
          <a:ext cx="106984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744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Tanóra</a:t>
                      </a:r>
                    </a:p>
                  </a:txBody>
                  <a:tcPr marL="45720" marR="45720">
                    <a:solidFill>
                      <a:srgbClr val="11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Tartalom</a:t>
                      </a:r>
                    </a:p>
                  </a:txBody>
                  <a:tcPr marL="45720" marR="45720">
                    <a:solidFill>
                      <a:srgbClr val="11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4420"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1. tanóra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Feladat értelmezése, kapcsolási rajz elkészítése, munkaterv és eszközlista összeállítása.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4420"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2. tanóra</a:t>
                      </a:r>
                    </a:p>
                  </a:txBody>
                  <a:tcPr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Az áramkör megépítése, ellenőrzése, mérések elvégzése és dokumentálása.</a:t>
                      </a:r>
                    </a:p>
                  </a:txBody>
                  <a:tcPr marL="45720" marR="4572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4420"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3. tanóra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A projekt bemutatása: működés ismertetése, mérési eredmények, hibák és javításuk ismertetése.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92824"/>
            <a:ext cx="960120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• 9. évfolyam • Villamos alapismeretek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46888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53B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148840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1E6091"/>
                </a:solidFill>
                <a:latin typeface="Aptos"/>
              </a:defRPr>
            </a:pPr>
            <a:r>
              <a:t>TÁBLÁZAT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98480" cy="5486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3000" b="1">
                <a:solidFill>
                  <a:srgbClr val="112D4E"/>
                </a:solidFill>
                <a:latin typeface="Aptos Display"/>
              </a:defRPr>
            </a:pPr>
            <a:r>
              <a:t>Táblázat 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645920"/>
          <a:ext cx="106984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Fogalom</a:t>
                      </a:r>
                    </a:p>
                  </a:txBody>
                  <a:tcPr marL="45720" marR="45720">
                    <a:solidFill>
                      <a:srgbClr val="11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Jelentése</a:t>
                      </a:r>
                    </a:p>
                  </a:txBody>
                  <a:tcPr marL="45720" marR="45720">
                    <a:solidFill>
                      <a:srgbClr val="11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Projekt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Önálló szakmai feladat.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Dokumentáció</a:t>
                      </a:r>
                    </a:p>
                  </a:txBody>
                  <a:tcPr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A munka írásos rögzítése.</a:t>
                      </a:r>
                    </a:p>
                  </a:txBody>
                  <a:tcPr marL="45720" marR="4572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Ellenőrzés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A helyes működés vizsgálata.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Átadás</a:t>
                      </a:r>
                    </a:p>
                  </a:txBody>
                  <a:tcPr marL="45720" marR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A kész munka bemutatása.</a:t>
                      </a:r>
                    </a:p>
                  </a:txBody>
                  <a:tcPr marL="45720" marR="4572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Minőség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Az elvárt követelmények teljesítése.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92824"/>
            <a:ext cx="960120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• 9. évfolyam • Villamos alapismeretek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1535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46888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53B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148840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1E6091"/>
                </a:solidFill>
                <a:latin typeface="Aptos"/>
              </a:defRPr>
            </a:pPr>
            <a:r>
              <a:t>CÉLOK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789920" cy="5943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3200" b="1">
                <a:solidFill>
                  <a:srgbClr val="112D4E"/>
                </a:solidFill>
                <a:latin typeface="Aptos Display"/>
              </a:defRPr>
            </a:pPr>
            <a:r>
              <a:t>A hét célja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744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53B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10287000" cy="38404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2000" b="1">
                <a:solidFill>
                  <a:srgbClr val="112D4E"/>
                </a:solidFill>
                <a:latin typeface="Aptos"/>
              </a:defRPr>
            </a:pPr>
            <a:r>
              <a:t>A tanuló önállóan alkalmazza az első félév során megszerzett ismereteit. Megtervez, megépít, megmér és bemutat egy egyszerű villamos áramkört.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063240"/>
            <a:ext cx="2971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53B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264408"/>
            <a:ext cx="2697480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500" b="1">
                <a:solidFill>
                  <a:srgbClr val="232323"/>
                </a:solidFill>
                <a:latin typeface="Aptos"/>
              </a:defRPr>
            </a:pPr>
            <a:r>
              <a:t>Kapcsolási rajz értelmezése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063240"/>
            <a:ext cx="2971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53B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3264408"/>
            <a:ext cx="2697480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500" b="1">
                <a:solidFill>
                  <a:srgbClr val="232323"/>
                </a:solidFill>
                <a:latin typeface="Aptos"/>
              </a:defRPr>
            </a:pPr>
            <a:r>
              <a:t>Egyszerű áramkör megépítése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3063240"/>
            <a:ext cx="2971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53B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0" y="3264408"/>
            <a:ext cx="2697480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500" b="1">
                <a:solidFill>
                  <a:srgbClr val="232323"/>
                </a:solidFill>
                <a:latin typeface="Aptos"/>
              </a:defRPr>
            </a:pPr>
            <a:r>
              <a:t>Biztonságos mérés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251960"/>
            <a:ext cx="2971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53B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453128"/>
            <a:ext cx="2697480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500" b="1">
                <a:solidFill>
                  <a:srgbClr val="232323"/>
                </a:solidFill>
                <a:latin typeface="Aptos"/>
              </a:defRPr>
            </a:pPr>
            <a:r>
              <a:t>Hibák felismerése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4251960"/>
            <a:ext cx="2971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53B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0" y="4453128"/>
            <a:ext cx="2697480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500" b="1">
                <a:solidFill>
                  <a:srgbClr val="232323"/>
                </a:solidFill>
                <a:latin typeface="Aptos"/>
              </a:defRPr>
            </a:pPr>
            <a:r>
              <a:t>Szakmai bemutatás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4251960"/>
            <a:ext cx="2971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53B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0" y="4453128"/>
            <a:ext cx="2697480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500" b="1">
                <a:solidFill>
                  <a:srgbClr val="232323"/>
                </a:solidFill>
                <a:latin typeface="Aptos"/>
              </a:defRPr>
            </a:pPr>
            <a:r>
              <a:t>Együttműködés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6592824"/>
            <a:ext cx="960120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• 9. évfolyam • Villamos alapismeretek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46888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53B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148840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1E6091"/>
                </a:solidFill>
                <a:latin typeface="Aptos"/>
              </a:defRPr>
            </a:pPr>
            <a:r>
              <a:t>SZAKMAI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731520" cy="7315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3800" b="0">
                <a:solidFill>
                  <a:srgbClr val="1E6091"/>
                </a:solidFill>
                <a:latin typeface="Aptos"/>
              </a:defRPr>
            </a:pPr>
            <a: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3000" b="1">
                <a:solidFill>
                  <a:srgbClr val="112D4E"/>
                </a:solidFill>
                <a:latin typeface="Aptos Display"/>
              </a:defRPr>
            </a:pPr>
            <a:r>
              <a:t>A hét végére a tanuló képes lesz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53B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11095"/>
            <a:ext cx="9555480" cy="32918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Kapcsolási rajzot értelmezni.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496312"/>
            <a:ext cx="10561320" cy="603504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05840" y="2633472"/>
            <a:ext cx="310896" cy="310896"/>
          </a:xfrm>
          <a:prstGeom prst="ellipse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660904"/>
            <a:ext cx="310896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624328"/>
            <a:ext cx="9555480" cy="32918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Egyszerű áramkört megépíteni.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209544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" y="3346703"/>
            <a:ext cx="310896" cy="310896"/>
          </a:xfrm>
          <a:prstGeom prst="ellipse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374136"/>
            <a:ext cx="310896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37560"/>
            <a:ext cx="9555480" cy="32918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Biztonságosan mérést végezni.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22776"/>
            <a:ext cx="10561320" cy="603504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05840" y="4059936"/>
            <a:ext cx="310896" cy="310896"/>
          </a:xfrm>
          <a:prstGeom prst="ellipse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087368"/>
            <a:ext cx="310896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050791"/>
            <a:ext cx="9555480" cy="32918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Hibát felismerni és javítani.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636008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05840" y="4773168"/>
            <a:ext cx="310896" cy="310896"/>
          </a:xfrm>
          <a:prstGeom prst="ellipse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4800600"/>
            <a:ext cx="310896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4764024"/>
            <a:ext cx="9555480" cy="32918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Munkáját szakmailag bemutatni.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349240"/>
            <a:ext cx="10561320" cy="603504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05840" y="5486400"/>
            <a:ext cx="310896" cy="310896"/>
          </a:xfrm>
          <a:prstGeom prst="ellipse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5513832"/>
            <a:ext cx="310896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477256"/>
            <a:ext cx="9555480" cy="32918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Együttműködni társaival.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" y="6592824"/>
            <a:ext cx="960120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• 9. évfolyam • Villamos alapismeretek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46888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53B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148840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1E6091"/>
                </a:solidFill>
                <a:latin typeface="Aptos"/>
              </a:defRPr>
            </a:pPr>
            <a:r>
              <a:t>SZAKMAI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731520" cy="7315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3800" b="0">
                <a:solidFill>
                  <a:srgbClr val="1E6091"/>
                </a:solidFill>
                <a:latin typeface="Aptos"/>
              </a:defRPr>
            </a:pPr>
            <a:r>
              <a:t>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3000" b="1">
                <a:solidFill>
                  <a:srgbClr val="112D4E"/>
                </a:solidFill>
                <a:latin typeface="Aptos Display"/>
              </a:defRPr>
            </a:pPr>
            <a:r>
              <a:t>Óravázlat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53B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11095"/>
            <a:ext cx="9555480" cy="32918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Beszéljük meg közösen a témához kapcsolódó szakmai tapasztalatokat.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92824"/>
            <a:ext cx="960120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• 9. évfolyam • Villamos alapismeretek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46888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53B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148840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1E6091"/>
                </a:solidFill>
                <a:latin typeface="Aptos"/>
              </a:defRPr>
            </a:pPr>
            <a:r>
              <a:t>SZAKMAI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731520" cy="7315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3800" b="0">
                <a:solidFill>
                  <a:srgbClr val="1E6091"/>
                </a:solidFill>
                <a:latin typeface="Aptos"/>
              </a:defRPr>
            </a:pPr>
            <a:r>
              <a:t>🛠️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3000" b="1">
                <a:solidFill>
                  <a:srgbClr val="112D4E"/>
                </a:solidFill>
                <a:latin typeface="Aptos Display"/>
              </a:defRPr>
            </a:pPr>
            <a:r>
              <a:t>Mini projekt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53B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11095"/>
            <a:ext cx="9555480" cy="32918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Készíts egyszerű mérési jegyzőkönyvet: kapcsolási rajz, felhasznált eszközök, mért értékek, megfigyelések és következtetések.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92824"/>
            <a:ext cx="960120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• 9. évfolyam • Villamos alapismeretek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46888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53B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148840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1E6091"/>
                </a:solidFill>
                <a:latin typeface="Aptos"/>
              </a:defRPr>
            </a:pPr>
            <a:r>
              <a:t>SZAKMAI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731520" cy="7315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3800" b="0">
                <a:solidFill>
                  <a:srgbClr val="1E6091"/>
                </a:solidFill>
                <a:latin typeface="Aptos"/>
              </a:defRPr>
            </a:pPr>
            <a: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3000" b="1">
                <a:solidFill>
                  <a:srgbClr val="112D4E"/>
                </a:solidFill>
                <a:latin typeface="Aptos Display"/>
              </a:defRPr>
            </a:pPr>
            <a:r>
              <a:t>Kapcsolódás a szakmához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53B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11095"/>
            <a:ext cx="9555480" cy="32918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A villanyszerelő munkája a tervezésből, kivitelezésből, mérésből, dokumentálásból és átadásból áll. A heti feladat ezt a folyamatot modellezi.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92824"/>
            <a:ext cx="960120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• 9. évfolyam • Villamos alapismeretek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46888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53B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148840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1E6091"/>
                </a:solidFill>
                <a:latin typeface="Aptos"/>
              </a:defRPr>
            </a:pPr>
            <a:r>
              <a:t>SZAKMAI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731520" cy="7315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3800" b="0">
                <a:solidFill>
                  <a:srgbClr val="1E6091"/>
                </a:solidFill>
                <a:latin typeface="Aptos"/>
              </a:defRPr>
            </a:pPr>
            <a:r>
              <a:t>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3000" b="1">
                <a:solidFill>
                  <a:srgbClr val="112D4E"/>
                </a:solidFill>
                <a:latin typeface="Aptos Display"/>
              </a:defRPr>
            </a:pPr>
            <a:r>
              <a:t>Szakmai szókincs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53B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11095"/>
            <a:ext cx="9555480" cy="32918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Beszéljük meg közösen a témához kapcsolódó szakmai tapasztalatokat.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92824"/>
            <a:ext cx="960120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• 9. évfolyam • Villamos alapismeretek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46888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53B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148840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1E6091"/>
                </a:solidFill>
                <a:latin typeface="Aptos"/>
              </a:defRPr>
            </a:pPr>
            <a:r>
              <a:t>SZAKMAI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731520" cy="7315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3800" b="0">
                <a:solidFill>
                  <a:srgbClr val="1E6091"/>
                </a:solidFill>
                <a:latin typeface="Aptos"/>
              </a:defRPr>
            </a:pPr>
            <a: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3000" b="1">
                <a:solidFill>
                  <a:srgbClr val="112D4E"/>
                </a:solidFill>
                <a:latin typeface="Aptos Display"/>
              </a:defRPr>
            </a:pPr>
            <a:r>
              <a:t>Valós életből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53B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11095"/>
            <a:ext cx="9555480" cy="32918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A szakember nem feltételezi, hogy a munkája jó. Megméri, ellenőrzi, majd dokumentálja az eredményeket.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92824"/>
            <a:ext cx="960120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• 9. évfolyam • Villamos alapismeretek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46888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53B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148840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1E6091"/>
                </a:solidFill>
                <a:latin typeface="Aptos"/>
              </a:defRPr>
            </a:pPr>
            <a:r>
              <a:t>SZAKMAI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731520" cy="7315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3800" b="0">
                <a:solidFill>
                  <a:srgbClr val="1E6091"/>
                </a:solidFill>
                <a:latin typeface="Aptos"/>
              </a:defRPr>
            </a:pPr>
            <a: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3000" b="1">
                <a:solidFill>
                  <a:srgbClr val="112D4E"/>
                </a:solidFill>
                <a:latin typeface="Aptos Display"/>
              </a:defRPr>
            </a:pPr>
            <a:r>
              <a:t>Érdekesség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53B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11095"/>
            <a:ext cx="9555480" cy="32918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Az ipari villamos rendszerek üzembe helyezése csak sikeres mérések és dokumentált ellenőrzések után történhet meg.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92824"/>
            <a:ext cx="960120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• 9. évfolyam • Villamos alapismeretek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46888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53B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148840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1E6091"/>
                </a:solidFill>
                <a:latin typeface="Aptos"/>
              </a:defRPr>
            </a:pPr>
            <a:r>
              <a:t>SZAKMAI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731520" cy="7315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3800" b="0">
                <a:solidFill>
                  <a:srgbClr val="1E6091"/>
                </a:solidFill>
                <a:latin typeface="Aptos"/>
              </a:defRPr>
            </a:pPr>
            <a:r>
              <a:t>⚠️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3000" b="1">
                <a:solidFill>
                  <a:srgbClr val="112D4E"/>
                </a:solidFill>
                <a:latin typeface="Aptos Display"/>
              </a:defRPr>
            </a:pPr>
            <a:r>
              <a:t>Tipikus tévhitek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53B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11095"/>
            <a:ext cx="9555480" cy="32918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Ha működik, biztosan jól is van bekötve.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496312"/>
            <a:ext cx="10561320" cy="603504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05840" y="2633472"/>
            <a:ext cx="310896" cy="310896"/>
          </a:xfrm>
          <a:prstGeom prst="ellipse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660904"/>
            <a:ext cx="310896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624328"/>
            <a:ext cx="9555480" cy="32918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A dokumentáció felesleges.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209544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" y="3346703"/>
            <a:ext cx="310896" cy="310896"/>
          </a:xfrm>
          <a:prstGeom prst="ellipse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374136"/>
            <a:ext cx="310896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37560"/>
            <a:ext cx="9555480" cy="32918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A mérés csak formalitás.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6592824"/>
            <a:ext cx="960120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• 9. évfolyam • Villamos alapismeretek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46888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53B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148840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1E6091"/>
                </a:solidFill>
                <a:latin typeface="Aptos"/>
              </a:defRPr>
            </a:pPr>
            <a:r>
              <a:t>SZAKMAI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731520" cy="7315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3800" b="0">
                <a:solidFill>
                  <a:srgbClr val="1E6091"/>
                </a:solidFill>
                <a:latin typeface="Aptos"/>
              </a:defRPr>
            </a:pPr>
            <a: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3000" b="1">
                <a:solidFill>
                  <a:srgbClr val="112D4E"/>
                </a:solidFill>
                <a:latin typeface="Aptos Display"/>
              </a:defRPr>
            </a:pPr>
            <a:r>
              <a:t>Oktatói eszközlista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53B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11095"/>
            <a:ext cx="9555480" cy="32918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Beszéljük meg közösen a témához kapcsolódó szakmai tapasztalatokat.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92824"/>
            <a:ext cx="960120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• 9. évfolyam • Villamos alapismeretek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46888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53B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148840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1E6091"/>
                </a:solidFill>
                <a:latin typeface="Aptos"/>
              </a:defRPr>
            </a:pPr>
            <a:r>
              <a:t>SZAKMAI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731520" cy="7315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3800" b="0">
                <a:solidFill>
                  <a:srgbClr val="1E6091"/>
                </a:solidFill>
                <a:latin typeface="Aptos"/>
              </a:defRPr>
            </a:pPr>
            <a: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3000" b="1">
                <a:solidFill>
                  <a:srgbClr val="112D4E"/>
                </a:solidFill>
                <a:latin typeface="Aptos Display"/>
              </a:defRPr>
            </a:pPr>
            <a:r>
              <a:t>Digitális multiméterek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53B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11095"/>
            <a:ext cx="9555480" cy="32918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Beszéljük meg közösen a témához kapcsolódó szakmai tapasztalatokat.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92824"/>
            <a:ext cx="960120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• 9. évfolyam • Villamos alapismeretek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46888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53B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148840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1E6091"/>
                </a:solidFill>
                <a:latin typeface="Aptos"/>
              </a:defRPr>
            </a:pPr>
            <a:r>
              <a:t>SZAKMAI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731520" cy="7315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3800" b="0">
                <a:solidFill>
                  <a:srgbClr val="1E6091"/>
                </a:solidFill>
                <a:latin typeface="Aptos"/>
              </a:defRPr>
            </a:pPr>
            <a: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3000" b="1">
                <a:solidFill>
                  <a:srgbClr val="112D4E"/>
                </a:solidFill>
                <a:latin typeface="Aptos Display"/>
              </a:defRPr>
            </a:pPr>
            <a:r>
              <a:t>Próbapanelek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53B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11095"/>
            <a:ext cx="9555480" cy="32918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Beszéljük meg közösen a témához kapcsolódó szakmai tapasztalatokat.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92824"/>
            <a:ext cx="960120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• 9. évfolyam • Villamos alapismeretek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46888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53B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148840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1E6091"/>
                </a:solidFill>
                <a:latin typeface="Aptos"/>
              </a:defRPr>
            </a:pPr>
            <a:r>
              <a:t>SZAKMAI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731520" cy="7315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3800" b="0">
                <a:solidFill>
                  <a:srgbClr val="1E6091"/>
                </a:solidFill>
                <a:latin typeface="Aptos"/>
              </a:defRPr>
            </a:pPr>
            <a: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3000" b="1">
                <a:solidFill>
                  <a:srgbClr val="112D4E"/>
                </a:solidFill>
                <a:latin typeface="Aptos Display"/>
              </a:defRPr>
            </a:pPr>
            <a:r>
              <a:t>Tápegységek vagy elemek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53B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11095"/>
            <a:ext cx="9555480" cy="32918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Beszéljük meg közösen a témához kapcsolódó szakmai tapasztalatokat.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92824"/>
            <a:ext cx="960120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• 9. évfolyam • Villamos alapismeretek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46888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53B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148840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1E6091"/>
                </a:solidFill>
                <a:latin typeface="Aptos"/>
              </a:defRPr>
            </a:pPr>
            <a:r>
              <a:t>SZAKMAI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731520" cy="7315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3800" b="0">
                <a:solidFill>
                  <a:srgbClr val="1E6091"/>
                </a:solidFill>
                <a:latin typeface="Aptos"/>
              </a:defRPr>
            </a:pPr>
            <a: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3000" b="1">
                <a:solidFill>
                  <a:srgbClr val="112D4E"/>
                </a:solidFill>
                <a:latin typeface="Aptos Display"/>
              </a:defRPr>
            </a:pPr>
            <a:r>
              <a:t>LED-ek, kisizzók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53B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11095"/>
            <a:ext cx="9555480" cy="32918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Beszéljük meg közösen a témához kapcsolódó szakmai tapasztalatokat.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92824"/>
            <a:ext cx="960120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• 9. évfolyam • Villamos alapismeretek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46888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53B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148840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1E6091"/>
                </a:solidFill>
                <a:latin typeface="Aptos"/>
              </a:defRPr>
            </a:pPr>
            <a:r>
              <a:t>SZAKMAI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731520" cy="7315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3800" b="0">
                <a:solidFill>
                  <a:srgbClr val="1E6091"/>
                </a:solidFill>
                <a:latin typeface="Aptos"/>
              </a:defRPr>
            </a:pPr>
            <a: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3000" b="1">
                <a:solidFill>
                  <a:srgbClr val="112D4E"/>
                </a:solidFill>
                <a:latin typeface="Aptos Display"/>
              </a:defRPr>
            </a:pPr>
            <a:r>
              <a:t>Kapcsolók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53B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11095"/>
            <a:ext cx="9555480" cy="32918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Beszéljük meg közösen a témához kapcsolódó szakmai tapasztalatokat.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92824"/>
            <a:ext cx="960120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• 9. évfolyam • Villamos alapismeretek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46888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53B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148840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1E6091"/>
                </a:solidFill>
                <a:latin typeface="Aptos"/>
              </a:defRPr>
            </a:pPr>
            <a:r>
              <a:t>SZAKMAI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731520" cy="7315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3800" b="0">
                <a:solidFill>
                  <a:srgbClr val="1E6091"/>
                </a:solidFill>
                <a:latin typeface="Aptos"/>
              </a:defRPr>
            </a:pPr>
            <a: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3000" b="1">
                <a:solidFill>
                  <a:srgbClr val="112D4E"/>
                </a:solidFill>
                <a:latin typeface="Aptos Display"/>
              </a:defRPr>
            </a:pPr>
            <a:r>
              <a:t>Vezetékek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53B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11095"/>
            <a:ext cx="9555480" cy="32918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Beszéljük meg közösen a témához kapcsolódó szakmai tapasztalatokat.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92824"/>
            <a:ext cx="960120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• 9. évfolyam • Villamos alapismeretek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46888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53B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148840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1E6091"/>
                </a:solidFill>
                <a:latin typeface="Aptos"/>
              </a:defRPr>
            </a:pPr>
            <a:r>
              <a:t>SZAKMAI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731520" cy="7315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3800" b="0">
                <a:solidFill>
                  <a:srgbClr val="1E6091"/>
                </a:solidFill>
                <a:latin typeface="Aptos"/>
              </a:defRPr>
            </a:pPr>
            <a: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3000" b="1">
                <a:solidFill>
                  <a:srgbClr val="112D4E"/>
                </a:solidFill>
                <a:latin typeface="Aptos Display"/>
              </a:defRPr>
            </a:pPr>
            <a:r>
              <a:t>Mérési jegyzőkönyv minta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53B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11095"/>
            <a:ext cx="9555480" cy="32918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Beszéljük meg közösen a témához kapcsolódó szakmai tapasztalatokat.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92824"/>
            <a:ext cx="960120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• 9. évfolyam • Villamos alapismeretek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46888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53B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148840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1E6091"/>
                </a:solidFill>
                <a:latin typeface="Aptos"/>
              </a:defRPr>
            </a:pPr>
            <a:r>
              <a:t>SZAKMAI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731520" cy="7315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3800" b="0">
                <a:solidFill>
                  <a:srgbClr val="1E6091"/>
                </a:solidFill>
                <a:latin typeface="Aptos"/>
              </a:defRPr>
            </a:pPr>
            <a: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3000" b="1">
                <a:solidFill>
                  <a:srgbClr val="112D4E"/>
                </a:solidFill>
                <a:latin typeface="Aptos Display"/>
              </a:defRPr>
            </a:pPr>
            <a:r>
              <a:t>Oktatói megjegyzés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53B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11095"/>
            <a:ext cx="9555480" cy="32918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Ez a hét megerősíti a tanulók önállóságát és szakmai önbizalmát. A hangsúly a teljes munkafolyamat átlátásán van.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92824"/>
            <a:ext cx="960120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• 9. évfolyam • Villamos alapismeretek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46888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53B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148840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1E6091"/>
                </a:solidFill>
                <a:latin typeface="Aptos"/>
              </a:defRPr>
            </a:pPr>
            <a:r>
              <a:t>SZAKMAI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731520" cy="7315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3800" b="0">
                <a:solidFill>
                  <a:srgbClr val="1E6091"/>
                </a:solidFill>
                <a:latin typeface="Aptos"/>
              </a:defRPr>
            </a:pPr>
            <a: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3000" b="1">
                <a:solidFill>
                  <a:srgbClr val="112D4E"/>
                </a:solidFill>
                <a:latin typeface="Aptos Display"/>
              </a:defRPr>
            </a:pPr>
            <a:r>
              <a:t>Mester tanácsa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53B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11095"/>
            <a:ext cx="9555480" cy="32918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„A jó szakember munkáját nem a szerencse, hanem a felkészültség teszi sikeressé.”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92824"/>
            <a:ext cx="960120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• 9. évfolyam • Villamos alapismeretek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46888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53B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148840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1E6091"/>
                </a:solidFill>
                <a:latin typeface="Aptos"/>
              </a:defRPr>
            </a:pPr>
            <a:r>
              <a:t>SZAKMAI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731520" cy="7315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3800" b="0">
                <a:solidFill>
                  <a:srgbClr val="1E6091"/>
                </a:solidFill>
                <a:latin typeface="Aptos"/>
              </a:defRPr>
            </a:pPr>
            <a: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3000" b="1">
                <a:solidFill>
                  <a:srgbClr val="112D4E"/>
                </a:solidFill>
                <a:latin typeface="Aptos Display"/>
              </a:defRPr>
            </a:pPr>
            <a:r>
              <a:t>A hét záró gondolata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53B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11095"/>
            <a:ext cx="9555480" cy="32918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„Ma még tanuló vagy. De már úgy dolgozol, mint egy szakember.”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92824"/>
            <a:ext cx="960120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• 9. évfolyam • Villamos alapismeretek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56032"/>
            <a:ext cx="2468880" cy="347472"/>
          </a:xfrm>
          <a:prstGeom prst="roundRect">
            <a:avLst/>
          </a:prstGeom>
          <a:solidFill>
            <a:srgbClr val="E8F4FC"/>
          </a:solidFill>
          <a:ln>
            <a:solidFill>
              <a:srgbClr val="53B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148840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1E6091"/>
                </a:solidFill>
                <a:latin typeface="Aptos"/>
              </a:defRPr>
            </a:pPr>
            <a:r>
              <a:t>SZAKMAI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731520" cy="7315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3800" b="0">
                <a:solidFill>
                  <a:srgbClr val="1E6091"/>
                </a:solidFill>
                <a:latin typeface="Aptos"/>
              </a:defRPr>
            </a:pPr>
            <a:r>
              <a:t>➡️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96696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3000" b="1">
                <a:solidFill>
                  <a:srgbClr val="112D4E"/>
                </a:solidFill>
                <a:latin typeface="Aptos Display"/>
              </a:defRPr>
            </a:pPr>
            <a:r>
              <a:t>A következő hét előzetese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9784080" cy="32004"/>
          </a:xfrm>
          <a:prstGeom prst="rect">
            <a:avLst/>
          </a:prstGeom>
          <a:solidFill>
            <a:srgbClr val="53B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0350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10896" cy="310896"/>
          </a:xfrm>
          <a:prstGeom prst="ellipse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310896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11095"/>
            <a:ext cx="9555480" cy="32918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ptos"/>
              </a:defRPr>
            </a:pPr>
            <a:r>
              <a:t>17. hét: A félév szakmai összefoglalása és gyakorlati megerősítése.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92824"/>
            <a:ext cx="960120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IAP • 9. évfolyam • Villamos alapismeretek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92824"/>
            <a:ext cx="73152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831</Words>
  <Application>Microsoft Office PowerPoint</Application>
  <PresentationFormat>Szélesvásznú</PresentationFormat>
  <Paragraphs>213</Paragraphs>
  <Slides>26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keywords/>
  <dc:description>generated using python-pptx</dc:description>
  <cp:lastModifiedBy>zsolt Fazekas</cp:lastModifiedBy>
  <cp:revision>4</cp:revision>
  <dcterms:created xsi:type="dcterms:W3CDTF">2013-01-27T09:14:16Z</dcterms:created>
  <dcterms:modified xsi:type="dcterms:W3CDTF">2026-08-05T14:58:18Z</dcterms:modified>
  <cp:category/>
</cp:coreProperties>
</file>