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aleway" pitchFamily="2" charset="-18"/>
      <p:regular r:id="rId18"/>
    </p:embeddedFont>
    <p:embeddedFont>
      <p:font typeface="Roboto" panose="02000000000000000000" pitchFamily="2" charset="0"/>
      <p:regular r:id="rId19"/>
    </p:embeddedFont>
    <p:embeddedFont>
      <p:font typeface="Roboto Bold" panose="02000000000000000000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31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lesz 400 kV-ból 230 V?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transzformátor története — 9. évfolyam, Villamosipari alapismeretek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78231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az a transzformátor?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437903"/>
            <a:ext cx="2290465" cy="1728267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1584424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Váltakozó feszültség átalakítója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112392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gép, amely a bemeneti váltakozó feszültséget más szintű váltakozó feszültséggé alakítja.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437903"/>
            <a:ext cx="2290539" cy="1728267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1584424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Nem termel energiát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1890936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Csak a feszültség szintjét változtatja meg — az energia megmarad (veszteségtől eltekintve).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307928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45445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Nélkülözhetetlen eszköz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76096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 villamosenergia-elosztás nem működhetne transzformátor nélkül.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353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kell a feszültséget átalakítani?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48792"/>
            <a:ext cx="2659931" cy="2659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8021" y="2055242"/>
            <a:ext cx="519462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nagy távolság problémája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58021" y="2350219"/>
            <a:ext cx="519462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elektromos energia szállítása során a vezetékekben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hőveszteség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keletkezik. Minél nagyobb az áram, annál nagyobb a veszteség.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809" y="3948001"/>
            <a:ext cx="182687" cy="1826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001" y="3944169"/>
            <a:ext cx="223413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Magas feszültség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92001" y="4197325"/>
            <a:ext cx="223413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Alacsonyabb áram szükséges ugyanannyi teljesítmény szállításához.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645" y="3948001"/>
            <a:ext cx="182687" cy="1826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2838" y="3944169"/>
            <a:ext cx="223413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Kisebb veszteség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652838" y="4197325"/>
            <a:ext cx="223413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veszteség az áramerősség négyzetével arányos — ezért éri meg magasan szállítani.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3481" y="3948001"/>
            <a:ext cx="182687" cy="1826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13674" y="3944169"/>
            <a:ext cx="2234208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Biztonságos fogyasztói feszültség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413674" y="4387676"/>
            <a:ext cx="223420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háztartásokba végül alacsony, biztonságos 230 V érkezik.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13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magyar feltalálók: a ZBD-hármas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17886"/>
            <a:ext cx="1143595" cy="1143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3866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Zipernowsky Károly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4517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Ganz-gyár vezető mérnöke, a projekt szellemi irányítója.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417886"/>
            <a:ext cx="1143595" cy="1143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3866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Déri Miksa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04517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elektromos gépek kísérletezője, a tekercsrendszer kidolgozója.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417886"/>
            <a:ext cx="1143595" cy="11435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3866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Bláthy Ottó Titusz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04517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matematikai alapok mestere, a hatásfok-számítások kidolgozója.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658270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859039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83545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1885 —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budapesti Ganz-gyárban alkották meg a zárt vasmagú transzformátort, amely a modern villamosenergia-elosztás alapköve lett.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transzformátor felépítése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4" y="1506289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07533" y="1559867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három fő elem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988" y="2058219"/>
            <a:ext cx="1631305" cy="20457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1997" y="2219027"/>
            <a:ext cx="1233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 tekercs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711997" y="2582242"/>
            <a:ext cx="123348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Bemeneti tekercs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ide érkezik a nagyobb feszültségű váltakozó áram.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8052" y="2058219"/>
            <a:ext cx="1631379" cy="20457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5061" y="2219027"/>
            <a:ext cx="1233562" cy="4429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Szekunder tekercs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485061" y="2803699"/>
            <a:ext cx="1233562" cy="113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Kimeneti tekercs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innen vehető le az átalakított, alacsonyabb feszültség.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1190" y="2058219"/>
            <a:ext cx="1631379" cy="20457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58199" y="2219027"/>
            <a:ext cx="1233562" cy="2214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Vasmag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258199" y="2582242"/>
            <a:ext cx="1233562" cy="13608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Mágneses vezető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összeköti a két tekercset, a mágneses teret rajta keresztül vezeti.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67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működik?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00" y="1303213"/>
            <a:ext cx="7321525" cy="2650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8656" y="3306655"/>
            <a:ext cx="183411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Szekunder fesz.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48656" y="2507797"/>
            <a:ext cx="183411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Mágneses tér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48656" y="1700787"/>
            <a:ext cx="183411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 áram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11308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elektromágneses indukció elvén alapul: a változó mágneses tér feszültséget kelt a közelben lévő tekercsben — ez Faraday alaptörvénye.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20744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áttétel fogalma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707133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Áttétel = primer menetszám / szekunder menetszám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94022" y="2141190"/>
            <a:ext cx="2392635" cy="1794867"/>
          </a:xfrm>
          <a:prstGeom prst="roundRect">
            <a:avLst>
              <a:gd name="adj" fmla="val 5687"/>
            </a:avLst>
          </a:prstGeom>
          <a:solidFill>
            <a:schemeClr val="accent1">
              <a:lumMod val="60000"/>
              <a:lumOff val="40000"/>
              <a:alpha val="95000"/>
            </a:schemeClr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2282949"/>
            <a:ext cx="21091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Feltranszformálás </a:t>
            </a: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⬆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5781" y="2646164"/>
            <a:ext cx="2109118" cy="1162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Kevesebb menet → több menet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feszültség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nő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nagy távolságú szállításhoz.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20 kV → 400 kV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5201" y="2282949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Letranszformálás </a:t>
            </a: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⬇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35201" y="2646164"/>
            <a:ext cx="2188443" cy="1162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menet → kevesebb menet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feszültség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csökken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fogyasztói használathoz.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10 kV → 230 V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14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energia útja az erőműtől a konnektorig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7982"/>
            <a:ext cx="407588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066776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Erőmű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373288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20–25 kV feszültségen termel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57982"/>
            <a:ext cx="4075881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759" y="2066776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Feltranszformálás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3759" y="2373288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400 kV-ra növelve — távolsági szállítás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741861"/>
            <a:ext cx="4075881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877" y="3450654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Alállomás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7877" y="3757166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10–20 kV-ra csökkentve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741861"/>
            <a:ext cx="4075881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3759" y="3450654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Letranszformálás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13759" y="3757166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230 V a lakásban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428520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egyes lépésnél egy transzformátor végzi a feszültségváltást — a rendszer hatékonysága és biztonsága ezen múlik.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5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Transzformátorok a mindennapi életben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8706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Oszloptranszformátor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utcán látható, nagy teljesítményű berendezés — a városrész ellátásáért felel.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88706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Csengőtranszformátor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242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ajtócsengő biztonságos, alacsony feszültségre való működtetésére.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88706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Telefontöltő tápegysége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242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230 V-os hálózati feszültséget 5–20 V-ra alakítja a készülék számára.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93216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villanyszerelő és a transzformátor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925119" y="1450925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villanyszerelő nap mint nap találkozik transzformátorokkal a munkájában — csengőkben, vezérlésekben, tápegységekben és elosztóhálózatokban egyaránt.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114502" y="2085826"/>
            <a:ext cx="453337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jó szakember nemcsak a készüléket ismeri, hanem azt is, hogyan jut el hozzá az energia — és melyik transzformátor tette ezt lehetővé.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959322"/>
            <a:ext cx="14288" cy="634901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sp>
        <p:nvSpPr>
          <p:cNvPr id="8" name="Shape 5"/>
          <p:cNvSpPr/>
          <p:nvPr/>
        </p:nvSpPr>
        <p:spPr>
          <a:xfrm>
            <a:off x="3925119" y="2720727"/>
            <a:ext cx="2305124" cy="1099468"/>
          </a:xfrm>
          <a:prstGeom prst="roundRect">
            <a:avLst>
              <a:gd name="adj" fmla="val 4823"/>
            </a:avLst>
          </a:prstGeom>
          <a:solidFill>
            <a:schemeClr val="accent1">
              <a:lumMod val="60000"/>
              <a:lumOff val="40000"/>
            </a:schemeClr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6087" y="2851696"/>
            <a:ext cx="20431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Csengők és jelzők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56087" y="3116387"/>
            <a:ext cx="204318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 transzformátorok alacsony feszültségen működtetik a hangjelzőket.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42683" y="2720727"/>
            <a:ext cx="2305199" cy="1099468"/>
          </a:xfrm>
          <a:prstGeom prst="roundRect">
            <a:avLst>
              <a:gd name="adj" fmla="val 4823"/>
            </a:avLst>
          </a:prstGeom>
          <a:solidFill>
            <a:schemeClr val="accent1">
              <a:lumMod val="60000"/>
              <a:lumOff val="40000"/>
            </a:schemeClr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651" y="2851696"/>
            <a:ext cx="20432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Vezérlések és tápegységek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73651" y="3116387"/>
            <a:ext cx="20432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Ipari vezérlőáramkörök és PLC-k tápellátása transzformátoron keresztül.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932634"/>
            <a:ext cx="4722763" cy="717575"/>
          </a:xfrm>
          <a:prstGeom prst="roundRect">
            <a:avLst>
              <a:gd name="adj" fmla="val 7390"/>
            </a:avLst>
          </a:prstGeom>
          <a:solidFill>
            <a:schemeClr val="accent1">
              <a:lumMod val="60000"/>
              <a:lumOff val="40000"/>
            </a:schemeClr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6087" y="4063603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Elosztóhálózat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6087" y="4328294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helyi alállomások és oszloptranszformátorok az épületek ellátásáért felelnek.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755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Szakmai szókincs — összefoglalás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80195"/>
            <a:ext cx="3927277" cy="3520827"/>
          </a:xfrm>
          <a:prstGeom prst="roundRect">
            <a:avLst>
              <a:gd name="adj" fmla="val 145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403672"/>
            <a:ext cx="3927277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905967"/>
            <a:ext cx="3927277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89461"/>
            <a:ext cx="3927277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91755"/>
            <a:ext cx="3927277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594050"/>
            <a:ext cx="3927277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4096345"/>
            <a:ext cx="3927277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2697" y="1152525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Fogalom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1573" y="1152525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Jelentés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2697" y="1473622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Primer tekercs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1573" y="1473622"/>
            <a:ext cx="171524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Bemeneti tekercs — ide érkezik a váltakozó feszültség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2697" y="1975917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Szekunder tekercs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1573" y="1975917"/>
            <a:ext cx="171524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Kimeneti tekercs — innen vehető le az átalakított feszültség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697" y="2659410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Vasmag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1573" y="2659410"/>
            <a:ext cx="171524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Mágneses teret vezető rész, összeköti a tekercseket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2697" y="3161705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Áttétel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1573" y="3161705"/>
            <a:ext cx="171524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primer és szekunder menetszám aránya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2697" y="3664000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Feltranszformálás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1573" y="3664000"/>
            <a:ext cx="171524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 növelése — szállításhoz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697" y="4166295"/>
            <a:ext cx="21724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Letranszformálás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1573" y="4166295"/>
            <a:ext cx="1715244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 csökkentése — fogyasztóhoz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25367" y="1067098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Emlékezz a ZBD-hármasra!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25367" y="1362075"/>
            <a:ext cx="392727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Zipernowsky – Déri – Bláthy</a:t>
            </a:r>
            <a:endParaRPr lang="en-US" sz="9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Ganz-gyár mérnökei, 1885-ben alkották meg a zárt vasmagú transzformátort Budapesten.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25367" y="2010296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nagy kérdés megválaszolva: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25367" y="2305273"/>
            <a:ext cx="392727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400 kV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-os szállítóhálózatból több transzformátor lépcsőzetes letranszformálásán keresztül lesz végül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230 V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konnektorban.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5367" y="2785393"/>
            <a:ext cx="3927277" cy="611684"/>
          </a:xfrm>
          <a:prstGeom prst="roundRect">
            <a:avLst>
              <a:gd name="adj" fmla="val 8365"/>
            </a:avLst>
          </a:prstGeom>
          <a:solidFill>
            <a:srgbClr val="E1E1EA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183" y="2964359"/>
            <a:ext cx="152251" cy="12181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121250" y="2910036"/>
            <a:ext cx="340957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Következő óra: Transzformátor számítási feladatok — hozd el a zsebszámológépedet!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616</Words>
  <Application>Microsoft Office PowerPoint</Application>
  <PresentationFormat>Diavetítés a képernyőre (16:9 oldalarány)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Raleway</vt:lpstr>
      <vt:lpstr>Calibri</vt:lpstr>
      <vt:lpstr>Roboto</vt:lpstr>
      <vt:lpstr>Roboto Bold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2026-08-06T16:15:13Z</dcterms:created>
  <dcterms:modified xsi:type="dcterms:W3CDTF">2026-08-06T16:18:59Z</dcterms:modified>
</cp:coreProperties>
</file>