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t>10. hét – A villanyszerelők közös nyelve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/>
            </a:pPr>
            <a:r>
              <a:t>Kapcsolási rajzok és villamos jelképek</a:t>
            </a:r>
          </a:p>
          <a:p>
            <a:r>
              <a:t>Fejlődési szakasz 3. – Az áramkörök világa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IAA • 9. évfolyam • Villamos alapismeretek • 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Útravaló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„A jó szakember nemcsak bekötni tudja az áramkört, hanem lerajzolni is.”</a:t>
            </a:r>
          </a:p>
          <a:p>
            <a:pPr>
              <a:spcAft>
                <a:spcPts val="1000"/>
              </a:spcAft>
              <a:defRPr sz="2100"/>
            </a:pPr>
            <a:r>
              <a:t>A kapcsolási rajz a villamos szakma közös nyelve.</a:t>
            </a:r>
          </a:p>
          <a:p>
            <a:pPr>
              <a:spcAft>
                <a:spcPts val="1000"/>
              </a:spcAft>
              <a:defRPr sz="2100"/>
            </a:pPr>
            <a:r>
              <a:t>Az egységes rajzjelek segítségével minden szakember ugyanazt érti a tervből.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 hét célja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A kapcsolási rajz szerepének megértése.</a:t>
            </a:r>
          </a:p>
          <a:p>
            <a:pPr>
              <a:spcAft>
                <a:spcPts val="1000"/>
              </a:spcAft>
              <a:defRPr sz="2100"/>
            </a:pPr>
            <a:r>
              <a:t>A legfontosabb villamos jelképek felismerése.</a:t>
            </a:r>
          </a:p>
          <a:p>
            <a:pPr>
              <a:spcAft>
                <a:spcPts val="1000"/>
              </a:spcAft>
              <a:defRPr sz="2100"/>
            </a:pPr>
            <a:r>
              <a:t>Egyszerű kapcsolási rajz olvasása és elkészítése.</a:t>
            </a:r>
          </a:p>
          <a:p>
            <a:pPr>
              <a:spcAft>
                <a:spcPts val="1000"/>
              </a:spcAft>
              <a:defRPr sz="2100"/>
            </a:pPr>
            <a:r>
              <a:t>A rajz és a valós áramkör kapcsolatának felismerése.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Órakeret: 3 tanóra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Mit tudjon a tanuló a hét végére?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Felismerni a legfontosabb villamos jelképeket.</a:t>
            </a:r>
          </a:p>
          <a:p>
            <a:pPr>
              <a:spcAft>
                <a:spcPts val="1000"/>
              </a:spcAft>
              <a:defRPr sz="2100"/>
            </a:pPr>
            <a:r>
              <a:t>Megrajzolni egy egyszerű kapcsolási rajzot.</a:t>
            </a:r>
          </a:p>
          <a:p>
            <a:pPr>
              <a:spcAft>
                <a:spcPts val="1000"/>
              </a:spcAft>
              <a:defRPr sz="2100"/>
            </a:pPr>
            <a:r>
              <a:t>Kapcsolási rajz alapján egyszerű áramkört összeállítani.</a:t>
            </a:r>
          </a:p>
          <a:p>
            <a:pPr>
              <a:spcAft>
                <a:spcPts val="1000"/>
              </a:spcAft>
              <a:defRPr sz="2100"/>
            </a:pPr>
            <a:r>
              <a:t>A valós áramkört szabványos jelölésekkel visszarajzolni.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tanóra – Miért rajzolunk kapcsolási rajzot?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A kapcsolási rajz szerepe a villamos szakmában.</a:t>
            </a:r>
          </a:p>
          <a:p>
            <a:pPr>
              <a:spcAft>
                <a:spcPts val="1000"/>
              </a:spcAft>
              <a:defRPr sz="2100"/>
            </a:pPr>
            <a:r>
              <a:t>Egységes jelölések és szabványos rajzjelek.</a:t>
            </a:r>
          </a:p>
          <a:p>
            <a:pPr>
              <a:spcAft>
                <a:spcPts val="1000"/>
              </a:spcAft>
              <a:defRPr sz="2100"/>
            </a:pPr>
            <a:r>
              <a:t>Valós villamos tervrajzok bemutatása.</a:t>
            </a:r>
          </a:p>
          <a:p>
            <a:pPr>
              <a:spcAft>
                <a:spcPts val="1000"/>
              </a:spcAft>
              <a:defRPr sz="2100"/>
            </a:pPr>
            <a:r>
              <a:t>A rajz gyorsabbá és biztonságosabbá teszi a munkát.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 legfontosabb villamos jelképek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Vezeték</a:t>
            </a:r>
          </a:p>
          <a:p>
            <a:pPr algn="ctr">
              <a:defRPr sz="2200"/>
            </a:pPr>
            <a:r>
              <a:t>────────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26280" y="123444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Csomópont</a:t>
            </a:r>
          </a:p>
          <a:p>
            <a:pPr algn="ctr">
              <a:defRPr sz="2200"/>
            </a:pPr>
            <a:r>
              <a:t>──●──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23444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Elem</a:t>
            </a:r>
          </a:p>
          <a:p>
            <a:pPr algn="ctr">
              <a:defRPr sz="2200"/>
            </a:pPr>
            <a:r>
              <a:t>─ | | 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Kapcsoló</a:t>
            </a:r>
          </a:p>
          <a:p>
            <a:pPr algn="ctr">
              <a:defRPr sz="2200"/>
            </a:pPr>
            <a:r>
              <a:t>─o/ o─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78892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Nyomógomb</a:t>
            </a:r>
          </a:p>
          <a:p>
            <a:pPr algn="ctr">
              <a:defRPr sz="2200"/>
            </a:pPr>
            <a:r>
              <a:t>─o  o─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278892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Biztosíték</a:t>
            </a:r>
          </a:p>
          <a:p>
            <a:pPr algn="ctr">
              <a:defRPr sz="2200"/>
            </a:pPr>
            <a:r>
              <a:t>─[ F ]─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4340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Izzó</a:t>
            </a:r>
          </a:p>
          <a:p>
            <a:pPr algn="ctr">
              <a:defRPr sz="2200"/>
            </a:pPr>
            <a:r>
              <a:t>─( X )─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34340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LED</a:t>
            </a:r>
          </a:p>
          <a:p>
            <a:pPr algn="ctr">
              <a:defRPr sz="2200"/>
            </a:pPr>
            <a:r>
              <a:t>─|&gt;|─ ⇗⇗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343400"/>
            <a:ext cx="35204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Ellenállás</a:t>
            </a:r>
          </a:p>
          <a:p>
            <a:pPr algn="ctr">
              <a:defRPr sz="2200"/>
            </a:pPr>
            <a:r>
              <a:t>─[ R ]─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tanóra – Rajzjelek gyakorlása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Vezeték és csomópont.</a:t>
            </a:r>
          </a:p>
          <a:p>
            <a:pPr>
              <a:spcAft>
                <a:spcPts val="1000"/>
              </a:spcAft>
              <a:defRPr sz="2100"/>
            </a:pPr>
            <a:r>
              <a:t>Elem és akkumulátor.</a:t>
            </a:r>
          </a:p>
          <a:p>
            <a:pPr>
              <a:spcAft>
                <a:spcPts val="1000"/>
              </a:spcAft>
              <a:defRPr sz="2100"/>
            </a:pPr>
            <a:r>
              <a:t>Kapcsoló és nyomógomb.</a:t>
            </a:r>
          </a:p>
          <a:p>
            <a:pPr>
              <a:spcAft>
                <a:spcPts val="1000"/>
              </a:spcAft>
              <a:defRPr sz="2100"/>
            </a:pPr>
            <a:r>
              <a:t>Biztosíték, izzó és LED.</a:t>
            </a:r>
          </a:p>
          <a:p>
            <a:pPr>
              <a:spcAft>
                <a:spcPts val="1000"/>
              </a:spcAft>
              <a:defRPr sz="2100"/>
            </a:pPr>
            <a:r>
              <a:t>Ellenállás.</a:t>
            </a:r>
          </a:p>
          <a:p>
            <a:pPr>
              <a:spcAft>
                <a:spcPts val="1000"/>
              </a:spcAft>
              <a:defRPr sz="2100"/>
            </a:pPr>
            <a:r>
              <a:t>Rajzjel-kártyás párosító gyakorlat.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tanóra – Rajzból valóság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Egyszerű kapcsolási rajz értelmezése.</a:t>
            </a:r>
          </a:p>
          <a:p>
            <a:pPr>
              <a:spcAft>
                <a:spcPts val="1000"/>
              </a:spcAft>
              <a:defRPr sz="2100"/>
            </a:pPr>
            <a:r>
              <a:t>Áramkör összeállítása a rajz alapján.</a:t>
            </a:r>
          </a:p>
          <a:p>
            <a:pPr>
              <a:spcAft>
                <a:spcPts val="1000"/>
              </a:spcAft>
              <a:defRPr sz="2100"/>
            </a:pPr>
            <a:r>
              <a:t>A működés ellenőrzése.</a:t>
            </a:r>
          </a:p>
          <a:p>
            <a:pPr>
              <a:spcAft>
                <a:spcPts val="1000"/>
              </a:spcAft>
              <a:defRPr sz="2100"/>
            </a:pPr>
            <a:r>
              <a:t>A kész áramkör visszarajzolása szabványos jelképekkel.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Szakmai szókincs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Fogalom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Kapcsolási rajz</a:t>
            </a:r>
          </a:p>
          <a:p>
            <a:pPr>
              <a:spcAft>
                <a:spcPts val="1000"/>
              </a:spcAft>
              <a:defRPr sz="2000"/>
            </a:pPr>
            <a:r>
              <a:t>Rajzjel</a:t>
            </a:r>
          </a:p>
          <a:p>
            <a:pPr>
              <a:spcAft>
                <a:spcPts val="1000"/>
              </a:spcAft>
              <a:defRPr sz="2000"/>
            </a:pPr>
            <a:r>
              <a:t>Csomópont</a:t>
            </a:r>
          </a:p>
          <a:p>
            <a:pPr>
              <a:spcAft>
                <a:spcPts val="1000"/>
              </a:spcAft>
              <a:defRPr sz="2000"/>
            </a:pPr>
            <a:r>
              <a:t>Fogyasztó</a:t>
            </a:r>
          </a:p>
          <a:p>
            <a:pPr>
              <a:spcAft>
                <a:spcPts val="1000"/>
              </a:spcAft>
              <a:defRPr sz="2000"/>
            </a:pPr>
            <a:r>
              <a:t>Kapcsoló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3444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Jelentése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Az áramkör szabványos ábrázolása.</a:t>
            </a:r>
          </a:p>
          <a:p>
            <a:pPr>
              <a:spcAft>
                <a:spcPts val="1000"/>
              </a:spcAft>
              <a:defRPr sz="2000"/>
            </a:pPr>
            <a:r>
              <a:t>Szabványos grafikus jelölés.</a:t>
            </a:r>
          </a:p>
          <a:p>
            <a:pPr>
              <a:spcAft>
                <a:spcPts val="1000"/>
              </a:spcAft>
              <a:defRPr sz="2000"/>
            </a:pPr>
            <a:r>
              <a:t>Vezetők villamos kapcsolódási pontja.</a:t>
            </a:r>
          </a:p>
          <a:p>
            <a:pPr>
              <a:spcAft>
                <a:spcPts val="1000"/>
              </a:spcAft>
              <a:defRPr sz="2000"/>
            </a:pPr>
            <a:r>
              <a:t>Villamos energiát felhasználó berendezés.</a:t>
            </a:r>
          </a:p>
          <a:p>
            <a:pPr>
              <a:spcAft>
                <a:spcPts val="1000"/>
              </a:spcAft>
              <a:defRPr sz="2000"/>
            </a:pPr>
            <a:r>
              <a:t>Az áramkör nyitására és zárására szolgáló eszköz.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Mini 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Készíts szabványos rajzjelekkel egy egyszerű áramkör kapcsolási rajzát!</a:t>
            </a:r>
          </a:p>
          <a:p>
            <a:pPr>
              <a:spcAft>
                <a:spcPts val="1000"/>
              </a:spcAft>
              <a:defRPr sz="2100"/>
            </a:pPr>
            <a:r>
              <a:t>Nevezd meg az alkalmazott rajzjeleket!</a:t>
            </a:r>
          </a:p>
          <a:p>
            <a:pPr>
              <a:spcAft>
                <a:spcPts val="1000"/>
              </a:spcAft>
              <a:defRPr sz="2100"/>
            </a:pPr>
            <a:r>
              <a:t>Ismertesd röviden az áramkör működését!</a:t>
            </a:r>
          </a:p>
          <a:p>
            <a:pPr>
              <a:spcAft>
                <a:spcPts val="1000"/>
              </a:spcAft>
              <a:defRPr sz="2100"/>
            </a:pPr>
            <a:r>
              <a:t>Építsd meg a kapcsolást, majd ellenőrizd a működését!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Kapcsolódás a szakmához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Lakásvillamossági tervrajzok.</a:t>
            </a:r>
          </a:p>
          <a:p>
            <a:pPr>
              <a:spcAft>
                <a:spcPts val="1000"/>
              </a:spcAft>
              <a:defRPr sz="2100"/>
            </a:pPr>
            <a:r>
              <a:t>Elosztószekrények kapcsolási rajzai.</a:t>
            </a:r>
          </a:p>
          <a:p>
            <a:pPr>
              <a:spcAft>
                <a:spcPts val="1000"/>
              </a:spcAft>
              <a:defRPr sz="2100"/>
            </a:pPr>
            <a:r>
              <a:t>PLC-dokumentációk.</a:t>
            </a:r>
          </a:p>
          <a:p>
            <a:pPr>
              <a:spcAft>
                <a:spcPts val="1000"/>
              </a:spcAft>
              <a:defRPr sz="2100"/>
            </a:pPr>
            <a:r>
              <a:t>Ipari gépek villamos rajzai.</a:t>
            </a:r>
          </a:p>
          <a:p>
            <a:pPr>
              <a:spcAft>
                <a:spcPts val="1000"/>
              </a:spcAft>
              <a:defRPr sz="2100"/>
            </a:pPr>
            <a:r>
              <a:t>A rajzok segítik a szerelést, az ellenőrzést és a hibakeresést.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Tipikus tévhitek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A kapcsolási rajz ugyanaz, mint a szerelési rajz.</a:t>
            </a:r>
          </a:p>
          <a:p>
            <a:pPr>
              <a:spcAft>
                <a:spcPts val="1000"/>
              </a:spcAft>
              <a:defRPr sz="2100"/>
            </a:pPr>
            <a:r>
              <a:t>A vezetékek keresztezése mindig villamos kapcsolatot jelent.</a:t>
            </a:r>
          </a:p>
          <a:p>
            <a:pPr>
              <a:spcAft>
                <a:spcPts val="1000"/>
              </a:spcAft>
              <a:defRPr sz="2100"/>
            </a:pPr>
            <a:r>
              <a:t>A kapcsolási rajz csak az iskolában fontos.</a:t>
            </a:r>
          </a:p>
          <a:p>
            <a:pPr>
              <a:spcAft>
                <a:spcPts val="1000"/>
              </a:spcAft>
              <a:defRPr sz="2100"/>
            </a:pPr>
            <a:r>
              <a:t>A rajzjelek szabadon megváltoztathatók.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Oktatói eszközlista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Kapcsolási rajzok és feladatlapok.</a:t>
            </a:r>
          </a:p>
          <a:p>
            <a:pPr>
              <a:spcAft>
                <a:spcPts val="1000"/>
              </a:spcAft>
              <a:defRPr sz="2100"/>
            </a:pPr>
            <a:r>
              <a:t>Rajzjel-kártyák.</a:t>
            </a:r>
          </a:p>
          <a:p>
            <a:pPr>
              <a:spcAft>
                <a:spcPts val="1000"/>
              </a:spcAft>
              <a:defRPr sz="2100"/>
            </a:pPr>
            <a:r>
              <a:t>Projektor vagy interaktív kijelző.</a:t>
            </a:r>
          </a:p>
          <a:p>
            <a:pPr>
              <a:spcAft>
                <a:spcPts val="1000"/>
              </a:spcAft>
              <a:defRPr sz="2100"/>
            </a:pPr>
            <a:r>
              <a:t>Szerelőlap.</a:t>
            </a:r>
          </a:p>
          <a:p>
            <a:pPr>
              <a:spcAft>
                <a:spcPts val="1000"/>
              </a:spcAft>
              <a:defRPr sz="2100"/>
            </a:pPr>
            <a:r>
              <a:t>LED-ek, kapcsolók és vezetékek.</a:t>
            </a:r>
          </a:p>
          <a:p>
            <a:pPr>
              <a:spcAft>
                <a:spcPts val="1000"/>
              </a:spcAft>
              <a:defRPr sz="2100"/>
            </a:pPr>
            <a:r>
              <a:t>Digitális multiméter.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Értékelés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Rajzjelek felismerése.</a:t>
            </a:r>
          </a:p>
          <a:p>
            <a:pPr>
              <a:spcAft>
                <a:spcPts val="1000"/>
              </a:spcAft>
              <a:defRPr sz="2100"/>
            </a:pPr>
            <a:r>
              <a:t>Kapcsolási rajz helyes olvasása.</a:t>
            </a:r>
          </a:p>
          <a:p>
            <a:pPr>
              <a:spcAft>
                <a:spcPts val="1000"/>
              </a:spcAft>
              <a:defRPr sz="2100"/>
            </a:pPr>
            <a:r>
              <a:t>Az áramkör összeállítása a rajz alapján.</a:t>
            </a:r>
          </a:p>
          <a:p>
            <a:pPr>
              <a:spcAft>
                <a:spcPts val="1000"/>
              </a:spcAft>
              <a:defRPr sz="2100"/>
            </a:pPr>
            <a:r>
              <a:t>A megépített áramkör szabványos visszarajzolása.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 hét záró gondolata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100"/>
            </a:pPr>
            <a:r>
              <a:t>„A kapcsolási rajz nem papírra rajzolt vezeték.</a:t>
            </a:r>
          </a:p>
          <a:p>
            <a:pPr>
              <a:spcAft>
                <a:spcPts val="1000"/>
              </a:spcAft>
              <a:defRPr sz="2100"/>
            </a:pPr>
            <a:r>
              <a:t>A szakemberek közös nyelve.”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Következő hét: Soros kapcsolás – minden egymás után következik.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