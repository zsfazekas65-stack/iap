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84065"/>
            <a:ext cx="11239500" cy="63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239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EA5E9"/>
                </a:solidFill>
                <a:latin typeface="Plus Jakarta Sans SemiBold"/>
              </a:rPr>
              <a:t>Villamos alapismeretek | 9. évfolyam (20. hét)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076325"/>
            <a:ext cx="11715750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Outfit"/>
              </a:rPr>
              <a:t>Mitől lesz erősebb egy elektromágnes?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836390"/>
            <a:ext cx="11239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Tekercs, vasmag és gerjesztés a gyakorlatban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474565"/>
            <a:ext cx="1072515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IA</a:t>
            </a:r>
            <a:r>
              <a:rPr lang="hu-HU" sz="1350" b="1" i="0" u="none" dirty="0">
                <a:solidFill>
                  <a:srgbClr val="475569"/>
                </a:solidFill>
                <a:latin typeface="Plus Jakarta Sans"/>
              </a:rPr>
              <a:t>P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Plus Jakarta Sans"/>
              </a:rPr>
              <a:t>Útravaló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„A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mérés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megmutatja, a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kísérlet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megtanítja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00362"/>
            <a:ext cx="5429250" cy="1800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1775" y="3767137"/>
            <a:ext cx="508063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E293B"/>
                </a:solidFill>
                <a:latin typeface="Outfit"/>
              </a:rPr>
              <a:t>IA</a:t>
            </a:r>
            <a:r>
              <a:rPr lang="hu-HU" sz="1650" b="1" i="0" u="none" dirty="0">
                <a:solidFill>
                  <a:srgbClr val="1E293B"/>
                </a:solidFill>
                <a:latin typeface="Outfit"/>
              </a:rPr>
              <a:t>P</a:t>
            </a:r>
            <a:r>
              <a:rPr sz="1650" b="1" i="0" u="none" dirty="0">
                <a:solidFill>
                  <a:srgbClr val="1E293B"/>
                </a:solidFill>
                <a:latin typeface="Outfit"/>
              </a:rPr>
              <a:t> </a:t>
            </a:r>
            <a:r>
              <a:rPr sz="1650" b="1" i="0" u="none" dirty="0" err="1">
                <a:solidFill>
                  <a:srgbClr val="1E293B"/>
                </a:solidFill>
                <a:latin typeface="Outfit"/>
              </a:rPr>
              <a:t>gondolat</a:t>
            </a:r>
            <a:endParaRPr sz="1650" b="1" i="0" u="none" dirty="0">
              <a:solidFill>
                <a:srgbClr val="1E293B"/>
              </a:solidFill>
              <a:latin typeface="Outfi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1775" y="4148137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„A jó kérdés gyakran többet ér, mint egy gyors válasz.”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900362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André-Marie Ampère (1775–1836):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Ørsted felfedezésére építve írta le az áram és a mágneses tér kapcsolatát.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586162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Munkássága megalapozta az elektromágnesesség tudományát.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271962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áramerősség SI mértékegysége (amper, A) az ő nevét őrzi.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252787"/>
            <a:ext cx="25717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146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60045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286250"/>
            <a:ext cx="1714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A szakma úttörői: André-Marie Ampère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190875"/>
            <a:ext cx="5429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E293B"/>
                </a:solidFill>
                <a:latin typeface="Plus Jakarta Sans SemiBold"/>
              </a:rPr>
              <a:t>A hét legfőbb célkitűzése: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3638550"/>
            <a:ext cx="5429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tanuló vizsgálja meg, milyen tényezők befolyásolják az elektromágnes erejét, és kísérletekkel bizonyítsa az összefüggéseket a gyakorlatban.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875" y="2814637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Felsorolni az elektromágnes erősségét befolyásoló tényezőket.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75" y="3500437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Megmagyarázni a menetszám szerepét.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9875" y="3929062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Felismerni a vasmag jelentőségét.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4357687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Kísérleteket végezni biztonságosan.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289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51472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94335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371975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A hét célja és tanulási kimenetei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43187"/>
            <a:ext cx="3587799" cy="2314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643187"/>
            <a:ext cx="3587799" cy="2314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643187"/>
            <a:ext cx="3587799" cy="231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3509962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1. Tanóra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890962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menetszám hatásának vizsgálata: 20, 40 és 80 menetes tekercsek összehasonlítása és mérése.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509962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2. Tanóra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890962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vasmag szerepe: elektromágnes vasmaggal és vasmag nélkül, mérések és hatások elemzése.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509962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3.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890962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Saját elektromágnes tervezése, mérése és bemutatása csoportmunkában (bajnokság).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995612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2995612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995612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Heti óravázlat (3 tanóra)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652712"/>
            <a:ext cx="11239500" cy="229552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652712"/>
          <a:ext cx="11229974" cy="2295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utfit"/>
                        </a:rPr>
                        <a:t>Fogalom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utfit"/>
                        </a:rPr>
                        <a:t>Jelentése / Magyarázata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Menetszám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tekercs huzalmeneteinek száma.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Gerjesztés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Az elektromágnes működéséhez szükséges áram és menetszám szorzata.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8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Vasmag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mágneses tér erősítésére szolgáló ferromágneses anyag.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1012" y="3219450"/>
            <a:ext cx="199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77244" y="3219450"/>
            <a:ext cx="92337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1012" y="3790950"/>
            <a:ext cx="199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77244" y="3790950"/>
            <a:ext cx="92337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012" y="4362450"/>
            <a:ext cx="199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77244" y="4362450"/>
            <a:ext cx="92337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Szakmai szókincs: Alapfogalmak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71775"/>
            <a:ext cx="542925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1775" y="3638550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Ipari kapcsolat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1775" y="4019550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ipari relék és mágneskapcsolók tervezésénél pontosan ugyanezeket a szempontokat veszik figyelembe.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986087"/>
            <a:ext cx="50958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Autóbontók darui: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Ugyanazon az elven működnek, mint az órán elkészített elektromágnes, csak sokkal nagyobb teljesítménnyel.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929062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MRI-berendezések: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Rendkívül erős elektromágneseket használnak az emberi test részletes vizsgálatához.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124200"/>
            <a:ext cx="3905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000375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43350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Valós élet és technológiai alkalmazások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57425"/>
            <a:ext cx="3587799" cy="3086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257425"/>
            <a:ext cx="3587799" cy="3086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57425"/>
            <a:ext cx="3587799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3124200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1. Tévhit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505200"/>
            <a:ext cx="2997249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„Csak a menetszám számít az erősségnél.”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Valóság: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gerjesztési áram és a vasmag minősége ugyanolyan fontos tényező.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124200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2. Tévhit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505200"/>
            <a:ext cx="299724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„Minél nagyobb a feszültség, annál jobb.”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Valóság: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túlzott áram felmelegíti a tekercset, és zárlatot okozhat.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124200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3. Tévhit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505200"/>
            <a:ext cx="2997249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„Bármilyen fém alkalmas vasmagnak.”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Valóság: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Csak a ferromágneses anyagok (pl. lágyvas) erősítik hatékonyan a teret.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60985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260985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0985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Tipikus tévhitek a mágnesességről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9212" y="2937569"/>
            <a:ext cx="95535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EA5E9"/>
                </a:solidFill>
                <a:latin typeface="Plus Jakarta Sans SemiBold"/>
              </a:rPr>
              <a:t>SZAKMAI 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9212" y="3280469"/>
            <a:ext cx="9553575" cy="9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sz="2550" b="0" i="0" u="none">
                <a:solidFill>
                  <a:srgbClr val="0F172A"/>
                </a:solidFill>
                <a:latin typeface="Outfit"/>
              </a:rPr>
              <a:t>„A jó szakember nem találgat. Kipróbálja, megméri és levonja a következtetést.”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1262" y="4425255"/>
            <a:ext cx="72294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EA5E9"/>
                </a:solidFill>
                <a:latin typeface="Plus Jakarta Sans SemiBold"/>
              </a:rPr>
              <a:t>A kísérlet során pontos mérési adatokra és fegyelmezett munkára van szükség!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A mester tanácsa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05137"/>
            <a:ext cx="5429250" cy="1590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7962"/>
            <a:ext cx="5429250" cy="2105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300412"/>
            <a:ext cx="50806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Outfit"/>
              </a:rPr>
              <a:t>Csapatmunka és kihívás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529012"/>
            <a:ext cx="4838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Feladat: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csapatok megtervezik, elkészítik és dokumentálják a saját elektromágnesüket, majd összehasonlítják a teljesítményüket (gemkapcsok emelése).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043237"/>
            <a:ext cx="50806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Outfit"/>
              </a:rPr>
              <a:t>A hét záró gondolata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71837"/>
            <a:ext cx="48387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Plus Jakarta Sans"/>
              </a:rPr>
              <a:t>„A fejlődés ott kezdődik, ahol a kíváncsiság találkozik a kísérletezéssel.”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Következő hét (21. hét):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Hogyan kapcsol egy relé? – Az elektromágnes első ipari alkalmazása.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Mini projekt: Elektromágnes-bajnokság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472</Words>
  <Application>Microsoft Office PowerPoint</Application>
  <PresentationFormat>Szélesvásznú</PresentationFormat>
  <Paragraphs>54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5" baseType="lpstr">
      <vt:lpstr>Arial</vt:lpstr>
      <vt:lpstr>Calibri</vt:lpstr>
      <vt:lpstr>Outfit</vt:lpstr>
      <vt:lpstr>Plus Jakarta Sans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2026-08-05T15:10:49Z</dcterms:modified>
  <cp:category/>
</cp:coreProperties>
</file>