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</p:embeddedFont>
    <p:embeddedFont>
      <p:font typeface="Roboto Bold" panose="02000000000000000000" charset="0"/>
      <p:regular r:id="rId17"/>
    </p:embeddedFont>
    <p:embeddedFont>
      <p:font typeface="Roboto Slab" panose="020B0604020202020204" charset="0"/>
      <p:regular r:id="rId18"/>
    </p:embeddedFont>
    <p:embeddedFont>
      <p:font typeface="Roboto Slab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333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Miért van négy vagy öt vezeték?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TN-C, TN-S és TN-C-S hálózatok alapjai – 9. évfolyamos oktatási anyag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20923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vezetékek szerepe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5233360" y="1537990"/>
            <a:ext cx="6296860" cy="1021854"/>
          </a:xfrm>
          <a:prstGeom prst="roundRect">
            <a:avLst>
              <a:gd name="adj" fmla="val 2636"/>
            </a:avLst>
          </a:prstGeom>
          <a:solidFill>
            <a:srgbClr val="E9ECF2"/>
          </a:solidFill>
          <a:ln/>
        </p:spPr>
      </p:sp>
      <p:sp>
        <p:nvSpPr>
          <p:cNvPr id="6" name="Text 3"/>
          <p:cNvSpPr/>
          <p:nvPr/>
        </p:nvSpPr>
        <p:spPr>
          <a:xfrm>
            <a:off x="5412843" y="1717477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 – Fázisvezető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412843" y="2100263"/>
            <a:ext cx="59378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Feszültség alatt van, az elektromos energia szállítása a fogyasztóhoz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233360" y="2730401"/>
            <a:ext cx="6296860" cy="1021854"/>
          </a:xfrm>
          <a:prstGeom prst="roundRect">
            <a:avLst>
              <a:gd name="adj" fmla="val 2636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5412843" y="2909888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 – Nullavezető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412843" y="3292673"/>
            <a:ext cx="59378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áram visszatérési útja a fogyasztótól a hálózat felé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33360" y="3922812"/>
            <a:ext cx="6296860" cy="1021854"/>
          </a:xfrm>
          <a:prstGeom prst="roundRect">
            <a:avLst>
              <a:gd name="adj" fmla="val 2636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5412843" y="4102298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 – Védővezető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412843" y="4485084"/>
            <a:ext cx="59378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Biztonsági föld, jelölése sárga-zöld csíkozás – kötelező szín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33360" y="5115223"/>
            <a:ext cx="6296860" cy="1021854"/>
          </a:xfrm>
          <a:prstGeom prst="roundRect">
            <a:avLst>
              <a:gd name="adj" fmla="val 2636"/>
            </a:avLst>
          </a:prstGeom>
          <a:solidFill>
            <a:srgbClr val="E9ECF2"/>
          </a:solidFill>
          <a:ln/>
        </p:spPr>
      </p:sp>
      <p:sp>
        <p:nvSpPr>
          <p:cNvPr id="15" name="Text 12"/>
          <p:cNvSpPr/>
          <p:nvPr/>
        </p:nvSpPr>
        <p:spPr>
          <a:xfrm>
            <a:off x="5412843" y="5294709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PEN – Kombinált vezető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5412843" y="5677495"/>
            <a:ext cx="593789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Közös nulla- és védővezető, régebbi rendszerekben alkalmazott megoldás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710829"/>
            <a:ext cx="1606708" cy="287139"/>
          </a:xfrm>
          <a:prstGeom prst="roundRect">
            <a:avLst>
              <a:gd name="adj" fmla="val 7899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767483"/>
            <a:ext cx="198948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RÉGEBBI RENDSZER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073573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TN-C rendszer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273982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PEN vezetős hálózat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3224113"/>
            <a:ext cx="6903269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 közös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PEN vezető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végzi egyszerre a nulla és a védővezető szerepét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Régebbi épületekben gyakran megtalálható kivitelezés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3201" y="4107656"/>
            <a:ext cx="6903269" cy="1039416"/>
          </a:xfrm>
          <a:prstGeom prst="roundRect">
            <a:avLst>
              <a:gd name="adj" fmla="val 2728"/>
            </a:avLst>
          </a:prstGeom>
          <a:solidFill>
            <a:srgbClr val="FFB3B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394398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47449" y="4324945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Veszély: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 a PEN vezető meglazul vagy megszakad, a fém alkatrészek veszélyes feszültségre kerülhetnek – ez áramütési kockázatot jelent!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26580"/>
            <a:ext cx="1644113" cy="287139"/>
          </a:xfrm>
          <a:prstGeom prst="roundRect">
            <a:avLst>
              <a:gd name="adj" fmla="val 7899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583234"/>
            <a:ext cx="202688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SZABVÁNY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89323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TN-S rendszer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55557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Külön N és PE vezetők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039864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 és PE vezetők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már az elosztótól kezdve teljesen különállóak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Korszerű, biztonságosabb kivitelezési megoldás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Nagyobb üzembiztonság és jobb életvédelmi szint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291905"/>
            <a:ext cx="6903269" cy="1039416"/>
          </a:xfrm>
          <a:prstGeom prst="roundRect">
            <a:avLst>
              <a:gd name="adj" fmla="val 2728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578648"/>
            <a:ext cx="236234" cy="189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5723" y="4509195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 a megoldás biztosítja a legjobb védelmet – a PE vezető mindig hibamentes marad, ha az N vezető megsérül.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77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TN-C-S rendszer – Az átmenet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903" y="1586409"/>
            <a:ext cx="9761789" cy="3533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1494" y="4257664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 és PE külön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931494" y="3192520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Szétválasztási pont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931494" y="2116506"/>
            <a:ext cx="2445424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PEN vezető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332909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TN-C-S rendszer a régi és az új világ kompromisszuma: a PEN vezető egy meghatározott ponton szétválik önálló N és PE ágra. Ez a megoldás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 is a leggyakoribb a magyar lakóépületekben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ahol a régi hálózathoz modern védelmi rendszert csatlakoztatnak.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3936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Biztonsági alapszabályok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1513483"/>
            <a:ext cx="6296860" cy="1442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9364" y="1727895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PEN vezető – soha ne szakítsd meg!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549364" y="2136577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PEN vezetőt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tilos kapcsolóval vagy biztosítóval megszakítani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ez halálos veszélyt okozhat az épület összes fém alkatrészén.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44838"/>
            <a:ext cx="6296860" cy="14423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49364" y="3359249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 folytonosság – alapkövetelmény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5549364" y="3767931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védővezető (PE) folytonossága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alapvető biztonsági követelmény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minden villamos berendezésnél – ez adja az emberek védelmét.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776192"/>
            <a:ext cx="6296860" cy="14423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49364" y="4990604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Szakmai ellenőrzés – mérj, ne találgass!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5549364" y="5399286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vezetékek azonosítása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mérőműszerrel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történik – a szín önmagában nem elegendő régebbi épületekben.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Gyakorlati azonosítás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081536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Amit minden villanyszerelőnek tudni kell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284041"/>
            <a:ext cx="5315512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 (fázisvezető):</a:t>
            </a: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fekete vagy barna szín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 (nullavezető):</a:t>
            </a: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kék szín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 (védővezető):</a:t>
            </a: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sárga-zöld csíkozás – szabványos, kötelező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718520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Kábeltípus példa:</a:t>
            </a: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NYM-J 5×2,5 mm² – 5 ér, mindegyik eltérő színnel jelölt.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221058" y="3893046"/>
            <a:ext cx="5315512" cy="256977"/>
          </a:xfrm>
          <a:prstGeom prst="roundRect">
            <a:avLst>
              <a:gd name="adj" fmla="val 5689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3971131"/>
            <a:ext cx="121738" cy="974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37658" y="3962499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Régi épületekben a színek </a:t>
            </a: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nem mindig felelnek meg</a:t>
            </a: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mai szabványnak – ezért mérés mindig szükséges!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4984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villanyszerelő feladata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085380"/>
            <a:ext cx="189007" cy="1890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61475" y="2319834"/>
            <a:ext cx="3053877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7" name="Text 3"/>
          <p:cNvSpPr/>
          <p:nvPr/>
        </p:nvSpPr>
        <p:spPr>
          <a:xfrm>
            <a:off x="661475" y="2465090"/>
            <a:ext cx="3053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Felismerni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61475" y="2873772"/>
            <a:ext cx="3053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Gyorsan azonosítani a hálózat típusát a vezetékek és az elosztó vizsgálata alapján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4359" y="2085380"/>
            <a:ext cx="189007" cy="18901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904359" y="2319834"/>
            <a:ext cx="3053976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1" name="Text 6"/>
          <p:cNvSpPr/>
          <p:nvPr/>
        </p:nvSpPr>
        <p:spPr>
          <a:xfrm>
            <a:off x="3904359" y="2465090"/>
            <a:ext cx="30539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Mérni és ellenőrizni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3904359" y="2873772"/>
            <a:ext cx="305397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Nem találgat – mérőműszerrel ellenőriz, és csak utána fogja meg a vezetékeket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135338"/>
            <a:ext cx="189007" cy="18901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61475" y="4388743"/>
            <a:ext cx="6296860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5" name="Text 9"/>
          <p:cNvSpPr/>
          <p:nvPr/>
        </p:nvSpPr>
        <p:spPr>
          <a:xfrm>
            <a:off x="661475" y="4552851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Dolgozni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61475" y="496153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munka megkezdése előtt minden vezető szerepe tisztázott – ez az igazi szakértelem alapja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96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Összefoglalás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68290"/>
            <a:ext cx="10868745" cy="1391543"/>
          </a:xfrm>
          <a:prstGeom prst="roundRect">
            <a:avLst>
              <a:gd name="adj" fmla="val 2038"/>
            </a:avLst>
          </a:prstGeom>
          <a:solidFill>
            <a:srgbClr val="E9ECF2"/>
          </a:solidFill>
          <a:ln/>
        </p:spPr>
      </p:sp>
      <p:sp>
        <p:nvSpPr>
          <p:cNvPr id="4" name="Shape 2"/>
          <p:cNvSpPr/>
          <p:nvPr/>
        </p:nvSpPr>
        <p:spPr>
          <a:xfrm>
            <a:off x="661475" y="2668290"/>
            <a:ext cx="3622882" cy="1391543"/>
          </a:xfrm>
          <a:custGeom>
            <a:avLst/>
            <a:gdLst/>
            <a:ahLst/>
            <a:cxnLst/>
            <a:rect l="l" t="t" r="r" b="b"/>
            <a:pathLst>
              <a:path w="3622882" h="1391543">
                <a:moveTo>
                  <a:pt x="23627" y="0"/>
                </a:moveTo>
                <a:lnTo>
                  <a:pt x="3622882" y="0"/>
                </a:lnTo>
                <a:lnTo>
                  <a:pt x="3622882" y="1391543"/>
                </a:lnTo>
                <a:lnTo>
                  <a:pt x="23627" y="1391543"/>
                </a:lnTo>
                <a:arcTo wR="23627" hR="23628" stAng="5400000" swAng="5400000"/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E9ECF2"/>
          </a:solidFill>
          <a:ln/>
        </p:spPr>
      </p:sp>
      <p:sp>
        <p:nvSpPr>
          <p:cNvPr id="5" name="Text 3"/>
          <p:cNvSpPr/>
          <p:nvPr/>
        </p:nvSpPr>
        <p:spPr>
          <a:xfrm>
            <a:off x="850482" y="285730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TN-C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0482" y="3265984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Régi rendszer – közös PEN vezető, nagyobb kockázat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284357" y="2668290"/>
            <a:ext cx="3622882" cy="1391543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8" name="Shape 6"/>
          <p:cNvSpPr/>
          <p:nvPr/>
        </p:nvSpPr>
        <p:spPr>
          <a:xfrm>
            <a:off x="4284357" y="2668290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FD2D8"/>
          </a:solidFill>
          <a:ln/>
        </p:spPr>
      </p:sp>
      <p:sp>
        <p:nvSpPr>
          <p:cNvPr id="9" name="Text 7"/>
          <p:cNvSpPr/>
          <p:nvPr/>
        </p:nvSpPr>
        <p:spPr>
          <a:xfrm>
            <a:off x="4473364" y="285730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TN-C-S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473364" y="3265984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Átmeneti megoldás – ma legelterjedtebb a magyar épületekben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907239" y="2668290"/>
            <a:ext cx="3622882" cy="1391543"/>
          </a:xfrm>
          <a:custGeom>
            <a:avLst/>
            <a:gdLst/>
            <a:ahLst/>
            <a:cxnLst/>
            <a:rect l="l" t="t" r="r" b="b"/>
            <a:pathLst>
              <a:path w="3622882" h="1391543">
                <a:moveTo>
                  <a:pt x="0" y="0"/>
                </a:moveTo>
                <a:lnTo>
                  <a:pt x="3599255" y="0"/>
                </a:lnTo>
                <a:arcTo wR="23627" hR="23628" stAng="16200000" swAng="5400000"/>
                <a:lnTo>
                  <a:pt x="3622882" y="1367915"/>
                </a:lnTo>
                <a:arcTo wR="23627" hR="23628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E9ECF2"/>
          </a:solidFill>
          <a:ln/>
        </p:spPr>
      </p:sp>
      <p:sp>
        <p:nvSpPr>
          <p:cNvPr id="12" name="Shape 10"/>
          <p:cNvSpPr/>
          <p:nvPr/>
        </p:nvSpPr>
        <p:spPr>
          <a:xfrm>
            <a:off x="7907239" y="2668290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FD2D8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46" y="285730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TN-S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96246" y="3265984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rendszer – külön N és PE, legjobb biztonság</a:t>
            </a:r>
            <a:endParaRPr lang="en-US" sz="14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4278313"/>
            <a:ext cx="283461" cy="2834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75723" y="4272459"/>
            <a:ext cx="285117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Minden vezetéknek meghatározott szerepe és szabványos színe van</a:t>
            </a:r>
            <a:endParaRPr lang="en-US" sz="18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3975" y="4278313"/>
            <a:ext cx="283461" cy="2834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77383" y="4272459"/>
            <a:ext cx="285117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biztonság a vezetékek </a:t>
            </a:r>
            <a:r>
              <a:rPr lang="en-US" sz="1850" b="1" dirty="0">
                <a:solidFill>
                  <a:srgbClr val="15213F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helyes azonosításán és kezelésén</a:t>
            </a: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múlik</a:t>
            </a:r>
            <a:endParaRPr lang="en-US" sz="18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5635" y="4278313"/>
            <a:ext cx="283461" cy="2834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79042" y="4272459"/>
            <a:ext cx="285117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szakértelem a </a:t>
            </a:r>
            <a:r>
              <a:rPr lang="en-US" sz="1850" b="1" dirty="0">
                <a:solidFill>
                  <a:srgbClr val="15213F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mérésben, nem a találgatásban</a:t>
            </a: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rejlik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480</Words>
  <Application>Microsoft Office PowerPoint</Application>
  <PresentationFormat>Szélesvásznú</PresentationFormat>
  <Paragraphs>69</Paragraphs>
  <Slides>9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6" baseType="lpstr">
      <vt:lpstr>Roboto Slab</vt:lpstr>
      <vt:lpstr>Roboto Bold</vt:lpstr>
      <vt:lpstr>Arial</vt:lpstr>
      <vt:lpstr>Roboto Slab Bold</vt:lpstr>
      <vt:lpstr>Calibri</vt:lpstr>
      <vt:lpstr>Roboto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lastModifiedBy>zsolt Fazekas</cp:lastModifiedBy>
  <cp:revision>1</cp:revision>
  <dcterms:created xsi:type="dcterms:W3CDTF">2026-08-08T20:30:29Z</dcterms:created>
  <dcterms:modified xsi:type="dcterms:W3CDTF">2026-08-08T20:31:56Z</dcterms:modified>
</cp:coreProperties>
</file>