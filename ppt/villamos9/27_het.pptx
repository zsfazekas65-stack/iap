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AACD"/>
                </a:solidFill>
                <a:latin typeface="Aptos"/>
              </a:rPr>
              <a:t>IAP • 9. ÉVFOLYAM • 27.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4241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Mi történik zárlat esetén?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CDE1F0"/>
                </a:solidFill>
                <a:latin typeface="Aptos"/>
              </a:rPr>
              <a:t>A túláramvédelem alapjai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886200"/>
            <a:ext cx="9966960" cy="0"/>
          </a:xfrm>
          <a:prstGeom prst="line">
            <a:avLst/>
          </a:prstGeom>
          <a:ln w="25400">
            <a:solidFill>
              <a:srgbClr val="4669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4617720"/>
            <a:ext cx="9966960" cy="0"/>
          </a:xfrm>
          <a:prstGeom prst="line">
            <a:avLst/>
          </a:prstGeom>
          <a:ln w="25400">
            <a:solidFill>
              <a:srgbClr val="4669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828800" y="3703320"/>
            <a:ext cx="365760" cy="365760"/>
          </a:xfrm>
          <a:prstGeom prst="ellipse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31920" y="3703320"/>
            <a:ext cx="365760" cy="365760"/>
          </a:xfrm>
          <a:prstGeom prst="ellipse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703320"/>
            <a:ext cx="365760" cy="365760"/>
          </a:xfrm>
          <a:prstGeom prst="ellipse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0" y="3703320"/>
            <a:ext cx="365760" cy="365760"/>
          </a:xfrm>
          <a:prstGeom prst="ellipse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0" y="3703320"/>
            <a:ext cx="365760" cy="365760"/>
          </a:xfrm>
          <a:prstGeom prst="ellipse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4041648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⚡  ZÁRLAT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BED2E1"/>
                </a:solidFill>
                <a:latin typeface="Aptos"/>
              </a:rPr>
              <a:t>„A megfelelő védelem emberéleteket és vagyont véd.”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A hét nagy kérdése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Miért nem ég le minden vezeték, amikor zárlat keletkezik?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73152" cy="3566160"/>
          </a:xfrm>
          <a:prstGeom prst="rect">
            <a:avLst/>
          </a:prstGeom>
          <a:solidFill>
            <a:srgbClr val="2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8458"/>
                </a:solidFill>
                <a:latin typeface="Aptos"/>
              </a:rPr>
              <a:t>Normál üzem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76272"/>
            <a:ext cx="4800600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732"/>
                </a:solidFill>
                <a:latin typeface="Aptos"/>
              </a:rPr>
              <a:t>A fogyasztó árama a tervezett tartományban marad.
A vezeték és a védelem együtt biztonságosan működik.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73152" cy="3566160"/>
          </a:xfrm>
          <a:prstGeom prst="rect">
            <a:avLst/>
          </a:prstGeom>
          <a:solidFill>
            <a:srgbClr val="B9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4800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92D2D"/>
                </a:solidFill>
                <a:latin typeface="Aptos"/>
              </a:rPr>
              <a:t>Zárlat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76272"/>
            <a:ext cx="4800600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732"/>
                </a:solidFill>
                <a:latin typeface="Aptos"/>
              </a:rPr>
              <a:t>Nagyon kis ellenállású áramút jön létre.
Az áram rövid idő alatt rendkívül nagy értékre nőhet.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3212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91C37"/>
                </a:solidFill>
                <a:latin typeface="Aptos"/>
              </a:rPr>
              <a:t>A túláramvédelem feladata: a veszélyes áramot időben megszakítani.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Túlterhelés vagy zárlat?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A két jelenség nem ugyanaz.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4343400"/>
          </a:xfrm>
          <a:prstGeom prst="rect">
            <a:avLst/>
          </a:prstGeom>
          <a:solidFill>
            <a:srgbClr val="D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4983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DE7E20"/>
                </a:solidFill>
                <a:latin typeface="Aptos"/>
              </a:rPr>
              <a:t>TÚLTERHELÉS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498348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732"/>
                </a:solidFill>
                <a:latin typeface="Aptos"/>
              </a:rPr>
              <a:t>• A megengedettnél nagyobb áram
• Tartósabb jelenség
• A fogyasztók túl nagy terhelést okoznak
• A vezeték melegedése fokozódik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5394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73152" cy="4343400"/>
          </a:xfrm>
          <a:prstGeom prst="rect">
            <a:avLst/>
          </a:prstGeom>
          <a:solidFill>
            <a:srgbClr val="B9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19"/>
            <a:ext cx="4983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92D2D"/>
                </a:solidFill>
                <a:latin typeface="Aptos"/>
              </a:rPr>
              <a:t>ZÁRLAT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39112"/>
            <a:ext cx="498348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732"/>
                </a:solidFill>
                <a:latin typeface="Aptos"/>
              </a:rPr>
              <a:t>• Kis ellenállású összeköttetés
• Hirtelen, nagyon nagy áram
• Gyors hő- és mechanikai igénybevétel
• A védelemnek gyorsan le kell kapcsolnia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Mi történik zárlatkor?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Egyszerűsített áramköri kép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91C37"/>
                </a:solidFill>
                <a:latin typeface="Aptos"/>
              </a:rPr>
              <a:t>230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06040"/>
            <a:ext cx="1143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9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95BA0"/>
                </a:solidFill>
                <a:latin typeface="Aptos"/>
              </a:rPr>
              <a:t>FORRÁS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606040"/>
            <a:ext cx="1508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9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92D2D"/>
                </a:solidFill>
                <a:latin typeface="Aptos"/>
              </a:rPr>
              <a:t>VÉDELEM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60604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647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7432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4707D"/>
                </a:solidFill>
                <a:latin typeface="Aptos"/>
              </a:rPr>
              <a:t>FOGYASZTÓ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3154680"/>
            <a:ext cx="1554480" cy="0"/>
          </a:xfrm>
          <a:prstGeom prst="line">
            <a:avLst/>
          </a:prstGeom>
          <a:ln w="38100">
            <a:solidFill>
              <a:srgbClr val="091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66360" y="3154680"/>
            <a:ext cx="2331719" cy="0"/>
          </a:xfrm>
          <a:prstGeom prst="line">
            <a:avLst/>
          </a:prstGeom>
          <a:ln w="38100">
            <a:solidFill>
              <a:srgbClr val="091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92240" y="2011680"/>
            <a:ext cx="0" cy="2331720"/>
          </a:xfrm>
          <a:prstGeom prst="line">
            <a:avLst/>
          </a:prstGeom>
          <a:ln w="63500">
            <a:solidFill>
              <a:srgbClr val="B9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77840" y="1572768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92D2D"/>
                </a:solidFill>
                <a:latin typeface="Aptos"/>
              </a:rPr>
              <a:t>ZÁRLATI ÚT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91C37"/>
                </a:solidFill>
                <a:latin typeface="Aptos"/>
              </a:rPr>
              <a:t>Kis ellenállás → nagy áram → a védelem kiold → az áramkör megszakad.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A hét eszközei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Három gyakori túláramvédelmi megoldás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44348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19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95BA0"/>
                </a:solidFill>
                <a:latin typeface="Aptos"/>
              </a:rPr>
              <a:t>DIAZED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3108960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732"/>
                </a:solidFill>
                <a:latin typeface="Aptos"/>
              </a:rPr>
              <a:t>Olvadóbiztosító.
A biztosítóbetét túláram esetén megolvad és megszakítja az áramkört.
Csere szükséges.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4434840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19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3AACD"/>
                </a:solidFill>
                <a:latin typeface="Aptos"/>
              </a:rPr>
              <a:t>NEOZED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39112"/>
            <a:ext cx="3108960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732"/>
                </a:solidFill>
                <a:latin typeface="Aptos"/>
              </a:rPr>
              <a:t>Kompaktabb olvadóbiztosító-rendszer.
Ugyanúgy egyszer használatos betéttel működik.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73152" cy="4434840"/>
          </a:xfrm>
          <a:prstGeom prst="rect">
            <a:avLst/>
          </a:prstGeom>
          <a:solidFill>
            <a:srgbClr val="2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45919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8458"/>
                </a:solidFill>
                <a:latin typeface="Aptos"/>
              </a:rPr>
              <a:t>KISMEGSZAKÍTÓ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39112"/>
            <a:ext cx="3108960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732"/>
                </a:solidFill>
                <a:latin typeface="Aptos"/>
              </a:rPr>
              <a:t>Túláram esetén automatikusan lekapcsol.
A hiba megszüntetése után visszakapcsolható.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Az olvadóbiztosító működése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A túláram hőhatását használja fel.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1645920" y="1645920"/>
            <a:ext cx="594360" cy="594360"/>
          </a:xfrm>
          <a:prstGeom prst="ellipse">
            <a:avLst/>
          </a:prstGeom>
          <a:solidFill>
            <a:srgbClr val="2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68880"/>
            <a:ext cx="2514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468880"/>
            <a:ext cx="73152" cy="2514600"/>
          </a:xfrm>
          <a:prstGeom prst="rect">
            <a:avLst/>
          </a:prstGeom>
          <a:solidFill>
            <a:srgbClr val="2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8458"/>
                </a:solidFill>
                <a:latin typeface="Aptos"/>
              </a:rPr>
              <a:t>Normál áram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2103120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732"/>
                </a:solidFill>
                <a:latin typeface="Aptos"/>
              </a:rPr>
              <a:t>A betét vezeti az áramot.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82880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4498848" y="1645920"/>
            <a:ext cx="594360" cy="594360"/>
          </a:xfrm>
          <a:prstGeom prst="ellipse">
            <a:avLst/>
          </a:prstGeom>
          <a:solidFill>
            <a:srgbClr val="D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664208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2468880"/>
            <a:ext cx="2514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8728" y="2468880"/>
            <a:ext cx="73152" cy="2514600"/>
          </a:xfrm>
          <a:prstGeom prst="rect">
            <a:avLst/>
          </a:prstGeom>
          <a:solidFill>
            <a:srgbClr val="D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260604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DE7E20"/>
                </a:solidFill>
                <a:latin typeface="Aptos"/>
              </a:rPr>
              <a:t>Túláram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2999232"/>
            <a:ext cx="2103120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732"/>
                </a:solidFill>
                <a:latin typeface="Aptos"/>
              </a:rPr>
              <a:t>A biztosítószál melegedni kezd.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82880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7351776" y="1645920"/>
            <a:ext cx="594360" cy="594360"/>
          </a:xfrm>
          <a:prstGeom prst="ellipse">
            <a:avLst/>
          </a:prstGeom>
          <a:solidFill>
            <a:srgbClr val="B9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776" y="1664208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1656" y="2468880"/>
            <a:ext cx="2514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91656" y="2468880"/>
            <a:ext cx="73152" cy="2514600"/>
          </a:xfrm>
          <a:prstGeom prst="rect">
            <a:avLst/>
          </a:prstGeom>
          <a:solidFill>
            <a:srgbClr val="B9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256" y="260604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92D2D"/>
                </a:solidFill>
                <a:latin typeface="Aptos"/>
              </a:rPr>
              <a:t>Olvadás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2999232"/>
            <a:ext cx="2103120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732"/>
                </a:solidFill>
                <a:latin typeface="Aptos"/>
              </a:rPr>
              <a:t>A szál megszakad.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182880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64707D"/>
                </a:solidFill>
                <a:latin typeface="Aptos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10204704" y="1645920"/>
            <a:ext cx="594360" cy="594360"/>
          </a:xfrm>
          <a:prstGeom prst="ellipse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04704" y="1664208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44584" y="2468880"/>
            <a:ext cx="2514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44584" y="2468880"/>
            <a:ext cx="73152" cy="251460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73184" y="260604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95BA0"/>
                </a:solidFill>
                <a:latin typeface="Aptos"/>
              </a:rPr>
              <a:t>Áramkör bontva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2999232"/>
            <a:ext cx="2103120" cy="1856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732"/>
                </a:solidFill>
                <a:latin typeface="Aptos"/>
              </a:rPr>
              <a:t>A veszélyes áram megszűnik.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2D2D"/>
                </a:solidFill>
                <a:latin typeface="Aptos"/>
              </a:rPr>
              <a:t>Fontos: a kiolvadt biztosítóbetétet nem „javítjuk”, hanem megfelelő típusúra cseréljük.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A kismegszakító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Visszakapcsolható túláramvédelmi készülék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4480560"/>
          </a:xfrm>
          <a:prstGeom prst="rect">
            <a:avLst/>
          </a:prstGeom>
          <a:solidFill>
            <a:srgbClr val="D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470915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DE7E20"/>
                </a:solidFill>
                <a:latin typeface="Aptos"/>
              </a:rPr>
              <a:t>Túlterhelés elleni működés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39112"/>
            <a:ext cx="4709159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732"/>
                </a:solidFill>
                <a:latin typeface="Aptos"/>
              </a:rPr>
              <a:t>A tartósan nagy áram melegedést okoz. A készülék hőkioldó része működésbe lép és lekapcsol.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73152" cy="4480560"/>
          </a:xfrm>
          <a:prstGeom prst="rect">
            <a:avLst/>
          </a:prstGeom>
          <a:solidFill>
            <a:srgbClr val="B9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19"/>
            <a:ext cx="470915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92D2D"/>
                </a:solidFill>
                <a:latin typeface="Aptos"/>
              </a:rPr>
              <a:t>Zárlat elleni működés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39112"/>
            <a:ext cx="4709159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732"/>
                </a:solidFill>
                <a:latin typeface="Aptos"/>
              </a:rPr>
              <a:t>A hirtelen fellépő nagy zárlati áramra a gyors kioldó rész rövid idő alatt lekapcsol.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349240"/>
            <a:ext cx="8412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91C37"/>
                </a:solidFill>
                <a:latin typeface="Aptos"/>
              </a:rPr>
              <a:t>Hiba megszüntetése után a kismegszakító visszakapcsolható.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Olvadóbiztosító és kismegszakító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Mit érdemes megjegyezni?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200400" cy="713232"/>
          </a:xfrm>
          <a:prstGeom prst="rect">
            <a:avLst/>
          </a:prstGeom>
          <a:solidFill>
            <a:srgbClr val="091C37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30540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Tulajdonság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554480"/>
            <a:ext cx="3657600" cy="713232"/>
          </a:xfrm>
          <a:prstGeom prst="rect">
            <a:avLst/>
          </a:prstGeom>
          <a:solidFill>
            <a:srgbClr val="091C37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1600200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Olvadóbiztosító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554480"/>
            <a:ext cx="3657600" cy="713232"/>
          </a:xfrm>
          <a:prstGeom prst="rect">
            <a:avLst/>
          </a:prstGeom>
          <a:solidFill>
            <a:srgbClr val="091C37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600200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Kismegszakító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67712"/>
            <a:ext cx="3200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13432"/>
            <a:ext cx="30540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Működés után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267712"/>
            <a:ext cx="3657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2313432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cserélni kell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267712"/>
            <a:ext cx="3657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2313432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visszakapcsolható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80944"/>
            <a:ext cx="3200400" cy="713232"/>
          </a:xfrm>
          <a:prstGeom prst="rect">
            <a:avLst/>
          </a:prstGeom>
          <a:solidFill>
            <a:srgbClr val="E8F0F7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026663"/>
            <a:ext cx="30540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Túláramvédelem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2980944"/>
            <a:ext cx="3657600" cy="713232"/>
          </a:xfrm>
          <a:prstGeom prst="rect">
            <a:avLst/>
          </a:prstGeom>
          <a:solidFill>
            <a:srgbClr val="E8F0F7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3026663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igen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980944"/>
            <a:ext cx="3657600" cy="713232"/>
          </a:xfrm>
          <a:prstGeom prst="rect">
            <a:avLst/>
          </a:prstGeom>
          <a:solidFill>
            <a:srgbClr val="E8F0F7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2" y="3026663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igen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94176"/>
            <a:ext cx="3200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739896"/>
            <a:ext cx="30540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Zárlat megszakítása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694176"/>
            <a:ext cx="3657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5072" y="3739896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igen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3694176"/>
            <a:ext cx="3657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2672" y="3739896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igen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07408"/>
            <a:ext cx="3200400" cy="713232"/>
          </a:xfrm>
          <a:prstGeom prst="rect">
            <a:avLst/>
          </a:prstGeom>
          <a:solidFill>
            <a:srgbClr val="E8F0F7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453128"/>
            <a:ext cx="30540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Kezelés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4407408"/>
            <a:ext cx="3657600" cy="713232"/>
          </a:xfrm>
          <a:prstGeom prst="rect">
            <a:avLst/>
          </a:prstGeom>
          <a:solidFill>
            <a:srgbClr val="E8F0F7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05072" y="4453128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betétcsere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4407408"/>
            <a:ext cx="3657600" cy="713232"/>
          </a:xfrm>
          <a:prstGeom prst="rect">
            <a:avLst/>
          </a:prstGeom>
          <a:solidFill>
            <a:srgbClr val="E8F0F7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4453128"/>
            <a:ext cx="35112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E2732"/>
                </a:solidFill>
                <a:latin typeface="Aptos"/>
              </a:rPr>
              <a:t>kapcsolókar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Döntsd el!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Normál üzem, túlterhelés vagy zárlat?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435608"/>
            <a:ext cx="566928" cy="566928"/>
          </a:xfrm>
          <a:prstGeom prst="ellipse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63040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E2732"/>
                </a:solidFill>
                <a:latin typeface="Aptos"/>
              </a:rPr>
              <a:t>Egy hosszabbítóra túl sok nagy teljesítményű fogyasztó kerül.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E7E20"/>
                </a:solidFill>
                <a:latin typeface="Aptos"/>
              </a:rPr>
              <a:t>TÚLTERHELÉS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2916936"/>
            <a:ext cx="566928" cy="566928"/>
          </a:xfrm>
          <a:prstGeom prst="ellipse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92608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44368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E2732"/>
                </a:solidFill>
                <a:latin typeface="Aptos"/>
              </a:rPr>
              <a:t>A fázisvezető és a nullavezető közvetlenül összeér.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944368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92D2D"/>
                </a:solidFill>
                <a:latin typeface="Aptos"/>
              </a:rPr>
              <a:t>ZÁRLAT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25696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398264"/>
            <a:ext cx="566928" cy="566928"/>
          </a:xfrm>
          <a:prstGeom prst="ellipse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407408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25696"/>
            <a:ext cx="6675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E2732"/>
                </a:solidFill>
                <a:latin typeface="Aptos"/>
              </a:rPr>
              <a:t>A fogyasztó a névleges áramán üzemel.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425696"/>
            <a:ext cx="2468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A8458"/>
                </a:solidFill>
                <a:latin typeface="Aptos"/>
              </a:rPr>
              <a:t>NORMÁL ÜZEM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64707D"/>
                </a:solidFill>
                <a:latin typeface="Aptos"/>
              </a:rPr>
              <a:t>Kulcs: a hiba jellegét az áram nagysága, kialakulásának oka és időtartama alapján különböztetjük meg.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Szakmai szókincs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Öt fogalom, amit biztosan tudni kell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B92D2D"/>
                </a:solidFill>
                <a:latin typeface="Aptos"/>
              </a:rPr>
              <a:t>Zárlat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371600"/>
            <a:ext cx="79552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E2732"/>
                </a:solidFill>
                <a:latin typeface="Aptos"/>
              </a:rPr>
              <a:t>Kis ellenállású összeköttetés különböző potenciálok között.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057400"/>
            <a:ext cx="10378440" cy="0"/>
          </a:xfrm>
          <a:prstGeom prst="line">
            <a:avLst/>
          </a:prstGeom>
          <a:ln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3172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DE7E20"/>
                </a:solidFill>
                <a:latin typeface="Aptos"/>
              </a:rPr>
              <a:t>Túlterhelés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31720"/>
            <a:ext cx="79552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E2732"/>
                </a:solidFill>
                <a:latin typeface="Aptos"/>
              </a:rPr>
              <a:t>A megengedettnél nagyobb áram folyik tartósan.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017520"/>
            <a:ext cx="10378440" cy="0"/>
          </a:xfrm>
          <a:prstGeom prst="line">
            <a:avLst/>
          </a:prstGeom>
          <a:ln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29184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95BA0"/>
                </a:solidFill>
                <a:latin typeface="Aptos"/>
              </a:rPr>
              <a:t>Olvadóbiztosító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91840"/>
            <a:ext cx="79552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E2732"/>
                </a:solidFill>
                <a:latin typeface="Aptos"/>
              </a:rPr>
              <a:t>Egyszer használható túláramvédelmi készülék.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977639"/>
            <a:ext cx="10378440" cy="0"/>
          </a:xfrm>
          <a:prstGeom prst="line">
            <a:avLst/>
          </a:prstGeom>
          <a:ln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42519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A8458"/>
                </a:solidFill>
                <a:latin typeface="Aptos"/>
              </a:rPr>
              <a:t>Kismegszakító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251960"/>
            <a:ext cx="79552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E2732"/>
                </a:solidFill>
                <a:latin typeface="Aptos"/>
              </a:rPr>
              <a:t>Visszakapcsolható túláramvédelmi készülék.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937760"/>
            <a:ext cx="10378440" cy="0"/>
          </a:xfrm>
          <a:prstGeom prst="line">
            <a:avLst/>
          </a:prstGeom>
          <a:ln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21208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3AACD"/>
                </a:solidFill>
                <a:latin typeface="Aptos"/>
              </a:rPr>
              <a:t>Kioldás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5212080"/>
            <a:ext cx="79552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E2732"/>
                </a:solidFill>
                <a:latin typeface="Aptos"/>
              </a:rPr>
              <a:t>A védelmi készülék működésbe lépése.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5897880"/>
            <a:ext cx="10378440" cy="0"/>
          </a:xfrm>
          <a:prstGeom prst="line">
            <a:avLst/>
          </a:prstGeom>
          <a:ln>
            <a:solidFill>
              <a:srgbClr val="DC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Kapcsolódás a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A villanyszerelő alapfeladata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91C37"/>
                </a:solidFill>
                <a:latin typeface="Aptos"/>
              </a:rPr>
              <a:t>A megfelelő túláramvédelmi készülék kiválasztása és ellenőrzése alapvető szakmai feladat.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743200"/>
            <a:ext cx="73152" cy="233172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95BA0"/>
                </a:solidFill>
                <a:latin typeface="Aptos"/>
              </a:rPr>
              <a:t>1. Felmérés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2971800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732"/>
                </a:solidFill>
                <a:latin typeface="Aptos"/>
              </a:rPr>
              <a:t>Milyen áramkört és vezetéket kell védeni?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74320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743200"/>
            <a:ext cx="73152" cy="2331720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88036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3AACD"/>
                </a:solidFill>
                <a:latin typeface="Aptos"/>
              </a:rPr>
              <a:t>2. Kiválasztás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73552"/>
            <a:ext cx="2971800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732"/>
                </a:solidFill>
                <a:latin typeface="Aptos"/>
              </a:rPr>
              <a:t>A védelem névleges adatai illeszkedjenek az áramkörhöz.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74320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2743200"/>
            <a:ext cx="73152" cy="2331720"/>
          </a:xfrm>
          <a:prstGeom prst="rect">
            <a:avLst/>
          </a:prstGeom>
          <a:solidFill>
            <a:srgbClr val="2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8458"/>
                </a:solidFill>
                <a:latin typeface="Aptos"/>
              </a:rPr>
              <a:t>3. Ellenőrzés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971800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732"/>
                </a:solidFill>
                <a:latin typeface="Aptos"/>
              </a:rPr>
              <a:t>A készülék és a bekötés legyen megfelelő állapotú.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2D2D"/>
                </a:solidFill>
                <a:latin typeface="Aptos"/>
              </a:rPr>
              <a:t>A védelem nem helyettesíti a szakszerű tervezést és szerelést.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BIZTONSÁGI PERC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CD5A"/>
                </a:solidFill>
                <a:latin typeface="Aptos"/>
              </a:rPr>
              <a:t>A zárlati áram rendkívül nagy lehet.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149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Soha ne cserélj biztosítót és ne szerelj villamos berendezést feszültség alatt!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16052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D2E1EE"/>
                </a:solidFill>
                <a:latin typeface="Aptos"/>
              </a:rPr>
              <a:t>Otthoni feladatnál csak megfigyelést végezz.
Az elosztótáblát ne bontsd meg!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3AACD"/>
                </a:solidFill>
                <a:latin typeface="Aptos"/>
              </a:rPr>
              <a:t>🛡  Biztonság mindenekelőtt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Mini projekt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Védelmi készülékek otthon – csak megfigyeléssel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91C37"/>
                </a:solidFill>
                <a:latin typeface="Aptos"/>
              </a:rPr>
              <a:t>Készíts egy egyszerű táblázatot az otthon található védelmi készülékekről!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3200400" cy="640080"/>
          </a:xfrm>
          <a:prstGeom prst="rect">
            <a:avLst/>
          </a:prstGeom>
          <a:solidFill>
            <a:srgbClr val="09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Típus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48840"/>
            <a:ext cx="2926080" cy="640080"/>
          </a:xfrm>
          <a:prstGeom prst="rect">
            <a:avLst/>
          </a:prstGeom>
          <a:solidFill>
            <a:srgbClr val="09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Névleges áram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148840"/>
            <a:ext cx="3840480" cy="640080"/>
          </a:xfrm>
          <a:prstGeom prst="rect">
            <a:avLst/>
          </a:prstGeom>
          <a:solidFill>
            <a:srgbClr val="09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19456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Feladat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88920"/>
            <a:ext cx="32004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788920"/>
            <a:ext cx="2926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2788920"/>
            <a:ext cx="3840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566160"/>
            <a:ext cx="32004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566160"/>
            <a:ext cx="2926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3566160"/>
            <a:ext cx="3840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343400"/>
            <a:ext cx="32004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343400"/>
            <a:ext cx="29260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4343400"/>
            <a:ext cx="38404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B92D2D"/>
                </a:solidFill>
                <a:latin typeface="Aptos"/>
              </a:rPr>
              <a:t>Csak a feliratokat és a látható adatokat jegyezd fel – ne nyúlj a készülékekhez!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91C37"/>
                </a:solidFill>
                <a:latin typeface="Aptos"/>
              </a:rPr>
              <a:t>Összefoglalás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64008"/>
          </a:xfrm>
          <a:prstGeom prst="rect">
            <a:avLst/>
          </a:prstGeom>
          <a:solidFill>
            <a:srgbClr val="23A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7D"/>
                </a:solidFill>
                <a:latin typeface="Aptos"/>
              </a:rPr>
              <a:t>Mit vigyél magaddal a 27. hétről?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3200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4707D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732"/>
                </a:solidFill>
                <a:latin typeface="Aptos"/>
              </a:defRPr>
            </a:pPr>
            <a:r>
              <a:t>• A túlterhelés tartósan a megengedettnél nagyobb áram.</a:t>
            </a:r>
          </a:p>
          <a:p>
            <a:pPr>
              <a:spcAft>
                <a:spcPts val="1000"/>
              </a:spcAft>
              <a:defRPr sz="2000">
                <a:solidFill>
                  <a:srgbClr val="1E2732"/>
                </a:solidFill>
                <a:latin typeface="Aptos"/>
              </a:defRPr>
            </a:pPr>
            <a:r>
              <a:t>• A zárlat kis ellenállású összeköttetés, amely nagyon nagy áramot okozhat.</a:t>
            </a:r>
          </a:p>
          <a:p>
            <a:pPr>
              <a:spcAft>
                <a:spcPts val="1000"/>
              </a:spcAft>
              <a:defRPr sz="2000">
                <a:solidFill>
                  <a:srgbClr val="1E2732"/>
                </a:solidFill>
                <a:latin typeface="Aptos"/>
              </a:defRPr>
            </a:pPr>
            <a:r>
              <a:t>• Az olvadóbiztosító egyszer használatos túláramvédelmi készülék.</a:t>
            </a:r>
          </a:p>
          <a:p>
            <a:pPr>
              <a:spcAft>
                <a:spcPts val="1000"/>
              </a:spcAft>
              <a:defRPr sz="2000">
                <a:solidFill>
                  <a:srgbClr val="1E2732"/>
                </a:solidFill>
                <a:latin typeface="Aptos"/>
              </a:defRPr>
            </a:pPr>
            <a:r>
              <a:t>• A kismegszakító túláram esetén lekapcsol, majd a hiba megszüntetése után visszakapcsolható.</a:t>
            </a:r>
          </a:p>
          <a:p>
            <a:pPr>
              <a:spcAft>
                <a:spcPts val="1000"/>
              </a:spcAft>
              <a:defRPr sz="2000">
                <a:solidFill>
                  <a:srgbClr val="1E2732"/>
                </a:solidFill>
                <a:latin typeface="Aptos"/>
              </a:defRPr>
            </a:pPr>
            <a:r>
              <a:t>• A megfelelő védelem feladata a veszélyes áram időben történő megszakítása.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C37"/>
                </a:solidFill>
                <a:latin typeface="Aptos"/>
              </a:rPr>
              <a:t>„A legjobb hiba az, amelyet a megfelelő védelem időben megszakít.”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95BA0"/>
                </a:solidFill>
                <a:latin typeface="Aptos"/>
              </a:rPr>
              <a:t>Következő hét: Miért old le a FI-relé? – az áram-védőkapcsoló szerepe az életvédelemben.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07D"/>
                </a:solidFill>
                <a:latin typeface="Aptos"/>
              </a:rPr>
              <a:t>IAP • 9. évfolyam • Villamos alapismeretek • 27. hét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7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