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</p:embeddedFont>
    <p:embeddedFont>
      <p:font typeface="Roboto Bold" panose="02000000000000000000" charset="0"/>
      <p:regular r:id="rId17"/>
    </p:embeddedFont>
    <p:embeddedFont>
      <p:font typeface="Roboto Slab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126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Miért old le az ÁVK?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áram-védőkapcsoló szerepe az életvédelemben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5578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 áramütés veszélyei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1929904"/>
            <a:ext cx="3053877" cy="2291655"/>
          </a:xfrm>
          <a:prstGeom prst="roundRect">
            <a:avLst>
              <a:gd name="adj" fmla="val 1237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850482" y="2118916"/>
            <a:ext cx="2675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 emberi test vezeti az áramot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2822873"/>
            <a:ext cx="2675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testünk elektromos vezető – az áram áthaladhat rajta, ha érintkezésbe kerülünk feszültség alatt lévő résszel.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1929904"/>
            <a:ext cx="3053976" cy="2291655"/>
          </a:xfrm>
          <a:prstGeom prst="roundRect">
            <a:avLst>
              <a:gd name="adj" fmla="val 1237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4093366" y="2118916"/>
            <a:ext cx="26759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6B35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Már 50 mA halálos lehet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3366" y="2822873"/>
            <a:ext cx="26759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Mindössze 50 milliamper elegendő lehet szívleálláshoz – ez rendkívül kis áramérték.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410571"/>
            <a:ext cx="6296860" cy="1391543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850482" y="4599583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 ÁVK 30 mA-nál lekapcsol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5008265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védőkapcsoló a halálos küszöb alatt avatkozik be – ez az a határ, amely életet menthet.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849313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918692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 az ÁVK?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69835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áram-védőkapcsoló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közismert nevén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FI-relé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egy olyan biztonsági eszköz, amely hibaáram esetén azonnal lekapcsolja az áramkört.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778871"/>
            <a:ext cx="5339820" cy="1442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4993283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Nem túláramot véd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5401965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kismegszakítótól eltérően az ÁVK nem a túlterhelést, hanem a hibaáramot figyeli.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301" y="4778871"/>
            <a:ext cx="5339919" cy="14423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06305" y="4993283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Azonnali lekapcsolás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506305" y="5401965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Veszély esetén milliszekundumok alatt megszakítja az áramkört.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5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Hogyan működik?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610221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367319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Azonnali lekapcsolás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367319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Eltérés észlelése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214476"/>
            <a:ext cx="1586812" cy="917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Áram-összehasonlítás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61161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ÁVK folyamatosan figyeli a be- és kifolyó áram egyensúlyát. Bármilyen eltérés – akár 30 mA – elegendő a lekapcsoláshoz. A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TEST gomb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segítségével bármikor ellenőrizhető a működőképesség.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2926"/>
            <a:ext cx="520379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hibaáram fogalma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22587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Normál működés esetén az áramkörbe beáramló és visszatérő áram egyenlő. Ha ez az egyensúly megbomlik,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hibaáram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keletkezik.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199904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áram egy része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nem a tervezett úton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tér vissza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Például: </a:t>
            </a:r>
            <a:r>
              <a:rPr lang="en-US" sz="1450" dirty="0">
                <a:solidFill>
                  <a:srgbClr val="FF6B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sérült szigetelés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vagy vizes kéz az aljzatnál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 az ÁVK számára a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veszély jele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azonnal reagál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451945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FCF2B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738688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669234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Vizes kézzel soha ne nyúlj elektromos aljzathoz – a víz drasztikusan csökkenti a test ellenállását!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9625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TEST gomb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1870373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5304251" y="19057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847608" y="193526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Működésellenőrzés célja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847608" y="2343944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TEST gomb kizárólag az ÁVK működőképességének rendszeres ellenőrzésére szolgál – havonta egyszer nyomjuk meg.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3360" y="3326805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0" name="Text 7"/>
          <p:cNvSpPr/>
          <p:nvPr/>
        </p:nvSpPr>
        <p:spPr>
          <a:xfrm>
            <a:off x="5304251" y="336222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847608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Szándékos hibaáram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847608" y="3800376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Megnyomásakor az eszköz egy kis mértékű, szándékos hibaáramot hoz létre a belső áramkörben.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478323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5304251" y="481865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47608" y="484812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 lekapcsol – rendben van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847608" y="525680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lekapcsolás azt jelenti, hogy az ÁVK </a:t>
            </a:r>
            <a:r>
              <a:rPr lang="en-US" sz="1450" b="1" dirty="0">
                <a:solidFill>
                  <a:srgbClr val="1ABC9C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működőképes és megbízható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Ha nem kapcsol le, azonnal cseréltetni kell.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74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Gyakorlati alkalmazások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16088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Fürdőszoba és konyha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40322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Ahol víz és elektromosság találkozhat – kötelező az ÁVK védelme.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516088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Kültéri aljzatok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40322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Időjárásnak kitett helyszíneken fokozott a hibaáram kockázata.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516088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Új épületek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Minden új villamos berendezésbe kötelező beépíteni – a villanyszerelőnek tudnia kell kiválasztani és bekötni.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9616" y="605532"/>
            <a:ext cx="7172046" cy="3912791"/>
          </a:xfrm>
          <a:prstGeom prst="roundRect">
            <a:avLst>
              <a:gd name="adj" fmla="val 702"/>
            </a:avLst>
          </a:prstGeom>
          <a:solidFill>
            <a:srgbClr val="004E89"/>
          </a:solidFill>
          <a:ln/>
        </p:spPr>
      </p:sp>
      <p:sp>
        <p:nvSpPr>
          <p:cNvPr id="3" name="Text 1"/>
          <p:cNvSpPr/>
          <p:nvPr/>
        </p:nvSpPr>
        <p:spPr>
          <a:xfrm>
            <a:off x="712670" y="2051745"/>
            <a:ext cx="6805938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Mit jegyezz fel otthon?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2670" y="2801243"/>
            <a:ext cx="7415523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Házi feladat: nézd meg az elosztótáblát, és gyűjtsd össze az alábbi adatokat!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826" y="823317"/>
            <a:ext cx="3513645" cy="35137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717852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475" y="5003602"/>
            <a:ext cx="3504715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5145881"/>
            <a:ext cx="350471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Keress ÁVK-t az elosztótáblában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61475" y="5538291"/>
            <a:ext cx="350471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Általában a kismegszakítók mellett, jellemzően „FI" felirattal ellátva található.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43490" y="4717852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90" y="5003602"/>
            <a:ext cx="3504715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2" name="Text 9"/>
          <p:cNvSpPr/>
          <p:nvPr/>
        </p:nvSpPr>
        <p:spPr>
          <a:xfrm>
            <a:off x="4343490" y="5145881"/>
            <a:ext cx="350471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Írd fel az adatokat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43490" y="5538291"/>
            <a:ext cx="350471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Gyártó neve, névleges áram (pl. 25 A) és hibaáram értéke (pl. </a:t>
            </a:r>
            <a:r>
              <a:rPr lang="en-US" sz="14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 mA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25505" y="4717852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25505" y="5003602"/>
            <a:ext cx="3504715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6" name="Text 13"/>
          <p:cNvSpPr/>
          <p:nvPr/>
        </p:nvSpPr>
        <p:spPr>
          <a:xfrm>
            <a:off x="8025505" y="5145881"/>
            <a:ext cx="350471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Ellenőrizd a TEST gombot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025505" y="5538291"/>
            <a:ext cx="350471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Csak felnőtt felügyelete mellett!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Nyomjuk meg, és figyeljük, hogy lekapcsol-e.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6638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legjobb védelem az, amely időben közbelép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329565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ÁVK nem helyettesíti az óvatosságot – de életet menthet.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810695"/>
            <a:ext cx="6296860" cy="2480667"/>
          </a:xfrm>
          <a:prstGeom prst="roundRect">
            <a:avLst>
              <a:gd name="adj" fmla="val 1143"/>
            </a:avLst>
          </a:prstGeom>
          <a:solidFill>
            <a:srgbClr val="E9ECF2"/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3810695"/>
            <a:ext cx="3148430" cy="1391543"/>
          </a:xfrm>
          <a:custGeom>
            <a:avLst/>
            <a:gdLst/>
            <a:ahLst/>
            <a:cxnLst/>
            <a:rect l="l" t="t" r="r" b="b"/>
            <a:pathLst>
              <a:path w="3148430" h="1391543">
                <a:moveTo>
                  <a:pt x="23627" y="0"/>
                </a:moveTo>
                <a:lnTo>
                  <a:pt x="3148430" y="0"/>
                </a:lnTo>
                <a:lnTo>
                  <a:pt x="3148430" y="1391543"/>
                </a:lnTo>
                <a:lnTo>
                  <a:pt x="0" y="1391543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850482" y="3999706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30 mA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0482" y="4408388"/>
            <a:ext cx="277041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Lekapcsolási küszöb – a halálos határ alatt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809905" y="3810695"/>
            <a:ext cx="3148430" cy="1391543"/>
          </a:xfrm>
          <a:custGeom>
            <a:avLst/>
            <a:gdLst/>
            <a:ahLst/>
            <a:cxnLst/>
            <a:rect l="l" t="t" r="r" b="b"/>
            <a:pathLst>
              <a:path w="3148430" h="1391543">
                <a:moveTo>
                  <a:pt x="0" y="0"/>
                </a:moveTo>
                <a:lnTo>
                  <a:pt x="3124803" y="0"/>
                </a:lnTo>
                <a:arcTo wR="23627" hR="23628" stAng="16200000" swAng="5400000"/>
                <a:lnTo>
                  <a:pt x="3148430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E9ECF2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3810695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FD2D8"/>
          </a:solidFill>
          <a:ln/>
        </p:spPr>
      </p:sp>
      <p:sp>
        <p:nvSpPr>
          <p:cNvPr id="12" name="Text 9"/>
          <p:cNvSpPr/>
          <p:nvPr/>
        </p:nvSpPr>
        <p:spPr>
          <a:xfrm>
            <a:off x="3998912" y="3999706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Milliszekundumok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3998912" y="4408388"/>
            <a:ext cx="277041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ÁVK reakcióideje veszély esetén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1475" y="5202238"/>
            <a:ext cx="6296860" cy="1089124"/>
          </a:xfrm>
          <a:custGeom>
            <a:avLst/>
            <a:gdLst/>
            <a:ahLst/>
            <a:cxnLst/>
            <a:rect l="l" t="t" r="r" b="b"/>
            <a:pathLst>
              <a:path w="6296860" h="1089124">
                <a:moveTo>
                  <a:pt x="0" y="0"/>
                </a:moveTo>
                <a:lnTo>
                  <a:pt x="6296860" y="0"/>
                </a:lnTo>
                <a:lnTo>
                  <a:pt x="6296860" y="1065496"/>
                </a:lnTo>
                <a:arcTo wR="23627" hR="23628" stAng="0" swAng="5400000"/>
                <a:lnTo>
                  <a:pt x="23627" y="1089124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E9ECF2"/>
          </a:solidFill>
          <a:ln/>
        </p:spPr>
      </p:sp>
      <p:sp>
        <p:nvSpPr>
          <p:cNvPr id="15" name="Shape 12"/>
          <p:cNvSpPr/>
          <p:nvPr/>
        </p:nvSpPr>
        <p:spPr>
          <a:xfrm>
            <a:off x="661475" y="5202238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</p:sp>
      <p:sp>
        <p:nvSpPr>
          <p:cNvPr id="16" name="Text 13"/>
          <p:cNvSpPr/>
          <p:nvPr/>
        </p:nvSpPr>
        <p:spPr>
          <a:xfrm>
            <a:off x="850482" y="5391249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Havonta egyszer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50482" y="5799931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Ellenőrizd a TEST gombbal a működést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479</Words>
  <Application>Microsoft Office PowerPoint</Application>
  <PresentationFormat>Szélesvásznú</PresentationFormat>
  <Paragraphs>71</Paragraphs>
  <Slides>9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6" baseType="lpstr">
      <vt:lpstr>Roboto Bold</vt:lpstr>
      <vt:lpstr>Calibri</vt:lpstr>
      <vt:lpstr>Roboto Slab Light</vt:lpstr>
      <vt:lpstr>Roboto Slab</vt:lpstr>
      <vt:lpstr>Roboto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1</cp:revision>
  <dcterms:created xsi:type="dcterms:W3CDTF">2026-08-08T18:33:51Z</dcterms:created>
  <dcterms:modified xsi:type="dcterms:W3CDTF">2026-08-08T18:35:15Z</dcterms:modified>
</cp:coreProperties>
</file>