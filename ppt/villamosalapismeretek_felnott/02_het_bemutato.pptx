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0B9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6601968"/>
            <a:ext cx="5029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t>IAP • Tanulj! Alkalmazz! Alkoss!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881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2. hét – Feszültség és áramkör</a:t>
            </a:r>
          </a:p>
          <a:p>
            <a:pPr algn="ctr">
              <a:defRPr sz="2000">
                <a:solidFill>
                  <a:srgbClr val="20B9F2"/>
                </a:solidFill>
              </a:defRPr>
            </a:pPr>
            <a:r>
              <a:t>IAP bemutató</a:t>
            </a:r>
          </a:p>
          <a:p>
            <a:pPr algn="ctr">
              <a:defRPr sz="1600">
                <a:solidFill>
                  <a:srgbClr val="FFFFFF"/>
                </a:solidFill>
              </a:defRPr>
            </a:pPr>
            <a:r>
              <a:t>Felnőtt oktatás • Villamos alapismeretek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0B9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6601968"/>
            <a:ext cx="5029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t>IAP • Tanulj! Alkalmazz! Alkoss!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61A30"/>
                </a:solidFill>
              </a:defRPr>
            </a:pPr>
            <a:r>
              <a:t>Miért fontos a feszültség?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170432"/>
            <a:ext cx="2011680" cy="54864"/>
          </a:xfrm>
          <a:prstGeom prst="rect">
            <a:avLst/>
          </a:prstGeom>
          <a:solidFill>
            <a:srgbClr val="0E70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508760"/>
            <a:ext cx="10881360" cy="4480560"/>
          </a:xfrm>
          <a:prstGeom prst="roundRect">
            <a:avLst/>
          </a:prstGeom>
          <a:solidFill>
            <a:srgbClr val="EAF4FA"/>
          </a:solidFill>
          <a:ln>
            <a:solidFill>
              <a:srgbClr val="0E70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783080"/>
            <a:ext cx="1014984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14243A"/>
                </a:solidFill>
              </a:defRPr>
            </a:pPr>
            <a:r>
              <a:t>• A feszültség két pont villamos állapota közötti különbséget fejezi ki.</a:t>
            </a:r>
          </a:p>
          <a:p>
            <a:pPr>
              <a:spcAft>
                <a:spcPts val="1400"/>
              </a:spcAft>
              <a:defRPr sz="2000">
                <a:solidFill>
                  <a:srgbClr val="14243A"/>
                </a:solidFill>
              </a:defRPr>
            </a:pPr>
            <a:r>
              <a:t>• Jele: U. Mértékegysége: volt (V).</a:t>
            </a:r>
          </a:p>
          <a:p>
            <a:pPr>
              <a:spcAft>
                <a:spcPts val="1400"/>
              </a:spcAft>
              <a:defRPr sz="2000">
                <a:solidFill>
                  <a:srgbClr val="14243A"/>
                </a:solidFill>
              </a:defRPr>
            </a:pPr>
            <a:r>
              <a:t>• A feszültség önmagában még nem jelenti azt, hogy áram is folyik.</a:t>
            </a:r>
          </a:p>
          <a:p>
            <a:pPr>
              <a:spcAft>
                <a:spcPts val="1400"/>
              </a:spcAft>
              <a:defRPr sz="2000">
                <a:solidFill>
                  <a:srgbClr val="14243A"/>
                </a:solidFill>
              </a:defRPr>
            </a:pPr>
            <a:r>
              <a:t>• Áram akkor indulhat meg, ha vezető út is létrejön.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0B9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6601968"/>
            <a:ext cx="5029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t>IAP • Tanulj! Alkalmazz! Alkoss!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61A30"/>
                </a:solidFill>
              </a:defRPr>
            </a:pPr>
            <a:r>
              <a:t>Történeti kitekintés – Alessandro Volta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170432"/>
            <a:ext cx="2011680" cy="54864"/>
          </a:xfrm>
          <a:prstGeom prst="rect">
            <a:avLst/>
          </a:prstGeom>
          <a:solidFill>
            <a:srgbClr val="0E70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508760"/>
            <a:ext cx="10881360" cy="4480560"/>
          </a:xfrm>
          <a:prstGeom prst="roundRect">
            <a:avLst/>
          </a:prstGeom>
          <a:solidFill>
            <a:srgbClr val="EAF4FA"/>
          </a:solidFill>
          <a:ln>
            <a:solidFill>
              <a:srgbClr val="0E70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783080"/>
            <a:ext cx="1014984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14243A"/>
                </a:solidFill>
              </a:defRPr>
            </a:pPr>
            <a:r>
              <a:t>• A döntő lépés a voltaoszlop megalkotása volt 1800 körül.</a:t>
            </a:r>
          </a:p>
          <a:p>
            <a:pPr>
              <a:spcAft>
                <a:spcPts val="1400"/>
              </a:spcAft>
              <a:defRPr sz="2000">
                <a:solidFill>
                  <a:srgbClr val="14243A"/>
                </a:solidFill>
              </a:defRPr>
            </a:pPr>
            <a:r>
              <a:t>• A voltaoszlop tartós villamos feszültséget tudott létrehozni.</a:t>
            </a:r>
          </a:p>
          <a:p>
            <a:pPr>
              <a:spcAft>
                <a:spcPts val="1400"/>
              </a:spcAft>
              <a:defRPr sz="2000">
                <a:solidFill>
                  <a:srgbClr val="14243A"/>
                </a:solidFill>
              </a:defRPr>
            </a:pPr>
            <a:r>
              <a:t>• Ezzel lehetővé vált a folyamatos villamos áram vizsgálata.</a:t>
            </a:r>
          </a:p>
          <a:p>
            <a:pPr>
              <a:spcAft>
                <a:spcPts val="1400"/>
              </a:spcAft>
              <a:defRPr sz="2000">
                <a:solidFill>
                  <a:srgbClr val="14243A"/>
                </a:solidFill>
              </a:defRPr>
            </a:pPr>
            <a:r>
              <a:t>• A volt mértékegység Alessandro Volta nevét őrzi.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0B9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6601968"/>
            <a:ext cx="5029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t>IAP • Tanulj! Alkalmazz! Alkoss!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61A30"/>
                </a:solidFill>
              </a:defRPr>
            </a:pPr>
            <a:r>
              <a:t>Az egyszerű villamos áramkör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170432"/>
            <a:ext cx="2011680" cy="54864"/>
          </a:xfrm>
          <a:prstGeom prst="rect">
            <a:avLst/>
          </a:prstGeom>
          <a:solidFill>
            <a:srgbClr val="0E70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508760"/>
            <a:ext cx="10881360" cy="4480560"/>
          </a:xfrm>
          <a:prstGeom prst="roundRect">
            <a:avLst/>
          </a:prstGeom>
          <a:solidFill>
            <a:srgbClr val="EAF4FA"/>
          </a:solidFill>
          <a:ln>
            <a:solidFill>
              <a:srgbClr val="0E70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783080"/>
            <a:ext cx="1014984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14243A"/>
                </a:solidFill>
              </a:defRPr>
            </a:pPr>
            <a:r>
              <a:t>• Áramforrás – létrehozza és fenntartja a feszültséget.</a:t>
            </a:r>
          </a:p>
          <a:p>
            <a:pPr>
              <a:spcAft>
                <a:spcPts val="1400"/>
              </a:spcAft>
              <a:defRPr sz="2000">
                <a:solidFill>
                  <a:srgbClr val="14243A"/>
                </a:solidFill>
              </a:defRPr>
            </a:pPr>
            <a:r>
              <a:t>• Vezeték – biztosítja a vezető kapcsolatot.</a:t>
            </a:r>
          </a:p>
          <a:p>
            <a:pPr>
              <a:spcAft>
                <a:spcPts val="1400"/>
              </a:spcAft>
              <a:defRPr sz="2000">
                <a:solidFill>
                  <a:srgbClr val="14243A"/>
                </a:solidFill>
              </a:defRPr>
            </a:pPr>
            <a:r>
              <a:t>• Kapcsoló – megszakítja vagy zárja az áram útját.</a:t>
            </a:r>
          </a:p>
          <a:p>
            <a:pPr>
              <a:spcAft>
                <a:spcPts val="1400"/>
              </a:spcAft>
              <a:defRPr sz="2000">
                <a:solidFill>
                  <a:srgbClr val="14243A"/>
                </a:solidFill>
              </a:defRPr>
            </a:pPr>
            <a:r>
              <a:t>• Fogyasztó – a villamos energiát más energiaformává alakítja.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0B9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6601968"/>
            <a:ext cx="5029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t>IAP • Tanulj! Alkalmazz! Alkoss!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61A30"/>
                </a:solidFill>
              </a:defRPr>
            </a:pPr>
            <a:r>
              <a:t>Nyitott és zárt áramkör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170432"/>
            <a:ext cx="2011680" cy="54864"/>
          </a:xfrm>
          <a:prstGeom prst="rect">
            <a:avLst/>
          </a:prstGeom>
          <a:solidFill>
            <a:srgbClr val="0E70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508760"/>
            <a:ext cx="10881360" cy="4480560"/>
          </a:xfrm>
          <a:prstGeom prst="roundRect">
            <a:avLst/>
          </a:prstGeom>
          <a:solidFill>
            <a:srgbClr val="EAF4FA"/>
          </a:solidFill>
          <a:ln>
            <a:solidFill>
              <a:srgbClr val="0E70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783080"/>
            <a:ext cx="1014984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14243A"/>
                </a:solidFill>
              </a:defRPr>
            </a:pPr>
            <a:r>
              <a:t>• Nyitott áramkör: az áram útja valahol megszakad.</a:t>
            </a:r>
          </a:p>
          <a:p>
            <a:pPr>
              <a:spcAft>
                <a:spcPts val="1400"/>
              </a:spcAft>
              <a:defRPr sz="2000">
                <a:solidFill>
                  <a:srgbClr val="14243A"/>
                </a:solidFill>
              </a:defRPr>
            </a:pPr>
            <a:r>
              <a:t>• Zárt áramkör: folytonos vezető út alakul ki az áramforrástól vissza az áramforrásig.</a:t>
            </a:r>
          </a:p>
          <a:p>
            <a:pPr>
              <a:spcAft>
                <a:spcPts val="1400"/>
              </a:spcAft>
              <a:defRPr sz="2000">
                <a:solidFill>
                  <a:srgbClr val="14243A"/>
                </a:solidFill>
              </a:defRPr>
            </a:pPr>
            <a:r>
              <a:t>• A fogyasztó működéséhez megfelelő feszültség és zárt áramkör szükséges.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0B9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6601968"/>
            <a:ext cx="5029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t>IAP • Tanulj! Alkalmazz! Alkoss!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61A30"/>
                </a:solidFill>
              </a:defRPr>
            </a:pPr>
            <a:r>
              <a:t>Mi kell az áram megindulásához?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170432"/>
            <a:ext cx="2011680" cy="54864"/>
          </a:xfrm>
          <a:prstGeom prst="rect">
            <a:avLst/>
          </a:prstGeom>
          <a:solidFill>
            <a:srgbClr val="0E70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508760"/>
            <a:ext cx="10881360" cy="4480560"/>
          </a:xfrm>
          <a:prstGeom prst="roundRect">
            <a:avLst/>
          </a:prstGeom>
          <a:solidFill>
            <a:srgbClr val="EAF4FA"/>
          </a:solidFill>
          <a:ln>
            <a:solidFill>
              <a:srgbClr val="0E70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783080"/>
            <a:ext cx="1014984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14243A"/>
                </a:solidFill>
              </a:defRPr>
            </a:pPr>
            <a:r>
              <a:t>• 1. Feszültségkülönbség.</a:t>
            </a:r>
          </a:p>
          <a:p>
            <a:pPr>
              <a:spcAft>
                <a:spcPts val="1400"/>
              </a:spcAft>
              <a:defRPr sz="2000">
                <a:solidFill>
                  <a:srgbClr val="14243A"/>
                </a:solidFill>
              </a:defRPr>
            </a:pPr>
            <a:r>
              <a:t>• 2. Zárt, vezető út.</a:t>
            </a:r>
          </a:p>
          <a:p>
            <a:pPr>
              <a:spcAft>
                <a:spcPts val="1400"/>
              </a:spcAft>
              <a:defRPr sz="2000">
                <a:solidFill>
                  <a:srgbClr val="14243A"/>
                </a:solidFill>
              </a:defRPr>
            </a:pPr>
            <a:r>
              <a:t>• Ha bármelyik hiányzik, a fogyasztó nem működik.</a:t>
            </a:r>
          </a:p>
          <a:p>
            <a:pPr>
              <a:spcAft>
                <a:spcPts val="1400"/>
              </a:spcAft>
              <a:defRPr sz="2000">
                <a:solidFill>
                  <a:srgbClr val="14243A"/>
                </a:solidFill>
              </a:defRPr>
            </a:pPr>
            <a:r>
              <a:t>• Ez a villamos hibakeresés egyik legalapvetőbb gondolatmenete.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0B9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6601968"/>
            <a:ext cx="5029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t>IAP • Tanulj! Alkalmazz! Alkoss!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61A30"/>
                </a:solidFill>
              </a:defRPr>
            </a:pPr>
            <a:r>
              <a:t>Gyakorlati példa – 24 V DC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170432"/>
            <a:ext cx="2011680" cy="54864"/>
          </a:xfrm>
          <a:prstGeom prst="rect">
            <a:avLst/>
          </a:prstGeom>
          <a:solidFill>
            <a:srgbClr val="0E70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508760"/>
            <a:ext cx="10881360" cy="4480560"/>
          </a:xfrm>
          <a:prstGeom prst="roundRect">
            <a:avLst/>
          </a:prstGeom>
          <a:solidFill>
            <a:srgbClr val="EAF4FA"/>
          </a:solidFill>
          <a:ln>
            <a:solidFill>
              <a:srgbClr val="0E70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783080"/>
            <a:ext cx="1014984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14243A"/>
                </a:solidFill>
              </a:defRPr>
            </a:pPr>
            <a:r>
              <a:t>• +24 V → kapcsoló → jelzőlámpa → 0 V.</a:t>
            </a:r>
          </a:p>
          <a:p>
            <a:pPr>
              <a:spcAft>
                <a:spcPts val="1400"/>
              </a:spcAft>
              <a:defRPr sz="2000">
                <a:solidFill>
                  <a:srgbClr val="14243A"/>
                </a:solidFill>
              </a:defRPr>
            </a:pPr>
            <a:r>
              <a:t>• Nyitott kapcsolónál a kör megszakad, a lámpa nem világít.</a:t>
            </a:r>
          </a:p>
          <a:p>
            <a:pPr>
              <a:spcAft>
                <a:spcPts val="1400"/>
              </a:spcAft>
              <a:defRPr sz="2000">
                <a:solidFill>
                  <a:srgbClr val="14243A"/>
                </a:solidFill>
              </a:defRPr>
            </a:pPr>
            <a:r>
              <a:t>• Zárt kapcsolónál létrejön a teljes áramút, a lámpa világít.</a:t>
            </a:r>
          </a:p>
          <a:p>
            <a:pPr>
              <a:spcAft>
                <a:spcPts val="1400"/>
              </a:spcAft>
              <a:defRPr sz="2000">
                <a:solidFill>
                  <a:srgbClr val="14243A"/>
                </a:solidFill>
              </a:defRPr>
            </a:pPr>
            <a:r>
              <a:t>• A kapcsoló nem termeli az áramot: az áram útját nyitja vagy zárja.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0B9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6601968"/>
            <a:ext cx="5029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t>IAP • Tanulj! Alkalmazz! Alkoss!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61A30"/>
                </a:solidFill>
              </a:defRPr>
            </a:pPr>
            <a:r>
              <a:t>Feszültségmérés multiméterrel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170432"/>
            <a:ext cx="2011680" cy="54864"/>
          </a:xfrm>
          <a:prstGeom prst="rect">
            <a:avLst/>
          </a:prstGeom>
          <a:solidFill>
            <a:srgbClr val="0E70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508760"/>
            <a:ext cx="10881360" cy="4480560"/>
          </a:xfrm>
          <a:prstGeom prst="roundRect">
            <a:avLst/>
          </a:prstGeom>
          <a:solidFill>
            <a:srgbClr val="EAF4FA"/>
          </a:solidFill>
          <a:ln>
            <a:solidFill>
              <a:srgbClr val="0E70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783080"/>
            <a:ext cx="1014984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14243A"/>
                </a:solidFill>
              </a:defRPr>
            </a:pPr>
            <a:r>
              <a:t>• A feszültséget mindig két pont között mérjük.</a:t>
            </a:r>
          </a:p>
          <a:p>
            <a:pPr>
              <a:spcAft>
                <a:spcPts val="1400"/>
              </a:spcAft>
              <a:defRPr sz="2000">
                <a:solidFill>
                  <a:srgbClr val="14243A"/>
                </a:solidFill>
              </a:defRPr>
            </a:pPr>
            <a:r>
              <a:t>• DC áramkörnél a multimétert egyenfeszültség-mérésre állítjuk.</a:t>
            </a:r>
          </a:p>
          <a:p>
            <a:pPr>
              <a:spcAft>
                <a:spcPts val="1400"/>
              </a:spcAft>
              <a:defRPr sz="2000">
                <a:solidFill>
                  <a:srgbClr val="14243A"/>
                </a:solidFill>
              </a:defRPr>
            </a:pPr>
            <a:r>
              <a:t>• A mérővezetékeket a vizsgált két pontra csatlakoztatjuk.</a:t>
            </a:r>
          </a:p>
          <a:p>
            <a:pPr>
              <a:spcAft>
                <a:spcPts val="1400"/>
              </a:spcAft>
              <a:defRPr sz="2000">
                <a:solidFill>
                  <a:srgbClr val="14243A"/>
                </a:solidFill>
              </a:defRPr>
            </a:pPr>
            <a:r>
              <a:t>• A mérés segítségével megkereshető, hol szakad meg az áramkör.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0B9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6601968"/>
            <a:ext cx="5029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t>IAP • Tanulj! Alkalmazz! Alkoss!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61A30"/>
                </a:solidFill>
              </a:defRPr>
            </a:pPr>
            <a:r>
              <a:t>Összefoglalás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170432"/>
            <a:ext cx="2011680" cy="54864"/>
          </a:xfrm>
          <a:prstGeom prst="rect">
            <a:avLst/>
          </a:prstGeom>
          <a:solidFill>
            <a:srgbClr val="0E70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508760"/>
            <a:ext cx="10881360" cy="4480560"/>
          </a:xfrm>
          <a:prstGeom prst="roundRect">
            <a:avLst/>
          </a:prstGeom>
          <a:solidFill>
            <a:srgbClr val="EAF4FA"/>
          </a:solidFill>
          <a:ln>
            <a:solidFill>
              <a:srgbClr val="0E70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783080"/>
            <a:ext cx="1014984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14243A"/>
                </a:solidFill>
              </a:defRPr>
            </a:pPr>
            <a:r>
              <a:t>• A feszültség két pont közötti villamos különbség.</a:t>
            </a:r>
          </a:p>
          <a:p>
            <a:pPr>
              <a:spcAft>
                <a:spcPts val="1400"/>
              </a:spcAft>
              <a:defRPr sz="2000">
                <a:solidFill>
                  <a:srgbClr val="14243A"/>
                </a:solidFill>
              </a:defRPr>
            </a:pPr>
            <a:r>
              <a:t>• Az egyszerű áramkör fő részei: áramforrás, vezeték, kapcsoló és fogyasztó.</a:t>
            </a:r>
          </a:p>
          <a:p>
            <a:pPr>
              <a:spcAft>
                <a:spcPts val="1400"/>
              </a:spcAft>
              <a:defRPr sz="2000">
                <a:solidFill>
                  <a:srgbClr val="14243A"/>
                </a:solidFill>
              </a:defRPr>
            </a:pPr>
            <a:r>
              <a:t>• Feszültség + zárt vezető út → áram folyhat.</a:t>
            </a:r>
          </a:p>
          <a:p>
            <a:pPr>
              <a:spcAft>
                <a:spcPts val="1400"/>
              </a:spcAft>
              <a:defRPr sz="2000">
                <a:solidFill>
                  <a:srgbClr val="14243A"/>
                </a:solidFill>
              </a:defRPr>
            </a:pPr>
            <a:r>
              <a:t>• Hibakereséskor először azt vizsgáljuk: van feszültség, és zárt-e az áramút?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0B9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6601968"/>
            <a:ext cx="5029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t>IAP • Tanulj! Alkalmazz! Alkoss!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61A30"/>
                </a:solidFill>
              </a:defRPr>
            </a:pPr>
            <a:r>
              <a:t>IAP-kihívás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170432"/>
            <a:ext cx="2011680" cy="54864"/>
          </a:xfrm>
          <a:prstGeom prst="rect">
            <a:avLst/>
          </a:prstGeom>
          <a:solidFill>
            <a:srgbClr val="EF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508760"/>
            <a:ext cx="10881360" cy="4480560"/>
          </a:xfrm>
          <a:prstGeom prst="roundRect">
            <a:avLst/>
          </a:prstGeom>
          <a:solidFill>
            <a:srgbClr val="EAF4FA"/>
          </a:solidFill>
          <a:ln>
            <a:solidFill>
              <a:srgbClr val="EF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783080"/>
            <a:ext cx="1014984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14243A"/>
                </a:solidFill>
              </a:defRPr>
            </a:pPr>
            <a:r>
              <a:t>• A tápegység kimenetén 24 V mérhető, de a jelzőlámpa nem világít.</a:t>
            </a:r>
          </a:p>
          <a:p>
            <a:pPr>
              <a:spcAft>
                <a:spcPts val="1400"/>
              </a:spcAft>
              <a:defRPr sz="2000">
                <a:solidFill>
                  <a:srgbClr val="14243A"/>
                </a:solidFill>
              </a:defRPr>
            </a:pPr>
            <a:r>
              <a:t>• Sorolj fel legalább három lehetséges hibát!</a:t>
            </a:r>
          </a:p>
          <a:p>
            <a:pPr>
              <a:spcAft>
                <a:spcPts val="1400"/>
              </a:spcAft>
              <a:defRPr sz="2000">
                <a:solidFill>
                  <a:srgbClr val="14243A"/>
                </a:solidFill>
              </a:defRPr>
            </a:pPr>
            <a:r>
              <a:t>• Milyen sorrendben ellenőriznéd őket?</a:t>
            </a:r>
          </a:p>
          <a:p>
            <a:pPr>
              <a:spcAft>
                <a:spcPts val="1400"/>
              </a:spcAft>
              <a:defRPr sz="2000">
                <a:solidFill>
                  <a:srgbClr val="14243A"/>
                </a:solidFill>
              </a:defRPr>
            </a:pPr>
            <a:r>
              <a:t>• Indokold, miért ebben a sorrendben haladnál!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