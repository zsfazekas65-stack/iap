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D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828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05840"/>
            <a:ext cx="68580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t>11. évfolyam • Analóg áramkörök • 36.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45920"/>
            <a:ext cx="640080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900" b="1">
                <a:solidFill>
                  <a:srgbClr val="FFFFFF"/>
                </a:solidFill>
                <a:latin typeface="Aptos"/>
              </a:defRPr>
            </a:pPr>
            <a:r>
              <a:t>ZÁRÓPROJEKT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377440"/>
            <a:ext cx="66751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100" b="1">
                <a:solidFill>
                  <a:srgbClr val="DE9136"/>
                </a:solidFill>
                <a:latin typeface="Aptos"/>
              </a:defRPr>
            </a:pPr>
            <a:r>
              <a:t>AZ ANALÓG RENDSZER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971800"/>
            <a:ext cx="66751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100" b="1">
                <a:solidFill>
                  <a:srgbClr val="DE9136"/>
                </a:solidFill>
                <a:latin typeface="Aptos"/>
              </a:defRPr>
            </a:pPr>
            <a:r>
              <a:t>MEGTERVEZÉSE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1325880"/>
            <a:ext cx="3749039" cy="3840480"/>
          </a:xfrm>
          <a:prstGeom prst="roundRect">
            <a:avLst/>
          </a:prstGeom>
          <a:solidFill>
            <a:srgbClr val="1F4465"/>
          </a:solidFill>
          <a:ln>
            <a:solidFill>
              <a:srgbClr val="42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09560" y="1600200"/>
            <a:ext cx="32004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42AAD2"/>
                </a:solidFill>
                <a:latin typeface="Aptos"/>
              </a:defRPr>
            </a:pPr>
            <a:r>
              <a:t>ÉRZÉKELŐ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2194560"/>
            <a:ext cx="33832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↓ KONDICIONÁLÁS 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2834640"/>
            <a:ext cx="33832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3F8F68"/>
                </a:solidFill>
                <a:latin typeface="Aptos"/>
              </a:defRPr>
            </a:pPr>
            <a:r>
              <a:t>ADC → PLC → HMI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3383280"/>
            <a:ext cx="9144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60" y="3886200"/>
            <a:ext cx="32004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DE9136"/>
                </a:solidFill>
                <a:latin typeface="Aptos"/>
              </a:defRPr>
            </a:pPr>
            <a:r>
              <a:t>BEAVATKOZÁS 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A világ nagy kérdése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Hogyan tervezzünk pontos, biztonságos és megbízható ipari rendszert?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36.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PONTOSSÁG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mérés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BIZTONSÁG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védelem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MEGBÍZHATÓSÁG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üzem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Az éves tudás egy rendszerben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Az analóg áramkörök fő építőelemei.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36.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DIÓDA • TRANZISZTOR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39112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alapok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554480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OP-AMP • SZŰRŐ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039112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jelfeldolgozás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611879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ADC • DAC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096511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átalakítás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3611879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SZENZOR • PLC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4096511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rendszer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A teljes rendszer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A jel útja és a visszacsatolás.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36.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ÉRZÉKELŐ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39112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mérés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554480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JELKONDICIONÁLÁS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039112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erősítés + szűrés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611879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ADC → PLC → HMI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096511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feldolgozás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3611879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BEAVATKOZÓ 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4096511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folyamat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Biztonság és karbantarthatóság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A jó terv nem csak működik.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36.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ÉRINTÉSVÉDELEM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39112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biztonság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554480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TÚLÁRAMVÉDELEM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039112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védelem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611879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LEVÁLASZTÁS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096511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zavar + biztonság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3611879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KARBANTARTÁS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4096511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hozzáférhetőség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Számítási példa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0–10 V ↔ 0–200 °C • U = 8,2 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36.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HŐMÉRSÉKLET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164 °C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12 BIT ADC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≈ 3358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FELBONTÁS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≈ 2,44 mV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Záróprojekt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Komplett ipari rendszer megtervezése.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36.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BLOKKVÁZLAT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teljes jelút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ESZKÖZVÁLASZTÁS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indoklás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DOKUMENTÁCIÓ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műszaki leírás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Projektterv tartalma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A mérnöki gondolkodás láthatóvá tétele.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36.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SZENZOR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39112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választás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554480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PLC + HMI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039112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kapcsolatok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611879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MÉRÉSI PONTOK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096511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hibakeresés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3611879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VISSZACSATOLÁS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4096511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szabályozás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IAP Mérnöki kihívás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Új gyártósor mérő- és vezérlőrendszere.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36.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PONTOSSÁG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39112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követelmény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554480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ENERGIA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039112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hatékonyság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611879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BŐVÍTHETŐSÉG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096511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jövőállóság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3611879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BIZTONSÁG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4096511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elsődleges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IAP háromszintű tudás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A tanév végére összeáll a rendszer.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36.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TUDNOM KELL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mérőlánc elemei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ÉRTENEM KELL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teljes működés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ALKALMAZNI TUDOM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tervezés + dokumentálás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IAP Útravaló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A technológia változik, a mérnöki gondolkodás marad.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36.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MÉRJ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ne találgass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ÉRTS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rendszerben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ALKOSS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mérnöki szemlélettel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