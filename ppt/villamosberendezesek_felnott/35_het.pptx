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  <a:latin typeface="Arial"/>
              </a:defRPr>
            </a:pPr>
            <a:r>
              <a:t>35.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  <a:latin typeface="Arial"/>
              </a:defRPr>
            </a:pPr>
            <a:r>
              <a:t>Energiahatékonyság, energiafelügyelet és az automatizálás szerepe az energiafogyasztás csökkentésében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  <a:latin typeface="Arial"/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  <a:latin typeface="Arial"/>
              </a:defRPr>
            </a:pPr>
            <a:r>
              <a:t>Miért mérünk?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  <a:latin typeface="Arial"/>
              </a:defRPr>
            </a:pPr>
            <a:r>
              <a:t>Amit nem mérünk, annak a változását sem tudjuk megbízhatóan értékelni.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  <a:latin typeface="Arial"/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  <a:latin typeface="Arial"/>
              </a:defRPr>
            </a:pPr>
            <a:r>
              <a:t>Teljesítmény és energia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  <a:latin typeface="Arial"/>
              </a:defRPr>
            </a:pPr>
            <a:r>
              <a:t>Teljesítmény: pillanatnyi igény</a:t>
            </a:r>
            <a:br/>
            <a:r>
              <a:t>Energia: idő alatt felhasznált mennyiség</a:t>
            </a:r>
            <a:br/>
            <a:r>
              <a:t>Tipikus elszámolás: kWh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  <a:latin typeface="Arial"/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  <a:latin typeface="Arial"/>
              </a:defRPr>
            </a:pPr>
            <a:r>
              <a:t>Mit figyelünk?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  <a:latin typeface="Arial"/>
              </a:defRPr>
            </a:pPr>
            <a:r>
              <a:t>Feszültség • áram • teljesítmény • energia • üzemidő • frekvencia • terhelés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  <a:latin typeface="Arial"/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  <a:latin typeface="Arial"/>
              </a:defRPr>
            </a:pPr>
            <a:r>
              <a:t>Frekvenciaváltó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  <a:latin typeface="Arial"/>
              </a:defRPr>
            </a:pPr>
            <a:r>
              <a:t>A motor fordulatszáma a technológiai igényhez igazítható. Különösen ventilátoroknál és szivattyúknál lehet fontos.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  <a:latin typeface="Arial"/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  <a:latin typeface="Arial"/>
              </a:defRPr>
            </a:pPr>
            <a:r>
              <a:t>Üresjárat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  <a:latin typeface="Arial"/>
              </a:defRPr>
            </a:pPr>
            <a:r>
              <a:t>A nem termelő gép is fogyaszthat.</a:t>
            </a:r>
            <a:br/>
            <a:r>
              <a:t>Automatika: késleltetett leállítás • alvó mód • időzítés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  <a:latin typeface="Arial"/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  <a:latin typeface="Arial"/>
              </a:defRPr>
            </a:pPr>
            <a:r>
              <a:t>Energiafelügyelet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  <a:latin typeface="Arial"/>
              </a:defRPr>
            </a:pPr>
            <a:r>
              <a:t>Mérő / VFD → PLC / hálózat → SCADA → trendek, KPI-k, riasztások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  <a:latin typeface="Arial"/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  <a:latin typeface="Arial"/>
              </a:defRPr>
            </a:pPr>
            <a:r>
              <a:t>Fajlagos energia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  <a:latin typeface="Arial"/>
              </a:defRPr>
            </a:pPr>
            <a:r>
              <a:t>kWh/termék • kWh/m3 • kWh/üzemóra</a:t>
            </a:r>
            <a:br/>
            <a:r>
              <a:t>A fogyasztást a tényleges termeléshez viszonyítjuk.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  <a:latin typeface="Arial"/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  <a:latin typeface="Arial"/>
              </a:defRPr>
            </a:pPr>
            <a:r>
              <a:t>IAP-kihívás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  <a:latin typeface="Arial"/>
              </a:defRPr>
            </a:pPr>
            <a:r>
              <a:t>15 kW-os ventilátor 50 Hz-en, gyakran részterheléssel. Hogyan szabályoznád és hogyan bizonyítanád a megtakarítást?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  <a:latin typeface="Arial"/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  <a:latin typeface="Arial"/>
              </a:defRPr>
            </a:pPr>
            <a:r>
              <a:t>Összefoglalás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4241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  <a:latin typeface="Arial"/>
              </a:defRPr>
            </a:pPr>
            <a:r>
              <a:t>Mérés → elemzés → szabályozás → visszamérés = tudatos energiahatékonyság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  <a:latin typeface="Arial"/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