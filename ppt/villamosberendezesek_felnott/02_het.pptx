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0"/>
            <a:ext cx="749807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0D47A1"/>
                </a:solidFill>
              </a:defRPr>
            </a:pPr>
            <a:r>
              <a:t>ÁLLÓRÉSZ ÉS FORGÓRÉSZ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92608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83A5A"/>
                </a:solidFill>
              </a:defRPr>
            </a:pPr>
            <a:r>
              <a:t>2. hét • Felnőtt oktatás • Villamos berendezések</a:t>
            </a:r>
          </a:p>
        </p:txBody>
      </p:sp>
      <p:sp>
        <p:nvSpPr>
          <p:cNvPr id="5" name="Oval 4"/>
          <p:cNvSpPr/>
          <p:nvPr/>
        </p:nvSpPr>
        <p:spPr>
          <a:xfrm>
            <a:off x="7955279" y="1920240"/>
            <a:ext cx="1508760" cy="1508760"/>
          </a:xfrm>
          <a:prstGeom prst="ellipse">
            <a:avLst/>
          </a:prstGeom>
          <a:solidFill>
            <a:srgbClr val="E3F2FD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356616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83A5A"/>
                </a:solidFill>
              </a:defRPr>
            </a:pPr>
            <a:r>
              <a:t>SZTÁTOR</a:t>
            </a:r>
          </a:p>
        </p:txBody>
      </p:sp>
      <p:sp>
        <p:nvSpPr>
          <p:cNvPr id="7" name="Oval 6"/>
          <p:cNvSpPr/>
          <p:nvPr/>
        </p:nvSpPr>
        <p:spPr>
          <a:xfrm>
            <a:off x="9784080" y="1920240"/>
            <a:ext cx="1508760" cy="1508760"/>
          </a:xfrm>
          <a:prstGeom prst="ellipse">
            <a:avLst/>
          </a:prstGeom>
          <a:solidFill>
            <a:srgbClr val="E3F2FD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356616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83A5A"/>
                </a:solidFill>
              </a:defRPr>
            </a:pPr>
            <a:r>
              <a:t>ROTOR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Heti cél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Sztátor és rotor felismerése rajzon, fényképen és metszeti ábrán.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A légrés, tengely és csapágyazás szerepének megértése.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Álló és forgó részek szétválasztása szakmai indoklással.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Sztátor - állórész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A gép helyhez kötött része.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Vasmagot, hornyokat és gyakran tekercselést tartalmaz.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Mechanikai tartást, hőleadást és mágneses fluxusutat biztosít.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Rotor - forgórész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A tengellyel együtt forgó rész.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A mágneses tér hatásából nyomatékot hoz létre.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Kialakítása géptípusonként eltérő: kalickás, tekercselt, csúszógyűrűs, állandómágneses.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A forgógép szerkezeti logikája</a:t>
            </a:r>
          </a:p>
        </p:txBody>
      </p:sp>
      <p:sp>
        <p:nvSpPr>
          <p:cNvPr id="3" name="Right Arrow 2"/>
          <p:cNvSpPr/>
          <p:nvPr/>
        </p:nvSpPr>
        <p:spPr>
          <a:xfrm>
            <a:off x="3063240" y="2761488"/>
            <a:ext cx="822960" cy="292608"/>
          </a:xfrm>
          <a:prstGeom prst="rightArrow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>
            <a:off x="5532120" y="2761488"/>
            <a:ext cx="822960" cy="292608"/>
          </a:xfrm>
          <a:prstGeom prst="rightArrow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8001000" y="2761488"/>
            <a:ext cx="822960" cy="292608"/>
          </a:xfrm>
          <a:prstGeom prst="rightArrow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1031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D47A1"/>
                </a:solidFill>
              </a:defRPr>
            </a:pPr>
            <a:r>
              <a:t>HÁLÓZAT</a:t>
            </a:r>
          </a:p>
          <a:p>
            <a:pPr algn="ctr">
              <a:defRPr sz="1200">
                <a:solidFill>
                  <a:srgbClr val="183A5A"/>
                </a:solidFill>
              </a:defRPr>
            </a:pPr>
            <a:r>
              <a:t>villamos energia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2148840"/>
            <a:ext cx="21031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2395728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D47A1"/>
                </a:solidFill>
              </a:defRPr>
            </a:pPr>
            <a:r>
              <a:t>SZTÁTOR</a:t>
            </a:r>
          </a:p>
          <a:p>
            <a:pPr algn="ctr">
              <a:defRPr sz="1200">
                <a:solidFill>
                  <a:srgbClr val="183A5A"/>
                </a:solidFill>
              </a:defRPr>
            </a:pPr>
            <a:r>
              <a:t>mágneses tér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2148840"/>
            <a:ext cx="21031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2395728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D47A1"/>
                </a:solidFill>
              </a:defRPr>
            </a:pPr>
            <a:r>
              <a:t>ROTOR</a:t>
            </a:r>
          </a:p>
          <a:p>
            <a:pPr algn="ctr">
              <a:defRPr sz="1200">
                <a:solidFill>
                  <a:srgbClr val="183A5A"/>
                </a:solidFill>
              </a:defRPr>
            </a:pPr>
            <a:r>
              <a:t>nyomaték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48840"/>
            <a:ext cx="21031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395728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D47A1"/>
                </a:solidFill>
              </a:defRPr>
            </a:pPr>
            <a:r>
              <a:t>TENGELY</a:t>
            </a:r>
          </a:p>
          <a:p>
            <a:pPr algn="ctr">
              <a:defRPr sz="1200">
                <a:solidFill>
                  <a:srgbClr val="183A5A"/>
                </a:solidFill>
              </a:defRPr>
            </a:pPr>
            <a:r>
              <a:t>mechanikai energia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A légrés jelentősége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Kicsi rés a sztátor és a rotor között.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Lehetővé teszi a forgást, de megtartja a mágneses kapcsolatot.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Túl kicsi vagy megszűnő légrés: súrlódás, melegedés, sérülés.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39896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58768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Túl nagy légrés: gyengébb mágneses kapcsolat, rosszabb hatásfok.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Tengely és csapágyazás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A tengely továbbítja a mechanikai teljesítményt.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A csapágy biztosítja a pontos és kis súrlódású forgást.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Tipikus hibajelek: zaj, rezgés, melegedés, nehéz forgás.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IAP heti kihívás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Jelöld be egy metszeti ábrán: sztátor, rotor, légrés, tengely, csapágy.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Írd mellé: melyik rész áll, melyik forog.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Fogalmazd meg egy mondatban, hol történik az energiaátadás.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47A1"/>
                </a:solidFill>
              </a:defRPr>
            </a:pPr>
            <a:r>
              <a:t>Összefoglalás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44752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Sztátor: álló rész, mágneses és szerkezeti szerep.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30552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Rotor: forgó rész, a nyomaték hordozója.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35224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54096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Légrés: egyszerre forgási feltétel és mágneses kapcsolat.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39896"/>
            <a:ext cx="108813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58768"/>
            <a:ext cx="102870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3A5A"/>
                </a:solidFill>
              </a:defRPr>
            </a:pPr>
            <a:r>
              <a:t>Következő hét: mágneses kör, vasmag, légrés és tekercselések.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28232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A5A"/>
                </a:solidFill>
              </a:defRPr>
            </a:pPr>
            <a:r>
              <a:t>IAP • Felnőtt oktatás • Villamos berendezések • 2. hét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