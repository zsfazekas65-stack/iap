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Raleway SemiBold"/>
      <p:regular r:id="rId201314"/>
    </p:embeddedFont>
    <p:embeddedFont>
      <p:font typeface="Raleway Bold"/>
      <p:regular r:id="rId201315"/>
    </p:embeddedFont>
    <p:embeddedFont>
      <p:font typeface="Raleway Black"/>
      <p:regular r:id="rId201316"/>
    </p:embeddedFont>
    <p:embeddedFont>
      <p:font typeface="Raleway"/>
      <p:regular r:id="rId201317"/>
    </p:embeddedFont>
    <p:embeddedFont>
      <p:font typeface="Roboto"/>
      <p:regular r:id="rId201318"/>
    </p:embeddedFont>
    <p:embeddedFont>
      <p:font typeface="Roboto SemiBold"/>
      <p:regular r:id="rId201319"/>
    </p:embeddedFont>
    <p:embeddedFont>
      <p:font typeface="Roboto Bold"/>
      <p:regular r:id="rId201320"/>
    </p:embeddedFont>
    <p:embeddedFont>
      <p:font typeface="Roboto Black"/>
      <p:regular r:id="rId2013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Relationship Id="rId201319" Target="fonts/201319.fntdata" Type="http://schemas.openxmlformats.org/officeDocument/2006/relationships/font"/><Relationship Id="rId201320" Target="fonts/201320.fntdata" Type="http://schemas.openxmlformats.org/officeDocument/2006/relationships/font"/><Relationship Id="rId201321" Target="fonts/201321.fntdata" Type="http://schemas.openxmlformats.org/officeDocument/2006/relationships/font"/><Relationship Id="rId201322" Target="fonts/201322.fntdata" Type="http://schemas.openxmlformats.org/officeDocument/2006/relationships/font"/><Relationship Id="rId201323" Target="fonts/201323.fntdata" Type="http://schemas.openxmlformats.org/officeDocument/2006/relationships/font"/><Relationship Id="rId201324" Target="fonts/201324.fntdata" Type="http://schemas.openxmlformats.org/officeDocument/2006/relationships/font"/><Relationship Id="rId201325" Target="fonts/201325.fntdata" Type="http://schemas.openxmlformats.org/officeDocument/2006/relationships/font"/><Relationship Id="rId201326" Target="fonts/201326.fntdata" Type="http://schemas.openxmlformats.org/officeDocument/2006/relationships/font"/><Relationship Id="rId201327" Target="fonts/20132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61475" y="259080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Villamos berendezések – 1. hét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356682" y="346491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gépek szerepe, fő csoportjai és alapvető szerkezeti részei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4373155" y="4036616"/>
            <a:ext cx="4054870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FELNŐTTKÉPZÉS | DIGITÁLIS OKTATÁS | 1/10. HÉT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1287" y="137220"/>
            <a:ext cx="4388931" cy="658356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790178"/>
            <a:ext cx="6296860" cy="572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Miért vannak villamos gépek?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61475" y="1628378"/>
            <a:ext cx="6296860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villamos energia önmagában nem forgat meg egy szivattyút, nem hajt meg egy szállítószalagot és nem emel fel egy terhet. Ehhez a villamos energiát mechanikai energiává kell alakítani.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61475" y="2693194"/>
            <a:ext cx="3059730" cy="1742877"/>
          </a:xfrm>
          <a:prstGeom prst="roundRect">
            <a:avLst>
              <a:gd name="adj" fmla="val 441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0879" y="2882602"/>
            <a:ext cx="2680923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50879" y="3275012"/>
            <a:ext cx="2680923" cy="97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energia → Mechanikai energia</a:t>
            </a:r>
            <a:endParaRPr lang="en-US" sz="1400" dirty="0"/>
          </a:p>
          <a:p>
            <a:pPr algn="l" indent="0" marL="0">
              <a:lnSpc>
                <a:spcPct val="131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(például: ventilátor, szivattyú)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898505" y="2693194"/>
            <a:ext cx="3059830" cy="1742877"/>
          </a:xfrm>
          <a:prstGeom prst="roundRect">
            <a:avLst>
              <a:gd name="adj" fmla="val 441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87909" y="2882602"/>
            <a:ext cx="2681022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Generátor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087909" y="3275012"/>
            <a:ext cx="2681022" cy="97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Mechanikai energia → Villamos energia</a:t>
            </a:r>
            <a:endParaRPr lang="en-US" sz="1400" dirty="0"/>
          </a:p>
          <a:p>
            <a:pPr algn="l" indent="0" marL="0">
              <a:lnSpc>
                <a:spcPct val="131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(például: erőmű, aggregátor)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61475" y="4613374"/>
            <a:ext cx="6296860" cy="1454448"/>
          </a:xfrm>
          <a:prstGeom prst="roundRect">
            <a:avLst>
              <a:gd name="adj" fmla="val 528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0879" y="4802783"/>
            <a:ext cx="5918052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Transzformátor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50879" y="5195193"/>
            <a:ext cx="5918052" cy="68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1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energia → Villamos energia más feszültségen</a:t>
            </a:r>
            <a:endParaRPr lang="en-US" sz="1400" dirty="0"/>
          </a:p>
          <a:p>
            <a:pPr algn="l" indent="0" marL="0">
              <a:lnSpc>
                <a:spcPct val="131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(például: elosztóhálózat)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3626" y="110728"/>
            <a:ext cx="4424252" cy="66365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813792"/>
            <a:ext cx="6296860" cy="461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villamos gép fogalma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661475" y="1448296"/>
            <a:ext cx="6296860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villamos gép olyan elektrotechnikai berendezés, amely elektromágneses jelenségek felhasználásával energiát alakít át vagy továbbít.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61475" y="1998762"/>
            <a:ext cx="6296860" cy="1028502"/>
          </a:xfrm>
          <a:prstGeom prst="roundRect">
            <a:avLst>
              <a:gd name="adj" fmla="val 603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5459" y="2152749"/>
            <a:ext cx="5988892" cy="230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Forgógépek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15459" y="2452588"/>
            <a:ext cx="5988892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mágneses tér és az áramjárta vezető kölcsönhatása alapvető. A rotor és a sztátor között kis légrés biztosítja a szabad forgást.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61475" y="3142555"/>
            <a:ext cx="6296860" cy="818158"/>
          </a:xfrm>
          <a:prstGeom prst="roundRect">
            <a:avLst>
              <a:gd name="adj" fmla="val 758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5459" y="3296543"/>
            <a:ext cx="5988892" cy="230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Transzformátor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15459" y="3596382"/>
            <a:ext cx="5988892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Nincs forgó rész – az energiaátadás elektromágneses indukcióval történik.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61475" y="4133751"/>
            <a:ext cx="6296860" cy="19103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Elektromágneses jelenség → Energiaátalakítás vagy -továbbítás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0534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villamos gépek fő csoportjai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474020"/>
            <a:ext cx="3496877" cy="2878534"/>
          </a:xfrm>
          <a:prstGeom prst="roundRect">
            <a:avLst>
              <a:gd name="adj" fmla="val 275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6832" y="2669381"/>
            <a:ext cx="567021" cy="567035"/>
          </a:xfrm>
          <a:prstGeom prst="ellipse">
            <a:avLst/>
          </a:prstGeom>
          <a:solidFill>
            <a:srgbClr val="1B1B2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2800" y="2825254"/>
            <a:ext cx="255085" cy="2550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6832" y="3425428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Motor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6832" y="3834110"/>
            <a:ext cx="3106164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energiából mechanikai energia.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Példák: ventilátor, szivattyú, géphajtás.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347359" y="2474020"/>
            <a:ext cx="3496877" cy="2878534"/>
          </a:xfrm>
          <a:prstGeom prst="roundRect">
            <a:avLst>
              <a:gd name="adj" fmla="val 275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42716" y="2669381"/>
            <a:ext cx="567021" cy="567035"/>
          </a:xfrm>
          <a:prstGeom prst="ellipse">
            <a:avLst/>
          </a:prstGeom>
          <a:solidFill>
            <a:srgbClr val="1B1B2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8684" y="2825254"/>
            <a:ext cx="255085" cy="2550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42716" y="3425428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Generátor</a:t>
            </a:r>
            <a:endParaRPr lang="en-US" sz="1850" dirty="0"/>
          </a:p>
        </p:txBody>
      </p:sp>
      <p:sp>
        <p:nvSpPr>
          <p:cNvPr id="12" name="Text 8"/>
          <p:cNvSpPr/>
          <p:nvPr/>
        </p:nvSpPr>
        <p:spPr>
          <a:xfrm>
            <a:off x="4542716" y="3834110"/>
            <a:ext cx="3106164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Mechanikai energiából villamos energia.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Példák: erőművi generátor, aggregátor.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033244" y="2474020"/>
            <a:ext cx="3496877" cy="2878534"/>
          </a:xfrm>
          <a:prstGeom prst="roundRect">
            <a:avLst>
              <a:gd name="adj" fmla="val 275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8600" y="2669381"/>
            <a:ext cx="567021" cy="567035"/>
          </a:xfrm>
          <a:prstGeom prst="ellipse">
            <a:avLst/>
          </a:prstGeom>
          <a:solidFill>
            <a:srgbClr val="1B1B2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4568" y="2825254"/>
            <a:ext cx="255085" cy="2550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28600" y="3425428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Transzformátor</a:t>
            </a:r>
            <a:endParaRPr lang="en-US" sz="1850" dirty="0"/>
          </a:p>
        </p:txBody>
      </p:sp>
      <p:sp>
        <p:nvSpPr>
          <p:cNvPr id="17" name="Text 12"/>
          <p:cNvSpPr/>
          <p:nvPr/>
        </p:nvSpPr>
        <p:spPr>
          <a:xfrm>
            <a:off x="8228600" y="3834110"/>
            <a:ext cx="3106164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energia átalakítása más feszültség- és áramviszonyokra.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Példák: elosztótranszformátor, vezérlőtranszformátor.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1287" y="137220"/>
            <a:ext cx="4388931" cy="658356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23280"/>
            <a:ext cx="6296860" cy="1144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Forgó villamos gép – a két fő rész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61475" y="2110978"/>
            <a:ext cx="2925094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Állórész (Sztátor)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61475" y="2574330"/>
            <a:ext cx="2925094" cy="2493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gép álló része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Tartalmazhat vasmagot és tekercselést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Egyes géptípusoknál állandó mágnest tartalmaz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Feladata: mágneses tér létrehozása, vezetése és a gép mechanikai megtartása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039590" y="2110978"/>
            <a:ext cx="2925094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Forgórész (Rotor)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039590" y="2574330"/>
            <a:ext cx="2925094" cy="2205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tengellyel együtt forgó rész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Kialakítása géptípustól függ: tekercselt, kalickás, állandó mágneses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rotor és az állórész között nincs mechanikai érintkezés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Köztük kis légrés található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61475" y="5329337"/>
            <a:ext cx="6296860" cy="1005284"/>
          </a:xfrm>
          <a:prstGeom prst="roundRect">
            <a:avLst>
              <a:gd name="adj" fmla="val 7650"/>
            </a:avLst>
          </a:prstGeom>
          <a:solidFill>
            <a:srgbClr val="E1E1E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9" y="5582642"/>
            <a:ext cx="228793" cy="18305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6376" y="5552380"/>
            <a:ext cx="5518905" cy="576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légrés elektromágnesesen kritikus – mechanikailag pedig biztosítja a szabad forgást.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3966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legfontosabb szerkezeti elemek – 1. rész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408337"/>
            <a:ext cx="472468" cy="472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0177" y="2408337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Vasmag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370177" y="2817019"/>
            <a:ext cx="460750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Ferromágneses anyagból készült mágneses út. Sok váltakozó áramú gépben lemezekből épül fel az örvényáramú veszteségek csökkentése érdekében.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3915" y="2408337"/>
            <a:ext cx="472468" cy="472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922617" y="2408337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Tekercselés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922617" y="2817019"/>
            <a:ext cx="460760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Szigetelt vezetőből kialakított menetek rendszere. Áram hatására mágneses teret hoz létre, illetve változó mágneses térben feszültség indukálódhat benne.</a:t>
            </a:r>
            <a:endParaRPr lang="en-US" sz="14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102298"/>
            <a:ext cx="472468" cy="472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70177" y="4102298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Légrés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1370177" y="4510980"/>
            <a:ext cx="460750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állórész és a forgórész közötti kis levegőrés. Elektromágnesesen nagyon fontos, mechanikailag biztosítja a szabad forgást.</a:t>
            </a:r>
            <a:endParaRPr lang="en-US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13915" y="4102298"/>
            <a:ext cx="472468" cy="4724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22617" y="4102298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Tengely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922617" y="4510980"/>
            <a:ext cx="460760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rotor mechanikai hordozója és a nyomaték továbbításának egyik fő eleme.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4208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legfontosabb szerkezeti elemek – 2. rész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1370177" y="2710755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Csapágy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1370177" y="3119438"/>
            <a:ext cx="460750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tengelyt vezeti és megtámasztja, miközben kis súrlódású forgást tesz lehetővé.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922617" y="2710755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Gépház / Pajzs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922617" y="3119438"/>
            <a:ext cx="460760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Védi és tartja a belső részeket. A pajzsokban gyakran a csapágyak is helyet kapnak.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370177" y="4102298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Hűtés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370177" y="4510980"/>
            <a:ext cx="460750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veszteségek miatt keletkező hőt el kell vezetni. Sok motor ventilátort és bordázott házat használ.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922617" y="4102298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Kapocsdoboz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6922617" y="4510980"/>
            <a:ext cx="460760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külső villamos csatlakozások rendezett és védett kialakításának helye.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2890" y="79573"/>
            <a:ext cx="4465724" cy="66987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22784"/>
            <a:ext cx="629686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Hogyan gondolkodj egy ismeretlen gépről?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661475" y="944662"/>
            <a:ext cx="6906444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Íme egy 7 lépéses számozott folyamat egy ismeretlen villamos gép elemzéséhez: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661475" y="1144885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94325" y="1364159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6444" y="1251148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Van-e forgó tengely?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46444" y="1453158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Motor vagy generátor gyanítható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661475" y="1842492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4325" y="2061766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146444" y="1948755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Melyik rész áll és melyik forog?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46444" y="2150765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Sztátor és rotor azonosítása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61475" y="2540099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4325" y="2759373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146444" y="2646363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Hol lehet a mágneses kör?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46444" y="2848372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Vasmag keresése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61475" y="3237706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4325" y="3456980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46444" y="3343970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Hol vannak a tekercselések vagy mágnesek?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46444" y="3545979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Aktív részek azonosítása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1475" y="3935313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94325" y="4154587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146444" y="4041577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Hogyan támasztják meg a tengelyt?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146444" y="4243586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Csapágyak helye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61475" y="4632920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4325" y="4852194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1146444" y="4739184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Hogyan vezetik el a hőt?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1146444" y="4941193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Hűtési megoldás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61475" y="5330527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4325" y="5549801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1146444" y="5436791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Hol csatlakozik a villamos hálózat?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1146444" y="5638800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Kapocsdoboz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661475" y="6035675"/>
            <a:ext cx="6296860" cy="299442"/>
          </a:xfrm>
          <a:prstGeom prst="roundRect">
            <a:avLst>
              <a:gd name="adj" fmla="val 14913"/>
            </a:avLst>
          </a:prstGeom>
          <a:solidFill>
            <a:srgbClr val="E1E1EA"/>
          </a:solidFill>
          <a:ln/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735" y="6124079"/>
            <a:ext cx="132851" cy="106263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006847" y="6121896"/>
            <a:ext cx="6454812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 a típusszámot próbáld először megjegyezni – haladj szerkezetileg!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33797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Gyakorlati példa – háromfázisú ipari motor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187575"/>
            <a:ext cx="291785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Kívülről látható részek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61475" y="2671862"/>
            <a:ext cx="2917851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Gépház és hűtőbordák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Kapocsdoboz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Tengelyvég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Ventilátorburkolat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046833" y="2187575"/>
            <a:ext cx="291785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Belső felépítés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4046833" y="2671862"/>
            <a:ext cx="2917851" cy="2315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Állórész: lemezelt vasmag hornyokban elhelyezett tekercseléssel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Forgórész: tengelyre szerelve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Csapágyak: a tengelyt megtámasztják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Légrés: sztátor és rotor között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61475" y="5265738"/>
            <a:ext cx="6296860" cy="1058366"/>
          </a:xfrm>
          <a:prstGeom prst="roundRect">
            <a:avLst>
              <a:gd name="adj" fmla="val 7501"/>
            </a:avLst>
          </a:prstGeom>
          <a:solidFill>
            <a:srgbClr val="E1E1E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482" y="5533430"/>
            <a:ext cx="236234" cy="1890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75723" y="5501977"/>
            <a:ext cx="54936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következő hetekben ezeket az elemeket géptípusonként részletesebben is megvizsgáljuk.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6939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hét lényege – Mit vigyél magaddal?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138065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2365" y="2173486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75723" y="2202954"/>
            <a:ext cx="4701958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3C3939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>Villamos gép = elektromágneses energiaátalakítás (motor, generátor, transzformátor)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6213915" y="2138065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84805" y="2173486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28163" y="2202954"/>
            <a:ext cx="470205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3C3939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>Forgógép két fő része: állórész (sztátor) + forgórész (rotor), köztük légrés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661475" y="3466802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2365" y="3502223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75723" y="3531691"/>
            <a:ext cx="4701958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3C3939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>Szerkezeti gondolkodás: mágneses kör + villamos aktív részek + mechanikai részek + hűtés és védelem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6213915" y="3466802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4805" y="3502223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828163" y="3531691"/>
            <a:ext cx="470205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3C3939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>Egy ismeretlen gépet is meg tudsz érteni, ha szerkezetileg gondolkodsz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61475" y="4630142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E1E1EA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4897834"/>
            <a:ext cx="236234" cy="18901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75723" y="4866382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Következő hét: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Állórész és forgórész felépítése, feladata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közelebbről megvizsgáljuk, hogyan épül fel a sztátor és a rotor, és miért különböznek az egyes géptípusok forgórészei.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2026-09-05T05:52:38Z</dcterms:created>
  <dcterms:modified xsi:type="dcterms:W3CDTF">2026-09-05T05:52:38Z</dcterms:modified>
</cp:coreProperties>
</file>