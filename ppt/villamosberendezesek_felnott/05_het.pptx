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IAP • Felnőtt oktatás • Villamos berendezések • 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47A1"/>
                </a:solidFill>
              </a:rPr>
              <a:t>ASZINKRON GÉPEK FELÉPÍTÉSE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132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83A5A"/>
                </a:solidFill>
              </a:rPr>
              <a:t>Kalickás és csúszógyűrűs forgórész • sztátor • légrés • indukció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2331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2196F3"/>
                </a:solidFill>
              </a:rPr>
              <a:t>SZTÁTOR</a:t>
            </a:r>
          </a:p>
          <a:p>
            <a:r>
              <a:rPr sz="1400">
                <a:solidFill>
                  <a:srgbClr val="183A5A"/>
                </a:solidFill>
              </a:rPr>
              <a:t>áll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3840480"/>
            <a:ext cx="2331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2196F3"/>
                </a:solidFill>
              </a:rPr>
              <a:t>ROTOR</a:t>
            </a:r>
          </a:p>
          <a:p>
            <a:r>
              <a:rPr sz="1400">
                <a:solidFill>
                  <a:srgbClr val="183A5A"/>
                </a:solidFill>
              </a:rPr>
              <a:t>forog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3840480"/>
            <a:ext cx="2331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2196F3"/>
                </a:solidFill>
              </a:rPr>
              <a:t>LÉGRÉS</a:t>
            </a:r>
          </a:p>
          <a:p>
            <a:r>
              <a:rPr sz="1400">
                <a:solidFill>
                  <a:srgbClr val="183A5A"/>
                </a:solidFill>
              </a:rPr>
              <a:t>kapcsol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840480"/>
            <a:ext cx="2331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2196F3"/>
                </a:solidFill>
              </a:rPr>
              <a:t>NYOMATÉK</a:t>
            </a:r>
          </a:p>
          <a:p>
            <a:r>
              <a:rPr sz="1400">
                <a:solidFill>
                  <a:srgbClr val="183A5A"/>
                </a:solidFill>
              </a:rPr>
              <a:t>hajt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IAP • Felnőtt oktatás • Villamos berendezések • 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47A1"/>
                </a:solidFill>
              </a:rPr>
              <a:t>Miért fontos?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0D47A1"/>
                </a:solidFill>
              </a:rPr>
              <a:t>Kulcsfogalom</a:t>
            </a:r>
          </a:p>
          <a:p>
            <a:r>
              <a:rPr sz="1400">
                <a:solidFill>
                  <a:srgbClr val="183A5A"/>
                </a:solidFill>
              </a:rPr>
              <a:t>Robusztus ipari hajtás, amely szivattyúkban, ventilátorokban és szállítószalagokban gyakori.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737360"/>
            <a:ext cx="29260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2196F3"/>
                </a:solidFill>
              </a:rPr>
              <a:t>Ipari példa</a:t>
            </a:r>
          </a:p>
          <a:p>
            <a:r>
              <a:rPr sz="1400">
                <a:solidFill>
                  <a:srgbClr val="183A5A"/>
                </a:solidFill>
              </a:rPr>
              <a:t>szivattyú, ventilátor, kompresszor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29260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2196F3"/>
                </a:solidFill>
              </a:rPr>
              <a:t>Előny</a:t>
            </a:r>
          </a:p>
          <a:p>
            <a:r>
              <a:rPr sz="1400">
                <a:solidFill>
                  <a:srgbClr val="183A5A"/>
                </a:solidFill>
              </a:rPr>
              <a:t>egyszerű és tartós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4297680"/>
            <a:ext cx="813816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0D47A1"/>
                </a:solidFill>
              </a:rPr>
              <a:t>Jegyezd meg</a:t>
            </a:r>
          </a:p>
          <a:p>
            <a:r>
              <a:rPr sz="1400">
                <a:solidFill>
                  <a:srgbClr val="183A5A"/>
                </a:solidFill>
              </a:rPr>
              <a:t>A szerkezeti kialakításból az üzemeltetésre és karbantartásra is következtetünk.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IAP • Felnőtt oktatás • Villamos berendezések • 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47A1"/>
                </a:solidFill>
              </a:rPr>
              <a:t>A sztátor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0D47A1"/>
                </a:solidFill>
              </a:rPr>
              <a:t>Kulcsfogalom</a:t>
            </a:r>
          </a:p>
          <a:p>
            <a:r>
              <a:rPr sz="1400">
                <a:solidFill>
                  <a:srgbClr val="183A5A"/>
                </a:solidFill>
              </a:rPr>
              <a:t>Álló vasmag és többfázisú tekercselés: forgó mágneses teret hoz létre.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737360"/>
            <a:ext cx="29260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2196F3"/>
                </a:solidFill>
              </a:rPr>
              <a:t>Tekercselés</a:t>
            </a:r>
          </a:p>
          <a:p>
            <a:r>
              <a:rPr sz="1400">
                <a:solidFill>
                  <a:srgbClr val="183A5A"/>
                </a:solidFill>
              </a:rPr>
              <a:t>forgó mágneses mező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29260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2196F3"/>
                </a:solidFill>
              </a:rPr>
              <a:t>Vasmag</a:t>
            </a:r>
          </a:p>
          <a:p>
            <a:r>
              <a:rPr sz="1400">
                <a:solidFill>
                  <a:srgbClr val="183A5A"/>
                </a:solidFill>
              </a:rPr>
              <a:t>fluxus vezetése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4297680"/>
            <a:ext cx="813816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0D47A1"/>
                </a:solidFill>
              </a:rPr>
              <a:t>Jegyezd meg</a:t>
            </a:r>
          </a:p>
          <a:p>
            <a:r>
              <a:rPr sz="1400">
                <a:solidFill>
                  <a:srgbClr val="183A5A"/>
                </a:solidFill>
              </a:rPr>
              <a:t>A szerkezeti kialakításból az üzemeltetésre és karbantartásra is következtetünk.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IAP • Felnőtt oktatás • Villamos berendezések • 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47A1"/>
                </a:solidFill>
              </a:rPr>
              <a:t>Kalickás forgórész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0D47A1"/>
                </a:solidFill>
              </a:rPr>
              <a:t>Kulcsfogalom</a:t>
            </a:r>
          </a:p>
          <a:p>
            <a:r>
              <a:rPr sz="1400">
                <a:solidFill>
                  <a:srgbClr val="183A5A"/>
                </a:solidFill>
              </a:rPr>
              <a:t>Vezetőrudak és rövidrezáró gyűrűk. Egyszerű, üzembiztos, kevés karbantartást igényel.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737360"/>
            <a:ext cx="29260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2196F3"/>
                </a:solidFill>
              </a:rPr>
              <a:t>Szerkezet</a:t>
            </a:r>
          </a:p>
          <a:p>
            <a:r>
              <a:rPr sz="1400">
                <a:solidFill>
                  <a:srgbClr val="183A5A"/>
                </a:solidFill>
              </a:rPr>
              <a:t>rudak + rövidrezáró gyűrű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29260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2196F3"/>
                </a:solidFill>
              </a:rPr>
              <a:t>Jellemző</a:t>
            </a:r>
          </a:p>
          <a:p>
            <a:r>
              <a:rPr sz="1400">
                <a:solidFill>
                  <a:srgbClr val="183A5A"/>
                </a:solidFill>
              </a:rPr>
              <a:t>nincs kefe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4297680"/>
            <a:ext cx="813816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0D47A1"/>
                </a:solidFill>
              </a:rPr>
              <a:t>Jegyezd meg</a:t>
            </a:r>
          </a:p>
          <a:p>
            <a:r>
              <a:rPr sz="1400">
                <a:solidFill>
                  <a:srgbClr val="183A5A"/>
                </a:solidFill>
              </a:rPr>
              <a:t>A szerkezeti kialakításból az üzemeltetésre és karbantartásra is következtetünk.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IAP • Felnőtt oktatás • Villamos berendezések • 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47A1"/>
                </a:solidFill>
              </a:rPr>
              <a:t>Csúszógyűrűs forgórész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0D47A1"/>
                </a:solidFill>
              </a:rPr>
              <a:t>Kulcsfogalom</a:t>
            </a:r>
          </a:p>
          <a:p>
            <a:r>
              <a:rPr sz="1400">
                <a:solidFill>
                  <a:srgbClr val="183A5A"/>
                </a:solidFill>
              </a:rPr>
              <a:t>Forgórésztekercselés, csúszógyűrűk és kefék. Jobb indítási lehetőség, több karbantartás.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737360"/>
            <a:ext cx="29260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2196F3"/>
                </a:solidFill>
              </a:rPr>
              <a:t>Szerkezet</a:t>
            </a:r>
          </a:p>
          <a:p>
            <a:r>
              <a:rPr sz="1400">
                <a:solidFill>
                  <a:srgbClr val="183A5A"/>
                </a:solidFill>
              </a:rPr>
              <a:t>tekercs + csúszógyűrű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29260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2196F3"/>
                </a:solidFill>
              </a:rPr>
              <a:t>Jellemző</a:t>
            </a:r>
          </a:p>
          <a:p>
            <a:r>
              <a:rPr sz="1400">
                <a:solidFill>
                  <a:srgbClr val="183A5A"/>
                </a:solidFill>
              </a:rPr>
              <a:t>kefék karbantartása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4297680"/>
            <a:ext cx="813816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0D47A1"/>
                </a:solidFill>
              </a:rPr>
              <a:t>Jegyezd meg</a:t>
            </a:r>
          </a:p>
          <a:p>
            <a:r>
              <a:rPr sz="1400">
                <a:solidFill>
                  <a:srgbClr val="183A5A"/>
                </a:solidFill>
              </a:rPr>
              <a:t>A szerkezeti kialakításból az üzemeltetésre és karbantartásra is következtetünk.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IAP • Felnőtt oktatás • Villamos berendezések • 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47A1"/>
                </a:solidFill>
              </a:rPr>
              <a:t>Működési lánc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0D47A1"/>
                </a:solidFill>
              </a:rPr>
              <a:t>Kulcsfogalom</a:t>
            </a:r>
          </a:p>
          <a:p>
            <a:r>
              <a:rPr sz="1400">
                <a:solidFill>
                  <a:srgbClr val="183A5A"/>
                </a:solidFill>
              </a:rPr>
              <a:t>Sztátor mező → indukált rotoráram → rotor mágneses tere → forgatónyomaték.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737360"/>
            <a:ext cx="29260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2196F3"/>
                </a:solidFill>
              </a:rPr>
              <a:t>Indukció</a:t>
            </a:r>
          </a:p>
          <a:p>
            <a:r>
              <a:rPr sz="1400">
                <a:solidFill>
                  <a:srgbClr val="183A5A"/>
                </a:solidFill>
              </a:rPr>
              <a:t>áram a rotorban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29260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2196F3"/>
                </a:solidFill>
              </a:rPr>
              <a:t>Csúszás</a:t>
            </a:r>
          </a:p>
          <a:p>
            <a:r>
              <a:rPr sz="1400">
                <a:solidFill>
                  <a:srgbClr val="183A5A"/>
                </a:solidFill>
              </a:rPr>
              <a:t>nyomaték feltétele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4297680"/>
            <a:ext cx="813816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0D47A1"/>
                </a:solidFill>
              </a:rPr>
              <a:t>Jegyezd meg</a:t>
            </a:r>
          </a:p>
          <a:p>
            <a:r>
              <a:rPr sz="1400">
                <a:solidFill>
                  <a:srgbClr val="183A5A"/>
                </a:solidFill>
              </a:rPr>
              <a:t>A szerkezeti kialakításból az üzemeltetésre és karbantartásra is következtetünk.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IAP • Felnőtt oktatás • Villamos berendezések • 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47A1"/>
                </a:solidFill>
              </a:rPr>
              <a:t>Összehasonlítás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0D47A1"/>
                </a:solidFill>
              </a:rPr>
              <a:t>Kulcsfogalom</a:t>
            </a:r>
          </a:p>
          <a:p>
            <a:r>
              <a:rPr sz="1400">
                <a:solidFill>
                  <a:srgbClr val="183A5A"/>
                </a:solidFill>
              </a:rPr>
              <a:t>Kalickás: egyszerű és gyakori. Csúszógyűrűs: indításnál előnyös, szerkezetileg bonyolultabb.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737360"/>
            <a:ext cx="29260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2196F3"/>
                </a:solidFill>
              </a:rPr>
              <a:t>Kalickás</a:t>
            </a:r>
          </a:p>
          <a:p>
            <a:r>
              <a:rPr sz="1400">
                <a:solidFill>
                  <a:srgbClr val="183A5A"/>
                </a:solidFill>
              </a:rPr>
              <a:t>általános hajtás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29260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2196F3"/>
                </a:solidFill>
              </a:rPr>
              <a:t>Csúszógyűrűs</a:t>
            </a:r>
          </a:p>
          <a:p>
            <a:r>
              <a:rPr sz="1400">
                <a:solidFill>
                  <a:srgbClr val="183A5A"/>
                </a:solidFill>
              </a:rPr>
              <a:t>nagy indítónyomaték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4297680"/>
            <a:ext cx="813816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0D47A1"/>
                </a:solidFill>
              </a:rPr>
              <a:t>Jegyezd meg</a:t>
            </a:r>
          </a:p>
          <a:p>
            <a:r>
              <a:rPr sz="1400">
                <a:solidFill>
                  <a:srgbClr val="183A5A"/>
                </a:solidFill>
              </a:rPr>
              <a:t>A szerkezeti kialakításból az üzemeltetésre és karbantartásra is következtetünk.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IAP • Felnőtt oktatás • Villamos berendezések • 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47A1"/>
                </a:solidFill>
              </a:rPr>
              <a:t>IAP heti kihívás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2412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0D47A1"/>
                </a:solidFill>
              </a:rPr>
              <a:t>Feladat</a:t>
            </a:r>
          </a:p>
          <a:p>
            <a:r>
              <a:rPr sz="1400">
                <a:solidFill>
                  <a:srgbClr val="183A5A"/>
                </a:solidFill>
              </a:rPr>
              <a:t>Két motor közül az egyiknél kefetartó látszik. Melyik lehet csúszógyűrűs és milyen következménye van?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840480"/>
            <a:ext cx="48463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2196F3"/>
                </a:solidFill>
              </a:rPr>
              <a:t>Válasz</a:t>
            </a:r>
          </a:p>
          <a:p>
            <a:r>
              <a:rPr sz="1400">
                <a:solidFill>
                  <a:srgbClr val="183A5A"/>
                </a:solidFill>
              </a:rPr>
              <a:t>Kefetartó és gyűrű: csúszógyűrűs kivitelre utal.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48463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b="1" sz="1800">
                <a:solidFill>
                  <a:srgbClr val="2196F3"/>
                </a:solidFill>
              </a:rPr>
              <a:t>Következmény</a:t>
            </a:r>
          </a:p>
          <a:p>
            <a:r>
              <a:rPr sz="1400">
                <a:solidFill>
                  <a:srgbClr val="183A5A"/>
                </a:solidFill>
              </a:rPr>
              <a:t>Indítás előnyösebb lehet, de több a karbantartási pont.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