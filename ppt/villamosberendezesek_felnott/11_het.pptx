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2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IAP - Integrált Automatika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4465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2345B"/>
                </a:solidFill>
              </a:defRPr>
            </a:pPr>
            <a:r>
              <a:t>Tanulj! Alkalmazz! Alkoss!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6AA8"/>
                </a:solidFill>
              </a:defRPr>
            </a:pPr>
            <a:r>
              <a:t>11. hét</a:t>
            </a:r>
          </a:p>
          <a:p>
            <a:pPr>
              <a:defRPr sz="4000" b="1">
                <a:solidFill>
                  <a:srgbClr val="12345B"/>
                </a:solidFill>
              </a:defRPr>
            </a:pPr>
            <a:r>
              <a:t>Aszinkron motorok</a:t>
            </a:r>
          </a:p>
          <a:p>
            <a:pPr>
              <a:defRPr sz="2700">
                <a:solidFill>
                  <a:srgbClr val="172A3A"/>
                </a:solidFill>
              </a:defRPr>
            </a:pPr>
            <a:r>
              <a:t>Felépítés és működési elv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2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IAP - Integrált Automatika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4465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2345B"/>
                </a:solidFill>
              </a:defRPr>
            </a:pPr>
            <a:r>
              <a:t>Tanulj! Alkalmazz! Alkoss!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45B"/>
                </a:solidFill>
              </a:defRPr>
            </a:pPr>
            <a:r>
              <a:t>A világ nagy kérdése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10789920" cy="960120"/>
          </a:xfrm>
          <a:prstGeom prst="roundRect">
            <a:avLst/>
          </a:prstGeom>
          <a:solidFill>
            <a:srgbClr val="EAF3FA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345B"/>
                </a:solidFill>
              </a:defRPr>
            </a:pPr>
            <a:r>
              <a:t>Mitől kezd el forogni a rövidrezárt forgórész, ha arra közvetlenül nem kötünk vezetéket?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2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IAP - Integrált Automatika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4465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2345B"/>
                </a:solidFill>
              </a:defRPr>
            </a:pPr>
            <a:r>
              <a:t>Tanulj! Alkalmazz! Alkoss!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45B"/>
                </a:solidFill>
              </a:defRPr>
            </a:pPr>
            <a:r>
              <a:t>A motor fő részei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72A3A"/>
                </a:solidFill>
              </a:defRPr>
            </a:pPr>
            <a:r>
              <a:t>Állórész (sztátor): vasmag + háromfázisú tekercselés.</a:t>
            </a:r>
          </a:p>
          <a:p>
            <a:pPr>
              <a:spcAft>
                <a:spcPts val="1000"/>
              </a:spcAft>
              <a:defRPr sz="1900">
                <a:solidFill>
                  <a:srgbClr val="172A3A"/>
                </a:solidFill>
              </a:defRPr>
            </a:pPr>
            <a:r>
              <a:t>Forgórész (rotor): vezetőrudak és rövidrezáró gyűrűk - kalickás szerkezet.</a:t>
            </a:r>
          </a:p>
          <a:p>
            <a:pPr>
              <a:spcAft>
                <a:spcPts val="1000"/>
              </a:spcAft>
              <a:defRPr sz="1900">
                <a:solidFill>
                  <a:srgbClr val="172A3A"/>
                </a:solidFill>
              </a:defRPr>
            </a:pPr>
            <a:r>
              <a:t>Légrés: mechanikai elválasztás, ugyanakkor mágneses kapcsolat az állórész és a rotor között.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2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IAP - Integrált Automatika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4465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2345B"/>
                </a:solidFill>
              </a:defRPr>
            </a:pPr>
            <a:r>
              <a:t>Tanulj! Alkalmazz! Alkoss!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45B"/>
                </a:solidFill>
              </a:defRPr>
            </a:pPr>
            <a:r>
              <a:t>Forgó mágneses mező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72A3A"/>
                </a:solidFill>
              </a:defRPr>
            </a:pPr>
            <a:r>
              <a:t>A három fázis árama időben 120°-kal eltolt.</a:t>
            </a:r>
          </a:p>
          <a:p>
            <a:pPr>
              <a:spcAft>
                <a:spcPts val="1000"/>
              </a:spcAft>
              <a:defRPr sz="1900">
                <a:solidFill>
                  <a:srgbClr val="172A3A"/>
                </a:solidFill>
              </a:defRPr>
            </a:pPr>
            <a:r>
              <a:t>A három tekercs mágneses hatása összeadódik.</a:t>
            </a:r>
          </a:p>
          <a:p>
            <a:pPr>
              <a:spcAft>
                <a:spcPts val="1000"/>
              </a:spcAft>
              <a:defRPr sz="1900">
                <a:solidFill>
                  <a:srgbClr val="172A3A"/>
                </a:solidFill>
              </a:defRPr>
            </a:pPr>
            <a:r>
              <a:t>Az eredő mágneses mező az állórész belsejében körbefordul.</a:t>
            </a:r>
          </a:p>
          <a:p>
            <a:pPr>
              <a:spcAft>
                <a:spcPts val="1000"/>
              </a:spcAft>
              <a:defRPr sz="1900">
                <a:solidFill>
                  <a:srgbClr val="172A3A"/>
                </a:solidFill>
              </a:defRPr>
            </a:pPr>
            <a:r>
              <a:t>Nem az állórész mozog - a mágneses tér helyzete változik folyamatosan.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2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IAP - Integrált Automatika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4465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2345B"/>
                </a:solidFill>
              </a:defRPr>
            </a:pPr>
            <a:r>
              <a:t>Tanulj! Alkalmazz! Alkoss!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45B"/>
                </a:solidFill>
              </a:defRPr>
            </a:pPr>
            <a:r>
              <a:t>Hogyan kerül energia a rotorba?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72A3A"/>
                </a:solidFill>
              </a:defRPr>
            </a:pPr>
            <a:r>
              <a:t>A forgó mágneses mező metszi a rotor vezetőit.</a:t>
            </a:r>
          </a:p>
          <a:p>
            <a:pPr>
              <a:spcAft>
                <a:spcPts val="1000"/>
              </a:spcAft>
              <a:defRPr sz="1900">
                <a:solidFill>
                  <a:srgbClr val="172A3A"/>
                </a:solidFill>
              </a:defRPr>
            </a:pPr>
            <a:r>
              <a:t>A változó fluxus feszültséget indukál a rotorban.</a:t>
            </a:r>
          </a:p>
          <a:p>
            <a:pPr>
              <a:spcAft>
                <a:spcPts val="1000"/>
              </a:spcAft>
              <a:defRPr sz="1900">
                <a:solidFill>
                  <a:srgbClr val="172A3A"/>
                </a:solidFill>
              </a:defRPr>
            </a:pPr>
            <a:r>
              <a:t>A kalicka zárt áramkör, ezért rotoráram indul meg.</a:t>
            </a:r>
          </a:p>
          <a:p>
            <a:pPr>
              <a:spcAft>
                <a:spcPts val="1000"/>
              </a:spcAft>
              <a:defRPr sz="1900">
                <a:solidFill>
                  <a:srgbClr val="172A3A"/>
                </a:solidFill>
              </a:defRPr>
            </a:pPr>
            <a:r>
              <a:t>Nincs szükség kefére, kommutátorra vagy külső rotor-táplálásra.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2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IAP - Integrált Automatika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4465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2345B"/>
                </a:solidFill>
              </a:defRPr>
            </a:pPr>
            <a:r>
              <a:t>Tanulj! Alkalmazz! Alkoss!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45B"/>
                </a:solidFill>
              </a:defRPr>
            </a:pPr>
            <a:r>
              <a:t>Mitől lesz nyomaték?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72A3A"/>
                </a:solidFill>
              </a:defRPr>
            </a:pPr>
            <a:r>
              <a:t>A rotor áramjárta vezetői mágneses térben vannak.</a:t>
            </a:r>
          </a:p>
          <a:p>
            <a:pPr>
              <a:spcAft>
                <a:spcPts val="1000"/>
              </a:spcAft>
              <a:defRPr sz="1900">
                <a:solidFill>
                  <a:srgbClr val="172A3A"/>
                </a:solidFill>
              </a:defRPr>
            </a:pPr>
            <a:r>
              <a:t>A mágneses tér és a rotoráram kölcsönhatása erőt hoz létre.</a:t>
            </a:r>
          </a:p>
          <a:p>
            <a:pPr>
              <a:spcAft>
                <a:spcPts val="1000"/>
              </a:spcAft>
              <a:defRPr sz="1900">
                <a:solidFill>
                  <a:srgbClr val="172A3A"/>
                </a:solidFill>
              </a:defRPr>
            </a:pPr>
            <a:r>
              <a:t>Az erők eredője forgatónyomatékot hoz létre.</a:t>
            </a:r>
          </a:p>
          <a:p>
            <a:pPr>
              <a:spcAft>
                <a:spcPts val="1000"/>
              </a:spcAft>
              <a:defRPr sz="1900">
                <a:solidFill>
                  <a:srgbClr val="172A3A"/>
                </a:solidFill>
              </a:defRPr>
            </a:pPr>
            <a:r>
              <a:t>A rotor a forgó mágneses mező irányába gyorsul.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2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IAP - Integrált Automatika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4465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2345B"/>
                </a:solidFill>
              </a:defRPr>
            </a:pPr>
            <a:r>
              <a:t>Tanulj! Alkalmazz! Alkoss!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45B"/>
                </a:solidFill>
              </a:defRPr>
            </a:pPr>
            <a:r>
              <a:t>Miért aszinkron?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72A3A"/>
                </a:solidFill>
              </a:defRPr>
            </a:pPr>
            <a:r>
              <a:t>A rotor nem érheti el motorüzemben a forgó mező fordulatszámát.</a:t>
            </a:r>
          </a:p>
          <a:p>
            <a:pPr>
              <a:spcAft>
                <a:spcPts val="1000"/>
              </a:spcAft>
              <a:defRPr sz="1900">
                <a:solidFill>
                  <a:srgbClr val="172A3A"/>
                </a:solidFill>
              </a:defRPr>
            </a:pPr>
            <a:r>
              <a:t>Ha azonos lenne a két fordulatszám, megszűnne a relatív mozgás.</a:t>
            </a:r>
          </a:p>
          <a:p>
            <a:pPr>
              <a:spcAft>
                <a:spcPts val="1000"/>
              </a:spcAft>
              <a:defRPr sz="1900">
                <a:solidFill>
                  <a:srgbClr val="172A3A"/>
                </a:solidFill>
              </a:defRPr>
            </a:pPr>
            <a:r>
              <a:t>Nem indukálódna rotor-feszültség -&gt; nem lenne rotoráram -&gt; eltűnne a nyomaték.</a:t>
            </a:r>
          </a:p>
          <a:p>
            <a:pPr>
              <a:spcAft>
                <a:spcPts val="1000"/>
              </a:spcAft>
              <a:defRPr sz="1900">
                <a:solidFill>
                  <a:srgbClr val="172A3A"/>
                </a:solidFill>
              </a:defRPr>
            </a:pPr>
            <a:r>
              <a:t>A fordulatszám-különbséget a szlip írja 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2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IAP - Integrált Automatika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4465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2345B"/>
                </a:solidFill>
              </a:defRPr>
            </a:pPr>
            <a:r>
              <a:t>Tanulj! Alkalmazz! Alkoss!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45B"/>
                </a:solidFill>
              </a:defRPr>
            </a:pPr>
            <a:r>
              <a:t>Szinkron fordulatszám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72A3A"/>
                </a:solidFill>
              </a:defRPr>
            </a:pPr>
            <a:r>
              <a:t>nₛ = 60 · f / p</a:t>
            </a:r>
          </a:p>
          <a:p>
            <a:pPr>
              <a:spcAft>
                <a:spcPts val="1000"/>
              </a:spcAft>
              <a:defRPr sz="1900">
                <a:solidFill>
                  <a:srgbClr val="172A3A"/>
                </a:solidFill>
              </a:defRPr>
            </a:pPr>
            <a:r>
              <a:t>50 Hz, 1 póluspár -&gt; 3000 1/min</a:t>
            </a:r>
          </a:p>
          <a:p>
            <a:pPr>
              <a:spcAft>
                <a:spcPts val="1000"/>
              </a:spcAft>
              <a:defRPr sz="1900">
                <a:solidFill>
                  <a:srgbClr val="172A3A"/>
                </a:solidFill>
              </a:defRPr>
            </a:pPr>
            <a:r>
              <a:t>50 Hz, 2 póluspár -&gt; 1500 1/min</a:t>
            </a:r>
          </a:p>
          <a:p>
            <a:pPr>
              <a:spcAft>
                <a:spcPts val="1000"/>
              </a:spcAft>
              <a:defRPr sz="1900">
                <a:solidFill>
                  <a:srgbClr val="172A3A"/>
                </a:solidFill>
              </a:defRPr>
            </a:pPr>
            <a:r>
              <a:t>A tényleges rotorfordulat terhelés alatt valamivel kisebb.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2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IAP - Integrált Automatika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4465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2345B"/>
                </a:solidFill>
              </a:defRPr>
            </a:pPr>
            <a:r>
              <a:t>Tanulj! Alkalmazz! Alkoss!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45B"/>
                </a:solidFill>
              </a:defRPr>
            </a:pPr>
            <a:r>
              <a:t>Példa a szlipre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10789920" cy="960120"/>
          </a:xfrm>
          <a:prstGeom prst="roundRect">
            <a:avLst/>
          </a:prstGeom>
          <a:solidFill>
            <a:srgbClr val="EAF3FA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345B"/>
                </a:solidFill>
              </a:defRPr>
            </a:pPr>
            <a:r>
              <a:t>nₛ = 1500 1/min, n = 1440 1/min  →  s = (1500 - 1440) / 1500 = 0,04 = 4%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2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IAP - Integrált Automatika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4465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2345B"/>
                </a:solidFill>
              </a:defRPr>
            </a:pPr>
            <a:r>
              <a:t>Tanulj! Alkalmazz! Alkoss!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45B"/>
                </a:solidFill>
              </a:defRPr>
            </a:pPr>
            <a:r>
              <a:t>A működés lánca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72A3A"/>
                </a:solidFill>
              </a:defRPr>
            </a:pPr>
            <a:r>
              <a:t>1. Háromfázisú táplálás</a:t>
            </a:r>
          </a:p>
          <a:p>
            <a:pPr>
              <a:spcAft>
                <a:spcPts val="1000"/>
              </a:spcAft>
              <a:defRPr sz="1900">
                <a:solidFill>
                  <a:srgbClr val="172A3A"/>
                </a:solidFill>
              </a:defRPr>
            </a:pPr>
            <a:r>
              <a:t>2. Forgó mágneses mező</a:t>
            </a:r>
          </a:p>
          <a:p>
            <a:pPr>
              <a:spcAft>
                <a:spcPts val="1000"/>
              </a:spcAft>
              <a:defRPr sz="1900">
                <a:solidFill>
                  <a:srgbClr val="172A3A"/>
                </a:solidFill>
              </a:defRPr>
            </a:pPr>
            <a:r>
              <a:t>3. Indukált rotor-feszültség</a:t>
            </a:r>
          </a:p>
          <a:p>
            <a:pPr>
              <a:spcAft>
                <a:spcPts val="1000"/>
              </a:spcAft>
              <a:defRPr sz="1900">
                <a:solidFill>
                  <a:srgbClr val="172A3A"/>
                </a:solidFill>
              </a:defRPr>
            </a:pPr>
            <a:r>
              <a:t>4. Rotoráram</a:t>
            </a:r>
          </a:p>
          <a:p>
            <a:pPr>
              <a:spcAft>
                <a:spcPts val="1000"/>
              </a:spcAft>
              <a:defRPr sz="1900">
                <a:solidFill>
                  <a:srgbClr val="172A3A"/>
                </a:solidFill>
              </a:defRPr>
            </a:pPr>
            <a:r>
              <a:t>5. Elektromágneses erő</a:t>
            </a:r>
          </a:p>
          <a:p>
            <a:pPr>
              <a:spcAft>
                <a:spcPts val="1000"/>
              </a:spcAft>
              <a:defRPr sz="1900">
                <a:solidFill>
                  <a:srgbClr val="172A3A"/>
                </a:solidFill>
              </a:defRPr>
            </a:pPr>
            <a:r>
              <a:t>6. Forgatónyomaték</a:t>
            </a:r>
          </a:p>
          <a:p>
            <a:pPr>
              <a:spcAft>
                <a:spcPts val="1000"/>
              </a:spcAft>
              <a:defRPr sz="1900">
                <a:solidFill>
                  <a:srgbClr val="172A3A"/>
                </a:solidFill>
              </a:defRPr>
            </a:pPr>
            <a:r>
              <a:t>7. A rotor felgyorsul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2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IAP - Integrált Automatika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4465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2345B"/>
                </a:solidFill>
              </a:defRPr>
            </a:pPr>
            <a:r>
              <a:t>Tanulj! Alkalmazz! Alkoss!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45B"/>
                </a:solidFill>
              </a:defRPr>
            </a:pPr>
            <a:r>
              <a:t>IAP-kihívás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10789920" cy="960120"/>
          </a:xfrm>
          <a:prstGeom prst="roundRect">
            <a:avLst/>
          </a:prstGeom>
          <a:solidFill>
            <a:srgbClr val="EAF3FA"/>
          </a:solidFill>
          <a:ln>
            <a:solidFill>
              <a:srgbClr val="1E6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345B"/>
                </a:solidFill>
              </a:defRPr>
            </a:pPr>
            <a:r>
              <a:t>50 Hz-es, két póluspárú motor névleges fordulatszáma 1450 1/min. Mennyi a szinkron fordulatszám és a névleges szlip? Miért nem lehet a szlip motorüzemben 0?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