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7724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100">
                <a:solidFill>
                  <a:srgbClr val="061A30"/>
                </a:solidFill>
                <a:latin typeface="Aptos Display"/>
              </a:defRPr>
            </a:pPr>
            <a:r>
              <a:t>IAP</a:t>
            </a:r>
          </a:p>
          <a:p>
            <a:pPr>
              <a:defRPr b="1" sz="3100">
                <a:solidFill>
                  <a:srgbClr val="061A30"/>
                </a:solidFill>
                <a:latin typeface="Aptos Display"/>
              </a:defRPr>
            </a:pPr>
            <a:r>
              <a:t>SZINKRON GÉPEK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389888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83A5A"/>
                </a:solidFill>
              </a:defRPr>
            </a:pPr>
            <a:r>
              <a:t>6. hét • Felnőtt oktatás • Villamos berendezések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17089"/>
                </a:solidFill>
              </a:defRPr>
            </a:pPr>
            <a:r>
              <a:t>IAP • Felnőtt oktatás • Villamos berendezések • Tanulj! Alkalmazz! Alkoss!</a:t>
            </a:r>
          </a:p>
        </p:txBody>
      </p:sp>
      <p:sp>
        <p:nvSpPr>
          <p:cNvPr id="6" name="Oval 5"/>
          <p:cNvSpPr/>
          <p:nvPr/>
        </p:nvSpPr>
        <p:spPr>
          <a:xfrm>
            <a:off x="8138160" y="1234440"/>
            <a:ext cx="2468880" cy="2468880"/>
          </a:xfrm>
          <a:prstGeom prst="ellipse">
            <a:avLst/>
          </a:prstGeom>
          <a:solidFill>
            <a:srgbClr val="E3F2FD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92024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000">
                <a:solidFill>
                  <a:srgbClr val="0D47A1"/>
                </a:solidFill>
              </a:defRPr>
            </a:pPr>
            <a:r>
              <a:t>n = 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389120"/>
            <a:ext cx="3291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4526280"/>
            <a:ext cx="29626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D47A1"/>
                </a:solidFill>
              </a:defRPr>
            </a:pPr>
            <a:r>
              <a:t>SZTÁTOR</a:t>
            </a:r>
          </a:p>
          <a:p>
            <a:pPr>
              <a:spcBef>
                <a:spcPts val="600"/>
              </a:spcBef>
              <a:defRPr sz="1300">
                <a:solidFill>
                  <a:srgbClr val="183A5A"/>
                </a:solidFill>
              </a:defRPr>
            </a:pPr>
            <a:r>
              <a:t>háromfázisú tekercselés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4389120"/>
            <a:ext cx="3291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4526280"/>
            <a:ext cx="29626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D47A1"/>
                </a:solidFill>
              </a:defRPr>
            </a:pPr>
            <a:r>
              <a:t>ROTOR</a:t>
            </a:r>
          </a:p>
          <a:p>
            <a:pPr>
              <a:spcBef>
                <a:spcPts val="600"/>
              </a:spcBef>
              <a:defRPr sz="1300">
                <a:solidFill>
                  <a:srgbClr val="183A5A"/>
                </a:solidFill>
              </a:defRPr>
            </a:pPr>
            <a:r>
              <a:t>gerjesztett mágneses tér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4389120"/>
            <a:ext cx="3291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1" y="4526280"/>
            <a:ext cx="29626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D47A1"/>
                </a:solidFill>
              </a:defRPr>
            </a:pPr>
            <a:r>
              <a:t>SZINKRON</a:t>
            </a:r>
          </a:p>
          <a:p>
            <a:pPr>
              <a:spcBef>
                <a:spcPts val="600"/>
              </a:spcBef>
              <a:defRPr sz="1300">
                <a:solidFill>
                  <a:srgbClr val="183A5A"/>
                </a:solidFill>
              </a:defRPr>
            </a:pPr>
            <a:r>
              <a:t>azonos fordulatszám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7724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100">
                <a:solidFill>
                  <a:srgbClr val="061A30"/>
                </a:solidFill>
                <a:latin typeface="Aptos Display"/>
              </a:defRPr>
            </a:pPr>
            <a:r>
              <a:t>Mitől szinkron?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83A5A"/>
                </a:solidFill>
              </a:defRPr>
            </a:pPr>
            <a:r>
              <a:t>A forgórész a forgó mezővel azonos ütemben halad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17089"/>
                </a:solidFill>
              </a:defRPr>
            </a:pPr>
            <a:r>
              <a:t>IAP • Felnőtt oktatás • Villamos berendezések • Tanulj! Alkalmazz! Alkoss!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32918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103120"/>
            <a:ext cx="296265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D47A1"/>
                </a:solidFill>
              </a:defRPr>
            </a:pPr>
            <a:r>
              <a:t>Forgó mező</a:t>
            </a:r>
          </a:p>
          <a:p>
            <a:pPr>
              <a:spcBef>
                <a:spcPts val="600"/>
              </a:spcBef>
              <a:defRPr sz="1300">
                <a:solidFill>
                  <a:srgbClr val="183A5A"/>
                </a:solidFill>
              </a:defRPr>
            </a:pPr>
            <a:r>
              <a:t>Az állórész háromfázisú tekercselése hozza létre.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965960"/>
            <a:ext cx="32918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2103120"/>
            <a:ext cx="296265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D47A1"/>
                </a:solidFill>
              </a:defRPr>
            </a:pPr>
            <a:r>
              <a:t>Rotor mágneses tere</a:t>
            </a:r>
          </a:p>
          <a:p>
            <a:pPr>
              <a:spcBef>
                <a:spcPts val="600"/>
              </a:spcBef>
              <a:defRPr sz="1300">
                <a:solidFill>
                  <a:srgbClr val="183A5A"/>
                </a:solidFill>
              </a:defRPr>
            </a:pPr>
            <a:r>
              <a:t>Gerjesztéssel vagy állandó mágnessel alakul ki.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965960"/>
            <a:ext cx="32918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1" y="2103120"/>
            <a:ext cx="296265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D47A1"/>
                </a:solidFill>
              </a:defRPr>
            </a:pPr>
            <a:r>
              <a:t>Fordulatszám</a:t>
            </a:r>
          </a:p>
          <a:p>
            <a:pPr>
              <a:spcBef>
                <a:spcPts val="600"/>
              </a:spcBef>
              <a:defRPr sz="1300">
                <a:solidFill>
                  <a:srgbClr val="183A5A"/>
                </a:solidFill>
              </a:defRPr>
            </a:pPr>
            <a:r>
              <a:t>Frekvencia és pólusszám határozza meg.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7724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100">
                <a:solidFill>
                  <a:srgbClr val="061A30"/>
                </a:solidFill>
                <a:latin typeface="Aptos Display"/>
              </a:defRPr>
            </a:pPr>
            <a:r>
              <a:t>Fő szerkezeti részek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83A5A"/>
                </a:solidFill>
              </a:defRPr>
            </a:pPr>
            <a:r>
              <a:t>A szinkron gép felépítése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17089"/>
                </a:solidFill>
              </a:defRPr>
            </a:pPr>
            <a:r>
              <a:t>IAP • Felnőtt oktatás • Villamos berendezések • Tanulj! Alkalmazz! Alkoss!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32918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103120"/>
            <a:ext cx="296265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D47A1"/>
                </a:solidFill>
              </a:defRPr>
            </a:pPr>
            <a:r>
              <a:t>Állórész</a:t>
            </a:r>
          </a:p>
          <a:p>
            <a:pPr>
              <a:spcBef>
                <a:spcPts val="600"/>
              </a:spcBef>
              <a:defRPr sz="1300">
                <a:solidFill>
                  <a:srgbClr val="183A5A"/>
                </a:solidFill>
              </a:defRPr>
            </a:pPr>
            <a:r>
              <a:t>Vasmag, hornyok, tekercselés, kapocsdoboz.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965960"/>
            <a:ext cx="32918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2103120"/>
            <a:ext cx="296265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D47A1"/>
                </a:solidFill>
              </a:defRPr>
            </a:pPr>
            <a:r>
              <a:t>Forgórész</a:t>
            </a:r>
          </a:p>
          <a:p>
            <a:pPr>
              <a:spcBef>
                <a:spcPts val="600"/>
              </a:spcBef>
              <a:defRPr sz="1300">
                <a:solidFill>
                  <a:srgbClr val="183A5A"/>
                </a:solidFill>
              </a:defRPr>
            </a:pPr>
            <a:r>
              <a:t>Kiálló pólusú vagy hengeres kialakítás.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965960"/>
            <a:ext cx="32918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1" y="2103120"/>
            <a:ext cx="296265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D47A1"/>
                </a:solidFill>
              </a:defRPr>
            </a:pPr>
            <a:r>
              <a:t>Légrés és csapágy</a:t>
            </a:r>
          </a:p>
          <a:p>
            <a:pPr>
              <a:spcBef>
                <a:spcPts val="600"/>
              </a:spcBef>
              <a:defRPr sz="1300">
                <a:solidFill>
                  <a:srgbClr val="183A5A"/>
                </a:solidFill>
              </a:defRPr>
            </a:pPr>
            <a:r>
              <a:t>Mágneses kapcsolat és pontos forgás.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7724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100">
                <a:solidFill>
                  <a:srgbClr val="061A30"/>
                </a:solidFill>
                <a:latin typeface="Aptos Display"/>
              </a:defRPr>
            </a:pPr>
            <a:r>
              <a:t>Gerjesztés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83A5A"/>
                </a:solidFill>
              </a:defRPr>
            </a:pPr>
            <a:r>
              <a:t>A rotor mágneses tere nem magától van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17089"/>
                </a:solidFill>
              </a:defRPr>
            </a:pPr>
            <a:r>
              <a:t>IAP • Felnőtt oktatás • Villamos berendezések • Tanulj! Alkalmazz! Alkoss!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32918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103120"/>
            <a:ext cx="296265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D47A1"/>
                </a:solidFill>
              </a:defRPr>
            </a:pPr>
            <a:r>
              <a:t>Csúszógyűrű + kefe</a:t>
            </a:r>
          </a:p>
          <a:p>
            <a:pPr>
              <a:spcBef>
                <a:spcPts val="600"/>
              </a:spcBef>
              <a:defRPr sz="1300">
                <a:solidFill>
                  <a:srgbClr val="183A5A"/>
                </a:solidFill>
              </a:defRPr>
            </a:pPr>
            <a:r>
              <a:t>Klasszikus külső gerjesztés.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965960"/>
            <a:ext cx="32918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2103120"/>
            <a:ext cx="296265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D47A1"/>
                </a:solidFill>
              </a:defRPr>
            </a:pPr>
            <a:r>
              <a:t>Kefe nélküli gerjesztés</a:t>
            </a:r>
          </a:p>
          <a:p>
            <a:pPr>
              <a:spcBef>
                <a:spcPts val="600"/>
              </a:spcBef>
              <a:defRPr sz="1300">
                <a:solidFill>
                  <a:srgbClr val="183A5A"/>
                </a:solidFill>
              </a:defRPr>
            </a:pPr>
            <a:r>
              <a:t>Kevesebb karbantartási igény.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965960"/>
            <a:ext cx="32918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1" y="2103120"/>
            <a:ext cx="296265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D47A1"/>
                </a:solidFill>
              </a:defRPr>
            </a:pPr>
            <a:r>
              <a:t>Állandó mágnes</a:t>
            </a:r>
          </a:p>
          <a:p>
            <a:pPr>
              <a:spcBef>
                <a:spcPts val="600"/>
              </a:spcBef>
              <a:defRPr sz="1300">
                <a:solidFill>
                  <a:srgbClr val="183A5A"/>
                </a:solidFill>
              </a:defRPr>
            </a:pPr>
            <a:r>
              <a:t>Kisebb és korszerű hajtásoknál gyakori.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7724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100">
                <a:solidFill>
                  <a:srgbClr val="061A30"/>
                </a:solidFill>
                <a:latin typeface="Aptos Display"/>
              </a:defRPr>
            </a:pPr>
            <a:r>
              <a:t>Motor vagy generátor?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83A5A"/>
                </a:solidFill>
              </a:defRPr>
            </a:pPr>
            <a:r>
              <a:t>Az energia iránya dönti 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17089"/>
                </a:solidFill>
              </a:defRPr>
            </a:pPr>
            <a:r>
              <a:t>IAP • Felnőtt oktatás • Villamos berendezések • Tanulj! Alkalmazz! Alkoss!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32918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103120"/>
            <a:ext cx="296265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D47A1"/>
                </a:solidFill>
              </a:defRPr>
            </a:pPr>
            <a:r>
              <a:t>Szinkron generátor</a:t>
            </a:r>
          </a:p>
          <a:p>
            <a:pPr>
              <a:spcBef>
                <a:spcPts val="600"/>
              </a:spcBef>
              <a:defRPr sz="1300">
                <a:solidFill>
                  <a:srgbClr val="183A5A"/>
                </a:solidFill>
              </a:defRPr>
            </a:pPr>
            <a:r>
              <a:t>Mechanikai energia → villamos energia.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965960"/>
            <a:ext cx="32918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2103120"/>
            <a:ext cx="296265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D47A1"/>
                </a:solidFill>
              </a:defRPr>
            </a:pPr>
            <a:r>
              <a:t>Szinkron motor</a:t>
            </a:r>
          </a:p>
          <a:p>
            <a:pPr>
              <a:spcBef>
                <a:spcPts val="600"/>
              </a:spcBef>
              <a:defRPr sz="1300">
                <a:solidFill>
                  <a:srgbClr val="183A5A"/>
                </a:solidFill>
              </a:defRPr>
            </a:pPr>
            <a:r>
              <a:t>Villamos energia → mechanikai energia.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965960"/>
            <a:ext cx="32918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1" y="2103120"/>
            <a:ext cx="296265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D47A1"/>
                </a:solidFill>
              </a:defRPr>
            </a:pPr>
            <a:r>
              <a:t>Ipari szerep</a:t>
            </a:r>
          </a:p>
          <a:p>
            <a:pPr>
              <a:spcBef>
                <a:spcPts val="600"/>
              </a:spcBef>
              <a:defRPr sz="1300">
                <a:solidFill>
                  <a:srgbClr val="183A5A"/>
                </a:solidFill>
              </a:defRPr>
            </a:pPr>
            <a:r>
              <a:t>Erőművek, nagy hajtások, kompenzálás.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7724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100">
                <a:solidFill>
                  <a:srgbClr val="061A30"/>
                </a:solidFill>
                <a:latin typeface="Aptos Display"/>
              </a:defRPr>
            </a:pPr>
            <a:r>
              <a:t>IAP heti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83A5A"/>
                </a:solidFill>
              </a:defRPr>
            </a:pPr>
            <a:r>
              <a:t>Értelmezd a „külső gerjesztésű szinkron generátor” kifejezést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17089"/>
                </a:solidFill>
              </a:defRPr>
            </a:pPr>
            <a:r>
              <a:t>IAP • Felnőtt oktatás • Villamos berendezések • Tanulj! Alkalmazz! Alkoss!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32918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103120"/>
            <a:ext cx="296265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D47A1"/>
                </a:solidFill>
              </a:defRPr>
            </a:pPr>
            <a:r>
              <a:t>Feladat</a:t>
            </a:r>
          </a:p>
          <a:p>
            <a:pPr>
              <a:spcBef>
                <a:spcPts val="600"/>
              </a:spcBef>
              <a:defRPr sz="1300">
                <a:solidFill>
                  <a:srgbClr val="183A5A"/>
                </a:solidFill>
              </a:defRPr>
            </a:pPr>
            <a:r>
              <a:t>Nevezd meg a fő részeket és a gerjesztés szerepét.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965960"/>
            <a:ext cx="32918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2103120"/>
            <a:ext cx="296265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D47A1"/>
                </a:solidFill>
              </a:defRPr>
            </a:pPr>
            <a:r>
              <a:t>Kulcs</a:t>
            </a:r>
          </a:p>
          <a:p>
            <a:pPr>
              <a:spcBef>
                <a:spcPts val="600"/>
              </a:spcBef>
              <a:defRPr sz="1300">
                <a:solidFill>
                  <a:srgbClr val="183A5A"/>
                </a:solidFill>
              </a:defRPr>
            </a:pPr>
            <a:r>
              <a:t>Sztátor, rotor, légrés, tengely, csapágy, gerjesztés.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965960"/>
            <a:ext cx="32918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1" y="2103120"/>
            <a:ext cx="296265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D47A1"/>
                </a:solidFill>
              </a:defRPr>
            </a:pPr>
            <a:r>
              <a:t>Következő hét</a:t>
            </a:r>
          </a:p>
          <a:p>
            <a:pPr>
              <a:spcBef>
                <a:spcPts val="600"/>
              </a:spcBef>
              <a:defRPr sz="1300">
                <a:solidFill>
                  <a:srgbClr val="183A5A"/>
                </a:solidFill>
              </a:defRPr>
            </a:pPr>
            <a:r>
              <a:t>Transzformátor mint álló villamos gép.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