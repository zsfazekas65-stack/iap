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Mechatronikai technikus • Folyamatirányítás • 14.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58521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900" b="1">
                <a:solidFill>
                  <a:srgbClr val="E19137"/>
                </a:solidFill>
                <a:latin typeface="Aptos"/>
              </a:defRPr>
            </a:pPr>
            <a:r>
              <a:t>HMI &amp; SCADA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78608"/>
            <a:ext cx="6217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Az ember, a gép és az üzem találkozási pontja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069080" cy="3154680"/>
          </a:xfrm>
          <a:prstGeom prst="roundRect">
            <a:avLst/>
          </a:prstGeom>
          <a:solidFill>
            <a:srgbClr val="1F405E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645920"/>
            <a:ext cx="3520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SZIVATTYÚÁLLOMÁS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240280"/>
            <a:ext cx="1097280" cy="1417320"/>
          </a:xfrm>
          <a:prstGeom prst="roundRect">
            <a:avLst/>
          </a:prstGeom>
          <a:solidFill>
            <a:srgbClr val="284B67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697480"/>
            <a:ext cx="1097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3AA9C4"/>
                </a:solidFill>
                <a:latin typeface="Aptos"/>
              </a:defRPr>
            </a:pPr>
            <a:r>
              <a:t>72%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240280"/>
            <a:ext cx="914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2377440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898648"/>
            <a:ext cx="548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12680" y="2240280"/>
            <a:ext cx="914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0" y="2377440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59" y="2898648"/>
            <a:ext cx="548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52044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Nyomás: 4.2 bar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617720"/>
            <a:ext cx="2194560" cy="228600"/>
          </a:xfrm>
          <a:prstGeom prst="roundRect">
            <a:avLst/>
          </a:prstGeom>
          <a:solidFill>
            <a:srgbClr val="374653"/>
          </a:solidFill>
          <a:ln>
            <a:solidFill>
              <a:srgbClr val="37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Mi az a HMI?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Human Machine Interface - az ember és a gép közötti kezelőfelület.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19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KEZELŐ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288036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Start / Stop</a:t>
            </a:r>
            <a:br/>
            <a:r>
              <a:t>beállítások módosítása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HMI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67128"/>
            <a:ext cx="288036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állapotok</a:t>
            </a:r>
            <a:br/>
            <a:r>
              <a:t>mért értékek</a:t>
            </a:r>
            <a:br/>
            <a:r>
              <a:t>riasztások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0876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45919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GÉP / PLC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67128"/>
            <a:ext cx="288036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folyamat vezérlése</a:t>
            </a:r>
            <a:br/>
            <a:r>
              <a:t>visszajelzések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3200400"/>
            <a:ext cx="502920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26679" y="3200400"/>
            <a:ext cx="502921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A HMI legfontosabb feladatai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kezelő egyetlen felületen látja és kezeli a folyamatot.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ÁLLAPOT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842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gépállapotok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46303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KEZELÉS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842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gombok • kapcsolók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46303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MÉRT ÉRTÉK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19842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nyomás • szint • hőmérséklet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GRAFIKON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416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trendek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3520440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BE4343"/>
                </a:solidFill>
                <a:latin typeface="Aptos"/>
              </a:defRPr>
            </a:pPr>
            <a:r>
              <a:t>RIASZTÁS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40416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hibák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3520440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RECEPT / JOGOSULTSÁG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40416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beállítások és hozzáférés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Mi az a SCADA?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Supervisory Control And Data Acquisition - központi felügyelet.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240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79"/>
            <a:ext cx="1965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PLC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32887"/>
            <a:ext cx="187452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gép / technológia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16052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965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PLC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18888"/>
            <a:ext cx="1874520" cy="5029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másik gép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508760"/>
            <a:ext cx="4343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828800"/>
            <a:ext cx="4343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142B44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06040"/>
            <a:ext cx="301752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263441"/>
                </a:solidFill>
                <a:latin typeface="Aptos"/>
              </a:defRPr>
            </a:pPr>
            <a:r>
              <a:t>• több PLC felügyelete</a:t>
            </a:r>
            <a:br/>
            <a:r>
              <a:t>• adatgyűjtés</a:t>
            </a:r>
            <a:br/>
            <a:r>
              <a:t>• naplózás</a:t>
            </a:r>
            <a:br/>
            <a:r>
              <a:t>• távfelügyelet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1874519"/>
            <a:ext cx="2240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011679"/>
            <a:ext cx="1965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KEZELŐ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532887"/>
            <a:ext cx="187452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központi felügyelet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416052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4297680"/>
            <a:ext cx="1965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ADAT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4818888"/>
            <a:ext cx="1874520" cy="5029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napló / trend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34640" y="2743200"/>
            <a:ext cx="1005840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2743200"/>
            <a:ext cx="1005840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HMI vagy SCADA?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Nem ugyanaz a lépték.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48920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19"/>
            <a:ext cx="4617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HMI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4526279" cy="2788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Jellemzően egy gép helyi kezelőfelülete.</a:t>
            </a:r>
            <a:br/>
            <a:br/>
            <a:r>
              <a:t>Kezelés • kijelzés • helyi riasztások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508760"/>
            <a:ext cx="48920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19"/>
            <a:ext cx="4617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67128"/>
            <a:ext cx="4526279" cy="2788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Egy teljes technológia vagy üzem központi felügyelete.</a:t>
            </a:r>
            <a:br/>
            <a:br/>
            <a:r>
              <a:t>Adatgyűjtés • naplózás • távfelügyelet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PLC - HMI - beavatkozók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HMI nem helyettesíti a PLC-t: kezelői kapcsolatot biztosít.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240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KEZELŐ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87168"/>
            <a:ext cx="21488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parancs / információ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926080"/>
            <a:ext cx="365760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182880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965960"/>
            <a:ext cx="2240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HMI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87168"/>
            <a:ext cx="21488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megjelenítés / kezelés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2926080"/>
            <a:ext cx="365760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182880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65960"/>
            <a:ext cx="2240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487168"/>
            <a:ext cx="21488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folyamatvezérlés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0" y="2926080"/>
            <a:ext cx="365759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59" y="182880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1965960"/>
            <a:ext cx="2240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BEAVATKOZÓ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39" y="2487168"/>
            <a:ext cx="21488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fizikai végrehajtás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Riasztások és adatnaplózás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jó felügyeleti rendszer nemcsak mutatja, hanem megőrzi a folyamat történetét.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BE4343"/>
                </a:solidFill>
                <a:latin typeface="Aptos"/>
              </a:defRPr>
            </a:pPr>
            <a:r>
              <a:t>RIASZTÁS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2880360" cy="2514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 hibák gyors és jól látható megjelenítése.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NAPLÓZÁS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58568"/>
            <a:ext cx="2880360" cy="2514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Események és technológiai adatok tárolása.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737360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TREND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258568"/>
            <a:ext cx="2880360" cy="2514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 változások grafikus követése.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Gyakorlati példa - Szivattyúállomás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PLC vezérel, HMI megjelenít, SCADA naplóz és távolról felügyel.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1945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42B44"/>
                </a:solidFill>
                <a:latin typeface="Aptos"/>
              </a:defRPr>
            </a:pPr>
            <a:r>
              <a:t>TARTÁLY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286000"/>
            <a:ext cx="1463040" cy="2148840"/>
          </a:xfrm>
          <a:prstGeom prst="roundRect">
            <a:avLst/>
          </a:prstGeom>
          <a:solidFill>
            <a:srgbClr val="E1F1F7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2770AB"/>
                </a:solidFill>
                <a:latin typeface="Aptos"/>
              </a:defRPr>
            </a:pPr>
            <a:r>
              <a:t>68%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554480"/>
            <a:ext cx="1828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1691639"/>
            <a:ext cx="1554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212848"/>
            <a:ext cx="1463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246120"/>
            <a:ext cx="1828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3383279"/>
            <a:ext cx="1554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904487"/>
            <a:ext cx="1463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1554480"/>
            <a:ext cx="21488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691639"/>
            <a:ext cx="1874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HMI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212848"/>
            <a:ext cx="1783080" cy="2240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Szint: 68%</a:t>
            </a:r>
            <a:br/>
            <a:r>
              <a:t>Nyomás: 4.2 bar</a:t>
            </a:r>
            <a:br/>
            <a:r>
              <a:t>P1 RUN</a:t>
            </a:r>
            <a:br/>
            <a:r>
              <a:t>P2 STOP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554480"/>
            <a:ext cx="31546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691639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212848"/>
            <a:ext cx="2788920" cy="2240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Adatnaplózás</a:t>
            </a:r>
            <a:br/>
            <a:r>
              <a:t>Trendek</a:t>
            </a:r>
            <a:br/>
            <a:r>
              <a:t>Események</a:t>
            </a:r>
            <a:br/>
            <a:r>
              <a:t>Távoli hozzáférés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Jó HMI-tervezési alapelvek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kezelőnek gyorsan kell értenie, mi történik.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37360"/>
            <a:ext cx="20574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783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ÁTTEKINTHETŐ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95728"/>
            <a:ext cx="169164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egyszerű elrendezés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737360"/>
            <a:ext cx="20574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874519"/>
            <a:ext cx="1783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EGYSÉGES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95728"/>
            <a:ext cx="169164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következetes színek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737360"/>
            <a:ext cx="20574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874519"/>
            <a:ext cx="1783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ÉRTHETŐ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395728"/>
            <a:ext cx="169164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egyértelmű ikonok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737360"/>
            <a:ext cx="20574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1874519"/>
            <a:ext cx="1783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BE4343"/>
                </a:solidFill>
                <a:latin typeface="Aptos"/>
              </a:defRPr>
            </a:pPr>
            <a:r>
              <a:t>LÁTHATÓ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2395728"/>
            <a:ext cx="169164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kiemelt riasztások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59" y="1737360"/>
            <a:ext cx="20574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19" y="1874519"/>
            <a:ext cx="1783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LOGIKUS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2395728"/>
            <a:ext cx="169164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átlátható menü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IAP gyakorlati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Tervezd meg egy automatikus tartályrendszer HMI-kezdőképernyőjét!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0972800" cy="4480560"/>
          </a:xfrm>
          <a:prstGeom prst="roundRect">
            <a:avLst/>
          </a:prstGeom>
          <a:solidFill>
            <a:srgbClr val="23313E"/>
          </a:solidFill>
          <a:ln>
            <a:solidFill>
              <a:srgbClr val="23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TARTÁLYRENDSZER - FŐKÉPERNYŐ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1965960" cy="2194560"/>
          </a:xfrm>
          <a:prstGeom prst="roundRect">
            <a:avLst/>
          </a:prstGeom>
          <a:solidFill>
            <a:srgbClr val="344B5B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1965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3AA9C4"/>
                </a:solidFill>
                <a:latin typeface="Aptos"/>
              </a:defRPr>
            </a:pPr>
            <a:r>
              <a:t>TARTÁLY</a:t>
            </a:r>
            <a:br/>
            <a:r>
              <a:t>72%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148840"/>
            <a:ext cx="14630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2286000"/>
            <a:ext cx="1188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807208"/>
            <a:ext cx="1097280" cy="5029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148840"/>
            <a:ext cx="14630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286000"/>
            <a:ext cx="1188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807208"/>
            <a:ext cx="1097280" cy="5029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794760"/>
            <a:ext cx="3108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Nyomás: 4.2 bar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2148840"/>
            <a:ext cx="1828800" cy="777240"/>
          </a:xfrm>
          <a:prstGeom prst="roundRect">
            <a:avLst/>
          </a:prstGeom>
          <a:solidFill>
            <a:srgbClr val="3E9169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3317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148840"/>
            <a:ext cx="1828800" cy="777240"/>
          </a:xfrm>
          <a:prstGeom prst="roundRect">
            <a:avLst/>
          </a:prstGeom>
          <a:solidFill>
            <a:srgbClr val="BE4343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3317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3246120"/>
            <a:ext cx="3931920" cy="777240"/>
          </a:xfrm>
          <a:prstGeom prst="roundRect">
            <a:avLst/>
          </a:prstGeom>
          <a:solidFill>
            <a:srgbClr val="384958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42900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AUTO / KÉZI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4343400"/>
            <a:ext cx="3931920" cy="685800"/>
          </a:xfrm>
          <a:prstGeom prst="roundRect">
            <a:avLst/>
          </a:prstGeom>
          <a:solidFill>
            <a:srgbClr val="4B3737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498848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RIASZTÁSOK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212080"/>
            <a:ext cx="2926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2026.08.26   22:00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5486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MÉRNÖKI GONDOLAT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698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E19137"/>
                </a:solidFill>
                <a:latin typeface="Aptos"/>
              </a:defRPr>
            </a:pPr>
            <a:r>
              <a:t>„A jó kezelőfelület nemcsak információt mutat,”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„hanem segít a kezelőnek gyorsan és helyesen dönteni.”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14.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