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463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CDDAE5"/>
                </a:solidFill>
                <a:latin typeface="Aptos"/>
              </a:defRPr>
            </a:pPr>
            <a:r>
              <a:t>31. hét • Folyamatirányítás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621792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E69130"/>
                </a:solidFill>
                <a:latin typeface="Aptos"/>
              </a:defRPr>
            </a:pPr>
            <a:r>
              <a:t>IIoT ÉS IPAR 4.0</a:t>
            </a:r>
            <a:br/>
            <a:r>
              <a:t>ALAPJAI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6400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adat • hálózat • edge • felhő • intelligens gyár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508760"/>
            <a:ext cx="1600200" cy="1143000"/>
          </a:xfrm>
          <a:prstGeom prst="roundRect">
            <a:avLst/>
          </a:prstGeom>
          <a:solidFill>
            <a:srgbClr val="1C3449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874519"/>
            <a:ext cx="1417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SENSOR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1508760"/>
            <a:ext cx="1600200" cy="1143000"/>
          </a:xfrm>
          <a:prstGeom prst="roundRect">
            <a:avLst/>
          </a:prstGeom>
          <a:solidFill>
            <a:srgbClr val="1C3449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1874519"/>
            <a:ext cx="1417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369A0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108960"/>
            <a:ext cx="1600200" cy="1143000"/>
          </a:xfrm>
          <a:prstGeom prst="roundRect">
            <a:avLst/>
          </a:prstGeom>
          <a:solidFill>
            <a:srgbClr val="1C3449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3474720"/>
            <a:ext cx="1417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3108960"/>
            <a:ext cx="1600200" cy="1143000"/>
          </a:xfrm>
          <a:prstGeom prst="roundRect">
            <a:avLst/>
          </a:prstGeom>
          <a:solidFill>
            <a:srgbClr val="1C344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3474720"/>
            <a:ext cx="1417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Ipar 4.0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negyedik ipari forradalom kulcsa a digitalizáció, a hálózat és az intelligens adatfeldolgozás.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0632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1965960"/>
            <a:ext cx="914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369A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91840"/>
            <a:ext cx="26060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69A0"/>
                </a:solidFill>
                <a:latin typeface="Aptos"/>
              </a:defRPr>
            </a:pPr>
            <a:r>
              <a:t>DIGITALIZÁCIÓ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0632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1965960"/>
            <a:ext cx="914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36ACC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91840"/>
            <a:ext cx="26060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6ACC4"/>
                </a:solidFill>
                <a:latin typeface="Aptos"/>
              </a:defRPr>
            </a:pPr>
            <a:r>
              <a:t>HÁLÓZATBA</a:t>
            </a:r>
            <a:br/>
            <a:r>
              <a:t>KAPCSOLÁS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00200"/>
            <a:ext cx="30632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965960"/>
            <a:ext cx="914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E6913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291840"/>
            <a:ext cx="26060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69130"/>
                </a:solidFill>
                <a:latin typeface="Aptos"/>
              </a:defRPr>
            </a:pPr>
            <a:r>
              <a:t>INTELLIGENS</a:t>
            </a:r>
            <a:br/>
            <a:r>
              <a:t>ADATFELDOLGOZÁS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Az ipari forradalmak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fejlődés az Ipar 1.0-tól az adatvezérelt Ipar 4.0-ig vezet.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4231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057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02336"/>
                </a:solidFill>
                <a:latin typeface="Aptos"/>
              </a:defRPr>
            </a:pPr>
            <a:r>
              <a:t>IPAR 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2057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gépesítés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74320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37360"/>
            <a:ext cx="24231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057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2369A0"/>
                </a:solidFill>
                <a:latin typeface="Aptos"/>
              </a:defRPr>
            </a:pPr>
            <a:r>
              <a:t>IPAR 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337560"/>
            <a:ext cx="2057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tömegtermelés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74320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37360"/>
            <a:ext cx="24231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48840"/>
            <a:ext cx="2057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3D9169"/>
                </a:solidFill>
                <a:latin typeface="Aptos"/>
              </a:defRPr>
            </a:pPr>
            <a:r>
              <a:t>IPAR 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37560"/>
            <a:ext cx="2057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automatizálás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74320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737360"/>
            <a:ext cx="24231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148840"/>
            <a:ext cx="2057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E69130"/>
                </a:solidFill>
                <a:latin typeface="Aptos"/>
              </a:defRPr>
            </a:pPr>
            <a:r>
              <a:t>IPAR 4.0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337560"/>
            <a:ext cx="2057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digitalizáció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Mi az IIoT?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Ipari berendezések összekapcsolása valós idejű adatgyűjtés és elemzés céljából.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331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1874519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6ACC4"/>
                </a:solidFill>
                <a:latin typeface="Aptos"/>
              </a:defRPr>
            </a:pPr>
            <a:r>
              <a:t>SZENZOR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54480"/>
            <a:ext cx="2331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194560"/>
            <a:ext cx="1874519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369A0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2331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1874519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E69130"/>
                </a:solidFill>
                <a:latin typeface="Aptos"/>
              </a:defRPr>
            </a:pPr>
            <a:r>
              <a:t>ROBOT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554480"/>
            <a:ext cx="2331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2194560"/>
            <a:ext cx="1874519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D9169"/>
                </a:solidFill>
                <a:latin typeface="Aptos"/>
              </a:defRPr>
            </a:pPr>
            <a:r>
              <a:t>IPARI</a:t>
            </a:r>
            <a:br/>
            <a:r>
              <a:t>BERENDEZÉS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977639"/>
            <a:ext cx="5669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102336"/>
                </a:solidFill>
                <a:latin typeface="Aptos"/>
              </a:defRPr>
            </a:pPr>
            <a:r>
              <a:t>↓  VALÓS IDEJŰ ADATOK  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4572000"/>
            <a:ext cx="4663440" cy="777240"/>
          </a:xfrm>
          <a:prstGeom prst="roundRect">
            <a:avLst/>
          </a:prstGeom>
          <a:solidFill>
            <a:srgbClr val="102336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4773168"/>
            <a:ext cx="4206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GYŰJTÉS • ELEMZÉS • DÖNTÉS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IIoT rendszer felépítése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Az adat útja a fizikai folyamattól a kezelői dashboardig.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82880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2468880"/>
            <a:ext cx="1417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36ACC4"/>
                </a:solidFill>
                <a:latin typeface="Aptos"/>
              </a:defRPr>
            </a:pPr>
            <a:r>
              <a:t>SZENZOR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9928" y="260604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0552" y="182880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1992" y="2468880"/>
            <a:ext cx="1417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2369A0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60604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23944" y="182880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15384" y="2468880"/>
            <a:ext cx="1417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102336"/>
                </a:solidFill>
                <a:latin typeface="Aptos"/>
              </a:defRPr>
            </a:pPr>
            <a:r>
              <a:t>IPARI</a:t>
            </a:r>
            <a:br/>
            <a:r>
              <a:t>HÁLÓZAT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6712" y="260604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7336" y="182880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2468880"/>
            <a:ext cx="1417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E69130"/>
                </a:solidFill>
                <a:latin typeface="Aptos"/>
              </a:defRPr>
            </a:pPr>
            <a:r>
              <a:t>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260604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0728" y="182880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2468880"/>
            <a:ext cx="1417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3D9169"/>
                </a:solidFill>
                <a:latin typeface="Aptos"/>
              </a:defRPr>
            </a:pPr>
            <a:r>
              <a:t>FELHŐ /</a:t>
            </a:r>
            <a:br/>
            <a:r>
              <a:t>ADATBÁZIS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3496" y="260604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82880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2468880"/>
            <a:ext cx="1417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C44444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572000"/>
            <a:ext cx="3566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02336"/>
                </a:solidFill>
                <a:latin typeface="Aptos"/>
              </a:defRPr>
            </a:pPr>
            <a:r>
              <a:t>ADATÁRAMLÁS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Edge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gép közelében történő előfeldolgozás csökkenti a továbbítandó adatmennyiséget.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7432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103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2369A0"/>
                </a:solidFill>
                <a:latin typeface="Aptos"/>
              </a:defRPr>
            </a:pPr>
            <a:r>
              <a:t>GÉP / 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514600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417320"/>
            <a:ext cx="36576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2743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E69130"/>
                </a:solidFill>
                <a:latin typeface="Aptos"/>
              </a:defRPr>
            </a:pPr>
            <a:r>
              <a:t>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06040"/>
            <a:ext cx="28346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>
                <a:solidFill>
                  <a:srgbClr val="25323D"/>
                </a:solidFill>
                <a:latin typeface="Aptos"/>
              </a:defRPr>
            </a:pPr>
            <a:r>
              <a:t>helyi előfeldolgozás</a:t>
            </a:r>
            <a:br/>
            <a:r>
              <a:t>szűrés • összesítés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514600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645920"/>
            <a:ext cx="27432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331720"/>
            <a:ext cx="2103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3D9169"/>
                </a:solidFill>
                <a:latin typeface="Aptos"/>
              </a:defRPr>
            </a:pPr>
            <a:r>
              <a:t>FELHŐ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800600"/>
            <a:ext cx="8595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02336"/>
                </a:solidFill>
                <a:latin typeface="Aptos"/>
              </a:defRPr>
            </a:pPr>
            <a:r>
              <a:t>állapotadatok gyűjtése → helyi feldolgozás → továbbítás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Intelligens gyár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Az összegyűjtött adatokból működési előny lesz.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874519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369A0"/>
                </a:solidFill>
                <a:latin typeface="Aptos"/>
              </a:defRPr>
            </a:pPr>
            <a:r>
              <a:t>ADATVEZÉRELT</a:t>
            </a:r>
            <a:br/>
            <a:r>
              <a:t>TERMELÉS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514600"/>
            <a:ext cx="1874519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E69130"/>
                </a:solidFill>
                <a:latin typeface="Aptos"/>
              </a:defRPr>
            </a:pPr>
            <a:r>
              <a:t>PREDIKTÍV</a:t>
            </a:r>
            <a:br/>
            <a:r>
              <a:t>KARBANTARTÁS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1874519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D9169"/>
                </a:solidFill>
                <a:latin typeface="Aptos"/>
              </a:defRPr>
            </a:pPr>
            <a:r>
              <a:t>ENERGIA-</a:t>
            </a:r>
            <a:br/>
            <a:r>
              <a:t>HATÉKONYSÁG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59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59" y="2514600"/>
            <a:ext cx="1874519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6ACC4"/>
                </a:solidFill>
                <a:latin typeface="Aptos"/>
              </a:defRPr>
            </a:pPr>
            <a:r>
              <a:t>DIGITÁLIS</a:t>
            </a:r>
            <a:br/>
            <a:r>
              <a:t>IKER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5166360"/>
            <a:ext cx="8229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02336"/>
                </a:solidFill>
                <a:latin typeface="Aptos"/>
              </a:defRPr>
            </a:pPr>
            <a:r>
              <a:t>FOLYAMATOS MEGFIGYELÉS + OPTIMALIZÁLÁS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Gyakorlati kihívás: IIoT blokkvázlat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Rajzold meg az adat útját a szenzortól a dashboardig.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828800"/>
            <a:ext cx="1600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2450592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36ACC4"/>
                </a:solidFill>
                <a:latin typeface="Aptos"/>
              </a:defRPr>
            </a:pPr>
            <a:r>
              <a:t>SZENZOR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9928" y="2542032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0552" y="1828800"/>
            <a:ext cx="1600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1992" y="2450592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2369A0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542032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23944" y="1828800"/>
            <a:ext cx="1600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15384" y="2450592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102336"/>
                </a:solidFill>
                <a:latin typeface="Aptos"/>
              </a:defRPr>
            </a:pPr>
            <a:r>
              <a:t>HÁLÓZAT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6712" y="2542032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7336" y="1828800"/>
            <a:ext cx="1600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2450592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E69130"/>
                </a:solidFill>
                <a:latin typeface="Aptos"/>
              </a:defRPr>
            </a:pPr>
            <a:r>
              <a:t>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2542032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0728" y="1828800"/>
            <a:ext cx="1600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2450592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3D9169"/>
                </a:solidFill>
                <a:latin typeface="Aptos"/>
              </a:defRPr>
            </a:pPr>
            <a:r>
              <a:t>FELHŐ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3496" y="2542032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828800"/>
            <a:ext cx="1600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2450592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C44444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800600"/>
            <a:ext cx="92354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02336"/>
                </a:solidFill>
                <a:latin typeface="Aptos"/>
              </a:defRPr>
            </a:pPr>
            <a:r>
              <a:t>Jelöld az adatáramlás irányát és minden elem feladatát!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AZ ADATBÓL ÉRTÉKET KELL TEREMTENI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E69130"/>
                </a:solidFill>
                <a:latin typeface="Aptos"/>
              </a:defRPr>
            </a:pPr>
            <a:r>
              <a:t>mérés → adat → feldolgozás → következtetés → optimalizálás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„Az adat önmagában még nem tudás. Az adatból levont következtetés az, ami valódi értéket teremt.”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3840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IAP • Folyamatirányítás • 31.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