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94360"/>
            <a:ext cx="2011680" cy="384048"/>
          </a:xfrm>
          <a:prstGeom prst="roundRect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28. HÉT • 2 TANÓRA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360" y="594360"/>
            <a:ext cx="2834640" cy="384048"/>
          </a:xfrm>
          <a:prstGeom prst="round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360" y="694944"/>
            <a:ext cx="2834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ENERGIAGAZDÁLKODÁS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65836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 Display"/>
              </a:defRPr>
            </a:pPr>
            <a:r>
              <a:t>Villamosenergia-veszteségek</a:t>
            </a:r>
            <a:br/>
            <a:r>
              <a:t>és hatásfok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154680"/>
            <a:ext cx="5943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FEE"/>
                </a:solidFill>
                <a:latin typeface="Aptos"/>
              </a:defRPr>
            </a:pPr>
            <a:r>
              <a:t>η • I²R • transzformátor • motor</a:t>
            </a:r>
            <a:br/>
            <a:r>
              <a:t>• veszteségi energia • megtakarítás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828800"/>
            <a:ext cx="1554480" cy="914400"/>
          </a:xfrm>
          <a:prstGeom prst="roundRect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2139696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Pbe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052560" y="2286000"/>
            <a:ext cx="1005840" cy="0"/>
          </a:xfrm>
          <a:prstGeom prst="line">
            <a:avLst/>
          </a:prstGeom>
          <a:ln w="508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0058400" y="1828800"/>
            <a:ext cx="1554480" cy="914400"/>
          </a:xfrm>
          <a:prstGeom prst="round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0" y="2139696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Pki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555480" y="2286000"/>
            <a:ext cx="0" cy="1645920"/>
          </a:xfrm>
          <a:prstGeom prst="line">
            <a:avLst/>
          </a:prstGeom>
          <a:ln w="50800">
            <a:solidFill>
              <a:srgbClr val="E089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732520" y="3931920"/>
            <a:ext cx="1645920" cy="914400"/>
          </a:xfrm>
          <a:prstGeom prst="roundRect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32520" y="422452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Pvesz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6016752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29B7E8"/>
                </a:solidFill>
                <a:latin typeface="Aptos"/>
              </a:defRPr>
            </a:pPr>
            <a:r>
              <a:t>Energiagazdálkodás • 6/10. hét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Óraterv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Hol vész el az energia, és hogyan csökkenthető?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508760"/>
            <a:ext cx="73152" cy="4480560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91639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1. tanóra • Veszteségek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221991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hatásfok és Pvesz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97479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I²R vezetékveszteség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72968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transzformátorveszteségek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648456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motorveszteségek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123944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részterhelés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5087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508760"/>
            <a:ext cx="73152" cy="448056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3096" y="1691639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2. tanóra • Megtakarítás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2221991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veszteségi energia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697479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éves költség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172968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cos φ és áramcsökkentés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3648456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fordulatszám-szabályozás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4123944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üresjárat megszüntetése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Hatásfok és veszteség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bevitt energia nem teljes egészében válik hasznos teljesítménnyé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0175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103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25388"/>
                </a:solidFill>
                <a:latin typeface="Aptos"/>
              </a:defRPr>
            </a:pPr>
            <a:r>
              <a:t>BEVITT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346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25388"/>
                </a:solidFill>
                <a:latin typeface="Aptos"/>
              </a:defRPr>
            </a:pPr>
            <a:r>
              <a:t>22 kW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828800"/>
            <a:ext cx="30175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2103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08931"/>
                </a:solidFill>
                <a:latin typeface="Aptos"/>
              </a:defRPr>
            </a:pPr>
            <a:r>
              <a:t>VESZTESÉG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8346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08931"/>
                </a:solidFill>
                <a:latin typeface="Aptos"/>
              </a:defRPr>
            </a:pPr>
            <a:r>
              <a:t>2 kW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1828800"/>
            <a:ext cx="3017520" cy="2468880"/>
          </a:xfrm>
          <a:prstGeom prst="roundRect">
            <a:avLst/>
          </a:prstGeom>
          <a:solidFill>
            <a:srgbClr val="EBF8F1"/>
          </a:solidFill>
          <a:ln>
            <a:solidFill>
              <a:srgbClr val="288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2103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88B66"/>
                </a:solidFill>
                <a:latin typeface="Aptos"/>
              </a:defRPr>
            </a:pPr>
            <a:r>
              <a:t>HASZNOS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8346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88B66"/>
                </a:solidFill>
                <a:latin typeface="Aptos"/>
              </a:defRPr>
            </a:pPr>
            <a:r>
              <a:t>20 kW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54680" y="4800600"/>
            <a:ext cx="5852160" cy="594360"/>
          </a:xfrm>
          <a:prstGeom prst="roundRect">
            <a:avLst/>
          </a:prstGeom>
          <a:solidFill>
            <a:srgbClr val="E7F1F8"/>
          </a:solidFill>
          <a:ln>
            <a:solidFill>
              <a:srgbClr val="125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49834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>
                <a:solidFill>
                  <a:srgbClr val="125388"/>
                </a:solidFill>
                <a:latin typeface="Aptos"/>
              </a:defRPr>
            </a:pPr>
            <a:r>
              <a:t>η = Pki / Pbe = 20 / 22 ≈ 90,9%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I²R - az áram négyzete számít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Kis áramcsökkentés is jelentős veszteségcsökkenést adhat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828800"/>
            <a:ext cx="283464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88B66"/>
                </a:solidFill>
                <a:latin typeface="Aptos"/>
              </a:defRPr>
            </a:pPr>
            <a:r>
              <a:t>80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175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88B66"/>
                </a:solidFill>
                <a:latin typeface="Aptos"/>
              </a:defRPr>
            </a:pPr>
            <a:r>
              <a:t>512 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8862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667787"/>
                </a:solidFill>
                <a:latin typeface="Aptos"/>
              </a:defRPr>
            </a:pPr>
            <a:r>
              <a:t>R = 0,08 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828800"/>
            <a:ext cx="283464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21488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08931"/>
                </a:solidFill>
                <a:latin typeface="Aptos"/>
              </a:defRPr>
            </a:pPr>
            <a:r>
              <a:t>100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0175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08931"/>
                </a:solidFill>
                <a:latin typeface="Aptos"/>
              </a:defRPr>
            </a:pPr>
            <a:r>
              <a:t>800 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8862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667787"/>
                </a:solidFill>
                <a:latin typeface="Aptos"/>
              </a:defRPr>
            </a:pPr>
            <a:r>
              <a:t>R = 0,08 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1828800"/>
            <a:ext cx="283464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59" y="21488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BE433F"/>
                </a:solidFill>
                <a:latin typeface="Aptos"/>
              </a:defRPr>
            </a:pPr>
            <a:r>
              <a:t>120 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59" y="30175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BE433F"/>
                </a:solidFill>
                <a:latin typeface="Aptos"/>
              </a:defRPr>
            </a:pPr>
            <a:r>
              <a:t>1152 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59" y="38862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667787"/>
                </a:solidFill>
                <a:latin typeface="Aptos"/>
              </a:defRPr>
            </a:pPr>
            <a:r>
              <a:t>R = 0,08 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5212080"/>
            <a:ext cx="8503920" cy="502920"/>
          </a:xfrm>
          <a:prstGeom prst="roundRect">
            <a:avLst/>
          </a:prstGeom>
          <a:solidFill>
            <a:srgbClr val="E7F1F8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11680" y="5358384"/>
            <a:ext cx="8138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192C"/>
                </a:solidFill>
                <a:latin typeface="Aptos"/>
              </a:defRPr>
            </a:pPr>
            <a:r>
              <a:t>Pvesz = I² · R → 20% áramcsökkenés itt 36% veszteségcsökkenést eredményez.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Transzformátorveszteségek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Nem minden veszteség változik ugyanúgy a terheléssel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50292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00200"/>
            <a:ext cx="73152" cy="4297680"/>
          </a:xfrm>
          <a:prstGeom prst="rect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1783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VASVESZTESÉG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13432"/>
            <a:ext cx="4498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feszültség alatt állva jelentkezik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4498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hiszterézis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264408"/>
            <a:ext cx="4498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örvényáram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739896"/>
            <a:ext cx="4498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kis terhelésnél is megmarad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600200"/>
            <a:ext cx="50292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600200"/>
            <a:ext cx="73152" cy="4297680"/>
          </a:xfrm>
          <a:prstGeom prst="rect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47688" y="1783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RÉZVESZTESÉG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313432"/>
            <a:ext cx="4498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tekercsek ohmos vesztesége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788920"/>
            <a:ext cx="4498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I²R jellegű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264408"/>
            <a:ext cx="4498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terheléssel erősen nő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739896"/>
            <a:ext cx="4498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melegedést okoz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Motorveszteségek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villamos bemenettől a mechanikai tengelyteljesítményig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057400"/>
            <a:ext cx="19202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4688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9B7E8"/>
                </a:solidFill>
                <a:latin typeface="Aptos"/>
              </a:defRPr>
            </a:pPr>
            <a:r>
              <a:t>ÁLLÓRÉSZ</a:t>
            </a:r>
            <a:br/>
            <a:r>
              <a:t>RÉZ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31720" y="2788920"/>
            <a:ext cx="292608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43200" y="2057400"/>
            <a:ext cx="19202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24688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25388"/>
                </a:solidFill>
                <a:latin typeface="Aptos"/>
              </a:defRPr>
            </a:pPr>
            <a:r>
              <a:t>FORGÓRÉSZ</a:t>
            </a:r>
            <a:br/>
            <a:r>
              <a:t>VESZTESÉG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663440" y="2788920"/>
            <a:ext cx="292608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074920" y="2057400"/>
            <a:ext cx="19202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6359" y="24688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5B5C9B"/>
                </a:solidFill>
                <a:latin typeface="Aptos"/>
              </a:defRPr>
            </a:pPr>
            <a:r>
              <a:t>VAS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995160" y="2788920"/>
            <a:ext cx="292608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406640" y="2057400"/>
            <a:ext cx="19202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79" y="24688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E08931"/>
                </a:solidFill>
                <a:latin typeface="Aptos"/>
              </a:defRPr>
            </a:pPr>
            <a:r>
              <a:t>SÚRLÓDÁS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326880" y="2788920"/>
            <a:ext cx="292608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738359" y="2057400"/>
            <a:ext cx="19202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29799" y="24688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88B66"/>
                </a:solidFill>
                <a:latin typeface="Aptos"/>
              </a:defRPr>
            </a:pPr>
            <a:r>
              <a:t>VENTILÁCIÓ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28800" y="4434840"/>
            <a:ext cx="8503920" cy="685800"/>
          </a:xfrm>
          <a:prstGeom prst="roundRect">
            <a:avLst/>
          </a:prstGeom>
          <a:solidFill>
            <a:srgbClr val="E7F1F8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11680" y="4645152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06192C"/>
                </a:solidFill>
                <a:latin typeface="Aptos"/>
              </a:defRPr>
            </a:pPr>
            <a:r>
              <a:t>A motorhatásfokot mindig a tényleges működési pontban érdemes értékelni.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Veszteségi energia és költség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kis folyamatos veszteség éves szinten nagy értékké válhat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645920"/>
            <a:ext cx="301752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08931"/>
                </a:solidFill>
                <a:latin typeface="Aptos"/>
              </a:defRPr>
            </a:pPr>
            <a:r>
              <a:t>VESZTESÉG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517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08931"/>
                </a:solidFill>
                <a:latin typeface="Aptos"/>
              </a:defRPr>
            </a:pPr>
            <a:r>
              <a:t>2 kW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645920"/>
            <a:ext cx="301752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9202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25388"/>
                </a:solidFill>
                <a:latin typeface="Aptos"/>
              </a:defRPr>
            </a:pPr>
            <a:r>
              <a:t>ÜZEMIDŐ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6517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25388"/>
                </a:solidFill>
                <a:latin typeface="Aptos"/>
              </a:defRPr>
            </a:pPr>
            <a:r>
              <a:t>4000 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645920"/>
            <a:ext cx="3017520" cy="3291840"/>
          </a:xfrm>
          <a:prstGeom prst="roundRect">
            <a:avLst/>
          </a:prstGeom>
          <a:solidFill>
            <a:srgbClr val="EBF8F1"/>
          </a:solidFill>
          <a:ln>
            <a:solidFill>
              <a:srgbClr val="288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9202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88B66"/>
                </a:solidFill>
                <a:latin typeface="Aptos"/>
              </a:defRPr>
            </a:pPr>
            <a:r>
              <a:t>ÉVES VESZTESÉG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6517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88B66"/>
                </a:solidFill>
                <a:latin typeface="Aptos"/>
              </a:defRPr>
            </a:pPr>
            <a:r>
              <a:t>8000 kWh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530352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BE433F"/>
                </a:solidFill>
                <a:latin typeface="Aptos"/>
              </a:defRPr>
            </a:pPr>
            <a:r>
              <a:t>60 Ft/kWh példával → 480 000 Ft/év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Keresztmetszet és gazdaságosság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kisebb R energiát takaríthat meg - de a beruházás többe kerül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3383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00200"/>
            <a:ext cx="73152" cy="4297680"/>
          </a:xfrm>
          <a:prstGeom prst="rect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1783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KISEBB KÁBEL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13432"/>
            <a:ext cx="2852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olcsóbb beruházás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2852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nagyobb ellenállás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264408"/>
            <a:ext cx="2852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nagyobb veszteség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739896"/>
            <a:ext cx="2852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nagyobb feszültségesés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1600200"/>
            <a:ext cx="3383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1600200"/>
            <a:ext cx="73152" cy="429768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36008" y="1783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NAGYOBB KÁBEL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313432"/>
            <a:ext cx="2852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nagyobb beruházás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788920"/>
            <a:ext cx="2852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kisebb ellenállás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264408"/>
            <a:ext cx="2852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kisebb veszteség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739896"/>
            <a:ext cx="2852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jobb feszültségtartás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1600200"/>
            <a:ext cx="3383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0" y="1600200"/>
            <a:ext cx="73152" cy="4297680"/>
          </a:xfrm>
          <a:prstGeom prst="rect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3608" y="1783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GAZDASÁGI OPTIMUM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313432"/>
            <a:ext cx="2852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beruházási költség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788920"/>
            <a:ext cx="2852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éves energiaveszteség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264408"/>
            <a:ext cx="2852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üzemidő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739896"/>
            <a:ext cx="2852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élettartam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cos φ javítás → kisebb áram → kisebb veszteség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meddőkompenzálás energiagazdálkodási hatása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4846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202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BE433F"/>
                </a:solidFill>
                <a:latin typeface="Aptos"/>
              </a:defRPr>
            </a:pPr>
            <a:r>
              <a:t>KOMPENZÁLÁS ELŐTT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517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BE433F"/>
                </a:solidFill>
                <a:latin typeface="Aptos"/>
              </a:defRPr>
            </a:pPr>
            <a:r>
              <a:t>I = 190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47472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67787"/>
                </a:solidFill>
                <a:latin typeface="Aptos"/>
              </a:defRPr>
            </a:pPr>
            <a:r>
              <a:t>Pvesz ∝ 190²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645920"/>
            <a:ext cx="4846320" cy="3474720"/>
          </a:xfrm>
          <a:prstGeom prst="roundRect">
            <a:avLst/>
          </a:prstGeom>
          <a:solidFill>
            <a:srgbClr val="EBF8F1"/>
          </a:solidFill>
          <a:ln>
            <a:solidFill>
              <a:srgbClr val="288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19202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88B66"/>
                </a:solidFill>
                <a:latin typeface="Aptos"/>
              </a:defRPr>
            </a:pPr>
            <a:r>
              <a:t>KOMPENZÁLÁS UTÁN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26517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88B66"/>
                </a:solidFill>
                <a:latin typeface="Aptos"/>
              </a:defRPr>
            </a:pPr>
            <a:r>
              <a:t>I = 155 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347472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67787"/>
                </a:solidFill>
                <a:latin typeface="Aptos"/>
              </a:defRPr>
            </a:pPr>
            <a:r>
              <a:t>Pvesz ∝ 155²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0" y="3154680"/>
            <a:ext cx="1005840" cy="0"/>
          </a:xfrm>
          <a:prstGeom prst="line">
            <a:avLst/>
          </a:prstGeom>
          <a:ln w="38100">
            <a:solidFill>
              <a:srgbClr val="288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Üresjárat: a legegyszerűbb megtakarítás?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berendezés akkor is fogyaszthat, amikor nem termel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35204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08760"/>
            <a:ext cx="73152" cy="4389120"/>
          </a:xfrm>
          <a:prstGeom prst="rect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69163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TIPIKUS FOGYASZTÓK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21991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kompresszor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97479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elszívás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7296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szivattyú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48456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világítás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23944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HVAC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4256" y="1508760"/>
            <a:ext cx="35204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4256" y="1508760"/>
            <a:ext cx="73152" cy="4389120"/>
          </a:xfrm>
          <a:prstGeom prst="rect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81144" y="169163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FELTÉTEL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221991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nincs termelés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2697479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nincs igény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317296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műszak vége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08576" y="3648456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terület üres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28431" y="1508760"/>
            <a:ext cx="35204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28431" y="1508760"/>
            <a:ext cx="73152" cy="438912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19" y="169163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AUTOMATIZÁLÁS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2221991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időprogram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2" y="2697479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jelenlét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317296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PLC üzemállapot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3648456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nyomás / hőmérséklet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52" y="4123944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késleltetett leállás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Energiamegtakarítási sorrend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Előbb mérjünk és optimalizáljunk, utána beruházzunk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Oval 7"/>
          <p:cNvSpPr/>
          <p:nvPr/>
        </p:nvSpPr>
        <p:spPr>
          <a:xfrm>
            <a:off x="978407" y="1737360"/>
            <a:ext cx="594360" cy="594360"/>
          </a:xfrm>
          <a:prstGeom prst="ellipse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7" y="192024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2560320"/>
            <a:ext cx="1920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2926080"/>
            <a:ext cx="17007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80" b="1">
                <a:solidFill>
                  <a:srgbClr val="29B7E8"/>
                </a:solidFill>
                <a:latin typeface="Aptos"/>
              </a:defRPr>
            </a:pPr>
            <a:r>
              <a:t>MÉRÉS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40280" y="3273552"/>
            <a:ext cx="292608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310128" y="1737360"/>
            <a:ext cx="594360" cy="594360"/>
          </a:xfrm>
          <a:prstGeom prst="ellipse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0128" y="192024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2560320"/>
            <a:ext cx="1920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61488" y="2926080"/>
            <a:ext cx="17007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80" b="1">
                <a:solidFill>
                  <a:srgbClr val="288B66"/>
                </a:solidFill>
                <a:latin typeface="Aptos"/>
              </a:defRPr>
            </a:pPr>
            <a:r>
              <a:t>ÜRESJÁRAT</a:t>
            </a:r>
            <a:br/>
            <a:r>
              <a:t>MEGSZÜNTETÉSE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72000" y="3273552"/>
            <a:ext cx="292608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641847" y="1737360"/>
            <a:ext cx="594360" cy="594360"/>
          </a:xfrm>
          <a:prstGeom prst="ellipse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41847" y="192024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83479" y="2560320"/>
            <a:ext cx="1920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93207" y="2926080"/>
            <a:ext cx="17007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80" b="1">
                <a:solidFill>
                  <a:srgbClr val="125388"/>
                </a:solidFill>
                <a:latin typeface="Aptos"/>
              </a:defRPr>
            </a:pPr>
            <a:r>
              <a:t>KARBANTARTÁS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903719" y="3273552"/>
            <a:ext cx="292608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7973567" y="1737360"/>
            <a:ext cx="594360" cy="594360"/>
          </a:xfrm>
          <a:prstGeom prst="ellipse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3567" y="192024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199" y="2560320"/>
            <a:ext cx="1920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24927" y="2926080"/>
            <a:ext cx="17007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80" b="1">
                <a:solidFill>
                  <a:srgbClr val="5B5C9B"/>
                </a:solidFill>
                <a:latin typeface="Aptos"/>
              </a:defRPr>
            </a:pPr>
            <a:r>
              <a:t>SZABÁLYOZÁS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235440" y="3273552"/>
            <a:ext cx="292607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10305288" y="1737360"/>
            <a:ext cx="594360" cy="594360"/>
          </a:xfrm>
          <a:prstGeom prst="ellipse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05288" y="192024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46919" y="2560320"/>
            <a:ext cx="1920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56647" y="2926080"/>
            <a:ext cx="17007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80" b="1">
                <a:solidFill>
                  <a:srgbClr val="E08931"/>
                </a:solidFill>
                <a:latin typeface="Aptos"/>
              </a:defRPr>
            </a:pPr>
            <a:r>
              <a:t>BERUHÁZÁS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280160" y="4754880"/>
            <a:ext cx="9601200" cy="594360"/>
          </a:xfrm>
          <a:prstGeom prst="roundRect">
            <a:avLst/>
          </a:prstGeom>
          <a:solidFill>
            <a:srgbClr val="E7F1F8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63040" y="4937760"/>
            <a:ext cx="9235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06192C"/>
                </a:solidFill>
                <a:latin typeface="Aptos"/>
              </a:defRPr>
            </a:pPr>
            <a:r>
              <a:t>A megtakarítást mérési adatokkal kell igazolni.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Komplex példa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30 kW-os motor • 4000 üzemóra/év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35204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08760"/>
            <a:ext cx="73152" cy="4389120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69163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21991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Pbe = 20 kW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97479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Pki = 18 kW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7296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Pvesz = 2 kW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48456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η = 90%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4256" y="1508760"/>
            <a:ext cx="35204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34256" y="1508760"/>
            <a:ext cx="73152" cy="4389120"/>
          </a:xfrm>
          <a:prstGeom prst="rect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81144" y="169163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ÉVES HATÁS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2221991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4000 h/év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697479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8000 kWh veszteség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17296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költség számszerűsíthető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28431" y="1508760"/>
            <a:ext cx="35204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28431" y="1508760"/>
            <a:ext cx="73152" cy="438912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19" y="169163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KÉRDÉS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2221991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jó-e a méretezés?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2697479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részterhelés?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317296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szabályozható?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2" y="3648456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karbantartási hiba?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4123944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70" b="0">
                <a:solidFill>
                  <a:srgbClr val="233343"/>
                </a:solidFill>
                <a:latin typeface="Aptos"/>
              </a:defRPr>
            </a:pPr>
            <a:r>
              <a:t>• érdemes-e cserélni?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Összefoglalás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28. hét öt kulcsgondolata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371600"/>
            <a:ext cx="530352" cy="530352"/>
          </a:xfrm>
          <a:prstGeom prst="ellipse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36192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444752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20" b="1">
                <a:solidFill>
                  <a:srgbClr val="06192C"/>
                </a:solidFill>
                <a:latin typeface="Aptos"/>
              </a:defRPr>
            </a:pPr>
            <a:r>
              <a:t>Hatásfok: η = Pki / Pbe; veszteség: Pvesz = Pbe - Pki.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249424"/>
            <a:ext cx="530352" cy="530352"/>
          </a:xfrm>
          <a:prstGeom prst="ellipse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14016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322576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20" b="1">
                <a:solidFill>
                  <a:srgbClr val="06192C"/>
                </a:solidFill>
                <a:latin typeface="Aptos"/>
              </a:defRPr>
            </a:pPr>
            <a:r>
              <a:t>A vezetékveszteség I²R jellegű, ezért az áram csökkentése különösen hatásos.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127248"/>
            <a:ext cx="530352" cy="530352"/>
          </a:xfrm>
          <a:prstGeom prst="ellipse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291840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3200400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20" b="1">
                <a:solidFill>
                  <a:srgbClr val="06192C"/>
                </a:solidFill>
                <a:latin typeface="Aptos"/>
              </a:defRPr>
            </a:pPr>
            <a:r>
              <a:t>A transzformátor vas- és rézvesztesége eltérően függ a terheléstől.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4005072"/>
            <a:ext cx="530352" cy="530352"/>
          </a:xfrm>
          <a:prstGeom prst="ellipse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69663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4078224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20" b="1">
                <a:solidFill>
                  <a:srgbClr val="06192C"/>
                </a:solidFill>
                <a:latin typeface="Aptos"/>
              </a:defRPr>
            </a:pPr>
            <a:r>
              <a:t>A motor és a teljes hajtásrendszer tényleges működési pontját kell vizsgálni.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882896"/>
            <a:ext cx="530352" cy="530352"/>
          </a:xfrm>
          <a:prstGeom prst="ellipse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047488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4956048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20" b="1">
                <a:solidFill>
                  <a:srgbClr val="06192C"/>
                </a:solidFill>
                <a:latin typeface="Aptos"/>
              </a:defRPr>
            </a:pPr>
            <a:r>
              <a:t>Mérés → felesleges üzem megszüntetése → optimalizálás → indokolt beruházás.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806440"/>
            <a:ext cx="10515600" cy="438912"/>
          </a:xfrm>
          <a:prstGeom prst="roundRect">
            <a:avLst/>
          </a:prstGeom>
          <a:solidFill>
            <a:srgbClr val="E7F1F8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934456"/>
            <a:ext cx="10149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25388"/>
                </a:solidFill>
                <a:latin typeface="Aptos"/>
              </a:defRPr>
            </a:pPr>
            <a:r>
              <a:t>29. hét → Villamosenergia-költségek és fogyasztási költségelemzés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