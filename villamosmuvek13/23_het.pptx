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23.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971800" cy="384048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971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ÚJ ANYAGRÉSZ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6492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Energiagazdálkodás</a:t>
            </a:r>
            <a:br/>
            <a:r>
              <a:t>alapjai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0">
                <a:solidFill>
                  <a:srgbClr val="CADFEE"/>
                </a:solidFill>
                <a:latin typeface="Aptos"/>
              </a:defRPr>
            </a:pPr>
            <a:r>
              <a:t>energia • teljesítmény • fogyasztás</a:t>
            </a:r>
            <a:br/>
            <a:r>
              <a:t>• hatásfok • veszteség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63040"/>
            <a:ext cx="3566160" cy="3383280"/>
          </a:xfrm>
          <a:prstGeom prst="roundRect">
            <a:avLst/>
          </a:prstGeom>
          <a:solidFill>
            <a:srgbClr val="0E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21040" y="1874519"/>
            <a:ext cx="201168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9326880" y="2423160"/>
            <a:ext cx="594360" cy="45720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58200" y="329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192C"/>
                </a:solidFill>
                <a:latin typeface="Aptos"/>
              </a:defRPr>
            </a:pPr>
            <a:r>
              <a:t>kWh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251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MÉRNI → ÉRTENI → JAVÍTANI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Energiagazdálkodás • 1/10.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energiafogalomtól a fogyasztás értékeléséig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10" b="1">
                <a:solidFill>
                  <a:srgbClr val="06192C"/>
                </a:solidFill>
                <a:latin typeface="Aptos"/>
              </a:defRPr>
            </a:pPr>
            <a:r>
              <a:t>1. tanóra • Alapfogalmak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energia és teljesítmény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E = P ·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kW és 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hatásfok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veszteségi teljesítmény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10" b="1">
                <a:solidFill>
                  <a:srgbClr val="06192C"/>
                </a:solidFill>
                <a:latin typeface="Aptos"/>
              </a:defRPr>
            </a:pPr>
            <a:r>
              <a:t>2. tanóra • Gyakorlat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fogyasztásszámítás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üzemidő hatása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fajlagos energia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költségszemlélet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megtakarítási lehetőségek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Mi az energiagazdálkodás?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Nem egyszerűen kevesebb fogyasztás - tudatos energiafelhasználás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10" b="1">
                <a:solidFill>
                  <a:srgbClr val="06192C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mennyi energiát használunk?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mikor jelentkezik a fogyasztás?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melyik berendezés okozza?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10" b="1">
                <a:solidFill>
                  <a:srgbClr val="06192C"/>
                </a:solidFill>
                <a:latin typeface="Aptos"/>
              </a:defRPr>
            </a:pPr>
            <a:r>
              <a:t>ELEMZÉS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hol van veszteség?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mi az indokolt igény?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mi változik az időben?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10" b="1">
                <a:solidFill>
                  <a:srgbClr val="06192C"/>
                </a:solidFill>
                <a:latin typeface="Aptos"/>
              </a:defRPr>
            </a:pPr>
            <a:r>
              <a:t>BEAVATKOZÁS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üzemidő optimalizálása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hatékonyabb technológia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eredmény visszamérése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Teljesítmény ≠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egyik a pillanatnyi igény, a másik az időben felhasznált mennyiség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983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5388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4526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25388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W • kW •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787"/>
                </a:solidFill>
                <a:latin typeface="Aptos"/>
              </a:defRPr>
            </a:pPr>
            <a:r>
              <a:t>Milyen gyors az energiaátadás?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645920"/>
            <a:ext cx="4983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526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8B66"/>
                </a:solidFill>
                <a:latin typeface="Aptos"/>
              </a:defRPr>
            </a:pPr>
            <a:r>
              <a:t>ENERGIA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06040"/>
            <a:ext cx="4526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88B66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47472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Wh • kWh • MWh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1480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787"/>
                </a:solidFill>
                <a:latin typeface="Aptos"/>
              </a:defRPr>
            </a:pPr>
            <a:r>
              <a:t>Mennyi fogyott egy időtartam alatt?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Az alapösszefüggés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Állandó teljesítménynél az energia a teljesítmény és az idő szorzata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6309360" cy="132588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96596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5388"/>
                </a:solidFill>
                <a:latin typeface="Aptos"/>
              </a:defRPr>
            </a:pPr>
            <a:r>
              <a:t>E = P · 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3657600"/>
            <a:ext cx="2651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39" y="39684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9B7E8"/>
                </a:solidFill>
                <a:latin typeface="Aptos"/>
              </a:defRPr>
            </a:pPr>
            <a:r>
              <a:t>P = 5 kW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77639" y="4160520"/>
            <a:ext cx="68580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00600" y="3657600"/>
            <a:ext cx="2651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9684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8931"/>
                </a:solidFill>
                <a:latin typeface="Aptos"/>
              </a:defRPr>
            </a:pPr>
            <a:r>
              <a:t>t = 4 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52360" y="4160520"/>
            <a:ext cx="68580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75319" y="3657600"/>
            <a:ext cx="2651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9684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8B66"/>
                </a:solidFill>
                <a:latin typeface="Aptos"/>
              </a:defRPr>
            </a:pPr>
            <a:r>
              <a:t>E = 20 kWh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Hatásfok és veszteség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bevitt teljesítmény nem teljes egészében hasznosul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2377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5388"/>
                </a:solidFill>
                <a:latin typeface="Aptos"/>
              </a:defRPr>
            </a:pPr>
            <a:r>
              <a:t>Pbe = 11 kW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560320"/>
            <a:ext cx="868680" cy="0"/>
          </a:xfrm>
          <a:prstGeom prst="line">
            <a:avLst/>
          </a:prstGeom>
          <a:ln w="381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23360" y="1691640"/>
            <a:ext cx="3291840" cy="173736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192C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487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8B66"/>
                </a:solidFill>
                <a:latin typeface="Aptos"/>
              </a:defRPr>
            </a:pPr>
            <a:r>
              <a:t>η = 90%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2560320"/>
            <a:ext cx="868679" cy="0"/>
          </a:xfrm>
          <a:prstGeom prst="line">
            <a:avLst/>
          </a:prstGeom>
          <a:ln w="381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196596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8B66"/>
                </a:solidFill>
                <a:latin typeface="Aptos"/>
              </a:defRPr>
            </a:pPr>
            <a:r>
              <a:t>Pki = 9,9 kW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0" y="3429000"/>
            <a:ext cx="0" cy="82296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3400" y="4343400"/>
            <a:ext cx="2651760" cy="822960"/>
          </a:xfrm>
          <a:prstGeom prst="roundRect">
            <a:avLst/>
          </a:prstGeom>
          <a:solidFill>
            <a:srgbClr val="FFEFEE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599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E433F"/>
                </a:solidFill>
                <a:latin typeface="Aptos"/>
              </a:defRPr>
            </a:pPr>
            <a:r>
              <a:t>Pvesz = 1,1 kW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Az üzemidő ára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Kis teljesítményveszteség hosszú idő alatt nagy energiává válik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2971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0,5 kW veszteség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2240280"/>
            <a:ext cx="82296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09160" y="1645920"/>
            <a:ext cx="2971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0116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8931"/>
                </a:solidFill>
                <a:latin typeface="Aptos"/>
              </a:defRPr>
            </a:pPr>
            <a:r>
              <a:t>16 h/nap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26679" y="2240280"/>
            <a:ext cx="82296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41080" y="1645920"/>
            <a:ext cx="2697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5388"/>
                </a:solidFill>
                <a:latin typeface="Aptos"/>
              </a:defRPr>
            </a:pPr>
            <a:r>
              <a:t>250 nap/év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3886200"/>
            <a:ext cx="6400800" cy="105156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206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88B66"/>
                </a:solidFill>
                <a:latin typeface="Aptos"/>
              </a:defRPr>
            </a:pPr>
            <a:r>
              <a:t>Eves veszteség = 2000 kWh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Fajlagos energiafogyasztás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termelés nagyságához viszonyított energia sokszor jobb mutató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4389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MŰSZAK FOGYASZTÁSA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60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5388"/>
                </a:solidFill>
                <a:latin typeface="Aptos"/>
              </a:defRPr>
            </a:pPr>
            <a:r>
              <a:t>480 kWh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691640"/>
            <a:ext cx="4389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965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TERMELÉS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560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288B66"/>
                </a:solidFill>
                <a:latin typeface="Aptos"/>
              </a:defRPr>
            </a:pPr>
            <a:r>
              <a:t>1200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4160520"/>
            <a:ext cx="5897880" cy="91440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43484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5388"/>
                </a:solidFill>
                <a:latin typeface="Aptos"/>
              </a:defRPr>
            </a:pPr>
            <a:r>
              <a:t>480 / 1200 = 0,40 kWh/db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Hol lehet energiát megtakarítani?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Először a veszteséget és a felesleges üzemet keressük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10" b="1">
                <a:solidFill>
                  <a:srgbClr val="06192C"/>
                </a:solidFill>
                <a:latin typeface="Aptos"/>
              </a:defRPr>
            </a:pPr>
            <a:r>
              <a:t>ÜZEMIDŐ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üresjárat csökkentése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szükségtelen fogyasztók leállítása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üzemrend optimalizálása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10" b="1">
                <a:solidFill>
                  <a:srgbClr val="06192C"/>
                </a:solidFill>
                <a:latin typeface="Aptos"/>
              </a:defRPr>
            </a:pPr>
            <a:r>
              <a:t>HATÉKONYSÁG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jobb motor / hajtás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veszteségek csökkentése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megfelelő méretezés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10" b="1">
                <a:solidFill>
                  <a:srgbClr val="06192C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fogyasztásmérők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hálózati analizátor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PLC / SCADA adatgyűjtés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Energiagazdálkodási ciklus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megtakarítást vissza is kell mérni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828800"/>
            <a:ext cx="566928" cy="566928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1089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MÉRÉS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3364992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743200" y="1828800"/>
            <a:ext cx="566928" cy="566928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1089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ELEMZÉS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7720" y="3364992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74920" y="1828800"/>
            <a:ext cx="566928" cy="566928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31089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ELTÉRÉS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49440" y="3364992"/>
            <a:ext cx="320039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406640" y="1828800"/>
            <a:ext cx="566928" cy="56692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1089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BEAVATKOZÁS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81159" y="3364992"/>
            <a:ext cx="32004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738359" y="1828800"/>
            <a:ext cx="566928" cy="566928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59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19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59" y="31089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VISSZAMÉRÉS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4892040"/>
            <a:ext cx="10058400" cy="50292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038344"/>
            <a:ext cx="9692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Mérési adat nélkül a megtakarítás sokszor csak feltételezés.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Energiaadatok az automatizálásban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fogyasztás ugyanúgy folyamatadat, mint a nyomás vagy a hőmérséklet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29B7E8"/>
                </a:solidFill>
                <a:latin typeface="Aptos"/>
              </a:defRPr>
            </a:pPr>
            <a:r>
              <a:t>MÉRŐ /</a:t>
            </a:r>
            <a:br/>
            <a:r>
              <a:t>ANALIZÁTOR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125388"/>
                </a:solidFill>
                <a:latin typeface="Aptos"/>
              </a:defRPr>
            </a:pPr>
            <a:r>
              <a:t>PLC / IED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E08931"/>
                </a:solidFill>
                <a:latin typeface="Aptos"/>
              </a:defRPr>
            </a:pPr>
            <a:r>
              <a:t>HMI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5B5C9B"/>
                </a:solidFill>
                <a:latin typeface="Aptos"/>
              </a:defRPr>
            </a:pPr>
            <a:r>
              <a:t>SCADA /</a:t>
            </a:r>
            <a:br/>
            <a:r>
              <a:t>ADATBÁZIS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2852928"/>
            <a:ext cx="33832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55480" y="2240280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2578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288B66"/>
                </a:solidFill>
                <a:latin typeface="Aptos"/>
              </a:defRPr>
            </a:pPr>
            <a:r>
              <a:t>ELEMZÉS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06192C"/>
                </a:solidFill>
                <a:latin typeface="Aptos"/>
              </a:defRPr>
            </a:pPr>
            <a:r>
              <a:t>Cél: ne csak az összfogyasztást lássuk, hanem azt is, melyik gép, mikor és milyen üzemállapotban fogyasztott.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Gyakorlati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Egy gép éves energiaigénye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246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38912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10" b="1">
                <a:solidFill>
                  <a:srgbClr val="06192C"/>
                </a:solidFill>
                <a:latin typeface="Aptos"/>
              </a:defRPr>
            </a:pPr>
            <a:r>
              <a:t>ADATOK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névleges P = 7,5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átlagos terhelés = 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üzemidő = 6 h/nap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3343"/>
                </a:solidFill>
                <a:latin typeface="Aptos"/>
              </a:defRPr>
            </a:pPr>
            <a:r>
              <a:t>• 220 nap/év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154680" cy="105156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14884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5388"/>
                </a:solidFill>
                <a:latin typeface="Aptos"/>
              </a:defRPr>
            </a:pPr>
            <a:r>
              <a:t>Pátlag = 6 kW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03320"/>
            <a:ext cx="3154680" cy="105156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0233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5388"/>
                </a:solidFill>
                <a:latin typeface="Aptos"/>
              </a:defRPr>
            </a:pPr>
            <a:r>
              <a:t>E = P · 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514600"/>
            <a:ext cx="3429000" cy="155448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8346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ÉVES FOGYASZTÁS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3375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88B66"/>
                </a:solidFill>
                <a:latin typeface="Aptos"/>
              </a:defRPr>
            </a:pPr>
            <a:r>
              <a:t>7920 kWh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energiagazdálkodás első öt alapgondolata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 teljesítmény pillanatnyi igény, az energia időben felhasznált mennyiség.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Állandó teljesítménynél E = P · 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 hatásfok megmutatja, a bevitt energia mekkora része hasznosul.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 veszteség és a felesleges üzemidő hosszú távon jelentős fogyasztást okozhat.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Az energiagazdálkodás alapja: mérés → elemzés → beavatkozás → visszamérés.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24. hét → Villamosenergia-fogyasztás és terhelési görbék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