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36.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VILLAMOS VÉDELMEK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6675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Digitális relék,</a:t>
            </a:r>
            <a:br/>
            <a:r>
              <a:t>szelektivitás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2044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0">
                <a:solidFill>
                  <a:srgbClr val="CADFEE"/>
                </a:solidFill>
                <a:latin typeface="Aptos"/>
              </a:defRPr>
            </a:pPr>
            <a:r>
              <a:t>eseménynapló • zavaríró • logika • kommunikáció</a:t>
            </a:r>
            <a:br/>
            <a:r>
              <a:t>• megszakítóhiba • komplex üzemzavar-elemzés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286000"/>
            <a:ext cx="914400" cy="822960"/>
          </a:xfrm>
          <a:prstGeom prst="round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MÉRÉS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0" y="269748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2286000"/>
            <a:ext cx="914400" cy="822960"/>
          </a:xfrm>
          <a:prstGeom prst="round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RELÉ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72600" y="269748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0" y="2286000"/>
            <a:ext cx="914400" cy="822960"/>
          </a:xfrm>
          <a:prstGeom prst="round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TRIP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0" y="269748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744200" y="2286000"/>
            <a:ext cx="914400" cy="822960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0167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védelmek • 4/4. hét • TÉMAZÁRÁS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Digitális relék és komplex védelmi gyakorlat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73152" cy="43891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1. tanóra • Digitális relé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jelút és A/D feldolgozás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védelmi algoritmusok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821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programozható logika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393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eseménynapló és zavaríró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965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kommunikáció / öndiagnosztika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55448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2. tanóra • Szelektivitás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677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idő- és áramszelektivitás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249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zónaszelektivitás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821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logikai koordináció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393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megszakítóhiba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0965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komplex eseményelemzés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digitális relé jelútja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primer mennyiségtől a megszakító kioldásáig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194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TA / TV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9077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7752" y="2194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A/D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9077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46904" y="2194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ALGORITMUS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9077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6" y="2194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LOGIKA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72016" y="29077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65208" y="21945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TRIP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572000"/>
            <a:ext cx="832104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475488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Mérés → számítás → döntés → beavatkozás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Egy relé - sok funkció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numerikus relé több védelmi és felügyeleti feladatot egyesíthet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E433F"/>
                </a:solidFill>
                <a:latin typeface="Aptos"/>
              </a:defRPr>
            </a:pPr>
            <a:r>
              <a:t>I&gt; / I&gt;&gt;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5C9B"/>
                </a:solidFill>
                <a:latin typeface="Aptos"/>
              </a:defRPr>
            </a:pPr>
            <a:r>
              <a:t>3I₀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DIFF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B7E8"/>
                </a:solidFill>
                <a:latin typeface="Aptos"/>
              </a:defRPr>
            </a:pPr>
            <a:r>
              <a:t>U / 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P / 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5388"/>
                </a:solidFill>
                <a:latin typeface="Aptos"/>
              </a:defRPr>
            </a:pPr>
            <a:r>
              <a:t>I₂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Eseménynapló és zavaríró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Nemcsak kioldunk - rekonstruáljuk is az eseményt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ESEMÉNYNAPLÓ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677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időbélyeg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249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védelmi indulás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821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digitális bemenetek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megszakítóállapot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5544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73152" cy="448056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ZAVARÍRÓ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677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Iabc / Uabc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249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3I₀ / Idiff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821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P / Q / 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393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hiba előtti minták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9651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hiba utáni minták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szelektivitás eszközei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hibás rész váljon le - a lehető legkisebb kieséssel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IDŐ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06192C"/>
                </a:solidFill>
                <a:latin typeface="Aptos"/>
              </a:defRPr>
            </a:pPr>
            <a:r>
              <a:t>lépcsőzött késleltetés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3736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8931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718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06192C"/>
                </a:solidFill>
                <a:latin typeface="Aptos"/>
              </a:defRPr>
            </a:pPr>
            <a:r>
              <a:t>különböző küszöb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3736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B5C9B"/>
                </a:solidFill>
                <a:latin typeface="Aptos"/>
              </a:defRPr>
            </a:pPr>
            <a:r>
              <a:t>ZÓNA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718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06192C"/>
                </a:solidFill>
                <a:latin typeface="Aptos"/>
              </a:defRPr>
            </a:pPr>
            <a:r>
              <a:t>mérési határok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737360"/>
            <a:ext cx="2468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LOGIKA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9718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06192C"/>
                </a:solidFill>
                <a:latin typeface="Aptos"/>
              </a:defRPr>
            </a:pPr>
            <a:r>
              <a:t>blokkolás / engedély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Időszelektivitás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hibahelyhez közelebbi védelem működik előbb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E433F"/>
                </a:solidFill>
                <a:latin typeface="Aptos"/>
              </a:defRPr>
            </a:pPr>
            <a:r>
              <a:t>Q0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42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0,90 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468880"/>
            <a:ext cx="960120" cy="0"/>
          </a:xfrm>
          <a:prstGeom prst="line">
            <a:avLst/>
          </a:prstGeom>
          <a:ln w="381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182880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42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0,55 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2468880"/>
            <a:ext cx="960120" cy="0"/>
          </a:xfrm>
          <a:prstGeom prst="line">
            <a:avLst/>
          </a:prstGeom>
          <a:ln w="381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63840" y="182880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084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420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0,25 s</a:t>
            </a:r>
          </a:p>
        </p:txBody>
      </p:sp>
      <p:sp>
        <p:nvSpPr>
          <p:cNvPr id="19" name="Lightning Bolt 18"/>
          <p:cNvSpPr/>
          <p:nvPr/>
        </p:nvSpPr>
        <p:spPr>
          <a:xfrm>
            <a:off x="10332720" y="3749039"/>
            <a:ext cx="640080" cy="1097280"/>
          </a:xfrm>
          <a:prstGeom prst="lightningBol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E433F"/>
                </a:solidFill>
                <a:latin typeface="Aptos"/>
              </a:defRPr>
            </a:pPr>
            <a:r>
              <a:t>HIBA A Q2 UTÁN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Megszakítóhiba-védelem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Ha a TRIP után a hibaáram fennmarad, tartalék beavatkozás szükséges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6974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BE433F"/>
                </a:solidFill>
                <a:latin typeface="Aptos"/>
              </a:defRPr>
            </a:pPr>
            <a:r>
              <a:t>HIBA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9077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7752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26974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08931"/>
                </a:solidFill>
                <a:latin typeface="Aptos"/>
              </a:defRPr>
            </a:pPr>
            <a:r>
              <a:t>R2 TRIP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9077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46904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26974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BE433F"/>
                </a:solidFill>
                <a:latin typeface="Aptos"/>
              </a:defRPr>
            </a:pPr>
            <a:r>
              <a:t>Q2 NEM NYIT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9077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6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26974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B5C9B"/>
                </a:solidFill>
                <a:latin typeface="Aptos"/>
              </a:defRPr>
            </a:pPr>
            <a:r>
              <a:t>BF IDŐ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72016" y="29077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65208" y="2148840"/>
            <a:ext cx="1965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26974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88B66"/>
                </a:solidFill>
                <a:latin typeface="Aptos"/>
              </a:defRPr>
            </a:pPr>
            <a:r>
              <a:t>Q1 / Q0 TRIP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617720"/>
            <a:ext cx="8503920" cy="594360"/>
          </a:xfrm>
          <a:prstGeom prst="roundRect">
            <a:avLst/>
          </a:prstGeom>
          <a:solidFill>
            <a:srgbClr val="FCEF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80060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BE433F"/>
                </a:solidFill>
                <a:latin typeface="Aptos"/>
              </a:defRPr>
            </a:pPr>
            <a:r>
              <a:t>Nagyobb kiesés, de a tartós zárlat megszüntetése elsődleges.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Időszinkron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események helyes sorrendjéhez közös időalap kell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12:15:04.180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8931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34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12:15:04.065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200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B5C9B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34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192C"/>
                </a:solidFill>
                <a:latin typeface="Aptos"/>
              </a:defRPr>
            </a:pPr>
            <a:r>
              <a:t>12:15:04.240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617720"/>
            <a:ext cx="850392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480060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BE433F"/>
                </a:solidFill>
                <a:latin typeface="Aptos"/>
              </a:defRPr>
            </a:pPr>
            <a:r>
              <a:t>Rossz órabeállítás → téves eseménysorrend → hibás következtetés.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Védelmi dokumentáció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beállításnak visszakövethetőnek és ellenőrizhetőnek kell lennie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9B7E8"/>
                </a:solidFill>
                <a:latin typeface="Aptos"/>
              </a:defRPr>
            </a:pPr>
            <a:r>
              <a:t>HÁLÓZATI ADAT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125388"/>
                </a:solidFill>
                <a:latin typeface="Aptos"/>
              </a:defRPr>
            </a:pPr>
            <a:r>
              <a:t>CT / VT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5B5C9B"/>
                </a:solidFill>
                <a:latin typeface="Aptos"/>
              </a:defRPr>
            </a:pPr>
            <a:r>
              <a:t>FUNKCIÓK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E08931"/>
                </a:solidFill>
                <a:latin typeface="Aptos"/>
              </a:defRPr>
            </a:pPr>
            <a:r>
              <a:t>BEÁLLÍTÁSOK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BE433F"/>
                </a:solidFill>
                <a:latin typeface="Aptos"/>
              </a:defRPr>
            </a:pPr>
            <a:r>
              <a:t>TRIP MÁTRIX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9" b="1">
                <a:solidFill>
                  <a:srgbClr val="288B66"/>
                </a:solidFill>
                <a:latin typeface="Aptos"/>
              </a:defRPr>
            </a:pPr>
            <a:r>
              <a:t>PRÓBAJEGYZŐKÖNYV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Villamos védelmek 4 hete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8 tanóra tömörített szakmai rendszerben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5146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965960"/>
            <a:ext cx="777240" cy="77724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2199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ALAPOK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relé • Q • zóna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91640"/>
            <a:ext cx="25146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51960" y="1965960"/>
            <a:ext cx="777240" cy="77724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22199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63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TÚLÁRAM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862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I&gt; • I&gt;&gt; • 3I₀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91640"/>
            <a:ext cx="25146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0" y="1965960"/>
            <a:ext cx="777240" cy="77724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22199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63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GÉPVÉDELEM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862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diff • motor • generátor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691640"/>
            <a:ext cx="25146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12680" y="1965960"/>
            <a:ext cx="777240" cy="77724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222199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063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8862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logika • esemény • BF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Komplex védelmi gondolkodás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hibaelhárítás nem ér véget a megszakító nyitásával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10312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29B7E8"/>
                </a:solidFill>
                <a:latin typeface="Aptos"/>
              </a:defRPr>
            </a:pPr>
            <a:r>
              <a:t>ÉRZÉKELÉS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88036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7752" y="210312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5B5C9B"/>
                </a:solidFill>
                <a:latin typeface="Aptos"/>
              </a:defRPr>
            </a:pPr>
            <a:r>
              <a:t>DÖNTÉS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88036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46904" y="210312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BE433F"/>
                </a:solidFill>
                <a:latin typeface="Aptos"/>
              </a:defRPr>
            </a:pPr>
            <a:r>
              <a:t>KIOLDÁS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88036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6" y="210312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E08931"/>
                </a:solidFill>
                <a:latin typeface="Aptos"/>
              </a:defRPr>
            </a:pPr>
            <a:r>
              <a:t>RÖGZÍTÉS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72016" y="288036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65208" y="2103120"/>
            <a:ext cx="1965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288B66"/>
                </a:solidFill>
                <a:latin typeface="Aptos"/>
              </a:defRPr>
            </a:pPr>
            <a:r>
              <a:t>ELEMZÉS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617720"/>
            <a:ext cx="850392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80060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70" b="1">
                <a:solidFill>
                  <a:srgbClr val="06192C"/>
                </a:solidFill>
                <a:latin typeface="Aptos"/>
              </a:defRPr>
            </a:pPr>
            <a:r>
              <a:t>A jó védelem gyors, szelektív, megbízható és visszaellenőrizhető.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Témakör lezárása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Villamos védelmek • 4/4. hét • 8 tanóra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A digitális relé mér, számol, dönt, naplóz és kommunikál.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A szelektivitás csökkenti a hiba miatti hálózatkiesést.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A megszakítóhiba-védelem a sikertelen elsődleges lekapcsolást kezeli.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Az eseménynapló és zavaríró alapvető az üzemzavar elemzéséhez.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Mérés + relé + logika + megszakító + tartalék = védelmi rendszer.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8B66"/>
                </a:solidFill>
                <a:latin typeface="Aptos"/>
              </a:defRPr>
            </a:pPr>
            <a:r>
              <a:t>VILLAMOS VÉDELMEK • TÉMAKÖR LEZÁRVA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