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DejaVu Sans"/>
              </a:defRPr>
            </a:pPr>
            <a:r>
              <a:t>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FE4F5"/>
                </a:solidFill>
                <a:latin typeface="DejaVu Sans"/>
              </a:defRPr>
            </a:pPr>
            <a:r>
              <a:t>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Nagyfeszültségű kapcsolóberendezések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FE4F5"/>
                </a:solidFill>
                <a:latin typeface="DejaVu Sans"/>
              </a:defRPr>
            </a:pPr>
            <a:r>
              <a:t>megszakító • szakaszoló • gyűjtősín • mérőváltó • védelem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Az alállomás mint csomópont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Kapcsolás, átalakítás, mérés és védelem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Feszültségszint-változtatás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Energia elosztása több irányba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Hálózatrészek be- és kikapcsolása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Mérés és védelmi jelek előállítása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Üzemirányítás és biztonságos leválasztás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3108960" cy="1097280"/>
          </a:xfrm>
          <a:prstGeom prst="roundRect">
            <a:avLst/>
          </a:prstGeom>
          <a:solidFill>
            <a:srgbClr val="173A5E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ALÁLLOMÁS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7.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Megszakító és szakaszoló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Két készülék - két eltérő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297680" cy="137160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MEGSZAKÍTÓ</a:t>
            </a:r>
            <a:br/>
            <a:r>
              <a:t>terhelési + zárlati áram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28800"/>
            <a:ext cx="4297680" cy="1371600"/>
          </a:xfrm>
          <a:prstGeom prst="roundRect">
            <a:avLst/>
          </a:prstGeom>
          <a:solidFill>
            <a:srgbClr val="E97816"/>
          </a:solidFill>
          <a:ln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SZAKASZOLÓ</a:t>
            </a:r>
            <a:br/>
            <a:r>
              <a:t>látható leválasztás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3A5E"/>
                </a:solidFill>
                <a:latin typeface="DejaVu Sans"/>
              </a:defRPr>
            </a:pPr>
            <a:r>
              <a:t>Először megszakító NYIT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3A5E"/>
                </a:solidFill>
                <a:latin typeface="DejaVu Sans"/>
              </a:defRPr>
            </a:pPr>
            <a:r>
              <a:t>utána szakaszoló NYIT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7395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7.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Egy tipikus nagyfeszültségű mező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funkciók sorrendje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21945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Vezeték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19" y="2651760"/>
            <a:ext cx="274321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20240" y="21945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Szakaszoló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651760"/>
            <a:ext cx="41148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21945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Áramváltó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83480" y="2651760"/>
            <a:ext cx="41148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60" y="21945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Megszakító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0840" y="2651760"/>
            <a:ext cx="50292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21945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Szakaszoló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2651760"/>
            <a:ext cx="59436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2194560"/>
            <a:ext cx="1325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Gyűjtősín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3A5E"/>
                </a:solidFill>
                <a:latin typeface="DejaVu Sans"/>
              </a:defRPr>
            </a:pPr>
            <a:r>
              <a:t>leválasztás → mérés → kapcsolás → leválasztás → közös csomópont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47395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7.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Földelőkapcsoló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Biztonságos munkaterület kialakítása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2926080" cy="1097280"/>
          </a:xfrm>
          <a:prstGeom prst="roundRect">
            <a:avLst/>
          </a:prstGeom>
          <a:solidFill>
            <a:srgbClr val="E1F1FC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DejaVu Sans"/>
              </a:defRPr>
            </a:pPr>
            <a:r>
              <a:t>Leválasztott</a:t>
            </a:r>
            <a:br/>
            <a:r>
              <a:t>hálózatrész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92024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DejaVu Sans"/>
              </a:defRPr>
            </a:pPr>
            <a:r>
              <a:t>Feszültségmentesség</a:t>
            </a:r>
            <a:br/>
            <a:r>
              <a:t>ellenőrzése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2926080" cy="1097280"/>
          </a:xfrm>
          <a:prstGeom prst="roundRect">
            <a:avLst/>
          </a:prstGeom>
          <a:solidFill>
            <a:srgbClr val="287A5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</a:defRPr>
            </a:pPr>
            <a:r>
              <a:t>FÖLDELÉS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468880"/>
            <a:ext cx="6858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2468880"/>
            <a:ext cx="6858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80160" y="402336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Reteszelések akadályozzák a veszélyes műveleteket.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földelés nem helyettesíti a szabályos feszültségmentesítést.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47395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7.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Mérőváltók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nagy primer értékből mérhető jel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103120" cy="914400"/>
          </a:xfrm>
          <a:prstGeom prst="roundRect">
            <a:avLst/>
          </a:prstGeom>
          <a:solidFill>
            <a:srgbClr val="173A5E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Nagy áram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ÁRAMVÁLTÓ</a:t>
            </a:r>
            <a:br/>
            <a:r>
              <a:t>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2286000" cy="914400"/>
          </a:xfrm>
          <a:prstGeom prst="roundRect">
            <a:avLst/>
          </a:prstGeom>
          <a:solidFill>
            <a:srgbClr val="287A5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Mérés +</a:t>
            </a:r>
            <a:br/>
            <a:r>
              <a:t>védelem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286000"/>
            <a:ext cx="73152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2286000"/>
            <a:ext cx="73152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3840480"/>
            <a:ext cx="2103120" cy="914400"/>
          </a:xfrm>
          <a:prstGeom prst="roundRect">
            <a:avLst/>
          </a:prstGeom>
          <a:solidFill>
            <a:srgbClr val="173A5E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Nagy feszültség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840480"/>
            <a:ext cx="2286000" cy="91440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FESZÜLTSÉGVÁLTÓ</a:t>
            </a:r>
            <a:br/>
            <a:r>
              <a:t>VT/PT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840480"/>
            <a:ext cx="2286000" cy="914400"/>
          </a:xfrm>
          <a:prstGeom prst="roundRect">
            <a:avLst/>
          </a:prstGeom>
          <a:solidFill>
            <a:srgbClr val="287A5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Mérés +</a:t>
            </a:r>
            <a:br/>
            <a:r>
              <a:t>védelem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4297680"/>
            <a:ext cx="73152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4297680"/>
            <a:ext cx="73152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21040" y="647395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7.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Túlfeszültség-védelem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Villám- és kapcsolási túlfeszültségek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743200" cy="1005840"/>
          </a:xfrm>
          <a:prstGeom prst="roundRect">
            <a:avLst/>
          </a:prstGeom>
          <a:solidFill>
            <a:srgbClr val="E97816"/>
          </a:solidFill>
          <a:ln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Túlfeszültség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011680"/>
            <a:ext cx="2743200" cy="100584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Levezető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011680"/>
            <a:ext cx="2743200" cy="1005840"/>
          </a:xfrm>
          <a:prstGeom prst="roundRect">
            <a:avLst/>
          </a:prstGeom>
          <a:solidFill>
            <a:srgbClr val="287A5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Föld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514600"/>
            <a:ext cx="105156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52360" y="2514600"/>
            <a:ext cx="105156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73A5E"/>
                </a:solidFill>
                <a:latin typeface="DejaVu Sans"/>
              </a:defRPr>
            </a:pPr>
            <a:r>
              <a:t>Cél: a berendezés szigetelését veszélyeztető feszültségcsúcs korlátozása.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47395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7.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Hiba esetén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védelem és a megszakító együtt dolgozik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A5E"/>
                </a:solidFill>
                <a:latin typeface="DejaVu Sans"/>
              </a:defRPr>
            </a:pPr>
            <a:r>
              <a:t>Mérőváltó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606040"/>
            <a:ext cx="64008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210312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A5E"/>
                </a:solidFill>
                <a:latin typeface="DejaVu Sans"/>
              </a:defRPr>
            </a:pPr>
            <a:r>
              <a:t>Védelmi</a:t>
            </a:r>
            <a:br/>
            <a:r>
              <a:t>relé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606040"/>
            <a:ext cx="64008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210312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A5E"/>
                </a:solidFill>
                <a:latin typeface="DejaVu Sans"/>
              </a:defRPr>
            </a:pPr>
            <a:r>
              <a:t>Kioldó</a:t>
            </a:r>
            <a:br/>
            <a:r>
              <a:t>parancs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2606040"/>
            <a:ext cx="640079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210312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A5E"/>
                </a:solidFill>
                <a:latin typeface="DejaVu Sans"/>
              </a:defRPr>
            </a:pPr>
            <a:r>
              <a:t>Megszakító</a:t>
            </a:r>
            <a:br/>
            <a:r>
              <a:t>nyit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2606040"/>
            <a:ext cx="64008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84080" y="2103120"/>
            <a:ext cx="1645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A5E"/>
                </a:solidFill>
                <a:latin typeface="DejaVu Sans"/>
              </a:defRPr>
            </a:pPr>
            <a:r>
              <a:t>Hiba</a:t>
            </a:r>
            <a:br/>
            <a:r>
              <a:t>leválasztva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A5E"/>
                </a:solidFill>
                <a:latin typeface="DejaVu Sans"/>
              </a:defRPr>
            </a:pPr>
            <a:r>
              <a:t>A védelem dönt - a megszakító végrehajt.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647395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7.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Mit kell tudni a hét végén?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Készülék + funkció + kapcsolási sorrend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Megszakító: áram megszakítása.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Szakaszoló: biztonságos leválasztás.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Földelőkapcsoló: földelés.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Gyűjtősín: közös csomópont.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CT/VT: mérés és védelem.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Levezető: túlfeszültség-korlátozás.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Reteszelés: hibás kapcsolás megelőzése.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7395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7.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DejaVu Sans"/>
              </a:defRPr>
            </a:pPr>
            <a:r>
              <a:t>8.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FE4F5"/>
                </a:solidFill>
                <a:latin typeface="DejaVu Sans"/>
              </a:defRPr>
            </a:pPr>
            <a:r>
              <a:t>Alállomási kapcsolási sémák és gyűjtősín-rendszerek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DejaVu Sans"/>
              </a:defRPr>
            </a:pPr>
            <a:r>
              <a:t>egyszeres • osztott • kettős gyűjtősín • üzembiztonság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