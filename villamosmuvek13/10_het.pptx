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IAP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17320"/>
            <a:ext cx="795527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Transzformátorok</a:t>
            </a:r>
            <a:br/>
            <a:r>
              <a:t>az alállomásokban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92608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FE2EF"/>
                </a:solidFill>
                <a:latin typeface="DejaVu Sans"/>
              </a:defRPr>
            </a:pPr>
            <a:r>
              <a:t>10. hét  |  feldolgozási idő: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79476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DejaVu Sans"/>
              </a:defRPr>
            </a:pPr>
            <a:r>
              <a:t>feszültségszint • hűtés • OLTC • Buchholz • differenciálvédelem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10. HÉT • 2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Óravázlat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42976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1. tanóra – Feladat és felépítés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48920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Feszültségszintek illesztése.</a:t>
            </a:r>
            <a:br/>
            <a:br/>
            <a:r>
              <a:t>Fő szerkezeti részek, olaj, hűtés és átvezetők.</a:t>
            </a:r>
            <a:br/>
            <a:br/>
            <a:r>
              <a:t>Névleges adatok és áttétel.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57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4864" cy="42976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655063"/>
            <a:ext cx="4892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2. tanóra – Üzem és 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039112"/>
            <a:ext cx="4892040" cy="3639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Fokozatkapcsoló és feszültségszabályozás.</a:t>
            </a:r>
            <a:br/>
            <a:br/>
            <a:r>
              <a:t>Buchholz-, differenciál- és túláramvédelem.</a:t>
            </a:r>
            <a:br/>
            <a:br/>
            <a:r>
              <a:t>Üzemi felügyelet és hibaforgatókönyv.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RENDSZERSZEREP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Miért van transzformátor az alállomásban?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4864" cy="14630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400 / 120 kV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2971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Átviteli hálózati feszültségszintek összekapcsolása.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00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600200"/>
            <a:ext cx="54864" cy="14630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120 / 20 kV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130552"/>
            <a:ext cx="2971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Átviteli hálózatból a középfeszültségű elosztás felé.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600200"/>
            <a:ext cx="3337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600200"/>
            <a:ext cx="54864" cy="146304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4650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20 / 0,4 kV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130552"/>
            <a:ext cx="2971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Középfeszültségről a kisfeszültségű fogyasztók felé.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4304C"/>
                </a:solidFill>
                <a:latin typeface="DejaVu Sans"/>
              </a:defRPr>
            </a:pPr>
            <a:r>
              <a:t>U₁ / U₂ ≈ N₁ / N₂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MIT LÁTUNK EGY NAGYTRANSZFORMÁTORON?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Fő szerkezeti részek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13258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Aktív rész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vaskör • primer és szekunder tekercsek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132588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Szigetelés és olaj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villamos szigetelés • hőelvezetés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54864" cy="132588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Külső szerelvények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átvezetők • tartály • konzervátor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4290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429000"/>
            <a:ext cx="54864" cy="132588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Hűtés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95935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radiátor • ventilátor • olajkeringés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54864" cy="132588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5753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Szabályozás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59352"/>
            <a:ext cx="30175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fokozatkapcsoló • OLTC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A VESZTESÉG HŐVÉ ALAKUL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Hűtés és veszteségek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28343F"/>
                </a:solidFill>
                <a:latin typeface="DejaVu Sans"/>
              </a:defRPr>
            </a:pPr>
            <a:r>
              <a:t>• vasveszteség a mágneses körben</a:t>
            </a:r>
          </a:p>
          <a:p>
            <a:pPr>
              <a:spcAft>
                <a:spcPts val="800"/>
              </a:spcAft>
              <a:defRPr sz="1550">
                <a:solidFill>
                  <a:srgbClr val="28343F"/>
                </a:solidFill>
                <a:latin typeface="DejaVu Sans"/>
              </a:defRPr>
            </a:pPr>
            <a:r>
              <a:t>• rézveszteség a tekercsekben: I²R</a:t>
            </a:r>
          </a:p>
          <a:p>
            <a:pPr>
              <a:spcAft>
                <a:spcPts val="800"/>
              </a:spcAft>
              <a:defRPr sz="1550">
                <a:solidFill>
                  <a:srgbClr val="28343F"/>
                </a:solidFill>
                <a:latin typeface="DejaVu Sans"/>
              </a:defRPr>
            </a:pPr>
            <a:r>
              <a:t>• az olaj a belső hőt a radiátorok felé szállítja</a:t>
            </a:r>
          </a:p>
          <a:p>
            <a:pPr>
              <a:spcAft>
                <a:spcPts val="800"/>
              </a:spcAft>
              <a:defRPr sz="1550">
                <a:solidFill>
                  <a:srgbClr val="28343F"/>
                </a:solidFill>
                <a:latin typeface="DejaVu Sans"/>
              </a:defRPr>
            </a:pPr>
            <a:r>
              <a:t>• nagy terhelésnél ventilátor vagy szivattyú segítheti a hűtést</a:t>
            </a:r>
          </a:p>
          <a:p>
            <a:pPr>
              <a:spcAft>
                <a:spcPts val="800"/>
              </a:spcAft>
              <a:defRPr sz="1550">
                <a:solidFill>
                  <a:srgbClr val="28343F"/>
                </a:solidFill>
                <a:latin typeface="DejaVu Sans"/>
              </a:defRPr>
            </a:pPr>
            <a:r>
              <a:t>• a túl magas hőmérséklet gyorsítja a szigetelés öregedését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26679" y="1874519"/>
            <a:ext cx="320040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26679" y="1874519"/>
            <a:ext cx="54864" cy="233172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202082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Üzemi cél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404872"/>
            <a:ext cx="2834640" cy="1673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tekercs- és olajhőmérséklet biztonságos tartományban tartása.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FESZÜLTSÉGSZABÁLYOZÁS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Fokozatkapcsoló – OLTC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45920"/>
            <a:ext cx="54864" cy="182880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Mi változik?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76272"/>
            <a:ext cx="2651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tekercs aktív menetszáma, így a transzformátor áttétele.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40480" y="2560320"/>
            <a:ext cx="7315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164592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45920"/>
            <a:ext cx="54864" cy="182880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Miért?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76272"/>
            <a:ext cx="2651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terhelés és a hálózati állapot változása ellenére tartani kell a kívánt feszültséget.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589520" y="2560320"/>
            <a:ext cx="73152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1645920"/>
            <a:ext cx="3017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645920"/>
            <a:ext cx="54864" cy="182880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OLTC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76272"/>
            <a:ext cx="265176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Terhelés alatt is képes fokozatot váltani.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C"/>
                </a:solidFill>
                <a:latin typeface="DejaVu Sans"/>
              </a:defRPr>
            </a:pPr>
            <a:r>
              <a:t>A fokozatkapcsoló nem teljesítményt „termel” – az áttételt módosítja.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MIT FIGYEL AZ ALÁLLOMÁSI IRÁNYÍTÁS?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Üzemi felügyelet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4864" cy="128016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0078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Hőmérséklet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84831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olaj • tekercs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5448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54480"/>
            <a:ext cx="54864" cy="128016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70078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Villamos adatok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084831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áram • feszültség • terhelés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55448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554480"/>
            <a:ext cx="54864" cy="128016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70078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Olajrendszer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084831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olajszint • nyomás • gázképződés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3756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337560"/>
            <a:ext cx="54864" cy="128016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48386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Hűtés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867911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ventilátor • szivattyú • radiátor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37560"/>
            <a:ext cx="33375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337560"/>
            <a:ext cx="54864" cy="128016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3483864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OLTC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867911"/>
            <a:ext cx="2971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fokozatállás • hajtásállapot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OLAJOS, KONZERVÁTOROS TRANSZFORMÁTOR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Buchholz-védelem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54864" cy="201168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74650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Lassú belső hiba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130552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Gáz képződhet az olajban.</a:t>
            </a:r>
            <a:br/>
            <a:br/>
            <a:r>
              <a:t>A relé jelzést adhat.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977639" y="2606040"/>
            <a:ext cx="594361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0" y="160020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600200"/>
            <a:ext cx="54864" cy="201168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174650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Súlyos belső hiba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2130552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Intenzív olajáramlás alakulhat ki.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26679" y="2606040"/>
            <a:ext cx="594361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21040" y="1600200"/>
            <a:ext cx="3154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21040" y="1600200"/>
            <a:ext cx="54864" cy="2011680"/>
          </a:xfrm>
          <a:prstGeom prst="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22208" y="1746504"/>
            <a:ext cx="2788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Kioldás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2130552"/>
            <a:ext cx="2788920" cy="135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A védelem kezdeményezheti a megszakítók nyitását.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348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304C"/>
                </a:solidFill>
                <a:latin typeface="DejaVu Sans"/>
              </a:defRPr>
            </a:pPr>
            <a:r>
              <a:t>A Buchholz-relé mechanikai-hidraulikai elven érzékeli a belső olajos hibák következményeit.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A TRANSZFORMÁTOR VÉDETT ZÓNÁJA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Differenciálvédelem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834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4864" cy="14630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751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Primer oldal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I₁ mérés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560320"/>
            <a:ext cx="109728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663440" y="1828800"/>
            <a:ext cx="2834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828800"/>
            <a:ext cx="54864" cy="14630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7" y="19751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Relé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7" y="235915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korrigált áramok összehasonlítása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79" y="2560320"/>
            <a:ext cx="1097281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595360" y="1828800"/>
            <a:ext cx="28346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95360" y="1828800"/>
            <a:ext cx="54864" cy="14630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197510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Szekunder oldal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2359152"/>
            <a:ext cx="2468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I₂ mérés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B13F3F"/>
                </a:solidFill>
                <a:latin typeface="DejaVu Sans"/>
              </a:defRPr>
            </a:pPr>
            <a:r>
              <a:t>Nagy differenciáláram → belső hiba gyanúja → gyors kioldás.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NEM EGYETLEN RELÉ VÉD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Transzformátorvédelem – rendszerben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08760"/>
            <a:ext cx="54864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Differenciálvédelem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039112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belső villamos hibák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54864" cy="12344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Buchholz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039112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gázképződés • olajáramlás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5087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508760"/>
            <a:ext cx="54864" cy="12344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655063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Túláram / földzárlat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039112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külső és tartalék védelmi funkciók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33375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0" y="3337560"/>
            <a:ext cx="54864" cy="123444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8" y="34838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Hővédelem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61488" y="3867911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olaj- és tekercshőmérséklet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3375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337560"/>
            <a:ext cx="54864" cy="1234440"/>
          </a:xfrm>
          <a:prstGeom prst="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34838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Felügyelet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867911"/>
            <a:ext cx="30175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olajszint • nyomás • hűtés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BELSŐ TEKERCSHIBA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Hibaforgatókönyv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54864" cy="1234440"/>
          </a:xfrm>
          <a:prstGeom prst="rect">
            <a:avLst/>
          </a:prstGeom>
          <a:solidFill>
            <a:srgbClr val="B1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Hiba kialakul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38528" y="2633472"/>
            <a:ext cx="3657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04288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04288" y="2011680"/>
            <a:ext cx="54864" cy="12344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05456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05456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CT-k eltérést mérnek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77056" y="2633472"/>
            <a:ext cx="3657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42816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42816" y="2011680"/>
            <a:ext cx="54864" cy="1234440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43984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Differenciálrelé működik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15584" y="2633472"/>
            <a:ext cx="3657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81344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81344" y="2011680"/>
            <a:ext cx="54864" cy="1234440"/>
          </a:xfrm>
          <a:prstGeom prst="rect">
            <a:avLst/>
          </a:prstGeom>
          <a:solidFill>
            <a:srgbClr val="1430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Kioldóparancs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54112" y="2633472"/>
            <a:ext cx="3657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119872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19872" y="2011680"/>
            <a:ext cx="54864" cy="1234440"/>
          </a:xfrm>
          <a:prstGeom prst="rect">
            <a:avLst/>
          </a:prstGeom>
          <a:solidFill>
            <a:srgbClr val="377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Megszakítók nyitnak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2633472"/>
            <a:ext cx="365760" cy="0"/>
          </a:xfrm>
          <a:prstGeom prst="line">
            <a:avLst/>
          </a:prstGeom>
          <a:ln w="22860">
            <a:solidFill>
              <a:srgbClr val="2A6F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058400" y="2011680"/>
            <a:ext cx="1572768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6DF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0" y="2011680"/>
            <a:ext cx="54864" cy="1234440"/>
          </a:xfrm>
          <a:prstGeom prst="rect">
            <a:avLst/>
          </a:prstGeom>
          <a:solidFill>
            <a:srgbClr val="2A6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59568" y="2157984"/>
            <a:ext cx="120700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C"/>
                </a:solidFill>
                <a:latin typeface="DejaVu Sans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59568" y="2542032"/>
            <a:ext cx="12070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8343F"/>
                </a:solidFill>
                <a:latin typeface="DejaVu Sans"/>
              </a:defRPr>
            </a:pPr>
            <a:r>
              <a:t>Transzformátor leválik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343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C"/>
                </a:solidFill>
                <a:latin typeface="DejaVu Sans"/>
              </a:defRPr>
            </a:pPr>
            <a:r>
              <a:t>A védelem célja: a károsodás korlátozása és a hálózat ép részének megtartása.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10789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A6FA0"/>
                </a:solidFill>
                <a:latin typeface="DejaVu Sans"/>
              </a:defRPr>
            </a:pPr>
            <a:r>
              <a:t>EZT KELL TUDNI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21792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14304C"/>
                </a:solidFill>
                <a:latin typeface="DejaVu Sans"/>
              </a:defRPr>
            </a:pPr>
            <a:r>
              <a:t>A 10. hét végére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70432"/>
            <a:ext cx="1325880" cy="36576"/>
          </a:xfrm>
          <a:prstGeom prst="rect">
            <a:avLst/>
          </a:prstGeom>
          <a:solidFill>
            <a:srgbClr val="DC77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9875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megmagyarázni az alállomási transzformátor rendszerszerepét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felsorolni a fő szerkezeti részeket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értelmezni a hűtés és az OLTC feladatát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elmagyarázni a Buchholz- és differenciálvédelem alapelvét</a:t>
            </a:r>
          </a:p>
          <a:p>
            <a:pPr>
              <a:spcAft>
                <a:spcPts val="800"/>
              </a:spcAft>
              <a:defRPr sz="1600">
                <a:solidFill>
                  <a:srgbClr val="28343F"/>
                </a:solidFill>
                <a:latin typeface="DejaVu Sans"/>
              </a:defRPr>
            </a:pPr>
            <a:r>
              <a:t>• végigvezetni egy egyszerű transzformátor-hibaforgatókönyvet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79" y="6473952"/>
            <a:ext cx="35661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20" b="0">
                <a:solidFill>
                  <a:srgbClr val="657480"/>
                </a:solidFill>
                <a:latin typeface="DejaVu Sans"/>
              </a:defRPr>
            </a:pPr>
            <a:r>
              <a:t>IAP  |  Villamos művek  |  13. évfolyam  |  10. hét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097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7D5E9"/>
                </a:solidFill>
                <a:latin typeface="DejaVu San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DejaVu Sans"/>
              </a:defRPr>
            </a:pPr>
            <a:r>
              <a:t>11.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1460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D2E4F1"/>
                </a:solidFill>
                <a:latin typeface="DejaVu Sans"/>
              </a:defRPr>
            </a:pPr>
            <a:r>
              <a:t>Kapcsolási csoportok és párhuzamos üzem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DejaVu Sans"/>
              </a:defRPr>
            </a:pPr>
            <a:r>
              <a:t>vektorcsoport • fáziseltolás • párhuzamos kapcsolás • terhelésmegosztás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