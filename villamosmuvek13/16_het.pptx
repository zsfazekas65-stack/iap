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40664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16. HÉT •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675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Szakaszolók és</a:t>
            </a:r>
            <a:br/>
            <a:r>
              <a:t>földelőkapcsolók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34640"/>
            <a:ext cx="6217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ADFEE"/>
                </a:solidFill>
                <a:latin typeface="Aptos"/>
              </a:defRPr>
            </a:pPr>
            <a:r>
              <a:t>Leválasztás • földelés • reteszelés</a:t>
            </a:r>
            <a:br/>
            <a:r>
              <a:t>• biztonságos kapcsolási sorrend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A BIZTONSÁGOS LEVÁLASZTÁS LOGIKÁJA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43800" y="1965960"/>
            <a:ext cx="91440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458200" y="1325880"/>
            <a:ext cx="1097280" cy="640080"/>
          </a:xfrm>
          <a:prstGeom prst="line">
            <a:avLst/>
          </a:prstGeom>
          <a:ln w="635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366760" y="1874519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02368" y="1874519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893808" y="1965960"/>
            <a:ext cx="1124712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52360" y="24231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SZAKASZOLÓ NYITVA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2971800"/>
            <a:ext cx="0" cy="914400"/>
          </a:xfrm>
          <a:prstGeom prst="line">
            <a:avLst/>
          </a:prstGeom>
          <a:ln w="508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3886200"/>
            <a:ext cx="73152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15984" y="4069080"/>
            <a:ext cx="530352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25712" y="4251960"/>
            <a:ext cx="310896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52360" y="4617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FÖLDELÉS CSAK LEVÁLASZTÁS UTÁN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kapcsolókészülékek • 2/8.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leválasztás és földelés biztonsági logikája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1. tanóra • Szakaszolók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feladat és alkalmazási határ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látható leválasztás jelentősége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fő szerkezeti részek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késes, forgó és pantográf kialakítás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kézi és motoros hajtás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2. tanóra • Földelőkapcsolók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biztonsági földelés szerepe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zárlati záróképesség fogalma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mechanikus és villamos reteszelések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kikapcsolási sorrend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visszakapcsolási sorrend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Három készülék – három külön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legfontosabb fogalmi különbség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73152" cy="429768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1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üzemi áram kapcsolása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79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zárlati áram megszakítása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ív oltására tervezve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508760"/>
            <a:ext cx="73152" cy="429768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5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SZAKASZOLÓ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221991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biztonságos leválasztás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697479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nyitott állapot ellenőrizhető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3172968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nem zárlati megszakító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1508760"/>
            <a:ext cx="73152" cy="42976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FÖLDELŐKAPCSOLÓ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221991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leválasztott rész földelése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697479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veszélyes potenciál csökkentése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3172968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biztonsági funkció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szakaszoló működési alapelve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Nyitott állapotban leválasztási távolságot hoz létre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ZÁRT ÁLLAPOT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2743200"/>
            <a:ext cx="1600200" cy="0"/>
          </a:xfrm>
          <a:prstGeom prst="line">
            <a:avLst/>
          </a:prstGeom>
          <a:ln w="762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2743200"/>
            <a:ext cx="2194560" cy="0"/>
          </a:xfrm>
          <a:prstGeom prst="line">
            <a:avLst/>
          </a:prstGeom>
          <a:ln w="762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33472" y="263347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263347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343"/>
                </a:solidFill>
                <a:latin typeface="Aptos"/>
              </a:defRPr>
            </a:pPr>
            <a:r>
              <a:t>Az áramút folytonos.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NYITOTT ÁLLAPOT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29400" y="2743200"/>
            <a:ext cx="1554479" cy="0"/>
          </a:xfrm>
          <a:prstGeom prst="line">
            <a:avLst/>
          </a:prstGeom>
          <a:ln w="762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183879" y="1828800"/>
            <a:ext cx="1737361" cy="914400"/>
          </a:xfrm>
          <a:prstGeom prst="line">
            <a:avLst/>
          </a:prstGeom>
          <a:ln w="762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41280" y="2743200"/>
            <a:ext cx="777240" cy="0"/>
          </a:xfrm>
          <a:prstGeom prst="line">
            <a:avLst/>
          </a:prstGeom>
          <a:ln w="762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074152" y="263347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31552" y="263347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Ellenőrizhető leválasztási helyzet.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617720"/>
            <a:ext cx="10104120" cy="68580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28032"/>
            <a:ext cx="9738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Alapszabály: a szakaszoló fő feladata a leválasztás – a terhelési áramot előtte a megszakítóval szakítjuk meg.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szakaszoló fő szerkezeti részei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Mechanika, szigetelés és állapotjelzés egy rendszerben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Érintkezőrendszer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álló főérintkező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mozgó főérintkező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kis átmeneti ellenállás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megfelelő érintkezőnyomás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Szigetelés és mechanika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tartó- és forgószigetelők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tengelyek és rudazatok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mechanikai véghelyzetek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Hajtás és jelzés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kézi vagy motoros hajtás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segédérintkezők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helyzetjelzés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602736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reteszelő szerkezet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Szakaszolókialakítások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konstrukciót a feszültségszint és az állomási elrendezés határozza meg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Késes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egyszerű kapcsolómozgás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jól áttekinthető helyzet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klasszikus kialakítás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Forgó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forgó érintkezőkar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forgószigetelős kialakítás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nagyobb feszültségszinteken 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Pantográf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függőleges kapcsolómozgás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kompakt állomási elrendezés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nagyfeszültségű alkalmazások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földelőkapcsoló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leválasztott hálózatrész földpotenciálra kapcsolása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45262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Milyen veszély ellen véd?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indukált feszültség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kapacitív töltés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81528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téves visszatáplálás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57016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maradó vagy idegen potenciál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73152" cy="45262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6002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Mit kell tudni róla?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30552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nem üzemi terheléskapcsoló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06040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egyes típusok zárlati záróképességűek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81528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földelő összeköttetése kritikus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557016"/>
            <a:ext cx="4590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állapota reteszelési feltétel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Reteszelési logika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rendszer ne engedje végrehajtani a veszélyes műveletet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240280"/>
            <a:ext cx="3703320" cy="1234440"/>
          </a:xfrm>
          <a:prstGeom prst="roundRect">
            <a:avLst/>
          </a:prstGeom>
          <a:solidFill>
            <a:srgbClr val="06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87752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RETESZELÉSI</a:t>
            </a:r>
            <a:br/>
            <a:r>
              <a:t>FELTÉTELEK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8196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BE433F"/>
                </a:solidFill>
                <a:latin typeface="Aptos"/>
              </a:defRPr>
            </a:pPr>
            <a:r>
              <a:t>MEGSZAKÍTÓ</a:t>
            </a:r>
            <a:br/>
            <a:r>
              <a:t>állapota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428853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9B7E8"/>
                </a:solidFill>
                <a:latin typeface="Aptos"/>
              </a:defRPr>
            </a:pPr>
            <a:r>
              <a:t>SZAKASZOLÓ</a:t>
            </a:r>
            <a:br/>
            <a:r>
              <a:t>állapota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508760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8196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88B66"/>
                </a:solidFill>
                <a:latin typeface="Aptos"/>
              </a:defRPr>
            </a:pPr>
            <a:r>
              <a:t>FÖLDELŐ</a:t>
            </a:r>
            <a:br/>
            <a:r>
              <a:t>állapota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977639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28853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E08931"/>
                </a:solidFill>
                <a:latin typeface="Aptos"/>
              </a:defRPr>
            </a:pPr>
            <a:r>
              <a:t>HELYI / TÁV</a:t>
            </a:r>
            <a:br/>
            <a:r>
              <a:t>és engedélyek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2011680"/>
            <a:ext cx="777240" cy="594360"/>
          </a:xfrm>
          <a:prstGeom prst="line">
            <a:avLst/>
          </a:prstGeom>
          <a:ln w="254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474720" y="3291840"/>
            <a:ext cx="777240" cy="1188720"/>
          </a:xfrm>
          <a:prstGeom prst="line">
            <a:avLst/>
          </a:prstGeom>
          <a:ln w="254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955279" y="2011680"/>
            <a:ext cx="731521" cy="594360"/>
          </a:xfrm>
          <a:prstGeom prst="line">
            <a:avLst/>
          </a:prstGeom>
          <a:ln w="254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955279" y="3291840"/>
            <a:ext cx="731521" cy="118872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20240" y="562356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Példa: bekapcsolt földelőkapcsoló mellett a megszakító zárását tiltani kell.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Biztonságos kikapcsolási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Karbantartási állapot létrehozásának alaplogikája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  <a:br/>
            <a:r>
              <a:t>KI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3401568"/>
            <a:ext cx="50291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74720" y="1920240"/>
            <a:ext cx="594360" cy="59436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SZAKASZOLÓ(K)</a:t>
            </a:r>
            <a:br/>
            <a:r>
              <a:t>KI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23560" y="3401568"/>
            <a:ext cx="50291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09360" y="1920240"/>
            <a:ext cx="594360" cy="59436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FESZÜLTSÉG-</a:t>
            </a:r>
            <a:br/>
            <a:r>
              <a:t>MENTESSÉG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3401568"/>
            <a:ext cx="5029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144000" y="1920240"/>
            <a:ext cx="594360" cy="59436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FÖLDELŐ</a:t>
            </a:r>
            <a:br/>
            <a:r>
              <a:t>BE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FFF5E8"/>
          </a:solidFill>
          <a:ln>
            <a:solidFill>
              <a:srgbClr val="F0C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983480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E08931"/>
                </a:solidFill>
                <a:latin typeface="Aptos"/>
              </a:defRPr>
            </a:pPr>
            <a:r>
              <a:t>A konkrét műveleti sorrendet mindig az adott berendezés kapcsolási utasítása és reteszelési rendszere határozza meg.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Visszakapcsolási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földelt munkaterülettől az üzemi állapotig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FÖLDELŐ</a:t>
            </a:r>
            <a:br/>
            <a:r>
              <a:t>KI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3401568"/>
            <a:ext cx="50291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74720" y="1920240"/>
            <a:ext cx="594360" cy="59436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SZAKASZOLÓ(K)</a:t>
            </a:r>
            <a:br/>
            <a:r>
              <a:t>BE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23560" y="3401568"/>
            <a:ext cx="50291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09360" y="1920240"/>
            <a:ext cx="594360" cy="59436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FELTÉTELEK</a:t>
            </a:r>
            <a:br/>
            <a:r>
              <a:t>ELLENŐRZÉSE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3401568"/>
            <a:ext cx="5029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144000" y="1920240"/>
            <a:ext cx="594360" cy="59436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11226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7889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1363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  <a:br/>
            <a:r>
              <a:t>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92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Földelt hálózatrészt nem helyezünk feszültség alá.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Üzemeltetési ellenőrzések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Mit vizsgálunk a készüléken?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Mechanika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hajtás könnyű működése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rudazatok és csuklók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véghelyzetek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rendellenes kopás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Villamos jelzések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segédérintkezők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helyzetjelzés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motoros hajtás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602736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reteszelési jelek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Szigetelés / földelés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szigetelők tisztasága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repedés, sérülés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földelő összeköttetés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602736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korrózió és kötések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16. hét négy kulcsmondata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17320"/>
            <a:ext cx="566928" cy="56692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5669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08760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30" b="1">
                <a:solidFill>
                  <a:srgbClr val="06192C"/>
                </a:solidFill>
                <a:latin typeface="Aptos"/>
              </a:defRPr>
            </a:pPr>
            <a:r>
              <a:t>A szakaszoló biztonságos leválasztást biztosít.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41448"/>
            <a:ext cx="566928" cy="566928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15184"/>
            <a:ext cx="5669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32888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30" b="1">
                <a:solidFill>
                  <a:srgbClr val="06192C"/>
                </a:solidFill>
                <a:latin typeface="Aptos"/>
              </a:defRPr>
            </a:pPr>
            <a:r>
              <a:t>Terhelési áram megszakítására alapvetően a megszakító szolgál.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465576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39312"/>
            <a:ext cx="5669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5701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30" b="1">
                <a:solidFill>
                  <a:srgbClr val="06192C"/>
                </a:solidFill>
                <a:latin typeface="Aptos"/>
              </a:defRPr>
            </a:pPr>
            <a:r>
              <a:t>A földelőkapcsoló a leválasztott hálózatrészt földeli.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489704"/>
            <a:ext cx="566928" cy="56692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5669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81144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30" b="1">
                <a:solidFill>
                  <a:srgbClr val="06192C"/>
                </a:solidFill>
                <a:latin typeface="Aptos"/>
              </a:defRPr>
            </a:pPr>
            <a:r>
              <a:t>A reteszelés és a helyes kapcsolási sorrend balesetet előz meg.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669280"/>
            <a:ext cx="10515600" cy="50292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815584"/>
            <a:ext cx="10149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25388"/>
                </a:solidFill>
                <a:latin typeface="Aptos"/>
              </a:defRPr>
            </a:pPr>
            <a:r>
              <a:t>17. hét → Megszakítók felépítése és működése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