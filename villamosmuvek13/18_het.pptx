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9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640080"/>
            <a:ext cx="2011680" cy="384048"/>
          </a:xfrm>
          <a:prstGeom prst="roundRect">
            <a:avLst/>
          </a:prstGeom>
          <a:solidFill>
            <a:srgbClr val="125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740664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18. HÉT • 2 TANÓRA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6400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 Display"/>
              </a:defRPr>
            </a:pPr>
            <a:r>
              <a:t>Nagyfeszültségű</a:t>
            </a:r>
            <a:br/>
            <a:r>
              <a:t>megszakítótípusok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880360"/>
            <a:ext cx="6126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ADFEE"/>
                </a:solidFill>
                <a:latin typeface="Aptos"/>
              </a:defRPr>
            </a:pPr>
            <a:r>
              <a:t>olaj • sűrített levegő • SF6 • vákuum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417320"/>
            <a:ext cx="1691640" cy="1325880"/>
          </a:xfrm>
          <a:prstGeom prst="roundRect">
            <a:avLst/>
          </a:prstGeom>
          <a:solidFill>
            <a:srgbClr val="0E2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863840" y="1618488"/>
            <a:ext cx="594360" cy="594360"/>
          </a:xfrm>
          <a:prstGeom prst="ellipse">
            <a:avLst/>
          </a:prstGeom>
          <a:solidFill>
            <a:srgbClr val="E08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52360" y="2350008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OLAJ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72600" y="1417320"/>
            <a:ext cx="1691640" cy="1325880"/>
          </a:xfrm>
          <a:prstGeom prst="roundRect">
            <a:avLst/>
          </a:prstGeom>
          <a:solidFill>
            <a:srgbClr val="0E2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1618488"/>
            <a:ext cx="594360" cy="594360"/>
          </a:xfrm>
          <a:prstGeom prst="ellipse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0" y="2350008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LEVEGŐ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3291839"/>
            <a:ext cx="1691640" cy="1325880"/>
          </a:xfrm>
          <a:prstGeom prst="roundRect">
            <a:avLst/>
          </a:prstGeom>
          <a:solidFill>
            <a:srgbClr val="0E2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863840" y="3493008"/>
            <a:ext cx="594360" cy="594360"/>
          </a:xfrm>
          <a:prstGeom prst="ellipse">
            <a:avLst/>
          </a:prstGeom>
          <a:solidFill>
            <a:srgbClr val="5B5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52360" y="4224527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SF6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72600" y="3291839"/>
            <a:ext cx="1691640" cy="1325880"/>
          </a:xfrm>
          <a:prstGeom prst="roundRect">
            <a:avLst/>
          </a:prstGeom>
          <a:solidFill>
            <a:srgbClr val="0E2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21240" y="3493008"/>
            <a:ext cx="594360" cy="594360"/>
          </a:xfrm>
          <a:prstGeom prst="ellipse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0" y="4224527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VÁKUUM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6016752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29B7E8"/>
                </a:solidFill>
                <a:latin typeface="Aptos"/>
              </a:defRPr>
            </a:pPr>
            <a:r>
              <a:t>Villamos kapcsolókészülékek • 4/8. hét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Óraterv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Az ívoltó közegek fejlődése és összehasonlítása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5257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508760"/>
            <a:ext cx="73152" cy="4480560"/>
          </a:xfrm>
          <a:prstGeom prst="rect">
            <a:avLst/>
          </a:prstGeom>
          <a:solidFill>
            <a:srgbClr val="E08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691639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20" b="1">
                <a:solidFill>
                  <a:srgbClr val="06192C"/>
                </a:solidFill>
                <a:latin typeface="Aptos"/>
              </a:defRPr>
            </a:pPr>
            <a:r>
              <a:t>1. tanóra • Klasszikus technológiák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221991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olajos megszakítók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697479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légnyomásos megszakítók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72968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SF6 ívoltási alapelv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648456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előnyök és üzemeltetési korlátok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508760"/>
            <a:ext cx="5257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508760"/>
            <a:ext cx="73152" cy="4480560"/>
          </a:xfrm>
          <a:prstGeom prst="rect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83096" y="1691639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20" b="1">
                <a:solidFill>
                  <a:srgbClr val="06192C"/>
                </a:solidFill>
                <a:latin typeface="Aptos"/>
              </a:defRPr>
            </a:pPr>
            <a:r>
              <a:t>2. tanóra • Vákuum és választás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0528" y="2221991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vákuumkamra működése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8" y="2697479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technológiák összehasonlítása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3172968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alkalmazási területek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3648456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környezeti szempontok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8" y="4123944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készülékválasztási példa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Az ívoltás technológiai fejlődése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Ugyanaz a feladat - egyre hatékonyabb megoldások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8" name="Oval 7"/>
          <p:cNvSpPr/>
          <p:nvPr/>
        </p:nvSpPr>
        <p:spPr>
          <a:xfrm>
            <a:off x="1234440" y="1737360"/>
            <a:ext cx="658368" cy="658368"/>
          </a:xfrm>
          <a:prstGeom prst="ellipse">
            <a:avLst/>
          </a:prstGeom>
          <a:solidFill>
            <a:srgbClr val="E08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69748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6192C"/>
                </a:solidFill>
                <a:latin typeface="Aptos"/>
              </a:defRPr>
            </a:pPr>
            <a:r>
              <a:t>OLAJ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46120"/>
            <a:ext cx="2057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80" b="0">
                <a:solidFill>
                  <a:srgbClr val="667787"/>
                </a:solidFill>
                <a:latin typeface="Aptos"/>
              </a:defRPr>
            </a:pPr>
            <a:r>
              <a:t>szigetelés + gázképződés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60320" y="2084831"/>
            <a:ext cx="685800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4114800" y="1737360"/>
            <a:ext cx="658368" cy="658368"/>
          </a:xfrm>
          <a:prstGeom prst="ellipse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269748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6192C"/>
                </a:solidFill>
                <a:latin typeface="Aptos"/>
              </a:defRPr>
            </a:pPr>
            <a:r>
              <a:t>LEVEGŐ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3246120"/>
            <a:ext cx="2057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80" b="0">
                <a:solidFill>
                  <a:srgbClr val="667787"/>
                </a:solidFill>
                <a:latin typeface="Aptos"/>
              </a:defRPr>
            </a:pPr>
            <a:r>
              <a:t>nagy nyomású gázáram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40680" y="2084831"/>
            <a:ext cx="685800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6995159" y="1737360"/>
            <a:ext cx="658368" cy="658368"/>
          </a:xfrm>
          <a:prstGeom prst="ellipse">
            <a:avLst/>
          </a:prstGeom>
          <a:solidFill>
            <a:srgbClr val="5B5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269748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6192C"/>
                </a:solidFill>
                <a:latin typeface="Aptos"/>
              </a:defRPr>
            </a:pPr>
            <a:r>
              <a:t>SF6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59" y="3246120"/>
            <a:ext cx="2057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80" b="0">
                <a:solidFill>
                  <a:srgbClr val="667787"/>
                </a:solidFill>
                <a:latin typeface="Aptos"/>
              </a:defRPr>
            </a:pPr>
            <a:r>
              <a:t>nagy dielektromos szilárdság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321040" y="2084831"/>
            <a:ext cx="685800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9875520" y="1737360"/>
            <a:ext cx="658368" cy="658368"/>
          </a:xfrm>
          <a:prstGeom prst="ellipse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0" y="269748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6192C"/>
                </a:solidFill>
                <a:latin typeface="Aptos"/>
              </a:defRPr>
            </a:pPr>
            <a:r>
              <a:t>VÁKUUM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3246120"/>
            <a:ext cx="2057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80" b="0">
                <a:solidFill>
                  <a:srgbClr val="667787"/>
                </a:solidFill>
                <a:latin typeface="Aptos"/>
              </a:defRPr>
            </a:pPr>
            <a:r>
              <a:t>gyors szigetelés-visszaállás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4754880"/>
            <a:ext cx="10241280" cy="594360"/>
          </a:xfrm>
          <a:prstGeom prst="roundRect">
            <a:avLst/>
          </a:prstGeom>
          <a:solidFill>
            <a:srgbClr val="E7F1F8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4937760"/>
            <a:ext cx="9875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06192C"/>
                </a:solidFill>
                <a:latin typeface="Aptos"/>
              </a:defRPr>
            </a:pPr>
            <a:r>
              <a:t>A fejlődés fő céljai: nagyobb megszakítóképesség, kisebb karbantartás, kompaktabb méret és jobb üzembiztonság.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Olajos megszakító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Az ív hője az olajat részben elgázosítja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3520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463040"/>
            <a:ext cx="73152" cy="4480560"/>
          </a:xfrm>
          <a:prstGeom prst="rect">
            <a:avLst/>
          </a:prstGeom>
          <a:solidFill>
            <a:srgbClr val="E08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64592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20" b="1">
                <a:solidFill>
                  <a:srgbClr val="06192C"/>
                </a:solidFill>
                <a:latin typeface="Aptos"/>
              </a:defRPr>
            </a:pPr>
            <a:r>
              <a:t>Működés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76272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ív szigetelőolajban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651760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gázképződés és nyomás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127248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ív hűtése és megszüntetése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4256" y="1463040"/>
            <a:ext cx="3520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34256" y="1463040"/>
            <a:ext cx="73152" cy="4480560"/>
          </a:xfrm>
          <a:prstGeom prst="rect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164592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20" b="1">
                <a:solidFill>
                  <a:srgbClr val="06192C"/>
                </a:solidFill>
                <a:latin typeface="Aptos"/>
              </a:defRPr>
            </a:pPr>
            <a:r>
              <a:t>Előnyök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8576" y="2176272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jó szigetelési tulajdonság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08576" y="2651760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történelmileg bevált technika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8576" y="3127248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nagy feszültségeken is alkalmazták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28431" y="1463040"/>
            <a:ext cx="3520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28431" y="1463040"/>
            <a:ext cx="73152" cy="4480560"/>
          </a:xfrm>
          <a:prstGeom prst="rect">
            <a:avLst/>
          </a:prstGeom>
          <a:solidFill>
            <a:srgbClr val="BE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19" y="164592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20" b="1">
                <a:solidFill>
                  <a:srgbClr val="06192C"/>
                </a:solidFill>
                <a:latin typeface="Aptos"/>
              </a:defRPr>
            </a:pPr>
            <a:r>
              <a:t>Korlátok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2752" y="2176272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olajöregedés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2752" y="2651760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karbantartási igény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2752" y="3127248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tűz- és környezeti kockázat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Légnyomásos megszakító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sűrített levegő kifújja és hűti az ívet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52578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508760"/>
            <a:ext cx="73152" cy="4434840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691639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20" b="1">
                <a:solidFill>
                  <a:srgbClr val="06192C"/>
                </a:solidFill>
                <a:latin typeface="Aptos"/>
              </a:defRPr>
            </a:pPr>
            <a:r>
              <a:t>Ívoltási elv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221991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nagy nyomású levegőáram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697479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ív hűtése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72968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ionizált részecskék eltávolítása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648456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gyors dielektromos visszaállás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508760"/>
            <a:ext cx="52578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508760"/>
            <a:ext cx="73152" cy="4434840"/>
          </a:xfrm>
          <a:prstGeom prst="rect">
            <a:avLst/>
          </a:prstGeom>
          <a:solidFill>
            <a:srgbClr val="E08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83096" y="1691639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20" b="1">
                <a:solidFill>
                  <a:srgbClr val="06192C"/>
                </a:solidFill>
                <a:latin typeface="Aptos"/>
              </a:defRPr>
            </a:pPr>
            <a:r>
              <a:t>Üzemeltetési ára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0528" y="2221991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kompresszor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8" y="2697479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légtartály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3172968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csőhálózat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3648456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nyomásfelügyelet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8" y="4123944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segédrendszer-karbantartás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SF6-megszakító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Kiváló villamos tulajdonság - komoly környezeti felelősség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3520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463040"/>
            <a:ext cx="73152" cy="4480560"/>
          </a:xfrm>
          <a:prstGeom prst="rect">
            <a:avLst/>
          </a:prstGeom>
          <a:solidFill>
            <a:srgbClr val="5B5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64592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20" b="1">
                <a:solidFill>
                  <a:srgbClr val="06192C"/>
                </a:solidFill>
                <a:latin typeface="Aptos"/>
              </a:defRPr>
            </a:pPr>
            <a:r>
              <a:t>Miért jó?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76272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nagy villamos szilárdság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651760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elektronegatív gáz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127248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hatékony ívoltás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4256" y="1463040"/>
            <a:ext cx="3520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34256" y="1463040"/>
            <a:ext cx="73152" cy="4480560"/>
          </a:xfrm>
          <a:prstGeom prst="rect">
            <a:avLst/>
          </a:prstGeom>
          <a:solidFill>
            <a:srgbClr val="125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164592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20" b="1">
                <a:solidFill>
                  <a:srgbClr val="06192C"/>
                </a:solidFill>
                <a:latin typeface="Aptos"/>
              </a:defRPr>
            </a:pPr>
            <a:r>
              <a:t>Üzemeltetés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8576" y="2176272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zárt gázrendszer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08576" y="2651760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tömítettség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8576" y="3127248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gázsűrűség felügyelete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08576" y="3602736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szakszerű gázkezelés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28431" y="1463040"/>
            <a:ext cx="3520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28431" y="1463040"/>
            <a:ext cx="73152" cy="4480560"/>
          </a:xfrm>
          <a:prstGeom prst="rect">
            <a:avLst/>
          </a:prstGeom>
          <a:solidFill>
            <a:srgbClr val="BE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19" y="164592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20" b="1">
                <a:solidFill>
                  <a:srgbClr val="06192C"/>
                </a:solidFill>
                <a:latin typeface="Aptos"/>
              </a:defRPr>
            </a:pPr>
            <a:r>
              <a:t>Környezet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2752" y="2176272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nagyon nagy globális felmelegedési potenciál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2752" y="2651760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szivárgás minimalizálása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02752" y="3127248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visszanyerés és kezelés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Vákuummegszakító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középfeszültség egyik meghatározó technológiája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393192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6192C"/>
                </a:solidFill>
                <a:latin typeface="Aptos"/>
              </a:defRPr>
            </a:pPr>
            <a:r>
              <a:t>VÁKUUMKAMRA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20240" y="2331720"/>
            <a:ext cx="1508760" cy="2468880"/>
          </a:xfrm>
          <a:prstGeom prst="roundRect">
            <a:avLst/>
          </a:prstGeom>
          <a:solidFill>
            <a:srgbClr val="EDF2F7"/>
          </a:solidFill>
          <a:ln>
            <a:solidFill>
              <a:srgbClr val="1253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2670048" y="1874519"/>
            <a:ext cx="0" cy="1280161"/>
          </a:xfrm>
          <a:prstGeom prst="line">
            <a:avLst/>
          </a:prstGeom>
          <a:ln w="635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670048" y="3794760"/>
            <a:ext cx="0" cy="1371600"/>
          </a:xfrm>
          <a:prstGeom prst="line">
            <a:avLst/>
          </a:prstGeom>
          <a:ln w="635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468880" y="3310128"/>
            <a:ext cx="365760" cy="329184"/>
          </a:xfrm>
          <a:prstGeom prst="line">
            <a:avLst/>
          </a:prstGeom>
          <a:ln w="38100">
            <a:solidFill>
              <a:srgbClr val="E089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097280" y="51663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7787"/>
                </a:solidFill>
                <a:latin typeface="Aptos"/>
              </a:defRPr>
            </a:pPr>
            <a:r>
              <a:t>hermetikusan zárt tér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74920" y="1508760"/>
            <a:ext cx="29718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74920" y="1508760"/>
            <a:ext cx="73152" cy="4297680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21808" y="1691639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20" b="1">
                <a:solidFill>
                  <a:srgbClr val="06192C"/>
                </a:solidFill>
                <a:latin typeface="Aptos"/>
              </a:defRPr>
            </a:pPr>
            <a:r>
              <a:t>Működés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9240" y="2221991"/>
            <a:ext cx="2441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fémgőzív nyitáskor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2697479"/>
            <a:ext cx="2441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áramnullánál gyors megszűnés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9240" y="3172968"/>
            <a:ext cx="2441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gyors szigetelés-visszaállás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75320" y="1508760"/>
            <a:ext cx="324612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75320" y="1508760"/>
            <a:ext cx="73152" cy="4297680"/>
          </a:xfrm>
          <a:prstGeom prst="rect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22208" y="1691639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20" b="1">
                <a:solidFill>
                  <a:srgbClr val="06192C"/>
                </a:solidFill>
                <a:latin typeface="Aptos"/>
              </a:defRPr>
            </a:pPr>
            <a:r>
              <a:t>Előnyök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9640" y="2221991"/>
            <a:ext cx="27157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hosszú élettartam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49640" y="2697479"/>
            <a:ext cx="27157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kis karbantartás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49640" y="3172968"/>
            <a:ext cx="27157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kompakt kamra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49640" y="3648456"/>
            <a:ext cx="27157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SF6-mentes ívoltás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Gyors összehasonlítás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Nincs univerzális technológia - a feladat dönt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63040"/>
            <a:ext cx="25603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463040"/>
            <a:ext cx="73152" cy="4480560"/>
          </a:xfrm>
          <a:prstGeom prst="rect">
            <a:avLst/>
          </a:prstGeom>
          <a:solidFill>
            <a:srgbClr val="E08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6459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20" b="1">
                <a:solidFill>
                  <a:srgbClr val="06192C"/>
                </a:solidFill>
                <a:latin typeface="Aptos"/>
              </a:defRPr>
            </a:pPr>
            <a:r>
              <a:t>OLAJ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76272"/>
            <a:ext cx="202996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bevált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651760"/>
            <a:ext cx="202996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karbantartás 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127248"/>
            <a:ext cx="202996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tűzkockázat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560" y="1463040"/>
            <a:ext cx="25603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37560" y="1463040"/>
            <a:ext cx="73152" cy="4480560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84448" y="16459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20" b="1">
                <a:solidFill>
                  <a:srgbClr val="06192C"/>
                </a:solidFill>
                <a:latin typeface="Aptos"/>
              </a:defRPr>
            </a:pPr>
            <a:r>
              <a:t>LEVEGŐ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2176272"/>
            <a:ext cx="202996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gyors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2651760"/>
            <a:ext cx="202996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segédrendszer 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80" y="3127248"/>
            <a:ext cx="202996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helyigény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1463040"/>
            <a:ext cx="25603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1463040"/>
            <a:ext cx="73152" cy="4480560"/>
          </a:xfrm>
          <a:prstGeom prst="rect">
            <a:avLst/>
          </a:prstGeom>
          <a:solidFill>
            <a:srgbClr val="5B5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9088" y="16459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20" b="1">
                <a:solidFill>
                  <a:srgbClr val="06192C"/>
                </a:solidFill>
                <a:latin typeface="Aptos"/>
              </a:defRPr>
            </a:pPr>
            <a:r>
              <a:t>SF6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2176272"/>
            <a:ext cx="202996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kompakt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2651760"/>
            <a:ext cx="202996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nagy képesség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127248"/>
            <a:ext cx="202996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környezeti teher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06840" y="1463040"/>
            <a:ext cx="25603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06840" y="1463040"/>
            <a:ext cx="73152" cy="4480560"/>
          </a:xfrm>
          <a:prstGeom prst="rect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53728" y="16459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20" b="1">
                <a:solidFill>
                  <a:srgbClr val="06192C"/>
                </a:solidFill>
                <a:latin typeface="Aptos"/>
              </a:defRPr>
            </a:pPr>
            <a:r>
              <a:t>VÁKUUM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81160" y="2176272"/>
            <a:ext cx="202996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élettartam 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81160" y="2651760"/>
            <a:ext cx="202996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karbantartás 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81160" y="3127248"/>
            <a:ext cx="2029967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MV-ben erős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Hol találkozhatunk velük?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hálózat életkora és feszültségszintje is számít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3520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463040"/>
            <a:ext cx="73152" cy="4480560"/>
          </a:xfrm>
          <a:prstGeom prst="rect">
            <a:avLst/>
          </a:prstGeom>
          <a:solidFill>
            <a:srgbClr val="E08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64592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20" b="1">
                <a:solidFill>
                  <a:srgbClr val="06192C"/>
                </a:solidFill>
                <a:latin typeface="Aptos"/>
              </a:defRPr>
            </a:pPr>
            <a:r>
              <a:t>Régebbi állomások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76272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olajos megszakítók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651760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légnyomásos készülékek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127248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speciális karbantartási tudás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4256" y="1463040"/>
            <a:ext cx="3520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34256" y="1463040"/>
            <a:ext cx="73152" cy="4480560"/>
          </a:xfrm>
          <a:prstGeom prst="rect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164592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20" b="1">
                <a:solidFill>
                  <a:srgbClr val="06192C"/>
                </a:solidFill>
                <a:latin typeface="Aptos"/>
              </a:defRPr>
            </a:pPr>
            <a:r>
              <a:t>Középfeszültség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8576" y="2176272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vákuumtechnológia széles körben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08576" y="2651760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gyakori kapcsolásra kedvező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8576" y="3127248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kompakt kapcsolóberendezések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28431" y="1463040"/>
            <a:ext cx="3520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28431" y="1463040"/>
            <a:ext cx="73152" cy="4480560"/>
          </a:xfrm>
          <a:prstGeom prst="rect">
            <a:avLst/>
          </a:prstGeom>
          <a:solidFill>
            <a:srgbClr val="5B5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19" y="164592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20" b="1">
                <a:solidFill>
                  <a:srgbClr val="06192C"/>
                </a:solidFill>
                <a:latin typeface="Aptos"/>
              </a:defRPr>
            </a:pPr>
            <a:r>
              <a:t>Nagyfeszültség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2752" y="2176272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SF6 hosszú ideig meghatározó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2752" y="2651760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új SF6-mentes alternatívák terjednek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2752" y="3127248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életciklus-szemlélet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Környezeti szempontok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villamos teljesítőképesség már nem az egyetlen döntési tényező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63040"/>
            <a:ext cx="52120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463040"/>
            <a:ext cx="73152" cy="4480560"/>
          </a:xfrm>
          <a:prstGeom prst="rect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6459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20" b="1">
                <a:solidFill>
                  <a:srgbClr val="06192C"/>
                </a:solidFill>
                <a:latin typeface="Aptos"/>
              </a:defRPr>
            </a:pPr>
            <a:r>
              <a:t>Életciklus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176272"/>
            <a:ext cx="46817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gyártás és anyaghasználat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651760"/>
            <a:ext cx="46817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karbantartási igény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27248"/>
            <a:ext cx="46817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szivárgás és veszteség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602736"/>
            <a:ext cx="46817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élettartam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78224"/>
            <a:ext cx="46817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ártalmatlanítás / visszanyerés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463040"/>
            <a:ext cx="52120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1463040"/>
            <a:ext cx="73152" cy="4480560"/>
          </a:xfrm>
          <a:prstGeom prst="rect">
            <a:avLst/>
          </a:prstGeom>
          <a:solidFill>
            <a:srgbClr val="BE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6248" y="16459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20" b="1">
                <a:solidFill>
                  <a:srgbClr val="06192C"/>
                </a:solidFill>
                <a:latin typeface="Aptos"/>
              </a:defRPr>
            </a:pPr>
            <a:r>
              <a:t>SF6 esetén különösen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176272"/>
            <a:ext cx="46817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zárt kezelés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651760"/>
            <a:ext cx="46817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szivárgás-ellenőrzés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127248"/>
            <a:ext cx="46817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gáz visszanyerése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602736"/>
            <a:ext cx="46817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képzett személyzet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078224"/>
            <a:ext cx="46817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10" b="0">
                <a:solidFill>
                  <a:srgbClr val="233343"/>
                </a:solidFill>
                <a:latin typeface="Aptos"/>
              </a:defRPr>
            </a:pPr>
            <a:r>
              <a:t>• kibocsátás minimalizálása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Készülékválasztási sorrend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technológia csak az egyik réteg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8" name="Oval 7"/>
          <p:cNvSpPr/>
          <p:nvPr/>
        </p:nvSpPr>
        <p:spPr>
          <a:xfrm>
            <a:off x="320040" y="1828800"/>
            <a:ext cx="548640" cy="548640"/>
          </a:xfrm>
          <a:prstGeom prst="ellipse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993392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743200"/>
            <a:ext cx="16002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59" y="3090672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06192C"/>
                </a:solidFill>
                <a:latin typeface="Aptos"/>
              </a:defRPr>
            </a:pPr>
            <a:r>
              <a:t>Un / In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874519" y="3364992"/>
            <a:ext cx="274321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2240280" y="1828800"/>
            <a:ext cx="548640" cy="548640"/>
          </a:xfrm>
          <a:prstGeom prst="ellipse">
            <a:avLst/>
          </a:prstGeom>
          <a:solidFill>
            <a:srgbClr val="BE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40280" y="1993392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94560" y="2743200"/>
            <a:ext cx="16002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86000" y="3090672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06192C"/>
                </a:solidFill>
                <a:latin typeface="Aptos"/>
              </a:defRPr>
            </a:pPr>
            <a:r>
              <a:t>Zárlati</a:t>
            </a:r>
            <a:br/>
            <a:r>
              <a:t>adatok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794760" y="3364992"/>
            <a:ext cx="274320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4160520" y="1828800"/>
            <a:ext cx="548640" cy="548640"/>
          </a:xfrm>
          <a:prstGeom prst="ellipse">
            <a:avLst/>
          </a:prstGeom>
          <a:solidFill>
            <a:srgbClr val="E08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60520" y="1993392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0" y="2743200"/>
            <a:ext cx="16002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06240" y="3090672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06192C"/>
                </a:solidFill>
                <a:latin typeface="Aptos"/>
              </a:defRPr>
            </a:pPr>
            <a:r>
              <a:t>Kapcsolási</a:t>
            </a:r>
            <a:br/>
            <a:r>
              <a:t>gyakoriság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715000" y="3364992"/>
            <a:ext cx="274320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6080760" y="1828800"/>
            <a:ext cx="548640" cy="548640"/>
          </a:xfrm>
          <a:prstGeom prst="ellipse">
            <a:avLst/>
          </a:prstGeom>
          <a:solidFill>
            <a:srgbClr val="125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80760" y="1993392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35040" y="2743200"/>
            <a:ext cx="16002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0" y="3090672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06192C"/>
                </a:solidFill>
                <a:latin typeface="Aptos"/>
              </a:defRPr>
            </a:pPr>
            <a:r>
              <a:t>Beépítési</a:t>
            </a:r>
            <a:br/>
            <a:r>
              <a:t>környezet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635240" y="3364992"/>
            <a:ext cx="274320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8001000" y="1828800"/>
            <a:ext cx="548640" cy="548640"/>
          </a:xfrm>
          <a:prstGeom prst="ellipse">
            <a:avLst/>
          </a:prstGeom>
          <a:solidFill>
            <a:srgbClr val="5B5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01000" y="1993392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55279" y="2743200"/>
            <a:ext cx="16002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0" y="3090672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06192C"/>
                </a:solidFill>
                <a:latin typeface="Aptos"/>
              </a:defRPr>
            </a:pPr>
            <a:r>
              <a:t>Karbantartás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555480" y="3364992"/>
            <a:ext cx="274320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9921240" y="1828800"/>
            <a:ext cx="548640" cy="548640"/>
          </a:xfrm>
          <a:prstGeom prst="ellipse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21240" y="1993392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875519" y="2743200"/>
            <a:ext cx="16002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966960" y="3090672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06192C"/>
                </a:solidFill>
                <a:latin typeface="Aptos"/>
              </a:defRPr>
            </a:pPr>
            <a:r>
              <a:t>Életciklus /</a:t>
            </a:r>
            <a:br/>
            <a:r>
              <a:t>környezet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489204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6192C"/>
                </a:solidFill>
                <a:latin typeface="Aptos"/>
              </a:defRPr>
            </a:pPr>
            <a:r>
              <a:t>A kiválasztás végén mindig a konkrét gyártói adatok és a hálózati számítások döntenek.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Példa: 20 kV-os ipari mező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Gyakori kapcsolás + kis karbantartás + SF6-mentes ívoltás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645920"/>
            <a:ext cx="31089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93852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6192C"/>
                </a:solidFill>
                <a:latin typeface="Aptos"/>
              </a:defRPr>
            </a:pPr>
            <a:r>
              <a:t>IGÉNYEK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487168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25388"/>
                </a:solidFill>
                <a:latin typeface="Aptos"/>
              </a:defRPr>
            </a:pPr>
            <a:r>
              <a:t>20 kV</a:t>
            </a:r>
            <a:br/>
            <a:r>
              <a:t>sok kapcsolás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977639" y="2560320"/>
            <a:ext cx="640081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709160" y="1645920"/>
            <a:ext cx="3108960" cy="1828800"/>
          </a:xfrm>
          <a:prstGeom prst="roundRect">
            <a:avLst/>
          </a:prstGeom>
          <a:solidFill>
            <a:srgbClr val="EBF8F1"/>
          </a:solidFill>
          <a:ln>
            <a:solidFill>
              <a:srgbClr val="288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0" y="193852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88B66"/>
                </a:solidFill>
                <a:latin typeface="Aptos"/>
              </a:defRPr>
            </a:pPr>
            <a:r>
              <a:t>ELSŐKÉNT VIZSGÁLT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2487168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88B66"/>
                </a:solidFill>
                <a:latin typeface="Aptos"/>
              </a:defRPr>
            </a:pPr>
            <a:r>
              <a:t>VÁKUUM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863840" y="2560320"/>
            <a:ext cx="640080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595360" y="1645920"/>
            <a:ext cx="27432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193852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6192C"/>
                </a:solidFill>
                <a:latin typeface="Aptos"/>
              </a:defRPr>
            </a:pPr>
            <a:r>
              <a:t>DE ELLENŐRIZNI KELL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32520" y="24231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E433F"/>
                </a:solidFill>
                <a:latin typeface="Aptos"/>
              </a:defRPr>
            </a:pPr>
            <a:r>
              <a:t>Un • In • Ik</a:t>
            </a:r>
            <a:br/>
            <a:r>
              <a:t>élettartam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4348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1">
                <a:solidFill>
                  <a:srgbClr val="06192C"/>
                </a:solidFill>
                <a:latin typeface="Aptos"/>
              </a:defRPr>
            </a:pPr>
            <a:r>
              <a:t>A technológiai preferencia nem helyettesíti a névleges adatok, a zárlati számítás és a gyártói előírások ellenőrzését.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Összefoglalás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18. hét öt kulcsgondolata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1371600"/>
            <a:ext cx="530352" cy="530352"/>
          </a:xfrm>
          <a:prstGeom prst="ellipse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36192"/>
            <a:ext cx="530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1444752"/>
            <a:ext cx="9784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06192C"/>
                </a:solidFill>
                <a:latin typeface="Aptos"/>
              </a:defRPr>
            </a:pPr>
            <a:r>
              <a:t>A megszakítótípusokat alapvetően az ívoltó közeg különbözteti meg.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2249424"/>
            <a:ext cx="530352" cy="530352"/>
          </a:xfrm>
          <a:prstGeom prst="ellipse">
            <a:avLst/>
          </a:prstGeom>
          <a:solidFill>
            <a:srgbClr val="E08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414016"/>
            <a:ext cx="530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2322576"/>
            <a:ext cx="9784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06192C"/>
                </a:solidFill>
                <a:latin typeface="Aptos"/>
              </a:defRPr>
            </a:pPr>
            <a:r>
              <a:t>Az olaj és a sűrített levegő ma főként régebbi technológiákban fontos.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3127248"/>
            <a:ext cx="530352" cy="530352"/>
          </a:xfrm>
          <a:prstGeom prst="ellipse">
            <a:avLst/>
          </a:prstGeom>
          <a:solidFill>
            <a:srgbClr val="5B5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291840"/>
            <a:ext cx="530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3200400"/>
            <a:ext cx="9784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06192C"/>
                </a:solidFill>
                <a:latin typeface="Aptos"/>
              </a:defRPr>
            </a:pPr>
            <a:r>
              <a:t>Az SF6 kiváló villamos tulajdonságú, de jelentős környezeti terhet jelent.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4005072"/>
            <a:ext cx="530352" cy="530352"/>
          </a:xfrm>
          <a:prstGeom prst="ellipse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169663"/>
            <a:ext cx="530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72768" y="4078224"/>
            <a:ext cx="9784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06192C"/>
                </a:solidFill>
                <a:latin typeface="Aptos"/>
              </a:defRPr>
            </a:pPr>
            <a:r>
              <a:t>A vákuum középfeszültségen hosszú élettartamú, kis karbantartású megoldás.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4882896"/>
            <a:ext cx="530352" cy="530352"/>
          </a:xfrm>
          <a:prstGeom prst="ellipse">
            <a:avLst/>
          </a:prstGeom>
          <a:solidFill>
            <a:srgbClr val="BE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047488"/>
            <a:ext cx="530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2768" y="4956048"/>
            <a:ext cx="9784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06192C"/>
                </a:solidFill>
                <a:latin typeface="Aptos"/>
              </a:defRPr>
            </a:pPr>
            <a:r>
              <a:t>A jövő kapcsolástechnikájában az életciklus és a környezeti hatás is döntő.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5806440"/>
            <a:ext cx="10515600" cy="438912"/>
          </a:xfrm>
          <a:prstGeom prst="roundRect">
            <a:avLst/>
          </a:prstGeom>
          <a:solidFill>
            <a:srgbClr val="E7F1F8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5934456"/>
            <a:ext cx="10149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25388"/>
                </a:solidFill>
                <a:latin typeface="Aptos"/>
              </a:defRPr>
            </a:pPr>
            <a:r>
              <a:t>19. hét → Biztosítók és olvadóbiztosítók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