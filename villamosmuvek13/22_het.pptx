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22.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629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Ellenőrzés, karbantartás</a:t>
            </a:r>
            <a:br/>
            <a:r>
              <a:t>és komplex gyakorlat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állapot • mérés • funkciópróba • trend</a:t>
            </a:r>
            <a:br/>
            <a:r>
              <a:t>• hibakeresés • dokumentálás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08760"/>
            <a:ext cx="3337560" cy="324612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ear 6 7"/>
          <p:cNvSpPr/>
          <p:nvPr/>
        </p:nvSpPr>
        <p:spPr>
          <a:xfrm>
            <a:off x="8321040" y="1965960"/>
            <a:ext cx="1417320" cy="1417320"/>
          </a:xfrm>
          <a:prstGeom prst="gear6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0" y="2926080"/>
            <a:ext cx="960120" cy="9601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318211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1605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ELLENŐRZÖTT ÁLLAPOT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8/8.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8 hetes témakör lezárása rendszerben gondolkodva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Állapot és karbantartás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vizuális ellenőrzés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érintkezők és szigetelés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hajtás és motor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segédérintkezők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karbantartási dokumentáció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Funkció és rendszer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záró-/kioldókör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reteszelési funkciópróba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kapcsolási idők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hibakeresési lánc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15-22. hét összefoglalása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Karbantartási stratégiák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minden készüléket ugyanakkor és ugyanúgy kell karbantartani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IDŐALAPÚ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előre meghatározott periódus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tervezhető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MŰVELETSZÁM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kapcsolási ciklusok alapján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kopásfüggő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ÁLLAPOTFÜGGŐ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mérés és trend alapján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célzott beavatkozás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HIBA UTÁNI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nagy igénybevétel után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célzott vizsgálat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Vizuális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legegyszerűbb vizsgálat is sok hibát megmutathat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repedés / törés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szennyeződés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elszíneződés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nedvességnyom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korrózió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laza kötés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sérülés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rendellenes kopás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ÜZEMI NYOMOK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szivárgás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melegedés nyoma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hibás helyzetjelző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rendellenes hang / szag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Érintkezők és szigetelés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Két alapvető primer állapotjellemző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348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ÉRINTKEZŐK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ív- és mechanikai kopás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érintkezési ellenállás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melegedés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gyártói kopáshatár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508760"/>
            <a:ext cx="73152" cy="44348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221991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felületi tisztaság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97479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mechanikai épség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17296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környezeti szennyezés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4845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előírt diagnosztikai mérés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Hajtásdiagnosztika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működési idő és a motoráram állapotjelző lehet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1645920"/>
            <a:ext cx="0" cy="347472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5120640"/>
            <a:ext cx="5303520" cy="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554480" y="4251960"/>
            <a:ext cx="1005840" cy="22860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60320" y="3886200"/>
            <a:ext cx="1005840" cy="36576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566160" y="3337560"/>
            <a:ext cx="1005840" cy="54864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72000" y="2468880"/>
            <a:ext cx="1097280" cy="86868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E433F"/>
                </a:solidFill>
                <a:latin typeface="Aptos"/>
              </a:defRPr>
            </a:pPr>
            <a:r>
              <a:t>működési idő / motoráram növekvő trendje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645920"/>
            <a:ext cx="4480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1645920"/>
            <a:ext cx="73152" cy="35661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Lehetséges okok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359152"/>
            <a:ext cx="3950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mechanikai súrlódás nő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834640"/>
            <a:ext cx="3950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kenési probléma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10128"/>
            <a:ext cx="3950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motor / áttétel terhelése nő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785616"/>
            <a:ext cx="3950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rugómechanizmus állapota romlik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261104"/>
            <a:ext cx="3950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további célzott vizsgálat kell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Funkciópróba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Nemcsak azt nézzük, hogy mozog - azt is, hogy helyesen működik-e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828800"/>
            <a:ext cx="566928" cy="56692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815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06192C"/>
                </a:solidFill>
                <a:latin typeface="Aptos"/>
              </a:defRPr>
            </a:pPr>
            <a:r>
              <a:t>HELYI</a:t>
            </a:r>
            <a:br/>
            <a:r>
              <a:t>ZÁR/KI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182880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0815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06192C"/>
                </a:solidFill>
                <a:latin typeface="Aptos"/>
              </a:defRPr>
            </a:pPr>
            <a:r>
              <a:t>TÁV</a:t>
            </a:r>
            <a:br/>
            <a:r>
              <a:t>ZÁR/KI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772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74920" y="18288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0815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06192C"/>
                </a:solidFill>
                <a:latin typeface="Aptos"/>
              </a:defRPr>
            </a:pPr>
            <a:r>
              <a:t>HELYZET-</a:t>
            </a:r>
            <a:br/>
            <a:r>
              <a:t>JELZÉS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3364992"/>
            <a:ext cx="32003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06640" y="1828800"/>
            <a:ext cx="566928" cy="56692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0815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06192C"/>
                </a:solidFill>
                <a:latin typeface="Aptos"/>
              </a:defRPr>
            </a:pPr>
            <a:r>
              <a:t>RETESZELÉSI</a:t>
            </a:r>
            <a:br/>
            <a:r>
              <a:t>TILTÁS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59" y="3364992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38359" y="1828800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59" y="30815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06192C"/>
                </a:solidFill>
                <a:latin typeface="Aptos"/>
              </a:defRPr>
            </a:pPr>
            <a:r>
              <a:t>KIOLDÓKÖR-</a:t>
            </a:r>
            <a:br/>
            <a:r>
              <a:t>FELÜGYELET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Kapcsolási idők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mechanika állapota számszerűen is követhető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3484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NYITÁSI IDŐ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kioldóparancstól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érintkezők nyitásáig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trendben értékelhető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0876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08760"/>
            <a:ext cx="73152" cy="44348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69163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ZÁRÁSI IDŐ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21991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záróparancstól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97479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érintkezők zárásáig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72968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mechanikai állapotjelző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50876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508760"/>
            <a:ext cx="73152" cy="44348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169163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PÓLUSEGYÜTTFUTÁS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21991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három pólus időeltérése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79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szinkron működés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72968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gyártói határérték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Dokumentálás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mérés csak akkor válik karbantartási információvá, ha visszakereshető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787"/>
                </a:solidFill>
                <a:latin typeface="Aptos"/>
              </a:defRPr>
            </a:pPr>
            <a:r>
              <a:t>készülék • típus • mező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787"/>
                </a:solidFill>
                <a:latin typeface="Aptos"/>
              </a:defRPr>
            </a:pPr>
            <a:r>
              <a:t>érték • határérték • módszer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19" y="182880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ELTÉRÉS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787"/>
                </a:solidFill>
                <a:latin typeface="Aptos"/>
              </a:defRPr>
            </a:pPr>
            <a:r>
              <a:t>hiba • megfigyelés •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747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794759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787"/>
                </a:solidFill>
                <a:latin typeface="Aptos"/>
              </a:defRPr>
            </a:pPr>
            <a:r>
              <a:t>javítás • alkatrész • kenés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747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80" y="3794759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787"/>
                </a:solidFill>
                <a:latin typeface="Aptos"/>
              </a:defRPr>
            </a:pPr>
            <a:r>
              <a:t>üzemképes? • további teendő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747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5319" y="3794759"/>
            <a:ext cx="502920" cy="50292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19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192C"/>
                </a:solidFill>
                <a:latin typeface="Aptos"/>
              </a:defRPr>
            </a:pPr>
            <a:r>
              <a:t>KÖVETÉS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19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67787"/>
                </a:solidFill>
                <a:latin typeface="Aptos"/>
              </a:defRPr>
            </a:pPr>
            <a:r>
              <a:t>következő ellenőrzés • felelős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Komplex 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'nem kapcsol' hibát funkcionális láncra bontjuk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Segédenergia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50876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Vezérlési mód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508760"/>
            <a:ext cx="502920" cy="50292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Reteszelés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150876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Parancs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52044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3520440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52044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Főmechanika</a:t>
            </a:r>
          </a:p>
        </p:txBody>
      </p:sp>
      <p:sp>
        <p:nvSpPr>
          <p:cNvPr id="36" name="Oval 35"/>
          <p:cNvSpPr/>
          <p:nvPr/>
        </p:nvSpPr>
        <p:spPr>
          <a:xfrm>
            <a:off x="9006840" y="352044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06192C"/>
                </a:solidFill>
                <a:latin typeface="Aptos"/>
              </a:defRPr>
            </a:pPr>
            <a:r>
              <a:t>Visszajelzés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15-22. hét egyetlen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készülékismerettől az üzembiztonságig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17320"/>
            <a:ext cx="548640" cy="54864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3716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161848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RENDSZEREZÉS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39" y="1828800"/>
            <a:ext cx="182881" cy="0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37560" y="1417320"/>
            <a:ext cx="548640" cy="54864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5819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3716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8" y="161848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SZAKASZOLÁS</a:t>
            </a:r>
            <a:br/>
            <a:r>
              <a:t>FÖLDELÉS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1828800"/>
            <a:ext cx="182880" cy="0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72200" y="1417320"/>
            <a:ext cx="548640" cy="54864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819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3716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61848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1828800"/>
            <a:ext cx="182880" cy="0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006840" y="1417320"/>
            <a:ext cx="548640" cy="54864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5819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161848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ÍVOLTÓ</a:t>
            </a:r>
            <a:br/>
            <a:r>
              <a:t>TECHNOLÓGIA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657600"/>
            <a:ext cx="548640" cy="5486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2219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36118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38587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BIZTOSÍTÓ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63239" y="4069080"/>
            <a:ext cx="182881" cy="0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337560" y="3657600"/>
            <a:ext cx="548640" cy="54864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82219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36118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33088" y="38587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HAJTÁS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97880" y="4069080"/>
            <a:ext cx="182880" cy="0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172200" y="3657600"/>
            <a:ext cx="548640" cy="54864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82219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6118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38587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RETESZELÉS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32520" y="4069080"/>
            <a:ext cx="182880" cy="0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006840" y="3657600"/>
            <a:ext cx="548640" cy="5486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382219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36118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02368" y="38587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06192C"/>
                </a:solidFill>
                <a:latin typeface="Aptos"/>
              </a:defRPr>
            </a:pPr>
            <a:r>
              <a:t>KARBANTARTÁS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Komplex 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Távparancsra nem zár a megszakító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MÁR TUDJUK: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5661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Rendben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DC segédüzem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rugó feltöltve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828800"/>
            <a:ext cx="73152" cy="35661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0116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Következő ellenőrzés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542032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LOCAL/REMOTE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01752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lockout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493008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földelő és szakaszoló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968496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segédérintkezők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8288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73152" cy="35661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116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Végrehajtó lánc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42032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záróparancs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1752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zárótekercs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93008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mechanika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68496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véghelyzet / visszajelzés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Témakörzáró 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kapcsolókészülék csak rendszerben értelmezhető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primer készülék állapota mellett a hajtás és a segédüzem is döntő.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funkciópróba igazolja a megengedett működést és a tiltott művelet blokkolását.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trendek segítenek az állapotromlás korai felismerésében.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hibakeresés energiaforrástól a mechanikán át a visszajelzésig halad.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15-22. hét együtt: készülék • ívoltás • védelem • hajtás • reteszelés • karbantartás.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A villamos kapcsolókészülékek 8 hetes témaköre lezárva.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