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29.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766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Villamosenergia-költségek</a:t>
            </a:r>
            <a:br/>
            <a:r>
              <a:t>és költségelemzés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004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kWh • Ft • kWh/db • KPI</a:t>
            </a:r>
            <a:br/>
            <a:r>
              <a:t>• megtakarítás • megtérülés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2331720"/>
            <a:ext cx="713232" cy="71323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257860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kWh</a:t>
            </a:r>
          </a:p>
        </p:txBody>
      </p:sp>
      <p:sp>
        <p:nvSpPr>
          <p:cNvPr id="11" name="Oval 10"/>
          <p:cNvSpPr/>
          <p:nvPr/>
        </p:nvSpPr>
        <p:spPr>
          <a:xfrm>
            <a:off x="8503919" y="2331720"/>
            <a:ext cx="713232" cy="71323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257860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Ft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2331720"/>
            <a:ext cx="713232" cy="71323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57860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0" y="2331720"/>
            <a:ext cx="713232" cy="71323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57860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ROI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3886200"/>
            <a:ext cx="2743201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046720" y="3291840"/>
            <a:ext cx="411480" cy="5943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2834640"/>
            <a:ext cx="411480" cy="1051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2240280"/>
            <a:ext cx="411480" cy="16459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04120" y="1645919"/>
            <a:ext cx="411480" cy="22402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7/10.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fogyasztási adattól a gazdasági döntésig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Költség és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energiaköltség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teljesítményjellegű költség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almérés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fajlagos energiafelhasználás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bázisidőszak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Döntés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megtakarítás számítása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egyszerű megtérülés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terhelési csúcs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mérés előtte és utána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Az egyszerű energiaköltség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fogyasztás és az egységár szorzata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82880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9B7E8"/>
                </a:solidFill>
                <a:latin typeface="Aptos"/>
              </a:defRPr>
            </a:pPr>
            <a:r>
              <a:t>48 000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787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931"/>
                </a:solidFill>
                <a:latin typeface="Aptos"/>
              </a:defRPr>
            </a:pPr>
            <a:r>
              <a:t>EGYSÉGÁR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E08931"/>
                </a:solidFill>
                <a:latin typeface="Aptos"/>
              </a:defRPr>
            </a:pPr>
            <a:r>
              <a:t>60 Ft/kWh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787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017520" cy="246888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48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KÖLTSÉG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88B66"/>
                </a:solidFill>
                <a:latin typeface="Aptos"/>
              </a:defRPr>
            </a:pPr>
            <a:r>
              <a:t>2,88 M 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834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67787"/>
                </a:solidFill>
                <a:latin typeface="Aptos"/>
              </a:defRPr>
            </a:pPr>
            <a:r>
              <a:t>Oktatási példa • a valós ipari számla több díjelemet tartalmazhat.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Miért kell almérés?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telephelyi összegből nem látszik, hol keletkezik a fogyasztás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194560" cy="118872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FŐMÉRŐ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423160"/>
            <a:ext cx="1188720" cy="105156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0" y="3474720"/>
            <a:ext cx="1600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858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29B7E8"/>
                </a:solidFill>
                <a:latin typeface="Aptos"/>
              </a:defRPr>
            </a:pPr>
            <a:r>
              <a:t>ÜZEM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423160"/>
            <a:ext cx="3291840" cy="105156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03520" y="3474720"/>
            <a:ext cx="1600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3858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5B5C9B"/>
                </a:solidFill>
                <a:latin typeface="Aptos"/>
              </a:defRPr>
            </a:pPr>
            <a:r>
              <a:t>ÜZEM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423160"/>
            <a:ext cx="5394960" cy="105156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3474720"/>
            <a:ext cx="1600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3858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E08931"/>
                </a:solidFill>
                <a:latin typeface="Aptos"/>
              </a:defRPr>
            </a:pPr>
            <a:r>
              <a:t>HVAC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423160"/>
            <a:ext cx="7498080" cy="105156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09759" y="3474720"/>
            <a:ext cx="1600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9" y="38587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288B66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5166360"/>
            <a:ext cx="8321040" cy="50292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5321808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Almérés → felelősségi terület → eltérés → célzott beavatkozás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Fajlagos energiafelhasználás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fogyasztást a termelési eredményhez viszonyítjuk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691640"/>
            <a:ext cx="3749039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FOGYASZTÁS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B7E8"/>
                </a:solidFill>
                <a:latin typeface="Aptos"/>
              </a:defRPr>
            </a:pPr>
            <a:r>
              <a:t>36 000 kWh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691640"/>
            <a:ext cx="3749039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5C9B"/>
                </a:solidFill>
                <a:latin typeface="Aptos"/>
              </a:defRPr>
            </a:pPr>
            <a:r>
              <a:t>TERMELÉS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5C9B"/>
                </a:solidFill>
                <a:latin typeface="Aptos"/>
              </a:defRPr>
            </a:pPr>
            <a:r>
              <a:t>12 000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788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7787"/>
                </a:solidFill>
                <a:latin typeface="Aptos"/>
              </a:defRPr>
            </a:pPr>
            <a:r>
              <a:t>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5166360"/>
            <a:ext cx="420624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53218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ef = 3 kWh/db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Abszolút vagy fajlagos?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kisebb összfogyasztás nem mindig jelent jobb energiahatékonyságot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29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42976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ABSZOLÚT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megmutatja az összes felhasználást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számlázás és kapacitás szempontjából fontos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64408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termeléscsökkenés miatt is csökkenhet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00200"/>
            <a:ext cx="5029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73152" cy="42976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FAJLAGOS kWh/db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13432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termeléshez normalizál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hatékonysági változást jobban jelez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64408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termékösszetétel még torzíthatja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Bázis és megtakarítás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összehasonlítás csak megfelelő referenciával értelmes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96596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125388"/>
                </a:solidFill>
                <a:latin typeface="Aptos"/>
              </a:defRPr>
            </a:pPr>
            <a:r>
              <a:t>BÁZIS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788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06192C"/>
                </a:solidFill>
                <a:latin typeface="Aptos"/>
              </a:defRPr>
            </a:pPr>
            <a:r>
              <a:t>korábbi időszak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87752" y="196596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5B5C9B"/>
                </a:solidFill>
                <a:latin typeface="Aptos"/>
              </a:defRPr>
            </a:pPr>
            <a:r>
              <a:t>NORMALIZÁLÁS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788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06192C"/>
                </a:solidFill>
                <a:latin typeface="Aptos"/>
              </a:defRPr>
            </a:pPr>
            <a:r>
              <a:t>termelés / időjárás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53712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46904" y="196596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E08931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788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06192C"/>
                </a:solidFill>
                <a:latin typeface="Aptos"/>
              </a:defRPr>
            </a:pPr>
            <a:r>
              <a:t>műszaki intézkedés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12864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06056" y="196596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3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29B7E8"/>
                </a:solidFill>
                <a:latin typeface="Aptos"/>
              </a:defRPr>
            </a:pPr>
            <a:r>
              <a:t>ÚJ MÉRÉS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788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06192C"/>
                </a:solidFill>
                <a:latin typeface="Aptos"/>
              </a:defRPr>
            </a:pPr>
            <a:r>
              <a:t>azonos feltételek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72016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65208" y="196596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74936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288B66"/>
                </a:solidFill>
                <a:latin typeface="Aptos"/>
              </a:defRPr>
            </a:pPr>
            <a:r>
              <a:t>MEGTAKARÍTÁS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2788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0">
                <a:solidFill>
                  <a:srgbClr val="06192C"/>
                </a:solidFill>
                <a:latin typeface="Aptos"/>
              </a:defRPr>
            </a:pPr>
            <a:r>
              <a:t>különbség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4617720"/>
            <a:ext cx="8869680" cy="64008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81888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BE433F"/>
                </a:solidFill>
                <a:latin typeface="Aptos"/>
              </a:defRPr>
            </a:pPr>
            <a:r>
              <a:t>A termelési mennyiség változását nem szabad energiamegtakarításnak nevezni.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Egyszerű megtérülés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Gyors beruházási előszűrés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2926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931"/>
                </a:solidFill>
                <a:latin typeface="Aptos"/>
              </a:defRPr>
            </a:pPr>
            <a:r>
              <a:t>BERUHÁZÁS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E08931"/>
                </a:solidFill>
                <a:latin typeface="Aptos"/>
              </a:defRPr>
            </a:pPr>
            <a:r>
              <a:t>5,4 M 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645920"/>
            <a:ext cx="2926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ÉVES MEGTAKARÍTÁS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288B66"/>
                </a:solidFill>
                <a:latin typeface="Aptos"/>
              </a:defRPr>
            </a:pPr>
            <a:r>
              <a:t>3,6 M 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2926080" cy="320040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5388"/>
                </a:solidFill>
                <a:latin typeface="Aptos"/>
              </a:defRPr>
            </a:pPr>
            <a:r>
              <a:t>MEGTÉRÜLÉS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5388"/>
                </a:solidFill>
                <a:latin typeface="Aptos"/>
              </a:defRPr>
            </a:pPr>
            <a:r>
              <a:t>1,5 év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21208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T = beruházási költség / éves megtakarítás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megtérülés nem minden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jó döntéshez több szempontot kell együtt vizsgálni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PÉNZÜGY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beruházási költség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éves megtakarítás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finanszírozás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energiaár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MŰSZAKI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élettartam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megbízhatóság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karbantartás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termelési kockázat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ÜZEMELTETÉS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üzemidő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terhelési profil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kezelhetőség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visszamérhetőség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Terhelési csúcs kezelése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fogyasztók időbeli szervezése is energiagazdálkodási feladat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599"/>
            <a:ext cx="1280160" cy="10058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B7E8"/>
                </a:solidFill>
                <a:latin typeface="Aptos"/>
              </a:defRPr>
            </a:pPr>
            <a:r>
              <a:t>GÉP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108959"/>
            <a:ext cx="1280160" cy="15544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48280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08931"/>
                </a:solidFill>
                <a:latin typeface="Aptos"/>
              </a:defRPr>
            </a:pPr>
            <a:r>
              <a:t>GÉP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3474720"/>
            <a:ext cx="1280160" cy="118872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8280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B5C9B"/>
                </a:solidFill>
                <a:latin typeface="Aptos"/>
              </a:defRPr>
            </a:pPr>
            <a:r>
              <a:t>GÉP 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743199"/>
            <a:ext cx="1280160" cy="19202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8280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88B66"/>
                </a:solidFill>
                <a:latin typeface="Aptos"/>
              </a:defRPr>
            </a:pPr>
            <a:r>
              <a:t>GÉP 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663440"/>
            <a:ext cx="10424160" cy="0"/>
          </a:xfrm>
          <a:prstGeom prst="line">
            <a:avLst/>
          </a:prstGeom>
          <a:ln w="254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28800" y="1600200"/>
            <a:ext cx="850392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178308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06192C"/>
                </a:solidFill>
                <a:latin typeface="Aptos"/>
              </a:defRPr>
            </a:pPr>
            <a:r>
              <a:t>Ha a technológia engedi: indítások és nagy fogyasztók időbeli eltolása.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Energetikai KPI-k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Kevés, jól választott mutató többet ér sok feldolgozatlan adatnál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658368" cy="65836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kWh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8" y="162763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összfogyasztás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1508760"/>
            <a:ext cx="658368" cy="65836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70992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kWh/db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8808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2763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fajlagos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508760"/>
            <a:ext cx="658368" cy="658368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70992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kW max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13448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162763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csúcs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1508760"/>
            <a:ext cx="658368" cy="65836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70992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kW alap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8088" y="149047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162763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üresjárat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520440"/>
            <a:ext cx="658368" cy="65836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216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cos 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4168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5608" y="36393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3520440"/>
            <a:ext cx="658368" cy="658368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7216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kvarh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78808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36393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meddőenergia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520440"/>
            <a:ext cx="658368" cy="65836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7216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3448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04888" y="36393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eltérés</a:t>
            </a:r>
          </a:p>
        </p:txBody>
      </p:sp>
      <p:sp>
        <p:nvSpPr>
          <p:cNvPr id="36" name="Oval 35"/>
          <p:cNvSpPr/>
          <p:nvPr/>
        </p:nvSpPr>
        <p:spPr>
          <a:xfrm>
            <a:off x="9006840" y="3520440"/>
            <a:ext cx="658368" cy="65836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7216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Ft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48088" y="3502152"/>
            <a:ext cx="1737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9528" y="36393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1">
                <a:solidFill>
                  <a:srgbClr val="06192C"/>
                </a:solidFill>
                <a:latin typeface="Aptos"/>
              </a:defRPr>
            </a:pPr>
            <a:r>
              <a:t>megtakarítás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Havi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Egy pillantásra láthatóvá tesszük az eltéréseket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9B7E8"/>
                </a:solidFill>
                <a:latin typeface="Aptos"/>
              </a:defRPr>
            </a:pPr>
            <a:r>
              <a:t>41 000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kWh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88B66"/>
                </a:solidFill>
                <a:latin typeface="Aptos"/>
              </a:defRPr>
            </a:pPr>
            <a:r>
              <a:t>2,50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kWh/db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55448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BE433F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31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kW max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155448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5B5C9B"/>
                </a:solidFill>
                <a:latin typeface="Aptos"/>
              </a:defRPr>
            </a:pPr>
            <a:r>
              <a:t>-8,9%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331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fajlagos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257800"/>
            <a:ext cx="1005840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28800" y="4160520"/>
            <a:ext cx="1005840" cy="109728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3949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67787"/>
                </a:solidFill>
                <a:latin typeface="Aptos"/>
              </a:defRPr>
            </a:pPr>
            <a:r>
              <a:t>Jan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343400"/>
            <a:ext cx="1005840" cy="91440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53949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67787"/>
                </a:solidFill>
                <a:latin typeface="Aptos"/>
              </a:defRPr>
            </a:pPr>
            <a:r>
              <a:t>Feb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1005840" cy="14173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3949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67787"/>
                </a:solidFill>
                <a:latin typeface="Aptos"/>
              </a:defRPr>
            </a:pPr>
            <a:r>
              <a:t>Már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4434840"/>
            <a:ext cx="1005840" cy="8229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53949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67787"/>
                </a:solidFill>
                <a:latin typeface="Aptos"/>
              </a:defRPr>
            </a:pPr>
            <a:r>
              <a:t>Ápr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29.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A kWh mellett a teljesítmény és a terhelési profil is gazdasági tényező lehet.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A fajlagos mutató a fogyasztást a termelési eredményhez köti.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Megtakarítást megfelelő bázishoz és összehasonlítható állapothoz mérünk.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Az egyszerű megtérülés gyors előszűrés, de nem teljes pénzügyi elemzés.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A jó energiagazdálkodás mér → elemez → dönt → beavatkozik → visszamér.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30. hét → Energiahatékonyság ipari fogyasztóknál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