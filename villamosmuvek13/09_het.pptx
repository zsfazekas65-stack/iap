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"/>
            <a:ext cx="1060704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1">
                <a:solidFill>
                  <a:srgbClr val="B7D5E9"/>
                </a:solidFill>
                <a:latin typeface="DejaVu Sans"/>
              </a:defRPr>
            </a:pPr>
            <a:r>
              <a:t>IAP • VILLAMOS MŰVEK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7955279" cy="12344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3100" b="1">
                <a:solidFill>
                  <a:srgbClr val="FFFFFF"/>
                </a:solidFill>
                <a:latin typeface="DejaVu Sans"/>
              </a:defRPr>
            </a:pPr>
            <a:r>
              <a:t>Védelmi rendszerek</a:t>
            </a:r>
            <a:br/>
            <a:r>
              <a:t>és relévédelem alapjai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907792"/>
            <a:ext cx="676656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600" b="0">
                <a:solidFill>
                  <a:srgbClr val="CFE2EF"/>
                </a:solidFill>
                <a:latin typeface="DejaVu Sans"/>
              </a:defRPr>
            </a:pPr>
            <a:r>
              <a:t>9. hét  |  feldolgozási idő: 2 tanóra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886200"/>
            <a:ext cx="1417320" cy="384048"/>
          </a:xfrm>
          <a:prstGeom prst="roundRect">
            <a:avLst/>
          </a:prstGeom>
          <a:solidFill>
            <a:srgbClr val="B1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</a:defRPr>
            </a:pPr>
            <a:r>
              <a:t>ZÁRLAT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23160" y="3886200"/>
            <a:ext cx="1965960" cy="384048"/>
          </a:xfrm>
          <a:prstGeom prst="roundRect">
            <a:avLst/>
          </a:prstGeom>
          <a:solidFill>
            <a:srgbClr val="2A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</a:defRPr>
            </a:pPr>
            <a:r>
              <a:t>RELÉVÉDELEM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3886200"/>
            <a:ext cx="2057400" cy="384048"/>
          </a:xfrm>
          <a:prstGeom prst="roundRect">
            <a:avLst/>
          </a:prstGeom>
          <a:solidFill>
            <a:srgbClr val="377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</a:defRPr>
            </a:pPr>
            <a:r>
              <a:t>SZELEKTIVITÁS</a:t>
            </a:r>
          </a:p>
        </p:txBody>
      </p:sp>
      <p:sp>
        <p:nvSpPr>
          <p:cNvPr id="8" name="Oval 7"/>
          <p:cNvSpPr/>
          <p:nvPr/>
        </p:nvSpPr>
        <p:spPr>
          <a:xfrm>
            <a:off x="8686800" y="1828800"/>
            <a:ext cx="201168" cy="201168"/>
          </a:xfrm>
          <a:prstGeom prst="ellipse">
            <a:avLst/>
          </a:prstGeom>
          <a:solidFill>
            <a:srgbClr val="B7D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787384" y="1929384"/>
            <a:ext cx="685800" cy="411480"/>
          </a:xfrm>
          <a:prstGeom prst="line">
            <a:avLst/>
          </a:prstGeom>
          <a:ln w="22860">
            <a:solidFill>
              <a:srgbClr val="B7D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9372600" y="2240280"/>
            <a:ext cx="201168" cy="201168"/>
          </a:xfrm>
          <a:prstGeom prst="ellipse">
            <a:avLst/>
          </a:prstGeom>
          <a:solidFill>
            <a:srgbClr val="B7D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9473184" y="2340864"/>
            <a:ext cx="685800" cy="411480"/>
          </a:xfrm>
          <a:prstGeom prst="line">
            <a:avLst/>
          </a:prstGeom>
          <a:ln w="22860">
            <a:solidFill>
              <a:srgbClr val="B7D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0058400" y="2651760"/>
            <a:ext cx="201168" cy="201168"/>
          </a:xfrm>
          <a:prstGeom prst="ellipse">
            <a:avLst/>
          </a:prstGeom>
          <a:solidFill>
            <a:srgbClr val="B7D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10158984" y="2752344"/>
            <a:ext cx="685800" cy="411480"/>
          </a:xfrm>
          <a:prstGeom prst="line">
            <a:avLst/>
          </a:prstGeom>
          <a:ln w="22860">
            <a:solidFill>
              <a:srgbClr val="B7D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0744200" y="3063240"/>
            <a:ext cx="201168" cy="201168"/>
          </a:xfrm>
          <a:prstGeom prst="ellipse">
            <a:avLst/>
          </a:prstGeom>
          <a:solidFill>
            <a:srgbClr val="B7D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7899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2A6FA0"/>
                </a:solidFill>
                <a:latin typeface="DejaVu Sans"/>
              </a:defRPr>
            </a:pPr>
            <a:r>
              <a:t>9. HÉT • 2 TANÓRA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78992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300" b="1">
                <a:solidFill>
                  <a:srgbClr val="14304C"/>
                </a:solidFill>
                <a:latin typeface="DejaVu Sans"/>
              </a:defRPr>
            </a:pPr>
            <a:r>
              <a:t>Óravázlat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325880" cy="36576"/>
          </a:xfrm>
          <a:prstGeom prst="rect">
            <a:avLst/>
          </a:prstGeom>
          <a:solidFill>
            <a:srgbClr val="DC7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578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54864" cy="4297680"/>
          </a:xfrm>
          <a:prstGeom prst="rect">
            <a:avLst/>
          </a:prstGeom>
          <a:solidFill>
            <a:srgbClr val="2A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55063"/>
            <a:ext cx="489204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1. tanóra – Hálózati hibák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011680"/>
            <a:ext cx="4892040" cy="3685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Túláram, zárlat és földzárlat.</a:t>
            </a:r>
            <a:br/>
            <a:br/>
            <a:r>
              <a:t>A hibák veszélyei és a gyors leválasztás szükségessége.</a:t>
            </a:r>
            <a:br/>
            <a:br/>
            <a:r>
              <a:t>Hibafajták felismerése egyszerű egyvonalas hálózati rajzon.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08760"/>
            <a:ext cx="52578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508760"/>
            <a:ext cx="54864" cy="4297680"/>
          </a:xfrm>
          <a:prstGeom prst="rect">
            <a:avLst/>
          </a:prstGeom>
          <a:solidFill>
            <a:srgbClr val="377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655063"/>
            <a:ext cx="489204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2. tanóra – A relévédelem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011680"/>
            <a:ext cx="4892040" cy="3685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Mérőváltók szerepe és a védelmi relé döntése.</a:t>
            </a:r>
            <a:br/>
            <a:br/>
            <a:r>
              <a:t>Kioldóparancs és megszakító működése.</a:t>
            </a:r>
            <a:br/>
            <a:br/>
            <a:r>
              <a:t>Szelektivitás és egyszerű hibaforgatókönyv.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6473952"/>
            <a:ext cx="347472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20" b="0">
                <a:solidFill>
                  <a:srgbClr val="657480"/>
                </a:solidFill>
                <a:latin typeface="DejaVu Sans"/>
              </a:defRPr>
            </a:pPr>
            <a:r>
              <a:t>IAP  |  Villamos művek  |  13. évfolyam  |  9. hét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7899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2A6FA0"/>
                </a:solidFill>
                <a:latin typeface="DejaVu Sans"/>
              </a:defRPr>
            </a:pPr>
            <a:r>
              <a:t>ALAPGONDOLAT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78992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300" b="1">
                <a:solidFill>
                  <a:srgbClr val="14304C"/>
                </a:solidFill>
                <a:latin typeface="DejaVu Sans"/>
              </a:defRPr>
            </a:pPr>
            <a:r>
              <a:t>Miért kell védelem?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325880" cy="36576"/>
          </a:xfrm>
          <a:prstGeom prst="rect">
            <a:avLst/>
          </a:prstGeom>
          <a:solidFill>
            <a:srgbClr val="DC7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4864" cy="1417320"/>
          </a:xfrm>
          <a:prstGeom prst="rect">
            <a:avLst/>
          </a:prstGeom>
          <a:solidFill>
            <a:srgbClr val="B1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00784"/>
            <a:ext cx="297180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Berendezésvédelem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057400"/>
            <a:ext cx="2971800" cy="80467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A zárlati áram hő- és mechanikai igénybevételt okoz.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5448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554480"/>
            <a:ext cx="54864" cy="1417320"/>
          </a:xfrm>
          <a:prstGeom prst="rect">
            <a:avLst/>
          </a:prstGeom>
          <a:solidFill>
            <a:srgbClr val="2A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1700784"/>
            <a:ext cx="297180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Üzembiztonság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057400"/>
            <a:ext cx="2971800" cy="80467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A hibás részt gyorsan le kell választani.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55448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554480"/>
            <a:ext cx="54864" cy="1417320"/>
          </a:xfrm>
          <a:prstGeom prst="rect">
            <a:avLst/>
          </a:prstGeom>
          <a:solidFill>
            <a:srgbClr val="377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1700784"/>
            <a:ext cx="297180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Ellátásfolytonosság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2057400"/>
            <a:ext cx="2971800" cy="80467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A hálózat ép része maradjon üzemben.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931920"/>
            <a:ext cx="10149840" cy="6400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2100" b="1">
                <a:solidFill>
                  <a:srgbClr val="14304C"/>
                </a:solidFill>
                <a:latin typeface="DejaVu Sans"/>
              </a:defRPr>
            </a:pPr>
            <a:r>
              <a:t>A védelem feladata nem a hiba „eltüntetése”, hanem a következmények korlátozása.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6473952"/>
            <a:ext cx="347472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20" b="0">
                <a:solidFill>
                  <a:srgbClr val="657480"/>
                </a:solidFill>
                <a:latin typeface="DejaVu Sans"/>
              </a:defRPr>
            </a:pPr>
            <a:r>
              <a:t>IAP  |  Villamos művek  |  13. évfolyam  |  9. hét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7899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2A6FA0"/>
                </a:solidFill>
                <a:latin typeface="DejaVu Sans"/>
              </a:defRPr>
            </a:pPr>
            <a:r>
              <a:t>MIT KELL FELISMERNI?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78992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300" b="1">
                <a:solidFill>
                  <a:srgbClr val="14304C"/>
                </a:solidFill>
                <a:latin typeface="DejaVu Sans"/>
              </a:defRPr>
            </a:pPr>
            <a:r>
              <a:t>Alapvető hibafajták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325880" cy="36576"/>
          </a:xfrm>
          <a:prstGeom prst="rect">
            <a:avLst/>
          </a:prstGeom>
          <a:solidFill>
            <a:srgbClr val="DC7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5120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600200"/>
            <a:ext cx="54864" cy="1234440"/>
          </a:xfrm>
          <a:prstGeom prst="rect">
            <a:avLst/>
          </a:prstGeom>
          <a:solidFill>
            <a:srgbClr val="2A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746504"/>
            <a:ext cx="4754879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Túláram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103120"/>
            <a:ext cx="4754879" cy="6217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A névlegesnél nagyobb áram; lehet túlterhelés vagy hiba következménye.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00200"/>
            <a:ext cx="5120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00200"/>
            <a:ext cx="54864" cy="1234440"/>
          </a:xfrm>
          <a:prstGeom prst="rect">
            <a:avLst/>
          </a:prstGeom>
          <a:solidFill>
            <a:srgbClr val="B1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1746504"/>
            <a:ext cx="4754879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Zárlat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2103120"/>
            <a:ext cx="4754879" cy="6217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Kis impedanciájú kapcsolat; nagyon nagy hibaáram alakulhat ki.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246120"/>
            <a:ext cx="5120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246120"/>
            <a:ext cx="54864" cy="1234440"/>
          </a:xfrm>
          <a:prstGeom prst="rect">
            <a:avLst/>
          </a:prstGeom>
          <a:solidFill>
            <a:srgbClr val="DC7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3392424"/>
            <a:ext cx="4754879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Földzárlat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3749039"/>
            <a:ext cx="4754879" cy="6217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Fázisvezető és földelt rész közötti hiba.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246120"/>
            <a:ext cx="5120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246120"/>
            <a:ext cx="54864" cy="1234440"/>
          </a:xfrm>
          <a:prstGeom prst="rect">
            <a:avLst/>
          </a:prstGeom>
          <a:solidFill>
            <a:srgbClr val="377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7" y="3392424"/>
            <a:ext cx="4754879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Feszültség / frekvencia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7" y="3749039"/>
            <a:ext cx="4754879" cy="6217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Az üzemi állapottól való eltérés szintén védelmi jel lehet.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6473952"/>
            <a:ext cx="347472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20" b="0">
                <a:solidFill>
                  <a:srgbClr val="657480"/>
                </a:solidFill>
                <a:latin typeface="DejaVu Sans"/>
              </a:defRPr>
            </a:pPr>
            <a:r>
              <a:t>IAP  |  Villamos művek  |  13. évfolyam  |  9. hét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7899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2A6FA0"/>
                </a:solidFill>
                <a:latin typeface="DejaVu Sans"/>
              </a:defRPr>
            </a:pPr>
            <a:r>
              <a:t>MÉRÉS → DÖNTÉS → KAPCSOLÁS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78992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300" b="1">
                <a:solidFill>
                  <a:srgbClr val="14304C"/>
                </a:solidFill>
                <a:latin typeface="DejaVu Sans"/>
              </a:defRPr>
            </a:pPr>
            <a:r>
              <a:t>A védelmi lánc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325880" cy="36576"/>
          </a:xfrm>
          <a:prstGeom prst="rect">
            <a:avLst/>
          </a:prstGeom>
          <a:solidFill>
            <a:srgbClr val="DC7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2057400"/>
            <a:ext cx="1783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2057400"/>
            <a:ext cx="54864" cy="1417320"/>
          </a:xfrm>
          <a:prstGeom prst="rect">
            <a:avLst/>
          </a:prstGeom>
          <a:solidFill>
            <a:srgbClr val="2A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203704"/>
            <a:ext cx="1417319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CT / VT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60320"/>
            <a:ext cx="1417319" cy="80467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mérés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77440" y="2761488"/>
            <a:ext cx="502920" cy="0"/>
          </a:xfrm>
          <a:prstGeom prst="line">
            <a:avLst/>
          </a:prstGeom>
          <a:ln w="22860">
            <a:solidFill>
              <a:srgbClr val="2A6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80360" y="2057400"/>
            <a:ext cx="1783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80360" y="2057400"/>
            <a:ext cx="54864" cy="1417320"/>
          </a:xfrm>
          <a:prstGeom prst="rect">
            <a:avLst/>
          </a:prstGeom>
          <a:solidFill>
            <a:srgbClr val="2A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81528" y="2203704"/>
            <a:ext cx="1417319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Védelmi relé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81528" y="2560320"/>
            <a:ext cx="1417319" cy="80467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kiértékelés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663440" y="2761488"/>
            <a:ext cx="502920" cy="0"/>
          </a:xfrm>
          <a:prstGeom prst="line">
            <a:avLst/>
          </a:prstGeom>
          <a:ln w="22860">
            <a:solidFill>
              <a:srgbClr val="2A6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66360" y="2057400"/>
            <a:ext cx="1783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66360" y="2057400"/>
            <a:ext cx="54864" cy="1417320"/>
          </a:xfrm>
          <a:prstGeom prst="rect">
            <a:avLst/>
          </a:prstGeom>
          <a:solidFill>
            <a:srgbClr val="DC7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67528" y="2203704"/>
            <a:ext cx="1417319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Kioldóparancs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67528" y="2560320"/>
            <a:ext cx="1417319" cy="80467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döntés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949440" y="2761488"/>
            <a:ext cx="502920" cy="0"/>
          </a:xfrm>
          <a:prstGeom prst="line">
            <a:avLst/>
          </a:prstGeom>
          <a:ln w="22860">
            <a:solidFill>
              <a:srgbClr val="2A6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52360" y="2057400"/>
            <a:ext cx="1783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52360" y="2057400"/>
            <a:ext cx="54864" cy="1417320"/>
          </a:xfrm>
          <a:prstGeom prst="rect">
            <a:avLst/>
          </a:prstGeom>
          <a:solidFill>
            <a:srgbClr val="14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53528" y="2203704"/>
            <a:ext cx="1417319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Megszakító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53528" y="2560320"/>
            <a:ext cx="1417319" cy="80467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kapcsolás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235440" y="2761488"/>
            <a:ext cx="502920" cy="0"/>
          </a:xfrm>
          <a:prstGeom prst="line">
            <a:avLst/>
          </a:prstGeom>
          <a:ln w="22860">
            <a:solidFill>
              <a:srgbClr val="2A6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738360" y="2057400"/>
            <a:ext cx="1783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38360" y="2057400"/>
            <a:ext cx="54864" cy="1417320"/>
          </a:xfrm>
          <a:prstGeom prst="rect">
            <a:avLst/>
          </a:prstGeom>
          <a:solidFill>
            <a:srgbClr val="377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39528" y="2203704"/>
            <a:ext cx="1417319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Hibás rész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39528" y="2560320"/>
            <a:ext cx="1417319" cy="80467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leválasztva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251960"/>
            <a:ext cx="1033272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2000" b="1">
                <a:solidFill>
                  <a:srgbClr val="14304C"/>
                </a:solidFill>
                <a:latin typeface="DejaVu Sans"/>
              </a:defRPr>
            </a:pPr>
            <a:r>
              <a:t>A relé dönt. A hibaáramot a megszakító szakítja meg.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6473952"/>
            <a:ext cx="347472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20" b="0">
                <a:solidFill>
                  <a:srgbClr val="657480"/>
                </a:solidFill>
                <a:latin typeface="DejaVu Sans"/>
              </a:defRPr>
            </a:pPr>
            <a:r>
              <a:t>IAP  |  Villamos művek  |  13. évfolyam  |  9. hét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7899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2A6FA0"/>
                </a:solidFill>
                <a:latin typeface="DejaVu Sans"/>
              </a:defRPr>
            </a:pPr>
            <a:r>
              <a:t>CSAK A HIBÁS ÁG KAPCSOLJON 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78992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300" b="1">
                <a:solidFill>
                  <a:srgbClr val="14304C"/>
                </a:solidFill>
                <a:latin typeface="DejaVu Sans"/>
              </a:defRPr>
            </a:pPr>
            <a:r>
              <a:t>Szelektivitás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325880" cy="36576"/>
          </a:xfrm>
          <a:prstGeom prst="rect">
            <a:avLst/>
          </a:prstGeom>
          <a:solidFill>
            <a:srgbClr val="DC7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057400"/>
            <a:ext cx="20574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057400"/>
            <a:ext cx="54864" cy="1097280"/>
          </a:xfrm>
          <a:prstGeom prst="rect">
            <a:avLst/>
          </a:prstGeom>
          <a:solidFill>
            <a:srgbClr val="14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203704"/>
            <a:ext cx="169164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Betáplálás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34640" y="2606040"/>
            <a:ext cx="1051560" cy="0"/>
          </a:xfrm>
          <a:prstGeom prst="line">
            <a:avLst/>
          </a:prstGeom>
          <a:ln w="22860">
            <a:solidFill>
              <a:srgbClr val="2A6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886200" y="2057400"/>
            <a:ext cx="20574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86200" y="2057400"/>
            <a:ext cx="54864" cy="1097280"/>
          </a:xfrm>
          <a:prstGeom prst="rect">
            <a:avLst/>
          </a:prstGeom>
          <a:solidFill>
            <a:srgbClr val="2A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87368" y="2203704"/>
            <a:ext cx="169164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Alállomás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5943600" y="1874519"/>
            <a:ext cx="1051560" cy="731521"/>
          </a:xfrm>
          <a:prstGeom prst="line">
            <a:avLst/>
          </a:prstGeom>
          <a:ln w="22860">
            <a:solidFill>
              <a:srgbClr val="2A6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43600" y="2606040"/>
            <a:ext cx="1051560" cy="731520"/>
          </a:xfrm>
          <a:prstGeom prst="line">
            <a:avLst/>
          </a:prstGeom>
          <a:ln w="22860">
            <a:solidFill>
              <a:srgbClr val="2A6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995160" y="1325880"/>
            <a:ext cx="32918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1325880"/>
            <a:ext cx="54864" cy="1097280"/>
          </a:xfrm>
          <a:prstGeom prst="rect">
            <a:avLst/>
          </a:prstGeom>
          <a:solidFill>
            <a:srgbClr val="377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96328" y="1472184"/>
            <a:ext cx="292608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Vezeték 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96328" y="1828800"/>
            <a:ext cx="2926080" cy="484631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üzemben marad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95160" y="2788920"/>
            <a:ext cx="32918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2788920"/>
            <a:ext cx="54864" cy="1097280"/>
          </a:xfrm>
          <a:prstGeom prst="rect">
            <a:avLst/>
          </a:prstGeom>
          <a:solidFill>
            <a:srgbClr val="B1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96328" y="2935224"/>
            <a:ext cx="292608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Vezeték 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96328" y="3291839"/>
            <a:ext cx="2926080" cy="484631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ZÁRLAT – lekapcsol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800600"/>
            <a:ext cx="1033272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800" b="1">
                <a:solidFill>
                  <a:srgbClr val="14304C"/>
                </a:solidFill>
                <a:latin typeface="DejaVu Sans"/>
              </a:defRPr>
            </a:pPr>
            <a:r>
              <a:t>A szelektív védelem csökkenti a szükségtelen fogyasztói kiesést.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6473952"/>
            <a:ext cx="347472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20" b="0">
                <a:solidFill>
                  <a:srgbClr val="657480"/>
                </a:solidFill>
                <a:latin typeface="DejaVu Sans"/>
              </a:defRPr>
            </a:pPr>
            <a:r>
              <a:t>IAP  |  Villamos művek  |  13. évfolyam  |  9. hét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7899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2A6FA0"/>
                </a:solidFill>
                <a:latin typeface="DejaVu Sans"/>
              </a:defRPr>
            </a:pPr>
            <a:r>
              <a:t>TÚLÁRAM • DIFFERENCIÁL • FÖLDZÁRLAT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78992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300" b="1">
                <a:solidFill>
                  <a:srgbClr val="14304C"/>
                </a:solidFill>
                <a:latin typeface="DejaVu Sans"/>
              </a:defRPr>
            </a:pPr>
            <a:r>
              <a:t>Három alapvető védelmi elv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325880" cy="36576"/>
          </a:xfrm>
          <a:prstGeom prst="rect">
            <a:avLst/>
          </a:prstGeom>
          <a:solidFill>
            <a:srgbClr val="DC7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2900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4864" cy="3931920"/>
          </a:xfrm>
          <a:prstGeom prst="rect">
            <a:avLst/>
          </a:prstGeom>
          <a:solidFill>
            <a:srgbClr val="2A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00784"/>
            <a:ext cx="306324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Túláramvédelem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057400"/>
            <a:ext cx="3063240" cy="331927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A beállított áramérték túllépését figyeli.</a:t>
            </a:r>
            <a:br/>
            <a:br/>
            <a:r>
              <a:t>A működéshez időbeállítás tartozhat.</a:t>
            </a:r>
            <a:br/>
            <a:br/>
            <a:r>
              <a:t>Egyszerű és gyakori védelmi elv.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54480"/>
            <a:ext cx="342900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554480"/>
            <a:ext cx="54864" cy="3931920"/>
          </a:xfrm>
          <a:prstGeom prst="rect">
            <a:avLst/>
          </a:prstGeom>
          <a:solidFill>
            <a:srgbClr val="DC7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700784"/>
            <a:ext cx="306324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Differenciálvédelem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057400"/>
            <a:ext cx="3063240" cy="331927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A védett zóna be- és kimenő áramait hasonlítja össze.</a:t>
            </a:r>
            <a:br/>
            <a:br/>
            <a:r>
              <a:t>A különbség belső hibára utalhat.</a:t>
            </a:r>
            <a:br/>
            <a:br/>
            <a:r>
              <a:t>Generátoroknál, transzformátoroknál, gyűjtősíneknél alkalmazható.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54480"/>
            <a:ext cx="342900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554480"/>
            <a:ext cx="54864" cy="3931920"/>
          </a:xfrm>
          <a:prstGeom prst="rect">
            <a:avLst/>
          </a:prstGeom>
          <a:solidFill>
            <a:srgbClr val="377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700784"/>
            <a:ext cx="306324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Földzárlatvédelem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057400"/>
            <a:ext cx="3063240" cy="331927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A föld felé folyó hibát érzékeli.</a:t>
            </a:r>
            <a:br/>
            <a:br/>
            <a:r>
              <a:t>Zérus sorrendű jelek is felhasználhatók.</a:t>
            </a:r>
            <a:br/>
            <a:br/>
            <a:r>
              <a:t>Közép- és nagyfeszültségű hálózatokban kiemelten fontos.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6473952"/>
            <a:ext cx="347472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20" b="0">
                <a:solidFill>
                  <a:srgbClr val="657480"/>
                </a:solidFill>
                <a:latin typeface="DejaVu Sans"/>
              </a:defRPr>
            </a:pPr>
            <a:r>
              <a:t>IAP  |  Villamos művek  |  13. évfolyam  |  9. hét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7899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2A6FA0"/>
                </a:solidFill>
                <a:latin typeface="DejaVu Sans"/>
              </a:defRPr>
            </a:pPr>
            <a:r>
              <a:t>A VÉDELEM NEM CSAK EGY KÜSZÖBÉRTÉK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78992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300" b="1">
                <a:solidFill>
                  <a:srgbClr val="14304C"/>
                </a:solidFill>
                <a:latin typeface="DejaVu Sans"/>
              </a:defRPr>
            </a:pPr>
            <a:r>
              <a:t>Mit kell beállítani?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325880" cy="36576"/>
          </a:xfrm>
          <a:prstGeom prst="rect">
            <a:avLst/>
          </a:prstGeom>
          <a:solidFill>
            <a:srgbClr val="DC7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8343F"/>
                </a:solidFill>
                <a:latin typeface="DejaVu Sans"/>
              </a:defRPr>
            </a:pPr>
            <a:r>
              <a:t>• kioldási áram vagy feszültség határértéke</a:t>
            </a:r>
          </a:p>
          <a:p>
            <a:pPr>
              <a:spcAft>
                <a:spcPts val="800"/>
              </a:spcAft>
              <a:defRPr sz="1600">
                <a:solidFill>
                  <a:srgbClr val="28343F"/>
                </a:solidFill>
                <a:latin typeface="DejaVu Sans"/>
              </a:defRPr>
            </a:pPr>
            <a:r>
              <a:t>• kioldási idő</a:t>
            </a:r>
          </a:p>
          <a:p>
            <a:pPr>
              <a:spcAft>
                <a:spcPts val="800"/>
              </a:spcAft>
              <a:defRPr sz="1600">
                <a:solidFill>
                  <a:srgbClr val="28343F"/>
                </a:solidFill>
                <a:latin typeface="DejaVu Sans"/>
              </a:defRPr>
            </a:pPr>
            <a:r>
              <a:t>• irányfüggő vagy irányfüggetlen működés</a:t>
            </a:r>
          </a:p>
          <a:p>
            <a:pPr>
              <a:spcAft>
                <a:spcPts val="800"/>
              </a:spcAft>
              <a:defRPr sz="1600">
                <a:solidFill>
                  <a:srgbClr val="28343F"/>
                </a:solidFill>
                <a:latin typeface="DejaVu Sans"/>
              </a:defRPr>
            </a:pPr>
            <a:r>
              <a:t>• szelektivitás a szomszédos védelmekkel</a:t>
            </a:r>
          </a:p>
          <a:p>
            <a:pPr>
              <a:spcAft>
                <a:spcPts val="800"/>
              </a:spcAft>
              <a:defRPr sz="1600">
                <a:solidFill>
                  <a:srgbClr val="28343F"/>
                </a:solidFill>
                <a:latin typeface="DejaVu Sans"/>
              </a:defRPr>
            </a:pPr>
            <a:r>
              <a:t>• tartalékvédelem</a:t>
            </a:r>
          </a:p>
          <a:p>
            <a:pPr>
              <a:spcAft>
                <a:spcPts val="800"/>
              </a:spcAft>
              <a:defRPr sz="1600">
                <a:solidFill>
                  <a:srgbClr val="28343F"/>
                </a:solidFill>
                <a:latin typeface="DejaVu Sans"/>
              </a:defRPr>
            </a:pPr>
            <a:r>
              <a:t>• érzékenység és megbízhatóság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1828800"/>
            <a:ext cx="338328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06640" y="1828800"/>
            <a:ext cx="54864" cy="2514600"/>
          </a:xfrm>
          <a:prstGeom prst="rect">
            <a:avLst/>
          </a:prstGeom>
          <a:solidFill>
            <a:srgbClr val="B1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07808" y="1975104"/>
            <a:ext cx="301752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A cél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7808" y="2331720"/>
            <a:ext cx="3017520" cy="190195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Hiba esetén biztos működés.</a:t>
            </a:r>
            <a:br/>
            <a:br/>
            <a:r>
              <a:t>Normál üzemben ne legyen felesleges kioldás.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6473952"/>
            <a:ext cx="347472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20" b="0">
                <a:solidFill>
                  <a:srgbClr val="657480"/>
                </a:solidFill>
                <a:latin typeface="DejaVu Sans"/>
              </a:defRPr>
            </a:pPr>
            <a:r>
              <a:t>IAP  |  Villamos művek  |  13. évfolyam  |  9. hét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7899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2A6FA0"/>
                </a:solidFill>
                <a:latin typeface="DejaVu Sans"/>
              </a:defRPr>
            </a:pPr>
            <a:r>
              <a:t>HIBAFORGATÓKÖNYV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78992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300" b="1">
                <a:solidFill>
                  <a:srgbClr val="14304C"/>
                </a:solidFill>
                <a:latin typeface="DejaVu Sans"/>
              </a:defRPr>
            </a:pPr>
            <a:r>
              <a:t>Példa: 120 kV-os vezetéki zárlat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325880" cy="36576"/>
          </a:xfrm>
          <a:prstGeom prst="rect">
            <a:avLst/>
          </a:prstGeom>
          <a:solidFill>
            <a:srgbClr val="DC7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74519"/>
            <a:ext cx="502920" cy="384048"/>
          </a:xfrm>
          <a:prstGeom prst="roundRect">
            <a:avLst/>
          </a:prstGeom>
          <a:solidFill>
            <a:srgbClr val="B1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514600"/>
            <a:ext cx="160020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200" b="1">
                <a:solidFill>
                  <a:srgbClr val="28343F"/>
                </a:solidFill>
                <a:latin typeface="DejaVu Sans"/>
              </a:defRPr>
            </a:pPr>
            <a:r>
              <a:t>Áramváltó jele megnő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04872" y="1874519"/>
            <a:ext cx="502920" cy="384048"/>
          </a:xfrm>
          <a:prstGeom prst="roundRect">
            <a:avLst/>
          </a:prstGeom>
          <a:solidFill>
            <a:srgbClr val="2A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13432" y="2514600"/>
            <a:ext cx="160020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200" b="1">
                <a:solidFill>
                  <a:srgbClr val="28343F"/>
                </a:solidFill>
                <a:latin typeface="DejaVu Sans"/>
              </a:defRPr>
            </a:pPr>
            <a:r>
              <a:t>Relé felismeri a hibát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6824" y="1874519"/>
            <a:ext cx="502920" cy="384048"/>
          </a:xfrm>
          <a:prstGeom prst="roundRect">
            <a:avLst/>
          </a:prstGeom>
          <a:solidFill>
            <a:srgbClr val="DC7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15384" y="2514600"/>
            <a:ext cx="160020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200" b="1">
                <a:solidFill>
                  <a:srgbClr val="28343F"/>
                </a:solidFill>
                <a:latin typeface="DejaVu Sans"/>
              </a:defRPr>
            </a:pPr>
            <a:r>
              <a:t>Kioldóparancs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1874519"/>
            <a:ext cx="502920" cy="384048"/>
          </a:xfrm>
          <a:prstGeom prst="roundRect">
            <a:avLst/>
          </a:prstGeom>
          <a:solidFill>
            <a:srgbClr val="14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17336" y="2514600"/>
            <a:ext cx="160020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200" b="1">
                <a:solidFill>
                  <a:srgbClr val="28343F"/>
                </a:solidFill>
                <a:latin typeface="DejaVu Sans"/>
              </a:defRPr>
            </a:pPr>
            <a:r>
              <a:t>Megszakító nyit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0728" y="1874519"/>
            <a:ext cx="502920" cy="384048"/>
          </a:xfrm>
          <a:prstGeom prst="roundRect">
            <a:avLst/>
          </a:prstGeom>
          <a:solidFill>
            <a:srgbClr val="377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9288" y="2514600"/>
            <a:ext cx="160020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200" b="1">
                <a:solidFill>
                  <a:srgbClr val="28343F"/>
                </a:solidFill>
                <a:latin typeface="DejaVu Sans"/>
              </a:defRPr>
            </a:pPr>
            <a:r>
              <a:t>Vezeték leválik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12680" y="1874519"/>
            <a:ext cx="502920" cy="384048"/>
          </a:xfrm>
          <a:prstGeom prst="roundRect">
            <a:avLst/>
          </a:prstGeom>
          <a:solidFill>
            <a:srgbClr val="2A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2514600"/>
            <a:ext cx="160020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200" b="1">
                <a:solidFill>
                  <a:srgbClr val="28343F"/>
                </a:solidFill>
                <a:latin typeface="DejaVu Sans"/>
              </a:defRPr>
            </a:pPr>
            <a:r>
              <a:t>Jelzés érkezik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51960"/>
            <a:ext cx="1033272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900" b="1">
                <a:solidFill>
                  <a:srgbClr val="14304C"/>
                </a:solidFill>
                <a:latin typeface="DejaVu Sans"/>
              </a:defRPr>
            </a:pPr>
            <a:r>
              <a:t>A többi hálózatrész lehetőség szerint üzemben marad.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6473952"/>
            <a:ext cx="347472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20" b="0">
                <a:solidFill>
                  <a:srgbClr val="657480"/>
                </a:solidFill>
                <a:latin typeface="DejaVu Sans"/>
              </a:defRPr>
            </a:pPr>
            <a:r>
              <a:t>IAP  |  Villamos művek  |  13. évfolyam  |  9. hét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7899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2A6FA0"/>
                </a:solidFill>
                <a:latin typeface="DejaVu Sans"/>
              </a:defRPr>
            </a:pPr>
            <a:r>
              <a:t>EZT KELL TUDNI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78992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300" b="1">
                <a:solidFill>
                  <a:srgbClr val="14304C"/>
                </a:solidFill>
                <a:latin typeface="DejaVu Sans"/>
              </a:defRPr>
            </a:pPr>
            <a:r>
              <a:t>A 9. hét végére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325880" cy="36576"/>
          </a:xfrm>
          <a:prstGeom prst="rect">
            <a:avLst/>
          </a:prstGeom>
          <a:solidFill>
            <a:srgbClr val="DC7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49834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600200"/>
            <a:ext cx="54864" cy="1188720"/>
          </a:xfrm>
          <a:prstGeom prst="rect">
            <a:avLst/>
          </a:prstGeom>
          <a:solidFill>
            <a:srgbClr val="2A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746504"/>
            <a:ext cx="461772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103120"/>
            <a:ext cx="4617720" cy="57607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Megkülönböztetni a túláramot, zárlatot és földzárlatot.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600200"/>
            <a:ext cx="49834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600200"/>
            <a:ext cx="54864" cy="1188720"/>
          </a:xfrm>
          <a:prstGeom prst="rect">
            <a:avLst/>
          </a:prstGeom>
          <a:solidFill>
            <a:srgbClr val="2A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6248" y="1746504"/>
            <a:ext cx="461772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6248" y="2103120"/>
            <a:ext cx="4617720" cy="57607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Leírni a mérőváltó → relé → megszakító láncot.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246120"/>
            <a:ext cx="49834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3246120"/>
            <a:ext cx="54864" cy="1188720"/>
          </a:xfrm>
          <a:prstGeom prst="rect">
            <a:avLst/>
          </a:prstGeom>
          <a:solidFill>
            <a:srgbClr val="377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392424"/>
            <a:ext cx="461772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749039"/>
            <a:ext cx="4617720" cy="57607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Elmagyarázni a szelektivitás jelentőségét.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3246120"/>
            <a:ext cx="49834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3246120"/>
            <a:ext cx="54864" cy="1188720"/>
          </a:xfrm>
          <a:prstGeom prst="rect">
            <a:avLst/>
          </a:prstGeom>
          <a:solidFill>
            <a:srgbClr val="377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8" y="3392424"/>
            <a:ext cx="461772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6248" y="3749039"/>
            <a:ext cx="4617720" cy="57607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Végigvezetni egy egyszerű hibaforgatókönyvet.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6473952"/>
            <a:ext cx="3474720" cy="1645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20" b="0">
                <a:solidFill>
                  <a:srgbClr val="657480"/>
                </a:solidFill>
                <a:latin typeface="DejaVu Sans"/>
              </a:defRPr>
            </a:pPr>
            <a:r>
              <a:t>IAP  |  Villamos művek  |  13. évfolyam  |  9. hét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5156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100" b="1">
                <a:solidFill>
                  <a:srgbClr val="B7D5E9"/>
                </a:solidFill>
                <a:latin typeface="DejaVu Sans"/>
              </a:defRPr>
            </a:pPr>
            <a:r>
              <a:t>KÖVETKEZŐ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91640"/>
            <a:ext cx="1051560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DejaVu Sans"/>
              </a:defRPr>
            </a:pPr>
            <a:r>
              <a:t>10.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332720" cy="5943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2600" b="1">
                <a:solidFill>
                  <a:srgbClr val="D2E4F1"/>
                </a:solidFill>
                <a:latin typeface="DejaVu Sans"/>
              </a:defRPr>
            </a:pPr>
            <a:r>
              <a:t>Transzformátorok az alállomásokban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32720" cy="4114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DejaVu Sans"/>
              </a:defRPr>
            </a:pPr>
            <a:r>
              <a:t>teljesítménytranszformátor • hűtés • védelem • mérés • üzemi felügyelet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