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BCF1"/>
                </a:solidFill>
                <a:latin typeface="Aptos"/>
              </a:defRPr>
            </a:pPr>
            <a:r>
              <a:t>13. ÉVFOLYAM • VILLAMOS MŰVEK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7406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Villamos</a:t>
            </a:r>
            <a:br/>
            <a:r>
              <a:t>kapcsolókészülékek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E2EF"/>
                </a:solidFill>
                <a:latin typeface="Aptos"/>
              </a:defRPr>
            </a:pPr>
            <a:r>
              <a:t>15. hét • rendszerezés • névleges adatok • zárlati igénybevétel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965960"/>
            <a:ext cx="914400" cy="914400"/>
          </a:xfrm>
          <a:prstGeom prst="roundRect">
            <a:avLst/>
          </a:prstGeom>
          <a:solidFill>
            <a:srgbClr val="0F304E"/>
          </a:solidFill>
          <a:ln>
            <a:solidFill>
              <a:srgbClr val="2BB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2677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BBCF1"/>
                </a:solidFill>
                <a:latin typeface="Aptos"/>
              </a:defRPr>
            </a:pPr>
            <a:r>
              <a:t>Q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0" y="2423160"/>
            <a:ext cx="137160" cy="0"/>
          </a:xfrm>
          <a:prstGeom prst="line">
            <a:avLst/>
          </a:prstGeom>
          <a:ln w="25400">
            <a:solidFill>
              <a:srgbClr val="2BBC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394192" y="1965960"/>
            <a:ext cx="914400" cy="914400"/>
          </a:xfrm>
          <a:prstGeom prst="roundRect">
            <a:avLst/>
          </a:prstGeom>
          <a:solidFill>
            <a:srgbClr val="0F30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22677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QS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08592" y="2423160"/>
            <a:ext cx="1371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473184" y="1965960"/>
            <a:ext cx="914400" cy="914400"/>
          </a:xfrm>
          <a:prstGeom prst="roundRect">
            <a:avLst/>
          </a:prstGeom>
          <a:solidFill>
            <a:srgbClr val="0F304E"/>
          </a:solidFill>
          <a:ln>
            <a:solidFill>
              <a:srgbClr val="2B8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73184" y="22677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B8968"/>
                </a:solidFill>
                <a:latin typeface="Aptos"/>
              </a:defRPr>
            </a:pPr>
            <a:r>
              <a:t>LBS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87584" y="2423160"/>
            <a:ext cx="137160" cy="0"/>
          </a:xfrm>
          <a:prstGeom prst="line">
            <a:avLst/>
          </a:prstGeom>
          <a:ln w="25400">
            <a:solidFill>
              <a:srgbClr val="2B89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552176" y="1965960"/>
            <a:ext cx="914400" cy="914400"/>
          </a:xfrm>
          <a:prstGeom prst="roundRect">
            <a:avLst/>
          </a:prstGeom>
          <a:solidFill>
            <a:srgbClr val="0F304E"/>
          </a:solidFill>
          <a:ln>
            <a:solidFill>
              <a:srgbClr val="DB7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52176" y="22677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B7E2F"/>
                </a:solidFill>
                <a:latin typeface="Aptos"/>
              </a:defRPr>
            </a:pPr>
            <a:r>
              <a:t>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3375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Nem minden kapcsoló</a:t>
            </a:r>
            <a:br/>
            <a:r>
              <a:t>ugyanarra a feladatra való.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989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BBCF1"/>
                </a:solidFill>
                <a:latin typeface="Aptos"/>
              </a:defRPr>
            </a:pPr>
            <a:r>
              <a:t>Feldolgozási idő: 2 tanóra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készülékcsoportoktól a kiválasztásig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1. tanóra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kapcsolási feladatok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készülékcsoportok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2666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névleges feszültség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502152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névleges áram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megszakítóképesség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zárlati igénybevétel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2666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kapcsolási ív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02152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készülékválasztás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Kapcsolási feladatok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Először a feladatot kell meghatározni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Üzemi kapcsolás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terhelési áram be- és kikapcsolása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Hibamegszakítás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zárlati vagy túláram megszakítása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Leválasztás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biztonságos, ellenőrizhető szétválasztás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417320"/>
            <a:ext cx="73152" cy="4434840"/>
          </a:xfrm>
          <a:prstGeom prst="rect">
            <a:avLst/>
          </a:prstGeom>
          <a:solidFill>
            <a:srgbClr val="DB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Földelés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leválasztott rész földpotenciálra kapcsolása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Fő készülékcsoportok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kapcsolási feladat meghatározza a készüléket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Megszakító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üzemi áram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51176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zárlati áram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026664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védelmi együttműködés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Szakaszoló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1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leválasztás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1" y="2551176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látható kapcsolási helyzet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1" y="3026664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nem terhelési megszakítás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Terheléskapcsoló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üzemi terhelés kapcsolása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551176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középfeszültségen gyakori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417320"/>
            <a:ext cx="73152" cy="4434840"/>
          </a:xfrm>
          <a:prstGeom prst="rect">
            <a:avLst/>
          </a:prstGeom>
          <a:solidFill>
            <a:srgbClr val="DB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Földelőkapcsoló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leválasztott rész földelése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2551176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biztonsági funkció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Névleges feszültség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szigetelési követelmény alapadata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Mit jelent?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rendszerfeszültséghez illeszkedő készülék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szigetelési szint meghatározó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Mit kell elviselnie?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üzemi feszültség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kapcsolási túlfeszültségek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2666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lökőfeszültség igénybevétel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Névleges áram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tartós áramvezetés határa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Tartós üzem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megengedett melegedés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érintkezők és csatlakozások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Kiválasztás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terhelőáram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környezeti feltételek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2666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beépítési mód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Zárlati igénybevétel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névleges áram önmagában nem elég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Termikus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I²t jellegű melegedés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vezetők és érintkezők terhelése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DB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Elektrodinamikus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nagy áramok erőhatása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sínek és rögzítések igénybevétele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Megszakítás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várható zárlati áram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3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névleges megszakítóképesség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Kapcsolási ív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Az érintkezők szétválnak - az áram még folyhat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Kialakulás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ionizált közeg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nagy hőmérséklet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érintkezőkopás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Feladat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az ívet nyújtani / hűteni / kioltani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szigetelőképességet visszaállítani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Következmény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3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a megszakító egyik kulcsfeladata az ívoltás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Gyors összehasonlítás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Melyik készülék mire való?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Megszakító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üzemi: igen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51176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zárlati: igen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026664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leválasztás: nem fő feladat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Szakaszoló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1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üzemi: általában nem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1" y="2551176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zárlati: nem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1" y="3026664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leválasztás: igen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Terheléskapcsoló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üzemi: igen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551176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zárlati: korlátozott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026664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gyakori kapcsolás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1417320"/>
            <a:ext cx="73152" cy="4434840"/>
          </a:xfrm>
          <a:prstGeom prst="rect">
            <a:avLst/>
          </a:prstGeom>
          <a:solidFill>
            <a:srgbClr val="DB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Földelőkapcsoló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üzemi: nem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2551176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leválasztott rész földelése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3026664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biztonsági készülék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Készülékválasztási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Hat kérdés a megfelelő készülékhez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névleges feszültség?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tartós üzemi áram?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3-4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várható zárlati áram?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mit kell kapcsolni?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5-6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kell-e leválasztás/földelés?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3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milyen gyakori a kapcsolás?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Alállomási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20 kV-os kábelmező, 320 A üzemi áram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Amit tudunk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Un = 20 kV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Iüzem = 320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Amit még kell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várható zárlati áram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rövid idejű áramállóság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megszakítóképesség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502152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szigetelési szint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Tanulság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3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a 320 A önmagában nem elegendő a megszakító kiválasztásához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15. hét négy kulcsmondata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A kapcsolási feladat dönti el a készüléktípust.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A megszakító és a szakaszoló nem felcserélhető.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Zárlatkor termikus és elektrodinamikus igénybevétel lép fel.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417320"/>
            <a:ext cx="73152" cy="443484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Készüléket feszültség, áram és zárlati adatok alapján választunk.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