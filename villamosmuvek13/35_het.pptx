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35.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83464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VILLAMOS VÉDELMEK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6675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Differenciálvédelem</a:t>
            </a:r>
            <a:br/>
            <a:r>
              <a:t>és gépvédelmek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52044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CADFEE"/>
                </a:solidFill>
                <a:latin typeface="Aptos"/>
              </a:defRPr>
            </a:pPr>
            <a:r>
              <a:t>transzformátor • motor • generátor</a:t>
            </a:r>
            <a:br/>
            <a:r>
              <a:t>• belső hiba • termikus és technológiai védelem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057400"/>
            <a:ext cx="3383280" cy="2103120"/>
          </a:xfrm>
          <a:prstGeom prst="roundRect">
            <a:avLst/>
          </a:prstGeom>
          <a:solidFill>
            <a:srgbClr val="12324C"/>
          </a:solidFill>
          <a:ln>
            <a:solidFill>
              <a:srgbClr val="29B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VÉDETT ZÓNA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08960"/>
            <a:ext cx="731520" cy="0"/>
          </a:xfrm>
          <a:prstGeom prst="line">
            <a:avLst/>
          </a:prstGeom>
          <a:ln w="508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835640" y="3108960"/>
            <a:ext cx="731520" cy="0"/>
          </a:xfrm>
          <a:prstGeom prst="line">
            <a:avLst/>
          </a:prstGeom>
          <a:ln w="508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37960" y="26060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B7E8"/>
                </a:solidFill>
                <a:latin typeface="Aptos"/>
              </a:defRPr>
            </a:pPr>
            <a:r>
              <a:t>I₁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26060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B7E8"/>
                </a:solidFill>
                <a:latin typeface="Aptos"/>
              </a:defRPr>
            </a:pPr>
            <a:r>
              <a:t>I₂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0167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Villamos védelmek • 3/4.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Differenciálvédelem és berendezésvédelmek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73152" cy="438912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differenciálvédelem elve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külső / belső hiba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821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stabilizálás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393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transzformátorvédelem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965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bekapcsolási áramlökés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55448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2677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motor termikus védelem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7249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fáziskimaradás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1821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generátor differenciálvédelem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6393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visszteljesítmény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0965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negatív sorrend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Differenciálvédelem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védett zónába befolyó és kifolyó áramokat hasonlítjuk össze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291840"/>
            <a:ext cx="2194560" cy="0"/>
          </a:xfrm>
          <a:prstGeom prst="line">
            <a:avLst/>
          </a:prstGeom>
          <a:ln w="635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2240280"/>
            <a:ext cx="6126480" cy="2103120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971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VÉDETT BERENDEZÉS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98280" y="3291840"/>
            <a:ext cx="2240280" cy="0"/>
          </a:xfrm>
          <a:prstGeom prst="line">
            <a:avLst/>
          </a:prstGeom>
          <a:ln w="635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88720" y="2651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9B7E8"/>
                </a:solidFill>
                <a:latin typeface="Aptos"/>
              </a:defRPr>
            </a:pPr>
            <a:r>
              <a:t>I₁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651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9B7E8"/>
                </a:solidFill>
                <a:latin typeface="Aptos"/>
              </a:defRPr>
            </a:pPr>
            <a:r>
              <a:t>I₂'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800600"/>
            <a:ext cx="530352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496519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B5C9B"/>
                </a:solidFill>
                <a:latin typeface="Aptos"/>
              </a:defRPr>
            </a:pPr>
            <a:r>
              <a:t>Idiff = | I₁ - I₂'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Külső vagy belső hiba?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differenciálvédelem fő előnye a zónaszelektivitás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206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73152" cy="420624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83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KÜLSŐ HIBA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134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nagy átmenő áram lehet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706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I₁ ≈ I₂'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278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Idiff kicsi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850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differenciálvédelem stabil marad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600200"/>
            <a:ext cx="51206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600200"/>
            <a:ext cx="73152" cy="420624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783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BELSŐ HIBA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134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áramegyensúly felborul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7706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Idiff megnő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2278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gyors kioldás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68503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zónát határoló Q-k nyitnak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Stabilizált differenciálvédelem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Nagy átmenő áramnál az áramváltó-hibákat is kezelni kell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0" y="5212080"/>
            <a:ext cx="9418320" cy="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80160" y="1645920"/>
            <a:ext cx="0" cy="356616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28800" y="4114800"/>
            <a:ext cx="2011680" cy="548640"/>
          </a:xfrm>
          <a:prstGeom prst="line">
            <a:avLst/>
          </a:prstGeom>
          <a:ln w="50800">
            <a:solidFill>
              <a:srgbClr val="5B5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840480" y="3200400"/>
            <a:ext cx="2743200" cy="914400"/>
          </a:xfrm>
          <a:prstGeom prst="line">
            <a:avLst/>
          </a:prstGeom>
          <a:ln w="50800">
            <a:solidFill>
              <a:srgbClr val="5B5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583680" y="2057400"/>
            <a:ext cx="3566160" cy="1143000"/>
          </a:xfrm>
          <a:prstGeom prst="line">
            <a:avLst/>
          </a:prstGeom>
          <a:ln w="50800">
            <a:solidFill>
              <a:srgbClr val="5B5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404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E433F"/>
                </a:solidFill>
                <a:latin typeface="Aptos"/>
              </a:defRPr>
            </a:pPr>
            <a:r>
              <a:t>MŰKÖDÉSI TARTOMÁNY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440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6192C"/>
                </a:solidFill>
                <a:latin typeface="Aptos"/>
              </a:defRPr>
            </a:pPr>
            <a:r>
              <a:t>fékező / átmenő áram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6192C"/>
                </a:solidFill>
                <a:latin typeface="Aptos"/>
              </a:defRPr>
            </a:pPr>
            <a:r>
              <a:t>Idiff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Transzformátorvédelem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villamos és technológiai védelmek együtt dolgoznak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DIFFERENCIÁL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TÚLÁRAM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FÖLDZÁRLAT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8B66"/>
                </a:solidFill>
                <a:latin typeface="Aptos"/>
              </a:defRPr>
            </a:pPr>
            <a:r>
              <a:t>BUCHHOLZ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TÚLGERJESZTÉS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Bekapcsolási áramlökés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Nagy differenciáláram lehet valódi belső zárlat nélkül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73152" cy="420624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BEKAPCSOLÁS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134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mágnesezési tranziens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706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nagy áram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278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nem feltétlen hiba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850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hullámforma jellemző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60020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8" y="1600200"/>
            <a:ext cx="73152" cy="420624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RELÉ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3134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harmonikus tartalom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7706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fázisviszonyok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2278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időbeli lefutás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6850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blokkolás / visszatartás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60020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600200"/>
            <a:ext cx="73152" cy="420624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8" y="1783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BELSŐ ZÁRLAT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3134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gyors felismerés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7706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stabil döntés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2278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kioldás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6850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eseményrögzítés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Motorvédelem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indítás normális nagy áram - a tartós melegedés már veszély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01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INDÍTÁS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0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In többszöröse lehet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0876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01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TÚLTERHELÉS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50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termikus modell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50876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801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FÁZISKIMARADÁS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50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aszimmetria / I₂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502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BERAGADT ROTOR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988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hosszú nagy áram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65760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9502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8B66"/>
                </a:solidFill>
                <a:latin typeface="Aptos"/>
              </a:defRPr>
            </a:pPr>
            <a:r>
              <a:t>FÖLDZÁRLAT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4988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gyors védelem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657600"/>
            <a:ext cx="32004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39502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HŐÉRZÉKELŐ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4988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tekercs / csapágy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Negatív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aszimmetria különösen veszélyes lehet forgógépekre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2743200" cy="2743200"/>
          </a:xfrm>
          <a:prstGeom prst="ellipse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880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FORGÓRÉSZ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3200400"/>
            <a:ext cx="1737360" cy="0"/>
          </a:xfrm>
          <a:prstGeom prst="line">
            <a:avLst/>
          </a:prstGeom>
          <a:ln w="50800">
            <a:solidFill>
              <a:srgbClr val="5B5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0" y="1920240"/>
            <a:ext cx="50292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331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5C9B"/>
                </a:solidFill>
                <a:latin typeface="Aptos"/>
              </a:defRPr>
            </a:pPr>
            <a:r>
              <a:t>I₂ negatív sorrend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1546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E433F"/>
                </a:solidFill>
                <a:latin typeface="Aptos"/>
              </a:defRPr>
            </a:pPr>
            <a:r>
              <a:t>kedvezőtlen mágneses tér</a:t>
            </a:r>
            <a:br/>
            <a:r>
              <a:t>→ rotor-melegedés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Generátorvédelem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gépet és a hálózatot egyszerre kell védeni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DIFFERENCIÁL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FÖLDZÁRLAT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1031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I₂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U / 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8B66"/>
                </a:solidFill>
                <a:latin typeface="Aptos"/>
              </a:defRPr>
            </a:pPr>
            <a:r>
              <a:t>VISSZTELJESÍTMÉNY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65760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GERJESZTÉSVESZTÉS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Visszteljesítmény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Ha a hajtógép kiesik, a generátor a hálózatból vehet fel teljesítményt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9319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88B66"/>
                </a:solidFill>
                <a:latin typeface="Aptos"/>
              </a:defRPr>
            </a:pPr>
            <a:r>
              <a:t>NORMÁL GENERÁTORÜZEM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88B66"/>
                </a:solidFill>
                <a:latin typeface="Aptos"/>
              </a:defRPr>
            </a:pPr>
            <a:r>
              <a:t>P = +2,5 MW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7760" y="3383280"/>
            <a:ext cx="2011680" cy="0"/>
          </a:xfrm>
          <a:prstGeom prst="line">
            <a:avLst/>
          </a:prstGeom>
          <a:ln w="5080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32320" y="1828800"/>
            <a:ext cx="39319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E433F"/>
                </a:solidFill>
                <a:latin typeface="Aptos"/>
              </a:defRPr>
            </a:pPr>
            <a:r>
              <a:t>MOTOROS ÜZEM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154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BE433F"/>
                </a:solidFill>
                <a:latin typeface="Aptos"/>
              </a:defRPr>
            </a:pPr>
            <a:r>
              <a:t>P = -0,25 MW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Egy berendezés - több 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funkciók nem helyettesítik, hanem kiegészítik egymást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828800"/>
            <a:ext cx="1965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BE433F"/>
                </a:solidFill>
                <a:latin typeface="Aptos"/>
              </a:defRPr>
            </a:pPr>
            <a:r>
              <a:t>BELSŐ ZÁRLAT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differenciál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87752" y="1828800"/>
            <a:ext cx="1965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E08931"/>
                </a:solidFill>
                <a:latin typeface="Aptos"/>
              </a:defRPr>
            </a:pPr>
            <a:r>
              <a:t>TÚLTERHELÉS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termikus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46904" y="1828800"/>
            <a:ext cx="1965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2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5B5C9B"/>
                </a:solidFill>
                <a:latin typeface="Aptos"/>
              </a:defRPr>
            </a:pPr>
            <a:r>
              <a:t>FÖLDZÁRLAT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3I₀ / U₀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6056" y="1828800"/>
            <a:ext cx="1965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3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29B7E8"/>
                </a:solidFill>
                <a:latin typeface="Aptos"/>
              </a:defRPr>
            </a:pPr>
            <a:r>
              <a:t>ASZIMMETRIA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3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I₂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5208" y="1828800"/>
            <a:ext cx="1965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4936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19" b="1">
                <a:solidFill>
                  <a:srgbClr val="288B66"/>
                </a:solidFill>
                <a:latin typeface="Aptos"/>
              </a:defRPr>
            </a:pPr>
            <a:r>
              <a:t>TECHNOLÓGIA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06192C"/>
                </a:solidFill>
                <a:latin typeface="Aptos"/>
              </a:defRPr>
            </a:pPr>
            <a:r>
              <a:t>szenzorok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Villamos védelmek • 3/4. hét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60" b="1">
                <a:solidFill>
                  <a:srgbClr val="06192C"/>
                </a:solidFill>
                <a:latin typeface="Aptos"/>
              </a:defRPr>
            </a:pPr>
            <a:r>
              <a:t>Differenciálvédelem: belső hibára gyors és zónaszelektív.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60" b="1">
                <a:solidFill>
                  <a:srgbClr val="06192C"/>
                </a:solidFill>
                <a:latin typeface="Aptos"/>
              </a:defRPr>
            </a:pPr>
            <a:r>
              <a:t>Külső hiba esetén stabilnak kell maradnia.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60" b="1">
                <a:solidFill>
                  <a:srgbClr val="06192C"/>
                </a:solidFill>
                <a:latin typeface="Aptos"/>
              </a:defRPr>
            </a:pPr>
            <a:r>
              <a:t>Transzformátornál az áttételt, fáziseltolást és inrush-t kezelni kell.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60" b="1">
                <a:solidFill>
                  <a:srgbClr val="06192C"/>
                </a:solidFill>
                <a:latin typeface="Aptos"/>
              </a:defRPr>
            </a:pPr>
            <a:r>
              <a:t>Motorvédelemben az indítás, hőállapot és aszimmetria kulcsfontosságú.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60" b="1">
                <a:solidFill>
                  <a:srgbClr val="06192C"/>
                </a:solidFill>
                <a:latin typeface="Aptos"/>
              </a:defRPr>
            </a:pPr>
            <a:r>
              <a:t>Generátornál a visszteljesítmény, I₂, U és f is védelmi mennyiség lehet.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36. hét → Digitális védelmi relék, szelektivitás és komplex védelmi gyakorlat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