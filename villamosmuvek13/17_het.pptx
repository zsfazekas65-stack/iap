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6192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28016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85800" y="640080"/>
            <a:ext cx="2011680" cy="384048"/>
          </a:xfrm>
          <a:prstGeom prst="round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85800" y="740664"/>
            <a:ext cx="2011680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17. HÉT • 2 TANÓRA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85800" y="1325880"/>
            <a:ext cx="65836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3000" b="1">
                <a:solidFill>
                  <a:srgbClr val="FFFFFF"/>
                </a:solidFill>
                <a:latin typeface="Aptos Display"/>
              </a:defRPr>
            </a:pPr>
            <a:r>
              <a:t>Megszakítók</a:t>
            </a:r>
            <a:br/>
            <a:r>
              <a:t>felépítése és működése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13232" y="2880360"/>
            <a:ext cx="5943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500" b="0">
                <a:solidFill>
                  <a:srgbClr val="CADFEE"/>
                </a:solidFill>
                <a:latin typeface="Aptos"/>
              </a:defRPr>
            </a:pPr>
            <a:r>
              <a:t>érintkezők • ívoltás • hajtás</a:t>
            </a:r>
            <a:br/>
            <a:r>
              <a:t>• záró- és kioldókör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0" y="822960"/>
            <a:ext cx="40233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29B7E8"/>
                </a:solidFill>
                <a:latin typeface="Aptos"/>
              </a:defRPr>
            </a:pPr>
            <a:r>
              <a:t>MEGSZAKÍTÁS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7543800" y="2103120"/>
            <a:ext cx="114300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V="1">
            <a:off x="8686800" y="1508760"/>
            <a:ext cx="1097280" cy="594360"/>
          </a:xfrm>
          <a:prstGeom prst="line">
            <a:avLst/>
          </a:prstGeom>
          <a:ln w="63500">
            <a:solidFill>
              <a:srgbClr val="29B7E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10104120" y="2103120"/>
            <a:ext cx="1051560" cy="0"/>
          </a:xfrm>
          <a:prstGeom prst="line">
            <a:avLst/>
          </a:prstGeom>
          <a:ln w="6350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Oval 10"/>
          <p:cNvSpPr/>
          <p:nvPr/>
        </p:nvSpPr>
        <p:spPr>
          <a:xfrm>
            <a:off x="8577072" y="199339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9994392" y="1993392"/>
            <a:ext cx="219456" cy="219456"/>
          </a:xfrm>
          <a:prstGeom prst="ellipse">
            <a:avLst/>
          </a:prstGeom>
          <a:solidFill>
            <a:srgbClr val="FFFFFF"/>
          </a:solidFill>
          <a:ln>
            <a:solidFill>
              <a:srgbClr val="12538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13" name="Connector 12"/>
          <p:cNvCxnSpPr/>
          <p:nvPr/>
        </p:nvCxnSpPr>
        <p:spPr>
          <a:xfrm>
            <a:off x="9281160" y="1874519"/>
            <a:ext cx="210312" cy="411481"/>
          </a:xfrm>
          <a:prstGeom prst="line">
            <a:avLst/>
          </a:prstGeom>
          <a:ln w="381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 flipV="1">
            <a:off x="9491472" y="1901952"/>
            <a:ext cx="182880" cy="384048"/>
          </a:xfrm>
          <a:prstGeom prst="line">
            <a:avLst/>
          </a:prstGeom>
          <a:ln w="38100">
            <a:solidFill>
              <a:srgbClr val="E0893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7498079" y="3246120"/>
            <a:ext cx="3749039" cy="1051560"/>
          </a:xfrm>
          <a:prstGeom prst="roundRect">
            <a:avLst/>
          </a:prstGeom>
          <a:solidFill>
            <a:srgbClr val="0E2D4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80960" y="3520440"/>
            <a:ext cx="33832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500" b="1">
                <a:solidFill>
                  <a:srgbClr val="FFFFFF"/>
                </a:solidFill>
                <a:latin typeface="Aptos"/>
              </a:defRPr>
            </a:pPr>
            <a:r>
              <a:t>VÉDELMI PARANCS</a:t>
            </a:r>
            <a:br/>
            <a:r>
              <a:t>→ GYORS KIOLDÁS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13232" y="6016752"/>
            <a:ext cx="6217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1">
                <a:solidFill>
                  <a:srgbClr val="29B7E8"/>
                </a:solidFill>
                <a:latin typeface="Aptos"/>
              </a:defRPr>
            </a:pPr>
            <a:r>
              <a:t>Villamos kapcsolókészülékek • 3/8. hét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Óraterv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primer készüléktől a védelmi kioldási láncig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50876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1. tanóra • Kapcsolási folyamat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megszakító feladata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fő szerkezeti egységek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érintkezők nyitása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villamos ív kialakulása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60120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ív megszüntetésének alapelve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236208" y="1508760"/>
            <a:ext cx="525780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6236208" y="1508760"/>
            <a:ext cx="73152" cy="448056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83096" y="1691639"/>
            <a:ext cx="4800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2. tanóra • Hajtás és vezérlés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10528" y="2221991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energiatárolós hajtás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510528" y="2697479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zárótekercs és kioldótekercs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510528" y="3172968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védelmi kioldási lánc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510528" y="3648456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névleges zárlati adatok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510528" y="4123944"/>
            <a:ext cx="47274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hibakeresési logika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Mit tud a megszakító?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Nem egyszerű kapcsoló: üzemi és hibaáramot is kezel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40080" y="1463040"/>
            <a:ext cx="73152" cy="448056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86968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Üzemi kapcsolás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terhelési áram be- és kikapcsolása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helyi és távvezérlés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gyors, ismételhető működés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4334256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4334256" y="1463040"/>
            <a:ext cx="73152" cy="448056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4581144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Védelmi működés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08576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reléparancs fogadása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08576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hibás rész gyors leválasztása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08576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állapot-visszajelzés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8028431" y="1463040"/>
            <a:ext cx="3520440" cy="448056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028431" y="1463040"/>
            <a:ext cx="73152" cy="448056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8275319" y="1645920"/>
            <a:ext cx="30632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Zárlati igénybevétel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302752" y="2176272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nagy áram megszakítása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02752" y="2651760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ív biztonságos kezelése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02752" y="3127248"/>
            <a:ext cx="299008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termikus és dinamikus terhelés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megszakító funkcionális felépítése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Hat egység, amelynek együtt kell működnie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5544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850392" y="1901952"/>
            <a:ext cx="502920" cy="502920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508760" y="1810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FŐÉRINTKEZŐ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08760" y="2249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787"/>
                </a:solidFill>
                <a:latin typeface="Aptos"/>
              </a:defRPr>
            </a:pPr>
            <a:r>
              <a:t>áramvezetés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89120" y="15544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4553712" y="1901952"/>
            <a:ext cx="502920" cy="502920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212080" y="1810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ÍVOLTÓ TÉR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212080" y="2249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787"/>
                </a:solidFill>
                <a:latin typeface="Aptos"/>
              </a:defRPr>
            </a:pPr>
            <a:r>
              <a:t>ív kezelése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092440" y="15544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57031" y="1901952"/>
            <a:ext cx="502920" cy="502920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8915400" y="18105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915400" y="22494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787"/>
                </a:solidFill>
                <a:latin typeface="Aptos"/>
              </a:defRPr>
            </a:pPr>
            <a:r>
              <a:t>villamos szilárdság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85800" y="3611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50392" y="3959352"/>
            <a:ext cx="502920" cy="502920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50876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HAJTÁS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508760" y="4306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787"/>
                </a:solidFill>
                <a:latin typeface="Aptos"/>
              </a:defRPr>
            </a:pPr>
            <a:r>
              <a:t>gyors mechanikai mozgás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4389120" y="3611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4553712" y="3959352"/>
            <a:ext cx="502920" cy="502920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521208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TEKERCSEK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5212080" y="4306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787"/>
                </a:solidFill>
                <a:latin typeface="Aptos"/>
              </a:defRPr>
            </a:pPr>
            <a:r>
              <a:t>zárás / kioldás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8092440" y="3611880"/>
            <a:ext cx="3337560" cy="141732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8257031" y="3959352"/>
            <a:ext cx="502920" cy="502920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8915400" y="3867912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50" b="1">
                <a:solidFill>
                  <a:srgbClr val="06192C"/>
                </a:solidFill>
                <a:latin typeface="Aptos"/>
              </a:defRPr>
            </a:pPr>
            <a:r>
              <a:t>SEGÉDÉRINTKEZŐK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15400" y="4306824"/>
            <a:ext cx="22860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667787"/>
                </a:solidFill>
                <a:latin typeface="Aptos"/>
              </a:defRPr>
            </a:pPr>
            <a:r>
              <a:t>jelzés és logika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Mi történik nyitáskor?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Az érintkező szétnyílik, de az áram nem szűnik meg azonnal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8" name="Oval 7"/>
          <p:cNvSpPr/>
          <p:nvPr/>
        </p:nvSpPr>
        <p:spPr>
          <a:xfrm>
            <a:off x="457200" y="1828800"/>
            <a:ext cx="566928" cy="566928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36576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720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KIOLDÓ-</a:t>
            </a:r>
            <a:br/>
            <a:r>
              <a:t>PARANCS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331720" y="3364992"/>
            <a:ext cx="32004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Oval 12"/>
          <p:cNvSpPr/>
          <p:nvPr/>
        </p:nvSpPr>
        <p:spPr>
          <a:xfrm>
            <a:off x="2788920" y="1828800"/>
            <a:ext cx="566928" cy="56692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78892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2697479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278892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ÉRINTKEZŐK</a:t>
            </a:r>
            <a:br/>
            <a:r>
              <a:t>SZÉTVÁLNAK</a:t>
            </a:r>
          </a:p>
        </p:txBody>
      </p:sp>
      <p:cxnSp>
        <p:nvCxnSpPr>
          <p:cNvPr id="17" name="Connector 16"/>
          <p:cNvCxnSpPr/>
          <p:nvPr/>
        </p:nvCxnSpPr>
        <p:spPr>
          <a:xfrm>
            <a:off x="4663440" y="3364992"/>
            <a:ext cx="32003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Oval 17"/>
          <p:cNvSpPr/>
          <p:nvPr/>
        </p:nvSpPr>
        <p:spPr>
          <a:xfrm>
            <a:off x="5120640" y="1828800"/>
            <a:ext cx="566928" cy="56692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12064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502920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512064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ÍV</a:t>
            </a:r>
            <a:br/>
            <a:r>
              <a:t>KIALAKUL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6995159" y="3364992"/>
            <a:ext cx="32004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Oval 22"/>
          <p:cNvSpPr/>
          <p:nvPr/>
        </p:nvSpPr>
        <p:spPr>
          <a:xfrm>
            <a:off x="7452359" y="1828800"/>
            <a:ext cx="566928" cy="56692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52359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7360919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7452359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ÁRAM-</a:t>
            </a:r>
            <a:br/>
            <a:r>
              <a:t>NULLA</a:t>
            </a:r>
          </a:p>
        </p:txBody>
      </p:sp>
      <p:cxnSp>
        <p:nvCxnSpPr>
          <p:cNvPr id="27" name="Connector 26"/>
          <p:cNvCxnSpPr/>
          <p:nvPr/>
        </p:nvCxnSpPr>
        <p:spPr>
          <a:xfrm>
            <a:off x="9326880" y="3364992"/>
            <a:ext cx="320039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8" name="Oval 27"/>
          <p:cNvSpPr/>
          <p:nvPr/>
        </p:nvSpPr>
        <p:spPr>
          <a:xfrm>
            <a:off x="9784080" y="1828800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784080" y="20025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9692640" y="2743200"/>
            <a:ext cx="1965960" cy="12344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784080" y="3090672"/>
            <a:ext cx="178308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SZIGETELÉS</a:t>
            </a:r>
            <a:br/>
            <a:r>
              <a:t>HELYREÁLL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914400" y="4800600"/>
            <a:ext cx="10287000" cy="640080"/>
          </a:xfrm>
          <a:prstGeom prst="roundRect">
            <a:avLst/>
          </a:prstGeom>
          <a:solidFill>
            <a:srgbClr val="FFF5E8"/>
          </a:solidFill>
          <a:ln>
            <a:solidFill>
              <a:srgbClr val="F0CC9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1143000" y="4983480"/>
            <a:ext cx="9829800" cy="2560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E08931"/>
                </a:solidFill>
                <a:latin typeface="Aptos"/>
              </a:defRPr>
            </a:pPr>
            <a:r>
              <a:t>Az áramnulla után a közegnek gyorsabban kell visszanyernie szigetelőképességét, mint ahogy a visszatérő feszültség felépül.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Az ívoltás négy feladata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cél: az ív ne gyulladjon újra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508760"/>
            <a:ext cx="2697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508760"/>
            <a:ext cx="73152" cy="429768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916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Hűtés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221991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ívenergia csökkentése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97479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hő elvezetése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3355848" y="1508760"/>
            <a:ext cx="2697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3355848" y="1508760"/>
            <a:ext cx="73152" cy="4297680"/>
          </a:xfrm>
          <a:prstGeom prst="rect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3602736" y="16916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Nyújtás / irányítás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30168" y="2221991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ívút befolyásolása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630168" y="2697479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megfelelő oltótér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163056" y="1508760"/>
            <a:ext cx="2697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6163056" y="1508760"/>
            <a:ext cx="73152" cy="4297680"/>
          </a:xfrm>
          <a:prstGeom prst="rect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409944" y="16916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Deionizáció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437376" y="2221991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töltéshordozók csökkentése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437376" y="2697479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rekombináció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970264" y="1508760"/>
            <a:ext cx="2697480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ectangle 23"/>
          <p:cNvSpPr/>
          <p:nvPr/>
        </p:nvSpPr>
        <p:spPr>
          <a:xfrm>
            <a:off x="8970264" y="1508760"/>
            <a:ext cx="73152" cy="42976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9217152" y="1691639"/>
            <a:ext cx="22402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Szigetelés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244584" y="2221991"/>
            <a:ext cx="21671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dielektromos szilárdság gyors visszaállítása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Rugóerőtárolós hajtás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motor feltölt - a rugó kapcsol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9202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226771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125388"/>
                </a:solidFill>
                <a:latin typeface="Aptos"/>
              </a:defRPr>
            </a:pPr>
            <a:r>
              <a:t>MOTOR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4008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667787"/>
                </a:solidFill>
                <a:latin typeface="Aptos"/>
              </a:defRPr>
            </a:pPr>
            <a:r>
              <a:t>rugó feltöltése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2834639" y="2724912"/>
            <a:ext cx="41148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Rounded Rectangle 11"/>
          <p:cNvSpPr/>
          <p:nvPr/>
        </p:nvSpPr>
        <p:spPr>
          <a:xfrm>
            <a:off x="3383280" y="19202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520440" y="226771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E08931"/>
                </a:solidFill>
                <a:latin typeface="Aptos"/>
              </a:defRPr>
            </a:pPr>
            <a:r>
              <a:t>ENERGIATÁROLÓ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52044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667787"/>
                </a:solidFill>
                <a:latin typeface="Aptos"/>
              </a:defRPr>
            </a:pPr>
            <a:r>
              <a:t>mechanikai energia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5715000" y="2724912"/>
            <a:ext cx="411480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" name="Rounded Rectangle 15"/>
          <p:cNvSpPr/>
          <p:nvPr/>
        </p:nvSpPr>
        <p:spPr>
          <a:xfrm>
            <a:off x="6263640" y="19202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400800" y="226771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BE433F"/>
                </a:solidFill>
                <a:latin typeface="Aptos"/>
              </a:defRPr>
            </a:pPr>
            <a:r>
              <a:t>ZÁRÓ / KIOLDÓ</a:t>
            </a:r>
            <a:br/>
            <a:r>
              <a:t>MECHANIKA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40080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667787"/>
                </a:solidFill>
                <a:latin typeface="Aptos"/>
              </a:defRPr>
            </a:pPr>
            <a:r>
              <a:t>retesz felszabadítása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8595359" y="2724912"/>
            <a:ext cx="41148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9144000" y="1920240"/>
            <a:ext cx="2331720" cy="16002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281160" y="2267712"/>
            <a:ext cx="205740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288B66"/>
                </a:solidFill>
                <a:latin typeface="Aptos"/>
              </a:defRPr>
            </a:pPr>
            <a:r>
              <a:t>FŐÉRINTKEZŐK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281160" y="2834640"/>
            <a:ext cx="2057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80" b="0">
                <a:solidFill>
                  <a:srgbClr val="667787"/>
                </a:solidFill>
                <a:latin typeface="Aptos"/>
              </a:defRPr>
            </a:pPr>
            <a:r>
              <a:t>gyors kapcsolómozgás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461772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Miért? A főérintkezőknek a segédmotor sebességétől függetlenül, gyorsan és reprodukálható módon kell mozogniuk.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Zárótekercs és kioldótekercs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Kis villamos jelből nagy mechanikai művelet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85800" y="146304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685800" y="1463040"/>
            <a:ext cx="73152" cy="443484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32688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ZÁRÓTEKERCS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60120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csak engedélyezett feltételek mellett működik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felszabadítja a zárómechanizmust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reteszelések sorba kapcsolódhatnak a zárókörben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" y="360273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rugófeltöltött állapot szükséges lehet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36792" y="1463040"/>
            <a:ext cx="5166360" cy="44348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6336792" y="1463040"/>
            <a:ext cx="73152" cy="443484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583679" y="1645920"/>
            <a:ext cx="47091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KIOLDÓTEKERCS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11112" y="2176272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kezelői vagy védelmi nyitóparancs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11112" y="2651760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felszabadítja a nyitómechanizmust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611112" y="3127248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megbízható DC segédüzemről táplálható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611112" y="3602736"/>
            <a:ext cx="463600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kioldókör-felügyelet alkalmazható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Védelmi kioldási lánc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hiba érzékelésétől a megszakító nyitásáig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2004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9319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9B7E8"/>
                </a:solidFill>
                <a:latin typeface="Aptos"/>
              </a:defRPr>
            </a:pPr>
            <a:r>
              <a:t>MÉRŐ-</a:t>
            </a:r>
            <a:br/>
            <a:r>
              <a:t>VÁLTÓ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1892807" y="2898648"/>
            <a:ext cx="283465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58568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2331720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5B5C9B"/>
                </a:solidFill>
                <a:latin typeface="Aptos"/>
              </a:defRPr>
            </a:pPr>
            <a:r>
              <a:t>VÉDELMI</a:t>
            </a:r>
            <a:br/>
            <a:r>
              <a:t>RELÉ</a:t>
            </a:r>
          </a:p>
        </p:txBody>
      </p:sp>
      <p:cxnSp>
        <p:nvCxnSpPr>
          <p:cNvPr id="13" name="Connector 12"/>
          <p:cNvCxnSpPr/>
          <p:nvPr/>
        </p:nvCxnSpPr>
        <p:spPr>
          <a:xfrm>
            <a:off x="3831336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Rounded Rectangle 13"/>
          <p:cNvSpPr/>
          <p:nvPr/>
        </p:nvSpPr>
        <p:spPr>
          <a:xfrm>
            <a:off x="4197096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270248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BE433F"/>
                </a:solidFill>
                <a:latin typeface="Aptos"/>
              </a:defRPr>
            </a:pPr>
            <a:r>
              <a:t>KIOLDÓ-</a:t>
            </a:r>
            <a:br/>
            <a:r>
              <a:t>TEKERCS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769864" y="2898648"/>
            <a:ext cx="283463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6135624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208776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E08931"/>
                </a:solidFill>
                <a:latin typeface="Aptos"/>
              </a:defRPr>
            </a:pPr>
            <a:r>
              <a:t>HAJTÁS</a:t>
            </a:r>
          </a:p>
        </p:txBody>
      </p:sp>
      <p:cxnSp>
        <p:nvCxnSpPr>
          <p:cNvPr id="19" name="Connector 18"/>
          <p:cNvCxnSpPr/>
          <p:nvPr/>
        </p:nvCxnSpPr>
        <p:spPr>
          <a:xfrm>
            <a:off x="7708392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Rounded Rectangle 19"/>
          <p:cNvSpPr/>
          <p:nvPr/>
        </p:nvSpPr>
        <p:spPr>
          <a:xfrm>
            <a:off x="8074152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8147304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288B66"/>
                </a:solidFill>
                <a:latin typeface="Aptos"/>
              </a:defRPr>
            </a:pPr>
            <a:r>
              <a:t>MEGSZAKÍTÓ</a:t>
            </a:r>
            <a:br/>
            <a:r>
              <a:t>NYIT</a:t>
            </a:r>
          </a:p>
        </p:txBody>
      </p:sp>
      <p:cxnSp>
        <p:nvCxnSpPr>
          <p:cNvPr id="22" name="Connector 21"/>
          <p:cNvCxnSpPr/>
          <p:nvPr/>
        </p:nvCxnSpPr>
        <p:spPr>
          <a:xfrm>
            <a:off x="9646920" y="2898648"/>
            <a:ext cx="283464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" name="Rounded Rectangle 22"/>
          <p:cNvSpPr/>
          <p:nvPr/>
        </p:nvSpPr>
        <p:spPr>
          <a:xfrm>
            <a:off x="10012680" y="2331720"/>
            <a:ext cx="1572768" cy="11430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85832" y="2633472"/>
            <a:ext cx="1426464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050" b="1">
                <a:solidFill>
                  <a:srgbClr val="125388"/>
                </a:solidFill>
                <a:latin typeface="Aptos"/>
              </a:defRPr>
            </a:pPr>
            <a:r>
              <a:t>SCADA</a:t>
            </a:r>
            <a:br/>
            <a:r>
              <a:t>JELZÉS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960120" y="4343400"/>
            <a:ext cx="10241280" cy="685800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1188720" y="4544568"/>
            <a:ext cx="97840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1">
                <a:solidFill>
                  <a:srgbClr val="06192C"/>
                </a:solidFill>
                <a:latin typeface="Aptos"/>
              </a:defRPr>
            </a:pPr>
            <a:r>
              <a:t>A lánc bármely elemének hibája késleltetheti vagy megakadályozhatja a hibás hálózatrész leválasztását.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A legfontosabb névleges adatok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készüléket nem csak feszültség és áram alapján választjuk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1417320"/>
            <a:ext cx="27432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48640" y="1417320"/>
            <a:ext cx="73152" cy="4526280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5528" y="160020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Alapadatok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22959" y="2130552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névleges feszültség Un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22959" y="2606040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névleges áram 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22959" y="3081528"/>
            <a:ext cx="22128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segéd- és vezérlőfeszültség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3493008" y="1417320"/>
            <a:ext cx="365760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3493008" y="1417320"/>
            <a:ext cx="73152" cy="4526280"/>
          </a:xfrm>
          <a:prstGeom prst="rect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739896" y="16002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Zárlati adatok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67328" y="2130552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névleges zárlati megszakítóáram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767328" y="2606040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zárlati bekapcsolási / záróképesség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767328" y="3081528"/>
            <a:ext cx="312724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rövid idejű áramállóság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360920" y="1417320"/>
            <a:ext cx="4297680" cy="452628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7360920" y="1417320"/>
            <a:ext cx="73152" cy="4526280"/>
          </a:xfrm>
          <a:prstGeom prst="rect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607808" y="1600200"/>
            <a:ext cx="3840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450" b="1">
                <a:solidFill>
                  <a:srgbClr val="06192C"/>
                </a:solidFill>
                <a:latin typeface="Aptos"/>
              </a:defRPr>
            </a:pPr>
            <a:r>
              <a:t>Élettartam és működés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635240" y="2130552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mechanikai élettartam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635240" y="2606040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villamos élettartam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635240" y="3081528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kapcsolási ciklus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7635240" y="3557016"/>
            <a:ext cx="3767328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130" b="0">
                <a:solidFill>
                  <a:srgbClr val="233343"/>
                </a:solidFill>
                <a:latin typeface="Aptos"/>
              </a:defRPr>
            </a:pPr>
            <a:r>
              <a:t>• működési idők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Egyszerű kiválasztási ellenőrzés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20 kV-os hálózati pont - zárlati megszakítóképesség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155448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0120" y="1874519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HÁLÓZAT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60120" y="24688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BE433F"/>
                </a:solidFill>
                <a:latin typeface="Aptos"/>
              </a:defRPr>
            </a:pPr>
            <a:r>
              <a:t>Ik = 16 kA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0560" y="1554480"/>
            <a:ext cx="3246120" cy="192024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1874519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06192C"/>
                </a:solidFill>
                <a:latin typeface="Aptos"/>
              </a:defRPr>
            </a:pPr>
            <a:r>
              <a:t>MEGSZAKÍTÓ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468880"/>
            <a:ext cx="27889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200" b="1">
                <a:solidFill>
                  <a:srgbClr val="288B66"/>
                </a:solidFill>
                <a:latin typeface="Aptos"/>
              </a:defRPr>
            </a:pPr>
            <a:r>
              <a:t>Isc = 20 kA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3977639" y="2514600"/>
            <a:ext cx="457201" cy="0"/>
          </a:xfrm>
          <a:prstGeom prst="line">
            <a:avLst/>
          </a:prstGeom>
          <a:ln w="25400">
            <a:solidFill>
              <a:srgbClr val="12538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8229600" y="1554480"/>
            <a:ext cx="3246120" cy="1920240"/>
          </a:xfrm>
          <a:prstGeom prst="roundRect">
            <a:avLst/>
          </a:prstGeom>
          <a:solidFill>
            <a:srgbClr val="EBF8F1"/>
          </a:solidFill>
          <a:ln>
            <a:solidFill>
              <a:srgbClr val="288B6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58200" y="1901952"/>
            <a:ext cx="2788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300" b="1">
                <a:solidFill>
                  <a:srgbClr val="288B66"/>
                </a:solidFill>
                <a:latin typeface="Aptos"/>
              </a:defRPr>
            </a:pPr>
            <a:r>
              <a:t>EREDMÉNY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58200" y="2423160"/>
            <a:ext cx="278892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1">
                <a:solidFill>
                  <a:srgbClr val="288B66"/>
                </a:solidFill>
                <a:latin typeface="Aptos"/>
              </a:defRPr>
            </a:pPr>
            <a:r>
              <a:t>20 kA &gt; 16 kA</a:t>
            </a:r>
            <a:br/>
            <a:r>
              <a:t>✓ megfelel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14400" y="4297680"/>
            <a:ext cx="103327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50" b="1">
                <a:solidFill>
                  <a:srgbClr val="06192C"/>
                </a:solidFill>
                <a:latin typeface="Aptos"/>
              </a:defRPr>
            </a:pPr>
            <a:r>
              <a:t>Ez csak egy ellenőrzési szempont. A teljes kiválasztáshoz a többi névleges, hálózati és üzemviteli adatot is vizsgálni kell.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Ha a megszakító nem zár...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Gondolkodjunk ellenőrzési láncban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508760"/>
            <a:ext cx="566928" cy="566928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682495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1554480" y="1463039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691640" y="170992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Segéd-</a:t>
            </a:r>
            <a:br/>
            <a:r>
              <a:t>feszültség</a:t>
            </a:r>
          </a:p>
        </p:txBody>
      </p:sp>
      <p:sp>
        <p:nvSpPr>
          <p:cNvPr id="12" name="Oval 11"/>
          <p:cNvSpPr/>
          <p:nvPr/>
        </p:nvSpPr>
        <p:spPr>
          <a:xfrm>
            <a:off x="4434840" y="1508760"/>
            <a:ext cx="566928" cy="566928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434840" y="1682495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212079" y="1463039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5349240" y="170992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Rugó</a:t>
            </a:r>
            <a:br/>
            <a:r>
              <a:t>feltöltve?</a:t>
            </a:r>
          </a:p>
        </p:txBody>
      </p:sp>
      <p:sp>
        <p:nvSpPr>
          <p:cNvPr id="16" name="Oval 15"/>
          <p:cNvSpPr/>
          <p:nvPr/>
        </p:nvSpPr>
        <p:spPr>
          <a:xfrm>
            <a:off x="8092440" y="1508760"/>
            <a:ext cx="566928" cy="566928"/>
          </a:xfrm>
          <a:prstGeom prst="ellipse">
            <a:avLst/>
          </a:prstGeom>
          <a:solidFill>
            <a:srgbClr val="5B5C9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92440" y="1682495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869680" y="1463039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9006840" y="170992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Reteszelések</a:t>
            </a:r>
            <a:br/>
            <a:r>
              <a:t>rendben?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3657600"/>
            <a:ext cx="566928" cy="566928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38313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1554480" y="361188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1691640" y="385876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Zárótekercs</a:t>
            </a:r>
            <a:br/>
            <a:r>
              <a:t>kap parancsot?</a:t>
            </a:r>
          </a:p>
        </p:txBody>
      </p:sp>
      <p:sp>
        <p:nvSpPr>
          <p:cNvPr id="24" name="Oval 23"/>
          <p:cNvSpPr/>
          <p:nvPr/>
        </p:nvSpPr>
        <p:spPr>
          <a:xfrm>
            <a:off x="4434840" y="3657600"/>
            <a:ext cx="566928" cy="566928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4434840" y="38313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212079" y="361188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5349240" y="385876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Mechanika</a:t>
            </a:r>
            <a:br/>
            <a:r>
              <a:t>szabad?</a:t>
            </a:r>
          </a:p>
        </p:txBody>
      </p:sp>
      <p:sp>
        <p:nvSpPr>
          <p:cNvPr id="28" name="Oval 27"/>
          <p:cNvSpPr/>
          <p:nvPr/>
        </p:nvSpPr>
        <p:spPr>
          <a:xfrm>
            <a:off x="8092440" y="3657600"/>
            <a:ext cx="566928" cy="566928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92440" y="3831336"/>
            <a:ext cx="566928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30" name="Rounded Rectangle 29"/>
          <p:cNvSpPr/>
          <p:nvPr/>
        </p:nvSpPr>
        <p:spPr>
          <a:xfrm>
            <a:off x="8869680" y="3611880"/>
            <a:ext cx="2423160" cy="914400"/>
          </a:xfrm>
          <a:prstGeom prst="roundRect">
            <a:avLst/>
          </a:prstGeom>
          <a:solidFill>
            <a:srgbClr val="FFFFFF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9006840" y="3858768"/>
            <a:ext cx="214884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50" b="1">
                <a:solidFill>
                  <a:srgbClr val="06192C"/>
                </a:solidFill>
                <a:latin typeface="Aptos"/>
              </a:defRPr>
            </a:pPr>
            <a:r>
              <a:t>Helyzetjelzés</a:t>
            </a:r>
            <a:br/>
            <a:r>
              <a:t>helyes?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9FC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"/>
          </a:xfrm>
          <a:prstGeom prst="rect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21792" y="347472"/>
            <a:ext cx="1078992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2300" b="1">
                <a:solidFill>
                  <a:srgbClr val="06192C"/>
                </a:solidFill>
                <a:latin typeface="Aptos Display"/>
              </a:defRPr>
            </a:pPr>
            <a:r>
              <a:t>Összefoglalás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859536"/>
            <a:ext cx="1069848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50" b="0">
                <a:solidFill>
                  <a:srgbClr val="125388"/>
                </a:solidFill>
                <a:latin typeface="Aptos"/>
              </a:defRPr>
            </a:pPr>
            <a:r>
              <a:t>A 17. hét öt kulcsgondolata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640080" y="1234440"/>
            <a:ext cx="10927080" cy="0"/>
          </a:xfrm>
          <a:prstGeom prst="line">
            <a:avLst/>
          </a:prstGeom>
          <a:ln w="12700">
            <a:solidFill>
              <a:srgbClr val="CDDBE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621792" y="6473952"/>
            <a:ext cx="731520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 b="0">
                <a:solidFill>
                  <a:srgbClr val="667787"/>
                </a:solidFill>
                <a:latin typeface="Aptos"/>
              </a:defRPr>
            </a:pPr>
            <a:r>
              <a:t>IAP • 13. évfolyam • Villamos művek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064240" y="6446520"/>
            <a:ext cx="45720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800" b="1">
                <a:solidFill>
                  <a:srgbClr val="667787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Oval 7"/>
          <p:cNvSpPr/>
          <p:nvPr/>
        </p:nvSpPr>
        <p:spPr>
          <a:xfrm>
            <a:off x="777240" y="1371600"/>
            <a:ext cx="530352" cy="530352"/>
          </a:xfrm>
          <a:prstGeom prst="ellipse">
            <a:avLst/>
          </a:prstGeom>
          <a:solidFill>
            <a:srgbClr val="29B7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36192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572768" y="1444752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1">
                <a:solidFill>
                  <a:srgbClr val="06192C"/>
                </a:solidFill>
                <a:latin typeface="Aptos"/>
              </a:defRPr>
            </a:pPr>
            <a:r>
              <a:t>A megszakító üzemi és zárlati áramot is képes kapcsolni.</a:t>
            </a:r>
          </a:p>
        </p:txBody>
      </p:sp>
      <p:sp>
        <p:nvSpPr>
          <p:cNvPr id="11" name="Oval 10"/>
          <p:cNvSpPr/>
          <p:nvPr/>
        </p:nvSpPr>
        <p:spPr>
          <a:xfrm>
            <a:off x="777240" y="2249424"/>
            <a:ext cx="530352" cy="530352"/>
          </a:xfrm>
          <a:prstGeom prst="ellipse">
            <a:avLst/>
          </a:prstGeom>
          <a:solidFill>
            <a:srgbClr val="E0893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77240" y="2414016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72768" y="2322576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1">
                <a:solidFill>
                  <a:srgbClr val="06192C"/>
                </a:solidFill>
                <a:latin typeface="Aptos"/>
              </a:defRPr>
            </a:pPr>
            <a:r>
              <a:t>Nyitáskor villamos ív alakulhat ki, amelyet ellenőrzötten kell megszüntetni.</a:t>
            </a:r>
          </a:p>
        </p:txBody>
      </p:sp>
      <p:sp>
        <p:nvSpPr>
          <p:cNvPr id="14" name="Oval 13"/>
          <p:cNvSpPr/>
          <p:nvPr/>
        </p:nvSpPr>
        <p:spPr>
          <a:xfrm>
            <a:off x="777240" y="3127248"/>
            <a:ext cx="530352" cy="530352"/>
          </a:xfrm>
          <a:prstGeom prst="ellipse">
            <a:avLst/>
          </a:prstGeom>
          <a:solidFill>
            <a:srgbClr val="12538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7240" y="3291840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572768" y="3200400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1">
                <a:solidFill>
                  <a:srgbClr val="06192C"/>
                </a:solidFill>
                <a:latin typeface="Aptos"/>
              </a:defRPr>
            </a:pPr>
            <a:r>
              <a:t>A rugóerőtárolós hajtás gyors és határozott kapcsolómozgást biztosít.</a:t>
            </a:r>
          </a:p>
        </p:txBody>
      </p:sp>
      <p:sp>
        <p:nvSpPr>
          <p:cNvPr id="17" name="Oval 16"/>
          <p:cNvSpPr/>
          <p:nvPr/>
        </p:nvSpPr>
        <p:spPr>
          <a:xfrm>
            <a:off x="777240" y="4005072"/>
            <a:ext cx="530352" cy="530352"/>
          </a:xfrm>
          <a:prstGeom prst="ellipse">
            <a:avLst/>
          </a:prstGeom>
          <a:solidFill>
            <a:srgbClr val="BE433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77240" y="4169663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572768" y="4078224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1">
                <a:solidFill>
                  <a:srgbClr val="06192C"/>
                </a:solidFill>
                <a:latin typeface="Aptos"/>
              </a:defRPr>
            </a:pPr>
            <a:r>
              <a:t>A kioldótekercs a védelmi rendszer végrehajtó láncának kulcseleme.</a:t>
            </a:r>
          </a:p>
        </p:txBody>
      </p:sp>
      <p:sp>
        <p:nvSpPr>
          <p:cNvPr id="20" name="Oval 19"/>
          <p:cNvSpPr/>
          <p:nvPr/>
        </p:nvSpPr>
        <p:spPr>
          <a:xfrm>
            <a:off x="777240" y="4882896"/>
            <a:ext cx="530352" cy="530352"/>
          </a:xfrm>
          <a:prstGeom prst="ellipse">
            <a:avLst/>
          </a:prstGeom>
          <a:solidFill>
            <a:srgbClr val="288B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77240" y="5047488"/>
            <a:ext cx="530352" cy="1645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850" b="1">
                <a:solidFill>
                  <a:srgbClr val="FFFFFF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572768" y="4956048"/>
            <a:ext cx="9784080" cy="438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260" b="1">
                <a:solidFill>
                  <a:srgbClr val="06192C"/>
                </a:solidFill>
                <a:latin typeface="Aptos"/>
              </a:defRPr>
            </a:pPr>
            <a:r>
              <a:t>A megszakítóképességnek meg kell haladnia a várható zárlati áramot.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22960" y="5806440"/>
            <a:ext cx="10515600" cy="438912"/>
          </a:xfrm>
          <a:prstGeom prst="roundRect">
            <a:avLst/>
          </a:prstGeom>
          <a:solidFill>
            <a:srgbClr val="E7F1F8"/>
          </a:solidFill>
          <a:ln>
            <a:solidFill>
              <a:srgbClr val="CDDBE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05840" y="5934456"/>
            <a:ext cx="1014984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100" b="1">
                <a:solidFill>
                  <a:srgbClr val="125388"/>
                </a:solidFill>
                <a:latin typeface="Aptos"/>
              </a:defRPr>
            </a:pPr>
            <a:r>
              <a:t>18. hét → Nagyfeszültségű megszakítótípusok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