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192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29B7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85800" y="594360"/>
            <a:ext cx="2011680" cy="384048"/>
          </a:xfrm>
          <a:prstGeom prst="roundRect">
            <a:avLst/>
          </a:prstGeom>
          <a:solidFill>
            <a:srgbClr val="1253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694944"/>
            <a:ext cx="20116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50" b="1">
                <a:solidFill>
                  <a:srgbClr val="FFFFFF"/>
                </a:solidFill>
                <a:latin typeface="Aptos"/>
              </a:defRPr>
            </a:pPr>
            <a:r>
              <a:t>27. HÉT • 2 TANÓRA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880360" y="594360"/>
            <a:ext cx="2834640" cy="384048"/>
          </a:xfrm>
          <a:prstGeom prst="roundRect">
            <a:avLst/>
          </a:prstGeom>
          <a:solidFill>
            <a:srgbClr val="288B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880360" y="694944"/>
            <a:ext cx="283464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50" b="1">
                <a:solidFill>
                  <a:srgbClr val="FFFFFF"/>
                </a:solidFill>
                <a:latin typeface="Aptos"/>
              </a:defRPr>
            </a:pPr>
            <a:r>
              <a:t>ENERGIAGAZDÁLKODÁS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1280160"/>
            <a:ext cx="658368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Aptos Display"/>
              </a:defRPr>
            </a:pPr>
            <a:r>
              <a:t>Meddőenergia-kompenzálás</a:t>
            </a:r>
            <a:br/>
            <a:r>
              <a:t>a gyakorlatban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13232" y="3108960"/>
            <a:ext cx="58521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ADFEE"/>
                </a:solidFill>
                <a:latin typeface="Aptos"/>
              </a:defRPr>
            </a:pPr>
            <a:r>
              <a:t>kondenzátortelep • fokozatkapcsolás</a:t>
            </a:r>
            <a:br/>
            <a:r>
              <a:t>• Qc • szabályozás • harmonikusok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680960" y="2148840"/>
            <a:ext cx="594360" cy="2423160"/>
          </a:xfrm>
          <a:prstGeom prst="roundRect">
            <a:avLst/>
          </a:prstGeom>
          <a:solidFill>
            <a:srgbClr val="EEF6FB"/>
          </a:solidFill>
          <a:ln>
            <a:solidFill>
              <a:srgbClr val="29B7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680960" y="3017520"/>
            <a:ext cx="594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29B7E8"/>
                </a:solidFill>
                <a:latin typeface="Aptos"/>
              </a:defRPr>
            </a:pPr>
            <a:r>
              <a:t>C1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503920" y="2148840"/>
            <a:ext cx="594360" cy="2423160"/>
          </a:xfrm>
          <a:prstGeom prst="roundRect">
            <a:avLst/>
          </a:prstGeom>
          <a:solidFill>
            <a:srgbClr val="EEF6FB"/>
          </a:solidFill>
          <a:ln>
            <a:solidFill>
              <a:srgbClr val="1253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503920" y="3017520"/>
            <a:ext cx="594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125388"/>
                </a:solidFill>
                <a:latin typeface="Aptos"/>
              </a:defRPr>
            </a:pPr>
            <a:r>
              <a:t>C2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326880" y="2148840"/>
            <a:ext cx="594360" cy="2423160"/>
          </a:xfrm>
          <a:prstGeom prst="roundRect">
            <a:avLst/>
          </a:prstGeom>
          <a:solidFill>
            <a:srgbClr val="EEF6FB"/>
          </a:solidFill>
          <a:ln>
            <a:solidFill>
              <a:srgbClr val="5B5C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326880" y="3017520"/>
            <a:ext cx="594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5B5C9B"/>
                </a:solidFill>
                <a:latin typeface="Aptos"/>
              </a:defRPr>
            </a:pPr>
            <a:r>
              <a:t>C3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0149840" y="2148840"/>
            <a:ext cx="594360" cy="2423160"/>
          </a:xfrm>
          <a:prstGeom prst="roundRect">
            <a:avLst/>
          </a:prstGeom>
          <a:solidFill>
            <a:srgbClr val="EEF6FB"/>
          </a:solidFill>
          <a:ln>
            <a:solidFill>
              <a:srgbClr val="288B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149840" y="3017520"/>
            <a:ext cx="594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288B66"/>
                </a:solidFill>
                <a:latin typeface="Aptos"/>
              </a:defRPr>
            </a:pPr>
            <a:r>
              <a:t>C4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7315200" y="4892040"/>
            <a:ext cx="3931920" cy="0"/>
          </a:xfrm>
          <a:prstGeom prst="line">
            <a:avLst/>
          </a:prstGeom>
          <a:ln w="3810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 flipV="1">
            <a:off x="7973568" y="4590288"/>
            <a:ext cx="0" cy="301752"/>
          </a:xfrm>
          <a:prstGeom prst="line">
            <a:avLst/>
          </a:prstGeom>
          <a:ln w="25400">
            <a:solidFill>
              <a:srgbClr val="29B7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 flipV="1">
            <a:off x="8796528" y="4590288"/>
            <a:ext cx="0" cy="301752"/>
          </a:xfrm>
          <a:prstGeom prst="line">
            <a:avLst/>
          </a:prstGeom>
          <a:ln w="25400">
            <a:solidFill>
              <a:srgbClr val="29B7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 flipV="1">
            <a:off x="9619488" y="4590288"/>
            <a:ext cx="0" cy="301752"/>
          </a:xfrm>
          <a:prstGeom prst="line">
            <a:avLst/>
          </a:prstGeom>
          <a:ln w="25400">
            <a:solidFill>
              <a:srgbClr val="29B7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 flipV="1">
            <a:off x="10442448" y="4590288"/>
            <a:ext cx="0" cy="301752"/>
          </a:xfrm>
          <a:prstGeom prst="line">
            <a:avLst/>
          </a:prstGeom>
          <a:ln w="25400">
            <a:solidFill>
              <a:srgbClr val="29B7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713232" y="6016752"/>
            <a:ext cx="6217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50" b="1">
                <a:solidFill>
                  <a:srgbClr val="29B7E8"/>
                </a:solidFill>
                <a:latin typeface="Aptos"/>
              </a:defRPr>
            </a:pPr>
            <a:r>
              <a:t>Energiagazdálkodás • 5/10. hét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9B7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21792" y="347472"/>
            <a:ext cx="107899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300" b="1">
                <a:solidFill>
                  <a:srgbClr val="06192C"/>
                </a:solidFill>
                <a:latin typeface="Aptos Display"/>
              </a:defRPr>
            </a:pPr>
            <a:r>
              <a:t>Óraterv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59536"/>
            <a:ext cx="10698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50" b="0">
                <a:solidFill>
                  <a:srgbClr val="125388"/>
                </a:solidFill>
                <a:latin typeface="Aptos"/>
              </a:defRPr>
            </a:pPr>
            <a:r>
              <a:t>A kompenzálás elvétől az automatikus kondenzátortelepig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40080" y="1234440"/>
            <a:ext cx="10927080" cy="0"/>
          </a:xfrm>
          <a:prstGeom prst="line">
            <a:avLst/>
          </a:prstGeom>
          <a:ln w="12700">
            <a:solidFill>
              <a:srgbClr val="CDDB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621792" y="6473952"/>
            <a:ext cx="7315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667787"/>
                </a:solidFill>
                <a:latin typeface="Aptos"/>
              </a:defRPr>
            </a:pPr>
            <a:r>
              <a:t>IAP • 13. évfolyam • Villamos művek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64240" y="6446520"/>
            <a:ext cx="457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67787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1508760"/>
            <a:ext cx="5257800" cy="4480560"/>
          </a:xfrm>
          <a:prstGeom prst="roundRect">
            <a:avLst/>
          </a:prstGeom>
          <a:solidFill>
            <a:srgbClr val="FFFFFF"/>
          </a:solidFill>
          <a:ln>
            <a:solidFill>
              <a:srgbClr val="CDDB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85800" y="1508760"/>
            <a:ext cx="73152" cy="4480560"/>
          </a:xfrm>
          <a:prstGeom prst="rect">
            <a:avLst/>
          </a:prstGeom>
          <a:solidFill>
            <a:srgbClr val="29B7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32688" y="1691639"/>
            <a:ext cx="4800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6192C"/>
                </a:solidFill>
                <a:latin typeface="Aptos"/>
              </a:defRPr>
            </a:pPr>
            <a:r>
              <a:t>1. tanóra • Rendszer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0120" y="2221991"/>
            <a:ext cx="472744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70" b="0">
                <a:solidFill>
                  <a:srgbClr val="233343"/>
                </a:solidFill>
                <a:latin typeface="Aptos"/>
              </a:defRPr>
            </a:pPr>
            <a:r>
              <a:t>• egyedi / csoportos / központi kompenzálás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0120" y="2697479"/>
            <a:ext cx="472744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70" b="0">
                <a:solidFill>
                  <a:srgbClr val="233343"/>
                </a:solidFill>
                <a:latin typeface="Aptos"/>
              </a:defRPr>
            </a:pPr>
            <a:r>
              <a:t>• kondenzátortelep fő részei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0120" y="3172968"/>
            <a:ext cx="472744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70" b="0">
                <a:solidFill>
                  <a:srgbClr val="233343"/>
                </a:solidFill>
                <a:latin typeface="Aptos"/>
              </a:defRPr>
            </a:pPr>
            <a:r>
              <a:t>• áramváltós mérés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60120" y="3648456"/>
            <a:ext cx="472744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70" b="0">
                <a:solidFill>
                  <a:srgbClr val="233343"/>
                </a:solidFill>
                <a:latin typeface="Aptos"/>
              </a:defRPr>
            </a:pPr>
            <a:r>
              <a:t>• fokozatkiosztás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60120" y="4123944"/>
            <a:ext cx="472744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70" b="0">
                <a:solidFill>
                  <a:srgbClr val="233343"/>
                </a:solidFill>
                <a:latin typeface="Aptos"/>
              </a:defRPr>
            </a:pPr>
            <a:r>
              <a:t>• kisütési idő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36208" y="1508760"/>
            <a:ext cx="5257800" cy="4480560"/>
          </a:xfrm>
          <a:prstGeom prst="roundRect">
            <a:avLst/>
          </a:prstGeom>
          <a:solidFill>
            <a:srgbClr val="FFFFFF"/>
          </a:solidFill>
          <a:ln>
            <a:solidFill>
              <a:srgbClr val="CDDB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236208" y="1508760"/>
            <a:ext cx="73152" cy="4480560"/>
          </a:xfrm>
          <a:prstGeom prst="rect">
            <a:avLst/>
          </a:prstGeom>
          <a:solidFill>
            <a:srgbClr val="288B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83096" y="1691639"/>
            <a:ext cx="4800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6192C"/>
                </a:solidFill>
                <a:latin typeface="Aptos"/>
              </a:defRPr>
            </a:pPr>
            <a:r>
              <a:t>2. tanóra • Méretezés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10528" y="2221991"/>
            <a:ext cx="472744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70" b="0">
                <a:solidFill>
                  <a:srgbClr val="233343"/>
                </a:solidFill>
                <a:latin typeface="Aptos"/>
              </a:defRPr>
            </a:pPr>
            <a:r>
              <a:t>• Qc számítása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10528" y="2697479"/>
            <a:ext cx="472744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70" b="0">
                <a:solidFill>
                  <a:srgbClr val="233343"/>
                </a:solidFill>
                <a:latin typeface="Aptos"/>
              </a:defRPr>
            </a:pPr>
            <a:r>
              <a:t>• fokozatkapcsolás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10528" y="3172968"/>
            <a:ext cx="472744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70" b="0">
                <a:solidFill>
                  <a:srgbClr val="233343"/>
                </a:solidFill>
                <a:latin typeface="Aptos"/>
              </a:defRPr>
            </a:pPr>
            <a:r>
              <a:t>• túlkompenzálás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10528" y="3648456"/>
            <a:ext cx="472744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70" b="0">
                <a:solidFill>
                  <a:srgbClr val="233343"/>
                </a:solidFill>
                <a:latin typeface="Aptos"/>
              </a:defRPr>
            </a:pPr>
            <a:r>
              <a:t>• bekapcsolási áramlökés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10528" y="4123944"/>
            <a:ext cx="472744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70" b="0">
                <a:solidFill>
                  <a:srgbClr val="233343"/>
                </a:solidFill>
                <a:latin typeface="Aptos"/>
              </a:defRPr>
            </a:pPr>
            <a:r>
              <a:t>• harmonikusok és fojtózás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9B7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21792" y="347472"/>
            <a:ext cx="107899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300" b="1">
                <a:solidFill>
                  <a:srgbClr val="06192C"/>
                </a:solidFill>
                <a:latin typeface="Aptos Display"/>
              </a:defRPr>
            </a:pPr>
            <a:r>
              <a:t>Három kompenzálási mód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59536"/>
            <a:ext cx="10698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50" b="0">
                <a:solidFill>
                  <a:srgbClr val="125388"/>
                </a:solidFill>
                <a:latin typeface="Aptos"/>
              </a:defRPr>
            </a:pPr>
            <a:r>
              <a:t>Hol állítsuk elő a kapacitív meddő teljesítményt?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40080" y="1234440"/>
            <a:ext cx="10927080" cy="0"/>
          </a:xfrm>
          <a:prstGeom prst="line">
            <a:avLst/>
          </a:prstGeom>
          <a:ln w="12700">
            <a:solidFill>
              <a:srgbClr val="CDDB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621792" y="6473952"/>
            <a:ext cx="7315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667787"/>
                </a:solidFill>
                <a:latin typeface="Aptos"/>
              </a:defRPr>
            </a:pPr>
            <a:r>
              <a:t>IAP • 13. évfolyam • Villamos művek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64240" y="6446520"/>
            <a:ext cx="457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67787"/>
                </a:solidFill>
                <a:latin typeface="Aptos"/>
              </a:defRPr>
            </a:pPr>
            <a:r>
              <a:t>3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508760"/>
            <a:ext cx="3520440" cy="4389120"/>
          </a:xfrm>
          <a:prstGeom prst="roundRect">
            <a:avLst/>
          </a:prstGeom>
          <a:solidFill>
            <a:srgbClr val="FFFFFF"/>
          </a:solidFill>
          <a:ln>
            <a:solidFill>
              <a:srgbClr val="CDDB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40080" y="1508760"/>
            <a:ext cx="73152" cy="4389120"/>
          </a:xfrm>
          <a:prstGeom prst="rect">
            <a:avLst/>
          </a:prstGeom>
          <a:solidFill>
            <a:srgbClr val="29B7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86968" y="1691639"/>
            <a:ext cx="3063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6192C"/>
                </a:solidFill>
                <a:latin typeface="Aptos"/>
              </a:defRPr>
            </a:pPr>
            <a:r>
              <a:t>EGYEDI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221991"/>
            <a:ext cx="299008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70" b="0">
                <a:solidFill>
                  <a:srgbClr val="233343"/>
                </a:solidFill>
                <a:latin typeface="Aptos"/>
              </a:defRPr>
            </a:pPr>
            <a:r>
              <a:t>• egy nagy fogyasztónál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2697479"/>
            <a:ext cx="299008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70" b="0">
                <a:solidFill>
                  <a:srgbClr val="233343"/>
                </a:solidFill>
                <a:latin typeface="Aptos"/>
              </a:defRPr>
            </a:pPr>
            <a:r>
              <a:t>• belső hálózatot is tehermentesít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3172968"/>
            <a:ext cx="299008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70" b="0">
                <a:solidFill>
                  <a:srgbClr val="233343"/>
                </a:solidFill>
                <a:latin typeface="Aptos"/>
              </a:defRPr>
            </a:pPr>
            <a:r>
              <a:t>• a fogyasztóval együtt kapcsol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34256" y="1508760"/>
            <a:ext cx="3520440" cy="4389120"/>
          </a:xfrm>
          <a:prstGeom prst="roundRect">
            <a:avLst/>
          </a:prstGeom>
          <a:solidFill>
            <a:srgbClr val="FFFFFF"/>
          </a:solidFill>
          <a:ln>
            <a:solidFill>
              <a:srgbClr val="CDDB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334256" y="1508760"/>
            <a:ext cx="73152" cy="4389120"/>
          </a:xfrm>
          <a:prstGeom prst="rect">
            <a:avLst/>
          </a:prstGeom>
          <a:solidFill>
            <a:srgbClr val="E089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81144" y="1691639"/>
            <a:ext cx="3063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6192C"/>
                </a:solidFill>
                <a:latin typeface="Aptos"/>
              </a:defRPr>
            </a:pPr>
            <a:r>
              <a:t>CSOPORTOS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608576" y="2221991"/>
            <a:ext cx="299008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70" b="0">
                <a:solidFill>
                  <a:srgbClr val="233343"/>
                </a:solidFill>
                <a:latin typeface="Aptos"/>
              </a:defRPr>
            </a:pPr>
            <a:r>
              <a:t>• közös fogyasztócsoport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608576" y="2697479"/>
            <a:ext cx="299008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70" b="0">
                <a:solidFill>
                  <a:srgbClr val="233343"/>
                </a:solidFill>
                <a:latin typeface="Aptos"/>
              </a:defRPr>
            </a:pPr>
            <a:r>
              <a:t>• kevesebb készülék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608576" y="3172968"/>
            <a:ext cx="299008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70" b="0">
                <a:solidFill>
                  <a:srgbClr val="233343"/>
                </a:solidFill>
                <a:latin typeface="Aptos"/>
              </a:defRPr>
            </a:pPr>
            <a:r>
              <a:t>• részleges helyi tehermentesítés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028431" y="1508760"/>
            <a:ext cx="3520440" cy="4389120"/>
          </a:xfrm>
          <a:prstGeom prst="roundRect">
            <a:avLst/>
          </a:prstGeom>
          <a:solidFill>
            <a:srgbClr val="FFFFFF"/>
          </a:solidFill>
          <a:ln>
            <a:solidFill>
              <a:srgbClr val="CDDB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028431" y="1508760"/>
            <a:ext cx="73152" cy="4389120"/>
          </a:xfrm>
          <a:prstGeom prst="rect">
            <a:avLst/>
          </a:prstGeom>
          <a:solidFill>
            <a:srgbClr val="288B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275319" y="1691639"/>
            <a:ext cx="3063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6192C"/>
                </a:solidFill>
                <a:latin typeface="Aptos"/>
              </a:defRPr>
            </a:pPr>
            <a:r>
              <a:t>KÖZPONTI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302752" y="2221991"/>
            <a:ext cx="299008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70" b="0">
                <a:solidFill>
                  <a:srgbClr val="233343"/>
                </a:solidFill>
                <a:latin typeface="Aptos"/>
              </a:defRPr>
            </a:pPr>
            <a:r>
              <a:t>• főelosztónál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302752" y="2697479"/>
            <a:ext cx="299008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70" b="0">
                <a:solidFill>
                  <a:srgbClr val="233343"/>
                </a:solidFill>
                <a:latin typeface="Aptos"/>
              </a:defRPr>
            </a:pPr>
            <a:r>
              <a:t>• automatikus fokozatkapcsolás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302752" y="3172968"/>
            <a:ext cx="299008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70" b="0">
                <a:solidFill>
                  <a:srgbClr val="233343"/>
                </a:solidFill>
                <a:latin typeface="Aptos"/>
              </a:defRPr>
            </a:pPr>
            <a:r>
              <a:t>• változó üzemhez jól illeszthető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9B7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21792" y="347472"/>
            <a:ext cx="107899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300" b="1">
                <a:solidFill>
                  <a:srgbClr val="06192C"/>
                </a:solidFill>
                <a:latin typeface="Aptos Display"/>
              </a:defRPr>
            </a:pPr>
            <a:r>
              <a:t>Automatikus kondenzátortelep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59536"/>
            <a:ext cx="10698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50" b="0">
                <a:solidFill>
                  <a:srgbClr val="125388"/>
                </a:solidFill>
                <a:latin typeface="Aptos"/>
              </a:defRPr>
            </a:pPr>
            <a:r>
              <a:t>A fő részek és az energiaáramlás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40080" y="1234440"/>
            <a:ext cx="10927080" cy="0"/>
          </a:xfrm>
          <a:prstGeom prst="line">
            <a:avLst/>
          </a:prstGeom>
          <a:ln w="12700">
            <a:solidFill>
              <a:srgbClr val="CDDB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621792" y="6473952"/>
            <a:ext cx="7315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667787"/>
                </a:solidFill>
                <a:latin typeface="Aptos"/>
              </a:defRPr>
            </a:pPr>
            <a:r>
              <a:t>IAP • 13. évfolyam • Villamos művek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64240" y="6446520"/>
            <a:ext cx="457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67787"/>
                </a:solidFill>
                <a:latin typeface="Aptos"/>
              </a:defRPr>
            </a:pPr>
            <a:r>
              <a:t>4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914400" y="1828800"/>
            <a:ext cx="10241280" cy="0"/>
          </a:xfrm>
          <a:prstGeom prst="line">
            <a:avLst/>
          </a:prstGeom>
          <a:ln w="63500">
            <a:solidFill>
              <a:srgbClr val="12538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822960" y="141732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125388"/>
                </a:solidFill>
                <a:latin typeface="Aptos"/>
              </a:defRPr>
            </a:pPr>
            <a:r>
              <a:t>GYŰJTŐSÍN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1783080" y="1828800"/>
            <a:ext cx="0" cy="594360"/>
          </a:xfrm>
          <a:prstGeom prst="line">
            <a:avLst/>
          </a:prstGeom>
          <a:ln w="25400">
            <a:solidFill>
              <a:srgbClr val="29B7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1143000" y="2423160"/>
            <a:ext cx="128016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CDDB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234440" y="2670048"/>
            <a:ext cx="10972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29B7E8"/>
                </a:solidFill>
                <a:latin typeface="Aptos"/>
              </a:defRPr>
            </a:pPr>
            <a:r>
              <a:t>C1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34440" y="3108960"/>
            <a:ext cx="10972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50" b="1">
                <a:solidFill>
                  <a:srgbClr val="06192C"/>
                </a:solidFill>
                <a:latin typeface="Aptos"/>
              </a:defRPr>
            </a:pPr>
            <a:r>
              <a:t>5 kvar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3794760" y="1828800"/>
            <a:ext cx="0" cy="594360"/>
          </a:xfrm>
          <a:prstGeom prst="line">
            <a:avLst/>
          </a:prstGeom>
          <a:ln w="25400">
            <a:solidFill>
              <a:srgbClr val="12538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3154680" y="2423160"/>
            <a:ext cx="128016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CDDB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246120" y="2670048"/>
            <a:ext cx="10972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125388"/>
                </a:solidFill>
                <a:latin typeface="Aptos"/>
              </a:defRPr>
            </a:pPr>
            <a:r>
              <a:t>C2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246120" y="3108960"/>
            <a:ext cx="10972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50" b="1">
                <a:solidFill>
                  <a:srgbClr val="06192C"/>
                </a:solidFill>
                <a:latin typeface="Aptos"/>
              </a:defRPr>
            </a:pPr>
            <a:r>
              <a:t>10 kvar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5806440" y="1828800"/>
            <a:ext cx="0" cy="594360"/>
          </a:xfrm>
          <a:prstGeom prst="line">
            <a:avLst/>
          </a:prstGeom>
          <a:ln w="25400">
            <a:solidFill>
              <a:srgbClr val="5B5C9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5166360" y="2423160"/>
            <a:ext cx="128016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CDDB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257800" y="2670048"/>
            <a:ext cx="10972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5B5C9B"/>
                </a:solidFill>
                <a:latin typeface="Aptos"/>
              </a:defRPr>
            </a:pPr>
            <a:r>
              <a:t>C3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257800" y="3108960"/>
            <a:ext cx="10972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50" b="1">
                <a:solidFill>
                  <a:srgbClr val="06192C"/>
                </a:solidFill>
                <a:latin typeface="Aptos"/>
              </a:defRPr>
            </a:pPr>
            <a:r>
              <a:t>20 kvar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7818120" y="1828800"/>
            <a:ext cx="0" cy="594360"/>
          </a:xfrm>
          <a:prstGeom prst="line">
            <a:avLst/>
          </a:prstGeom>
          <a:ln w="25400">
            <a:solidFill>
              <a:srgbClr val="288B6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Rounded Rectangle 22"/>
          <p:cNvSpPr/>
          <p:nvPr/>
        </p:nvSpPr>
        <p:spPr>
          <a:xfrm>
            <a:off x="7178040" y="2423160"/>
            <a:ext cx="128016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CDDB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269480" y="2670048"/>
            <a:ext cx="10972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288B66"/>
                </a:solidFill>
                <a:latin typeface="Aptos"/>
              </a:defRPr>
            </a:pPr>
            <a:r>
              <a:t>C4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269480" y="3108960"/>
            <a:ext cx="10972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50" b="1">
                <a:solidFill>
                  <a:srgbClr val="06192C"/>
                </a:solidFill>
                <a:latin typeface="Aptos"/>
              </a:defRPr>
            </a:pPr>
            <a:r>
              <a:t>20 kvar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9326880" y="2423160"/>
            <a:ext cx="1828800" cy="1143000"/>
          </a:xfrm>
          <a:prstGeom prst="roundRect">
            <a:avLst/>
          </a:prstGeom>
          <a:solidFill>
            <a:srgbClr val="E7F1F8"/>
          </a:solidFill>
          <a:ln>
            <a:solidFill>
              <a:srgbClr val="CDDB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464040" y="2670048"/>
            <a:ext cx="15544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125388"/>
                </a:solidFill>
                <a:latin typeface="Aptos"/>
              </a:defRPr>
            </a:pPr>
            <a:r>
              <a:t>SZABÁLYOZÓ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464040" y="3108960"/>
            <a:ext cx="15544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06192C"/>
                </a:solidFill>
                <a:latin typeface="Aptos"/>
              </a:defRPr>
            </a:pPr>
            <a:r>
              <a:t>cos φ / Q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3657600" y="4572000"/>
            <a:ext cx="4846320" cy="640080"/>
          </a:xfrm>
          <a:prstGeom prst="roundRect">
            <a:avLst/>
          </a:prstGeom>
          <a:solidFill>
            <a:srgbClr val="EBF8F1"/>
          </a:solidFill>
          <a:ln>
            <a:solidFill>
              <a:srgbClr val="288B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840480" y="4754880"/>
            <a:ext cx="44805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30" b="1">
                <a:solidFill>
                  <a:srgbClr val="288B66"/>
                </a:solidFill>
                <a:latin typeface="Aptos"/>
              </a:defRPr>
            </a:pPr>
            <a:r>
              <a:t>Mérés → döntés → fokozat be/ki → ellenőrzés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9B7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21792" y="347472"/>
            <a:ext cx="107899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300" b="1">
                <a:solidFill>
                  <a:srgbClr val="06192C"/>
                </a:solidFill>
                <a:latin typeface="Aptos Display"/>
              </a:defRPr>
            </a:pPr>
            <a:r>
              <a:t>A szabályozó mérési lánca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59536"/>
            <a:ext cx="10698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50" b="0">
                <a:solidFill>
                  <a:srgbClr val="125388"/>
                </a:solidFill>
                <a:latin typeface="Aptos"/>
              </a:defRPr>
            </a:pPr>
            <a:r>
              <a:t>A helyes áramváltó- és fáziskapcsolat alapfeltétel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40080" y="1234440"/>
            <a:ext cx="10927080" cy="0"/>
          </a:xfrm>
          <a:prstGeom prst="line">
            <a:avLst/>
          </a:prstGeom>
          <a:ln w="12700">
            <a:solidFill>
              <a:srgbClr val="CDDB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621792" y="6473952"/>
            <a:ext cx="7315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667787"/>
                </a:solidFill>
                <a:latin typeface="Aptos"/>
              </a:defRPr>
            </a:pPr>
            <a:r>
              <a:t>IAP • 13. évfolyam • Villamos művek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64240" y="6446520"/>
            <a:ext cx="457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67787"/>
                </a:solidFill>
                <a:latin typeface="Aptos"/>
              </a:defRPr>
            </a:pPr>
            <a:r>
              <a:t>5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20040" y="2057400"/>
            <a:ext cx="1965960" cy="1554480"/>
          </a:xfrm>
          <a:prstGeom prst="roundRect">
            <a:avLst/>
          </a:prstGeom>
          <a:solidFill>
            <a:srgbClr val="FFFFFF"/>
          </a:solidFill>
          <a:ln>
            <a:solidFill>
              <a:srgbClr val="CDDB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29768" y="2331720"/>
            <a:ext cx="1737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19" b="1">
                <a:solidFill>
                  <a:srgbClr val="29B7E8"/>
                </a:solidFill>
                <a:latin typeface="Aptos"/>
              </a:defRPr>
            </a:pPr>
            <a:r>
              <a:t>ÁRAMVÁLTÓ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9768" y="2880360"/>
            <a:ext cx="1737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50" b="1">
                <a:solidFill>
                  <a:srgbClr val="06192C"/>
                </a:solidFill>
                <a:latin typeface="Aptos"/>
              </a:defRPr>
            </a:pPr>
            <a:r>
              <a:t>I jel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2286000" y="2834640"/>
            <a:ext cx="274320" cy="0"/>
          </a:xfrm>
          <a:prstGeom prst="line">
            <a:avLst/>
          </a:prstGeom>
          <a:ln w="25400">
            <a:solidFill>
              <a:srgbClr val="12538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2651760" y="2057400"/>
            <a:ext cx="1965960" cy="1554480"/>
          </a:xfrm>
          <a:prstGeom prst="roundRect">
            <a:avLst/>
          </a:prstGeom>
          <a:solidFill>
            <a:srgbClr val="FFFFFF"/>
          </a:solidFill>
          <a:ln>
            <a:solidFill>
              <a:srgbClr val="CDDB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761488" y="2331720"/>
            <a:ext cx="1737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19" b="1">
                <a:solidFill>
                  <a:srgbClr val="125388"/>
                </a:solidFill>
                <a:latin typeface="Aptos"/>
              </a:defRPr>
            </a:pPr>
            <a:r>
              <a:t>FESZÜLTSÉG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761488" y="2880360"/>
            <a:ext cx="1737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50" b="1">
                <a:solidFill>
                  <a:srgbClr val="06192C"/>
                </a:solidFill>
                <a:latin typeface="Aptos"/>
              </a:defRPr>
            </a:pPr>
            <a:r>
              <a:t>U jel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4617720" y="2834640"/>
            <a:ext cx="274320" cy="0"/>
          </a:xfrm>
          <a:prstGeom prst="line">
            <a:avLst/>
          </a:prstGeom>
          <a:ln w="25400">
            <a:solidFill>
              <a:srgbClr val="12538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4983479" y="2057400"/>
            <a:ext cx="1965960" cy="1554480"/>
          </a:xfrm>
          <a:prstGeom prst="roundRect">
            <a:avLst/>
          </a:prstGeom>
          <a:solidFill>
            <a:srgbClr val="FFFFFF"/>
          </a:solidFill>
          <a:ln>
            <a:solidFill>
              <a:srgbClr val="CDDB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093207" y="2331720"/>
            <a:ext cx="1737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19" b="1">
                <a:solidFill>
                  <a:srgbClr val="5B5C9B"/>
                </a:solidFill>
                <a:latin typeface="Aptos"/>
              </a:defRPr>
            </a:pPr>
            <a:r>
              <a:t>SZABÁLYOZÓ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93207" y="2880360"/>
            <a:ext cx="1737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50" b="1">
                <a:solidFill>
                  <a:srgbClr val="06192C"/>
                </a:solidFill>
                <a:latin typeface="Aptos"/>
              </a:defRPr>
            </a:pPr>
            <a:r>
              <a:t>cos φ / Q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6949440" y="2834640"/>
            <a:ext cx="274319" cy="0"/>
          </a:xfrm>
          <a:prstGeom prst="line">
            <a:avLst/>
          </a:prstGeom>
          <a:ln w="25400">
            <a:solidFill>
              <a:srgbClr val="12538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7315199" y="2057400"/>
            <a:ext cx="1965960" cy="1554480"/>
          </a:xfrm>
          <a:prstGeom prst="roundRect">
            <a:avLst/>
          </a:prstGeom>
          <a:solidFill>
            <a:srgbClr val="FFFFFF"/>
          </a:solidFill>
          <a:ln>
            <a:solidFill>
              <a:srgbClr val="CDDB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424927" y="2331720"/>
            <a:ext cx="1737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19" b="1">
                <a:solidFill>
                  <a:srgbClr val="E08931"/>
                </a:solidFill>
                <a:latin typeface="Aptos"/>
              </a:defRPr>
            </a:pPr>
            <a:r>
              <a:t>DÖNTÉS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424927" y="2880360"/>
            <a:ext cx="1737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50" b="1">
                <a:solidFill>
                  <a:srgbClr val="06192C"/>
                </a:solidFill>
                <a:latin typeface="Aptos"/>
              </a:defRPr>
            </a:pPr>
            <a:r>
              <a:t>+ / - kvar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9281159" y="2834640"/>
            <a:ext cx="274321" cy="0"/>
          </a:xfrm>
          <a:prstGeom prst="line">
            <a:avLst/>
          </a:prstGeom>
          <a:ln w="25400">
            <a:solidFill>
              <a:srgbClr val="12538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ounded Rectangle 23"/>
          <p:cNvSpPr/>
          <p:nvPr/>
        </p:nvSpPr>
        <p:spPr>
          <a:xfrm>
            <a:off x="9646919" y="2057400"/>
            <a:ext cx="1965960" cy="1554480"/>
          </a:xfrm>
          <a:prstGeom prst="roundRect">
            <a:avLst/>
          </a:prstGeom>
          <a:solidFill>
            <a:srgbClr val="FFFFFF"/>
          </a:solidFill>
          <a:ln>
            <a:solidFill>
              <a:srgbClr val="CDDB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756647" y="2331720"/>
            <a:ext cx="1737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19" b="1">
                <a:solidFill>
                  <a:srgbClr val="288B66"/>
                </a:solidFill>
                <a:latin typeface="Aptos"/>
              </a:defRPr>
            </a:pPr>
            <a:r>
              <a:t>FOKOZAT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756647" y="2880360"/>
            <a:ext cx="1737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50" b="1">
                <a:solidFill>
                  <a:srgbClr val="06192C"/>
                </a:solidFill>
                <a:latin typeface="Aptos"/>
              </a:defRPr>
            </a:pPr>
            <a:r>
              <a:t>BE / KI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1417320" y="4572000"/>
            <a:ext cx="9235440" cy="594360"/>
          </a:xfrm>
          <a:prstGeom prst="roundRect">
            <a:avLst/>
          </a:prstGeom>
          <a:solidFill>
            <a:srgbClr val="FCEFED"/>
          </a:solidFill>
          <a:ln>
            <a:solidFill>
              <a:srgbClr val="BE43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600200" y="4754880"/>
            <a:ext cx="88696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20" b="1">
                <a:solidFill>
                  <a:srgbClr val="BE433F"/>
                </a:solidFill>
                <a:latin typeface="Aptos"/>
              </a:defRPr>
            </a:pPr>
            <a:r>
              <a:t>Hibás CT irány vagy fázisviszony → hibás kompenzálási döntés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9B7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21792" y="347472"/>
            <a:ext cx="107899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300" b="1">
                <a:solidFill>
                  <a:srgbClr val="06192C"/>
                </a:solidFill>
                <a:latin typeface="Aptos Display"/>
              </a:defRPr>
            </a:pPr>
            <a:r>
              <a:t>Fokozatkiosztás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59536"/>
            <a:ext cx="10698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50" b="0">
                <a:solidFill>
                  <a:srgbClr val="125388"/>
                </a:solidFill>
                <a:latin typeface="Aptos"/>
              </a:defRPr>
            </a:pPr>
            <a:r>
              <a:t>A kis fokozat finom, a nagy fokozat gyors szabályozást ad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40080" y="1234440"/>
            <a:ext cx="10927080" cy="0"/>
          </a:xfrm>
          <a:prstGeom prst="line">
            <a:avLst/>
          </a:prstGeom>
          <a:ln w="12700">
            <a:solidFill>
              <a:srgbClr val="CDDB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621792" y="6473952"/>
            <a:ext cx="7315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667787"/>
                </a:solidFill>
                <a:latin typeface="Aptos"/>
              </a:defRPr>
            </a:pPr>
            <a:r>
              <a:t>IAP • 13. évfolyam • Villamos művek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64240" y="6446520"/>
            <a:ext cx="457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67787"/>
                </a:solidFill>
                <a:latin typeface="Aptos"/>
              </a:defRPr>
            </a:pPr>
            <a:r>
              <a:t>6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1965960"/>
            <a:ext cx="1508760" cy="1920240"/>
          </a:xfrm>
          <a:prstGeom prst="roundRect">
            <a:avLst/>
          </a:prstGeom>
          <a:solidFill>
            <a:srgbClr val="FFFFFF"/>
          </a:solidFill>
          <a:ln>
            <a:solidFill>
              <a:srgbClr val="CDDB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94360" y="2304288"/>
            <a:ext cx="1325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29B7E8"/>
                </a:solidFill>
                <a:latin typeface="Aptos"/>
              </a:defRPr>
            </a:pPr>
            <a:r>
              <a:t>5 kvar</a:t>
            </a:r>
          </a:p>
        </p:txBody>
      </p:sp>
      <p:sp>
        <p:nvSpPr>
          <p:cNvPr id="10" name="Rectangle 9"/>
          <p:cNvSpPr/>
          <p:nvPr/>
        </p:nvSpPr>
        <p:spPr>
          <a:xfrm>
            <a:off x="822960" y="2971800"/>
            <a:ext cx="868680" cy="320040"/>
          </a:xfrm>
          <a:prstGeom prst="rect">
            <a:avLst/>
          </a:prstGeom>
          <a:solidFill>
            <a:srgbClr val="29B7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2377439" y="1965960"/>
            <a:ext cx="1508760" cy="1920240"/>
          </a:xfrm>
          <a:prstGeom prst="roundRect">
            <a:avLst/>
          </a:prstGeom>
          <a:solidFill>
            <a:srgbClr val="FFFFFF"/>
          </a:solidFill>
          <a:ln>
            <a:solidFill>
              <a:srgbClr val="CDDB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468879" y="2304288"/>
            <a:ext cx="1325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125388"/>
                </a:solidFill>
                <a:latin typeface="Aptos"/>
              </a:defRPr>
            </a:pPr>
            <a:r>
              <a:t>10 kvar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697479" y="2971800"/>
            <a:ext cx="868680" cy="320040"/>
          </a:xfrm>
          <a:prstGeom prst="rect">
            <a:avLst/>
          </a:prstGeom>
          <a:solidFill>
            <a:srgbClr val="1253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4251959" y="1965960"/>
            <a:ext cx="1508760" cy="1920240"/>
          </a:xfrm>
          <a:prstGeom prst="roundRect">
            <a:avLst/>
          </a:prstGeom>
          <a:solidFill>
            <a:srgbClr val="FFFFFF"/>
          </a:solidFill>
          <a:ln>
            <a:solidFill>
              <a:srgbClr val="CDDB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343399" y="2304288"/>
            <a:ext cx="1325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5B5C9B"/>
                </a:solidFill>
                <a:latin typeface="Aptos"/>
              </a:defRPr>
            </a:pPr>
            <a:r>
              <a:t>15 kvar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571999" y="2971800"/>
            <a:ext cx="868680" cy="320040"/>
          </a:xfrm>
          <a:prstGeom prst="rect">
            <a:avLst/>
          </a:prstGeom>
          <a:solidFill>
            <a:srgbClr val="5B5C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6126479" y="1965960"/>
            <a:ext cx="1508760" cy="1920240"/>
          </a:xfrm>
          <a:prstGeom prst="roundRect">
            <a:avLst/>
          </a:prstGeom>
          <a:solidFill>
            <a:srgbClr val="FFFFFF"/>
          </a:solidFill>
          <a:ln>
            <a:solidFill>
              <a:srgbClr val="CDDB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217919" y="2304288"/>
            <a:ext cx="1325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288B66"/>
                </a:solidFill>
                <a:latin typeface="Aptos"/>
              </a:defRPr>
            </a:pPr>
            <a:r>
              <a:t>20 kvar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446519" y="2971800"/>
            <a:ext cx="868680" cy="320040"/>
          </a:xfrm>
          <a:prstGeom prst="rect">
            <a:avLst/>
          </a:prstGeom>
          <a:solidFill>
            <a:srgbClr val="288B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8001000" y="1965960"/>
            <a:ext cx="1508760" cy="1920240"/>
          </a:xfrm>
          <a:prstGeom prst="roundRect">
            <a:avLst/>
          </a:prstGeom>
          <a:solidFill>
            <a:srgbClr val="FFFFFF"/>
          </a:solidFill>
          <a:ln>
            <a:solidFill>
              <a:srgbClr val="CDDB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092440" y="2304288"/>
            <a:ext cx="1325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E08931"/>
                </a:solidFill>
                <a:latin typeface="Aptos"/>
              </a:defRPr>
            </a:pPr>
            <a:r>
              <a:t>20 kvar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321040" y="2971800"/>
            <a:ext cx="868680" cy="320040"/>
          </a:xfrm>
          <a:prstGeom prst="rect">
            <a:avLst/>
          </a:prstGeom>
          <a:solidFill>
            <a:srgbClr val="E089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9875520" y="1965960"/>
            <a:ext cx="1508760" cy="1920240"/>
          </a:xfrm>
          <a:prstGeom prst="roundRect">
            <a:avLst/>
          </a:prstGeom>
          <a:solidFill>
            <a:srgbClr val="FFFFFF"/>
          </a:solidFill>
          <a:ln>
            <a:solidFill>
              <a:srgbClr val="CDDB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966960" y="2304288"/>
            <a:ext cx="1325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BE433F"/>
                </a:solidFill>
                <a:latin typeface="Aptos"/>
              </a:defRPr>
            </a:pPr>
            <a:r>
              <a:t>20 kvar</a:t>
            </a:r>
          </a:p>
        </p:txBody>
      </p:sp>
      <p:sp>
        <p:nvSpPr>
          <p:cNvPr id="25" name="Rectangle 24"/>
          <p:cNvSpPr/>
          <p:nvPr/>
        </p:nvSpPr>
        <p:spPr>
          <a:xfrm>
            <a:off x="10195560" y="2971800"/>
            <a:ext cx="868680" cy="320040"/>
          </a:xfrm>
          <a:prstGeom prst="rect">
            <a:avLst/>
          </a:prstGeom>
          <a:solidFill>
            <a:srgbClr val="BE43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2057400" y="4572000"/>
            <a:ext cx="8092440" cy="594360"/>
          </a:xfrm>
          <a:prstGeom prst="roundRect">
            <a:avLst/>
          </a:prstGeom>
          <a:solidFill>
            <a:srgbClr val="E7F1F8"/>
          </a:solidFill>
          <a:ln>
            <a:solidFill>
              <a:srgbClr val="CDDB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2240280" y="4754880"/>
            <a:ext cx="7726679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20" b="1">
                <a:solidFill>
                  <a:srgbClr val="125388"/>
                </a:solidFill>
                <a:latin typeface="Aptos"/>
              </a:defRPr>
            </a:pPr>
            <a:r>
              <a:t>Példa összteljesítmény: 90 kvar • több kombináció → jobb illeszkedés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9B7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21792" y="347472"/>
            <a:ext cx="107899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300" b="1">
                <a:solidFill>
                  <a:srgbClr val="06192C"/>
                </a:solidFill>
                <a:latin typeface="Aptos Display"/>
              </a:defRPr>
            </a:pPr>
            <a:r>
              <a:t>Méretezési példa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59536"/>
            <a:ext cx="10698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50" b="0">
                <a:solidFill>
                  <a:srgbClr val="125388"/>
                </a:solidFill>
                <a:latin typeface="Aptos"/>
              </a:defRPr>
            </a:pPr>
            <a:r>
              <a:t>180 kW • cos φ: 0,78 → 0,95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40080" y="1234440"/>
            <a:ext cx="10927080" cy="0"/>
          </a:xfrm>
          <a:prstGeom prst="line">
            <a:avLst/>
          </a:prstGeom>
          <a:ln w="12700">
            <a:solidFill>
              <a:srgbClr val="CDDB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621792" y="6473952"/>
            <a:ext cx="7315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667787"/>
                </a:solidFill>
                <a:latin typeface="Aptos"/>
              </a:defRPr>
            </a:pPr>
            <a:r>
              <a:t>IAP • 13. évfolyam • Villamos művek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64240" y="6446520"/>
            <a:ext cx="457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67787"/>
                </a:solidFill>
                <a:latin typeface="Aptos"/>
              </a:defRPr>
            </a:pPr>
            <a:r>
              <a:t>7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463040" y="1600200"/>
            <a:ext cx="9235440" cy="960120"/>
          </a:xfrm>
          <a:prstGeom prst="roundRect">
            <a:avLst/>
          </a:prstGeom>
          <a:solidFill>
            <a:srgbClr val="E7F1F8"/>
          </a:solidFill>
          <a:ln>
            <a:solidFill>
              <a:srgbClr val="1253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691640" y="1874519"/>
            <a:ext cx="8778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125388"/>
                </a:solidFill>
                <a:latin typeface="Aptos"/>
              </a:defRPr>
            </a:pPr>
            <a:r>
              <a:t>Qc = P · (tan φ1 - tan φ2)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94360" y="3291840"/>
            <a:ext cx="246888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CDDB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" y="3566160"/>
            <a:ext cx="21031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50" b="1">
                <a:solidFill>
                  <a:srgbClr val="667787"/>
                </a:solidFill>
                <a:latin typeface="Aptos"/>
              </a:defRPr>
            </a:pPr>
            <a:r>
              <a:t>P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4041648"/>
            <a:ext cx="2103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50" b="1">
                <a:solidFill>
                  <a:srgbClr val="29B7E8"/>
                </a:solidFill>
                <a:latin typeface="Aptos"/>
              </a:defRPr>
            </a:pPr>
            <a:r>
              <a:t>180 kW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383279" y="3291840"/>
            <a:ext cx="246888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CDDB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566160" y="3566160"/>
            <a:ext cx="21031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50" b="1">
                <a:solidFill>
                  <a:srgbClr val="667787"/>
                </a:solidFill>
                <a:latin typeface="Aptos"/>
              </a:defRPr>
            </a:pPr>
            <a:r>
              <a:t>tan φ1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566160" y="4041648"/>
            <a:ext cx="2103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50" b="1">
                <a:solidFill>
                  <a:srgbClr val="E08931"/>
                </a:solidFill>
                <a:latin typeface="Aptos"/>
              </a:defRPr>
            </a:pPr>
            <a:r>
              <a:t>0,802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72200" y="3291840"/>
            <a:ext cx="246888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CDDB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355080" y="3566160"/>
            <a:ext cx="21031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50" b="1">
                <a:solidFill>
                  <a:srgbClr val="667787"/>
                </a:solidFill>
                <a:latin typeface="Aptos"/>
              </a:defRPr>
            </a:pPr>
            <a:r>
              <a:t>tan φ2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55080" y="4041648"/>
            <a:ext cx="2103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50" b="1">
                <a:solidFill>
                  <a:srgbClr val="288B66"/>
                </a:solidFill>
                <a:latin typeface="Aptos"/>
              </a:defRPr>
            </a:pPr>
            <a:r>
              <a:t>0,329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961119" y="3291840"/>
            <a:ext cx="246888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CDDB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143999" y="3566160"/>
            <a:ext cx="21031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50" b="1">
                <a:solidFill>
                  <a:srgbClr val="667787"/>
                </a:solidFill>
                <a:latin typeface="Aptos"/>
              </a:defRPr>
            </a:pPr>
            <a:r>
              <a:t>Qc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43999" y="4041648"/>
            <a:ext cx="2103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50" b="1">
                <a:solidFill>
                  <a:srgbClr val="5B5C9B"/>
                </a:solidFill>
                <a:latin typeface="Aptos"/>
              </a:defRPr>
            </a:pPr>
            <a:r>
              <a:t>≈ 85 kvar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148840" y="5166360"/>
            <a:ext cx="7863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50" b="1">
                <a:solidFill>
                  <a:srgbClr val="06192C"/>
                </a:solidFill>
                <a:latin typeface="Aptos"/>
              </a:defRPr>
            </a:pPr>
            <a:r>
              <a:t>Gyakorlati választás például: 90 kvar több fokozatban.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9B7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21792" y="347472"/>
            <a:ext cx="107899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300" b="1">
                <a:solidFill>
                  <a:srgbClr val="06192C"/>
                </a:solidFill>
                <a:latin typeface="Aptos Display"/>
              </a:defRPr>
            </a:pPr>
            <a:r>
              <a:t>Kapcsolási időzítés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59536"/>
            <a:ext cx="10698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50" b="0">
                <a:solidFill>
                  <a:srgbClr val="125388"/>
                </a:solidFill>
                <a:latin typeface="Aptos"/>
              </a:defRPr>
            </a:pPr>
            <a:r>
              <a:t>A kondenzátor nem kapcsolható korlátlanul gyorsan vissza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40080" y="1234440"/>
            <a:ext cx="10927080" cy="0"/>
          </a:xfrm>
          <a:prstGeom prst="line">
            <a:avLst/>
          </a:prstGeom>
          <a:ln w="12700">
            <a:solidFill>
              <a:srgbClr val="CDDB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621792" y="6473952"/>
            <a:ext cx="7315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667787"/>
                </a:solidFill>
                <a:latin typeface="Aptos"/>
              </a:defRPr>
            </a:pPr>
            <a:r>
              <a:t>IAP • 13. évfolyam • Villamos művek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64240" y="6446520"/>
            <a:ext cx="457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67787"/>
                </a:solidFill>
                <a:latin typeface="Aptos"/>
              </a:defRPr>
            </a:pPr>
            <a:r>
              <a:t>8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65760" y="2148840"/>
            <a:ext cx="1874519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CDDB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75488" y="2578608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69" b="1">
                <a:solidFill>
                  <a:srgbClr val="BE433F"/>
                </a:solidFill>
                <a:latin typeface="Aptos"/>
              </a:defRPr>
            </a:pPr>
            <a:r>
              <a:t>KIKAPCSOLÁS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2240279" y="2761488"/>
            <a:ext cx="320041" cy="0"/>
          </a:xfrm>
          <a:prstGeom prst="line">
            <a:avLst/>
          </a:prstGeom>
          <a:ln w="25400">
            <a:solidFill>
              <a:srgbClr val="12538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2651760" y="2148840"/>
            <a:ext cx="1874519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CDDB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761488" y="2578608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69" b="1">
                <a:solidFill>
                  <a:srgbClr val="E08931"/>
                </a:solidFill>
                <a:latin typeface="Aptos"/>
              </a:defRPr>
            </a:pPr>
            <a:r>
              <a:t>KISÜTÉS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4526279" y="2761488"/>
            <a:ext cx="320041" cy="0"/>
          </a:xfrm>
          <a:prstGeom prst="line">
            <a:avLst/>
          </a:prstGeom>
          <a:ln w="25400">
            <a:solidFill>
              <a:srgbClr val="12538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4937760" y="2148840"/>
            <a:ext cx="1874519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CDDB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047488" y="2578608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69" b="1">
                <a:solidFill>
                  <a:srgbClr val="5B5C9B"/>
                </a:solidFill>
                <a:latin typeface="Aptos"/>
              </a:defRPr>
            </a:pPr>
            <a:r>
              <a:t>VÁRAKOZÁS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6812280" y="2761488"/>
            <a:ext cx="320040" cy="0"/>
          </a:xfrm>
          <a:prstGeom prst="line">
            <a:avLst/>
          </a:prstGeom>
          <a:ln w="25400">
            <a:solidFill>
              <a:srgbClr val="12538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7223760" y="2148840"/>
            <a:ext cx="1874519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CDDB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333488" y="2578608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69" b="1">
                <a:solidFill>
                  <a:srgbClr val="125388"/>
                </a:solidFill>
                <a:latin typeface="Aptos"/>
              </a:defRPr>
            </a:pPr>
            <a:r>
              <a:t>ÚJRAMÉRÉS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9098280" y="2761488"/>
            <a:ext cx="320040" cy="0"/>
          </a:xfrm>
          <a:prstGeom prst="line">
            <a:avLst/>
          </a:prstGeom>
          <a:ln w="25400">
            <a:solidFill>
              <a:srgbClr val="12538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9509760" y="2148840"/>
            <a:ext cx="1874519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CDDB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619488" y="2578608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69" b="1">
                <a:solidFill>
                  <a:srgbClr val="288B66"/>
                </a:solidFill>
                <a:latin typeface="Aptos"/>
              </a:defRPr>
            </a:pPr>
            <a:r>
              <a:t>VISSZAKAPCSOLÁS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1508760" y="4343400"/>
            <a:ext cx="9144000" cy="731520"/>
          </a:xfrm>
          <a:prstGeom prst="roundRect">
            <a:avLst/>
          </a:prstGeom>
          <a:solidFill>
            <a:srgbClr val="FCEFED"/>
          </a:solidFill>
          <a:ln>
            <a:solidFill>
              <a:srgbClr val="BE43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691640" y="4553712"/>
            <a:ext cx="877824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50" b="1">
                <a:solidFill>
                  <a:srgbClr val="BE433F"/>
                </a:solidFill>
                <a:latin typeface="Aptos"/>
              </a:defRPr>
            </a:pPr>
            <a:r>
              <a:t>A gyártói kisütési és újrakapcsolási idő kötelező üzemi feltétel.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9B7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21792" y="347472"/>
            <a:ext cx="107899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300" b="1">
                <a:solidFill>
                  <a:srgbClr val="06192C"/>
                </a:solidFill>
                <a:latin typeface="Aptos Display"/>
              </a:defRPr>
            </a:pPr>
            <a:r>
              <a:t>Túlkompenzálás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59536"/>
            <a:ext cx="10698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50" b="0">
                <a:solidFill>
                  <a:srgbClr val="125388"/>
                </a:solidFill>
                <a:latin typeface="Aptos"/>
              </a:defRPr>
            </a:pPr>
            <a:r>
              <a:t>A cél nem a lehető legtöbb kondenzátor bekapcsolása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40080" y="1234440"/>
            <a:ext cx="10927080" cy="0"/>
          </a:xfrm>
          <a:prstGeom prst="line">
            <a:avLst/>
          </a:prstGeom>
          <a:ln w="12700">
            <a:solidFill>
              <a:srgbClr val="CDDB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621792" y="6473952"/>
            <a:ext cx="7315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667787"/>
                </a:solidFill>
                <a:latin typeface="Aptos"/>
              </a:defRPr>
            </a:pPr>
            <a:r>
              <a:t>IAP • 13. évfolyam • Villamos művek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64240" y="6446520"/>
            <a:ext cx="457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67787"/>
                </a:solidFill>
                <a:latin typeface="Aptos"/>
              </a:defRPr>
            </a:pPr>
            <a:r>
              <a:t>9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828800"/>
            <a:ext cx="3108960" cy="3108960"/>
          </a:xfrm>
          <a:prstGeom prst="roundRect">
            <a:avLst/>
          </a:prstGeom>
          <a:solidFill>
            <a:srgbClr val="FFFFFF"/>
          </a:solidFill>
          <a:ln>
            <a:solidFill>
              <a:srgbClr val="CDDB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2103120"/>
            <a:ext cx="2651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E08931"/>
                </a:solidFill>
                <a:latin typeface="Aptos"/>
              </a:defRPr>
            </a:pPr>
            <a:r>
              <a:t>INDUKTÍV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" y="2880360"/>
            <a:ext cx="26517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E08931"/>
                </a:solidFill>
                <a:latin typeface="Aptos"/>
              </a:defRPr>
            </a:pPr>
            <a:r>
              <a:t>Q &gt; 0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26280" y="1828800"/>
            <a:ext cx="3108960" cy="3108960"/>
          </a:xfrm>
          <a:prstGeom prst="roundRect">
            <a:avLst/>
          </a:prstGeom>
          <a:solidFill>
            <a:srgbClr val="EBF8F1"/>
          </a:solidFill>
          <a:ln>
            <a:solidFill>
              <a:srgbClr val="288B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754880" y="2103120"/>
            <a:ext cx="2651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288B66"/>
                </a:solidFill>
                <a:latin typeface="Aptos"/>
              </a:defRPr>
            </a:pPr>
            <a:r>
              <a:t>CÉLZÓNA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754880" y="2880360"/>
            <a:ext cx="26517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900" b="1">
                <a:solidFill>
                  <a:srgbClr val="288B66"/>
                </a:solidFill>
                <a:latin typeface="Aptos"/>
              </a:defRPr>
            </a:pPr>
            <a:r>
              <a:t>cos φ ≈ cél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321040" y="1828800"/>
            <a:ext cx="3108960" cy="3108960"/>
          </a:xfrm>
          <a:prstGeom prst="roundRect">
            <a:avLst/>
          </a:prstGeom>
          <a:solidFill>
            <a:srgbClr val="FFFFFF"/>
          </a:solidFill>
          <a:ln>
            <a:solidFill>
              <a:srgbClr val="CDDB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549640" y="2103120"/>
            <a:ext cx="2651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5B5C9B"/>
                </a:solidFill>
                <a:latin typeface="Aptos"/>
              </a:defRPr>
            </a:pPr>
            <a:r>
              <a:t>KAPACITÍV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549640" y="2880360"/>
            <a:ext cx="26517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5B5C9B"/>
                </a:solidFill>
                <a:latin typeface="Aptos"/>
              </a:defRPr>
            </a:pPr>
            <a:r>
              <a:t>túlkompenzált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3840480" y="3383280"/>
            <a:ext cx="594360" cy="0"/>
          </a:xfrm>
          <a:prstGeom prst="line">
            <a:avLst/>
          </a:prstGeom>
          <a:ln w="38100">
            <a:solidFill>
              <a:srgbClr val="288B6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7635240" y="3383280"/>
            <a:ext cx="594360" cy="0"/>
          </a:xfrm>
          <a:prstGeom prst="line">
            <a:avLst/>
          </a:prstGeom>
          <a:ln w="38100">
            <a:solidFill>
              <a:srgbClr val="BE433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9B7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21792" y="347472"/>
            <a:ext cx="107899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300" b="1">
                <a:solidFill>
                  <a:srgbClr val="06192C"/>
                </a:solidFill>
                <a:latin typeface="Aptos Display"/>
              </a:defRPr>
            </a:pPr>
            <a:r>
              <a:t>Bekapcsolási áramlökés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59536"/>
            <a:ext cx="10698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50" b="0">
                <a:solidFill>
                  <a:srgbClr val="125388"/>
                </a:solidFill>
                <a:latin typeface="Aptos"/>
              </a:defRPr>
            </a:pPr>
            <a:r>
              <a:t>A kondenzátorfokozat kapcsolása különleges igénybevétel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40080" y="1234440"/>
            <a:ext cx="10927080" cy="0"/>
          </a:xfrm>
          <a:prstGeom prst="line">
            <a:avLst/>
          </a:prstGeom>
          <a:ln w="12700">
            <a:solidFill>
              <a:srgbClr val="CDDB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621792" y="6473952"/>
            <a:ext cx="7315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667787"/>
                </a:solidFill>
                <a:latin typeface="Aptos"/>
              </a:defRPr>
            </a:pPr>
            <a:r>
              <a:t>IAP • 13. évfolyam • Villamos művek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64240" y="6446520"/>
            <a:ext cx="457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67787"/>
                </a:solidFill>
                <a:latin typeface="Aptos"/>
              </a:defRPr>
            </a:pPr>
            <a:r>
              <a:t>10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508760"/>
            <a:ext cx="3520440" cy="4389120"/>
          </a:xfrm>
          <a:prstGeom prst="roundRect">
            <a:avLst/>
          </a:prstGeom>
          <a:solidFill>
            <a:srgbClr val="FFFFFF"/>
          </a:solidFill>
          <a:ln>
            <a:solidFill>
              <a:srgbClr val="CDDB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40080" y="1508760"/>
            <a:ext cx="73152" cy="4389120"/>
          </a:xfrm>
          <a:prstGeom prst="rect">
            <a:avLst/>
          </a:prstGeom>
          <a:solidFill>
            <a:srgbClr val="BE43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86968" y="1691639"/>
            <a:ext cx="3063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6192C"/>
                </a:solidFill>
                <a:latin typeface="Aptos"/>
              </a:defRPr>
            </a:pPr>
            <a:r>
              <a:t>OK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221991"/>
            <a:ext cx="299008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70" b="0">
                <a:solidFill>
                  <a:srgbClr val="233343"/>
                </a:solidFill>
                <a:latin typeface="Aptos"/>
              </a:defRPr>
            </a:pPr>
            <a:r>
              <a:t>• feszültségkülönbség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2697479"/>
            <a:ext cx="299008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70" b="0">
                <a:solidFill>
                  <a:srgbClr val="233343"/>
                </a:solidFill>
                <a:latin typeface="Aptos"/>
              </a:defRPr>
            </a:pPr>
            <a:r>
              <a:t>• kis belső impedancia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3172968"/>
            <a:ext cx="299008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70" b="0">
                <a:solidFill>
                  <a:srgbClr val="233343"/>
                </a:solidFill>
                <a:latin typeface="Aptos"/>
              </a:defRPr>
            </a:pPr>
            <a:r>
              <a:t>• más bekapcsolt fokozatok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34256" y="1508760"/>
            <a:ext cx="3520440" cy="4389120"/>
          </a:xfrm>
          <a:prstGeom prst="roundRect">
            <a:avLst/>
          </a:prstGeom>
          <a:solidFill>
            <a:srgbClr val="FFFFFF"/>
          </a:solidFill>
          <a:ln>
            <a:solidFill>
              <a:srgbClr val="CDDB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334256" y="1508760"/>
            <a:ext cx="73152" cy="4389120"/>
          </a:xfrm>
          <a:prstGeom prst="rect">
            <a:avLst/>
          </a:prstGeom>
          <a:solidFill>
            <a:srgbClr val="E089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81144" y="1691639"/>
            <a:ext cx="3063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6192C"/>
                </a:solidFill>
                <a:latin typeface="Aptos"/>
              </a:defRPr>
            </a:pPr>
            <a:r>
              <a:t>KÖVETKEZMÉNY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608576" y="2221991"/>
            <a:ext cx="299008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70" b="0">
                <a:solidFill>
                  <a:srgbClr val="233343"/>
                </a:solidFill>
                <a:latin typeface="Aptos"/>
              </a:defRPr>
            </a:pPr>
            <a:r>
              <a:t>• nagy rövid idejű áram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608576" y="2697479"/>
            <a:ext cx="299008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70" b="0">
                <a:solidFill>
                  <a:srgbClr val="233343"/>
                </a:solidFill>
                <a:latin typeface="Aptos"/>
              </a:defRPr>
            </a:pPr>
            <a:r>
              <a:t>• kontaktorterhelés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608576" y="3172968"/>
            <a:ext cx="299008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70" b="0">
                <a:solidFill>
                  <a:srgbClr val="233343"/>
                </a:solidFill>
                <a:latin typeface="Aptos"/>
              </a:defRPr>
            </a:pPr>
            <a:r>
              <a:t>• biztosító és sín igénybevétel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028431" y="1508760"/>
            <a:ext cx="3520440" cy="4389120"/>
          </a:xfrm>
          <a:prstGeom prst="roundRect">
            <a:avLst/>
          </a:prstGeom>
          <a:solidFill>
            <a:srgbClr val="FFFFFF"/>
          </a:solidFill>
          <a:ln>
            <a:solidFill>
              <a:srgbClr val="CDDB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028431" y="1508760"/>
            <a:ext cx="73152" cy="4389120"/>
          </a:xfrm>
          <a:prstGeom prst="rect">
            <a:avLst/>
          </a:prstGeom>
          <a:solidFill>
            <a:srgbClr val="288B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275319" y="1691639"/>
            <a:ext cx="3063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6192C"/>
                </a:solidFill>
                <a:latin typeface="Aptos"/>
              </a:defRPr>
            </a:pPr>
            <a:r>
              <a:t>MEGOLDÁS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302752" y="2221991"/>
            <a:ext cx="299008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70" b="0">
                <a:solidFill>
                  <a:srgbClr val="233343"/>
                </a:solidFill>
                <a:latin typeface="Aptos"/>
              </a:defRPr>
            </a:pPr>
            <a:r>
              <a:t>• kondenzátorkontaktor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302752" y="2697479"/>
            <a:ext cx="299008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70" b="0">
                <a:solidFill>
                  <a:srgbClr val="233343"/>
                </a:solidFill>
                <a:latin typeface="Aptos"/>
              </a:defRPr>
            </a:pPr>
            <a:r>
              <a:t>• helyes védelem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302752" y="3172968"/>
            <a:ext cx="299008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70" b="0">
                <a:solidFill>
                  <a:srgbClr val="233343"/>
                </a:solidFill>
                <a:latin typeface="Aptos"/>
              </a:defRPr>
            </a:pPr>
            <a:r>
              <a:t>• gyártói méretezés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302752" y="3648456"/>
            <a:ext cx="299008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70" b="0">
                <a:solidFill>
                  <a:srgbClr val="233343"/>
                </a:solidFill>
                <a:latin typeface="Aptos"/>
              </a:defRPr>
            </a:pPr>
            <a:r>
              <a:t>• kapcsolási időzítés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9B7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21792" y="347472"/>
            <a:ext cx="107899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300" b="1">
                <a:solidFill>
                  <a:srgbClr val="06192C"/>
                </a:solidFill>
                <a:latin typeface="Aptos Display"/>
              </a:defRPr>
            </a:pPr>
            <a:r>
              <a:t>Harmonikusok és rezonancia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59536"/>
            <a:ext cx="10698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50" b="0">
                <a:solidFill>
                  <a:srgbClr val="125388"/>
                </a:solidFill>
                <a:latin typeface="Aptos"/>
              </a:defRPr>
            </a:pPr>
            <a:r>
              <a:t>Nemlineáris fogyasztóknál a kompenzálást együtt kell vizsgálni a hálózattal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40080" y="1234440"/>
            <a:ext cx="10927080" cy="0"/>
          </a:xfrm>
          <a:prstGeom prst="line">
            <a:avLst/>
          </a:prstGeom>
          <a:ln w="12700">
            <a:solidFill>
              <a:srgbClr val="CDDB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621792" y="6473952"/>
            <a:ext cx="7315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667787"/>
                </a:solidFill>
                <a:latin typeface="Aptos"/>
              </a:defRPr>
            </a:pPr>
            <a:r>
              <a:t>IAP • 13. évfolyam • Villamos művek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64240" y="6446520"/>
            <a:ext cx="457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67787"/>
                </a:solidFill>
                <a:latin typeface="Aptos"/>
              </a:defRPr>
            </a:pPr>
            <a:r>
              <a:t>11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508760"/>
            <a:ext cx="3520440" cy="4389120"/>
          </a:xfrm>
          <a:prstGeom prst="roundRect">
            <a:avLst/>
          </a:prstGeom>
          <a:solidFill>
            <a:srgbClr val="FFFFFF"/>
          </a:solidFill>
          <a:ln>
            <a:solidFill>
              <a:srgbClr val="CDDB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40080" y="1508760"/>
            <a:ext cx="73152" cy="4389120"/>
          </a:xfrm>
          <a:prstGeom prst="rect">
            <a:avLst/>
          </a:prstGeom>
          <a:solidFill>
            <a:srgbClr val="5B5C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86968" y="1691639"/>
            <a:ext cx="3063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6192C"/>
                </a:solidFill>
                <a:latin typeface="Aptos"/>
              </a:defRPr>
            </a:pPr>
            <a:r>
              <a:t>FORRÁSOK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221991"/>
            <a:ext cx="299008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70" b="0">
                <a:solidFill>
                  <a:srgbClr val="233343"/>
                </a:solidFill>
                <a:latin typeface="Aptos"/>
              </a:defRPr>
            </a:pPr>
            <a:r>
              <a:t>• frekvenciaváltók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2697479"/>
            <a:ext cx="299008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70" b="0">
                <a:solidFill>
                  <a:srgbClr val="233343"/>
                </a:solidFill>
                <a:latin typeface="Aptos"/>
              </a:defRPr>
            </a:pPr>
            <a:r>
              <a:t>• egyenirányítók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3172968"/>
            <a:ext cx="299008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70" b="0">
                <a:solidFill>
                  <a:srgbClr val="233343"/>
                </a:solidFill>
                <a:latin typeface="Aptos"/>
              </a:defRPr>
            </a:pPr>
            <a:r>
              <a:t>• kapcsolóüzemű tápegységek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34256" y="1508760"/>
            <a:ext cx="3520440" cy="4389120"/>
          </a:xfrm>
          <a:prstGeom prst="roundRect">
            <a:avLst/>
          </a:prstGeom>
          <a:solidFill>
            <a:srgbClr val="FFFFFF"/>
          </a:solidFill>
          <a:ln>
            <a:solidFill>
              <a:srgbClr val="CDDB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334256" y="1508760"/>
            <a:ext cx="73152" cy="4389120"/>
          </a:xfrm>
          <a:prstGeom prst="rect">
            <a:avLst/>
          </a:prstGeom>
          <a:solidFill>
            <a:srgbClr val="BE43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81144" y="1691639"/>
            <a:ext cx="3063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6192C"/>
                </a:solidFill>
                <a:latin typeface="Aptos"/>
              </a:defRPr>
            </a:pPr>
            <a:r>
              <a:t>KOCKÁZAT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608576" y="2221991"/>
            <a:ext cx="299008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70" b="0">
                <a:solidFill>
                  <a:srgbClr val="233343"/>
                </a:solidFill>
                <a:latin typeface="Aptos"/>
              </a:defRPr>
            </a:pPr>
            <a:r>
              <a:t>• C + hálózati 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608576" y="2697479"/>
            <a:ext cx="299008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70" b="0">
                <a:solidFill>
                  <a:srgbClr val="233343"/>
                </a:solidFill>
                <a:latin typeface="Aptos"/>
              </a:defRPr>
            </a:pPr>
            <a:r>
              <a:t>• rezonancia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608576" y="3172968"/>
            <a:ext cx="299008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70" b="0">
                <a:solidFill>
                  <a:srgbClr val="233343"/>
                </a:solidFill>
                <a:latin typeface="Aptos"/>
              </a:defRPr>
            </a:pPr>
            <a:r>
              <a:t>• kondenzátor túláram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608576" y="3648456"/>
            <a:ext cx="299008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70" b="0">
                <a:solidFill>
                  <a:srgbClr val="233343"/>
                </a:solidFill>
                <a:latin typeface="Aptos"/>
              </a:defRPr>
            </a:pPr>
            <a:r>
              <a:t>• melegedés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028431" y="1508760"/>
            <a:ext cx="3520440" cy="4389120"/>
          </a:xfrm>
          <a:prstGeom prst="roundRect">
            <a:avLst/>
          </a:prstGeom>
          <a:solidFill>
            <a:srgbClr val="FFFFFF"/>
          </a:solidFill>
          <a:ln>
            <a:solidFill>
              <a:srgbClr val="CDDB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8028431" y="1508760"/>
            <a:ext cx="73152" cy="4389120"/>
          </a:xfrm>
          <a:prstGeom prst="rect">
            <a:avLst/>
          </a:prstGeom>
          <a:solidFill>
            <a:srgbClr val="288B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275319" y="1691639"/>
            <a:ext cx="3063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6192C"/>
                </a:solidFill>
                <a:latin typeface="Aptos"/>
              </a:defRPr>
            </a:pPr>
            <a:r>
              <a:t>MEGOLDÁS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302752" y="2221991"/>
            <a:ext cx="299008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70" b="0">
                <a:solidFill>
                  <a:srgbClr val="233343"/>
                </a:solidFill>
                <a:latin typeface="Aptos"/>
              </a:defRPr>
            </a:pPr>
            <a:r>
              <a:t>• hálózati analizátor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302752" y="2697479"/>
            <a:ext cx="299008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70" b="0">
                <a:solidFill>
                  <a:srgbClr val="233343"/>
                </a:solidFill>
                <a:latin typeface="Aptos"/>
              </a:defRPr>
            </a:pPr>
            <a:r>
              <a:t>• harmonikus mérés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302752" y="3172968"/>
            <a:ext cx="299008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70" b="0">
                <a:solidFill>
                  <a:srgbClr val="233343"/>
                </a:solidFill>
                <a:latin typeface="Aptos"/>
              </a:defRPr>
            </a:pPr>
            <a:r>
              <a:t>• fojtózott telep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302752" y="3648456"/>
            <a:ext cx="299008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70" b="0">
                <a:solidFill>
                  <a:srgbClr val="233343"/>
                </a:solidFill>
                <a:latin typeface="Aptos"/>
              </a:defRPr>
            </a:pPr>
            <a:r>
              <a:t>• szakszerű tervezés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9B7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21792" y="347472"/>
            <a:ext cx="107899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300" b="1">
                <a:solidFill>
                  <a:srgbClr val="06192C"/>
                </a:solidFill>
                <a:latin typeface="Aptos Display"/>
              </a:defRPr>
            </a:pPr>
            <a:r>
              <a:t>Üzemeltetési ellenőrzés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59536"/>
            <a:ext cx="10698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50" b="0">
                <a:solidFill>
                  <a:srgbClr val="125388"/>
                </a:solidFill>
                <a:latin typeface="Aptos"/>
              </a:defRPr>
            </a:pPr>
            <a:r>
              <a:t>A kondenzátortelep állapota mérhető és követhető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40080" y="1234440"/>
            <a:ext cx="10927080" cy="0"/>
          </a:xfrm>
          <a:prstGeom prst="line">
            <a:avLst/>
          </a:prstGeom>
          <a:ln w="12700">
            <a:solidFill>
              <a:srgbClr val="CDDB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621792" y="6473952"/>
            <a:ext cx="7315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667787"/>
                </a:solidFill>
                <a:latin typeface="Aptos"/>
              </a:defRPr>
            </a:pPr>
            <a:r>
              <a:t>IAP • 13. évfolyam • Villamos művek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64240" y="6446520"/>
            <a:ext cx="457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67787"/>
                </a:solidFill>
                <a:latin typeface="Aptos"/>
              </a:defRPr>
            </a:pPr>
            <a:r>
              <a:t>12</a:t>
            </a:r>
          </a:p>
        </p:txBody>
      </p:sp>
      <p:sp>
        <p:nvSpPr>
          <p:cNvPr id="8" name="Oval 7"/>
          <p:cNvSpPr/>
          <p:nvPr/>
        </p:nvSpPr>
        <p:spPr>
          <a:xfrm>
            <a:off x="502920" y="1508760"/>
            <a:ext cx="640080" cy="640080"/>
          </a:xfrm>
          <a:prstGeom prst="ellipse">
            <a:avLst/>
          </a:prstGeom>
          <a:solidFill>
            <a:srgbClr val="29B7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1700784"/>
            <a:ext cx="6400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Aptos"/>
              </a:defRPr>
            </a:pPr>
            <a:r>
              <a:t>1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325880" y="1490472"/>
            <a:ext cx="1737360" cy="713232"/>
          </a:xfrm>
          <a:prstGeom prst="roundRect">
            <a:avLst/>
          </a:prstGeom>
          <a:solidFill>
            <a:srgbClr val="FFFFFF"/>
          </a:solidFill>
          <a:ln>
            <a:solidFill>
              <a:srgbClr val="CDDB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417320" y="1618488"/>
            <a:ext cx="15544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50" b="1">
                <a:solidFill>
                  <a:srgbClr val="29B7E8"/>
                </a:solidFill>
                <a:latin typeface="Aptos"/>
              </a:defRPr>
            </a:pPr>
            <a:r>
              <a:t>ÁRAM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17320" y="1892807"/>
            <a:ext cx="15544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50" b="0">
                <a:solidFill>
                  <a:srgbClr val="667787"/>
                </a:solidFill>
                <a:latin typeface="Aptos"/>
              </a:defRPr>
            </a:pPr>
            <a:r>
              <a:t>fokozatonként</a:t>
            </a:r>
          </a:p>
        </p:txBody>
      </p:sp>
      <p:sp>
        <p:nvSpPr>
          <p:cNvPr id="13" name="Oval 12"/>
          <p:cNvSpPr/>
          <p:nvPr/>
        </p:nvSpPr>
        <p:spPr>
          <a:xfrm>
            <a:off x="3337560" y="1508760"/>
            <a:ext cx="640080" cy="640080"/>
          </a:xfrm>
          <a:prstGeom prst="ellipse">
            <a:avLst/>
          </a:prstGeom>
          <a:solidFill>
            <a:srgbClr val="BE43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337560" y="1700784"/>
            <a:ext cx="6400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160520" y="1490472"/>
            <a:ext cx="1737360" cy="713232"/>
          </a:xfrm>
          <a:prstGeom prst="roundRect">
            <a:avLst/>
          </a:prstGeom>
          <a:solidFill>
            <a:srgbClr val="FFFFFF"/>
          </a:solidFill>
          <a:ln>
            <a:solidFill>
              <a:srgbClr val="CDDB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251960" y="1618488"/>
            <a:ext cx="15544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50" b="1">
                <a:solidFill>
                  <a:srgbClr val="BE433F"/>
                </a:solidFill>
                <a:latin typeface="Aptos"/>
              </a:defRPr>
            </a:pPr>
            <a:r>
              <a:t>HŐMÉRSÉKLET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251960" y="1892807"/>
            <a:ext cx="15544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50" b="0">
                <a:solidFill>
                  <a:srgbClr val="667787"/>
                </a:solidFill>
                <a:latin typeface="Aptos"/>
              </a:defRPr>
            </a:pPr>
            <a:r>
              <a:t>szekrény / C</a:t>
            </a:r>
          </a:p>
        </p:txBody>
      </p:sp>
      <p:sp>
        <p:nvSpPr>
          <p:cNvPr id="18" name="Oval 17"/>
          <p:cNvSpPr/>
          <p:nvPr/>
        </p:nvSpPr>
        <p:spPr>
          <a:xfrm>
            <a:off x="6172200" y="1508760"/>
            <a:ext cx="640080" cy="640080"/>
          </a:xfrm>
          <a:prstGeom prst="ellipse">
            <a:avLst/>
          </a:prstGeom>
          <a:solidFill>
            <a:srgbClr val="E089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172200" y="1700784"/>
            <a:ext cx="6400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Aptos"/>
              </a:defRPr>
            </a:pPr>
            <a:r>
              <a:t>3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995160" y="1490472"/>
            <a:ext cx="1737360" cy="713232"/>
          </a:xfrm>
          <a:prstGeom prst="roundRect">
            <a:avLst/>
          </a:prstGeom>
          <a:solidFill>
            <a:srgbClr val="FFFFFF"/>
          </a:solidFill>
          <a:ln>
            <a:solidFill>
              <a:srgbClr val="CDDB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086600" y="1618488"/>
            <a:ext cx="15544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50" b="1">
                <a:solidFill>
                  <a:srgbClr val="E08931"/>
                </a:solidFill>
                <a:latin typeface="Aptos"/>
              </a:defRPr>
            </a:pPr>
            <a:r>
              <a:t>KONTAKTOR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086600" y="1892807"/>
            <a:ext cx="15544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50" b="0">
                <a:solidFill>
                  <a:srgbClr val="667787"/>
                </a:solidFill>
                <a:latin typeface="Aptos"/>
              </a:defRPr>
            </a:pPr>
            <a:r>
              <a:t>kopás / zaj</a:t>
            </a:r>
          </a:p>
        </p:txBody>
      </p:sp>
      <p:sp>
        <p:nvSpPr>
          <p:cNvPr id="23" name="Oval 22"/>
          <p:cNvSpPr/>
          <p:nvPr/>
        </p:nvSpPr>
        <p:spPr>
          <a:xfrm>
            <a:off x="9006840" y="1508760"/>
            <a:ext cx="640080" cy="640080"/>
          </a:xfrm>
          <a:prstGeom prst="ellipse">
            <a:avLst/>
          </a:prstGeom>
          <a:solidFill>
            <a:srgbClr val="1253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006840" y="1700784"/>
            <a:ext cx="6400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Aptos"/>
              </a:defRPr>
            </a:pPr>
            <a:r>
              <a:t>4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9829800" y="1490472"/>
            <a:ext cx="1737360" cy="713232"/>
          </a:xfrm>
          <a:prstGeom prst="roundRect">
            <a:avLst/>
          </a:prstGeom>
          <a:solidFill>
            <a:srgbClr val="FFFFFF"/>
          </a:solidFill>
          <a:ln>
            <a:solidFill>
              <a:srgbClr val="CDDB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921240" y="1618488"/>
            <a:ext cx="15544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50" b="1">
                <a:solidFill>
                  <a:srgbClr val="125388"/>
                </a:solidFill>
                <a:latin typeface="Aptos"/>
              </a:defRPr>
            </a:pPr>
            <a:r>
              <a:t>BIZTOSÍTÓ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921240" y="1892807"/>
            <a:ext cx="15544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50" b="0">
                <a:solidFill>
                  <a:srgbClr val="667787"/>
                </a:solidFill>
                <a:latin typeface="Aptos"/>
              </a:defRPr>
            </a:pPr>
            <a:r>
              <a:t>állapot</a:t>
            </a:r>
          </a:p>
        </p:txBody>
      </p:sp>
      <p:sp>
        <p:nvSpPr>
          <p:cNvPr id="28" name="Oval 27"/>
          <p:cNvSpPr/>
          <p:nvPr/>
        </p:nvSpPr>
        <p:spPr>
          <a:xfrm>
            <a:off x="502920" y="3520440"/>
            <a:ext cx="640080" cy="640080"/>
          </a:xfrm>
          <a:prstGeom prst="ellipse">
            <a:avLst/>
          </a:prstGeom>
          <a:solidFill>
            <a:srgbClr val="5B5C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02920" y="3712464"/>
            <a:ext cx="6400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Aptos"/>
              </a:defRPr>
            </a:pPr>
            <a:r>
              <a:t>5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1325880" y="3502152"/>
            <a:ext cx="1737360" cy="713232"/>
          </a:xfrm>
          <a:prstGeom prst="roundRect">
            <a:avLst/>
          </a:prstGeom>
          <a:solidFill>
            <a:srgbClr val="FFFFFF"/>
          </a:solidFill>
          <a:ln>
            <a:solidFill>
              <a:srgbClr val="CDDB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417320" y="3630168"/>
            <a:ext cx="15544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50" b="1">
                <a:solidFill>
                  <a:srgbClr val="5B5C9B"/>
                </a:solidFill>
                <a:latin typeface="Aptos"/>
              </a:defRPr>
            </a:pPr>
            <a:r>
              <a:t>KONDENZÁTOR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417320" y="3904488"/>
            <a:ext cx="15544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50" b="0">
                <a:solidFill>
                  <a:srgbClr val="667787"/>
                </a:solidFill>
                <a:latin typeface="Aptos"/>
              </a:defRPr>
            </a:pPr>
            <a:r>
              <a:t>púposodás</a:t>
            </a:r>
          </a:p>
        </p:txBody>
      </p:sp>
      <p:sp>
        <p:nvSpPr>
          <p:cNvPr id="33" name="Oval 32"/>
          <p:cNvSpPr/>
          <p:nvPr/>
        </p:nvSpPr>
        <p:spPr>
          <a:xfrm>
            <a:off x="3337560" y="3520440"/>
            <a:ext cx="640080" cy="640080"/>
          </a:xfrm>
          <a:prstGeom prst="ellipse">
            <a:avLst/>
          </a:prstGeom>
          <a:solidFill>
            <a:srgbClr val="288B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337560" y="3712464"/>
            <a:ext cx="6400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Aptos"/>
              </a:defRPr>
            </a:pPr>
            <a:r>
              <a:t>6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4160520" y="3502152"/>
            <a:ext cx="1737360" cy="713232"/>
          </a:xfrm>
          <a:prstGeom prst="roundRect">
            <a:avLst/>
          </a:prstGeom>
          <a:solidFill>
            <a:srgbClr val="FFFFFF"/>
          </a:solidFill>
          <a:ln>
            <a:solidFill>
              <a:srgbClr val="CDDB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251960" y="3630168"/>
            <a:ext cx="15544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50" b="1">
                <a:solidFill>
                  <a:srgbClr val="288B66"/>
                </a:solidFill>
                <a:latin typeface="Aptos"/>
              </a:defRPr>
            </a:pPr>
            <a:r>
              <a:t>SZABÁLYOZÓ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251960" y="3904488"/>
            <a:ext cx="15544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50" b="0">
                <a:solidFill>
                  <a:srgbClr val="667787"/>
                </a:solidFill>
                <a:latin typeface="Aptos"/>
              </a:defRPr>
            </a:pPr>
            <a:r>
              <a:t>riasztások</a:t>
            </a:r>
          </a:p>
        </p:txBody>
      </p:sp>
      <p:sp>
        <p:nvSpPr>
          <p:cNvPr id="38" name="Oval 37"/>
          <p:cNvSpPr/>
          <p:nvPr/>
        </p:nvSpPr>
        <p:spPr>
          <a:xfrm>
            <a:off x="6172200" y="3520440"/>
            <a:ext cx="640080" cy="640080"/>
          </a:xfrm>
          <a:prstGeom prst="ellipse">
            <a:avLst/>
          </a:prstGeom>
          <a:solidFill>
            <a:srgbClr val="29B7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172200" y="3712464"/>
            <a:ext cx="6400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Aptos"/>
              </a:defRPr>
            </a:pPr>
            <a:r>
              <a:t>7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6995160" y="3502152"/>
            <a:ext cx="1737360" cy="713232"/>
          </a:xfrm>
          <a:prstGeom prst="roundRect">
            <a:avLst/>
          </a:prstGeom>
          <a:solidFill>
            <a:srgbClr val="FFFFFF"/>
          </a:solidFill>
          <a:ln>
            <a:solidFill>
              <a:srgbClr val="CDDB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7086600" y="3630168"/>
            <a:ext cx="15544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50" b="1">
                <a:solidFill>
                  <a:srgbClr val="29B7E8"/>
                </a:solidFill>
                <a:latin typeface="Aptos"/>
              </a:defRPr>
            </a:pPr>
            <a:r>
              <a:t>VENTILÁCIÓ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086600" y="3904488"/>
            <a:ext cx="15544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50" b="0">
                <a:solidFill>
                  <a:srgbClr val="667787"/>
                </a:solidFill>
                <a:latin typeface="Aptos"/>
              </a:defRPr>
            </a:pPr>
            <a:r>
              <a:t>légáram</a:t>
            </a:r>
          </a:p>
        </p:txBody>
      </p:sp>
      <p:sp>
        <p:nvSpPr>
          <p:cNvPr id="43" name="Oval 42"/>
          <p:cNvSpPr/>
          <p:nvPr/>
        </p:nvSpPr>
        <p:spPr>
          <a:xfrm>
            <a:off x="9006840" y="3520440"/>
            <a:ext cx="640080" cy="640080"/>
          </a:xfrm>
          <a:prstGeom prst="ellipse">
            <a:avLst/>
          </a:prstGeom>
          <a:solidFill>
            <a:srgbClr val="E089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9006840" y="3712464"/>
            <a:ext cx="6400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Aptos"/>
              </a:defRPr>
            </a:pPr>
            <a:r>
              <a:t>8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9829800" y="3502152"/>
            <a:ext cx="1737360" cy="713232"/>
          </a:xfrm>
          <a:prstGeom prst="roundRect">
            <a:avLst/>
          </a:prstGeom>
          <a:solidFill>
            <a:srgbClr val="FFFFFF"/>
          </a:solidFill>
          <a:ln>
            <a:solidFill>
              <a:srgbClr val="CDDB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9921240" y="3630168"/>
            <a:ext cx="15544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50" b="1">
                <a:solidFill>
                  <a:srgbClr val="E08931"/>
                </a:solidFill>
                <a:latin typeface="Aptos"/>
              </a:defRPr>
            </a:pPr>
            <a:r>
              <a:t>THD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9921240" y="3904488"/>
            <a:ext cx="15544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50" b="0">
                <a:solidFill>
                  <a:srgbClr val="667787"/>
                </a:solidFill>
                <a:latin typeface="Aptos"/>
              </a:defRPr>
            </a:pPr>
            <a:r>
              <a:t>ha szükséges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9B7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21792" y="347472"/>
            <a:ext cx="107899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300" b="1">
                <a:solidFill>
                  <a:srgbClr val="06192C"/>
                </a:solidFill>
                <a:latin typeface="Aptos Display"/>
              </a:defRPr>
            </a:pPr>
            <a:r>
              <a:t>Összefoglalás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59536"/>
            <a:ext cx="10698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50" b="0">
                <a:solidFill>
                  <a:srgbClr val="125388"/>
                </a:solidFill>
                <a:latin typeface="Aptos"/>
              </a:defRPr>
            </a:pPr>
            <a:r>
              <a:t>A 27. hét öt kulcsgondolata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40080" y="1234440"/>
            <a:ext cx="10927080" cy="0"/>
          </a:xfrm>
          <a:prstGeom prst="line">
            <a:avLst/>
          </a:prstGeom>
          <a:ln w="12700">
            <a:solidFill>
              <a:srgbClr val="CDDB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621792" y="6473952"/>
            <a:ext cx="7315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667787"/>
                </a:solidFill>
                <a:latin typeface="Aptos"/>
              </a:defRPr>
            </a:pPr>
            <a:r>
              <a:t>IAP • 13. évfolyam • Villamos művek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64240" y="6446520"/>
            <a:ext cx="457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67787"/>
                </a:solidFill>
                <a:latin typeface="Aptos"/>
              </a:defRPr>
            </a:pPr>
            <a:r>
              <a:t>13</a:t>
            </a:r>
          </a:p>
        </p:txBody>
      </p:sp>
      <p:sp>
        <p:nvSpPr>
          <p:cNvPr id="8" name="Oval 7"/>
          <p:cNvSpPr/>
          <p:nvPr/>
        </p:nvSpPr>
        <p:spPr>
          <a:xfrm>
            <a:off x="777240" y="1371600"/>
            <a:ext cx="530352" cy="530352"/>
          </a:xfrm>
          <a:prstGeom prst="ellipse">
            <a:avLst/>
          </a:prstGeom>
          <a:solidFill>
            <a:srgbClr val="29B7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1536192"/>
            <a:ext cx="530352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50" b="1">
                <a:solidFill>
                  <a:srgbClr val="FFFFFF"/>
                </a:solidFill>
                <a:latin typeface="Aptos"/>
              </a:defRPr>
            </a:pPr>
            <a: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72768" y="1444752"/>
            <a:ext cx="97840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20" b="1">
                <a:solidFill>
                  <a:srgbClr val="06192C"/>
                </a:solidFill>
                <a:latin typeface="Aptos"/>
              </a:defRPr>
            </a:pPr>
            <a:r>
              <a:t>A kompenzálás lehet egyedi, csoportos vagy központi.</a:t>
            </a:r>
          </a:p>
        </p:txBody>
      </p:sp>
      <p:sp>
        <p:nvSpPr>
          <p:cNvPr id="11" name="Oval 10"/>
          <p:cNvSpPr/>
          <p:nvPr/>
        </p:nvSpPr>
        <p:spPr>
          <a:xfrm>
            <a:off x="777240" y="2249424"/>
            <a:ext cx="530352" cy="530352"/>
          </a:xfrm>
          <a:prstGeom prst="ellipse">
            <a:avLst/>
          </a:prstGeom>
          <a:solidFill>
            <a:srgbClr val="1253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7240" y="2414016"/>
            <a:ext cx="530352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50" b="1">
                <a:solidFill>
                  <a:srgbClr val="FFFFFF"/>
                </a:solidFill>
                <a:latin typeface="Aptos"/>
              </a:defRPr>
            </a:pPr>
            <a: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572768" y="2322576"/>
            <a:ext cx="97840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20" b="1">
                <a:solidFill>
                  <a:srgbClr val="06192C"/>
                </a:solidFill>
                <a:latin typeface="Aptos"/>
              </a:defRPr>
            </a:pPr>
            <a:r>
              <a:t>Változó terhelésnél az automatikus, többfokozatú telep rugalmas.</a:t>
            </a:r>
          </a:p>
        </p:txBody>
      </p:sp>
      <p:sp>
        <p:nvSpPr>
          <p:cNvPr id="14" name="Oval 13"/>
          <p:cNvSpPr/>
          <p:nvPr/>
        </p:nvSpPr>
        <p:spPr>
          <a:xfrm>
            <a:off x="777240" y="3127248"/>
            <a:ext cx="530352" cy="530352"/>
          </a:xfrm>
          <a:prstGeom prst="ellipse">
            <a:avLst/>
          </a:prstGeom>
          <a:solidFill>
            <a:srgbClr val="5B5C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77240" y="3291840"/>
            <a:ext cx="530352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50" b="1">
                <a:solidFill>
                  <a:srgbClr val="FFFFFF"/>
                </a:solidFill>
                <a:latin typeface="Aptos"/>
              </a:defRPr>
            </a:pPr>
            <a:r>
              <a:t>03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572768" y="3200400"/>
            <a:ext cx="97840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20" b="1">
                <a:solidFill>
                  <a:srgbClr val="06192C"/>
                </a:solidFill>
                <a:latin typeface="Aptos"/>
              </a:defRPr>
            </a:pPr>
            <a:r>
              <a:t>A szükséges Qc a P és a kiinduló/cél teljesítménytényező alapján becsülhető.</a:t>
            </a:r>
          </a:p>
        </p:txBody>
      </p:sp>
      <p:sp>
        <p:nvSpPr>
          <p:cNvPr id="17" name="Oval 16"/>
          <p:cNvSpPr/>
          <p:nvPr/>
        </p:nvSpPr>
        <p:spPr>
          <a:xfrm>
            <a:off x="777240" y="4005072"/>
            <a:ext cx="530352" cy="530352"/>
          </a:xfrm>
          <a:prstGeom prst="ellipse">
            <a:avLst/>
          </a:prstGeom>
          <a:solidFill>
            <a:srgbClr val="E089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77240" y="4169663"/>
            <a:ext cx="530352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50" b="1">
                <a:solidFill>
                  <a:srgbClr val="FFFFFF"/>
                </a:solidFill>
                <a:latin typeface="Aptos"/>
              </a:defRPr>
            </a:pPr>
            <a:r>
              <a:t>04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72768" y="4078224"/>
            <a:ext cx="97840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20" b="1">
                <a:solidFill>
                  <a:srgbClr val="06192C"/>
                </a:solidFill>
                <a:latin typeface="Aptos"/>
              </a:defRPr>
            </a:pPr>
            <a:r>
              <a:t>Kisütési idő, áramlökés és túlkompenzálás miatt a kapcsolás szabályozott.</a:t>
            </a:r>
          </a:p>
        </p:txBody>
      </p:sp>
      <p:sp>
        <p:nvSpPr>
          <p:cNvPr id="20" name="Oval 19"/>
          <p:cNvSpPr/>
          <p:nvPr/>
        </p:nvSpPr>
        <p:spPr>
          <a:xfrm>
            <a:off x="777240" y="4882896"/>
            <a:ext cx="530352" cy="530352"/>
          </a:xfrm>
          <a:prstGeom prst="ellipse">
            <a:avLst/>
          </a:prstGeom>
          <a:solidFill>
            <a:srgbClr val="288B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77240" y="5047488"/>
            <a:ext cx="530352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50" b="1">
                <a:solidFill>
                  <a:srgbClr val="FFFFFF"/>
                </a:solidFill>
                <a:latin typeface="Aptos"/>
              </a:defRPr>
            </a:pPr>
            <a:r>
              <a:t>05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572768" y="4956048"/>
            <a:ext cx="97840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20" b="1">
                <a:solidFill>
                  <a:srgbClr val="06192C"/>
                </a:solidFill>
                <a:latin typeface="Aptos"/>
              </a:defRPr>
            </a:pPr>
            <a:r>
              <a:t>Harmonikus hálózatban mérés és szükség esetén fojtózott kialakítás kell.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22960" y="5806440"/>
            <a:ext cx="10515600" cy="438912"/>
          </a:xfrm>
          <a:prstGeom prst="roundRect">
            <a:avLst/>
          </a:prstGeom>
          <a:solidFill>
            <a:srgbClr val="E7F1F8"/>
          </a:solidFill>
          <a:ln>
            <a:solidFill>
              <a:srgbClr val="CDDB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05840" y="5934456"/>
            <a:ext cx="101498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125388"/>
                </a:solidFill>
                <a:latin typeface="Aptos"/>
              </a:defRPr>
            </a:pPr>
            <a:r>
              <a:t>28. hét → Villamosenergia-veszteségek és hatásfok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