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F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BB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731520"/>
            <a:ext cx="6675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2BBCF1"/>
                </a:solidFill>
                <a:latin typeface="Aptos"/>
              </a:defRPr>
            </a:pPr>
            <a:r>
              <a:t>13. ÉVFOLYAM • VILLAMOS MŰVEK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68580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 Display"/>
              </a:defRPr>
            </a:pPr>
            <a:r>
              <a:t>Alállomási</a:t>
            </a:r>
            <a:br/>
            <a:r>
              <a:t>mérőváltók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697480"/>
            <a:ext cx="60350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D0E2EF"/>
                </a:solidFill>
                <a:latin typeface="Aptos"/>
              </a:defRPr>
            </a:pPr>
            <a:r>
              <a:t>12. hét • CT és VT/PT • mérés és relévédelem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06640" y="1965960"/>
            <a:ext cx="914400" cy="914400"/>
          </a:xfrm>
          <a:prstGeom prst="roundRect">
            <a:avLst/>
          </a:prstGeom>
          <a:solidFill>
            <a:srgbClr val="0F304E"/>
          </a:solidFill>
          <a:ln>
            <a:solidFill>
              <a:srgbClr val="2BB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06640" y="2267712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2BBCF1"/>
                </a:solidFill>
                <a:latin typeface="Aptos"/>
              </a:defRPr>
            </a:pPr>
            <a:r>
              <a:t>PRIMER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321040" y="2423160"/>
            <a:ext cx="164592" cy="0"/>
          </a:xfrm>
          <a:prstGeom prst="line">
            <a:avLst/>
          </a:prstGeom>
          <a:ln w="25400">
            <a:solidFill>
              <a:srgbClr val="2BBC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8503919" y="1965960"/>
            <a:ext cx="914400" cy="914400"/>
          </a:xfrm>
          <a:prstGeom prst="roundRect">
            <a:avLst/>
          </a:prstGeom>
          <a:solidFill>
            <a:srgbClr val="0F304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19" y="2267712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CT / VT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418319" y="2423160"/>
            <a:ext cx="164592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601200" y="1965960"/>
            <a:ext cx="914400" cy="914400"/>
          </a:xfrm>
          <a:prstGeom prst="roundRect">
            <a:avLst/>
          </a:prstGeom>
          <a:solidFill>
            <a:srgbClr val="0F304E"/>
          </a:solidFill>
          <a:ln>
            <a:solidFill>
              <a:srgbClr val="8FC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0" y="2267712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8FCDEB"/>
                </a:solidFill>
                <a:latin typeface="Aptos"/>
              </a:defRPr>
            </a:pPr>
            <a:r>
              <a:t>SZEKUNDER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515600" y="2423160"/>
            <a:ext cx="164592" cy="0"/>
          </a:xfrm>
          <a:prstGeom prst="line">
            <a:avLst/>
          </a:prstGeom>
          <a:ln w="25400">
            <a:solidFill>
              <a:srgbClr val="8FCD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0698480" y="1965960"/>
            <a:ext cx="914400" cy="914400"/>
          </a:xfrm>
          <a:prstGeom prst="roundRect">
            <a:avLst/>
          </a:prstGeom>
          <a:solidFill>
            <a:srgbClr val="0F304E"/>
          </a:solidFill>
          <a:ln>
            <a:solidFill>
              <a:srgbClr val="6BB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98480" y="2267712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6BB99B"/>
                </a:solidFill>
                <a:latin typeface="Aptos"/>
              </a:defRPr>
            </a:pPr>
            <a:r>
              <a:t>RELÉ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0" y="3246120"/>
            <a:ext cx="374903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A nagyenergiájú hálózat</a:t>
            </a:r>
            <a:br/>
            <a:r>
              <a:t>biztonságos „érzékelői”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598932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2BBCF1"/>
                </a:solidFill>
                <a:latin typeface="Aptos"/>
              </a:defRPr>
            </a:pPr>
            <a:r>
              <a:t>Feldolgozási idő: 2 tanóra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BB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91F36"/>
                </a:solidFill>
                <a:latin typeface="Aptos Display"/>
              </a:defRPr>
            </a:pPr>
            <a:r>
              <a:t>Óraterv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9536"/>
            <a:ext cx="10789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165B91"/>
                </a:solidFill>
                <a:latin typeface="Aptos"/>
              </a:defRPr>
            </a:pPr>
            <a:r>
              <a:t>Két tanóra – két mérési alapmennyiség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637485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55664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637485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D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417320"/>
            <a:ext cx="73152" cy="4434840"/>
          </a:xfrm>
          <a:prstGeom prst="rect">
            <a:avLst/>
          </a:prstGeom>
          <a:solidFill>
            <a:srgbClr val="2BB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81912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50" b="1">
                <a:solidFill>
                  <a:srgbClr val="091F36"/>
                </a:solidFill>
                <a:latin typeface="Aptos"/>
              </a:defRPr>
            </a:pPr>
            <a:r>
              <a:t>1. tanóra • Áramváltó (CT)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075688"/>
            <a:ext cx="475488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feladat és működési elv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551176"/>
            <a:ext cx="475488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áttétel és számítás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3026664"/>
            <a:ext cx="475488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mérőmag / védelmi mag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" y="3502152"/>
            <a:ext cx="475488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pontossági osztály és burden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3977639"/>
            <a:ext cx="475488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a nyitott szekunder veszélye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417320"/>
            <a:ext cx="525780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D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6208" y="1417320"/>
            <a:ext cx="73152" cy="4434840"/>
          </a:xfrm>
          <a:prstGeom prst="rect">
            <a:avLst/>
          </a:prstGeom>
          <a:solidFill>
            <a:srgbClr val="2B8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4808" y="1581912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50" b="1">
                <a:solidFill>
                  <a:srgbClr val="091F36"/>
                </a:solidFill>
                <a:latin typeface="Aptos"/>
              </a:defRPr>
            </a:pPr>
            <a:r>
              <a:t>2. tanóra • Feszültségváltó (VT/PT)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075688"/>
            <a:ext cx="475488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áttétel és szabványos szekunder érték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551176"/>
            <a:ext cx="475488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szekunder köri védelem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026664"/>
            <a:ext cx="475488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polaritás és fázissorrend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502152"/>
            <a:ext cx="475488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mérési és védelmi alkalmazások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977639"/>
            <a:ext cx="475488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CT–VT összehasonlítás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BB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91F36"/>
                </a:solidFill>
                <a:latin typeface="Aptos Display"/>
              </a:defRPr>
            </a:pPr>
            <a:r>
              <a:t>Miért kell mérőváltó?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9536"/>
            <a:ext cx="10789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165B91"/>
                </a:solidFill>
                <a:latin typeface="Aptos"/>
              </a:defRPr>
            </a:pPr>
            <a:r>
              <a:t>A primer hálózat és a mérés-védelem között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637485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55664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637485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874519"/>
            <a:ext cx="224028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CD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874519"/>
            <a:ext cx="2240280" cy="502920"/>
          </a:xfrm>
          <a:prstGeom prst="rect">
            <a:avLst/>
          </a:prstGeom>
          <a:solidFill>
            <a:srgbClr val="09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1993392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Aptos"/>
              </a:defRPr>
            </a:pPr>
            <a:r>
              <a:t>PRIMER</a:t>
            </a:r>
            <a:br/>
            <a:r>
              <a:t>HÁLÓZAT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743200"/>
            <a:ext cx="190195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233344"/>
                </a:solidFill>
                <a:latin typeface="Aptos"/>
              </a:defRPr>
            </a:pPr>
            <a:r>
              <a:t>20 kV / 120 kV</a:t>
            </a:r>
            <a:br/>
            <a:r>
              <a:t>nagy áram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852928" y="3063240"/>
            <a:ext cx="484632" cy="0"/>
          </a:xfrm>
          <a:prstGeom prst="line">
            <a:avLst/>
          </a:prstGeom>
          <a:ln w="25400">
            <a:solidFill>
              <a:srgbClr val="165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447288" y="1874519"/>
            <a:ext cx="224028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CD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47288" y="1874519"/>
            <a:ext cx="2240280" cy="502920"/>
          </a:xfrm>
          <a:prstGeom prst="rect">
            <a:avLst/>
          </a:prstGeom>
          <a:solidFill>
            <a:srgbClr val="16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57016" y="1993392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Aptos"/>
              </a:defRPr>
            </a:pPr>
            <a:r>
              <a:t>MÉRŐVÁLTÓ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2743200"/>
            <a:ext cx="190195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233344"/>
                </a:solidFill>
                <a:latin typeface="Aptos"/>
              </a:defRPr>
            </a:pPr>
            <a:r>
              <a:t>arányosítás</a:t>
            </a:r>
            <a:br/>
            <a:r>
              <a:t>galvanikus elválasztás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705856" y="3063240"/>
            <a:ext cx="484632" cy="0"/>
          </a:xfrm>
          <a:prstGeom prst="line">
            <a:avLst/>
          </a:prstGeom>
          <a:ln w="25400">
            <a:solidFill>
              <a:srgbClr val="165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300216" y="1874519"/>
            <a:ext cx="224028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CD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0216" y="1874519"/>
            <a:ext cx="2240280" cy="502920"/>
          </a:xfrm>
          <a:prstGeom prst="rect">
            <a:avLst/>
          </a:prstGeom>
          <a:solidFill>
            <a:srgbClr val="2BB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9944" y="1993392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Aptos"/>
              </a:defRPr>
            </a:pPr>
            <a:r>
              <a:t>SZEKUNDER</a:t>
            </a:r>
            <a:br/>
            <a:r>
              <a:t>JEL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4808" y="2743200"/>
            <a:ext cx="190195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233344"/>
                </a:solidFill>
                <a:latin typeface="Aptos"/>
              </a:defRPr>
            </a:pPr>
            <a:r>
              <a:t>1 A / 5 A</a:t>
            </a:r>
            <a:br/>
            <a:r>
              <a:t>100 V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558784" y="3063240"/>
            <a:ext cx="484632" cy="0"/>
          </a:xfrm>
          <a:prstGeom prst="line">
            <a:avLst/>
          </a:prstGeom>
          <a:ln w="25400">
            <a:solidFill>
              <a:srgbClr val="165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153144" y="1874519"/>
            <a:ext cx="224028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CD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53144" y="1874519"/>
            <a:ext cx="2240280" cy="502920"/>
          </a:xfrm>
          <a:prstGeom prst="rect">
            <a:avLst/>
          </a:prstGeom>
          <a:solidFill>
            <a:srgbClr val="2B8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62872" y="1993392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Aptos"/>
              </a:defRPr>
            </a:pPr>
            <a:r>
              <a:t>FELHASZNÁLÓ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17736" y="2743200"/>
            <a:ext cx="190195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233344"/>
                </a:solidFill>
                <a:latin typeface="Aptos"/>
              </a:defRPr>
            </a:pPr>
            <a:r>
              <a:t>mérő • relé</a:t>
            </a:r>
            <a:br/>
            <a:r>
              <a:t>SCADA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4800600"/>
            <a:ext cx="10149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091F36"/>
                </a:solidFill>
                <a:latin typeface="Aptos"/>
              </a:defRPr>
            </a:pPr>
            <a:r>
              <a:t>A műszerek és védelmi relék nem közvetlenül a nagyfeszültségű hálózatra csatlakoznak.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BB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91F36"/>
                </a:solidFill>
                <a:latin typeface="Aptos Display"/>
              </a:defRPr>
            </a:pPr>
            <a:r>
              <a:t>Áramváltó (CT)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9536"/>
            <a:ext cx="10789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165B91"/>
                </a:solidFill>
                <a:latin typeface="Aptos"/>
              </a:defRPr>
            </a:pPr>
            <a:r>
              <a:t>A primer áram arányos leképezése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637485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55664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637485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47091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CD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73152" cy="4480560"/>
          </a:xfrm>
          <a:prstGeom prst="rect">
            <a:avLst/>
          </a:prstGeom>
          <a:solidFill>
            <a:srgbClr val="2BB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81912"/>
            <a:ext cx="4297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50" b="1">
                <a:solidFill>
                  <a:srgbClr val="091F36"/>
                </a:solidFill>
                <a:latin typeface="Aptos"/>
              </a:defRPr>
            </a:pPr>
            <a:r>
              <a:t>Áttétel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075688"/>
            <a:ext cx="420624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kI = I1n / I2n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551176"/>
            <a:ext cx="420624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600/5 A → kI = 120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3026664"/>
            <a:ext cx="420624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I2 = 3 A → I1 ≈ 360 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3502152"/>
            <a:ext cx="420624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gyakori szekunder: 1 A vagy 5 A</a:t>
            </a:r>
          </a:p>
        </p:txBody>
      </p:sp>
      <p:sp>
        <p:nvSpPr>
          <p:cNvPr id="14" name="Oval 13"/>
          <p:cNvSpPr/>
          <p:nvPr/>
        </p:nvSpPr>
        <p:spPr>
          <a:xfrm>
            <a:off x="6492240" y="1828800"/>
            <a:ext cx="1828800" cy="1828800"/>
          </a:xfrm>
          <a:prstGeom prst="ellipse">
            <a:avLst/>
          </a:prstGeom>
          <a:noFill/>
          <a:ln w="50800">
            <a:solidFill>
              <a:srgbClr val="16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48272" y="2084832"/>
            <a:ext cx="1316736" cy="1316736"/>
          </a:xfrm>
          <a:prstGeom prst="ellipse">
            <a:avLst/>
          </a:prstGeom>
          <a:noFill/>
          <a:ln w="25400">
            <a:solidFill>
              <a:srgbClr val="16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995159" y="2331720"/>
            <a:ext cx="822960" cy="822960"/>
          </a:xfrm>
          <a:prstGeom prst="ellipse">
            <a:avLst/>
          </a:prstGeom>
          <a:noFill/>
          <a:ln w="25400">
            <a:solidFill>
              <a:srgbClr val="16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80760" y="406908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091F36"/>
                </a:solidFill>
                <a:latin typeface="Aptos"/>
              </a:defRPr>
            </a:pPr>
            <a:r>
              <a:t>Primer vezető / sín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269480" y="1417320"/>
            <a:ext cx="0" cy="548640"/>
          </a:xfrm>
          <a:prstGeom prst="line">
            <a:avLst/>
          </a:prstGeom>
          <a:ln w="25400">
            <a:solidFill>
              <a:srgbClr val="2BBC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269480" y="3703320"/>
            <a:ext cx="0" cy="457200"/>
          </a:xfrm>
          <a:prstGeom prst="line">
            <a:avLst/>
          </a:prstGeom>
          <a:ln w="25400">
            <a:solidFill>
              <a:srgbClr val="2BBC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732520" y="1417320"/>
            <a:ext cx="27889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CD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732520" y="1417320"/>
            <a:ext cx="73152" cy="4480560"/>
          </a:xfrm>
          <a:prstGeom prst="rect">
            <a:avLst/>
          </a:prstGeom>
          <a:solidFill>
            <a:srgbClr val="2B8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0" y="1581912"/>
            <a:ext cx="23774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50" b="1">
                <a:solidFill>
                  <a:srgbClr val="091F36"/>
                </a:solidFill>
                <a:latin typeface="Aptos"/>
              </a:defRPr>
            </a:pPr>
            <a:r>
              <a:t>Kétféle mag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88552" y="2075688"/>
            <a:ext cx="228600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Mérőmag: pontosság normál üzemben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88552" y="2551176"/>
            <a:ext cx="228600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Védelmi mag: zárlati tartományban is értékelhető jel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BB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91F36"/>
                </a:solidFill>
                <a:latin typeface="Aptos Display"/>
              </a:defRPr>
            </a:pPr>
            <a:r>
              <a:t>CT – kritikus biztonsági szabály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9536"/>
            <a:ext cx="10789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165B91"/>
                </a:solidFill>
                <a:latin typeface="Aptos"/>
              </a:defRPr>
            </a:pPr>
            <a:r>
              <a:t>Ezt nem szabad elfelejteni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637485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55664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637485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10744200" cy="914400"/>
          </a:xfrm>
          <a:prstGeom prst="roundRect">
            <a:avLst/>
          </a:prstGeom>
          <a:solidFill>
            <a:srgbClr val="FCEDED"/>
          </a:solidFill>
          <a:ln>
            <a:solidFill>
              <a:srgbClr val="E6B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64208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>
                <a:solidFill>
                  <a:srgbClr val="B94343"/>
                </a:solidFill>
                <a:latin typeface="Aptos"/>
              </a:defRPr>
            </a:pPr>
            <a:r>
              <a:t>TERHELT PRIMER KÖR MELLETT A CT SZEKUNDERÉT NEM SZABAD NYITVA HAGYNI.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651760"/>
            <a:ext cx="324612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CD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2651760"/>
            <a:ext cx="73152" cy="2560320"/>
          </a:xfrm>
          <a:prstGeom prst="rect">
            <a:avLst/>
          </a:prstGeom>
          <a:solidFill>
            <a:srgbClr val="B94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816352"/>
            <a:ext cx="28346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50" b="1">
                <a:solidFill>
                  <a:srgbClr val="091F36"/>
                </a:solidFill>
                <a:latin typeface="Aptos"/>
              </a:defRPr>
            </a:pPr>
            <a:r>
              <a:t>Mi történhet?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1" y="3310128"/>
            <a:ext cx="274320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veszélyesen nagy szekunder feszültség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1" y="3785616"/>
            <a:ext cx="274320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vasmag-melegedés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1" y="4261104"/>
            <a:ext cx="274320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szigetelési és személyi veszély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0560" y="2651760"/>
            <a:ext cx="324612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CD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80560" y="2651760"/>
            <a:ext cx="73152" cy="2560320"/>
          </a:xfrm>
          <a:prstGeom prst="rect">
            <a:avLst/>
          </a:prstGeom>
          <a:solidFill>
            <a:srgbClr val="2B8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09160" y="2816352"/>
            <a:ext cx="28346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50" b="1">
                <a:solidFill>
                  <a:srgbClr val="091F36"/>
                </a:solidFill>
                <a:latin typeface="Aptos"/>
              </a:defRPr>
            </a:pPr>
            <a:r>
              <a:t>Helyes eljárás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36592" y="3310128"/>
            <a:ext cx="274320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műszer leválasztása előtt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36592" y="3785616"/>
            <a:ext cx="274320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a szekunder kört rövidre zárjuk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36592" y="4261104"/>
            <a:ext cx="274320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erre szolgál a teszt-/rövidzáró kapocssor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83879" y="2651760"/>
            <a:ext cx="324612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CD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83879" y="2651760"/>
            <a:ext cx="73152" cy="2560320"/>
          </a:xfrm>
          <a:prstGeom prst="rect">
            <a:avLst/>
          </a:prstGeom>
          <a:solidFill>
            <a:srgbClr val="2BB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0" y="2816352"/>
            <a:ext cx="28346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50" b="1">
                <a:solidFill>
                  <a:srgbClr val="091F36"/>
                </a:solidFill>
                <a:latin typeface="Aptos"/>
              </a:defRPr>
            </a:pPr>
            <a:r>
              <a:t>Emlékeztető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39911" y="3310128"/>
            <a:ext cx="274320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CT: nyitás veszélyes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39911" y="3785616"/>
            <a:ext cx="274320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VT: rövidzár veszélyes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39911" y="4261104"/>
            <a:ext cx="274320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a két szabály ellentétes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BB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91F36"/>
                </a:solidFill>
                <a:latin typeface="Aptos Display"/>
              </a:defRPr>
            </a:pPr>
            <a:r>
              <a:t>Mérőmag, védelmi mag és burden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9536"/>
            <a:ext cx="10789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165B91"/>
                </a:solidFill>
                <a:latin typeface="Aptos"/>
              </a:defRPr>
            </a:pPr>
            <a:r>
              <a:t>Nem minden szekunder mag ugyanarra készül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637485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55664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637485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71600"/>
            <a:ext cx="33832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CD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371600"/>
            <a:ext cx="73152" cy="4526280"/>
          </a:xfrm>
          <a:prstGeom prst="rect">
            <a:avLst/>
          </a:prstGeom>
          <a:solidFill>
            <a:srgbClr val="2BB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36192"/>
            <a:ext cx="2971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50" b="1">
                <a:solidFill>
                  <a:srgbClr val="091F36"/>
                </a:solidFill>
                <a:latin typeface="Aptos"/>
              </a:defRPr>
            </a:pPr>
            <a:r>
              <a:t>Mérőmag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029967"/>
            <a:ext cx="288036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normál üzemi tartomány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505456"/>
            <a:ext cx="288036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nagy pontosság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2980944"/>
            <a:ext cx="288036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például 0,2 • 0,5 •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" y="3456432"/>
            <a:ext cx="288036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mérés és elszámolás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7408" y="1371600"/>
            <a:ext cx="33832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CD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07408" y="1371600"/>
            <a:ext cx="73152" cy="4526280"/>
          </a:xfrm>
          <a:prstGeom prst="rect">
            <a:avLst/>
          </a:prstGeom>
          <a:solidFill>
            <a:srgbClr val="2B8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36008" y="1536192"/>
            <a:ext cx="2971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50" b="1">
                <a:solidFill>
                  <a:srgbClr val="091F36"/>
                </a:solidFill>
                <a:latin typeface="Aptos"/>
              </a:defRPr>
            </a:pPr>
            <a:r>
              <a:t>Védelmi mag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2029967"/>
            <a:ext cx="288036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zárlati tartomány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505456"/>
            <a:ext cx="288036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későbbi telítés a cél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2980944"/>
            <a:ext cx="288036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például 5P • 10P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3456432"/>
            <a:ext cx="288036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védelmi relék táplálása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29016" y="1371600"/>
            <a:ext cx="33832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CD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29016" y="1371600"/>
            <a:ext cx="73152" cy="4526280"/>
          </a:xfrm>
          <a:prstGeom prst="rect">
            <a:avLst/>
          </a:prstGeom>
          <a:solidFill>
            <a:srgbClr val="16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57616" y="1536192"/>
            <a:ext cx="2971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50" b="1">
                <a:solidFill>
                  <a:srgbClr val="091F36"/>
                </a:solidFill>
                <a:latin typeface="Aptos"/>
              </a:defRPr>
            </a:pPr>
            <a:r>
              <a:t>Burden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5048" y="2029967"/>
            <a:ext cx="288036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vezeték + kapocs + készülék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85048" y="2505456"/>
            <a:ext cx="288036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jellemzően VA-ban megadva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5048" y="2980944"/>
            <a:ext cx="288036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túl nagy terhelés → nagyobb hiba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85048" y="3456432"/>
            <a:ext cx="288036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a teljes szekunder kört vizsgáljuk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BB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91F36"/>
                </a:solidFill>
                <a:latin typeface="Aptos Display"/>
              </a:defRPr>
            </a:pPr>
            <a:r>
              <a:t>Feszültségváltó (VT/PT)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9536"/>
            <a:ext cx="10789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165B91"/>
                </a:solidFill>
                <a:latin typeface="Aptos"/>
              </a:defRPr>
            </a:pPr>
            <a:r>
              <a:t>A primer feszültség arányos leképezése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637485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55664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637485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49377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CD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417320"/>
            <a:ext cx="73152" cy="4389120"/>
          </a:xfrm>
          <a:prstGeom prst="rect">
            <a:avLst/>
          </a:prstGeom>
          <a:solidFill>
            <a:srgbClr val="2BB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81912"/>
            <a:ext cx="4526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50" b="1">
                <a:solidFill>
                  <a:srgbClr val="091F36"/>
                </a:solidFill>
                <a:latin typeface="Aptos"/>
              </a:defRPr>
            </a:pPr>
            <a:r>
              <a:t>Áttétel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075688"/>
            <a:ext cx="443484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kU = U1n / U2n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551176"/>
            <a:ext cx="443484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20 000/100 V → kU = 200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3026664"/>
            <a:ext cx="443484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U2 = 98 V → U1 ≈ 19,6 kV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" y="3502152"/>
            <a:ext cx="443484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gyakori szekunder: 100 V vagy 100/√3 V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89320" y="1417320"/>
            <a:ext cx="54406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CD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89320" y="1417320"/>
            <a:ext cx="73152" cy="4389120"/>
          </a:xfrm>
          <a:prstGeom prst="rect">
            <a:avLst/>
          </a:prstGeom>
          <a:solidFill>
            <a:srgbClr val="2B8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1581912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50" b="1">
                <a:solidFill>
                  <a:srgbClr val="091F36"/>
                </a:solidFill>
                <a:latin typeface="Aptos"/>
              </a:defRPr>
            </a:pPr>
            <a:r>
              <a:t>Szekunder kör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45352" y="2075688"/>
            <a:ext cx="493776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nem szabad rövidre zárni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45352" y="2551176"/>
            <a:ext cx="493776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biztosító vagy kismegszakító védi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45352" y="3026664"/>
            <a:ext cx="493776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méréshez, szinkronellenőrzéshez és védelemhez használjuk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45352" y="3502152"/>
            <a:ext cx="493776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a helyes polaritás és fázissorrend alapvető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BB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91F36"/>
                </a:solidFill>
                <a:latin typeface="Aptos Display"/>
              </a:defRPr>
            </a:pPr>
            <a:r>
              <a:t>Polaritás és fázissorrend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9536"/>
            <a:ext cx="10789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165B91"/>
                </a:solidFill>
                <a:latin typeface="Aptos"/>
              </a:defRPr>
            </a:pPr>
            <a:r>
              <a:t>A nagyság mellett a fázishelyzet is információ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637485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55664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637485"/>
                </a:solidFill>
                <a:latin typeface="Aptos"/>
              </a:defRPr>
            </a:pPr>
            <a:r>
              <a:t>8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2240280"/>
            <a:ext cx="658368" cy="236850"/>
          </a:xfrm>
          <a:prstGeom prst="line">
            <a:avLst/>
          </a:prstGeom>
          <a:ln w="31750">
            <a:solidFill>
              <a:srgbClr val="165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572768" y="2477130"/>
            <a:ext cx="658368" cy="109751"/>
          </a:xfrm>
          <a:prstGeom prst="line">
            <a:avLst/>
          </a:prstGeom>
          <a:ln w="31750">
            <a:solidFill>
              <a:srgbClr val="165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2231136" y="2510638"/>
            <a:ext cx="658368" cy="76243"/>
          </a:xfrm>
          <a:prstGeom prst="line">
            <a:avLst/>
          </a:prstGeom>
          <a:ln w="31750">
            <a:solidFill>
              <a:srgbClr val="165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2889504" y="2289315"/>
            <a:ext cx="658368" cy="221323"/>
          </a:xfrm>
          <a:prstGeom prst="line">
            <a:avLst/>
          </a:prstGeom>
          <a:ln w="31750">
            <a:solidFill>
              <a:srgbClr val="165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3547872" y="2041678"/>
            <a:ext cx="658368" cy="247637"/>
          </a:xfrm>
          <a:prstGeom prst="line">
            <a:avLst/>
          </a:prstGeom>
          <a:ln w="31750">
            <a:solidFill>
              <a:srgbClr val="165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4206240" y="1900615"/>
            <a:ext cx="658368" cy="141063"/>
          </a:xfrm>
          <a:prstGeom prst="line">
            <a:avLst/>
          </a:prstGeom>
          <a:ln w="31750">
            <a:solidFill>
              <a:srgbClr val="165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64608" y="1900615"/>
            <a:ext cx="658368" cy="41209"/>
          </a:xfrm>
          <a:prstGeom prst="line">
            <a:avLst/>
          </a:prstGeom>
          <a:ln w="31750">
            <a:solidFill>
              <a:srgbClr val="165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522976" y="1941824"/>
            <a:ext cx="658368" cy="201366"/>
          </a:xfrm>
          <a:prstGeom prst="line">
            <a:avLst/>
          </a:prstGeom>
          <a:ln w="31750">
            <a:solidFill>
              <a:srgbClr val="165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181344" y="2143190"/>
            <a:ext cx="658368" cy="253467"/>
          </a:xfrm>
          <a:prstGeom prst="line">
            <a:avLst/>
          </a:prstGeom>
          <a:ln w="31750">
            <a:solidFill>
              <a:srgbClr val="165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839712" y="2396657"/>
            <a:ext cx="658367" cy="169551"/>
          </a:xfrm>
          <a:prstGeom prst="line">
            <a:avLst/>
          </a:prstGeom>
          <a:ln w="31750">
            <a:solidFill>
              <a:srgbClr val="165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7498079" y="2560859"/>
            <a:ext cx="658369" cy="5349"/>
          </a:xfrm>
          <a:prstGeom prst="line">
            <a:avLst/>
          </a:prstGeom>
          <a:ln w="31750">
            <a:solidFill>
              <a:srgbClr val="165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8156448" y="2383479"/>
            <a:ext cx="658368" cy="177380"/>
          </a:xfrm>
          <a:prstGeom prst="line">
            <a:avLst/>
          </a:prstGeom>
          <a:ln w="31750">
            <a:solidFill>
              <a:srgbClr val="165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9464040" y="2057400"/>
            <a:ext cx="1554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65B91"/>
                </a:solidFill>
                <a:latin typeface="Aptos"/>
              </a:defRPr>
            </a:pPr>
            <a:r>
              <a:t>helyes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14400" y="3977639"/>
            <a:ext cx="658368" cy="236851"/>
          </a:xfrm>
          <a:prstGeom prst="line">
            <a:avLst/>
          </a:prstGeom>
          <a:ln w="31750">
            <a:solidFill>
              <a:srgbClr val="B943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572768" y="4214490"/>
            <a:ext cx="658368" cy="109751"/>
          </a:xfrm>
          <a:prstGeom prst="line">
            <a:avLst/>
          </a:prstGeom>
          <a:ln w="31750">
            <a:solidFill>
              <a:srgbClr val="B943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231136" y="4247998"/>
            <a:ext cx="658368" cy="76243"/>
          </a:xfrm>
          <a:prstGeom prst="line">
            <a:avLst/>
          </a:prstGeom>
          <a:ln w="31750">
            <a:solidFill>
              <a:srgbClr val="B943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2889504" y="4026675"/>
            <a:ext cx="658368" cy="221323"/>
          </a:xfrm>
          <a:prstGeom prst="line">
            <a:avLst/>
          </a:prstGeom>
          <a:ln w="31750">
            <a:solidFill>
              <a:srgbClr val="B943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3547872" y="3779038"/>
            <a:ext cx="658368" cy="247637"/>
          </a:xfrm>
          <a:prstGeom prst="line">
            <a:avLst/>
          </a:prstGeom>
          <a:ln w="31750">
            <a:solidFill>
              <a:srgbClr val="B943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4206240" y="3637975"/>
            <a:ext cx="658368" cy="141063"/>
          </a:xfrm>
          <a:prstGeom prst="line">
            <a:avLst/>
          </a:prstGeom>
          <a:ln w="31750">
            <a:solidFill>
              <a:srgbClr val="B943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864608" y="3637975"/>
            <a:ext cx="658368" cy="41209"/>
          </a:xfrm>
          <a:prstGeom prst="line">
            <a:avLst/>
          </a:prstGeom>
          <a:ln w="31750">
            <a:solidFill>
              <a:srgbClr val="B943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522976" y="3679184"/>
            <a:ext cx="658368" cy="201366"/>
          </a:xfrm>
          <a:prstGeom prst="line">
            <a:avLst/>
          </a:prstGeom>
          <a:ln w="31750">
            <a:solidFill>
              <a:srgbClr val="B943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181344" y="3880550"/>
            <a:ext cx="658368" cy="253467"/>
          </a:xfrm>
          <a:prstGeom prst="line">
            <a:avLst/>
          </a:prstGeom>
          <a:ln w="31750">
            <a:solidFill>
              <a:srgbClr val="B943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839712" y="4134017"/>
            <a:ext cx="658367" cy="169551"/>
          </a:xfrm>
          <a:prstGeom prst="line">
            <a:avLst/>
          </a:prstGeom>
          <a:ln w="31750">
            <a:solidFill>
              <a:srgbClr val="B943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7498079" y="4298219"/>
            <a:ext cx="658369" cy="5349"/>
          </a:xfrm>
          <a:prstGeom prst="line">
            <a:avLst/>
          </a:prstGeom>
          <a:ln w="31750">
            <a:solidFill>
              <a:srgbClr val="B943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8156448" y="4120839"/>
            <a:ext cx="658368" cy="177380"/>
          </a:xfrm>
          <a:prstGeom prst="line">
            <a:avLst/>
          </a:prstGeom>
          <a:ln w="31750">
            <a:solidFill>
              <a:srgbClr val="B943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9464040" y="3794759"/>
            <a:ext cx="1554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B94343"/>
                </a:solidFill>
                <a:latin typeface="Aptos"/>
              </a:defRPr>
            </a:pPr>
            <a:r>
              <a:t>hibás polaritás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458200" y="1371600"/>
            <a:ext cx="29718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CD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458200" y="1371600"/>
            <a:ext cx="73152" cy="4480560"/>
          </a:xfrm>
          <a:prstGeom prst="rect">
            <a:avLst/>
          </a:prstGeom>
          <a:solidFill>
            <a:srgbClr val="B94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86800" y="1536192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50" b="1">
                <a:solidFill>
                  <a:srgbClr val="091F36"/>
                </a:solidFill>
                <a:latin typeface="Aptos"/>
              </a:defRPr>
            </a:pPr>
            <a:r>
              <a:t>Következmény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14232" y="2029967"/>
            <a:ext cx="246888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hibás teljesítménymérés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14232" y="2505456"/>
            <a:ext cx="246888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téves irányérzékelés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14232" y="2980944"/>
            <a:ext cx="246888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hibás differenciálvédelmi döntés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14232" y="3456432"/>
            <a:ext cx="246888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szinkronellenőrzési hiba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BB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91F36"/>
                </a:solidFill>
                <a:latin typeface="Aptos Display"/>
              </a:defRPr>
            </a:pPr>
            <a:r>
              <a:t>Az alállomási mérőlánc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9536"/>
            <a:ext cx="10789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165B91"/>
                </a:solidFill>
                <a:latin typeface="Aptos"/>
              </a:defRPr>
            </a:pPr>
            <a:r>
              <a:t>A jel útja a primer hálózattól a felügyeletig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637485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55664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637485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7" name="Oval 6"/>
          <p:cNvSpPr/>
          <p:nvPr/>
        </p:nvSpPr>
        <p:spPr>
          <a:xfrm>
            <a:off x="1188720" y="1508760"/>
            <a:ext cx="594360" cy="594360"/>
          </a:xfrm>
          <a:prstGeom prst="ellipse">
            <a:avLst/>
          </a:prstGeom>
          <a:solidFill>
            <a:srgbClr val="09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664208"/>
            <a:ext cx="594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331720"/>
            <a:ext cx="19659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CD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2743200"/>
            <a:ext cx="1737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091F36"/>
                </a:solidFill>
                <a:latin typeface="Aptos"/>
              </a:defRPr>
            </a:pPr>
            <a:r>
              <a:t>Primer</a:t>
            </a:r>
            <a:br/>
            <a:r>
              <a:t>hálózat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468880" y="3090672"/>
            <a:ext cx="301752" cy="0"/>
          </a:xfrm>
          <a:prstGeom prst="line">
            <a:avLst/>
          </a:prstGeom>
          <a:ln w="25400">
            <a:solidFill>
              <a:srgbClr val="165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3520439" y="1508760"/>
            <a:ext cx="594360" cy="594360"/>
          </a:xfrm>
          <a:prstGeom prst="ellipse">
            <a:avLst/>
          </a:prstGeom>
          <a:solidFill>
            <a:srgbClr val="16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0439" y="1664208"/>
            <a:ext cx="594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34639" y="2331720"/>
            <a:ext cx="19659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CD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44368" y="2743200"/>
            <a:ext cx="1737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091F36"/>
                </a:solidFill>
                <a:latin typeface="Aptos"/>
              </a:defRPr>
            </a:pPr>
            <a:r>
              <a:t>CT / VT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800600" y="3090672"/>
            <a:ext cx="301752" cy="0"/>
          </a:xfrm>
          <a:prstGeom prst="line">
            <a:avLst/>
          </a:prstGeom>
          <a:ln w="25400">
            <a:solidFill>
              <a:srgbClr val="165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5852159" y="1508760"/>
            <a:ext cx="594360" cy="594360"/>
          </a:xfrm>
          <a:prstGeom prst="ellipse">
            <a:avLst/>
          </a:prstGeom>
          <a:solidFill>
            <a:srgbClr val="2BB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52159" y="1664208"/>
            <a:ext cx="594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66359" y="2331720"/>
            <a:ext cx="19659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CD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76088" y="2743200"/>
            <a:ext cx="1737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091F36"/>
                </a:solidFill>
                <a:latin typeface="Aptos"/>
              </a:defRPr>
            </a:pPr>
            <a:r>
              <a:t>Szekunder</a:t>
            </a:r>
            <a:br/>
            <a:r>
              <a:t>kapocssor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132319" y="3090672"/>
            <a:ext cx="301752" cy="0"/>
          </a:xfrm>
          <a:prstGeom prst="line">
            <a:avLst/>
          </a:prstGeom>
          <a:ln w="25400">
            <a:solidFill>
              <a:srgbClr val="165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8183879" y="1508760"/>
            <a:ext cx="594360" cy="594360"/>
          </a:xfrm>
          <a:prstGeom prst="ellipse">
            <a:avLst/>
          </a:prstGeom>
          <a:solidFill>
            <a:srgbClr val="2B8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83879" y="1664208"/>
            <a:ext cx="594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98079" y="2331720"/>
            <a:ext cx="19659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CD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07807" y="2743200"/>
            <a:ext cx="1737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091F36"/>
                </a:solidFill>
                <a:latin typeface="Aptos"/>
              </a:defRPr>
            </a:pPr>
            <a:r>
              <a:t>Mérő / relé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464040" y="3090672"/>
            <a:ext cx="301752" cy="0"/>
          </a:xfrm>
          <a:prstGeom prst="line">
            <a:avLst/>
          </a:prstGeom>
          <a:ln w="25400">
            <a:solidFill>
              <a:srgbClr val="165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10515600" y="1508760"/>
            <a:ext cx="594360" cy="594360"/>
          </a:xfrm>
          <a:prstGeom prst="ellipse">
            <a:avLst/>
          </a:prstGeom>
          <a:solidFill>
            <a:srgbClr val="5B5C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515600" y="1664208"/>
            <a:ext cx="594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829800" y="2331720"/>
            <a:ext cx="19659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CD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939528" y="2743200"/>
            <a:ext cx="1737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091F36"/>
                </a:solidFill>
                <a:latin typeface="Aptos"/>
              </a:defRPr>
            </a:pPr>
            <a:r>
              <a:t>SCADA /</a:t>
            </a:r>
            <a:br/>
            <a:r>
              <a:t>automatika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4709160"/>
            <a:ext cx="101498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091F36"/>
                </a:solidFill>
                <a:latin typeface="Aptos"/>
              </a:defRPr>
            </a:pPr>
            <a:r>
              <a:t>A mérőváltó nem önálló mérőeszköz: a teljes mérési és védelmi lánc első eleme.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BB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91F36"/>
                </a:solidFill>
                <a:latin typeface="Aptos Display"/>
              </a:defRPr>
            </a:pPr>
            <a:r>
              <a:t>CT és VT/PT – gyors összehasonlítás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9536"/>
            <a:ext cx="10789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165B91"/>
                </a:solidFill>
                <a:latin typeface="Aptos"/>
              </a:defRPr>
            </a:pPr>
            <a:r>
              <a:t>A két szabályt érdemes együtt megjegyezni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637485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55664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637485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508760"/>
            <a:ext cx="2880360" cy="594360"/>
          </a:xfrm>
          <a:prstGeom prst="rect">
            <a:avLst/>
          </a:prstGeom>
          <a:solidFill>
            <a:srgbClr val="09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11880" y="1508760"/>
            <a:ext cx="3886200" cy="594360"/>
          </a:xfrm>
          <a:prstGeom prst="rect">
            <a:avLst/>
          </a:prstGeom>
          <a:solidFill>
            <a:srgbClr val="16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98080" y="1508760"/>
            <a:ext cx="3886200" cy="594360"/>
          </a:xfrm>
          <a:prstGeom prst="rect">
            <a:avLst/>
          </a:prstGeom>
          <a:solidFill>
            <a:srgbClr val="2B8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73351"/>
            <a:ext cx="2880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50" b="1">
                <a:solidFill>
                  <a:srgbClr val="FFFFFF"/>
                </a:solidFill>
                <a:latin typeface="Aptos"/>
              </a:defRPr>
            </a:pPr>
            <a:r>
              <a:t>Jellemző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1673351"/>
            <a:ext cx="3886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50" b="1">
                <a:solidFill>
                  <a:srgbClr val="FFFFFF"/>
                </a:solidFill>
                <a:latin typeface="Aptos"/>
              </a:defRPr>
            </a:pPr>
            <a:r>
              <a:t>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0" y="1673351"/>
            <a:ext cx="3886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50" b="1">
                <a:solidFill>
                  <a:srgbClr val="FFFFFF"/>
                </a:solidFill>
                <a:latin typeface="Aptos"/>
              </a:defRPr>
            </a:pPr>
            <a:r>
              <a:t>VT/PT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103120"/>
            <a:ext cx="2880360" cy="868680"/>
          </a:xfrm>
          <a:prstGeom prst="rect">
            <a:avLst/>
          </a:prstGeom>
          <a:solidFill>
            <a:srgbClr val="FFFFFF"/>
          </a:solidFill>
          <a:ln>
            <a:solidFill>
              <a:srgbClr val="CD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2313432"/>
            <a:ext cx="266090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20" b="1">
                <a:solidFill>
                  <a:srgbClr val="091F36"/>
                </a:solidFill>
                <a:latin typeface="Aptos"/>
              </a:defRPr>
            </a:pPr>
            <a:r>
              <a:t>Primer mennyiség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11880" y="2103120"/>
            <a:ext cx="3886200" cy="868680"/>
          </a:xfrm>
          <a:prstGeom prst="rect">
            <a:avLst/>
          </a:prstGeom>
          <a:solidFill>
            <a:srgbClr val="FFFFFF"/>
          </a:solidFill>
          <a:ln>
            <a:solidFill>
              <a:srgbClr val="CD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21608" y="2313432"/>
            <a:ext cx="366674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20" b="0">
                <a:solidFill>
                  <a:srgbClr val="233344"/>
                </a:solidFill>
                <a:latin typeface="Aptos"/>
              </a:defRPr>
            </a:pPr>
            <a:r>
              <a:t>Áram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98080" y="2103120"/>
            <a:ext cx="3886200" cy="868680"/>
          </a:xfrm>
          <a:prstGeom prst="rect">
            <a:avLst/>
          </a:prstGeom>
          <a:solidFill>
            <a:srgbClr val="FFFFFF"/>
          </a:solidFill>
          <a:ln>
            <a:solidFill>
              <a:srgbClr val="CD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7808" y="2313432"/>
            <a:ext cx="366674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20" b="0">
                <a:solidFill>
                  <a:srgbClr val="233344"/>
                </a:solidFill>
                <a:latin typeface="Aptos"/>
              </a:defRPr>
            </a:pPr>
            <a:r>
              <a:t>Feszültség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2971800"/>
            <a:ext cx="2880360" cy="868680"/>
          </a:xfrm>
          <a:prstGeom prst="rect">
            <a:avLst/>
          </a:prstGeom>
          <a:solidFill>
            <a:srgbClr val="FFFFFF"/>
          </a:solidFill>
          <a:ln>
            <a:solidFill>
              <a:srgbClr val="CD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" y="3182112"/>
            <a:ext cx="266090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20" b="1">
                <a:solidFill>
                  <a:srgbClr val="091F36"/>
                </a:solidFill>
                <a:latin typeface="Aptos"/>
              </a:defRPr>
            </a:pPr>
            <a:r>
              <a:t>Tipikus szekunder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11880" y="2971800"/>
            <a:ext cx="3886200" cy="868680"/>
          </a:xfrm>
          <a:prstGeom prst="rect">
            <a:avLst/>
          </a:prstGeom>
          <a:solidFill>
            <a:srgbClr val="FFFFFF"/>
          </a:solidFill>
          <a:ln>
            <a:solidFill>
              <a:srgbClr val="CD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21608" y="3182112"/>
            <a:ext cx="366674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20" b="0">
                <a:solidFill>
                  <a:srgbClr val="233344"/>
                </a:solidFill>
                <a:latin typeface="Aptos"/>
              </a:defRPr>
            </a:pPr>
            <a:r>
              <a:t>1 A / 5 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98080" y="2971800"/>
            <a:ext cx="3886200" cy="868680"/>
          </a:xfrm>
          <a:prstGeom prst="rect">
            <a:avLst/>
          </a:prstGeom>
          <a:solidFill>
            <a:srgbClr val="FFFFFF"/>
          </a:solidFill>
          <a:ln>
            <a:solidFill>
              <a:srgbClr val="CD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7808" y="3182112"/>
            <a:ext cx="366674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20" b="0">
                <a:solidFill>
                  <a:srgbClr val="233344"/>
                </a:solidFill>
                <a:latin typeface="Aptos"/>
              </a:defRPr>
            </a:pPr>
            <a:r>
              <a:t>100 V / 100/√3 V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3840479"/>
            <a:ext cx="2880360" cy="868680"/>
          </a:xfrm>
          <a:prstGeom prst="rect">
            <a:avLst/>
          </a:prstGeom>
          <a:solidFill>
            <a:srgbClr val="FFFFFF"/>
          </a:solidFill>
          <a:ln>
            <a:solidFill>
              <a:srgbClr val="CD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" y="4050791"/>
            <a:ext cx="266090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20" b="1">
                <a:solidFill>
                  <a:srgbClr val="091F36"/>
                </a:solidFill>
                <a:latin typeface="Aptos"/>
              </a:defRPr>
            </a:pPr>
            <a:r>
              <a:t>Veszélyes állapot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11880" y="3840479"/>
            <a:ext cx="3886200" cy="868680"/>
          </a:xfrm>
          <a:prstGeom prst="rect">
            <a:avLst/>
          </a:prstGeom>
          <a:solidFill>
            <a:srgbClr val="FFFFFF"/>
          </a:solidFill>
          <a:ln>
            <a:solidFill>
              <a:srgbClr val="CD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721608" y="4050791"/>
            <a:ext cx="366674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20" b="0">
                <a:solidFill>
                  <a:srgbClr val="233344"/>
                </a:solidFill>
                <a:latin typeface="Aptos"/>
              </a:defRPr>
            </a:pPr>
            <a:r>
              <a:t>NYITOTT szekunder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98080" y="3840479"/>
            <a:ext cx="3886200" cy="868680"/>
          </a:xfrm>
          <a:prstGeom prst="rect">
            <a:avLst/>
          </a:prstGeom>
          <a:solidFill>
            <a:srgbClr val="FFFFFF"/>
          </a:solidFill>
          <a:ln>
            <a:solidFill>
              <a:srgbClr val="CD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7808" y="4050791"/>
            <a:ext cx="366674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20" b="0">
                <a:solidFill>
                  <a:srgbClr val="233344"/>
                </a:solidFill>
                <a:latin typeface="Aptos"/>
              </a:defRPr>
            </a:pPr>
            <a:r>
              <a:t>RÖVIDZÁRT szekunder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4709159"/>
            <a:ext cx="2880360" cy="868680"/>
          </a:xfrm>
          <a:prstGeom prst="rect">
            <a:avLst/>
          </a:prstGeom>
          <a:solidFill>
            <a:srgbClr val="FFFFFF"/>
          </a:solidFill>
          <a:ln>
            <a:solidFill>
              <a:srgbClr val="CD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" y="4919472"/>
            <a:ext cx="266090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20" b="1">
                <a:solidFill>
                  <a:srgbClr val="091F36"/>
                </a:solidFill>
                <a:latin typeface="Aptos"/>
              </a:defRPr>
            </a:pPr>
            <a:r>
              <a:t>Fő feladat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11880" y="4709159"/>
            <a:ext cx="3886200" cy="868680"/>
          </a:xfrm>
          <a:prstGeom prst="rect">
            <a:avLst/>
          </a:prstGeom>
          <a:solidFill>
            <a:srgbClr val="FFFFFF"/>
          </a:solidFill>
          <a:ln>
            <a:solidFill>
              <a:srgbClr val="CD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21608" y="4919472"/>
            <a:ext cx="366674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20" b="0">
                <a:solidFill>
                  <a:srgbClr val="233344"/>
                </a:solidFill>
                <a:latin typeface="Aptos"/>
              </a:defRPr>
            </a:pPr>
            <a:r>
              <a:t>árammérés, áramvédelem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98080" y="4709159"/>
            <a:ext cx="3886200" cy="868680"/>
          </a:xfrm>
          <a:prstGeom prst="rect">
            <a:avLst/>
          </a:prstGeom>
          <a:solidFill>
            <a:srgbClr val="FFFFFF"/>
          </a:solidFill>
          <a:ln>
            <a:solidFill>
              <a:srgbClr val="CD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7808" y="4919472"/>
            <a:ext cx="366674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20" b="0">
                <a:solidFill>
                  <a:srgbClr val="233344"/>
                </a:solidFill>
                <a:latin typeface="Aptos"/>
              </a:defRPr>
            </a:pPr>
            <a:r>
              <a:t>feszültségmérés, feszültségalapú védelem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BB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91F36"/>
                </a:solidFill>
                <a:latin typeface="Aptos Display"/>
              </a:defRPr>
            </a:pPr>
            <a:r>
              <a:t>Alállomási számítási példa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9536"/>
            <a:ext cx="10789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165B91"/>
                </a:solidFill>
                <a:latin typeface="Aptos"/>
              </a:defRPr>
            </a:pPr>
            <a:r>
              <a:t>Egyszerű áttételszámítás két lépésben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637485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55664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637485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51663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CD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417320"/>
            <a:ext cx="73152" cy="4480560"/>
          </a:xfrm>
          <a:prstGeom prst="rect">
            <a:avLst/>
          </a:prstGeom>
          <a:solidFill>
            <a:srgbClr val="2BB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581912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50" b="1">
                <a:solidFill>
                  <a:srgbClr val="091F36"/>
                </a:solidFill>
                <a:latin typeface="Aptos"/>
              </a:defRPr>
            </a:pPr>
            <a:r>
              <a:t>CT • 600/5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2075688"/>
            <a:ext cx="466344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kI = 600 / 5 = 120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2551176"/>
            <a:ext cx="466344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I2 = 2,5 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3026664"/>
            <a:ext cx="466344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I1 = 2,5 × 120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3502152"/>
            <a:ext cx="466344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I1 = 300 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417320"/>
            <a:ext cx="51663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CD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1417320"/>
            <a:ext cx="73152" cy="4480560"/>
          </a:xfrm>
          <a:prstGeom prst="rect">
            <a:avLst/>
          </a:prstGeom>
          <a:solidFill>
            <a:srgbClr val="2B8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581912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50" b="1">
                <a:solidFill>
                  <a:srgbClr val="091F36"/>
                </a:solidFill>
                <a:latin typeface="Aptos"/>
              </a:defRPr>
            </a:pPr>
            <a:r>
              <a:t>VT • 20 kV / 100 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9672" y="2075688"/>
            <a:ext cx="466344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kU = 20 000 / 100 = 200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9672" y="2551176"/>
            <a:ext cx="466344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U2 = 101 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9672" y="3026664"/>
            <a:ext cx="466344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U1 = 101 × 200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9672" y="3502152"/>
            <a:ext cx="466344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U1 = 20,2 kV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BB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91F36"/>
                </a:solidFill>
                <a:latin typeface="Aptos Display"/>
              </a:defRPr>
            </a:pPr>
            <a:r>
              <a:t>Összefoglalás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9536"/>
            <a:ext cx="10789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165B91"/>
                </a:solidFill>
                <a:latin typeface="Aptos"/>
              </a:defRPr>
            </a:pPr>
            <a:r>
              <a:t>A 12. hét négy kulcsmondata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637485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55664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637485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1325880"/>
            <a:ext cx="566928" cy="566928"/>
          </a:xfrm>
          <a:prstGeom prst="ellipse">
            <a:avLst/>
          </a:prstGeom>
          <a:solidFill>
            <a:srgbClr val="2BB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490472"/>
            <a:ext cx="56692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371600"/>
            <a:ext cx="9692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20" b="1">
                <a:solidFill>
                  <a:srgbClr val="091F36"/>
                </a:solidFill>
                <a:latin typeface="Aptos"/>
              </a:defRPr>
            </a:pPr>
            <a:r>
              <a:t>A CT áramot alakít; szekunderét terhelt primer mellett nem nyitjuk.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2377439"/>
            <a:ext cx="566928" cy="566928"/>
          </a:xfrm>
          <a:prstGeom prst="ellipse">
            <a:avLst/>
          </a:prstGeom>
          <a:solidFill>
            <a:srgbClr val="2B8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542032"/>
            <a:ext cx="56692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423159"/>
            <a:ext cx="9692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20" b="1">
                <a:solidFill>
                  <a:srgbClr val="091F36"/>
                </a:solidFill>
                <a:latin typeface="Aptos"/>
              </a:defRPr>
            </a:pPr>
            <a:r>
              <a:t>A VT/PT feszültséget alakít; szekunderét nem zárjuk rövidre.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3429000"/>
            <a:ext cx="566928" cy="566928"/>
          </a:xfrm>
          <a:prstGeom prst="ellipse">
            <a:avLst/>
          </a:prstGeom>
          <a:solidFill>
            <a:srgbClr val="16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593592"/>
            <a:ext cx="56692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474720"/>
            <a:ext cx="9692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20" b="1">
                <a:solidFill>
                  <a:srgbClr val="091F36"/>
                </a:solidFill>
                <a:latin typeface="Aptos"/>
              </a:defRPr>
            </a:pPr>
            <a:r>
              <a:t>Pontosság, burden és polaritás közvetlenül hat a mérésre és védelemre.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4480559"/>
            <a:ext cx="566928" cy="566928"/>
          </a:xfrm>
          <a:prstGeom prst="ellipse">
            <a:avLst/>
          </a:prstGeom>
          <a:solidFill>
            <a:srgbClr val="5B5C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645151"/>
            <a:ext cx="56692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526279"/>
            <a:ext cx="9692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20" b="1">
                <a:solidFill>
                  <a:srgbClr val="091F36"/>
                </a:solidFill>
                <a:latin typeface="Aptos"/>
              </a:defRPr>
            </a:pPr>
            <a:r>
              <a:t>A relé csak olyan jó döntést hoz, amilyen mérőjelet kap.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5623560"/>
            <a:ext cx="10607040" cy="530352"/>
          </a:xfrm>
          <a:prstGeom prst="roundRect">
            <a:avLst/>
          </a:prstGeom>
          <a:solidFill>
            <a:srgbClr val="EFF6FB"/>
          </a:solidFill>
          <a:ln>
            <a:solidFill>
              <a:srgbClr val="CD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5769864"/>
            <a:ext cx="10241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1">
                <a:solidFill>
                  <a:srgbClr val="165B91"/>
                </a:solidFill>
                <a:latin typeface="Aptos"/>
              </a:defRPr>
            </a:pPr>
            <a:r>
              <a:t>Következő hét: Alállomási segédüzemi rendszerek és egyenáramú ellátás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