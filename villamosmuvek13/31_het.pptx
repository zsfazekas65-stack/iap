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9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94360"/>
            <a:ext cx="2011680" cy="384048"/>
          </a:xfrm>
          <a:prstGeom prst="roundRect">
            <a:avLst/>
          </a:prstGeom>
          <a:solidFill>
            <a:srgbClr val="125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31. HÉT • 2 TANÓRA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80360" y="594360"/>
            <a:ext cx="2834640" cy="384048"/>
          </a:xfrm>
          <a:prstGeom prst="roundRect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360" y="694944"/>
            <a:ext cx="2834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ENERGIAGAZDÁLKODÁS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80160"/>
            <a:ext cx="6675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FFFFF"/>
                </a:solidFill>
                <a:latin typeface="Aptos Display"/>
              </a:defRPr>
            </a:pPr>
            <a:r>
              <a:t>Monitoring és</a:t>
            </a:r>
            <a:br/>
            <a:r>
              <a:t>terhelésmenedzsment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246120"/>
            <a:ext cx="5852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DFEE"/>
                </a:solidFill>
                <a:latin typeface="Aptos"/>
              </a:defRPr>
            </a:pPr>
            <a:r>
              <a:t>almérés • adatgyűjtés • SCADA</a:t>
            </a:r>
            <a:br/>
            <a:r>
              <a:t>• KPI • riasztás • load shedding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2148840"/>
            <a:ext cx="914400" cy="822960"/>
          </a:xfrm>
          <a:prstGeom prst="round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0" y="2441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MÉRŐ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29600" y="2560320"/>
            <a:ext cx="18288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458200" y="2148840"/>
            <a:ext cx="914400" cy="822960"/>
          </a:xfrm>
          <a:prstGeom prst="roundRect">
            <a:avLst/>
          </a:prstGeom>
          <a:solidFill>
            <a:srgbClr val="5B5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2441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PLC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372600" y="2560320"/>
            <a:ext cx="18288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601200" y="2148840"/>
            <a:ext cx="914400" cy="822960"/>
          </a:xfrm>
          <a:prstGeom prst="roundRect">
            <a:avLst/>
          </a:prstGeom>
          <a:solidFill>
            <a:srgbClr val="125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0" y="2441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SCADA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515600" y="2560320"/>
            <a:ext cx="18288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0744200" y="2148840"/>
            <a:ext cx="914400" cy="822960"/>
          </a:xfrm>
          <a:prstGeom prst="roundRect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44200" y="2441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DÖNTÉS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315200" y="4800600"/>
            <a:ext cx="3840480" cy="0"/>
          </a:xfrm>
          <a:prstGeom prst="line">
            <a:avLst/>
          </a:prstGeom>
          <a:ln w="25400">
            <a:solidFill>
              <a:srgbClr val="29B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315200" y="4297680"/>
            <a:ext cx="731520" cy="0"/>
          </a:xfrm>
          <a:prstGeom prst="line">
            <a:avLst/>
          </a:prstGeom>
          <a:ln w="38100">
            <a:solidFill>
              <a:srgbClr val="29B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8046720" y="3657600"/>
            <a:ext cx="0" cy="640080"/>
          </a:xfrm>
          <a:prstGeom prst="line">
            <a:avLst/>
          </a:prstGeom>
          <a:ln w="38100">
            <a:solidFill>
              <a:srgbClr val="29B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046720" y="3657600"/>
            <a:ext cx="640080" cy="0"/>
          </a:xfrm>
          <a:prstGeom prst="line">
            <a:avLst/>
          </a:prstGeom>
          <a:ln w="38100">
            <a:solidFill>
              <a:srgbClr val="29B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8686800" y="2834640"/>
            <a:ext cx="0" cy="822960"/>
          </a:xfrm>
          <a:prstGeom prst="line">
            <a:avLst/>
          </a:prstGeom>
          <a:ln w="38100">
            <a:solidFill>
              <a:srgbClr val="29B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686800" y="2834640"/>
            <a:ext cx="822960" cy="0"/>
          </a:xfrm>
          <a:prstGeom prst="line">
            <a:avLst/>
          </a:prstGeom>
          <a:ln w="38100">
            <a:solidFill>
              <a:srgbClr val="29B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509760" y="2834640"/>
            <a:ext cx="0" cy="1142999"/>
          </a:xfrm>
          <a:prstGeom prst="line">
            <a:avLst/>
          </a:prstGeom>
          <a:ln w="38100">
            <a:solidFill>
              <a:srgbClr val="29B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509760" y="3977639"/>
            <a:ext cx="731520" cy="0"/>
          </a:xfrm>
          <a:prstGeom prst="line">
            <a:avLst/>
          </a:prstGeom>
          <a:ln w="38100">
            <a:solidFill>
              <a:srgbClr val="29B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0241280" y="3337560"/>
            <a:ext cx="0" cy="640079"/>
          </a:xfrm>
          <a:prstGeom prst="line">
            <a:avLst/>
          </a:prstGeom>
          <a:ln w="38100">
            <a:solidFill>
              <a:srgbClr val="29B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241280" y="3337560"/>
            <a:ext cx="822960" cy="0"/>
          </a:xfrm>
          <a:prstGeom prst="line">
            <a:avLst/>
          </a:prstGeom>
          <a:ln w="38100">
            <a:solidFill>
              <a:srgbClr val="29B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13232" y="6016752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29B7E8"/>
                </a:solidFill>
                <a:latin typeface="Aptos"/>
              </a:defRPr>
            </a:pPr>
            <a:r>
              <a:t>Energiagazdálkodás • 9/10. hét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Óraterv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mérési adattól az automatikus beavatkozásig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5257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508760"/>
            <a:ext cx="73152" cy="4480560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691639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192C"/>
                </a:solidFill>
                <a:latin typeface="Aptos"/>
              </a:defRPr>
            </a:pPr>
            <a:r>
              <a:t>1. tanóra • Monitoring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221991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33343"/>
                </a:solidFill>
                <a:latin typeface="Aptos"/>
              </a:defRPr>
            </a:pPr>
            <a:r>
              <a:t>• mérési hierarchia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697479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33343"/>
                </a:solidFill>
                <a:latin typeface="Aptos"/>
              </a:defRPr>
            </a:pPr>
            <a:r>
              <a:t>• almérők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72968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33343"/>
                </a:solidFill>
                <a:latin typeface="Aptos"/>
              </a:defRPr>
            </a:pPr>
            <a:r>
              <a:t>• adatgyűjtés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648456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33343"/>
                </a:solidFill>
                <a:latin typeface="Aptos"/>
              </a:defRPr>
            </a:pPr>
            <a:r>
              <a:t>• terhelési görbe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123944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33343"/>
                </a:solidFill>
                <a:latin typeface="Aptos"/>
              </a:defRPr>
            </a:pPr>
            <a:r>
              <a:t>• KPI és riasztás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508760"/>
            <a:ext cx="5257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508760"/>
            <a:ext cx="73152" cy="4480560"/>
          </a:xfrm>
          <a:prstGeom prst="rect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3096" y="1691639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192C"/>
                </a:solidFill>
                <a:latin typeface="Aptos"/>
              </a:defRPr>
            </a:pPr>
            <a:r>
              <a:t>2. tanóra • Menedzsment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2221991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33343"/>
                </a:solidFill>
                <a:latin typeface="Aptos"/>
              </a:defRPr>
            </a:pPr>
            <a:r>
              <a:t>• teljesítményhatár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2697479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33343"/>
                </a:solidFill>
                <a:latin typeface="Aptos"/>
              </a:defRPr>
            </a:pPr>
            <a:r>
              <a:t>• prioritások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3172968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33343"/>
                </a:solidFill>
                <a:latin typeface="Aptos"/>
              </a:defRPr>
            </a:pPr>
            <a:r>
              <a:t>• indításblokkolás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3648456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33343"/>
                </a:solidFill>
                <a:latin typeface="Aptos"/>
              </a:defRPr>
            </a:pPr>
            <a:r>
              <a:t>• load shedding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0528" y="4123944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33343"/>
                </a:solidFill>
                <a:latin typeface="Aptos"/>
              </a:defRPr>
            </a:pPr>
            <a:r>
              <a:t>• biztonságos visszaengedés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Energia-monitoring rendszer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Mérés → kommunikáció → adat → információ → döntés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" y="2148840"/>
            <a:ext cx="19659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" y="263347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9B7E8"/>
                </a:solidFill>
                <a:latin typeface="Aptos"/>
              </a:defRPr>
            </a:pPr>
            <a:r>
              <a:t>MÉRŐ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194560" y="2852928"/>
            <a:ext cx="274320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587752" y="2148840"/>
            <a:ext cx="19659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97480" y="263347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25388"/>
                </a:solidFill>
                <a:latin typeface="Aptos"/>
              </a:defRPr>
            </a:pPr>
            <a:r>
              <a:t>KOMM.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53712" y="2852928"/>
            <a:ext cx="274320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946904" y="2148840"/>
            <a:ext cx="19659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56632" y="263347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5B5C9B"/>
                </a:solidFill>
                <a:latin typeface="Aptos"/>
              </a:defRPr>
            </a:pPr>
            <a:r>
              <a:t>ADATGYŰJTŐ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912864" y="2852928"/>
            <a:ext cx="274320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06056" y="2148840"/>
            <a:ext cx="19659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15783" y="263347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08931"/>
                </a:solidFill>
                <a:latin typeface="Aptos"/>
              </a:defRPr>
            </a:pPr>
            <a:r>
              <a:t>SCADA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272016" y="2852928"/>
            <a:ext cx="274320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665208" y="2148840"/>
            <a:ext cx="19659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74936" y="263347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88B66"/>
                </a:solidFill>
                <a:latin typeface="Aptos"/>
              </a:defRPr>
            </a:pPr>
            <a:r>
              <a:t>DÖNTÉS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25880" y="4572000"/>
            <a:ext cx="9509760" cy="640080"/>
          </a:xfrm>
          <a:prstGeom prst="roundRect">
            <a:avLst/>
          </a:prstGeom>
          <a:solidFill>
            <a:srgbClr val="E7F1F8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54480" y="4764024"/>
            <a:ext cx="9052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10" b="1">
                <a:solidFill>
                  <a:srgbClr val="06192C"/>
                </a:solidFill>
                <a:latin typeface="Aptos"/>
              </a:defRPr>
            </a:pPr>
            <a:r>
              <a:t>A kommunikáció továbbítja az adatot; a mérési értéket maga a mérő állítja elő.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Mérési hierarchia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főmérőtől a nagy fogyasztóig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1920240" cy="914400"/>
          </a:xfrm>
          <a:prstGeom prst="roundRect">
            <a:avLst/>
          </a:prstGeom>
          <a:solidFill>
            <a:srgbClr val="125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56816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FŐMÉRŐ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60320" y="2103120"/>
            <a:ext cx="1554480" cy="96012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291840" y="3063240"/>
            <a:ext cx="1645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338328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29B7E8"/>
                </a:solidFill>
                <a:latin typeface="Aptos"/>
              </a:defRPr>
            </a:pPr>
            <a:r>
              <a:t>ÜZEM 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60320" y="2103120"/>
            <a:ext cx="4297680" cy="96012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035040" y="3063240"/>
            <a:ext cx="1645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79" y="338328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5B5C9B"/>
                </a:solidFill>
                <a:latin typeface="Aptos"/>
              </a:defRPr>
            </a:pPr>
            <a:r>
              <a:t>ÜZEM 2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60320" y="2103120"/>
            <a:ext cx="7040880" cy="96012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778240" y="3063240"/>
            <a:ext cx="1645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0" y="338328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08931"/>
                </a:solidFill>
                <a:latin typeface="Aptos"/>
              </a:defRPr>
            </a:pPr>
            <a:r>
              <a:t>SEGÉDÜZEM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114800" y="3977639"/>
            <a:ext cx="0" cy="685801"/>
          </a:xfrm>
          <a:prstGeom prst="line">
            <a:avLst/>
          </a:prstGeom>
          <a:ln w="1905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520440" y="4663440"/>
            <a:ext cx="1188720" cy="640080"/>
          </a:xfrm>
          <a:prstGeom prst="roundRect">
            <a:avLst/>
          </a:prstGeom>
          <a:solidFill>
            <a:srgbClr val="E7F1F8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20440" y="4864608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06192C"/>
                </a:solidFill>
                <a:latin typeface="Aptos"/>
              </a:defRPr>
            </a:pPr>
            <a:r>
              <a:t>ALMÉRŐ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858000" y="3977639"/>
            <a:ext cx="0" cy="685801"/>
          </a:xfrm>
          <a:prstGeom prst="line">
            <a:avLst/>
          </a:prstGeom>
          <a:ln w="1905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263640" y="4663440"/>
            <a:ext cx="1188720" cy="640080"/>
          </a:xfrm>
          <a:prstGeom prst="roundRect">
            <a:avLst/>
          </a:prstGeom>
          <a:solidFill>
            <a:srgbClr val="E7F1F8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4864608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06192C"/>
                </a:solidFill>
                <a:latin typeface="Aptos"/>
              </a:defRPr>
            </a:pPr>
            <a:r>
              <a:t>ALMÉRŐ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601200" y="3977639"/>
            <a:ext cx="0" cy="685801"/>
          </a:xfrm>
          <a:prstGeom prst="line">
            <a:avLst/>
          </a:prstGeom>
          <a:ln w="1905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006840" y="4663440"/>
            <a:ext cx="1188720" cy="640080"/>
          </a:xfrm>
          <a:prstGeom prst="roundRect">
            <a:avLst/>
          </a:prstGeom>
          <a:solidFill>
            <a:srgbClr val="E7F1F8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06840" y="4864608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06192C"/>
                </a:solidFill>
                <a:latin typeface="Aptos"/>
              </a:defRPr>
            </a:pPr>
            <a:r>
              <a:t>ALMÉRŐ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Időfelbontás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Más kérdéshez más mérési időlépték kell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246888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1945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5B5C9B"/>
                </a:solidFill>
                <a:latin typeface="Aptos"/>
              </a:defRPr>
            </a:pPr>
            <a:r>
              <a:t>HAVI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0175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06192C"/>
                </a:solidFill>
                <a:latin typeface="Aptos"/>
              </a:defRPr>
            </a:pPr>
            <a:r>
              <a:t>költség, trend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828800"/>
            <a:ext cx="246888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21945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25388"/>
                </a:solidFill>
                <a:latin typeface="Aptos"/>
              </a:defRPr>
            </a:pPr>
            <a:r>
              <a:t>15 PERC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30175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06192C"/>
                </a:solidFill>
                <a:latin typeface="Aptos"/>
              </a:defRPr>
            </a:pPr>
            <a:r>
              <a:t>demand, profil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828800"/>
            <a:ext cx="246888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1945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9B7E8"/>
                </a:solidFill>
                <a:latin typeface="Aptos"/>
              </a:defRPr>
            </a:pPr>
            <a:r>
              <a:t>1 PERC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0175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06192C"/>
                </a:solidFill>
                <a:latin typeface="Aptos"/>
              </a:defRPr>
            </a:pPr>
            <a:r>
              <a:t>üzemállapot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6840" y="1828800"/>
            <a:ext cx="246888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9720" y="21945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08931"/>
                </a:solidFill>
                <a:latin typeface="Aptos"/>
              </a:defRPr>
            </a:pPr>
            <a:r>
              <a:t>MÁSODPERC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30175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06192C"/>
                </a:solidFill>
                <a:latin typeface="Aptos"/>
              </a:defRPr>
            </a:pPr>
            <a:r>
              <a:t>gyors esemény*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12064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667787"/>
                </a:solidFill>
                <a:latin typeface="Aptos"/>
              </a:defRPr>
            </a:pPr>
            <a:r>
              <a:t>* Az energia-monitoring nem helyettesíti a védelmi célú gyors mérőrendszereket.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Dashboard és KPI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Kevés, értelmezhető mutató a kezelő előtt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00200"/>
            <a:ext cx="24688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BE433F"/>
                </a:solidFill>
                <a:latin typeface="Aptos"/>
              </a:defRPr>
            </a:pPr>
            <a:r>
              <a:t>238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9572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667787"/>
                </a:solidFill>
                <a:latin typeface="Aptos"/>
              </a:defRPr>
            </a:pPr>
            <a:r>
              <a:t>kW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600200"/>
            <a:ext cx="24688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182880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9B7E8"/>
                </a:solidFill>
                <a:latin typeface="Aptos"/>
              </a:defRPr>
            </a:pPr>
            <a:r>
              <a:t>3 840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39572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667787"/>
                </a:solidFill>
                <a:latin typeface="Aptos"/>
              </a:defRPr>
            </a:pPr>
            <a:r>
              <a:t>kWh/nap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600200"/>
            <a:ext cx="24688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82880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88B66"/>
                </a:solidFill>
                <a:latin typeface="Aptos"/>
              </a:defRPr>
            </a:pPr>
            <a:r>
              <a:t>2,42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39572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667787"/>
                </a:solidFill>
                <a:latin typeface="Aptos"/>
              </a:defRPr>
            </a:pPr>
            <a:r>
              <a:t>kWh/db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6840" y="1600200"/>
            <a:ext cx="24688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0" y="182880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B5C9B"/>
                </a:solidFill>
                <a:latin typeface="Aptos"/>
              </a:defRPr>
            </a:pPr>
            <a:r>
              <a:t>0,96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39572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667787"/>
                </a:solidFill>
                <a:latin typeface="Aptos"/>
              </a:defRPr>
            </a:pPr>
            <a:r>
              <a:t>cos φ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337560"/>
            <a:ext cx="33832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337560"/>
            <a:ext cx="73152" cy="2103120"/>
          </a:xfrm>
          <a:prstGeom prst="rect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" y="35204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192C"/>
                </a:solidFill>
                <a:latin typeface="Aptos"/>
              </a:defRPr>
            </a:pPr>
            <a:r>
              <a:t>ÁLLAPOT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050791"/>
            <a:ext cx="2852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33343"/>
                </a:solidFill>
                <a:latin typeface="Aptos"/>
              </a:defRPr>
            </a:pPr>
            <a:r>
              <a:t>• Pmax közelít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526279"/>
            <a:ext cx="2852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33343"/>
                </a:solidFill>
                <a:latin typeface="Aptos"/>
              </a:defRPr>
            </a:pPr>
            <a:r>
              <a:t>• cos φ rendben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001767"/>
            <a:ext cx="2852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33343"/>
                </a:solidFill>
                <a:latin typeface="Aptos"/>
              </a:defRPr>
            </a:pPr>
            <a:r>
              <a:t>• alapterhelés +8%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0" y="3337560"/>
            <a:ext cx="33832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89120" y="3337560"/>
            <a:ext cx="73152" cy="2103120"/>
          </a:xfrm>
          <a:prstGeom prst="rect">
            <a:avLst/>
          </a:prstGeom>
          <a:solidFill>
            <a:srgbClr val="BE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36008" y="35204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192C"/>
                </a:solidFill>
                <a:latin typeface="Aptos"/>
              </a:defRPr>
            </a:pPr>
            <a:r>
              <a:t>RIASZTÁS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4050791"/>
            <a:ext cx="2852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33343"/>
                </a:solidFill>
                <a:latin typeface="Aptos"/>
              </a:defRPr>
            </a:pPr>
            <a:r>
              <a:t>• 240 kW előriasztás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4526279"/>
            <a:ext cx="2852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33343"/>
                </a:solidFill>
                <a:latin typeface="Aptos"/>
              </a:defRPr>
            </a:pPr>
            <a:r>
              <a:t>• 245 kW indításstop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5001767"/>
            <a:ext cx="2852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33343"/>
                </a:solidFill>
                <a:latin typeface="Aptos"/>
              </a:defRPr>
            </a:pPr>
            <a:r>
              <a:t>• adatkimaradás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6720" y="3337560"/>
            <a:ext cx="33832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6720" y="3337560"/>
            <a:ext cx="73152" cy="2103120"/>
          </a:xfrm>
          <a:prstGeom prst="rect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93608" y="35204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192C"/>
                </a:solidFill>
                <a:latin typeface="Aptos"/>
              </a:defRPr>
            </a:pPr>
            <a:r>
              <a:t>AKCIÓ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4050791"/>
            <a:ext cx="2852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33343"/>
                </a:solidFill>
                <a:latin typeface="Aptos"/>
              </a:defRPr>
            </a:pPr>
            <a:r>
              <a:t>• ellenőrzés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4526279"/>
            <a:ext cx="2852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33343"/>
                </a:solidFill>
                <a:latin typeface="Aptos"/>
              </a:defRPr>
            </a:pPr>
            <a:r>
              <a:t>• prioritás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5001767"/>
            <a:ext cx="2852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33343"/>
                </a:solidFill>
                <a:latin typeface="Aptos"/>
              </a:defRPr>
            </a:pPr>
            <a:r>
              <a:t>• naplózás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Terhelésmenedzsment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technológiai feladat teljesül, a csúcsot mégis korlátozzuk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55448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BE433F"/>
                </a:solidFill>
                <a:latin typeface="Aptos"/>
              </a:defRPr>
            </a:pPr>
            <a:r>
              <a:t>MENEDZSMENT NÉLKÜL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55448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88B66"/>
                </a:solidFill>
                <a:latin typeface="Aptos"/>
              </a:defRPr>
            </a:pPr>
            <a:r>
              <a:t>MENEDZSMENTTEL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31520" y="5029200"/>
            <a:ext cx="4572000" cy="0"/>
          </a:xfrm>
          <a:prstGeom prst="line">
            <a:avLst/>
          </a:prstGeom>
          <a:ln w="19050">
            <a:solidFill>
              <a:srgbClr val="0619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400800" y="5029200"/>
            <a:ext cx="4572000" cy="0"/>
          </a:xfrm>
          <a:prstGeom prst="line">
            <a:avLst/>
          </a:prstGeom>
          <a:ln w="19050">
            <a:solidFill>
              <a:srgbClr val="0619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914400" y="4114800"/>
            <a:ext cx="502920" cy="914400"/>
          </a:xfrm>
          <a:prstGeom prst="rect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37360" y="3566160"/>
            <a:ext cx="502920" cy="1463040"/>
          </a:xfrm>
          <a:prstGeom prst="rect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60320" y="2468880"/>
            <a:ext cx="502920" cy="2560320"/>
          </a:xfrm>
          <a:prstGeom prst="rect">
            <a:avLst/>
          </a:prstGeom>
          <a:solidFill>
            <a:srgbClr val="BE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83280" y="3108960"/>
            <a:ext cx="502920" cy="1920240"/>
          </a:xfrm>
          <a:prstGeom prst="rect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06240" y="3931920"/>
            <a:ext cx="502920" cy="1097280"/>
          </a:xfrm>
          <a:prstGeom prst="rect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0" y="4114800"/>
            <a:ext cx="502920" cy="914400"/>
          </a:xfrm>
          <a:prstGeom prst="rect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06640" y="3566160"/>
            <a:ext cx="502920" cy="1463040"/>
          </a:xfrm>
          <a:prstGeom prst="rect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3108960"/>
            <a:ext cx="502920" cy="1920240"/>
          </a:xfrm>
          <a:prstGeom prst="rect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52560" y="3383280"/>
            <a:ext cx="502920" cy="1645920"/>
          </a:xfrm>
          <a:prstGeom prst="rect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875520" y="3657600"/>
            <a:ext cx="502920" cy="1371600"/>
          </a:xfrm>
          <a:prstGeom prst="rect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731520" y="2514600"/>
            <a:ext cx="4572000" cy="0"/>
          </a:xfrm>
          <a:prstGeom prst="line">
            <a:avLst/>
          </a:prstGeom>
          <a:ln w="19050">
            <a:solidFill>
              <a:srgbClr val="BE43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400800" y="2514600"/>
            <a:ext cx="4572000" cy="0"/>
          </a:xfrm>
          <a:prstGeom prst="line">
            <a:avLst/>
          </a:prstGeom>
          <a:ln w="19050">
            <a:solidFill>
              <a:srgbClr val="BE43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114800" y="2240280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BE433F"/>
                </a:solidFill>
                <a:latin typeface="Aptos"/>
              </a:defRPr>
            </a:pPr>
            <a:r>
              <a:t>HATÁR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2240280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BE433F"/>
                </a:solidFill>
                <a:latin typeface="Aptos"/>
              </a:defRPr>
            </a:pPr>
            <a:r>
              <a:t>HATÁR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Prioritási csoportok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Nem minden fogyasztó kezelhető ugyanúgy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35204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508760"/>
            <a:ext cx="73152" cy="4389120"/>
          </a:xfrm>
          <a:prstGeom prst="rect">
            <a:avLst/>
          </a:prstGeom>
          <a:solidFill>
            <a:srgbClr val="BE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691639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192C"/>
                </a:solidFill>
                <a:latin typeface="Aptos"/>
              </a:defRPr>
            </a:pPr>
            <a:r>
              <a:t>A • KRITIKUS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21991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33343"/>
                </a:solidFill>
                <a:latin typeface="Aptos"/>
              </a:defRPr>
            </a:pPr>
            <a:r>
              <a:t>• biztonsági funkció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97479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33343"/>
                </a:solidFill>
                <a:latin typeface="Aptos"/>
              </a:defRPr>
            </a:pPr>
            <a:r>
              <a:t>• technológiai főgép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72968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33343"/>
                </a:solidFill>
                <a:latin typeface="Aptos"/>
              </a:defRPr>
            </a:pPr>
            <a:r>
              <a:t>• nem lekapcsolható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648456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33343"/>
                </a:solidFill>
                <a:latin typeface="Aptos"/>
              </a:defRPr>
            </a:pPr>
            <a:r>
              <a:t>• védelmek elsőbbsége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34256" y="1508760"/>
            <a:ext cx="35204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34256" y="1508760"/>
            <a:ext cx="73152" cy="4389120"/>
          </a:xfrm>
          <a:prstGeom prst="rect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81144" y="1691639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192C"/>
                </a:solidFill>
                <a:latin typeface="Aptos"/>
              </a:defRPr>
            </a:pPr>
            <a:r>
              <a:t>B • KORLÁTOZHATÓ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8576" y="2221991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33343"/>
                </a:solidFill>
                <a:latin typeface="Aptos"/>
              </a:defRPr>
            </a:pPr>
            <a:r>
              <a:t>• rövid szünet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2697479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33343"/>
                </a:solidFill>
                <a:latin typeface="Aptos"/>
              </a:defRPr>
            </a:pPr>
            <a:r>
              <a:t>• feltételes leállítás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8576" y="3172968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33343"/>
                </a:solidFill>
                <a:latin typeface="Aptos"/>
              </a:defRPr>
            </a:pPr>
            <a:r>
              <a:t>• engedélyező jel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8576" y="3648456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33343"/>
                </a:solidFill>
                <a:latin typeface="Aptos"/>
              </a:defRPr>
            </a:pPr>
            <a:r>
              <a:t>• késleltetés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28431" y="1508760"/>
            <a:ext cx="35204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28431" y="1508760"/>
            <a:ext cx="73152" cy="4389120"/>
          </a:xfrm>
          <a:prstGeom prst="rect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19" y="1691639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192C"/>
                </a:solidFill>
                <a:latin typeface="Aptos"/>
              </a:defRPr>
            </a:pPr>
            <a:r>
              <a:t>C • ELTOLHATÓ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752" y="2221991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33343"/>
                </a:solidFill>
                <a:latin typeface="Aptos"/>
              </a:defRPr>
            </a:pPr>
            <a:r>
              <a:t>• töltés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2752" y="2697479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33343"/>
                </a:solidFill>
                <a:latin typeface="Aptos"/>
              </a:defRPr>
            </a:pPr>
            <a:r>
              <a:t>• fűtés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2752" y="3172968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33343"/>
                </a:solidFill>
                <a:latin typeface="Aptos"/>
              </a:defRPr>
            </a:pPr>
            <a:r>
              <a:t>• nem kritikus segédüzem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2752" y="3648456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33343"/>
                </a:solidFill>
                <a:latin typeface="Aptos"/>
              </a:defRPr>
            </a:pPr>
            <a:r>
              <a:t>• indítás késleltethető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Határérték-logika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Előriasztás → blokkolás → csökkentés → késleltetett visszaengedés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874519"/>
            <a:ext cx="246888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21284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9B7E8"/>
                </a:solidFill>
                <a:latin typeface="Aptos"/>
              </a:defRPr>
            </a:pPr>
            <a:r>
              <a:t>235 kW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10896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6192C"/>
                </a:solidFill>
                <a:latin typeface="Aptos"/>
              </a:defRPr>
            </a:pPr>
            <a:r>
              <a:t>ELŐRIASZTÁS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880360" y="3246120"/>
            <a:ext cx="274320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246120" y="1874519"/>
            <a:ext cx="246888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221284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08931"/>
                </a:solidFill>
                <a:latin typeface="Aptos"/>
              </a:defRPr>
            </a:pPr>
            <a:r>
              <a:t>245 kW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310896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6192C"/>
                </a:solidFill>
                <a:latin typeface="Aptos"/>
              </a:defRPr>
            </a:pPr>
            <a:r>
              <a:t>C INDÍTÁS STOP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715000" y="3246120"/>
            <a:ext cx="274320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080760" y="1874519"/>
            <a:ext cx="246888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221284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BE433F"/>
                </a:solidFill>
                <a:latin typeface="Aptos"/>
              </a:defRPr>
            </a:pPr>
            <a:r>
              <a:t>250 kW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310896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6192C"/>
                </a:solidFill>
                <a:latin typeface="Aptos"/>
              </a:defRPr>
            </a:pPr>
            <a:r>
              <a:t>C LEKAPCSOLÁS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549640" y="3246120"/>
            <a:ext cx="274320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915400" y="1874519"/>
            <a:ext cx="246888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98280" y="221284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88B66"/>
                </a:solidFill>
                <a:latin typeface="Aptos"/>
              </a:defRPr>
            </a:pPr>
            <a:r>
              <a:t>225 kW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310896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6192C"/>
                </a:solidFill>
                <a:latin typeface="Aptos"/>
              </a:defRPr>
            </a:pPr>
            <a:r>
              <a:t>VISSZAENGEDÉS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5166360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80" b="1">
                <a:solidFill>
                  <a:srgbClr val="06192C"/>
                </a:solidFill>
                <a:latin typeface="Aptos"/>
              </a:defRPr>
            </a:pPr>
            <a:r>
              <a:t>A visszakapcsolás időzített és technológiai engedélyhez kötött.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Hiszterézis és késleltetés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Megakadályozza a gyors ki-be kapcsolgatást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10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14400" y="5120640"/>
            <a:ext cx="10058400" cy="0"/>
          </a:xfrm>
          <a:prstGeom prst="line">
            <a:avLst/>
          </a:prstGeom>
          <a:ln w="19050">
            <a:solidFill>
              <a:srgbClr val="0619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14400" y="1645920"/>
            <a:ext cx="0" cy="3474720"/>
          </a:xfrm>
          <a:prstGeom prst="line">
            <a:avLst/>
          </a:prstGeom>
          <a:ln w="19050">
            <a:solidFill>
              <a:srgbClr val="0619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14400" y="2331720"/>
            <a:ext cx="10058400" cy="0"/>
          </a:xfrm>
          <a:prstGeom prst="line">
            <a:avLst/>
          </a:prstGeom>
          <a:ln w="19050">
            <a:solidFill>
              <a:srgbClr val="BE43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875520" y="205740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E433F"/>
                </a:solidFill>
                <a:latin typeface="Aptos"/>
              </a:defRPr>
            </a:pPr>
            <a:r>
              <a:t>250 kW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14400" y="3840480"/>
            <a:ext cx="10058400" cy="0"/>
          </a:xfrm>
          <a:prstGeom prst="line">
            <a:avLst/>
          </a:prstGeom>
          <a:ln w="19050">
            <a:solidFill>
              <a:srgbClr val="288B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875520" y="356616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88B66"/>
                </a:solidFill>
                <a:latin typeface="Aptos"/>
              </a:defRPr>
            </a:pPr>
            <a:r>
              <a:t>225 kW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914400" y="3474720"/>
            <a:ext cx="914400" cy="1005840"/>
          </a:xfrm>
          <a:prstGeom prst="line">
            <a:avLst/>
          </a:prstGeom>
          <a:ln w="38100">
            <a:solidFill>
              <a:srgbClr val="29B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828800" y="2103120"/>
            <a:ext cx="914400" cy="1371600"/>
          </a:xfrm>
          <a:prstGeom prst="line">
            <a:avLst/>
          </a:prstGeom>
          <a:ln w="38100">
            <a:solidFill>
              <a:srgbClr val="29B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743200" y="2103120"/>
            <a:ext cx="914400" cy="731520"/>
          </a:xfrm>
          <a:prstGeom prst="line">
            <a:avLst/>
          </a:prstGeom>
          <a:ln w="38100">
            <a:solidFill>
              <a:srgbClr val="29B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3657600" y="2240280"/>
            <a:ext cx="914400" cy="594360"/>
          </a:xfrm>
          <a:prstGeom prst="line">
            <a:avLst/>
          </a:prstGeom>
          <a:ln w="38100">
            <a:solidFill>
              <a:srgbClr val="29B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572000" y="2240280"/>
            <a:ext cx="914400" cy="1143000"/>
          </a:xfrm>
          <a:prstGeom prst="line">
            <a:avLst/>
          </a:prstGeom>
          <a:ln w="38100">
            <a:solidFill>
              <a:srgbClr val="29B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486400" y="3383280"/>
            <a:ext cx="914400" cy="640080"/>
          </a:xfrm>
          <a:prstGeom prst="line">
            <a:avLst/>
          </a:prstGeom>
          <a:ln w="38100">
            <a:solidFill>
              <a:srgbClr val="29B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6400800" y="3977639"/>
            <a:ext cx="914400" cy="45721"/>
          </a:xfrm>
          <a:prstGeom prst="line">
            <a:avLst/>
          </a:prstGeom>
          <a:ln w="38100">
            <a:solidFill>
              <a:srgbClr val="29B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315200" y="3977639"/>
            <a:ext cx="914400" cy="137161"/>
          </a:xfrm>
          <a:prstGeom prst="line">
            <a:avLst/>
          </a:prstGeom>
          <a:ln w="38100">
            <a:solidFill>
              <a:srgbClr val="29B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8229600" y="4023360"/>
            <a:ext cx="914400" cy="91440"/>
          </a:xfrm>
          <a:prstGeom prst="line">
            <a:avLst/>
          </a:prstGeom>
          <a:ln w="38100">
            <a:solidFill>
              <a:srgbClr val="29B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9144000" y="3931920"/>
            <a:ext cx="1371600" cy="91440"/>
          </a:xfrm>
          <a:prstGeom prst="line">
            <a:avLst/>
          </a:prstGeom>
          <a:ln w="38100">
            <a:solidFill>
              <a:srgbClr val="29B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828800" y="5440680"/>
            <a:ext cx="8503920" cy="411480"/>
          </a:xfrm>
          <a:prstGeom prst="roundRect">
            <a:avLst/>
          </a:prstGeom>
          <a:solidFill>
            <a:srgbClr val="E7F1F8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11680" y="5550408"/>
            <a:ext cx="81381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69" b="1">
                <a:solidFill>
                  <a:srgbClr val="06192C"/>
                </a:solidFill>
                <a:latin typeface="Aptos"/>
              </a:defRPr>
            </a:pPr>
            <a:r>
              <a:t>Kikapcsolás magasabb szinten • visszaengedés alacsonyabb szinten + időzítés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PLC és SCADA együtt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Automatikus döntés + átlátható kezelői információ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49377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554480"/>
            <a:ext cx="73152" cy="4389120"/>
          </a:xfrm>
          <a:prstGeom prst="rect">
            <a:avLst/>
          </a:prstGeom>
          <a:solidFill>
            <a:srgbClr val="5B5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173736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192C"/>
                </a:solidFill>
                <a:latin typeface="Aptos"/>
              </a:defRPr>
            </a:pPr>
            <a:r>
              <a:t>PLC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267712"/>
            <a:ext cx="44074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33343"/>
                </a:solidFill>
                <a:latin typeface="Aptos"/>
              </a:defRPr>
            </a:pPr>
            <a:r>
              <a:t>• teljesítmény beolvasása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43200"/>
            <a:ext cx="44074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33343"/>
                </a:solidFill>
                <a:latin typeface="Aptos"/>
              </a:defRPr>
            </a:pPr>
            <a:r>
              <a:t>• adatérvényesség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218688"/>
            <a:ext cx="44074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33343"/>
                </a:solidFill>
                <a:latin typeface="Aptos"/>
              </a:defRPr>
            </a:pPr>
            <a:r>
              <a:t>• prioritási logika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694176"/>
            <a:ext cx="44074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33343"/>
                </a:solidFill>
                <a:latin typeface="Aptos"/>
              </a:defRPr>
            </a:pPr>
            <a:r>
              <a:t>• indítási engedély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169664"/>
            <a:ext cx="44074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33343"/>
                </a:solidFill>
                <a:latin typeface="Aptos"/>
              </a:defRPr>
            </a:pPr>
            <a:r>
              <a:t>• időzítés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1554480"/>
            <a:ext cx="49377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92240" y="1554480"/>
            <a:ext cx="73152" cy="4389120"/>
          </a:xfrm>
          <a:prstGeom prst="rect">
            <a:avLst/>
          </a:prstGeom>
          <a:solidFill>
            <a:srgbClr val="125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39127" y="173736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192C"/>
                </a:solidFill>
                <a:latin typeface="Aptos"/>
              </a:defRPr>
            </a:pPr>
            <a:r>
              <a:t>SCADA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59" y="2267712"/>
            <a:ext cx="44074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33343"/>
                </a:solidFill>
                <a:latin typeface="Aptos"/>
              </a:defRPr>
            </a:pPr>
            <a:r>
              <a:t>• aktuális kW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59" y="2743200"/>
            <a:ext cx="44074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33343"/>
                </a:solidFill>
                <a:latin typeface="Aptos"/>
              </a:defRPr>
            </a:pPr>
            <a:r>
              <a:t>• trend és Pmax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59" y="3218688"/>
            <a:ext cx="44074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33343"/>
                </a:solidFill>
                <a:latin typeface="Aptos"/>
              </a:defRPr>
            </a:pPr>
            <a:r>
              <a:t>• blokkolt fogyasztók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59" y="3694176"/>
            <a:ext cx="44074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33343"/>
                </a:solidFill>
                <a:latin typeface="Aptos"/>
              </a:defRPr>
            </a:pPr>
            <a:r>
              <a:t>• riasztások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59" y="4169664"/>
            <a:ext cx="44074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33343"/>
                </a:solidFill>
                <a:latin typeface="Aptos"/>
              </a:defRPr>
            </a:pPr>
            <a:r>
              <a:t>• eseménynapló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715000" y="3657600"/>
            <a:ext cx="685800" cy="0"/>
          </a:xfrm>
          <a:prstGeom prst="line">
            <a:avLst/>
          </a:prstGeom>
          <a:ln w="50800">
            <a:solidFill>
              <a:srgbClr val="29B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Adatminőség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Rossz adatból jó energiagazdálkodási döntés nem készül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31089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BE433F"/>
                </a:solidFill>
                <a:latin typeface="Aptos"/>
              </a:defRPr>
            </a:pPr>
            <a:r>
              <a:t>MÉRŐARÁNY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5915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6192C"/>
                </a:solidFill>
                <a:latin typeface="Aptos"/>
              </a:defRPr>
            </a:pPr>
            <a:r>
              <a:t>hibás skála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1554480"/>
            <a:ext cx="31089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82880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E08931"/>
                </a:solidFill>
                <a:latin typeface="Aptos"/>
              </a:defRPr>
            </a:pPr>
            <a:r>
              <a:t>IDŐBÉLYEG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35915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6192C"/>
                </a:solidFill>
                <a:latin typeface="Aptos"/>
              </a:defRPr>
            </a:pPr>
            <a:r>
              <a:t>eltérés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554480"/>
            <a:ext cx="31089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82880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5B5C9B"/>
                </a:solidFill>
                <a:latin typeface="Aptos"/>
              </a:defRPr>
            </a:pPr>
            <a:r>
              <a:t>KOMMUNIKÁCIÓ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35915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6192C"/>
                </a:solidFill>
                <a:latin typeface="Aptos"/>
              </a:defRPr>
            </a:pPr>
            <a:r>
              <a:t>kimaradás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611880"/>
            <a:ext cx="31089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88620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125388"/>
                </a:solidFill>
                <a:latin typeface="Aptos"/>
              </a:defRPr>
            </a:pPr>
            <a:r>
              <a:t>SZÁMLÁLÓ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41655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6192C"/>
                </a:solidFill>
                <a:latin typeface="Aptos"/>
              </a:defRPr>
            </a:pPr>
            <a:r>
              <a:t>nullázódás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59" y="3611880"/>
            <a:ext cx="31089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3440" y="388620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29B7E8"/>
                </a:solidFill>
                <a:latin typeface="Aptos"/>
              </a:defRPr>
            </a:pPr>
            <a:r>
              <a:t>DUPLIKÁCIÓ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441655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6192C"/>
                </a:solidFill>
                <a:latin typeface="Aptos"/>
              </a:defRPr>
            </a:pPr>
            <a:r>
              <a:t>kétszeres adat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3611880"/>
            <a:ext cx="31089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0" y="388620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288B66"/>
                </a:solidFill>
                <a:latin typeface="Aptos"/>
              </a:defRPr>
            </a:pPr>
            <a:r>
              <a:t>ÉRVÉNYESSÉG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441655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6192C"/>
                </a:solidFill>
                <a:latin typeface="Aptos"/>
              </a:defRPr>
            </a:pPr>
            <a:r>
              <a:t>nincs jelölve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Összefoglalás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31. hét öt kulcsgondolata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1371600"/>
            <a:ext cx="530352" cy="530352"/>
          </a:xfrm>
          <a:prstGeom prst="ellipse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36192"/>
            <a:ext cx="530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1444752"/>
            <a:ext cx="9784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192C"/>
                </a:solidFill>
                <a:latin typeface="Aptos"/>
              </a:defRPr>
            </a:pPr>
            <a:r>
              <a:t>A monitoring mér, gyűjt, tárol és értékel.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2249424"/>
            <a:ext cx="530352" cy="530352"/>
          </a:xfrm>
          <a:prstGeom prst="ellipse">
            <a:avLst/>
          </a:prstGeom>
          <a:solidFill>
            <a:srgbClr val="125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414016"/>
            <a:ext cx="530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2322576"/>
            <a:ext cx="9784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192C"/>
                </a:solidFill>
                <a:latin typeface="Aptos"/>
              </a:defRPr>
            </a:pPr>
            <a:r>
              <a:t>Az almérési struktúra megmutatja, hol keletkezik a fogyasztás.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3127248"/>
            <a:ext cx="530352" cy="530352"/>
          </a:xfrm>
          <a:prstGeom prst="ellipse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291840"/>
            <a:ext cx="530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3200400"/>
            <a:ext cx="9784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192C"/>
                </a:solidFill>
                <a:latin typeface="Aptos"/>
              </a:defRPr>
            </a:pPr>
            <a:r>
              <a:t>A terhelésmenedzsment a csúcsot prioritásokkal és időzítéssel kezeli.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4005072"/>
            <a:ext cx="530352" cy="530352"/>
          </a:xfrm>
          <a:prstGeom prst="ellipse">
            <a:avLst/>
          </a:prstGeom>
          <a:solidFill>
            <a:srgbClr val="5B5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169663"/>
            <a:ext cx="530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72768" y="4078224"/>
            <a:ext cx="9784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192C"/>
                </a:solidFill>
                <a:latin typeface="Aptos"/>
              </a:defRPr>
            </a:pPr>
            <a:r>
              <a:t>A PLC beavatkozhat, a SCADA láthatóvá és visszakövethetővé teszi a működést.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4882896"/>
            <a:ext cx="530352" cy="530352"/>
          </a:xfrm>
          <a:prstGeom prst="ellipse">
            <a:avLst/>
          </a:prstGeom>
          <a:solidFill>
            <a:srgbClr val="BE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047488"/>
            <a:ext cx="530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4956048"/>
            <a:ext cx="9784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192C"/>
                </a:solidFill>
                <a:latin typeface="Aptos"/>
              </a:defRPr>
            </a:pPr>
            <a:r>
              <a:t>Biztonsági és kritikus fogyasztókat az energiagazdálkodás nem írhat felül.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5806440"/>
            <a:ext cx="10515600" cy="438912"/>
          </a:xfrm>
          <a:prstGeom prst="roundRect">
            <a:avLst/>
          </a:prstGeom>
          <a:solidFill>
            <a:srgbClr val="E7F1F8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934456"/>
            <a:ext cx="10149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25388"/>
                </a:solidFill>
                <a:latin typeface="Aptos"/>
              </a:defRPr>
            </a:pPr>
            <a:r>
              <a:t>32. hét → Komplex energiagazdálkodási gyakorlat és összefoglalás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