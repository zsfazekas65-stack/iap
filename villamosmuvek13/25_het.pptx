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25.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ENERGIAGAZDÁLKODÁS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583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Csúcsterhelés, egyidejűség</a:t>
            </a:r>
            <a:br/>
            <a:r>
              <a:t>és teljesítményigény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0896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beépített P • ke • Pmax</a:t>
            </a:r>
            <a:br/>
            <a:r>
              <a:t>• prioritás • terhelésmenedzsment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498079" y="1645920"/>
            <a:ext cx="0" cy="301752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4663440"/>
            <a:ext cx="365760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43800" y="4160520"/>
            <a:ext cx="68580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229600" y="3566160"/>
            <a:ext cx="0" cy="59436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3566160"/>
            <a:ext cx="73152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61120" y="1965960"/>
            <a:ext cx="0" cy="160020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1965960"/>
            <a:ext cx="73152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92640" y="1965960"/>
            <a:ext cx="0" cy="86868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92640" y="2834640"/>
            <a:ext cx="64008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332720" y="2834640"/>
            <a:ext cx="0" cy="109728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32720" y="3931920"/>
            <a:ext cx="68580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98079" y="2514600"/>
            <a:ext cx="3657601" cy="0"/>
          </a:xfrm>
          <a:prstGeom prst="line">
            <a:avLst/>
          </a:prstGeom>
          <a:ln w="1905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95360" y="2148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E433F"/>
                </a:solidFill>
                <a:latin typeface="Aptos"/>
              </a:defRPr>
            </a:pPr>
            <a:r>
              <a:t>teljesítménykorlát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Energiagazdálkodás • 3/10.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névleges teljesítménytől az intelligens terhelésmenedzsmentig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1. tanóra • Teljesítményigény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beépített teljesítmény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igényelt teljesítmény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egyidejűségi tényező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fogyasztócsoportok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csúcsterhelés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2. tanóra • Menedzsment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motorindítások időzítése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teljesítménykorlát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fogyasztói prioritás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PLC-logika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csúcslevágás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Beépített ≠ igényelt teljesítmény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adattáblák összege nem azonos a tényleges egyidejű csúccsal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9377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5388"/>
                </a:solidFill>
                <a:latin typeface="Aptos"/>
              </a:defRPr>
            </a:pPr>
            <a:r>
              <a:t>BEÉPÍTETT TELJESÍTMÉNY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25388"/>
                </a:solidFill>
                <a:latin typeface="Aptos"/>
              </a:defRPr>
            </a:pPr>
            <a:r>
              <a:t>120 kW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7787"/>
                </a:solidFill>
                <a:latin typeface="Aptos"/>
              </a:defRPr>
            </a:pPr>
            <a:r>
              <a:t>a névleges teljesítmények</a:t>
            </a:r>
            <a:br/>
            <a:r>
              <a:t>összege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49377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920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8B66"/>
                </a:solidFill>
                <a:latin typeface="Aptos"/>
              </a:defRPr>
            </a:pPr>
            <a:r>
              <a:t>IGÉNYELT TELJESÍTMÉNY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060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88B66"/>
                </a:solidFill>
                <a:latin typeface="Aptos"/>
              </a:defRPr>
            </a:pPr>
            <a:r>
              <a:t>78 kW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5204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7787"/>
                </a:solidFill>
                <a:latin typeface="Aptos"/>
              </a:defRPr>
            </a:pPr>
            <a:r>
              <a:t>ami ténylegesen egyszerre</a:t>
            </a:r>
            <a:br/>
            <a:r>
              <a:t>jelentkezik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40680" y="3246120"/>
            <a:ext cx="960120" cy="0"/>
          </a:xfrm>
          <a:prstGeom prst="line">
            <a:avLst/>
          </a:prstGeom>
          <a:ln w="381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5780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8931"/>
                </a:solidFill>
                <a:latin typeface="Aptos"/>
              </a:defRPr>
            </a:pPr>
            <a:r>
              <a:t>ke = 0,65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Egyidejűségi tényező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Egyszerű becslés a beépített és az egyidejű igény kapcsolatára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600200"/>
            <a:ext cx="7223760" cy="114300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90195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25388"/>
                </a:solidFill>
                <a:latin typeface="Aptos"/>
              </a:defRPr>
            </a:pPr>
            <a:r>
              <a:t>ke = Pigény / Pbeépített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657600"/>
            <a:ext cx="3017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776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Pbeép = 120 kW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657600"/>
            <a:ext cx="3017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9776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8931"/>
                </a:solidFill>
                <a:latin typeface="Aptos"/>
              </a:defRPr>
            </a:pPr>
            <a:r>
              <a:t>ke = 0,65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657600"/>
            <a:ext cx="3017520" cy="105156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9776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8B66"/>
                </a:solidFill>
                <a:latin typeface="Aptos"/>
              </a:defRPr>
            </a:pPr>
            <a:r>
              <a:t>Pigény = 78 kW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4187952"/>
            <a:ext cx="50292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4187952"/>
            <a:ext cx="5029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Fogyasztócsoportok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egyidejűség technológiánként eltérő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011680"/>
            <a:ext cx="822960" cy="82296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192C"/>
                </a:solidFill>
                <a:latin typeface="Aptos"/>
              </a:defRPr>
            </a:pPr>
            <a:r>
              <a:t>MOTOROK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B7E8"/>
                </a:solidFill>
                <a:latin typeface="Aptos"/>
              </a:defRPr>
            </a:pPr>
            <a:r>
              <a:t>80 kW × 0,70</a:t>
            </a:r>
            <a:br/>
            <a:r>
              <a:t>→ 56 kW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0020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2011680"/>
            <a:ext cx="822960" cy="82296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063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192C"/>
                </a:solidFill>
                <a:latin typeface="Aptos"/>
              </a:defRPr>
            </a:pPr>
            <a:r>
              <a:t>KOMPRESSZOR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4903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8931"/>
                </a:solidFill>
                <a:latin typeface="Aptos"/>
              </a:defRPr>
            </a:pPr>
            <a:r>
              <a:t>30 kW × 0,60</a:t>
            </a:r>
            <a:br/>
            <a:r>
              <a:t>→ 18 kW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60020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40880" y="2011680"/>
            <a:ext cx="822960" cy="82296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192C"/>
                </a:solidFill>
                <a:latin typeface="Aptos"/>
              </a:defRPr>
            </a:pPr>
            <a:r>
              <a:t>VILÁGÍTÁS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4903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12 kW × 0,90</a:t>
            </a:r>
            <a:br/>
            <a:r>
              <a:t>→ 10,8 kW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60020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0" y="2011680"/>
            <a:ext cx="822960" cy="82296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3063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192C"/>
                </a:solidFill>
                <a:latin typeface="Aptos"/>
              </a:defRPr>
            </a:pPr>
            <a:r>
              <a:t>SEGÉDÜZEM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74903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5C9B"/>
                </a:solidFill>
                <a:latin typeface="Aptos"/>
              </a:defRPr>
            </a:pPr>
            <a:r>
              <a:t>8 kW × 0,75</a:t>
            </a:r>
            <a:br/>
            <a:r>
              <a:t>→ 6 kW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5394960"/>
            <a:ext cx="5852160" cy="50292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554126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25388"/>
                </a:solidFill>
                <a:latin typeface="Aptos"/>
              </a:defRPr>
            </a:pPr>
            <a:r>
              <a:t>130 kW beépített → kb. 90,8 kW becsült igény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Mi okozza a csúcsot?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nagy fogyasztók időbeli átfedése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MŰSZAKKEZDÉS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sok gép egyszerre indul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világítás + technológia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kompresszorok feltöltése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TECHNOLÓGIA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kemence / fűtés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nagy motorok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szivattyúk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0273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hegesztőterhelés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VEZÉRLÉSI 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összehangolatlan indítás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nincs prioritás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nincs teljesítményfigyelés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Motorindítások időzítése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Rövid késleltetéssel elkerülhető az indítási áramok összeadódása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1645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M1</a:t>
            </a:r>
            <a:br/>
            <a: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43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8931"/>
                </a:solidFill>
                <a:latin typeface="Aptos"/>
              </a:defRPr>
            </a:pPr>
            <a:r>
              <a:t>8 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3246120"/>
            <a:ext cx="2011680" cy="0"/>
          </a:xfrm>
          <a:prstGeom prst="line">
            <a:avLst/>
          </a:prstGeom>
          <a:ln w="254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66360" y="2240280"/>
            <a:ext cx="1645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63347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5388"/>
                </a:solidFill>
                <a:latin typeface="Aptos"/>
              </a:defRPr>
            </a:pPr>
            <a:r>
              <a:t>M2</a:t>
            </a:r>
            <a:br/>
            <a:r>
              <a:t>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743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8931"/>
                </a:solidFill>
                <a:latin typeface="Aptos"/>
              </a:defRPr>
            </a:pPr>
            <a:r>
              <a:t>8 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46120"/>
            <a:ext cx="2011680" cy="0"/>
          </a:xfrm>
          <a:prstGeom prst="line">
            <a:avLst/>
          </a:prstGeom>
          <a:ln w="254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2240280"/>
            <a:ext cx="1645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263347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M3</a:t>
            </a:r>
            <a:br/>
            <a:r>
              <a:t>START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572000"/>
            <a:ext cx="813816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475488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A következő motor csak akkor induljon, ha az előző indítás befejeződött és a teljesítményhatár engedi.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Fogyasztói prioritások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Nem minden terhelés kezelhető ugyanúgy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1. PRIORITÁS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biztonsági rendszerek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kritikus technológia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önkényesen nem kapcsolható 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2. PRIORITÁS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termeléshez szükséges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röviden késleltethető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feltételekhez kötött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3. PRIORITÁS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nem időkritikus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időzíthető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terhelésmenedzsmentbe bevonható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Teljesítménykorlátos vezérlés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Mérésből automatikus döntés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0116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29B7E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P = 84 kW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2834640"/>
            <a:ext cx="256032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51760" y="20116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E08931"/>
                </a:solidFill>
                <a:latin typeface="Aptos"/>
              </a:defRPr>
            </a:pPr>
            <a:r>
              <a:t>ELŐJELZÉS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880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&gt; 80 kW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63440" y="2834640"/>
            <a:ext cx="256032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83479" y="20116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BE433F"/>
                </a:solidFill>
                <a:latin typeface="Aptos"/>
              </a:defRPr>
            </a:pPr>
            <a:r>
              <a:t>INDÍTÁSTILTÁS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880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&gt; 88 kW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95159" y="2834640"/>
            <a:ext cx="256033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199" y="20116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59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5B5C9B"/>
                </a:solidFill>
                <a:latin typeface="Aptos"/>
              </a:defRPr>
            </a:pPr>
            <a:r>
              <a:t>TEHERMENTESÍTÉS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2880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&gt; 92 kW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26880" y="2834640"/>
            <a:ext cx="25603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19" y="20116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288B66"/>
                </a:solidFill>
                <a:latin typeface="Aptos"/>
              </a:defRPr>
            </a:pPr>
            <a:r>
              <a:t>VISSZAENGEDÉS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880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&lt; 78 kW + 60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4572000"/>
            <a:ext cx="9601200" cy="54864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4736592"/>
            <a:ext cx="9235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Hiszterézis + időzítés → nincs gyors oda-vissza kapcsolgatás.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kW és kWh együtt értelmezendő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csúcs és az energia két külön kérdés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E433F"/>
                </a:solidFill>
                <a:latin typeface="Aptos"/>
              </a:defRPr>
            </a:pPr>
            <a:r>
              <a:t>TELJESÍTMÉNY •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E433F"/>
                </a:solidFill>
                <a:latin typeface="Aptos"/>
              </a:defRPr>
            </a:pPr>
            <a:r>
              <a:t>Mekkora a csúcs?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4526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7787"/>
                </a:solidFill>
                <a:latin typeface="Aptos"/>
              </a:defRPr>
            </a:pPr>
            <a:r>
              <a:t>hálózat • transzformátor</a:t>
            </a:r>
            <a:br/>
            <a:r>
              <a:t>• kábel • teljesítménykorlát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0020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74519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8B66"/>
                </a:solidFill>
                <a:latin typeface="Aptos"/>
              </a:defRPr>
            </a:pPr>
            <a:r>
              <a:t>ENERGIA • 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06040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8B66"/>
                </a:solidFill>
                <a:latin typeface="Aptos"/>
              </a:defRPr>
            </a:pPr>
            <a:r>
              <a:t>Mennyit fogyasztunk?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429000"/>
            <a:ext cx="4526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67787"/>
                </a:solidFill>
                <a:latin typeface="Aptos"/>
              </a:defRPr>
            </a:pPr>
            <a:r>
              <a:t>üzemidő • hatékonyság</a:t>
            </a:r>
            <a:br/>
            <a:r>
              <a:t>• költség • fajlagos fogyasztás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Mérésből pontosabb becslés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meglévő üzem valódi egyidejűsége adatokból látható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29B7E8"/>
                </a:solidFill>
                <a:latin typeface="Aptos"/>
              </a:defRPr>
            </a:pPr>
            <a:r>
              <a:t>ENERGIAMÉRŐ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125388"/>
                </a:solidFill>
                <a:latin typeface="Aptos"/>
              </a:defRPr>
            </a:pPr>
            <a:r>
              <a:t>15 PERCES</a:t>
            </a:r>
            <a:br/>
            <a:r>
              <a:t>ADAT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5B5C9B"/>
                </a:solidFill>
                <a:latin typeface="Aptos"/>
              </a:defRPr>
            </a:pPr>
            <a:r>
              <a:t>TERHELÉSI</a:t>
            </a:r>
            <a:br/>
            <a:r>
              <a:t>GÖRBE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BE433F"/>
                </a:solidFill>
                <a:latin typeface="Aptos"/>
              </a:defRPr>
            </a:pPr>
            <a:r>
              <a:t>Pmax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5548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E08931"/>
                </a:solidFill>
                <a:latin typeface="Aptos"/>
              </a:defRPr>
            </a:pPr>
            <a:r>
              <a:t>FOGYASZTÓI</a:t>
            </a:r>
            <a:br/>
            <a: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80" b="1">
                <a:solidFill>
                  <a:srgbClr val="06192C"/>
                </a:solidFill>
                <a:latin typeface="Aptos"/>
              </a:defRPr>
            </a:pPr>
            <a:r>
              <a:t>A cél: ne csak a csúcs nagyságát lássuk, hanem azt is, mely berendezések és milyen üzemállapot okozta.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Komplex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Három nagy fogyasztó vezérlése teljesítményhatárral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1089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73152" cy="42519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916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A FOGYASZTÓ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1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40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79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1. prioritás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72968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üzem közben marad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508760"/>
            <a:ext cx="31089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1508760"/>
            <a:ext cx="73152" cy="42519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3087" y="16916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B FOGYASZTÓ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221991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35 kW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697479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2. prioritás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172968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röviden késleltethető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1508760"/>
            <a:ext cx="31089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78040" y="1508760"/>
            <a:ext cx="73152" cy="42519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4927" y="16916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C FOGYASZTÓ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221991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30 kW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97479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3. prioritás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172968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33343"/>
                </a:solidFill>
                <a:latin typeface="Aptos"/>
              </a:defRPr>
            </a:pPr>
            <a:r>
              <a:t>• csak P &lt; 80 kW esetén indul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61320" y="2148840"/>
            <a:ext cx="1051560" cy="192024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8" y="2395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192C"/>
                </a:solidFill>
                <a:latin typeface="Aptos"/>
              </a:defRPr>
            </a:pPr>
            <a:r>
              <a:t>Pbeép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5388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5328" y="34747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192C"/>
                </a:solidFill>
                <a:latin typeface="Aptos"/>
              </a:defRPr>
            </a:pPr>
            <a:r>
              <a:t>kW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25.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beépített teljesítmény a névleges teljesítmények összege.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tényleges egyidejű igény rendszerint kisebb, és technológiafüggő.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Egyszerű becslés: Pigény = ke · Pbeépített.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csúcsterhelés időzítéssel, prioritással és terhelésmenedzsmenttel mérsékelhető.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méretezésnél és üzemvitelben a kW és kWh adatot együtt kell vizsgálni.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26. hét → Hatásos, meddő és látszólagos energia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