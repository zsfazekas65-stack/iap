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40080"/>
            <a:ext cx="2011680" cy="384048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4066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20. HÉT • 2 TANÓRA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61872"/>
            <a:ext cx="6583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Kapcsolókészülékek hajtásai</a:t>
            </a:r>
            <a:br/>
            <a:r>
              <a:t>és működtetőkörei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97180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0">
                <a:solidFill>
                  <a:srgbClr val="CADFEE"/>
                </a:solidFill>
                <a:latin typeface="Aptos"/>
              </a:defRPr>
            </a:pPr>
            <a:r>
              <a:t>rugóerőtárolás • motor • zárótekercs</a:t>
            </a:r>
            <a:br/>
            <a:r>
              <a:t>• kioldótekercs • reteszelés</a:t>
            </a:r>
          </a:p>
        </p:txBody>
      </p:sp>
      <p:sp>
        <p:nvSpPr>
          <p:cNvPr id="7" name="Oval 6"/>
          <p:cNvSpPr/>
          <p:nvPr/>
        </p:nvSpPr>
        <p:spPr>
          <a:xfrm>
            <a:off x="7178040" y="1920240"/>
            <a:ext cx="658368" cy="658368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04888" y="2743200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CADFEE"/>
                </a:solidFill>
                <a:latin typeface="Aptos"/>
              </a:defRPr>
            </a:pPr>
            <a:r>
              <a:t>DC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36408" y="2249424"/>
            <a:ext cx="164592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028431" y="1920240"/>
            <a:ext cx="658368" cy="658368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2743200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CADFEE"/>
                </a:solidFill>
                <a:latin typeface="Aptos"/>
              </a:defRPr>
            </a:pPr>
            <a:r>
              <a:t>PARANCS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800" y="2249424"/>
            <a:ext cx="164592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878824" y="1920240"/>
            <a:ext cx="658368" cy="658368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05672" y="2743200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CADFEE"/>
                </a:solidFill>
                <a:latin typeface="Aptos"/>
              </a:defRPr>
            </a:pPr>
            <a:r>
              <a:t>TEKERCS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37192" y="2249424"/>
            <a:ext cx="164592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729216" y="1920240"/>
            <a:ext cx="658368" cy="658368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56064" y="2743200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CADFEE"/>
                </a:solidFill>
                <a:latin typeface="Aptos"/>
              </a:defRPr>
            </a:pPr>
            <a:r>
              <a:t>HAJTÁS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387584" y="2249424"/>
            <a:ext cx="164592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0579608" y="1920240"/>
            <a:ext cx="658368" cy="658368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06456" y="2743200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CADFEE"/>
                </a:solidFill>
                <a:latin typeface="Aptos"/>
              </a:defRPr>
            </a:pPr>
            <a:r>
              <a:t>KAPCSOLÁS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601675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9B7E8"/>
                </a:solidFill>
                <a:latin typeface="Aptos"/>
              </a:defRPr>
            </a:pPr>
            <a:r>
              <a:t>Villamos kapcsolókészülékek • 6/8.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Óraterv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mechanikai hajtástól a villamos vezérlőláncig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73152" cy="448056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1. tanóra • Hajtások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kézi és motoros hajtás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97479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rugóerőtárolás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72968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pneumatikus hajtás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48456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rugófeltöltő motor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23944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végállások és helyzetjelzés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50876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2. tanóra • Működtetőkörök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zárókör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697479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kioldókör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172968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DC segédüzem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648456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segédérintkezők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4123944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reteszelések és anti-pumping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Hajtástípusok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feladat ugyanaz: megfelelő mechanikai mozgás létrehozása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25603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73152" cy="448056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45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KÉZI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76272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egyszerű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51760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ritka működtetés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63040"/>
            <a:ext cx="25603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63040"/>
            <a:ext cx="73152" cy="4480560"/>
          </a:xfrm>
          <a:prstGeom prst="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1645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MOTOROS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176272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távvezérelhető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651760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szakaszoló / rugófeltöltés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463040"/>
            <a:ext cx="25603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463040"/>
            <a:ext cx="73152" cy="448056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1645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RUGÓERŐTÁROLÓS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176272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gyors kapcsolás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651760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előre tárolt energia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1463040"/>
            <a:ext cx="25603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146304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53728" y="1645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PNEUMATIKUS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176272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sűrített levegő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651760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segédrendszer szükséges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Rugóerőtárolós hajtás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motor lassan tölt - a rugó gyorsan kapcsol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96596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2240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25388"/>
                </a:solidFill>
                <a:latin typeface="Aptos"/>
              </a:defRPr>
            </a:pPr>
            <a:r>
              <a:t>MOTOR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743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30" b="0">
                <a:solidFill>
                  <a:srgbClr val="667787"/>
                </a:solidFill>
                <a:latin typeface="Aptos"/>
              </a:defRPr>
            </a:pPr>
            <a:r>
              <a:t>villamos energia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48840" y="2670048"/>
            <a:ext cx="38404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651760" y="196596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2240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9B7E8"/>
                </a:solidFill>
                <a:latin typeface="Aptos"/>
              </a:defRPr>
            </a:pPr>
            <a:r>
              <a:t>ÁTTÉTEL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743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30" b="0">
                <a:solidFill>
                  <a:srgbClr val="667787"/>
                </a:solidFill>
                <a:latin typeface="Aptos"/>
              </a:defRPr>
            </a:pPr>
            <a:r>
              <a:t>mechanikai átvitel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80560" y="2670048"/>
            <a:ext cx="38404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983479" y="196596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19" y="2240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08931"/>
                </a:solidFill>
                <a:latin typeface="Aptos"/>
              </a:defRPr>
            </a:pPr>
            <a:r>
              <a:t>RUGÓ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19" y="2743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30" b="0">
                <a:solidFill>
                  <a:srgbClr val="667787"/>
                </a:solidFill>
                <a:latin typeface="Aptos"/>
              </a:defRPr>
            </a:pPr>
            <a:r>
              <a:t>energia tárolása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12279" y="2670048"/>
            <a:ext cx="38404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15199" y="196596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2240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B5C9B"/>
                </a:solidFill>
                <a:latin typeface="Aptos"/>
              </a:defRPr>
            </a:pPr>
            <a:r>
              <a:t>RETESZ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743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30" b="0">
                <a:solidFill>
                  <a:srgbClr val="667787"/>
                </a:solidFill>
                <a:latin typeface="Aptos"/>
              </a:defRPr>
            </a:pPr>
            <a:r>
              <a:t>energia felszabadítása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0" y="2670048"/>
            <a:ext cx="384047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46919" y="196596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8359" y="2240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88B66"/>
                </a:solidFill>
                <a:latin typeface="Aptos"/>
              </a:defRPr>
            </a:pPr>
            <a:r>
              <a:t>ÉRINTKEZŐ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59" y="2743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30" b="0">
                <a:solidFill>
                  <a:srgbClr val="667787"/>
                </a:solidFill>
                <a:latin typeface="Aptos"/>
              </a:defRPr>
            </a:pPr>
            <a:r>
              <a:t>gyors mozgás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572000"/>
            <a:ext cx="10241280" cy="658368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77316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192C"/>
                </a:solidFill>
                <a:latin typeface="Aptos"/>
              </a:defRPr>
            </a:pPr>
            <a:r>
              <a:t>A kapcsolási sebesség így nem a motor pillanatnyi fordulatszámától és nem a kezelő mozdulatától függ.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Zárókör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zárótekercs csak teljesült feltételek mellett kaphat parancsot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331720"/>
            <a:ext cx="15727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2633472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9B7E8"/>
                </a:solidFill>
                <a:latin typeface="Aptos"/>
              </a:defRPr>
            </a:pPr>
            <a:r>
              <a:t>DC +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92807" y="2898648"/>
            <a:ext cx="283465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258568" y="2331720"/>
            <a:ext cx="15727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2633472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25388"/>
                </a:solidFill>
                <a:latin typeface="Aptos"/>
              </a:defRPr>
            </a:pPr>
            <a:r>
              <a:t>VÉDELEM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31336" y="2898648"/>
            <a:ext cx="283464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197096" y="2331720"/>
            <a:ext cx="15727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2633472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88B66"/>
                </a:solidFill>
                <a:latin typeface="Aptos"/>
              </a:defRPr>
            </a:pPr>
            <a:r>
              <a:t>ZÁR</a:t>
            </a:r>
            <a:br/>
            <a:r>
              <a:t>PARANCS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69864" y="2898648"/>
            <a:ext cx="283463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35624" y="2331720"/>
            <a:ext cx="15727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8776" y="2633472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5B5C9B"/>
                </a:solidFill>
                <a:latin typeface="Aptos"/>
              </a:defRPr>
            </a:pPr>
            <a:r>
              <a:t>RETESZELÉS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08392" y="2898648"/>
            <a:ext cx="283464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74152" y="2331720"/>
            <a:ext cx="15727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47304" y="2633472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E08931"/>
                </a:solidFill>
                <a:latin typeface="Aptos"/>
              </a:defRPr>
            </a:pPr>
            <a:r>
              <a:t>52b /</a:t>
            </a:r>
            <a:br/>
            <a:r>
              <a:t>FELTÉTEL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46920" y="2898648"/>
            <a:ext cx="283464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012680" y="2331720"/>
            <a:ext cx="15727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85832" y="2633472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BE433F"/>
                </a:solidFill>
                <a:latin typeface="Aptos"/>
              </a:defRPr>
            </a:pPr>
            <a:r>
              <a:t>ZÁRÓ-</a:t>
            </a:r>
            <a:br/>
            <a:r>
              <a:t>TEKERCS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9768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06192C"/>
                </a:solidFill>
                <a:latin typeface="Aptos"/>
              </a:defRPr>
            </a:pPr>
            <a:r>
              <a:t>Tipikus feltételek: DC rendben • rugó feltöltve • készülék megfelelő helyzetben • földelőkapcsoló nincs tiltó állapotban.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Kioldókör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védelmi rendszer végrehajtó útja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331720"/>
            <a:ext cx="15727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2633472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9B7E8"/>
                </a:solidFill>
                <a:latin typeface="Aptos"/>
              </a:defRPr>
            </a:pPr>
            <a:r>
              <a:t>DC +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92807" y="2898648"/>
            <a:ext cx="283465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258568" y="2331720"/>
            <a:ext cx="15727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2633472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25388"/>
                </a:solidFill>
                <a:latin typeface="Aptos"/>
              </a:defRPr>
            </a:pPr>
            <a:r>
              <a:t>VÉDELEM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31336" y="2898648"/>
            <a:ext cx="283464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197096" y="2331720"/>
            <a:ext cx="15727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2633472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BE433F"/>
                </a:solidFill>
                <a:latin typeface="Aptos"/>
              </a:defRPr>
            </a:pPr>
            <a:r>
              <a:t>RELÉ /</a:t>
            </a:r>
            <a:br/>
            <a:r>
              <a:t>KI PARANCS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69864" y="2898648"/>
            <a:ext cx="283463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35624" y="2331720"/>
            <a:ext cx="15727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8776" y="2633472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E08931"/>
                </a:solidFill>
                <a:latin typeface="Aptos"/>
              </a:defRPr>
            </a:pPr>
            <a:r>
              <a:t>52a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08392" y="2898648"/>
            <a:ext cx="283464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74152" y="2331720"/>
            <a:ext cx="15727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47304" y="2633472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5B5C9B"/>
                </a:solidFill>
                <a:latin typeface="Aptos"/>
              </a:defRPr>
            </a:pPr>
            <a:r>
              <a:t>KIOLDÓ-</a:t>
            </a:r>
            <a:br/>
            <a:r>
              <a:t>TEKERCS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46920" y="2898648"/>
            <a:ext cx="283464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012680" y="2331720"/>
            <a:ext cx="15727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85832" y="2633472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88B66"/>
                </a:solidFill>
                <a:latin typeface="Aptos"/>
              </a:defRPr>
            </a:pPr>
            <a:r>
              <a:t>NYITÁS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343400"/>
            <a:ext cx="10241280" cy="658368"/>
          </a:xfrm>
          <a:prstGeom prst="roundRect">
            <a:avLst/>
          </a:prstGeom>
          <a:solidFill>
            <a:srgbClr val="FFEFEE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53542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BE433F"/>
                </a:solidFill>
                <a:latin typeface="Aptos"/>
              </a:defRPr>
            </a:pPr>
            <a:r>
              <a:t>A kioldókörnek hálózati zavar esetén is működőképesnek kell maradnia.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Miért DC segédüzem?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primer hálózattól független működési tartalék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Akkumulátor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energia hálózati zavarban 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szünetmentes tartalék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ellenőrizhető kapacitás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463040"/>
            <a:ext cx="73152" cy="4480560"/>
          </a:xfrm>
          <a:prstGeom prst="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Védelmi lánc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relék és IED-k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kioldótekercsek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jelző- és vezérlőkörök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1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1463040"/>
            <a:ext cx="73152" cy="448056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Üzembiztonság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primer hibától független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felügyelhető DC rendszer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hiba esetén riasztás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Segédérintkezők: 52a és 52b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főérintkező állapotát a vezérlőkör is „látja”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5166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6304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4592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52a - tipikus funkció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76272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a megszakító zárt állapotát követi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51760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helyzetjelzés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27248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kioldókörben használható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02736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SCADA-visszajelzés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1463040"/>
            <a:ext cx="5166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36792" y="1463040"/>
            <a:ext cx="73152" cy="448056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79" y="164592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52b - tipikus funkció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2176272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a nyitott állapothoz kapcsolódó jel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651760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zárókörben használható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3127248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reteszelési logika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3602736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állapot-visszajelzés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Reteszelési logika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parancs csak akkor jut tovább, ha minden feltétel teljesül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08760"/>
            <a:ext cx="31089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1636776"/>
            <a:ext cx="320040" cy="320040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1673351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6192C"/>
                </a:solidFill>
                <a:latin typeface="Aptos"/>
              </a:defRPr>
            </a:pPr>
            <a:r>
              <a:t>DC rendben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31920" y="1810512"/>
            <a:ext cx="822960" cy="1115568"/>
          </a:xfrm>
          <a:prstGeom prst="line">
            <a:avLst/>
          </a:prstGeom>
          <a:ln w="1905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" y="2423160"/>
            <a:ext cx="31089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4128" y="2551176"/>
            <a:ext cx="320040" cy="320040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2587752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6192C"/>
                </a:solidFill>
                <a:latin typeface="Aptos"/>
              </a:defRPr>
            </a:pPr>
            <a:r>
              <a:t>rugó feltöltve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31920" y="2724912"/>
            <a:ext cx="822960" cy="201168"/>
          </a:xfrm>
          <a:prstGeom prst="line">
            <a:avLst/>
          </a:prstGeom>
          <a:ln w="1905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2960" y="3337560"/>
            <a:ext cx="31089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4128" y="3465576"/>
            <a:ext cx="320040" cy="320040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3502152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6192C"/>
                </a:solidFill>
                <a:latin typeface="Aptos"/>
              </a:defRPr>
            </a:pPr>
            <a:r>
              <a:t>földelő KI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931920" y="2926080"/>
            <a:ext cx="822960" cy="713232"/>
          </a:xfrm>
          <a:prstGeom prst="line">
            <a:avLst/>
          </a:prstGeom>
          <a:ln w="1905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2960" y="4251960"/>
            <a:ext cx="31089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4128" y="4379976"/>
            <a:ext cx="320040" cy="320040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4416552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6192C"/>
                </a:solidFill>
                <a:latin typeface="Aptos"/>
              </a:defRPr>
            </a:pPr>
            <a:r>
              <a:t>készülékhelyzet jó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931920" y="2926080"/>
            <a:ext cx="822960" cy="1627632"/>
          </a:xfrm>
          <a:prstGeom prst="line">
            <a:avLst/>
          </a:prstGeom>
          <a:ln w="1905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800600" y="2286000"/>
            <a:ext cx="2331720" cy="1280160"/>
          </a:xfrm>
          <a:prstGeom prst="roundRect">
            <a:avLst/>
          </a:prstGeom>
          <a:solidFill>
            <a:srgbClr val="E7F1F8"/>
          </a:solidFill>
          <a:ln>
            <a:solidFill>
              <a:srgbClr val="125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80" y="26060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25388"/>
                </a:solidFill>
                <a:latin typeface="Aptos"/>
              </a:defRPr>
            </a:pPr>
            <a:r>
              <a:t>ÉS</a:t>
            </a:r>
            <a:br/>
            <a:r>
              <a:t>LOGIKA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32320" y="2926080"/>
            <a:ext cx="77724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955279" y="2286000"/>
            <a:ext cx="3017520" cy="1280160"/>
          </a:xfrm>
          <a:prstGeom prst="roundRect">
            <a:avLst/>
          </a:prstGeom>
          <a:solidFill>
            <a:srgbClr val="EBF8F1"/>
          </a:solidFill>
          <a:ln>
            <a:solidFill>
              <a:srgbClr val="28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79" y="263347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88B66"/>
                </a:solidFill>
                <a:latin typeface="Aptos"/>
              </a:defRPr>
            </a:pPr>
            <a:r>
              <a:t>ZÁRÁS ENGEDÉLY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Anti-pumping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Egy tartós ZÁR parancs ne okozzon ismételt zárás-kioldást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E433F"/>
                </a:solidFill>
                <a:latin typeface="Aptos"/>
              </a:defRPr>
            </a:pPr>
            <a:r>
              <a:t>ANTI-PUMPING NÉLKÜL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240280"/>
            <a:ext cx="914400" cy="914400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420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ZÁR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08760" y="2697480"/>
            <a:ext cx="320040" cy="0"/>
          </a:xfrm>
          <a:prstGeom prst="line">
            <a:avLst/>
          </a:prstGeom>
          <a:ln w="1905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920240" y="2240280"/>
            <a:ext cx="914400" cy="914400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25420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KIOLD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34640" y="2697480"/>
            <a:ext cx="320040" cy="0"/>
          </a:xfrm>
          <a:prstGeom prst="line">
            <a:avLst/>
          </a:prstGeom>
          <a:ln w="1905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246120" y="2240280"/>
            <a:ext cx="914400" cy="914400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25420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ÚJRA ZÁR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60520" y="2697480"/>
            <a:ext cx="320040" cy="0"/>
          </a:xfrm>
          <a:prstGeom prst="line">
            <a:avLst/>
          </a:prstGeom>
          <a:ln w="1905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72000" y="2240280"/>
            <a:ext cx="914400" cy="914400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5420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KIOLD...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508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88B66"/>
                </a:solidFill>
                <a:latin typeface="Aptos"/>
              </a:defRPr>
            </a:pPr>
            <a:r>
              <a:t>ANTI-PUMPING FUNKCIÓVAL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2103120"/>
            <a:ext cx="4023360" cy="1417320"/>
          </a:xfrm>
          <a:prstGeom prst="roundRect">
            <a:avLst/>
          </a:prstGeom>
          <a:solidFill>
            <a:srgbClr val="EBF8F1"/>
          </a:solidFill>
          <a:ln>
            <a:solidFill>
              <a:srgbClr val="28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2404872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88B66"/>
                </a:solidFill>
                <a:latin typeface="Aptos"/>
              </a:defRPr>
            </a:pPr>
            <a:r>
              <a:t>KIOLDÁS UTÁN</a:t>
            </a:r>
            <a:br/>
            <a:r>
              <a:t>új záráshoz új parancs kell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343400"/>
            <a:ext cx="10241280" cy="64008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53542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192C"/>
                </a:solidFill>
                <a:latin typeface="Aptos"/>
              </a:defRPr>
            </a:pPr>
            <a:r>
              <a:t>Cél: a megszakító és a hálózat védelme a nem kívánt ismételt kapcsolási ciklusoktól.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Kioldókör-felügyelet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rejtett hibát még a zárlat előtt észre kell venni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40280"/>
            <a:ext cx="1783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786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125388"/>
                </a:solidFill>
                <a:latin typeface="Aptos"/>
              </a:defRPr>
            </a:pPr>
            <a:r>
              <a:t>KIOLDÓKÖR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77440" y="2852928"/>
            <a:ext cx="33832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40" y="2240280"/>
            <a:ext cx="1783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5786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29B7E8"/>
                </a:solidFill>
                <a:latin typeface="Aptos"/>
              </a:defRPr>
            </a:pPr>
            <a:r>
              <a:t>FOLYTONOSSÁG /</a:t>
            </a:r>
            <a:br/>
            <a:r>
              <a:t>DC FELÜGYELET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17720" y="2852928"/>
            <a:ext cx="33832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74920" y="2240280"/>
            <a:ext cx="1783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25786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5B5C9B"/>
                </a:solidFill>
                <a:latin typeface="Aptos"/>
              </a:defRPr>
            </a:pPr>
            <a:r>
              <a:t>IED / RELÉ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2852928"/>
            <a:ext cx="33832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0" y="2240280"/>
            <a:ext cx="1783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25786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BE433F"/>
                </a:solidFill>
                <a:latin typeface="Aptos"/>
              </a:defRPr>
            </a:pPr>
            <a:r>
              <a:t>HIBAJELZÉS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98280" y="2852928"/>
            <a:ext cx="33832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555480" y="2240280"/>
            <a:ext cx="1783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20" y="25786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288B66"/>
                </a:solidFill>
                <a:latin typeface="Aptos"/>
              </a:defRPr>
            </a:pPr>
            <a:r>
              <a:t>SCADA /</a:t>
            </a:r>
            <a:br/>
            <a:r>
              <a:t>KEZELŐ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BE433F"/>
                </a:solidFill>
                <a:latin typeface="Aptos"/>
              </a:defRPr>
            </a:pPr>
            <a:r>
              <a:t>A hibás kioldókör normál üzemben láthatatlan lehet - zárlatkor viszont a megszakító nem nyitna.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Hibakeresés: az energiaforrástól a mechanikáig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Ne találgassunk - kövessük a működtetési láncot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508760"/>
            <a:ext cx="502920" cy="502920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64207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481328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169163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06192C"/>
                </a:solidFill>
                <a:latin typeface="Aptos"/>
              </a:defRPr>
            </a:pPr>
            <a:r>
              <a:t>DC táp</a:t>
            </a:r>
          </a:p>
        </p:txBody>
      </p:sp>
      <p:sp>
        <p:nvSpPr>
          <p:cNvPr id="12" name="Oval 11"/>
          <p:cNvSpPr/>
          <p:nvPr/>
        </p:nvSpPr>
        <p:spPr>
          <a:xfrm>
            <a:off x="3337560" y="1508760"/>
            <a:ext cx="502920" cy="502920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664207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1481328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169163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06192C"/>
                </a:solidFill>
                <a:latin typeface="Aptos"/>
              </a:defRPr>
            </a:pPr>
            <a:r>
              <a:t>Biztosító</a:t>
            </a:r>
          </a:p>
        </p:txBody>
      </p:sp>
      <p:sp>
        <p:nvSpPr>
          <p:cNvPr id="16" name="Oval 15"/>
          <p:cNvSpPr/>
          <p:nvPr/>
        </p:nvSpPr>
        <p:spPr>
          <a:xfrm>
            <a:off x="6172200" y="1508760"/>
            <a:ext cx="502920" cy="502920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664207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481328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169163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06192C"/>
                </a:solidFill>
                <a:latin typeface="Aptos"/>
              </a:defRPr>
            </a:pPr>
            <a:r>
              <a:t>Parancs</a:t>
            </a:r>
          </a:p>
        </p:txBody>
      </p:sp>
      <p:sp>
        <p:nvSpPr>
          <p:cNvPr id="20" name="Oval 19"/>
          <p:cNvSpPr/>
          <p:nvPr/>
        </p:nvSpPr>
        <p:spPr>
          <a:xfrm>
            <a:off x="9006840" y="1508760"/>
            <a:ext cx="502920" cy="502920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1664207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1481328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169163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06192C"/>
                </a:solidFill>
                <a:latin typeface="Aptos"/>
              </a:defRPr>
            </a:pPr>
            <a:r>
              <a:t>Reteszelés</a:t>
            </a:r>
          </a:p>
        </p:txBody>
      </p:sp>
      <p:sp>
        <p:nvSpPr>
          <p:cNvPr id="24" name="Oval 23"/>
          <p:cNvSpPr/>
          <p:nvPr/>
        </p:nvSpPr>
        <p:spPr>
          <a:xfrm>
            <a:off x="502920" y="3566160"/>
            <a:ext cx="502920" cy="502920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72160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8720" y="3538728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374903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06192C"/>
                </a:solidFill>
                <a:latin typeface="Aptos"/>
              </a:defRPr>
            </a:pPr>
            <a:r>
              <a:t>Segédérintkező</a:t>
            </a:r>
          </a:p>
        </p:txBody>
      </p:sp>
      <p:sp>
        <p:nvSpPr>
          <p:cNvPr id="28" name="Oval 27"/>
          <p:cNvSpPr/>
          <p:nvPr/>
        </p:nvSpPr>
        <p:spPr>
          <a:xfrm>
            <a:off x="3337560" y="3566160"/>
            <a:ext cx="502920" cy="502920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372160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23360" y="3538728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0" y="374903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06192C"/>
                </a:solidFill>
                <a:latin typeface="Aptos"/>
              </a:defRPr>
            </a:pPr>
            <a:r>
              <a:t>Tekercs</a:t>
            </a:r>
          </a:p>
        </p:txBody>
      </p:sp>
      <p:sp>
        <p:nvSpPr>
          <p:cNvPr id="32" name="Oval 31"/>
          <p:cNvSpPr/>
          <p:nvPr/>
        </p:nvSpPr>
        <p:spPr>
          <a:xfrm>
            <a:off x="6172200" y="3566160"/>
            <a:ext cx="502920" cy="502920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372160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3538728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374903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06192C"/>
                </a:solidFill>
                <a:latin typeface="Aptos"/>
              </a:defRPr>
            </a:pPr>
            <a:r>
              <a:t>Mechanika</a:t>
            </a:r>
          </a:p>
        </p:txBody>
      </p:sp>
      <p:sp>
        <p:nvSpPr>
          <p:cNvPr id="36" name="Oval 35"/>
          <p:cNvSpPr/>
          <p:nvPr/>
        </p:nvSpPr>
        <p:spPr>
          <a:xfrm>
            <a:off x="9006840" y="3566160"/>
            <a:ext cx="502920" cy="502920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40" y="372160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92640" y="3538728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0" y="374903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06192C"/>
                </a:solidFill>
                <a:latin typeface="Aptos"/>
              </a:defRPr>
            </a:pPr>
            <a:r>
              <a:t>Visszajelzés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20. hét öt kulcsgondolata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371600"/>
            <a:ext cx="530352" cy="530352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444752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40" b="1">
                <a:solidFill>
                  <a:srgbClr val="06192C"/>
                </a:solidFill>
                <a:latin typeface="Aptos"/>
              </a:defRPr>
            </a:pPr>
            <a:r>
              <a:t>A hajtás a villamos parancsot meghatározott mechanikai mozgássá alakítja.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9424"/>
            <a:ext cx="530352" cy="530352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14016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322576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40" b="1">
                <a:solidFill>
                  <a:srgbClr val="06192C"/>
                </a:solidFill>
                <a:latin typeface="Aptos"/>
              </a:defRPr>
            </a:pPr>
            <a:r>
              <a:t>A rugóerőtárolás gyors és reprodukálható kapcsolást tesz lehetővé.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127248"/>
            <a:ext cx="530352" cy="530352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200400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40" b="1">
                <a:solidFill>
                  <a:srgbClr val="06192C"/>
                </a:solidFill>
                <a:latin typeface="Aptos"/>
              </a:defRPr>
            </a:pPr>
            <a:r>
              <a:t>A záró- és kioldókör feltételekhez, segédérintkezőkhöz és reteszelésekhez kapcsolódik.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005072"/>
            <a:ext cx="530352" cy="530352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9663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078224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40" b="1">
                <a:solidFill>
                  <a:srgbClr val="06192C"/>
                </a:solidFill>
                <a:latin typeface="Aptos"/>
              </a:defRPr>
            </a:pPr>
            <a:r>
              <a:t>A DC segédüzem hálózati zavar esetén is fenntarthatja a védelmi működést.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882896"/>
            <a:ext cx="530352" cy="530352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47488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956048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40" b="1">
                <a:solidFill>
                  <a:srgbClr val="06192C"/>
                </a:solidFill>
                <a:latin typeface="Aptos"/>
              </a:defRPr>
            </a:pPr>
            <a:r>
              <a:t>Az anti-pumping és a kioldókör-felügyelet fontos üzembiztonsági funkció.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806440"/>
            <a:ext cx="10515600" cy="438912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934456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5388"/>
                </a:solidFill>
                <a:latin typeface="Aptos"/>
              </a:defRPr>
            </a:pPr>
            <a:r>
              <a:t>21. hét → Kapcsolókészülékek reteszelése és üzembiztonsága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