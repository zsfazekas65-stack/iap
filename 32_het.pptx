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32.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217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E69130"/>
                </a:solidFill>
                <a:latin typeface="Aptos"/>
              </a:defRPr>
            </a:pPr>
            <a:r>
              <a:t>OPC UA ÉS MQTT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6126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Modern ipari kommunikáció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PLC • SCADA • IIoT • felhő • szabványos adatcsere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54480"/>
            <a:ext cx="338328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6ACC4"/>
                </a:solidFill>
                <a:latin typeface="Aptos"/>
              </a:defRPr>
            </a:pPr>
            <a:r>
              <a:t>OPC 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46120"/>
            <a:ext cx="338328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61188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D9169"/>
                </a:solidFill>
                <a:latin typeface="Aptos"/>
              </a:defRPr>
            </a:pPr>
            <a:r>
              <a:t>MQTT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Modern ipari kommunikáció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Különböző gyártók eszközei között is biztonságos, szabványos adatcserére van szükség.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73736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514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6ACC4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3736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514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19" y="173736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799" y="2514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73736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2514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FELHŐ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92040"/>
            <a:ext cx="9144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GYÁRTÓFÜGGETLEN • BIZTONSÁGOS • SZABVÁNYOS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OPC 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Platformfüggetlen, strukturált és biztonságos ipari adatcsere.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423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PLATFORM-</a:t>
            </a:r>
            <a:br/>
            <a:r>
              <a:t>FÜGGETLEN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965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különböző rendszerek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23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STRUKTURÁLT</a:t>
            </a:r>
            <a:br/>
            <a:r>
              <a:t>ADAT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29000"/>
            <a:ext cx="1965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értelmezhető információ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423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BIZTONSÁGOS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1965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védett adatátvitel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45920"/>
            <a:ext cx="2423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2057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GYÁRTÓ-</a:t>
            </a:r>
            <a:br/>
            <a:r>
              <a:t>FÜGGETLEN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429000"/>
            <a:ext cx="1965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együttműködés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OPC UA: kliens-szerver 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szerver adatot szolgáltat, a kliens lekérdezi vagy feliratkozik rá.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840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369A0"/>
                </a:solidFill>
                <a:latin typeface="Aptos"/>
              </a:defRPr>
            </a:pPr>
            <a:r>
              <a:t>OPC UA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2926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PLC / adatforrás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331720"/>
            <a:ext cx="2560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02336"/>
                </a:solidFill>
                <a:latin typeface="Aptos"/>
              </a:defRPr>
            </a:pPr>
            <a:r>
              <a:t>ADAT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54680"/>
            <a:ext cx="3291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87580"/>
                </a:solidFill>
                <a:latin typeface="Aptos"/>
              </a:defRPr>
            </a:pPr>
            <a:r>
              <a:t>←  LEKÉRDEZÉS / SUBSCRIPTION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828800"/>
            <a:ext cx="3840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24028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D9169"/>
                </a:solidFill>
                <a:latin typeface="Aptos"/>
              </a:defRPr>
            </a:pPr>
            <a:r>
              <a:t>OPC UA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063240"/>
            <a:ext cx="2926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SCADA / HMI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MQTT: Publish-Subscribe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Könnyű üzenetküldés IIoT és felhőkapcsolatokhoz.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5603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69A0"/>
                </a:solidFill>
                <a:latin typeface="Aptos"/>
              </a:defRPr>
            </a:pPr>
            <a:r>
              <a:t>PUBLISHER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5323D"/>
                </a:solidFill>
                <a:latin typeface="Aptos"/>
              </a:defRPr>
            </a:pPr>
            <a:r>
              <a:t>termelési adat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6060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508760"/>
            <a:ext cx="3657600" cy="2743200"/>
          </a:xfrm>
          <a:prstGeom prst="roundRect">
            <a:avLst/>
          </a:prstGeom>
          <a:solidFill>
            <a:srgbClr val="102336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2834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MQTT BROKER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926080"/>
            <a:ext cx="27432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üzenetek fogadása</a:t>
            </a:r>
            <a:br/>
            <a:r>
              <a:t>és továbbítása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6060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200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33172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3D9169"/>
                </a:solidFill>
                <a:latin typeface="Aptos"/>
              </a:defRPr>
            </a:pPr>
            <a:r>
              <a:t>SUBSCRIBER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0632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5323D"/>
                </a:solidFill>
                <a:latin typeface="Aptos"/>
              </a:defRPr>
            </a:pPr>
            <a:r>
              <a:t>felhő /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OPC UA vagy MQTT?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Más feladatra erősek - együtt különösen jól használhatók.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9834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51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2369A0"/>
                </a:solidFill>
                <a:latin typeface="Aptos"/>
              </a:defRPr>
            </a:pPr>
            <a:r>
              <a:t>OPC 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06908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25323D"/>
                </a:solidFill>
                <a:latin typeface="Aptos"/>
              </a:defRPr>
            </a:pPr>
            <a:r>
              <a:t>PLC - SCADA</a:t>
            </a:r>
            <a:br/>
            <a:r>
              <a:t>strukturált adatok</a:t>
            </a:r>
            <a:br/>
            <a:r>
              <a:t>kliens-szerver</a:t>
            </a:r>
            <a:br/>
            <a:r>
              <a:t>ipari interoperabilitás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49834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251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3D9169"/>
                </a:solidFill>
                <a:latin typeface="Aptos"/>
              </a:defRPr>
            </a:pPr>
            <a:r>
              <a:t>MQTT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51760"/>
            <a:ext cx="406908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25323D"/>
                </a:solidFill>
                <a:latin typeface="Aptos"/>
              </a:defRPr>
            </a:pPr>
            <a:r>
              <a:t>IIoT - felhő</a:t>
            </a:r>
            <a:br/>
            <a:r>
              <a:t>könnyű üzenetküldés</a:t>
            </a:r>
            <a:br/>
            <a:r>
              <a:t>Publish-Subscribe</a:t>
            </a:r>
            <a:br/>
            <a:r>
              <a:t>broker központú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Együtt a gyakorlatban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PLC -&gt; OPC UA -&gt; SCADA -&gt; MQTT -&gt; felhő.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  <a:br/>
            <a:r>
              <a:t>OPC UA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82880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SCADA</a:t>
            </a:r>
            <a:br/>
            <a:r>
              <a:t>OPC UA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82880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MQTT</a:t>
            </a:r>
            <a:br/>
            <a:r>
              <a:t>PUBLISHER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6056" y="182880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2336"/>
                </a:solidFill>
                <a:latin typeface="Aptos"/>
              </a:defRPr>
            </a:pPr>
            <a:r>
              <a:t>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82880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4936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CLOUD</a:t>
            </a:r>
            <a:br/>
            <a:r>
              <a:t>SUBSCRIBER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HELYI IPARI ADATCSERE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FELHŐ IRÁNYÚ ADATTOVÁBBÍTÁS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modern kommunikáció összeköti az automatizálási és informatikai szinteket.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FELHŐ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947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VÁLLALATI</a:t>
            </a:r>
            <a:br/>
            <a:r>
              <a:t>RENDSZER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Jelöld a kliens, szerver, broker, publisher és subscriber elemeket!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73736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242316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60604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73736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42316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60604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73736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42316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PUBLISHER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60604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6056" y="173736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242316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60604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737360"/>
            <a:ext cx="1874519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4936" y="242316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3434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OPC 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434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MQTT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66360"/>
            <a:ext cx="9509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Rajzold be az adatáramlás irányát és nevezd meg minden elem szerepét.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AZ ADATNAK CÉLBA KELL ÉRNIE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OPC UA = strukturált ipari adatcsere • MQTT = könnyű, rugalmas üzenetküldés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„A modern automatizálás alapja nem csupán az adatok gyűjtése, hanem azok biztonságos és célzott eljuttatása oda, ahol valódi értéket teremtenek.”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32.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