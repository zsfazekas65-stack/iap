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B8E6"/>
                </a:solidFill>
                <a:latin typeface="Aptos"/>
              </a:rPr>
              <a:t>IAP • INTEGRÁLT AUTOMATIKA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VILLAMOS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74519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5B8E6"/>
                </a:solidFill>
                <a:latin typeface="Aptos"/>
              </a:rPr>
              <a:t>BIZTONSÁGTECHNIKA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8E8F3"/>
                </a:solidFill>
                <a:latin typeface="Aptos"/>
              </a:rPr>
              <a:t>01. hét  |  A villamos veszélyek felismerése</a:t>
            </a:r>
          </a:p>
        </p:txBody>
      </p:sp>
      <p:sp>
        <p:nvSpPr>
          <p:cNvPr id="6" name="Hexagon 5"/>
          <p:cNvSpPr/>
          <p:nvPr/>
        </p:nvSpPr>
        <p:spPr>
          <a:xfrm>
            <a:off x="9784080" y="1188720"/>
            <a:ext cx="1508760" cy="1737360"/>
          </a:xfrm>
          <a:prstGeom prst="hexagon">
            <a:avLst/>
          </a:prstGeom>
          <a:solidFill>
            <a:srgbClr val="16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4392" y="1600200"/>
            <a:ext cx="1097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1663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B8E6"/>
                </a:solidFill>
                <a:latin typeface="Aptos"/>
              </a:rPr>
              <a:t>TUDÁS  •  BIZTONSÁG  •  GYAKORLAT  •  JÖVŐ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9436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FC4D3"/>
                </a:solidFill>
                <a:latin typeface="Aptos"/>
              </a:rPr>
              <a:t>11. évfolyam • Villamos szerelések • 3 tanóra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8C28"/>
                </a:solidFill>
                <a:latin typeface="Aptos"/>
              </a:rPr>
              <a:t>INDÍTÁS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Egyetlen kérdés az egész hétre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0B2742"/>
                </a:solidFill>
                <a:latin typeface="Aptos"/>
              </a:rPr>
              <a:t>„Attól, hogy egy berendezés működik,
még biztosan biztonságos?”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3886200"/>
            <a:ext cx="8138160" cy="1143000"/>
          </a:xfrm>
          <a:prstGeom prst="roundRect">
            <a:avLst/>
          </a:prstGeom>
          <a:solidFill>
            <a:srgbClr val="FFF7EC"/>
          </a:solidFill>
          <a:ln>
            <a:solidFill>
              <a:srgbClr val="F4D2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416052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28C28"/>
                </a:solidFill>
                <a:latin typeface="Aptos"/>
              </a:rPr>
              <a:t>A villanyszerelő első feladata nem a szerelés.
Először a veszélyt kell felismernie.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8C28"/>
                </a:solidFill>
                <a:latin typeface="Aptos"/>
              </a:rPr>
              <a:t>TÖRTÉNELMI NYITÓ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A villamos biztonság nem mindig volt magától értetődő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" y="3246120"/>
            <a:ext cx="10012680" cy="0"/>
          </a:xfrm>
          <a:prstGeom prst="line">
            <a:avLst/>
          </a:prstGeom>
          <a:ln>
            <a:solidFill>
              <a:srgbClr val="D7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14400" y="2926080"/>
            <a:ext cx="621792" cy="621792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9923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28C28"/>
                </a:solidFill>
                <a:latin typeface="Aptos"/>
              </a:rPr>
              <a:t>1880-as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70332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2742"/>
                </a:solidFill>
                <a:latin typeface="Aptos"/>
              </a:rPr>
              <a:t>Terjed a villamosság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605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9364D"/>
                </a:solidFill>
                <a:latin typeface="Aptos"/>
              </a:rPr>
              <a:t>Új hálózatok, új veszélyek.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0" y="2926080"/>
            <a:ext cx="621792" cy="621792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99923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1488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28C28"/>
                </a:solidFill>
                <a:latin typeface="Aptos"/>
              </a:rPr>
              <a:t>1900 körül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70332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2742"/>
                </a:solidFill>
                <a:latin typeface="Aptos"/>
              </a:rPr>
              <a:t>Megjelennek a szabályok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1605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9364D"/>
                </a:solidFill>
                <a:latin typeface="Aptos"/>
              </a:rPr>
              <a:t>Szigetelés, földelés, védelmek.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926080"/>
            <a:ext cx="621792" cy="621792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99923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1488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28C28"/>
                </a:solidFill>
                <a:latin typeface="Aptos"/>
              </a:rPr>
              <a:t>20. század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370332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2742"/>
                </a:solidFill>
                <a:latin typeface="Aptos"/>
              </a:rPr>
              <a:t>Egységesedő védelem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1605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9364D"/>
                </a:solidFill>
                <a:latin typeface="Aptos"/>
              </a:rPr>
              <a:t>Szabványok és ellenőrzési eljárások.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0" y="2926080"/>
            <a:ext cx="621792" cy="621792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99923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1488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28C28"/>
                </a:solidFill>
                <a:latin typeface="Aptos"/>
              </a:rPr>
              <a:t>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70332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2742"/>
                </a:solidFill>
                <a:latin typeface="Aptos"/>
              </a:rPr>
              <a:t>Biztonsági rendszer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1605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9364D"/>
                </a:solidFill>
                <a:latin typeface="Aptos"/>
              </a:rPr>
              <a:t>Védelem + mérés + dokumentálás.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77C8"/>
                </a:solidFill>
                <a:latin typeface="Aptos"/>
              </a:rPr>
              <a:t>HALADÁSI TÉRKÉP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A hét 3 tanórája – egymásra építve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16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4290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2039112"/>
            <a:ext cx="621792" cy="621792"/>
          </a:xfrm>
          <a:prstGeom prst="ellipse">
            <a:avLst/>
          </a:prstGeom>
          <a:solidFill>
            <a:srgbClr val="16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12264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29968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Veszély felismerése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87168"/>
            <a:ext cx="2194560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Mitől lesz egy helyzet villamos szempontból veszélyes?
Kimenet: veszély → hiba → következmény.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290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90288" y="2039112"/>
            <a:ext cx="621792" cy="621792"/>
          </a:xfrm>
          <a:prstGeom prst="ellipse">
            <a:avLst/>
          </a:prstGeom>
          <a:solidFill>
            <a:srgbClr val="D64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112264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029968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Áramütés megértése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487168"/>
            <a:ext cx="2194560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Hogyan alakul ki áramút az emberi testen keresztül?
Kimenet: közvetlen / közvetett érintés.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28800"/>
            <a:ext cx="34290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93608" y="2039112"/>
            <a:ext cx="621792" cy="621792"/>
          </a:xfrm>
          <a:prstGeom prst="ellipse">
            <a:avLst/>
          </a:prstGeom>
          <a:solidFill>
            <a:srgbClr val="2D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112264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029968"/>
            <a:ext cx="2240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Biztonságos munkakezdés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487168"/>
            <a:ext cx="2194559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Milyen sorrendben gondolkodik a szakember?
Kimenet: felismerés → kizárás → ellenőrzés → munka.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77C8"/>
                </a:solidFill>
                <a:latin typeface="Aptos"/>
              </a:rPr>
              <a:t>1.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Villamos veszélyek felismerése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16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057400"/>
            <a:ext cx="374903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42316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B2742"/>
                </a:solidFill>
                <a:latin typeface="Aptos"/>
              </a:rPr>
              <a:t>VESZÉLYHELYZET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97180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D64045"/>
                </a:solidFill>
                <a:latin typeface="Aptos"/>
              </a:rPr>
              <a:t>A feszültség jelenléte
szemmel nem állapítható meg.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84248"/>
            <a:ext cx="25328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Sérült szigetelés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41448"/>
            <a:ext cx="2487168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Közvetlen érintés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43400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544568"/>
            <a:ext cx="25328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Nedves környezet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001768"/>
            <a:ext cx="2487168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Kedvezőtlen érintési feltétel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783080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1984248"/>
            <a:ext cx="25328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Fémház hiba esetén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2441448"/>
            <a:ext cx="2487168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Veszélyes érintési feszültség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4343400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14232" y="4544568"/>
            <a:ext cx="25328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Túlterhelés / zárlat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4232" y="5001768"/>
            <a:ext cx="2487168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Hőhatás, ív, tűz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64045"/>
                </a:solidFill>
                <a:latin typeface="Aptos"/>
              </a:rPr>
              <a:t>1.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Gondolkodj láncban: VESZÉLY → HIBA → KÖVETKEZMÉNY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D64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060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28C28"/>
                </a:solidFill>
                <a:latin typeface="Aptos"/>
              </a:rPr>
              <a:t>VESZÉLY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B2742"/>
                </a:solidFill>
                <a:latin typeface="Aptos"/>
              </a:rPr>
              <a:t>Sérült hosszabbító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83464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647B8D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33172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6060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64045"/>
                </a:solidFill>
                <a:latin typeface="Aptos"/>
              </a:rPr>
              <a:t>HIBA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1546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B2742"/>
                </a:solidFill>
                <a:latin typeface="Aptos"/>
              </a:rPr>
              <a:t>Szigetelés sérült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83464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647B8D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33172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6060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B2742"/>
                </a:solidFill>
                <a:latin typeface="Aptos"/>
              </a:rPr>
              <a:t>KÖVETKEZMÉNY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1546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B2742"/>
                </a:solidFill>
                <a:latin typeface="Aptos"/>
              </a:rPr>
              <a:t>Áramütés • zárlat • tűz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006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D64045"/>
                </a:solidFill>
                <a:latin typeface="Aptos"/>
              </a:rPr>
              <a:t>Szakmai szabály: „Még működik” ≠ „biztonságosan használható”.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9A67"/>
                </a:solidFill>
                <a:latin typeface="Aptos"/>
              </a:rPr>
              <a:t>1. TANÓRA • GYAKORLAT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Műhelyi veszélyvadászat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2D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7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691640"/>
            <a:ext cx="621792" cy="621792"/>
          </a:xfrm>
          <a:prstGeom prst="ellipse">
            <a:avLst/>
          </a:prstGeom>
          <a:solidFill>
            <a:srgbClr val="2D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764792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742"/>
                </a:solidFill>
                <a:latin typeface="Aptos"/>
              </a:rPr>
              <a:t>Keress 5 veszélyforrást.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743200"/>
            <a:ext cx="621792" cy="621792"/>
          </a:xfrm>
          <a:prstGeom prst="ellipse">
            <a:avLst/>
          </a:prstGeom>
          <a:solidFill>
            <a:srgbClr val="2D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1635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816352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B2742"/>
                </a:solidFill>
                <a:latin typeface="Aptos"/>
              </a:rPr>
              <a:t>Nevezd meg a hibát.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794760"/>
            <a:ext cx="621792" cy="621792"/>
          </a:xfrm>
          <a:prstGeom prst="ellipse">
            <a:avLst/>
          </a:prstGeom>
          <a:solidFill>
            <a:srgbClr val="2D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6791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867912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B2742"/>
                </a:solidFill>
                <a:latin typeface="Aptos"/>
              </a:rPr>
              <a:t>Írd mellé a következményt.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846320"/>
            <a:ext cx="621792" cy="621792"/>
          </a:xfrm>
          <a:prstGeom prst="ellipse">
            <a:avLst/>
          </a:prstGeom>
          <a:solidFill>
            <a:srgbClr val="2D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1947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919472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B2742"/>
                </a:solidFill>
                <a:latin typeface="Aptos"/>
              </a:rPr>
              <a:t>Javasolj megelőző intézkedést.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5349240"/>
            <a:ext cx="2468880" cy="640080"/>
          </a:xfrm>
          <a:prstGeom prst="roundRect">
            <a:avLst/>
          </a:prstGeom>
          <a:solidFill>
            <a:srgbClr val="E9F7F0"/>
          </a:solidFill>
          <a:ln>
            <a:solidFill>
              <a:srgbClr val="B9E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55321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D9A67"/>
                </a:solidFill>
                <a:latin typeface="Aptos"/>
              </a:rPr>
              <a:t>8–10 perc • páros munka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64045"/>
                </a:solidFill>
                <a:latin typeface="Aptos"/>
              </a:rPr>
              <a:t>2.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Az áramütés: mikor alakul ki?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D64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8</a:t>
            </a:r>
          </a:p>
        </p:txBody>
      </p:sp>
      <p:sp>
        <p:nvSpPr>
          <p:cNvPr id="7" name="Oval 6"/>
          <p:cNvSpPr/>
          <p:nvPr/>
        </p:nvSpPr>
        <p:spPr>
          <a:xfrm>
            <a:off x="5532120" y="1828800"/>
            <a:ext cx="621792" cy="621792"/>
          </a:xfrm>
          <a:prstGeom prst="ellipse">
            <a:avLst/>
          </a:prstGeom>
          <a:solidFill>
            <a:srgbClr val="0B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32120" y="190195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43016" y="2450592"/>
            <a:ext cx="0" cy="1618488"/>
          </a:xfrm>
          <a:prstGeom prst="line">
            <a:avLst/>
          </a:prstGeom>
          <a:ln>
            <a:solidFill>
              <a:srgbClr val="0B27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00600" y="2971800"/>
            <a:ext cx="2103120" cy="0"/>
          </a:xfrm>
          <a:prstGeom prst="line">
            <a:avLst/>
          </a:prstGeom>
          <a:ln>
            <a:solidFill>
              <a:srgbClr val="0B27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166360" y="4069080"/>
            <a:ext cx="676656" cy="1005840"/>
          </a:xfrm>
          <a:prstGeom prst="line">
            <a:avLst/>
          </a:prstGeom>
          <a:ln>
            <a:solidFill>
              <a:srgbClr val="0B27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43016" y="4069080"/>
            <a:ext cx="694944" cy="1005840"/>
          </a:xfrm>
          <a:prstGeom prst="line">
            <a:avLst/>
          </a:prstGeom>
          <a:ln>
            <a:solidFill>
              <a:srgbClr val="0B27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205740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D64045"/>
                </a:solidFill>
                <a:latin typeface="Aptos"/>
              </a:rPr>
              <a:t>FESZÜLTSÉG ALATT
ÁLLÓ RÉSZ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05740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677C8"/>
                </a:solidFill>
                <a:latin typeface="Aptos"/>
              </a:rPr>
              <a:t>VEZETŐKÉPES
KÖRNYEZET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534924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D64045"/>
                </a:solidFill>
                <a:latin typeface="Aptos"/>
              </a:rPr>
              <a:t>ÁRAMÚT A TESTEN KERESZTÜL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2971800"/>
            <a:ext cx="594360" cy="0"/>
          </a:xfrm>
          <a:prstGeom prst="line">
            <a:avLst/>
          </a:prstGeom>
          <a:ln>
            <a:solidFill>
              <a:srgbClr val="D64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03720" y="2971800"/>
            <a:ext cx="1097280" cy="0"/>
          </a:xfrm>
          <a:prstGeom prst="line">
            <a:avLst/>
          </a:prstGeom>
          <a:ln>
            <a:solidFill>
              <a:srgbClr val="167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64045"/>
                </a:solidFill>
                <a:latin typeface="Aptos"/>
              </a:rPr>
              <a:t>2.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Mitől függ az áramütés veszélyessége?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D64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4937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1938528"/>
            <a:ext cx="44531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ÁRAMERŐSSÉG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395728"/>
            <a:ext cx="4407408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A testen átfolyó áram nagysága.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937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938528"/>
            <a:ext cx="44531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BEHATÁSI IDŐ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395728"/>
            <a:ext cx="4407408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Mennyi ideig tart az áramhatás?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31920"/>
            <a:ext cx="4937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133087"/>
            <a:ext cx="44531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ÁRAMÚT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590288"/>
            <a:ext cx="4407408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Mely testrészeken halad keresztül?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31920"/>
            <a:ext cx="4937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133087"/>
            <a:ext cx="44531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KÖRNYEZET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4590288"/>
            <a:ext cx="4407408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Nedvesség, fémes tér, bőr állapota.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B8E6"/>
                </a:solidFill>
                <a:latin typeface="Aptos"/>
              </a:rPr>
              <a:t>2.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Közvetlen vagy közvetett érintés?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25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663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46817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KÖZVETLEN ÉRINTÉS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95728"/>
            <a:ext cx="4636008" cy="2578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Az ember üzemszerűen feszültség alatt álló aktív részt érint meg.
Példa: hozzáférhető csupasz vezető.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1663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938528"/>
            <a:ext cx="46817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KÖZVETETT ÉRINTÉS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395728"/>
            <a:ext cx="4636008" cy="2578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Az ember olyan fémrészt érint, amely normál üzemben nem aktív, de hiba miatt feszültség alá kerül.
Példa: hibás szigetelésű gép fémháza.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B2742"/>
                </a:solidFill>
                <a:latin typeface="Aptos"/>
              </a:rPr>
              <a:t>A különbség kulcsa: üzemszerűen aktív rész ↔ hiba miatt feszültség alá került rész.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64045"/>
                </a:solidFill>
                <a:latin typeface="Aptos"/>
              </a:rPr>
              <a:t>BIZTONSÁGI ALAPELV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A tanuló teste soha nem mérőeszköz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D64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783080"/>
            <a:ext cx="10149840" cy="3337560"/>
          </a:xfrm>
          <a:prstGeom prst="roundRect">
            <a:avLst/>
          </a:prstGeom>
          <a:solidFill>
            <a:srgbClr val="FFF1F1"/>
          </a:solidFill>
          <a:ln>
            <a:solidFill>
              <a:srgbClr val="F2C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148840"/>
            <a:ext cx="9326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D64045"/>
                </a:solidFill>
                <a:latin typeface="Aptos"/>
              </a:rPr>
              <a:t>⚠  NINCS „KIPRÓBÁLJUK, MENNYIRE RÁZ”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63240"/>
            <a:ext cx="8595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364D"/>
                </a:solidFill>
                <a:latin typeface="Aptos"/>
              </a:defRPr>
            </a:pPr>
            <a:r>
              <a:t>•  Áramút szemléltetése csak biztonságos modellen vagy ábrán.</a:t>
            </a:r>
          </a:p>
          <a:p>
            <a:pPr>
              <a:spcAft>
                <a:spcPts val="800"/>
              </a:spcAft>
              <a:defRPr sz="1600">
                <a:solidFill>
                  <a:srgbClr val="19364D"/>
                </a:solidFill>
                <a:latin typeface="Aptos"/>
              </a:defRPr>
            </a:pPr>
            <a:r>
              <a:t>•  Feszültség alatt álló részen nincs emberi testtel végzett kísérlet.</a:t>
            </a:r>
          </a:p>
          <a:p>
            <a:pPr>
              <a:spcAft>
                <a:spcPts val="800"/>
              </a:spcAft>
              <a:defRPr sz="1600">
                <a:solidFill>
                  <a:srgbClr val="19364D"/>
                </a:solidFill>
                <a:latin typeface="Aptos"/>
              </a:defRPr>
            </a:pPr>
            <a:r>
              <a:t>•  A biztonsági szabály nem demonstrációs ötlet – hanem munkafeltétel.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9A67"/>
                </a:solidFill>
                <a:latin typeface="Aptos"/>
              </a:rPr>
              <a:t>3.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A biztonságos munkakezdés 4 lépése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2D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423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1912" y="2240280"/>
            <a:ext cx="621792" cy="621792"/>
          </a:xfrm>
          <a:prstGeom prst="ellipse">
            <a:avLst/>
          </a:prstGeom>
          <a:solidFill>
            <a:srgbClr val="16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1912" y="231343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677C8"/>
                </a:solidFill>
                <a:latin typeface="Aptos"/>
              </a:rPr>
              <a:t>FELISMERÉS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19364D"/>
                </a:solidFill>
                <a:latin typeface="Aptos"/>
              </a:rPr>
              <a:t>Milyen veszélyek vannak?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880360"/>
            <a:ext cx="384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47B8D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8728" y="1965960"/>
            <a:ext cx="2423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34840" y="2240280"/>
            <a:ext cx="621792" cy="621792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31343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306324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28C28"/>
                </a:solidFill>
                <a:latin typeface="Aptos"/>
              </a:rPr>
              <a:t>KIZÁRÁS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3657600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19364D"/>
                </a:solidFill>
                <a:latin typeface="Aptos"/>
              </a:rPr>
              <a:t>Mit kell leválasztani / biztosítani?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6" y="2880360"/>
            <a:ext cx="384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47B8D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91656" y="1965960"/>
            <a:ext cx="2423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87768" y="2240280"/>
            <a:ext cx="621792" cy="621792"/>
          </a:xfrm>
          <a:prstGeom prst="ellipse">
            <a:avLst/>
          </a:prstGeom>
          <a:solidFill>
            <a:srgbClr val="D64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7768" y="231343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306324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D64045"/>
                </a:solidFill>
                <a:latin typeface="Aptos"/>
              </a:rPr>
              <a:t>ELLENŐRZÉS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657600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19364D"/>
                </a:solidFill>
                <a:latin typeface="Aptos"/>
              </a:rPr>
              <a:t>Valóban biztonságos?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3104" y="2880360"/>
            <a:ext cx="384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47B8D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44584" y="1965960"/>
            <a:ext cx="2423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40696" y="2240280"/>
            <a:ext cx="621792" cy="621792"/>
          </a:xfrm>
          <a:prstGeom prst="ellipse">
            <a:avLst/>
          </a:prstGeom>
          <a:solidFill>
            <a:srgbClr val="2D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0696" y="231343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7463" y="306324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D9A67"/>
                </a:solidFill>
                <a:latin typeface="Aptos"/>
              </a:rPr>
              <a:t>MUNKAVÉGZÉS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3184" y="3657600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19364D"/>
                </a:solidFill>
                <a:latin typeface="Aptos"/>
              </a:rPr>
              <a:t>Csak ezután szerelünk.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9A67"/>
                </a:solidFill>
                <a:latin typeface="Aptos"/>
              </a:rPr>
              <a:t>3. TANÓRA • GYAKORLAT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Munkakezdési ellenőrzőlista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2D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502920" cy="502920"/>
          </a:xfrm>
          <a:prstGeom prst="roundRect">
            <a:avLst/>
          </a:prstGeom>
          <a:solidFill>
            <a:srgbClr val="E9F7F0"/>
          </a:solidFill>
          <a:ln>
            <a:solidFill>
              <a:srgbClr val="B9E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655064"/>
            <a:ext cx="393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D9A67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55064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364D"/>
                </a:solidFill>
                <a:latin typeface="Aptos"/>
              </a:rPr>
              <a:t>A feladat és a berendezés azonosítva.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13432"/>
            <a:ext cx="502920" cy="502920"/>
          </a:xfrm>
          <a:prstGeom prst="roundRect">
            <a:avLst/>
          </a:prstGeom>
          <a:solidFill>
            <a:srgbClr val="E9F7F0"/>
          </a:solidFill>
          <a:ln>
            <a:solidFill>
              <a:srgbClr val="B9E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368296"/>
            <a:ext cx="393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D9A67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68296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364D"/>
                </a:solidFill>
                <a:latin typeface="Aptos"/>
              </a:rPr>
              <a:t>Veszélyforrások megnevezve.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026664"/>
            <a:ext cx="502920" cy="502920"/>
          </a:xfrm>
          <a:prstGeom prst="roundRect">
            <a:avLst/>
          </a:prstGeom>
          <a:solidFill>
            <a:srgbClr val="E9F7F0"/>
          </a:solidFill>
          <a:ln>
            <a:solidFill>
              <a:srgbClr val="B9E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081528"/>
            <a:ext cx="393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D9A67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81528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364D"/>
                </a:solidFill>
                <a:latin typeface="Aptos"/>
              </a:rPr>
              <a:t>Munkaterület rendezett és hozzáférhető.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39896"/>
            <a:ext cx="502920" cy="502920"/>
          </a:xfrm>
          <a:prstGeom prst="roundRect">
            <a:avLst/>
          </a:prstGeom>
          <a:solidFill>
            <a:srgbClr val="E9F7F0"/>
          </a:solidFill>
          <a:ln>
            <a:solidFill>
              <a:srgbClr val="B9E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794759"/>
            <a:ext cx="393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D9A67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94759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364D"/>
                </a:solidFill>
                <a:latin typeface="Aptos"/>
              </a:rPr>
              <a:t>Szükséges leválasztás és biztosítás meghatározva.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453128"/>
            <a:ext cx="502920" cy="502920"/>
          </a:xfrm>
          <a:prstGeom prst="roundRect">
            <a:avLst/>
          </a:prstGeom>
          <a:solidFill>
            <a:srgbClr val="E9F7F0"/>
          </a:solidFill>
          <a:ln>
            <a:solidFill>
              <a:srgbClr val="B9E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507992"/>
            <a:ext cx="393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D9A67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07992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364D"/>
                </a:solidFill>
                <a:latin typeface="Aptos"/>
              </a:rPr>
              <a:t>Mérő- és védőeszközök kiválasztva.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166360"/>
            <a:ext cx="502920" cy="502920"/>
          </a:xfrm>
          <a:prstGeom prst="roundRect">
            <a:avLst/>
          </a:prstGeom>
          <a:solidFill>
            <a:srgbClr val="E9F7F0"/>
          </a:solidFill>
          <a:ln>
            <a:solidFill>
              <a:srgbClr val="B9E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5221224"/>
            <a:ext cx="393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D9A67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221224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364D"/>
                </a:solidFill>
                <a:latin typeface="Aptos"/>
              </a:rPr>
              <a:t>Biztonsági állapot ellenőrizve.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64045"/>
                </a:solidFill>
                <a:latin typeface="Aptos"/>
              </a:rPr>
              <a:t>TIPIKUS TÉVHITEK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A mondatok, amelyeknél fel kell kapcsolnia a „piros lámpának”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D64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103327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55648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64045"/>
                </a:solidFill>
                <a:latin typeface="Aptos"/>
              </a:rPr>
              <a:t>„Ki van kapcsolva, tehát feszültségmentes.”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60320"/>
            <a:ext cx="103327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715768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64045"/>
                </a:solidFill>
                <a:latin typeface="Aptos"/>
              </a:rPr>
              <a:t>„Ha működik, akkor biztonságos.”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520440"/>
            <a:ext cx="103327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675888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2742"/>
                </a:solidFill>
                <a:latin typeface="Aptos"/>
              </a:rPr>
              <a:t>„A gumitalpú cipő megvéd.”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480560"/>
            <a:ext cx="103327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636008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2742"/>
                </a:solidFill>
                <a:latin typeface="Aptos"/>
              </a:rPr>
              <a:t>„A veszélyt mindig látni lehet.”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77C8"/>
                </a:solidFill>
                <a:latin typeface="Aptos"/>
              </a:rPr>
              <a:t>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4 kérdés – 4 kulcsfogalom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16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947672"/>
            <a:ext cx="621792" cy="621792"/>
          </a:xfrm>
          <a:prstGeom prst="ellipse">
            <a:avLst/>
          </a:prstGeom>
          <a:solidFill>
            <a:srgbClr val="16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20824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938528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Mit nevezünk villamos veszélyhelyzetnek?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395728"/>
            <a:ext cx="384048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Válaszolj szakmai kifejezésekkel.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64807" y="1947672"/>
            <a:ext cx="621792" cy="621792"/>
          </a:xfrm>
          <a:prstGeom prst="ellipse">
            <a:avLst/>
          </a:prstGeom>
          <a:solidFill>
            <a:srgbClr val="16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2020824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9" y="1938528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Mit nevezünk áramütésnek?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59" y="2395728"/>
            <a:ext cx="384048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Válaszolj szakmai kifejezésekkel.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88" y="3959352"/>
            <a:ext cx="621792" cy="621792"/>
          </a:xfrm>
          <a:prstGeom prst="ellipse">
            <a:avLst/>
          </a:prstGeom>
          <a:solidFill>
            <a:srgbClr val="16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32504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950207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Közvetlen vagy közvetett érintés? Mi a különbség?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407407"/>
            <a:ext cx="384048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Válaszolj szakmai kifejezésekkel.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749039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64807" y="3959352"/>
            <a:ext cx="621792" cy="621792"/>
          </a:xfrm>
          <a:prstGeom prst="ellipse">
            <a:avLst/>
          </a:prstGeom>
          <a:solidFill>
            <a:srgbClr val="16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7" y="4032504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59" y="3950207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Mi a biztonságos munkakezdés 4 lépése?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59" y="4407407"/>
            <a:ext cx="384048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Válaszolj szakmai kifejezésekkel.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B8E6"/>
                </a:solidFill>
                <a:latin typeface="Aptos"/>
              </a:rPr>
              <a:t>01. HÉT • ZÁRÁS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A hét 4 mondata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5B8E6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65960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A villamos veszély gyakran láthatatlan.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39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5B8E6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834639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Áramütéskor áramút alakul ki az emberi testen keresztül.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5B8E6"/>
                </a:solidFill>
                <a:latin typeface="Apto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703320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A védelem a veszély felismerésével kezdődik.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5B8E6"/>
                </a:solidFill>
                <a:latin typeface="Apto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572000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A munkát csak ellenőrzött biztonsági állapotban kezdjük 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BBD7E8"/>
                </a:solidFill>
                <a:latin typeface="Aptos"/>
              </a:rPr>
              <a:t>Következő hét: Az áram élettani hatásai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