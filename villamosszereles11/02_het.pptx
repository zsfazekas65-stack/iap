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B8E6"/>
                </a:solidFill>
                <a:latin typeface="Aptos"/>
              </a:rPr>
              <a:t>IAP • INTEGRÁLT AUTOMATIKA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VILLAMOS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5B8E6"/>
                </a:solidFill>
                <a:latin typeface="Aptos"/>
              </a:rPr>
              <a:t>BIZTONSÁGTECHNIKA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8F3"/>
                </a:solidFill>
                <a:latin typeface="Aptos"/>
              </a:rPr>
              <a:t>02. hét  |  Az áramütés veszélyei</a:t>
            </a:r>
          </a:p>
        </p:txBody>
      </p:sp>
      <p:sp>
        <p:nvSpPr>
          <p:cNvPr id="6" name="Hexagon 5"/>
          <p:cNvSpPr/>
          <p:nvPr/>
        </p:nvSpPr>
        <p:spPr>
          <a:xfrm>
            <a:off x="9784080" y="1188720"/>
            <a:ext cx="1508760" cy="1737360"/>
          </a:xfrm>
          <a:prstGeom prst="hexagon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4392" y="1600200"/>
            <a:ext cx="1097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663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B8E6"/>
                </a:solidFill>
                <a:latin typeface="Aptos"/>
              </a:rPr>
              <a:t>TUDÁS  •  BIZTONSÁG  •  GYAKORLAT  •  JÖVŐ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FC4D3"/>
                </a:solidFill>
                <a:latin typeface="Aptos"/>
              </a:rPr>
              <a:t>11. évfolyam • Villamos szerelések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Aptos"/>
              </a:rPr>
              <a:t>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Egyetlen kérdés az egész hétre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B2742"/>
                </a:solidFill>
                <a:latin typeface="Aptos"/>
              </a:rPr>
              <a:t>„Miért veszélyes az, amit nem mindig látunk?”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886200"/>
            <a:ext cx="8138160" cy="1143000"/>
          </a:xfrm>
          <a:prstGeom prst="roundRect">
            <a:avLst/>
          </a:prstGeom>
          <a:solidFill>
            <a:srgbClr val="FFF7EC"/>
          </a:solidFill>
          <a:ln>
            <a:solidFill>
              <a:srgbClr val="F4D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416052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28C28"/>
                </a:solidFill>
                <a:latin typeface="Aptos"/>
              </a:rPr>
              <a:t>A villanyszerelő első döntése: nem megérinteni, hanem felismerni és kizárni a veszélyt.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28C28"/>
                </a:solidFill>
                <a:latin typeface="Aptos"/>
              </a:rPr>
              <a:t>TÖRTÉNELMI NYITÓ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Az áramütés veszélyét fokozatosan ismerték fel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3246120"/>
            <a:ext cx="10012680" cy="0"/>
          </a:xfrm>
          <a:prstGeom prst="line">
            <a:avLst/>
          </a:prstGeom>
          <a:ln>
            <a:solidFill>
              <a:srgbClr val="D7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18. század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Elektromos kísérletek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A villamosság még látványosság.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19. század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Terjedő hálózatok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Megjelennek az első balesetek.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20. század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Védelmi elvek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Földelés, szigetelés, lekapcsolás.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0" y="29260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9992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033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2742"/>
                </a:solidFill>
                <a:latin typeface="Aptos"/>
              </a:rPr>
              <a:t>Biztonsági sorrend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1605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9364D"/>
                </a:solidFill>
                <a:latin typeface="Aptos"/>
              </a:rPr>
              <a:t>Veszély felismerése + szabályos beavatkozás.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HALADÁSI TÉRKÉP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hét 3 tanórája – egymásra építve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03911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99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Áramütés hatásai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87168"/>
            <a:ext cx="219456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Mi történik, ha áram halad át az emberi testen?
Kimenet: áramút → hatás → kockázat.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2039112"/>
            <a:ext cx="621792" cy="621792"/>
          </a:xfrm>
          <a:prstGeom prst="ellipse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29968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Érintési veszélyek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87168"/>
            <a:ext cx="219456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Közvetlen vagy közvetett érintés? Miért veszélyesebb a nedvesség?
Kimenet: helyzetfelismerés.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34290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608" y="2039112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11226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29968"/>
            <a:ext cx="2240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Baleseti döntés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87168"/>
            <a:ext cx="2194559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Mit teszünk villamos balesetnél?
Kimenet: biztonságos sorrend → 112 → elsősegély.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Az áramütés élettani hatásai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5740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B2742"/>
                </a:solidFill>
                <a:latin typeface="Aptos"/>
              </a:rPr>
              <a:t>VESZÉLYHELYZET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18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D64045"/>
                </a:solidFill>
                <a:latin typeface="Aptos"/>
              </a:rPr>
              <a:t>Az emberi testen áthaladó
villamos áram veszélyes.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253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Érzet, fájdalom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Figyelmeztető hatás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434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544568"/>
            <a:ext cx="253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Izomgörcs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00176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Az elengedés nehézzé válhat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78308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984248"/>
            <a:ext cx="2532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Légzési zavar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44144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Súlyos állapot alakulhat ki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343400"/>
            <a:ext cx="3017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4544568"/>
            <a:ext cx="25328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Szívműködési zavar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5001768"/>
            <a:ext cx="2487168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Különösen veszélyes áramút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Gondolkodj láncban: VESZÉLY → HIBA → KÖVETKEZMÉNY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28C28"/>
                </a:solidFill>
                <a:latin typeface="Aptos"/>
              </a:rPr>
              <a:t>VESZÉLY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Fémházas készülék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8346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64045"/>
                </a:solidFill>
                <a:latin typeface="Aptos"/>
              </a:rPr>
              <a:t>HIBA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Szigetelési hiba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8346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317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742"/>
                </a:solidFill>
                <a:latin typeface="Aptos"/>
              </a:rPr>
              <a:t>KÖVETKEZMÉNY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1546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B2742"/>
                </a:solidFill>
                <a:latin typeface="Aptos"/>
              </a:rPr>
              <a:t>Áramütés veszélye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64045"/>
                </a:solidFill>
                <a:latin typeface="Aptos"/>
              </a:rPr>
              <a:t>Szakmai szabály: „Működik” ≠ „biztonságosan használható”.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1.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Áramút felismerése helyzetekben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69164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6479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742"/>
                </a:solidFill>
                <a:latin typeface="Aptos"/>
              </a:rPr>
              <a:t>Olvasd el a helyzetet.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1635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1635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Keresd meg az áramút lehetőségét.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9476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6791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Nevezd meg a veszélyt.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4632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1947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919472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B2742"/>
                </a:solidFill>
                <a:latin typeface="Aptos"/>
              </a:rPr>
              <a:t>Javasolj biztonságos intézkedést.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5349240"/>
            <a:ext cx="2468880" cy="64008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55321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9A67"/>
                </a:solidFill>
                <a:latin typeface="Aptos"/>
              </a:rPr>
              <a:t>8–10 perc • páros munka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Az áramütés: mikor alakul ki?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8</a:t>
            </a:r>
          </a:p>
        </p:txBody>
      </p:sp>
      <p:sp>
        <p:nvSpPr>
          <p:cNvPr id="7" name="Oval 6"/>
          <p:cNvSpPr/>
          <p:nvPr/>
        </p:nvSpPr>
        <p:spPr>
          <a:xfrm>
            <a:off x="5532120" y="1828800"/>
            <a:ext cx="621792" cy="621792"/>
          </a:xfrm>
          <a:prstGeom prst="ellipse">
            <a:avLst/>
          </a:prstGeom>
          <a:solidFill>
            <a:srgbClr val="0B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190195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43016" y="2450592"/>
            <a:ext cx="0" cy="1618488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00600" y="2971800"/>
            <a:ext cx="2103120" cy="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166360" y="4069080"/>
            <a:ext cx="676656" cy="100584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43016" y="4069080"/>
            <a:ext cx="694944" cy="1005840"/>
          </a:xfrm>
          <a:prstGeom prst="line">
            <a:avLst/>
          </a:prstGeom>
          <a:ln>
            <a:solidFill>
              <a:srgbClr val="0B2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0574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D64045"/>
                </a:solidFill>
                <a:latin typeface="Aptos"/>
              </a:rPr>
              <a:t>KÉT KÜLÖNBÖZŐ
POTENCIÁL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77C8"/>
                </a:solidFill>
                <a:latin typeface="Aptos"/>
              </a:rPr>
              <a:t>EMBERI TEST MINT
ÁRAMÚT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534924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64045"/>
                </a:solidFill>
                <a:latin typeface="Aptos"/>
              </a:rPr>
              <a:t>KÖRNYEZETI FELTÉTELEK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6240" y="2971800"/>
            <a:ext cx="594360" cy="0"/>
          </a:xfrm>
          <a:prstGeom prst="line">
            <a:avLst/>
          </a:prstGeom>
          <a:ln>
            <a:solidFill>
              <a:srgbClr val="D640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2971800"/>
            <a:ext cx="1097280" cy="0"/>
          </a:xfrm>
          <a:prstGeom prst="line">
            <a:avLst/>
          </a:prstGeom>
          <a:ln>
            <a:solidFill>
              <a:srgbClr val="1677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Mitől függ az áramütés veszélyessége?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938528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ÁRAMERŐSSÉG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39572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 testen átfolyó áram nagysága.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38528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BEHATÁSI IDŐ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39572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Mennyi ideig tart az áramhatás?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133087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ÁRAMÚT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9028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Érinti-e a mellkast, szívet?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4937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133087"/>
            <a:ext cx="44531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KÖRNYEZET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590288"/>
            <a:ext cx="4407408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Nedvesség, fémes tér, bőr állapota.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B8E6"/>
                </a:solidFill>
                <a:latin typeface="Aptos"/>
              </a:rP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Közvetlen vagy közvetett érintés?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5B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663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4681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KÖZVETLEN ÉRINTÉS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636008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Az ember üzemszerűen feszültség alatt álló aktív részt érint meg.
Példa: szabad vezető érintése.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663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38528"/>
            <a:ext cx="4681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KÖZVETETT ÉRINTÉS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95728"/>
            <a:ext cx="4636008" cy="2578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Az ember olyan fémrészt érint, amely normál üzemben nem aktív, de hiba miatt feszültség alá kerül.
Példa: hibás készülék fémháza.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B2742"/>
                </a:solidFill>
                <a:latin typeface="Aptos"/>
              </a:rPr>
              <a:t>A különbség kulcsa: aktív rész ↔ hiba miatt feszültség alá került rész.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BIZTONSÁGI ALAPELV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Áramütött személyhez először nem nyúlunk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0149840" cy="3337560"/>
          </a:xfrm>
          <a:prstGeom prst="roundRect">
            <a:avLst/>
          </a:prstGeom>
          <a:solidFill>
            <a:srgbClr val="FFF1F1"/>
          </a:solidFill>
          <a:ln>
            <a:solidFill>
              <a:srgbClr val="F2C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D64045"/>
                </a:solidFill>
                <a:latin typeface="Aptos"/>
              </a:rPr>
              <a:t>⚠  ELŐSZÖR A TOVÁBBI ÁRAMÜTÉST KELL MEGAKADÁLYOZNI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8595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A segítő saját biztonsága elsődleges.
•  A veszélyes villamos részt biztonságosan le kell választani.
•  Segélyhívás: 112, majd elsősegély az elsajátított ismeretek szerint.</a:t>
            </a:r>
          </a:p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Feszültség alatt álló részen nincs emberi testtel végzett kísérlet.</a:t>
            </a:r>
          </a:p>
          <a:p>
            <a:pPr>
              <a:spcAft>
                <a:spcPts val="800"/>
              </a:spcAft>
              <a:defRPr sz="1600">
                <a:solidFill>
                  <a:srgbClr val="19364D"/>
                </a:solidFill>
                <a:latin typeface="Aptos"/>
              </a:defRPr>
            </a:pPr>
            <a:r>
              <a:t>•  A biztonsági szabály nem demonstrációs ötlet – hanem munkafeltétel.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Villamos baleset: 5 lépéses sorrend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2240280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77C8"/>
                </a:solidFill>
                <a:latin typeface="Aptos"/>
              </a:rPr>
              <a:t>FELISMERÉS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Mi jelent villamos veszélyt?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34840" y="2240280"/>
            <a:ext cx="621792" cy="6217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8C28"/>
                </a:solidFill>
                <a:latin typeface="Aptos"/>
              </a:rPr>
              <a:t>LEVÁLASZTÁS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Hogyan szüntethető meg biztonságosan?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1656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87768" y="2240280"/>
            <a:ext cx="621792" cy="621792"/>
          </a:xfrm>
          <a:prstGeom prst="ellipse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4045"/>
                </a:solidFill>
                <a:latin typeface="Aptos"/>
              </a:rPr>
              <a:t>SEGÉLYHÍVÁS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112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880360"/>
            <a:ext cx="384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7B8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44584" y="1965960"/>
            <a:ext cx="2423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40696" y="2240280"/>
            <a:ext cx="621792" cy="621792"/>
          </a:xfrm>
          <a:prstGeom prst="ellipse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0696" y="2313432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3" y="306324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D9A67"/>
                </a:solidFill>
                <a:latin typeface="Aptos"/>
              </a:rPr>
              <a:t>ELLENŐRZÉS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657600"/>
            <a:ext cx="1965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19364D"/>
                </a:solidFill>
                <a:latin typeface="Aptos"/>
              </a:rPr>
              <a:t>Mi a sérült állapota?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9A67"/>
                </a:solidFill>
                <a:latin typeface="Aptos"/>
              </a:rPr>
              <a:t>3. TANÓRA •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Baleseti döntési sorrend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2D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5506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Veszélyhelyzet azonosítva.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13432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68296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68296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További áramütés kizárva.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26664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081528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81528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Segélyhívás megtörtént: 112.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39896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794759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94759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Sérült állapota ellenőrizve.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53128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507992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Elsősegély a tanultak szerint.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166360"/>
            <a:ext cx="502920" cy="502920"/>
          </a:xfrm>
          <a:prstGeom prst="roundRect">
            <a:avLst/>
          </a:prstGeom>
          <a:solidFill>
            <a:srgbClr val="E9F7F0"/>
          </a:solidFill>
          <a:ln>
            <a:solidFill>
              <a:srgbClr val="B9E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221224"/>
            <a:ext cx="393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D9A67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21224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364D"/>
                </a:solidFill>
                <a:latin typeface="Aptos"/>
              </a:rPr>
              <a:t>Esemény dokumentálva.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64045"/>
                </a:solidFill>
                <a:latin typeface="Aptos"/>
              </a:rPr>
              <a:t>TIPIKUS TÉVHITEK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A mondatok, amelyeknél fel kell kapcsolnia a „piros lámpának”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64045"/>
                </a:solidFill>
                <a:latin typeface="Aptos"/>
              </a:rPr>
              <a:t>„Csak egy pillanatra megfogom.”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1576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64045"/>
                </a:solidFill>
                <a:latin typeface="Aptos"/>
              </a:rPr>
              <a:t>„Ha nem rázott eddig, most sem fog.”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67588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742"/>
                </a:solidFill>
                <a:latin typeface="Aptos"/>
              </a:rPr>
              <a:t>„Nedves kézzel is jó lesz.”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10332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3600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2742"/>
                </a:solidFill>
                <a:latin typeface="Aptos"/>
              </a:rPr>
              <a:t>„A segítéshez elég odanyúlni.”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77C8"/>
                </a:solidFill>
                <a:latin typeface="Aptos"/>
              </a:rP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2742"/>
                </a:solidFill>
                <a:latin typeface="Aptos"/>
              </a:rPr>
              <a:t>4 kérdés – 4 kulcsfogalom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914400" cy="50292"/>
          </a:xfrm>
          <a:prstGeom prst="rect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698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B8D"/>
                </a:solidFill>
                <a:latin typeface="Aptos"/>
              </a:rPr>
              <a:t>IAP • 11. évfolyam • Villamos szerelések • 02. hét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2823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B8D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3852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Mit nevezünk áramütésnek?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95728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4807" y="194767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02082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938528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Mitől függ a veszélyessége?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2395728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" y="395935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03250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950207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Közvetlen vagy közvetett érintés? Mi a különbség?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407407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49039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4807" y="3959352"/>
            <a:ext cx="621792" cy="621792"/>
          </a:xfrm>
          <a:prstGeom prst="ellipse">
            <a:avLst/>
          </a:prstGeom>
          <a:solidFill>
            <a:srgbClr val="16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4032504"/>
            <a:ext cx="621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3950207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742"/>
                </a:solidFill>
                <a:latin typeface="Aptos"/>
              </a:rPr>
              <a:t>Mi a helyes sorrend villamos balesetnél?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4407407"/>
            <a:ext cx="38404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364D"/>
                </a:solidFill>
                <a:latin typeface="Aptos"/>
              </a:rPr>
              <a:t>Válaszolj szakmai kifejezésekkel.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B8E6"/>
                </a:solidFill>
                <a:latin typeface="Aptos"/>
              </a:rPr>
              <a:t>02. HÉT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 hét 4 mondata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659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Az áramütéshez áramút alakul ki az emberi testen keresztül.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834639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veszélyességet több tényező együtt határozza meg.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0332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Nedves környezetben nőhet a kockázat.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B8E6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57200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Villamos balesetnél először a további áramütést kell megakadályozni.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BBD7E8"/>
                </a:solidFill>
                <a:latin typeface="Aptos"/>
              </a:rPr>
              <a:t>Következő hét: Feszültségmentes munkavégzés és az 5 biztonsági szabály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